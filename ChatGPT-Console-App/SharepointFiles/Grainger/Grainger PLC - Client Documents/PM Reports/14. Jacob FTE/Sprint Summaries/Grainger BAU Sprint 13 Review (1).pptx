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BBD6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35644-4527-7B1A-DEFC-52164FA5E33E}" v="4" dt="2025-09-16T08:13:23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Smycz" userId="S::jsmycz@openboxsoftware.com::d03db9f2-e007-4614-ba87-e09f2c7a507f" providerId="AD" clId="Web-{49D35644-4527-7B1A-DEFC-52164FA5E33E}"/>
    <pc:docChg chg="modSld">
      <pc:chgData name="Jacob Smycz" userId="S::jsmycz@openboxsoftware.com::d03db9f2-e007-4614-ba87-e09f2c7a507f" providerId="AD" clId="Web-{49D35644-4527-7B1A-DEFC-52164FA5E33E}" dt="2025-09-16T08:13:23.033" v="3" actId="20577"/>
      <pc:docMkLst>
        <pc:docMk/>
      </pc:docMkLst>
      <pc:sldChg chg="modSp">
        <pc:chgData name="Jacob Smycz" userId="S::jsmycz@openboxsoftware.com::d03db9f2-e007-4614-ba87-e09f2c7a507f" providerId="AD" clId="Web-{49D35644-4527-7B1A-DEFC-52164FA5E33E}" dt="2025-09-16T08:13:23.033" v="3" actId="20577"/>
        <pc:sldMkLst>
          <pc:docMk/>
          <pc:sldMk cId="464677460" sldId="584"/>
        </pc:sldMkLst>
        <pc:spChg chg="mod">
          <ac:chgData name="Jacob Smycz" userId="S::jsmycz@openboxsoftware.com::d03db9f2-e007-4614-ba87-e09f2c7a507f" providerId="AD" clId="Web-{49D35644-4527-7B1A-DEFC-52164FA5E33E}" dt="2025-09-16T08:13:23.033" v="3" actId="20577"/>
          <ac:spMkLst>
            <pc:docMk/>
            <pc:sldMk cId="464677460" sldId="584"/>
            <ac:spMk id="2" creationId="{450182FC-C4B5-77D3-0384-8FF7A48A44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9/16/2025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179&amp;atlOrigin=eyJpIjoiZjBkY2EzOTM3MGVlNGY1NDg3NzY3M2U4NzY0MjdhNTQiLCJwIjoiaiJ9" TargetMode="Externa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6.svg"/><Relationship Id="rId5" Type="http://schemas.openxmlformats.org/officeDocument/2006/relationships/image" Target="../media/image11.sv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raingerplc.atlassian.net/browse/SFDC-674" TargetMode="External"/><Relationship Id="rId2" Type="http://schemas.openxmlformats.org/officeDocument/2006/relationships/hyperlink" Target="https://graingerplc.atlassian.net/browse/SFDC-734" TargetMode="Externa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Salesforce BAU</a:t>
            </a:r>
          </a:p>
          <a:p>
            <a:r>
              <a:rPr lang="en-US" sz="1800" dirty="0">
                <a:latin typeface="Proxima Nova Lt"/>
              </a:rPr>
              <a:t>Sprint 13</a:t>
            </a:r>
          </a:p>
          <a:p>
            <a:r>
              <a:rPr lang="en-US" sz="1800" dirty="0">
                <a:latin typeface="Proxima Nova Lt"/>
              </a:rPr>
              <a:t>16 June – 14 July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 panose="02000506030000020004" pitchFamily="50" charset="0"/>
              </a:rPr>
              <a:t>22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33437" y="2477463"/>
            <a:ext cx="2940626" cy="868884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  <a:hlinkClick r:id="rId8"/>
              </a:rPr>
              <a:t>Sprint work Items Delivered</a:t>
            </a:r>
            <a:endParaRPr>
              <a:latin typeface="Proxima Nova Lt"/>
              <a:hlinkClick r:id="rId8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0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85793" y="2477463"/>
            <a:ext cx="3636016" cy="337408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391780" y="2839407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Enhancement Testing</a:t>
            </a:r>
            <a:endParaRPr sz="280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391780" y="443037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BAU 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433981" y="3529517"/>
            <a:ext cx="1834321" cy="484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Payment Apportionment Testing</a:t>
            </a:r>
            <a:endParaRPr>
              <a:latin typeface="Proxima Nova Lt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334434" y="364407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14 July – 25 July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16081" y="4328719"/>
            <a:ext cx="516721" cy="516721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334434" y="28301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14 July – 18 July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334434" y="442722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21st July  </a:t>
            </a:r>
            <a:endParaRPr lang="en-US" sz="12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709946" y="2654210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764570" y="3427827"/>
            <a:ext cx="624148" cy="6241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AFCD1-4BC8-3BDC-BF2F-B2F76482BC15}"/>
              </a:ext>
            </a:extLst>
          </p:cNvPr>
          <p:cNvSpPr txBox="1"/>
          <p:nvPr/>
        </p:nvSpPr>
        <p:spPr>
          <a:xfrm>
            <a:off x="2953419" y="3224836"/>
            <a:ext cx="9614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    </a:t>
            </a:r>
            <a:r>
              <a:rPr lang="en-US" sz="2400">
                <a:solidFill>
                  <a:srgbClr val="BCD727"/>
                </a:solidFill>
              </a:rPr>
              <a:t>23</a:t>
            </a:r>
          </a:p>
        </p:txBody>
      </p:sp>
      <p:pic>
        <p:nvPicPr>
          <p:cNvPr id="16" name="Graphic 15" descr="Clipboard All Crosses outline">
            <a:extLst>
              <a:ext uri="{FF2B5EF4-FFF2-40B4-BE49-F238E27FC236}">
                <a16:creationId xmlns:a16="http://schemas.microsoft.com/office/drawing/2014/main" id="{3EEA4B81-B0EA-669C-91D6-3053821CDD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31588" y="5040912"/>
            <a:ext cx="516721" cy="516721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0F7DE40-2E6F-B7D3-5F55-B2847DAB58CB}"/>
              </a:ext>
            </a:extLst>
          </p:cNvPr>
          <p:cNvSpPr txBox="1">
            <a:spLocks/>
          </p:cNvSpPr>
          <p:nvPr/>
        </p:nvSpPr>
        <p:spPr>
          <a:xfrm>
            <a:off x="10339056" y="51720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4th August  </a:t>
            </a:r>
            <a:endParaRPr lang="en-US" sz="12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9B3B639-1770-97FC-56DE-6A26180899A1}"/>
              </a:ext>
            </a:extLst>
          </p:cNvPr>
          <p:cNvSpPr txBox="1"/>
          <p:nvPr/>
        </p:nvSpPr>
        <p:spPr>
          <a:xfrm>
            <a:off x="8428611" y="5066365"/>
            <a:ext cx="1969140" cy="484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Payment Apportionment  Go Live</a:t>
            </a:r>
          </a:p>
        </p:txBody>
      </p:sp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Delivered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77913B-45E2-874D-A507-C69DF3F22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2" y="756650"/>
            <a:ext cx="5619491" cy="4415687"/>
          </a:xfrm>
          <a:prstGeom prst="rect">
            <a:avLst/>
          </a:prstGeom>
        </p:spPr>
      </p:pic>
      <p:pic>
        <p:nvPicPr>
          <p:cNvPr id="13" name="Picture 1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DDAB900-43E0-511F-31A1-D72129E54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702" y="754041"/>
            <a:ext cx="5897282" cy="372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Planned for Next Sprint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42CA56-E20C-9BF5-A11E-91136EB2E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1024618"/>
            <a:ext cx="69723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Risk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579150"/>
              </p:ext>
            </p:extLst>
          </p:nvPr>
        </p:nvGraphicFramePr>
        <p:xfrm>
          <a:off x="632996" y="3528937"/>
          <a:ext cx="10936225" cy="129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Issue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reCAPTCHA on Form Assembly forms impacting form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Alters how the form can be submitted, with conditional formatting and date inputs not displaying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Hold off on release of SFDC-834. SFDC-863, and SFDC-865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81802"/>
              </p:ext>
            </p:extLst>
          </p:nvPr>
        </p:nvGraphicFramePr>
        <p:xfrm>
          <a:off x="632994" y="930410"/>
          <a:ext cx="10936223" cy="9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Proxima Nova Lt"/>
                          <a:hlinkClick r:id="rId2"/>
                        </a:rPr>
                        <a:t>Create GREP Integration Permission Sets and Permission Set Group</a:t>
                      </a:r>
                      <a:endParaRPr lang="en-US" sz="1050" b="0" i="0" u="none" strike="noStrike" noProof="0">
                        <a:solidFill>
                          <a:schemeClr val="tx1"/>
                        </a:solidFill>
                        <a:latin typeface="Proxima Nova Lt"/>
                      </a:endParaRPr>
                    </a:p>
                    <a:p>
                      <a:pPr lvl="0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hlinkClick r:id="rId3"/>
                        </a:rPr>
                        <a:t>Create Own Backup Permission Set/PSG</a:t>
                      </a:r>
                    </a:p>
                    <a:p>
                      <a:pPr lvl="0">
                        <a:buNone/>
                      </a:pPr>
                      <a:endParaRPr lang="en-US" sz="1050" b="0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/>
                        <a:t>RBAC Items of lower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577953"/>
              </p:ext>
            </p:extLst>
          </p:nvPr>
        </p:nvGraphicFramePr>
        <p:xfrm>
          <a:off x="632995" y="4815070"/>
          <a:ext cx="10936222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050"/>
                        <a:t>Delay Payment Apportionment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/>
                        <a:t>Due to high impact nature of this change, as well as allowing time for TPT to adequately plan cut-over and align with workstreams, the date for the Payment Apportionment items will be pushed back to 4th 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/>
                        <a:t>16th July 2025 – Jacob </a:t>
                      </a:r>
                      <a:r>
                        <a:rPr lang="en-ZA" sz="1050" err="1"/>
                        <a:t>Smycz</a:t>
                      </a:r>
                      <a:r>
                        <a:rPr lang="en-ZA" sz="1050"/>
                        <a:t>, Anita Masters, Clair </a:t>
                      </a:r>
                      <a:r>
                        <a:rPr lang="en-ZA" sz="1050" err="1"/>
                        <a:t>Habgood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3ED62E-8C65-434B-9A26-5CB6C7A73521}"/>
</file>

<file path=customXml/itemProps2.xml><?xml version="1.0" encoding="utf-8"?>
<ds:datastoreItem xmlns:ds="http://schemas.openxmlformats.org/officeDocument/2006/customXml" ds:itemID="{34B26A21-CE90-4DED-A459-F1E05EF35E88}"/>
</file>

<file path=customXml/itemProps3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revision>5</cp:revision>
  <cp:lastPrinted>2024-12-11T11:27:32Z</cp:lastPrinted>
  <dcterms:created xsi:type="dcterms:W3CDTF">2025-03-26T08:50:37Z</dcterms:created>
  <dcterms:modified xsi:type="dcterms:W3CDTF">2025-09-16T08:13:25Z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  <property fmtid="{D5CDD505-2E9C-101B-9397-08002B2CF9AE}" pid="24" name="Client_x0020_Project">
    <vt:lpwstr/>
  </property>
  <property fmtid="{D5CDD505-2E9C-101B-9397-08002B2CF9AE}" pid="25" name="Client Project">
    <vt:lpwstr/>
  </property>
  <property fmtid="{D5CDD505-2E9C-101B-9397-08002B2CF9AE}" pid="27" name="k6ebf865df8440b3a55c1aa81c9bae7c">
    <vt:lpwstr>Generic Project Document|258c2ed6-b93b-4ffe-8901-a23f2dc98ec9</vt:lpwstr>
  </property>
</Properties>
</file>