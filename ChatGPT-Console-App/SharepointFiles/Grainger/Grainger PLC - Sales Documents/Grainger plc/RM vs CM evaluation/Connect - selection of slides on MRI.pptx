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commentAuthors.xml" ContentType="application/vnd.openxmlformats-officedocument.presentationml.commentAuthors+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4"/>
  </p:sldMasterIdLst>
  <p:notesMasterIdLst>
    <p:notesMasterId r:id="rId12"/>
  </p:notesMasterIdLst>
  <p:handoutMasterIdLst>
    <p:handoutMasterId r:id="rId13"/>
  </p:handoutMasterIdLst>
  <p:sldIdLst>
    <p:sldId id="410" r:id="rId5"/>
    <p:sldId id="973" r:id="rId6"/>
    <p:sldId id="982" r:id="rId7"/>
    <p:sldId id="517" r:id="rId8"/>
    <p:sldId id="2076137243" r:id="rId9"/>
    <p:sldId id="2076137169" r:id="rId10"/>
    <p:sldId id="2076137244" r:id="rId11"/>
  </p:sldIdLst>
  <p:sldSz cx="9144000" cy="6858000" type="screen4x3"/>
  <p:notesSz cx="6808788" cy="99409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2EA86B-34D0-4409-AABA-DDB3FE394E70}">
          <p14:sldIdLst>
            <p14:sldId id="410"/>
            <p14:sldId id="973"/>
            <p14:sldId id="982"/>
            <p14:sldId id="517"/>
            <p14:sldId id="2076137243"/>
            <p14:sldId id="2076137169"/>
            <p14:sldId id="2076137244"/>
          </p14:sldIdLst>
        </p14:section>
      </p14:sectionLst>
    </p:ext>
    <p:ext uri="{EFAFB233-063F-42B5-8137-9DF3F51BA10A}">
      <p15:sldGuideLst xmlns:p15="http://schemas.microsoft.com/office/powerpoint/2012/main">
        <p15:guide id="1" orient="horz" pos="867" userDrawn="1">
          <p15:clr>
            <a:srgbClr val="A4A3A4"/>
          </p15:clr>
        </p15:guide>
        <p15:guide id="2" pos="290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n Sciberras" initials="BS" lastIdx="2" clrIdx="0">
    <p:extLst>
      <p:ext uri="{19B8F6BF-5375-455C-9EA6-DF929625EA0E}">
        <p15:presenceInfo xmlns:p15="http://schemas.microsoft.com/office/powerpoint/2012/main" userId="S-1-5-21-2263145296-3781330999-4144883691-26415" providerId="AD"/>
      </p:ext>
    </p:extLst>
  </p:cmAuthor>
  <p:cmAuthor id="2" name="Joao Cardoso" initials="JC" lastIdx="56" clrIdx="1">
    <p:extLst>
      <p:ext uri="{19B8F6BF-5375-455C-9EA6-DF929625EA0E}">
        <p15:presenceInfo xmlns:p15="http://schemas.microsoft.com/office/powerpoint/2012/main" userId="dc12be983f0d80fb" providerId="Windows Live"/>
      </p:ext>
    </p:extLst>
  </p:cmAuthor>
  <p:cmAuthor id="3" name="Maria Paris" initials="MP" lastIdx="14" clrIdx="2">
    <p:extLst>
      <p:ext uri="{19B8F6BF-5375-455C-9EA6-DF929625EA0E}">
        <p15:presenceInfo xmlns:p15="http://schemas.microsoft.com/office/powerpoint/2012/main" userId="Maria Paris" providerId="None"/>
      </p:ext>
    </p:extLst>
  </p:cmAuthor>
  <p:cmAuthor id="4" name="Edward Fletcher" initials="EF" lastIdx="5" clrIdx="3">
    <p:extLst>
      <p:ext uri="{19B8F6BF-5375-455C-9EA6-DF929625EA0E}">
        <p15:presenceInfo xmlns:p15="http://schemas.microsoft.com/office/powerpoint/2012/main" userId="S-1-5-21-2263145296-3781330999-4144883691-306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858D"/>
    <a:srgbClr val="0070C0"/>
    <a:srgbClr val="FF8633"/>
    <a:srgbClr val="56A7A8"/>
    <a:srgbClr val="F2F8F8"/>
    <a:srgbClr val="FF7B21"/>
    <a:srgbClr val="FF0000"/>
    <a:srgbClr val="FF9953"/>
    <a:srgbClr val="FF6600"/>
    <a:srgbClr val="4797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46" autoAdjust="0"/>
    <p:restoredTop sz="94660"/>
  </p:normalViewPr>
  <p:slideViewPr>
    <p:cSldViewPr snapToGrid="0">
      <p:cViewPr>
        <p:scale>
          <a:sx n="110" d="100"/>
          <a:sy n="110" d="100"/>
        </p:scale>
        <p:origin x="931" y="-336"/>
      </p:cViewPr>
      <p:guideLst>
        <p:guide orient="horz" pos="867"/>
        <p:guide pos="290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customXml" Target="../customXml/item4.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AB6F0A-F4C9-4F53-9AF8-23AE96D97B75}"/>
              </a:ext>
            </a:extLst>
          </p:cNvPr>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EC0BBB41-18BC-43C2-A0DC-D0959FF30D98}"/>
              </a:ext>
            </a:extLst>
          </p:cNvPr>
          <p:cNvSpPr>
            <a:spLocks noGrp="1"/>
          </p:cNvSpPr>
          <p:nvPr>
            <p:ph type="dt" sz="quarter" idx="1"/>
          </p:nvPr>
        </p:nvSpPr>
        <p:spPr>
          <a:xfrm>
            <a:off x="3856737" y="1"/>
            <a:ext cx="2950475" cy="498773"/>
          </a:xfrm>
          <a:prstGeom prst="rect">
            <a:avLst/>
          </a:prstGeom>
        </p:spPr>
        <p:txBody>
          <a:bodyPr vert="horz" lIns="91440" tIns="45720" rIns="91440" bIns="45720" rtlCol="0"/>
          <a:lstStyle>
            <a:lvl1pPr algn="r">
              <a:defRPr sz="1200"/>
            </a:lvl1pPr>
          </a:lstStyle>
          <a:p>
            <a:fld id="{56275018-F709-47C0-80A6-7BE2CC237135}" type="datetimeFigureOut">
              <a:rPr lang="en-GB" smtClean="0"/>
              <a:t>08/02/2021</a:t>
            </a:fld>
            <a:endParaRPr lang="en-GB" dirty="0"/>
          </a:p>
        </p:txBody>
      </p:sp>
      <p:sp>
        <p:nvSpPr>
          <p:cNvPr id="4" name="Footer Placeholder 3">
            <a:extLst>
              <a:ext uri="{FF2B5EF4-FFF2-40B4-BE49-F238E27FC236}">
                <a16:creationId xmlns:a16="http://schemas.microsoft.com/office/drawing/2014/main" id="{D1C57E76-EEE8-47EE-9C0C-33CCE36691B3}"/>
              </a:ext>
            </a:extLst>
          </p:cNvPr>
          <p:cNvSpPr>
            <a:spLocks noGrp="1"/>
          </p:cNvSpPr>
          <p:nvPr>
            <p:ph type="ftr" sz="quarter" idx="2"/>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95C39801-27EE-49E8-8E6F-01AF6EAB22E5}"/>
              </a:ext>
            </a:extLst>
          </p:cNvPr>
          <p:cNvSpPr>
            <a:spLocks noGrp="1"/>
          </p:cNvSpPr>
          <p:nvPr>
            <p:ph type="sldNum" sz="quarter" idx="3"/>
          </p:nvPr>
        </p:nvSpPr>
        <p:spPr>
          <a:xfrm>
            <a:off x="3856737" y="9442155"/>
            <a:ext cx="2950475" cy="498772"/>
          </a:xfrm>
          <a:prstGeom prst="rect">
            <a:avLst/>
          </a:prstGeom>
        </p:spPr>
        <p:txBody>
          <a:bodyPr vert="horz" lIns="91440" tIns="45720" rIns="91440" bIns="45720" rtlCol="0" anchor="b"/>
          <a:lstStyle>
            <a:lvl1pPr algn="r">
              <a:defRPr sz="1200"/>
            </a:lvl1pPr>
          </a:lstStyle>
          <a:p>
            <a:fld id="{07B36E9A-C494-4ADD-A7E8-6AFC8B6258B8}" type="slidenum">
              <a:rPr lang="en-GB" smtClean="0"/>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6737" y="1"/>
            <a:ext cx="2950475" cy="498773"/>
          </a:xfrm>
          <a:prstGeom prst="rect">
            <a:avLst/>
          </a:prstGeom>
        </p:spPr>
        <p:txBody>
          <a:bodyPr vert="horz" lIns="91440" tIns="45720" rIns="91440" bIns="45720" rtlCol="0"/>
          <a:lstStyle>
            <a:lvl1pPr algn="r">
              <a:defRPr sz="1200"/>
            </a:lvl1pPr>
          </a:lstStyle>
          <a:p>
            <a:fld id="{667AD65F-7D3E-4DDC-A2E0-B90DC7F84CAD}" type="datetimeFigureOut">
              <a:rPr lang="en-GB" smtClean="0"/>
              <a:t>08/02/2021</a:t>
            </a:fld>
            <a:endParaRPr lang="en-GB" dirty="0"/>
          </a:p>
        </p:txBody>
      </p:sp>
      <p:sp>
        <p:nvSpPr>
          <p:cNvPr id="4" name="Slide Image Placeholder 3"/>
          <p:cNvSpPr>
            <a:spLocks noGrp="1" noRot="1" noChangeAspect="1"/>
          </p:cNvSpPr>
          <p:nvPr>
            <p:ph type="sldImg" idx="2"/>
          </p:nvPr>
        </p:nvSpPr>
        <p:spPr>
          <a:xfrm>
            <a:off x="1168400" y="1243013"/>
            <a:ext cx="4471988" cy="3354387"/>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0879" y="4784071"/>
            <a:ext cx="5447030" cy="391423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6737" y="9442155"/>
            <a:ext cx="2950475" cy="498772"/>
          </a:xfrm>
          <a:prstGeom prst="rect">
            <a:avLst/>
          </a:prstGeom>
        </p:spPr>
        <p:txBody>
          <a:bodyPr vert="horz" lIns="91440" tIns="45720" rIns="91440" bIns="45720" rtlCol="0" anchor="b"/>
          <a:lstStyle>
            <a:lvl1pPr algn="r">
              <a:defRPr sz="1200"/>
            </a:lvl1pPr>
          </a:lstStyle>
          <a:p>
            <a:fld id="{A1EA93DF-5207-4EFC-B35D-3E311FF41A1C}" type="slidenum">
              <a:rPr lang="en-GB" smtClean="0"/>
              <a:t>‹#›</a:t>
            </a:fld>
            <a:endParaRPr lang="en-GB" dirty="0"/>
          </a:p>
        </p:txBody>
      </p:sp>
    </p:spTree>
    <p:extLst>
      <p:ext uri="{BB962C8B-B14F-4D97-AF65-F5344CB8AC3E}">
        <p14:creationId xmlns:p14="http://schemas.microsoft.com/office/powerpoint/2010/main" val="579350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E5E4E0-B916-4BEB-840B-2E09FC723F06}"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1975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tx1"/>
        </a:solidFill>
        <a:effectLst/>
      </p:bgPr>
    </p:bg>
    <p:spTree>
      <p:nvGrpSpPr>
        <p:cNvPr id="1" name=""/>
        <p:cNvGrpSpPr/>
        <p:nvPr/>
      </p:nvGrpSpPr>
      <p:grpSpPr>
        <a:xfrm>
          <a:off x="0" y="0"/>
          <a:ext cx="0" cy="0"/>
          <a:chOff x="0" y="0"/>
          <a:chExt cx="0" cy="0"/>
        </a:xfrm>
      </p:grpSpPr>
      <p:sp>
        <p:nvSpPr>
          <p:cNvPr id="75" name="Picture Placeholder 74">
            <a:extLst>
              <a:ext uri="{FF2B5EF4-FFF2-40B4-BE49-F238E27FC236}">
                <a16:creationId xmlns:a16="http://schemas.microsoft.com/office/drawing/2014/main" id="{C53E5E9B-D886-45BC-95BD-9EA4F7A83A5E}"/>
              </a:ext>
            </a:extLst>
          </p:cNvPr>
          <p:cNvSpPr>
            <a:spLocks noGrp="1"/>
          </p:cNvSpPr>
          <p:nvPr>
            <p:ph type="pic" sz="quarter" idx="13"/>
          </p:nvPr>
        </p:nvSpPr>
        <p:spPr>
          <a:xfrm>
            <a:off x="5064192"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dirty="0"/>
          </a:p>
        </p:txBody>
      </p:sp>
      <p:sp>
        <p:nvSpPr>
          <p:cNvPr id="2" name="Title 1">
            <a:extLst>
              <a:ext uri="{FF2B5EF4-FFF2-40B4-BE49-F238E27FC236}">
                <a16:creationId xmlns:a16="http://schemas.microsoft.com/office/drawing/2014/main" id="{8382D4DA-C1DB-4A6B-B459-A5A4C3E1DC02}"/>
              </a:ext>
            </a:extLst>
          </p:cNvPr>
          <p:cNvSpPr>
            <a:spLocks noGrp="1"/>
          </p:cNvSpPr>
          <p:nvPr>
            <p:ph type="ctrTitle" hasCustomPrompt="1"/>
          </p:nvPr>
        </p:nvSpPr>
        <p:spPr>
          <a:xfrm>
            <a:off x="358774" y="294420"/>
            <a:ext cx="4687591"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3" name="Subtitle 2">
            <a:extLst>
              <a:ext uri="{FF2B5EF4-FFF2-40B4-BE49-F238E27FC236}">
                <a16:creationId xmlns:a16="http://schemas.microsoft.com/office/drawing/2014/main" id="{9DD5FD9C-9222-49E5-98C9-37E5C23E53B2}"/>
              </a:ext>
            </a:extLst>
          </p:cNvPr>
          <p:cNvSpPr>
            <a:spLocks noGrp="1"/>
          </p:cNvSpPr>
          <p:nvPr>
            <p:ph type="subTitle" idx="1" hasCustomPrompt="1"/>
          </p:nvPr>
        </p:nvSpPr>
        <p:spPr>
          <a:xfrm>
            <a:off x="358776" y="2709539"/>
            <a:ext cx="4687590"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76" name="Text Placeholder 75">
            <a:extLst>
              <a:ext uri="{FF2B5EF4-FFF2-40B4-BE49-F238E27FC236}">
                <a16:creationId xmlns:a16="http://schemas.microsoft.com/office/drawing/2014/main" id="{22565E27-3BA8-425F-9F31-792B367318F9}"/>
              </a:ext>
            </a:extLst>
          </p:cNvPr>
          <p:cNvSpPr>
            <a:spLocks noGrp="1"/>
          </p:cNvSpPr>
          <p:nvPr>
            <p:ph type="body" sz="quarter" idx="10" hasCustomPrompt="1"/>
          </p:nvPr>
        </p:nvSpPr>
        <p:spPr>
          <a:xfrm>
            <a:off x="358775" y="3442695"/>
            <a:ext cx="4703555"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cxnSp>
        <p:nvCxnSpPr>
          <p:cNvPr id="94" name="Straight Connector 93">
            <a:extLst>
              <a:ext uri="{FF2B5EF4-FFF2-40B4-BE49-F238E27FC236}">
                <a16:creationId xmlns:a16="http://schemas.microsoft.com/office/drawing/2014/main" id="{78F59616-C32C-4CAF-9EB2-CE4D58AB5FC5}"/>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Picture Placeholder 43">
            <a:extLst>
              <a:ext uri="{FF2B5EF4-FFF2-40B4-BE49-F238E27FC236}">
                <a16:creationId xmlns:a16="http://schemas.microsoft.com/office/drawing/2014/main" id="{8FC2DAFE-01E6-4E96-8A74-D839C9FE36DE}"/>
              </a:ext>
            </a:extLst>
          </p:cNvPr>
          <p:cNvSpPr>
            <a:spLocks noGrp="1"/>
          </p:cNvSpPr>
          <p:nvPr>
            <p:ph type="pic" sz="quarter" idx="11"/>
          </p:nvPr>
        </p:nvSpPr>
        <p:spPr>
          <a:xfrm>
            <a:off x="5064192"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45" name="Picture Placeholder 44">
            <a:extLst>
              <a:ext uri="{FF2B5EF4-FFF2-40B4-BE49-F238E27FC236}">
                <a16:creationId xmlns:a16="http://schemas.microsoft.com/office/drawing/2014/main" id="{80F58609-D4E1-4D30-A987-463F020D7A27}"/>
              </a:ext>
            </a:extLst>
          </p:cNvPr>
          <p:cNvSpPr>
            <a:spLocks noGrp="1"/>
          </p:cNvSpPr>
          <p:nvPr>
            <p:ph type="pic" sz="quarter" idx="12"/>
          </p:nvPr>
        </p:nvSpPr>
        <p:spPr>
          <a:xfrm>
            <a:off x="7012940"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77" name="Picture Placeholder 76">
            <a:extLst>
              <a:ext uri="{FF2B5EF4-FFF2-40B4-BE49-F238E27FC236}">
                <a16:creationId xmlns:a16="http://schemas.microsoft.com/office/drawing/2014/main" id="{542B6375-0524-4345-96C0-9881233C43DB}"/>
              </a:ext>
            </a:extLst>
          </p:cNvPr>
          <p:cNvSpPr>
            <a:spLocks noGrp="1"/>
          </p:cNvSpPr>
          <p:nvPr>
            <p:ph type="pic" sz="quarter" idx="14"/>
          </p:nvPr>
        </p:nvSpPr>
        <p:spPr>
          <a:xfrm>
            <a:off x="7008225"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dirty="0"/>
          </a:p>
        </p:txBody>
      </p:sp>
    </p:spTree>
    <p:extLst>
      <p:ext uri="{BB962C8B-B14F-4D97-AF65-F5344CB8AC3E}">
        <p14:creationId xmlns:p14="http://schemas.microsoft.com/office/powerpoint/2010/main" val="2694708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tx1"/>
        </a:solidFill>
        <a:effectLst/>
      </p:bgPr>
    </p:bg>
    <p:spTree>
      <p:nvGrpSpPr>
        <p:cNvPr id="1" name=""/>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40" name="Picture Placeholder 39">
            <a:extLst>
              <a:ext uri="{FF2B5EF4-FFF2-40B4-BE49-F238E27FC236}">
                <a16:creationId xmlns:a16="http://schemas.microsoft.com/office/drawing/2014/main" id="{2A269334-41D2-498D-A25B-776F5DC089C4}"/>
              </a:ext>
            </a:extLst>
          </p:cNvPr>
          <p:cNvSpPr>
            <a:spLocks noGrp="1"/>
          </p:cNvSpPr>
          <p:nvPr>
            <p:ph type="pic" sz="quarter" idx="11"/>
          </p:nvPr>
        </p:nvSpPr>
        <p:spPr>
          <a:xfrm>
            <a:off x="6023181" y="402623"/>
            <a:ext cx="2762043" cy="4101468"/>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42" name="Title 1">
            <a:extLst>
              <a:ext uri="{FF2B5EF4-FFF2-40B4-BE49-F238E27FC236}">
                <a16:creationId xmlns:a16="http://schemas.microsoft.com/office/drawing/2014/main" id="{68AE987A-6895-44B6-8C71-ED622A6A58E0}"/>
              </a:ext>
            </a:extLst>
          </p:cNvPr>
          <p:cNvSpPr>
            <a:spLocks noGrp="1"/>
          </p:cNvSpPr>
          <p:nvPr>
            <p:ph type="ctrTitle" hasCustomPrompt="1"/>
          </p:nvPr>
        </p:nvSpPr>
        <p:spPr>
          <a:xfrm>
            <a:off x="358774" y="294420"/>
            <a:ext cx="5664407"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43" name="Subtitle 2">
            <a:extLst>
              <a:ext uri="{FF2B5EF4-FFF2-40B4-BE49-F238E27FC236}">
                <a16:creationId xmlns:a16="http://schemas.microsoft.com/office/drawing/2014/main" id="{2F285439-C0D5-4092-94AA-030179C1BAA0}"/>
              </a:ext>
            </a:extLst>
          </p:cNvPr>
          <p:cNvSpPr>
            <a:spLocks noGrp="1"/>
          </p:cNvSpPr>
          <p:nvPr>
            <p:ph type="subTitle" idx="1" hasCustomPrompt="1"/>
          </p:nvPr>
        </p:nvSpPr>
        <p:spPr>
          <a:xfrm>
            <a:off x="358776" y="2709539"/>
            <a:ext cx="5664406"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44" name="Text Placeholder 75">
            <a:extLst>
              <a:ext uri="{FF2B5EF4-FFF2-40B4-BE49-F238E27FC236}">
                <a16:creationId xmlns:a16="http://schemas.microsoft.com/office/drawing/2014/main" id="{151B52FE-CFFE-436D-8392-09E08457CC54}"/>
              </a:ext>
            </a:extLst>
          </p:cNvPr>
          <p:cNvSpPr>
            <a:spLocks noGrp="1"/>
          </p:cNvSpPr>
          <p:nvPr>
            <p:ph type="body" sz="quarter" idx="14" hasCustomPrompt="1"/>
          </p:nvPr>
        </p:nvSpPr>
        <p:spPr>
          <a:xfrm>
            <a:off x="358775" y="3442695"/>
            <a:ext cx="5683698"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45" name="Straight Connector 44">
            <a:extLst>
              <a:ext uri="{FF2B5EF4-FFF2-40B4-BE49-F238E27FC236}">
                <a16:creationId xmlns:a16="http://schemas.microsoft.com/office/drawing/2014/main" id="{3222CBCB-9322-4755-9B48-3B1961F72F34}"/>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490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00001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338264"/>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7944671A-3D72-48A8-AFB6-C7FB7AA3EAE9}"/>
              </a:ext>
            </a:extLst>
          </p:cNvPr>
          <p:cNvSpPr>
            <a:spLocks noGrp="1"/>
          </p:cNvSpPr>
          <p:nvPr>
            <p:ph idx="13"/>
          </p:nvPr>
        </p:nvSpPr>
        <p:spPr>
          <a:xfrm>
            <a:off x="4848225" y="1338263"/>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395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263932"/>
            <a:ext cx="4227080" cy="4913031"/>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815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F0A5E596-5496-4A60-88B2-178283450DD1}"/>
              </a:ext>
            </a:extLst>
          </p:cNvPr>
          <p:cNvSpPr>
            <a:spLocks noGrp="1"/>
          </p:cNvSpPr>
          <p:nvPr>
            <p:ph type="body" sz="quarter" idx="13"/>
          </p:nvPr>
        </p:nvSpPr>
        <p:spPr>
          <a:xfrm>
            <a:off x="358775" y="837646"/>
            <a:ext cx="8426450" cy="455612"/>
          </a:xfrm>
        </p:spPr>
        <p:txBody>
          <a:bodyPr>
            <a:normAutofit/>
          </a:bodyPr>
          <a:lstStyle>
            <a:lvl1pPr>
              <a:spcBef>
                <a:spcPts val="0"/>
              </a:spcBef>
              <a:defRPr sz="2400">
                <a:latin typeface="+mj-lt"/>
              </a:defRPr>
            </a:lvl1pPr>
          </a:lstStyle>
          <a:p>
            <a:pPr lvl="0"/>
            <a:r>
              <a:rPr lang="en-US"/>
              <a:t>Edit Master text styles</a:t>
            </a:r>
            <a:endParaRPr lang="en-GB"/>
          </a:p>
        </p:txBody>
      </p:sp>
    </p:spTree>
    <p:extLst>
      <p:ext uri="{BB962C8B-B14F-4D97-AF65-F5344CB8AC3E}">
        <p14:creationId xmlns:p14="http://schemas.microsoft.com/office/powerpoint/2010/main" val="133528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58774" y="1700808"/>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060849"/>
            <a:ext cx="8426450" cy="3888432"/>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2060849"/>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20240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806861"/>
            <a:ext cx="8426450" cy="3142420"/>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99655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4786311" y="2892409"/>
            <a:ext cx="3998913" cy="3056871"/>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6">
            <a:extLst>
              <a:ext uri="{FF2B5EF4-FFF2-40B4-BE49-F238E27FC236}">
                <a16:creationId xmlns:a16="http://schemas.microsoft.com/office/drawing/2014/main" id="{794404C6-CF43-499B-B6F1-857528420D81}"/>
              </a:ext>
            </a:extLst>
          </p:cNvPr>
          <p:cNvSpPr>
            <a:spLocks noGrp="1"/>
          </p:cNvSpPr>
          <p:nvPr>
            <p:ph type="body" sz="quarter" idx="18"/>
          </p:nvPr>
        </p:nvSpPr>
        <p:spPr>
          <a:xfrm>
            <a:off x="358775" y="2892410"/>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2044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81308" y="124160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1529491"/>
            <a:ext cx="8426450" cy="1228458"/>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152949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9" name="Text Placeholder 5">
            <a:extLst>
              <a:ext uri="{FF2B5EF4-FFF2-40B4-BE49-F238E27FC236}">
                <a16:creationId xmlns:a16="http://schemas.microsoft.com/office/drawing/2014/main" id="{AD2D3C30-645E-46BD-8D05-4B1BCB973D39}"/>
              </a:ext>
            </a:extLst>
          </p:cNvPr>
          <p:cNvSpPr>
            <a:spLocks noGrp="1"/>
          </p:cNvSpPr>
          <p:nvPr>
            <p:ph type="body" sz="quarter" idx="16"/>
          </p:nvPr>
        </p:nvSpPr>
        <p:spPr>
          <a:xfrm>
            <a:off x="381306" y="289342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12" name="Chart Placeholder 7">
            <a:extLst>
              <a:ext uri="{FF2B5EF4-FFF2-40B4-BE49-F238E27FC236}">
                <a16:creationId xmlns:a16="http://schemas.microsoft.com/office/drawing/2014/main" id="{67BCDA24-B550-4DC4-A59D-C385E5F36C0C}"/>
              </a:ext>
            </a:extLst>
          </p:cNvPr>
          <p:cNvSpPr>
            <a:spLocks noGrp="1"/>
          </p:cNvSpPr>
          <p:nvPr>
            <p:ph type="chart" sz="quarter" idx="17"/>
          </p:nvPr>
        </p:nvSpPr>
        <p:spPr>
          <a:xfrm>
            <a:off x="358773" y="3181310"/>
            <a:ext cx="8426450" cy="2831115"/>
          </a:xfrm>
        </p:spPr>
        <p:txBody>
          <a:bodyPr>
            <a:normAutofit/>
          </a:bodyPr>
          <a:lstStyle>
            <a:lvl1pPr>
              <a:defRPr sz="1200"/>
            </a:lvl1pPr>
          </a:lstStyle>
          <a:p>
            <a:endParaRPr lang="en-GB" dirty="0"/>
          </a:p>
        </p:txBody>
      </p:sp>
      <p:cxnSp>
        <p:nvCxnSpPr>
          <p:cNvPr id="13" name="Straight Connector 12">
            <a:extLst>
              <a:ext uri="{FF2B5EF4-FFF2-40B4-BE49-F238E27FC236}">
                <a16:creationId xmlns:a16="http://schemas.microsoft.com/office/drawing/2014/main" id="{B1CBE463-900B-4A67-8594-4CD7A4A709D6}"/>
              </a:ext>
            </a:extLst>
          </p:cNvPr>
          <p:cNvCxnSpPr/>
          <p:nvPr userDrawn="1"/>
        </p:nvCxnSpPr>
        <p:spPr>
          <a:xfrm>
            <a:off x="358772" y="318131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53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70039" y="1278021"/>
            <a:ext cx="8415186"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70039" y="1565904"/>
            <a:ext cx="8415185" cy="4436690"/>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70040" y="1565904"/>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08828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BA44BAD3-8EBE-4BC8-95B6-5BFD20F465B0}"/>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p>
        </p:txBody>
      </p:sp>
    </p:spTree>
    <p:extLst>
      <p:ext uri="{BB962C8B-B14F-4D97-AF65-F5344CB8AC3E}">
        <p14:creationId xmlns:p14="http://schemas.microsoft.com/office/powerpoint/2010/main" val="391519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139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B6B97-B99F-450B-B176-AFD96DBC90FA}"/>
              </a:ext>
            </a:extLst>
          </p:cNvPr>
          <p:cNvSpPr>
            <a:spLocks noGrp="1"/>
          </p:cNvSpPr>
          <p:nvPr>
            <p:ph type="title"/>
          </p:nvPr>
        </p:nvSpPr>
        <p:spPr>
          <a:xfrm>
            <a:off x="358775" y="270088"/>
            <a:ext cx="8426450" cy="581897"/>
          </a:xfrm>
          <a:prstGeom prst="rect">
            <a:avLst/>
          </a:prstGeom>
        </p:spPr>
        <p:txBody>
          <a:bodyPr vert="horz" lIns="0" tIns="45720" rIns="0" bIns="4572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B3D66A-3D9C-44FC-93E3-53098880F8C6}"/>
              </a:ext>
            </a:extLst>
          </p:cNvPr>
          <p:cNvSpPr>
            <a:spLocks noGrp="1"/>
          </p:cNvSpPr>
          <p:nvPr>
            <p:ph type="body" idx="1"/>
          </p:nvPr>
        </p:nvSpPr>
        <p:spPr>
          <a:xfrm>
            <a:off x="358775" y="1263932"/>
            <a:ext cx="8426450" cy="4913031"/>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D8206CA-1D0D-4188-AA1D-95E84B37993C}"/>
              </a:ext>
            </a:extLst>
          </p:cNvPr>
          <p:cNvSpPr>
            <a:spLocks noGrp="1"/>
          </p:cNvSpPr>
          <p:nvPr>
            <p:ph type="ftr" sz="quarter" idx="3"/>
          </p:nvPr>
        </p:nvSpPr>
        <p:spPr>
          <a:xfrm>
            <a:off x="1392774" y="6480640"/>
            <a:ext cx="4788177" cy="227300"/>
          </a:xfrm>
          <a:prstGeom prst="rect">
            <a:avLst/>
          </a:prstGeom>
        </p:spPr>
        <p:txBody>
          <a:bodyPr vert="horz" lIns="91440" tIns="45720" rIns="91440" bIns="45720" rtlCol="0" anchor="ctr"/>
          <a:lstStyle>
            <a:lvl1pPr algn="l">
              <a:defRPr sz="600" b="0" spc="-20" baseline="0">
                <a:solidFill>
                  <a:schemeClr val="accent2"/>
                </a:solidFill>
                <a:latin typeface="Montserrat" panose="02000505000000020004" pitchFamily="2" charset="0"/>
              </a:defRPr>
            </a:lvl1p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D696DDF2-5191-4301-B8FD-DF1ED40F63CA}"/>
              </a:ext>
            </a:extLst>
          </p:cNvPr>
          <p:cNvSpPr>
            <a:spLocks noGrp="1"/>
          </p:cNvSpPr>
          <p:nvPr>
            <p:ph type="sldNum" sz="quarter" idx="4"/>
          </p:nvPr>
        </p:nvSpPr>
        <p:spPr>
          <a:xfrm>
            <a:off x="8357153" y="6480640"/>
            <a:ext cx="428072" cy="228601"/>
          </a:xfrm>
          <a:prstGeom prst="rect">
            <a:avLst/>
          </a:prstGeom>
        </p:spPr>
        <p:txBody>
          <a:bodyPr vert="horz" lIns="91440" tIns="45720" rIns="91440" bIns="45720" rtlCol="0" anchor="ctr"/>
          <a:lstStyle>
            <a:lvl1pPr algn="ctr">
              <a:defRPr sz="900" b="0">
                <a:solidFill>
                  <a:schemeClr val="accent2">
                    <a:lumMod val="75000"/>
                  </a:schemeClr>
                </a:solidFill>
                <a:latin typeface="Montserrat" panose="02000505000000020004" pitchFamily="2" charset="0"/>
              </a:defRPr>
            </a:lvl1pPr>
          </a:lstStyle>
          <a:p>
            <a:fld id="{0D32313A-DEBC-4CA4-B008-A02D4ABE2C72}" type="slidenum">
              <a:rPr lang="en-GB" smtClean="0"/>
              <a:pPr/>
              <a:t>‹#›</a:t>
            </a:fld>
            <a:endParaRPr lang="en-GB" dirty="0"/>
          </a:p>
        </p:txBody>
      </p:sp>
      <p:cxnSp>
        <p:nvCxnSpPr>
          <p:cNvPr id="39" name="Straight Connector 38">
            <a:extLst>
              <a:ext uri="{FF2B5EF4-FFF2-40B4-BE49-F238E27FC236}">
                <a16:creationId xmlns:a16="http://schemas.microsoft.com/office/drawing/2014/main" id="{1EDBF80C-67C4-4965-BEEB-A9132094185D}"/>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D1E8B2E-7FE5-4D92-A210-410B50ED358E}"/>
              </a:ext>
            </a:extLst>
          </p:cNvPr>
          <p:cNvCxnSpPr/>
          <p:nvPr userDrawn="1"/>
        </p:nvCxnSpPr>
        <p:spPr>
          <a:xfrm>
            <a:off x="1386007" y="641640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5182084-27BD-4D81-9D95-A3317D7E7619}"/>
              </a:ext>
            </a:extLst>
          </p:cNvPr>
          <p:cNvCxnSpPr>
            <a:cxnSpLocks/>
          </p:cNvCxnSpPr>
          <p:nvPr userDrawn="1"/>
        </p:nvCxnSpPr>
        <p:spPr>
          <a:xfrm>
            <a:off x="8357153" y="641705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3" name="Group 4">
            <a:extLst>
              <a:ext uri="{FF2B5EF4-FFF2-40B4-BE49-F238E27FC236}">
                <a16:creationId xmlns:a16="http://schemas.microsoft.com/office/drawing/2014/main" id="{A2100EA8-F5C5-40FA-BD68-3078CA2E0EB5}"/>
              </a:ext>
            </a:extLst>
          </p:cNvPr>
          <p:cNvGrpSpPr>
            <a:grpSpLocks noChangeAspect="1"/>
          </p:cNvGrpSpPr>
          <p:nvPr userDrawn="1"/>
        </p:nvGrpSpPr>
        <p:grpSpPr bwMode="auto">
          <a:xfrm>
            <a:off x="358775" y="6498127"/>
            <a:ext cx="955828" cy="192327"/>
            <a:chOff x="-3357" y="-1385"/>
            <a:chExt cx="5760" cy="1159"/>
          </a:xfrm>
        </p:grpSpPr>
        <p:sp>
          <p:nvSpPr>
            <p:cNvPr id="74" name="Freeform 5">
              <a:extLst>
                <a:ext uri="{FF2B5EF4-FFF2-40B4-BE49-F238E27FC236}">
                  <a16:creationId xmlns:a16="http://schemas.microsoft.com/office/drawing/2014/main" id="{17FFF818-4814-4B08-95C1-948F6BB90C68}"/>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5" name="Rectangle 6">
              <a:extLst>
                <a:ext uri="{FF2B5EF4-FFF2-40B4-BE49-F238E27FC236}">
                  <a16:creationId xmlns:a16="http://schemas.microsoft.com/office/drawing/2014/main" id="{94960442-76DC-4461-8C9D-884AACCE43C6}"/>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6" name="Freeform 7">
              <a:extLst>
                <a:ext uri="{FF2B5EF4-FFF2-40B4-BE49-F238E27FC236}">
                  <a16:creationId xmlns:a16="http://schemas.microsoft.com/office/drawing/2014/main" id="{D422FA81-3C2D-4395-8541-97449A2B5820}"/>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7" name="Freeform 8">
              <a:extLst>
                <a:ext uri="{FF2B5EF4-FFF2-40B4-BE49-F238E27FC236}">
                  <a16:creationId xmlns:a16="http://schemas.microsoft.com/office/drawing/2014/main" id="{0CDA9582-690E-4332-9505-5BC9A7AC1793}"/>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8" name="Freeform 9">
              <a:extLst>
                <a:ext uri="{FF2B5EF4-FFF2-40B4-BE49-F238E27FC236}">
                  <a16:creationId xmlns:a16="http://schemas.microsoft.com/office/drawing/2014/main" id="{6C703ED1-CDBF-4523-B85A-11AA61BA0073}"/>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9" name="Freeform 10">
              <a:extLst>
                <a:ext uri="{FF2B5EF4-FFF2-40B4-BE49-F238E27FC236}">
                  <a16:creationId xmlns:a16="http://schemas.microsoft.com/office/drawing/2014/main" id="{734C17D1-406B-409D-8659-CAEE59EF5EA7}"/>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0" name="Freeform 11">
              <a:extLst>
                <a:ext uri="{FF2B5EF4-FFF2-40B4-BE49-F238E27FC236}">
                  <a16:creationId xmlns:a16="http://schemas.microsoft.com/office/drawing/2014/main" id="{E41042FA-42F6-4AB9-B883-466255A89DB4}"/>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 name="Freeform 12">
              <a:extLst>
                <a:ext uri="{FF2B5EF4-FFF2-40B4-BE49-F238E27FC236}">
                  <a16:creationId xmlns:a16="http://schemas.microsoft.com/office/drawing/2014/main" id="{4C3C6621-6FAE-4B47-9631-C76ADF24AF90}"/>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2" name="Freeform 13">
              <a:extLst>
                <a:ext uri="{FF2B5EF4-FFF2-40B4-BE49-F238E27FC236}">
                  <a16:creationId xmlns:a16="http://schemas.microsoft.com/office/drawing/2014/main" id="{A2D39429-0561-4657-94A2-D05AA3F95118}"/>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3" name="Freeform 14">
              <a:extLst>
                <a:ext uri="{FF2B5EF4-FFF2-40B4-BE49-F238E27FC236}">
                  <a16:creationId xmlns:a16="http://schemas.microsoft.com/office/drawing/2014/main" id="{1328E803-60FC-4104-9AD5-2625AD84DF02}"/>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4" name="Freeform 15">
              <a:extLst>
                <a:ext uri="{FF2B5EF4-FFF2-40B4-BE49-F238E27FC236}">
                  <a16:creationId xmlns:a16="http://schemas.microsoft.com/office/drawing/2014/main" id="{707C5A2F-5760-4686-BB1D-9329D03468D2}"/>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5" name="Freeform 16">
              <a:extLst>
                <a:ext uri="{FF2B5EF4-FFF2-40B4-BE49-F238E27FC236}">
                  <a16:creationId xmlns:a16="http://schemas.microsoft.com/office/drawing/2014/main" id="{338B40E2-5FA2-4CFF-8221-0D62F32610FC}"/>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6" name="Freeform 17">
              <a:extLst>
                <a:ext uri="{FF2B5EF4-FFF2-40B4-BE49-F238E27FC236}">
                  <a16:creationId xmlns:a16="http://schemas.microsoft.com/office/drawing/2014/main" id="{1DC8EF80-1480-4E82-8F7D-0403B92EEACE}"/>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7" name="Freeform 18">
              <a:extLst>
                <a:ext uri="{FF2B5EF4-FFF2-40B4-BE49-F238E27FC236}">
                  <a16:creationId xmlns:a16="http://schemas.microsoft.com/office/drawing/2014/main" id="{AD3BD5C6-02DE-41BF-ACAC-0C73DE8EC636}"/>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8" name="Freeform 19">
              <a:extLst>
                <a:ext uri="{FF2B5EF4-FFF2-40B4-BE49-F238E27FC236}">
                  <a16:creationId xmlns:a16="http://schemas.microsoft.com/office/drawing/2014/main" id="{0703C6E9-34A9-4D28-AC4C-E6A50750761E}"/>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9" name="Freeform 20">
              <a:extLst>
                <a:ext uri="{FF2B5EF4-FFF2-40B4-BE49-F238E27FC236}">
                  <a16:creationId xmlns:a16="http://schemas.microsoft.com/office/drawing/2014/main" id="{82DA7624-FA80-426B-BF3F-547BD42E9F8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0" name="Freeform 21">
              <a:extLst>
                <a:ext uri="{FF2B5EF4-FFF2-40B4-BE49-F238E27FC236}">
                  <a16:creationId xmlns:a16="http://schemas.microsoft.com/office/drawing/2014/main" id="{BED504A7-3B63-4352-858D-C7C600677F9E}"/>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1" name="Freeform 22">
              <a:extLst>
                <a:ext uri="{FF2B5EF4-FFF2-40B4-BE49-F238E27FC236}">
                  <a16:creationId xmlns:a16="http://schemas.microsoft.com/office/drawing/2014/main" id="{854B30AB-8873-4C24-A589-FF973BA9DECC}"/>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2" name="Freeform 23">
              <a:extLst>
                <a:ext uri="{FF2B5EF4-FFF2-40B4-BE49-F238E27FC236}">
                  <a16:creationId xmlns:a16="http://schemas.microsoft.com/office/drawing/2014/main" id="{F7B94546-6EDE-4DA0-A1D9-BFE60BDDB619}"/>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3" name="Freeform 24">
              <a:extLst>
                <a:ext uri="{FF2B5EF4-FFF2-40B4-BE49-F238E27FC236}">
                  <a16:creationId xmlns:a16="http://schemas.microsoft.com/office/drawing/2014/main" id="{BBFCBF4A-AFE4-4B18-8F55-9E72367FCE58}"/>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4" name="Freeform 25">
              <a:extLst>
                <a:ext uri="{FF2B5EF4-FFF2-40B4-BE49-F238E27FC236}">
                  <a16:creationId xmlns:a16="http://schemas.microsoft.com/office/drawing/2014/main" id="{EA280B51-9333-48C9-93EE-E33B9B56B256}"/>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5" name="Freeform 26">
              <a:extLst>
                <a:ext uri="{FF2B5EF4-FFF2-40B4-BE49-F238E27FC236}">
                  <a16:creationId xmlns:a16="http://schemas.microsoft.com/office/drawing/2014/main" id="{A50CD374-4F8E-439D-9C36-7AE4A3E147C8}"/>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6" name="Freeform 27">
              <a:extLst>
                <a:ext uri="{FF2B5EF4-FFF2-40B4-BE49-F238E27FC236}">
                  <a16:creationId xmlns:a16="http://schemas.microsoft.com/office/drawing/2014/main" id="{EB306D3C-A3DA-49E9-BE07-E2EABA13ED17}"/>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7" name="Freeform 28">
              <a:extLst>
                <a:ext uri="{FF2B5EF4-FFF2-40B4-BE49-F238E27FC236}">
                  <a16:creationId xmlns:a16="http://schemas.microsoft.com/office/drawing/2014/main" id="{D96D031D-2D03-4DE6-BB4A-30AE16B16817}"/>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8" name="Freeform 29">
              <a:extLst>
                <a:ext uri="{FF2B5EF4-FFF2-40B4-BE49-F238E27FC236}">
                  <a16:creationId xmlns:a16="http://schemas.microsoft.com/office/drawing/2014/main" id="{022A2613-8D8F-469D-8F99-3051580758B3}"/>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9" name="Freeform 30">
              <a:extLst>
                <a:ext uri="{FF2B5EF4-FFF2-40B4-BE49-F238E27FC236}">
                  <a16:creationId xmlns:a16="http://schemas.microsoft.com/office/drawing/2014/main" id="{032907D0-1C18-4C55-8D1A-5BCBB5567FA9}"/>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00" name="Freeform 31">
              <a:extLst>
                <a:ext uri="{FF2B5EF4-FFF2-40B4-BE49-F238E27FC236}">
                  <a16:creationId xmlns:a16="http://schemas.microsoft.com/office/drawing/2014/main" id="{62E3D831-AC3A-4A48-838B-8B8065447885}"/>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cxnSp>
        <p:nvCxnSpPr>
          <p:cNvPr id="102" name="Straight Connector 101">
            <a:extLst>
              <a:ext uri="{FF2B5EF4-FFF2-40B4-BE49-F238E27FC236}">
                <a16:creationId xmlns:a16="http://schemas.microsoft.com/office/drawing/2014/main" id="{EA6E68FA-8757-4B5C-AD8E-EC741F3F6612}"/>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F923B7A1-7534-42C7-891B-C3258B2B4C43}"/>
              </a:ext>
            </a:extLst>
          </p:cNvPr>
          <p:cNvGrpSpPr/>
          <p:nvPr userDrawn="1"/>
        </p:nvGrpSpPr>
        <p:grpSpPr>
          <a:xfrm>
            <a:off x="7012502" y="263284"/>
            <a:ext cx="1772723" cy="588701"/>
            <a:chOff x="7349582" y="5399028"/>
            <a:chExt cx="2180855" cy="897656"/>
          </a:xfrm>
          <a:solidFill>
            <a:schemeClr val="accent2"/>
          </a:solidFill>
        </p:grpSpPr>
        <p:sp>
          <p:nvSpPr>
            <p:cNvPr id="114" name="Freeform 35">
              <a:extLst>
                <a:ext uri="{FF2B5EF4-FFF2-40B4-BE49-F238E27FC236}">
                  <a16:creationId xmlns:a16="http://schemas.microsoft.com/office/drawing/2014/main" id="{B9BF84BE-3294-4ED0-B6DB-40C588EA320A}"/>
                </a:ext>
              </a:extLst>
            </p:cNvPr>
            <p:cNvSpPr>
              <a:spLocks/>
            </p:cNvSpPr>
            <p:nvPr userDrawn="1"/>
          </p:nvSpPr>
          <p:spPr bwMode="auto">
            <a:xfrm>
              <a:off x="7349582"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Originate</a:t>
              </a:r>
            </a:p>
          </p:txBody>
        </p:sp>
        <p:sp>
          <p:nvSpPr>
            <p:cNvPr id="115" name="Freeform 35">
              <a:extLst>
                <a:ext uri="{FF2B5EF4-FFF2-40B4-BE49-F238E27FC236}">
                  <a16:creationId xmlns:a16="http://schemas.microsoft.com/office/drawing/2014/main" id="{581E069B-A82C-4753-9F20-F6A12033F8F0}"/>
                </a:ext>
              </a:extLst>
            </p:cNvPr>
            <p:cNvSpPr>
              <a:spLocks/>
            </p:cNvSpPr>
            <p:nvPr userDrawn="1"/>
          </p:nvSpPr>
          <p:spPr bwMode="auto">
            <a:xfrm>
              <a:off x="8094794"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Invest</a:t>
              </a:r>
            </a:p>
          </p:txBody>
        </p:sp>
        <p:sp>
          <p:nvSpPr>
            <p:cNvPr id="116" name="Freeform 35">
              <a:extLst>
                <a:ext uri="{FF2B5EF4-FFF2-40B4-BE49-F238E27FC236}">
                  <a16:creationId xmlns:a16="http://schemas.microsoft.com/office/drawing/2014/main" id="{E2496C0C-B1F4-4029-B0B3-B9CB1035CE74}"/>
                </a:ext>
              </a:extLst>
            </p:cNvPr>
            <p:cNvSpPr>
              <a:spLocks/>
            </p:cNvSpPr>
            <p:nvPr userDrawn="1"/>
          </p:nvSpPr>
          <p:spPr bwMode="auto">
            <a:xfrm>
              <a:off x="8840006"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Operate</a:t>
              </a:r>
            </a:p>
          </p:txBody>
        </p:sp>
      </p:grpSp>
    </p:spTree>
    <p:extLst>
      <p:ext uri="{BB962C8B-B14F-4D97-AF65-F5344CB8AC3E}">
        <p14:creationId xmlns:p14="http://schemas.microsoft.com/office/powerpoint/2010/main" val="268036238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5" r:id="rId7"/>
    <p:sldLayoutId id="2147483786" r:id="rId8"/>
    <p:sldLayoutId id="2147483787" r:id="rId9"/>
    <p:sldLayoutId id="2147483788" r:id="rId10"/>
    <p:sldLayoutId id="2147483790" r:id="rId11"/>
    <p:sldLayoutId id="2147483791" r:id="rId12"/>
    <p:sldLayoutId id="2147483792"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85000"/>
        </a:lnSpc>
        <a:spcBef>
          <a:spcPct val="0"/>
        </a:spcBef>
        <a:buNone/>
        <a:defRPr sz="3200" kern="1200" spc="-150">
          <a:solidFill>
            <a:schemeClr val="accent2"/>
          </a:solidFill>
          <a:latin typeface="+mn-lt"/>
          <a:ea typeface="+mj-ea"/>
          <a:cs typeface="+mj-cs"/>
        </a:defRPr>
      </a:lvl1pPr>
    </p:titleStyle>
    <p:body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15"/>
        </a:buBlip>
        <a:defRPr sz="14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6">
          <p15:clr>
            <a:srgbClr val="F26B43"/>
          </p15:clr>
        </p15:guide>
        <p15:guide id="2" pos="553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svg"/><Relationship Id="rId21" Type="http://schemas.openxmlformats.org/officeDocument/2006/relationships/image" Target="../media/image25.png"/><Relationship Id="rId34" Type="http://schemas.openxmlformats.org/officeDocument/2006/relationships/image" Target="../media/image36.png"/><Relationship Id="rId7" Type="http://schemas.openxmlformats.org/officeDocument/2006/relationships/image" Target="../media/image11.svg"/><Relationship Id="rId12" Type="http://schemas.openxmlformats.org/officeDocument/2006/relationships/image" Target="../media/image16.png"/><Relationship Id="rId17" Type="http://schemas.openxmlformats.org/officeDocument/2006/relationships/image" Target="../media/image21.svg"/><Relationship Id="rId25" Type="http://schemas.openxmlformats.org/officeDocument/2006/relationships/image" Target="../media/image29.png"/><Relationship Id="rId33" Type="http://schemas.microsoft.com/office/2007/relationships/hdphoto" Target="../media/hdphoto2.wdp"/><Relationship Id="rId38" Type="http://schemas.openxmlformats.org/officeDocument/2006/relationships/image" Target="../media/image40.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jpeg"/><Relationship Id="rId29"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svg"/><Relationship Id="rId24" Type="http://schemas.openxmlformats.org/officeDocument/2006/relationships/image" Target="../media/image28.jpg"/><Relationship Id="rId32" Type="http://schemas.openxmlformats.org/officeDocument/2006/relationships/image" Target="../media/image35.png"/><Relationship Id="rId37" Type="http://schemas.openxmlformats.org/officeDocument/2006/relationships/image" Target="../media/image39.png"/><Relationship Id="rId5" Type="http://schemas.openxmlformats.org/officeDocument/2006/relationships/image" Target="../media/image9.svg"/><Relationship Id="rId15" Type="http://schemas.openxmlformats.org/officeDocument/2006/relationships/image" Target="../media/image19.svg"/><Relationship Id="rId23" Type="http://schemas.openxmlformats.org/officeDocument/2006/relationships/image" Target="../media/image27.png"/><Relationship Id="rId28" Type="http://schemas.openxmlformats.org/officeDocument/2006/relationships/image" Target="../media/image32.jpg"/><Relationship Id="rId36" Type="http://schemas.openxmlformats.org/officeDocument/2006/relationships/image" Target="../media/image38.png"/><Relationship Id="rId10" Type="http://schemas.openxmlformats.org/officeDocument/2006/relationships/image" Target="../media/image14.png"/><Relationship Id="rId19" Type="http://schemas.openxmlformats.org/officeDocument/2006/relationships/image" Target="../media/image23.jpeg"/><Relationship Id="rId31" Type="http://schemas.microsoft.com/office/2007/relationships/hdphoto" Target="../media/hdphoto1.wdp"/><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svg"/><Relationship Id="rId30" Type="http://schemas.openxmlformats.org/officeDocument/2006/relationships/image" Target="../media/image34.png"/><Relationship Id="rId35" Type="http://schemas.openxmlformats.org/officeDocument/2006/relationships/image" Target="../media/image37.png"/></Relationships>
</file>

<file path=ppt/slides/_rels/slide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58774" y="294420"/>
            <a:ext cx="4687591" cy="2729515"/>
          </a:xfrm>
        </p:spPr>
        <p:txBody>
          <a:bodyPr/>
          <a:lstStyle/>
          <a:p>
            <a:r>
              <a:rPr lang="en-GB" dirty="0"/>
              <a:t>Connect Programme</a:t>
            </a:r>
          </a:p>
        </p:txBody>
      </p:sp>
      <p:sp>
        <p:nvSpPr>
          <p:cNvPr id="7" name="Text Placeholder 6">
            <a:extLst>
              <a:ext uri="{FF2B5EF4-FFF2-40B4-BE49-F238E27FC236}">
                <a16:creationId xmlns:a16="http://schemas.microsoft.com/office/drawing/2014/main" id="{D5398C75-5C20-4896-B36A-F6B7A9B2F891}"/>
              </a:ext>
            </a:extLst>
          </p:cNvPr>
          <p:cNvSpPr>
            <a:spLocks noGrp="1"/>
          </p:cNvSpPr>
          <p:nvPr>
            <p:ph type="body" sz="quarter" idx="10"/>
          </p:nvPr>
        </p:nvSpPr>
        <p:spPr>
          <a:xfrm>
            <a:off x="358775" y="3442695"/>
            <a:ext cx="4703555" cy="392791"/>
          </a:xfrm>
        </p:spPr>
        <p:txBody>
          <a:bodyPr vert="horz" lIns="0" tIns="0" rIns="0" bIns="0" rtlCol="0" anchor="t">
            <a:noAutofit/>
          </a:bodyPr>
          <a:lstStyle/>
          <a:p>
            <a:pPr>
              <a:lnSpc>
                <a:spcPct val="100000"/>
              </a:lnSpc>
            </a:pPr>
            <a:r>
              <a:rPr lang="en-GB" sz="2000" dirty="0"/>
              <a:t>Programme &amp; architecture review</a:t>
            </a:r>
          </a:p>
          <a:p>
            <a:pPr>
              <a:lnSpc>
                <a:spcPct val="100000"/>
              </a:lnSpc>
            </a:pPr>
            <a:endParaRPr lang="en-GB" sz="2000" dirty="0"/>
          </a:p>
          <a:p>
            <a:pPr>
              <a:lnSpc>
                <a:spcPct val="100000"/>
              </a:lnSpc>
            </a:pPr>
            <a:r>
              <a:rPr lang="en-GB" sz="2000" dirty="0"/>
              <a:t>Open Box</a:t>
            </a:r>
          </a:p>
          <a:p>
            <a:pPr>
              <a:lnSpc>
                <a:spcPct val="100000"/>
              </a:lnSpc>
            </a:pPr>
            <a:endParaRPr lang="en-GB" sz="2000" dirty="0"/>
          </a:p>
          <a:p>
            <a:pPr>
              <a:lnSpc>
                <a:spcPct val="100000"/>
              </a:lnSpc>
            </a:pPr>
            <a:r>
              <a:rPr lang="en-GB" sz="2000" dirty="0"/>
              <a:t>8 Feb 2021</a:t>
            </a:r>
          </a:p>
        </p:txBody>
      </p:sp>
      <p:pic>
        <p:nvPicPr>
          <p:cNvPr id="18" name="Picture Placeholder 17">
            <a:extLst>
              <a:ext uri="{FF2B5EF4-FFF2-40B4-BE49-F238E27FC236}">
                <a16:creationId xmlns:a16="http://schemas.microsoft.com/office/drawing/2014/main" id="{D23A5545-8120-44CB-8A31-8D01613D8805}"/>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a:fillRect/>
          </a:stretch>
        </p:blipFill>
        <p:spPr/>
      </p:pic>
      <p:pic>
        <p:nvPicPr>
          <p:cNvPr id="20" name="Picture Placeholder 19">
            <a:extLst>
              <a:ext uri="{FF2B5EF4-FFF2-40B4-BE49-F238E27FC236}">
                <a16:creationId xmlns:a16="http://schemas.microsoft.com/office/drawing/2014/main" id="{56B439B3-D107-4CCE-B95E-21CE74F29901}"/>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a:fillRect/>
          </a:stretch>
        </p:blipFill>
        <p:spPr/>
      </p:pic>
      <p:pic>
        <p:nvPicPr>
          <p:cNvPr id="22" name="Picture Placeholder 21">
            <a:extLst>
              <a:ext uri="{FF2B5EF4-FFF2-40B4-BE49-F238E27FC236}">
                <a16:creationId xmlns:a16="http://schemas.microsoft.com/office/drawing/2014/main" id="{0F00D62A-47EC-4312-B8A7-61D368326A14}"/>
              </a:ext>
            </a:extLst>
          </p:cNvPr>
          <p:cNvPicPr>
            <a:picLocks noGrp="1" noChangeAspect="1"/>
          </p:cNvPicPr>
          <p:nvPr>
            <p:ph type="pic" sz="quarter" idx="14"/>
          </p:nvPr>
        </p:nvPicPr>
        <p:blipFill>
          <a:blip r:embed="rId5" cstate="screen">
            <a:extLst>
              <a:ext uri="{28A0092B-C50C-407E-A947-70E740481C1C}">
                <a14:useLocalDpi xmlns:a14="http://schemas.microsoft.com/office/drawing/2010/main"/>
              </a:ext>
            </a:extLst>
          </a:blip>
          <a:srcRect/>
          <a:stretch>
            <a:fillRect/>
          </a:stretch>
        </p:blipFill>
        <p:spPr/>
      </p:pic>
      <p:sp>
        <p:nvSpPr>
          <p:cNvPr id="9" name="Footer Placeholder 10">
            <a:extLst>
              <a:ext uri="{FF2B5EF4-FFF2-40B4-BE49-F238E27FC236}">
                <a16:creationId xmlns:a16="http://schemas.microsoft.com/office/drawing/2014/main" id="{C82F26A6-707E-4E5E-8EDA-BCC6D3070167}"/>
              </a:ext>
            </a:extLst>
          </p:cNvPr>
          <p:cNvSpPr>
            <a:spLocks noGrp="1"/>
          </p:cNvSpPr>
          <p:nvPr>
            <p:ph type="ftr" sz="quarter" idx="4294967295"/>
          </p:nvPr>
        </p:nvSpPr>
        <p:spPr>
          <a:xfrm>
            <a:off x="0" y="6480175"/>
            <a:ext cx="4789488" cy="227013"/>
          </a:xfrm>
        </p:spPr>
        <p:txBody>
          <a:bodyPr/>
          <a:lstStyle/>
          <a:p>
            <a:pPr>
              <a:defRPr/>
            </a:pPr>
            <a:r>
              <a:rPr lang="en-GB">
                <a:solidFill>
                  <a:srgbClr val="4D858D"/>
                </a:solidFill>
              </a:rPr>
              <a:t>Grainger Plc  |  www.graingerplc.co.uk    | </a:t>
            </a:r>
          </a:p>
        </p:txBody>
      </p:sp>
      <p:sp>
        <p:nvSpPr>
          <p:cNvPr id="8" name="Slide Number Placeholder 7">
            <a:extLst>
              <a:ext uri="{FF2B5EF4-FFF2-40B4-BE49-F238E27FC236}">
                <a16:creationId xmlns:a16="http://schemas.microsoft.com/office/drawing/2014/main" id="{E2478E1B-4250-4957-923A-BBC1959257AD}"/>
              </a:ext>
            </a:extLst>
          </p:cNvPr>
          <p:cNvSpPr>
            <a:spLocks noGrp="1"/>
          </p:cNvSpPr>
          <p:nvPr>
            <p:ph type="sldNum" sz="quarter" idx="4294967295"/>
          </p:nvPr>
        </p:nvSpPr>
        <p:spPr>
          <a:xfrm>
            <a:off x="8715375" y="6480175"/>
            <a:ext cx="428625" cy="228600"/>
          </a:xfrm>
        </p:spPr>
        <p:txBody>
          <a:bodyPr/>
          <a:lstStyle/>
          <a:p>
            <a:pPr>
              <a:defRPr/>
            </a:pPr>
            <a:fld id="{0D32313A-DEBC-4CA4-B008-A02D4ABE2C72}" type="slidenum">
              <a:rPr lang="en-GB">
                <a:solidFill>
                  <a:srgbClr val="4D858D">
                    <a:lumMod val="75000"/>
                  </a:srgbClr>
                </a:solidFill>
              </a:rPr>
              <a:pPr>
                <a:defRPr/>
              </a:pPr>
              <a:t>1</a:t>
            </a:fld>
            <a:endParaRPr lang="en-GB">
              <a:solidFill>
                <a:srgbClr val="4D858D">
                  <a:lumMod val="75000"/>
                </a:srgbClr>
              </a:solidFill>
            </a:endParaRPr>
          </a:p>
        </p:txBody>
      </p:sp>
      <p:pic>
        <p:nvPicPr>
          <p:cNvPr id="28" name="Picture Placeholder 27">
            <a:extLst>
              <a:ext uri="{FF2B5EF4-FFF2-40B4-BE49-F238E27FC236}">
                <a16:creationId xmlns:a16="http://schemas.microsoft.com/office/drawing/2014/main" id="{CC58A5D1-1D6C-44AE-926F-FE9ED40ECA2E}"/>
              </a:ext>
            </a:extLst>
          </p:cNvPr>
          <p:cNvPicPr>
            <a:picLocks noGrp="1" noChangeAspect="1"/>
          </p:cNvPicPr>
          <p:nvPr>
            <p:ph type="pic" sz="quarter" idx="13"/>
          </p:nvPr>
        </p:nvPicPr>
        <p:blipFill rotWithShape="1">
          <a:blip r:embed="rId6" cstate="screen">
            <a:extLst>
              <a:ext uri="{28A0092B-C50C-407E-A947-70E740481C1C}">
                <a14:useLocalDpi xmlns:a14="http://schemas.microsoft.com/office/drawing/2010/main"/>
              </a:ext>
            </a:extLst>
          </a:blip>
          <a:srcRect t="-803"/>
          <a:stretch/>
        </p:blipFill>
        <p:spPr>
          <a:xfrm>
            <a:off x="5064192" y="2022171"/>
            <a:ext cx="1763790" cy="2619122"/>
          </a:xfrm>
        </p:spPr>
      </p:pic>
    </p:spTree>
    <p:extLst>
      <p:ext uri="{BB962C8B-B14F-4D97-AF65-F5344CB8AC3E}">
        <p14:creationId xmlns:p14="http://schemas.microsoft.com/office/powerpoint/2010/main" val="2724097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00CAFD-3443-40A6-8B63-F23FAF34FA64}"/>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0D32313A-DEBC-4CA4-B008-A02D4ABE2C72}" type="slidenum">
              <a:rPr kumimoji="0" lang="en-GB" sz="900" b="0" i="0" u="none" strike="noStrike" kern="1200" cap="none" spc="0" normalizeH="0" baseline="0" noProof="0" smtClean="0">
                <a:ln>
                  <a:noFill/>
                </a:ln>
                <a:solidFill>
                  <a:srgbClr val="4D858D">
                    <a:lumMod val="75000"/>
                  </a:srgbClr>
                </a:solidFill>
                <a:effectLst/>
                <a:uLnTx/>
                <a:uFillTx/>
                <a:latin typeface="Montserrat" panose="02000505000000020004" pitchFamily="2"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0" normalizeH="0" baseline="0" noProof="0" dirty="0">
              <a:ln>
                <a:noFill/>
              </a:ln>
              <a:solidFill>
                <a:srgbClr val="4D858D">
                  <a:lumMod val="75000"/>
                </a:srgbClr>
              </a:solidFill>
              <a:effectLst/>
              <a:uLnTx/>
              <a:uFillTx/>
              <a:latin typeface="Montserrat" panose="02000505000000020004" pitchFamily="2" charset="0"/>
              <a:ea typeface="+mn-ea"/>
              <a:cs typeface="+mn-cs"/>
            </a:endParaRPr>
          </a:p>
        </p:txBody>
      </p:sp>
      <p:sp>
        <p:nvSpPr>
          <p:cNvPr id="4" name="Title 3">
            <a:extLst>
              <a:ext uri="{FF2B5EF4-FFF2-40B4-BE49-F238E27FC236}">
                <a16:creationId xmlns:a16="http://schemas.microsoft.com/office/drawing/2014/main" id="{58437336-97CC-4622-AC51-6165DF9D3380}"/>
              </a:ext>
            </a:extLst>
          </p:cNvPr>
          <p:cNvSpPr>
            <a:spLocks noGrp="1"/>
          </p:cNvSpPr>
          <p:nvPr>
            <p:ph type="title"/>
          </p:nvPr>
        </p:nvSpPr>
        <p:spPr/>
        <p:txBody>
          <a:bodyPr/>
          <a:lstStyle/>
          <a:p>
            <a:r>
              <a:rPr lang="en-GB" dirty="0"/>
              <a:t>Elements of the Connect Platform</a:t>
            </a:r>
          </a:p>
        </p:txBody>
      </p:sp>
      <p:sp>
        <p:nvSpPr>
          <p:cNvPr id="5" name="Content Placeholder 1">
            <a:extLst>
              <a:ext uri="{FF2B5EF4-FFF2-40B4-BE49-F238E27FC236}">
                <a16:creationId xmlns:a16="http://schemas.microsoft.com/office/drawing/2014/main" id="{832CBF09-5816-4B2E-97B7-09C5D4191E61}"/>
              </a:ext>
            </a:extLst>
          </p:cNvPr>
          <p:cNvSpPr>
            <a:spLocks noGrp="1"/>
          </p:cNvSpPr>
          <p:nvPr>
            <p:ph idx="1"/>
          </p:nvPr>
        </p:nvSpPr>
        <p:spPr>
          <a:xfrm>
            <a:off x="358774" y="875787"/>
            <a:ext cx="8426450" cy="1117673"/>
          </a:xfrm>
        </p:spPr>
        <p:txBody>
          <a:bodyPr>
            <a:noAutofit/>
          </a:bodyPr>
          <a:lstStyle/>
          <a:p>
            <a:pPr>
              <a:lnSpc>
                <a:spcPct val="110000"/>
              </a:lnSpc>
            </a:pPr>
            <a:r>
              <a:rPr lang="en-US" sz="1200" spc="0" dirty="0">
                <a:solidFill>
                  <a:srgbClr val="4D858D"/>
                </a:solidFill>
                <a:latin typeface="Montserrat"/>
              </a:rPr>
              <a:t>Connect will be the leading and most comprehensive technology platform in the property sector. Its scope includes best-in-class solutions in 12 different areas:</a:t>
            </a:r>
          </a:p>
        </p:txBody>
      </p:sp>
      <p:sp>
        <p:nvSpPr>
          <p:cNvPr id="16" name="Footer Placeholder 2">
            <a:extLst>
              <a:ext uri="{FF2B5EF4-FFF2-40B4-BE49-F238E27FC236}">
                <a16:creationId xmlns:a16="http://schemas.microsoft.com/office/drawing/2014/main" id="{45F1657C-1BAF-444D-B9E0-325FCA42ED83}"/>
              </a:ext>
            </a:extLst>
          </p:cNvPr>
          <p:cNvSpPr txBox="1">
            <a:spLocks/>
          </p:cNvSpPr>
          <p:nvPr/>
        </p:nvSpPr>
        <p:spPr>
          <a:xfrm>
            <a:off x="1392775" y="6480640"/>
            <a:ext cx="4788177" cy="227300"/>
          </a:xfrm>
          <a:prstGeom prst="rect">
            <a:avLst/>
          </a:prstGeom>
        </p:spPr>
        <p:txBody>
          <a:bodyPr vert="horz" lIns="91440" tIns="45720" rIns="91440" bIns="45720" rtlCol="0" anchor="ctr"/>
          <a:lstStyle>
            <a:defPPr>
              <a:defRPr lang="en-US"/>
            </a:defPPr>
            <a:lvl1pPr marL="0" algn="l" defTabSz="457200" rtl="0" eaLnBrk="1" latinLnBrk="0" hangingPunct="1">
              <a:defRPr sz="600" b="0" kern="1200" spc="-20" baseline="0">
                <a:solidFill>
                  <a:schemeClr val="accent2"/>
                </a:solidFill>
                <a:latin typeface="Montserrat" panose="0200050500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20" normalizeH="0" baseline="0" noProof="0" dirty="0">
                <a:ln>
                  <a:noFill/>
                </a:ln>
                <a:solidFill>
                  <a:srgbClr val="4D858D"/>
                </a:solidFill>
                <a:effectLst/>
                <a:uLnTx/>
                <a:uFillTx/>
                <a:latin typeface="Montserrat" panose="02000505000000020004" pitchFamily="2" charset="0"/>
                <a:ea typeface="+mn-ea"/>
                <a:cs typeface="+mn-cs"/>
              </a:rPr>
              <a:t>Grainger Plc  |  www.graingerplc.co.uk    |   Board Update   |    February 2019</a:t>
            </a:r>
          </a:p>
        </p:txBody>
      </p:sp>
      <p:graphicFrame>
        <p:nvGraphicFramePr>
          <p:cNvPr id="22" name="Table 21">
            <a:extLst>
              <a:ext uri="{FF2B5EF4-FFF2-40B4-BE49-F238E27FC236}">
                <a16:creationId xmlns:a16="http://schemas.microsoft.com/office/drawing/2014/main" id="{FEC783C2-BFAC-4A85-BC42-C1D4B1245D66}"/>
              </a:ext>
            </a:extLst>
          </p:cNvPr>
          <p:cNvGraphicFramePr>
            <a:graphicFrameLocks noGrp="1"/>
          </p:cNvGraphicFramePr>
          <p:nvPr/>
        </p:nvGraphicFramePr>
        <p:xfrm>
          <a:off x="343949" y="1357880"/>
          <a:ext cx="8472882" cy="4988880"/>
        </p:xfrm>
        <a:graphic>
          <a:graphicData uri="http://schemas.openxmlformats.org/drawingml/2006/table">
            <a:tbl>
              <a:tblPr firstRow="1">
                <a:tableStyleId>{5C22544A-7EE6-4342-B048-85BDC9FD1C3A}</a:tableStyleId>
              </a:tblPr>
              <a:tblGrid>
                <a:gridCol w="2335751">
                  <a:extLst>
                    <a:ext uri="{9D8B030D-6E8A-4147-A177-3AD203B41FA5}">
                      <a16:colId xmlns:a16="http://schemas.microsoft.com/office/drawing/2014/main" val="2779722427"/>
                    </a:ext>
                  </a:extLst>
                </a:gridCol>
                <a:gridCol w="1238250">
                  <a:extLst>
                    <a:ext uri="{9D8B030D-6E8A-4147-A177-3AD203B41FA5}">
                      <a16:colId xmlns:a16="http://schemas.microsoft.com/office/drawing/2014/main" val="3006840810"/>
                    </a:ext>
                  </a:extLst>
                </a:gridCol>
                <a:gridCol w="4898881">
                  <a:extLst>
                    <a:ext uri="{9D8B030D-6E8A-4147-A177-3AD203B41FA5}">
                      <a16:colId xmlns:a16="http://schemas.microsoft.com/office/drawing/2014/main" val="3619650766"/>
                    </a:ext>
                  </a:extLst>
                </a:gridCol>
              </a:tblGrid>
              <a:tr h="234875">
                <a:tc>
                  <a:txBody>
                    <a:bodyPr/>
                    <a:lstStyle/>
                    <a:p>
                      <a:r>
                        <a:rPr lang="en-GB" sz="1200" dirty="0">
                          <a:latin typeface="+mj-lt"/>
                        </a:rPr>
                        <a:t>Solution</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r>
                        <a:rPr lang="en-GB" sz="1200" dirty="0">
                          <a:latin typeface="+mj-lt"/>
                        </a:rPr>
                        <a:t>Supplier</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r>
                        <a:rPr lang="en-GB" sz="1200" dirty="0">
                          <a:latin typeface="+mj-lt"/>
                        </a:rPr>
                        <a:t>Comments</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extLst>
                  <a:ext uri="{0D108BD9-81ED-4DB2-BD59-A6C34878D82A}">
                    <a16:rowId xmlns:a16="http://schemas.microsoft.com/office/drawing/2014/main" val="220999632"/>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Core ERP and Financial Operations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dirty="0"/>
                        <a:t>MRI is a comprehensive and flexible platform able to support every aspect of real estate management. Grainger is a pioneer adopting MRI in the UK</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12619172"/>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Property and Supplier</a:t>
                      </a:r>
                      <a:br>
                        <a:rPr kumimoji="0" lang="en-GB" sz="1100" b="0" i="0" u="none" strike="noStrike" kern="1200" cap="none" spc="-60" normalizeH="0" baseline="0" noProof="0" dirty="0">
                          <a:ln>
                            <a:noFill/>
                          </a:ln>
                          <a:solidFill>
                            <a:schemeClr val="accent2"/>
                          </a:solidFill>
                          <a:effectLst/>
                          <a:uLnTx/>
                          <a:uFillTx/>
                          <a:latin typeface="+mj-lt"/>
                          <a:ea typeface="+mn-ea"/>
                          <a:cs typeface="+mn-cs"/>
                        </a:rPr>
                      </a:br>
                      <a:r>
                        <a:rPr kumimoji="0" lang="en-GB" sz="1100" b="0" i="0" u="none" strike="noStrike" kern="1200" cap="none" spc="-60" normalizeH="0" baseline="0" noProof="0" dirty="0">
                          <a:ln>
                            <a:noFill/>
                          </a:ln>
                          <a:solidFill>
                            <a:schemeClr val="accent2"/>
                          </a:solidFill>
                          <a:effectLst/>
                          <a:uLnTx/>
                          <a:uFillTx/>
                          <a:latin typeface="+mj-lt"/>
                          <a:ea typeface="+mn-ea"/>
                          <a:cs typeface="+mn-cs"/>
                        </a:rPr>
                        <a:t>Management</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dirty="0"/>
                        <a:t>FSI Concept Evolution connects our customers and our suppliers for repairs. It replaces and improves on the </a:t>
                      </a:r>
                      <a:r>
                        <a:rPr lang="en-GB" sz="1000" dirty="0" err="1"/>
                        <a:t>CORAS</a:t>
                      </a:r>
                      <a:r>
                        <a:rPr lang="en-GB" sz="1000" dirty="0"/>
                        <a:t> HSE solution.</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52388259"/>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Purchase to Pay</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dirty="0"/>
                        <a:t>ProActis is a step change in how Grainger processes supplier invoices, providing strong controls and minimal human intervention</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86010717"/>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Customer Relationship / Online Leasing Journey</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tc>
                  <a:txBody>
                    <a:bodyPr/>
                    <a:lstStyle/>
                    <a:p>
                      <a:r>
                        <a:rPr lang="en-GB" sz="1000" dirty="0"/>
                        <a:t>Salesforce is the world’s leading customer relationship management solution. It provides a single view of our customers and prospects</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extLst>
                  <a:ext uri="{0D108BD9-81ED-4DB2-BD59-A6C34878D82A}">
                    <a16:rowId xmlns:a16="http://schemas.microsoft.com/office/drawing/2014/main" val="3648367981"/>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Customer Portal</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AND Digital is building the digital interfaces through which the customer interacts with Grainger: the leasing portal and the MyGrainger portal</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498280110"/>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Payments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err="1">
                          <a:solidFill>
                            <a:schemeClr val="dk1"/>
                          </a:solidFill>
                          <a:latin typeface="+mn-lt"/>
                          <a:ea typeface="+mn-ea"/>
                          <a:cs typeface="+mn-cs"/>
                        </a:rPr>
                        <a:t>Asperato</a:t>
                      </a:r>
                      <a:r>
                        <a:rPr lang="en-GB" sz="1000" kern="1200" noProof="0" dirty="0">
                          <a:solidFill>
                            <a:schemeClr val="dk1"/>
                          </a:solidFill>
                          <a:latin typeface="+mn-lt"/>
                          <a:ea typeface="+mn-ea"/>
                          <a:cs typeface="+mn-cs"/>
                        </a:rPr>
                        <a:t> is a leading customer payments solution for Direct Debit and Card. It is integrated with Salesforce and PCI compliant.</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66045164"/>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Document Management</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We are upgrading our Document Management solution to better capture and tag documents across the entire Connect platform.</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026660765"/>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Revenue Optimisation</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Grainger is a pioneer in the UK market adopting YieldStar to optimise rent occupancy rates and pricing, based on real time data.</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493926654"/>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Financial Planning</a:t>
                      </a:r>
                      <a:br>
                        <a:rPr kumimoji="0" lang="en-GB" sz="1100" b="0" i="0" u="none" strike="noStrike" kern="1200" cap="none" spc="-60" normalizeH="0" baseline="0" noProof="0" dirty="0">
                          <a:ln>
                            <a:noFill/>
                          </a:ln>
                          <a:solidFill>
                            <a:schemeClr val="accent2"/>
                          </a:solidFill>
                          <a:effectLst/>
                          <a:uLnTx/>
                          <a:uFillTx/>
                          <a:latin typeface="+mj-lt"/>
                          <a:ea typeface="+mn-ea"/>
                          <a:cs typeface="+mn-cs"/>
                        </a:rPr>
                      </a:br>
                      <a:r>
                        <a:rPr kumimoji="0" lang="en-GB" sz="1100" b="0" i="0" u="none" strike="noStrike" kern="1200" cap="none" spc="-60" normalizeH="0" baseline="0" noProof="0" dirty="0">
                          <a:ln>
                            <a:noFill/>
                          </a:ln>
                          <a:solidFill>
                            <a:schemeClr val="accent2"/>
                          </a:solidFill>
                          <a:effectLst/>
                          <a:uLnTx/>
                          <a:uFillTx/>
                          <a:latin typeface="+mj-lt"/>
                          <a:ea typeface="+mn-ea"/>
                          <a:cs typeface="+mn-cs"/>
                        </a:rPr>
                        <a:t>&amp; Analysis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As a unified Platform for Corporate Performance Management, OneStream will generate consolidated reports automatically integrated with Connect</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4226706462"/>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Business Intelligence</a:t>
                      </a:r>
                      <a:br>
                        <a:rPr kumimoji="0" lang="en-GB" sz="1100" b="0" i="0" u="none" strike="noStrike" kern="1200" cap="none" spc="-60" normalizeH="0" baseline="0" noProof="0" dirty="0">
                          <a:ln>
                            <a:noFill/>
                          </a:ln>
                          <a:solidFill>
                            <a:schemeClr val="accent2"/>
                          </a:solidFill>
                          <a:effectLst/>
                          <a:uLnTx/>
                          <a:uFillTx/>
                          <a:latin typeface="+mj-lt"/>
                          <a:ea typeface="+mn-ea"/>
                          <a:cs typeface="+mn-cs"/>
                        </a:rPr>
                      </a:br>
                      <a:r>
                        <a:rPr kumimoji="0" lang="en-GB" sz="1100" b="0" i="0" u="none" strike="noStrike" kern="1200" cap="none" spc="-60" normalizeH="0" baseline="0" noProof="0" dirty="0">
                          <a:ln>
                            <a:noFill/>
                          </a:ln>
                          <a:solidFill>
                            <a:schemeClr val="accent2"/>
                          </a:solidFill>
                          <a:effectLst/>
                          <a:uLnTx/>
                          <a:uFillTx/>
                          <a:latin typeface="+mj-lt"/>
                          <a:ea typeface="+mn-ea"/>
                          <a:cs typeface="+mn-cs"/>
                        </a:rPr>
                        <a:t>&amp; Analytics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Our new Data Warehouse follows a industry best practice and will set the basis to drive customer insight in the long term </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93767659"/>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Transactional Communications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Our transactional communications will be managed by best-in-class tools in a way that is consistent to the customer and efficient for Grainger.</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25970606"/>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System Integration</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Our integration layer future-proofs the Connect platform, by allowing the upgrade, removal or addition of technology components</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177792761"/>
                  </a:ext>
                </a:extLst>
              </a:tr>
            </a:tbl>
          </a:graphicData>
        </a:graphic>
      </p:graphicFrame>
      <p:grpSp>
        <p:nvGrpSpPr>
          <p:cNvPr id="23" name="Group 22">
            <a:extLst>
              <a:ext uri="{FF2B5EF4-FFF2-40B4-BE49-F238E27FC236}">
                <a16:creationId xmlns:a16="http://schemas.microsoft.com/office/drawing/2014/main" id="{BB0166BB-674C-4DFC-A575-87B6D5BB48C3}"/>
              </a:ext>
            </a:extLst>
          </p:cNvPr>
          <p:cNvGrpSpPr/>
          <p:nvPr/>
        </p:nvGrpSpPr>
        <p:grpSpPr>
          <a:xfrm>
            <a:off x="367603" y="2423022"/>
            <a:ext cx="362504" cy="381140"/>
            <a:chOff x="358772" y="3729340"/>
            <a:chExt cx="670921" cy="705411"/>
          </a:xfrm>
        </p:grpSpPr>
        <p:sp>
          <p:nvSpPr>
            <p:cNvPr id="24" name="Freeform 35">
              <a:extLst>
                <a:ext uri="{FF2B5EF4-FFF2-40B4-BE49-F238E27FC236}">
                  <a16:creationId xmlns:a16="http://schemas.microsoft.com/office/drawing/2014/main" id="{96215F5A-A5D1-4F41-8A61-203AEB099DFF}"/>
                </a:ext>
              </a:extLst>
            </p:cNvPr>
            <p:cNvSpPr>
              <a:spLocks/>
            </p:cNvSpPr>
            <p:nvPr/>
          </p:nvSpPr>
          <p:spPr bwMode="auto">
            <a:xfrm>
              <a:off x="358772" y="3729340"/>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25" name="Graphic 24" descr="Contract">
              <a:extLst>
                <a:ext uri="{FF2B5EF4-FFF2-40B4-BE49-F238E27FC236}">
                  <a16:creationId xmlns:a16="http://schemas.microsoft.com/office/drawing/2014/main" id="{CAEC1E8C-E8FA-4F8D-A8FE-A9EAFC7D66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4177" y="3806117"/>
              <a:ext cx="400110" cy="400110"/>
            </a:xfrm>
            <a:prstGeom prst="rect">
              <a:avLst/>
            </a:prstGeom>
          </p:spPr>
        </p:pic>
      </p:grpSp>
      <p:grpSp>
        <p:nvGrpSpPr>
          <p:cNvPr id="26" name="Group 25">
            <a:extLst>
              <a:ext uri="{FF2B5EF4-FFF2-40B4-BE49-F238E27FC236}">
                <a16:creationId xmlns:a16="http://schemas.microsoft.com/office/drawing/2014/main" id="{F847A1A8-93EF-4DD6-8802-DA3DD50F0A56}"/>
              </a:ext>
            </a:extLst>
          </p:cNvPr>
          <p:cNvGrpSpPr/>
          <p:nvPr/>
        </p:nvGrpSpPr>
        <p:grpSpPr>
          <a:xfrm>
            <a:off x="367603" y="2816026"/>
            <a:ext cx="362504" cy="381140"/>
            <a:chOff x="358772" y="3009752"/>
            <a:chExt cx="670921" cy="705411"/>
          </a:xfrm>
        </p:grpSpPr>
        <p:sp>
          <p:nvSpPr>
            <p:cNvPr id="27" name="Freeform 35">
              <a:extLst>
                <a:ext uri="{FF2B5EF4-FFF2-40B4-BE49-F238E27FC236}">
                  <a16:creationId xmlns:a16="http://schemas.microsoft.com/office/drawing/2014/main" id="{D771C9AC-ED44-4721-86D1-58E3F55A74C3}"/>
                </a:ext>
              </a:extLst>
            </p:cNvPr>
            <p:cNvSpPr>
              <a:spLocks/>
            </p:cNvSpPr>
            <p:nvPr/>
          </p:nvSpPr>
          <p:spPr bwMode="auto">
            <a:xfrm>
              <a:off x="358772" y="3009752"/>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28" name="Graphic 27" descr="Call center">
              <a:extLst>
                <a:ext uri="{FF2B5EF4-FFF2-40B4-BE49-F238E27FC236}">
                  <a16:creationId xmlns:a16="http://schemas.microsoft.com/office/drawing/2014/main" id="{ADF52DD6-9323-4A03-9E5B-002FA301E7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177" y="3070019"/>
              <a:ext cx="400110" cy="400110"/>
            </a:xfrm>
            <a:prstGeom prst="rect">
              <a:avLst/>
            </a:prstGeom>
          </p:spPr>
        </p:pic>
      </p:grpSp>
      <p:grpSp>
        <p:nvGrpSpPr>
          <p:cNvPr id="29" name="Group 28">
            <a:extLst>
              <a:ext uri="{FF2B5EF4-FFF2-40B4-BE49-F238E27FC236}">
                <a16:creationId xmlns:a16="http://schemas.microsoft.com/office/drawing/2014/main" id="{2075B95A-65D5-4246-9619-84247A6F69DF}"/>
              </a:ext>
            </a:extLst>
          </p:cNvPr>
          <p:cNvGrpSpPr/>
          <p:nvPr/>
        </p:nvGrpSpPr>
        <p:grpSpPr>
          <a:xfrm>
            <a:off x="367603" y="4388042"/>
            <a:ext cx="362504" cy="381140"/>
            <a:chOff x="358772" y="4452126"/>
            <a:chExt cx="670921" cy="705411"/>
          </a:xfrm>
        </p:grpSpPr>
        <p:sp>
          <p:nvSpPr>
            <p:cNvPr id="30" name="Freeform 35">
              <a:extLst>
                <a:ext uri="{FF2B5EF4-FFF2-40B4-BE49-F238E27FC236}">
                  <a16:creationId xmlns:a16="http://schemas.microsoft.com/office/drawing/2014/main" id="{FD970E0B-F692-4334-85D6-B0ABA57D3173}"/>
                </a:ext>
              </a:extLst>
            </p:cNvPr>
            <p:cNvSpPr>
              <a:spLocks/>
            </p:cNvSpPr>
            <p:nvPr/>
          </p:nvSpPr>
          <p:spPr bwMode="auto">
            <a:xfrm>
              <a:off x="358772" y="4452126"/>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31" name="Graphic 30" descr="Upward trend">
              <a:extLst>
                <a:ext uri="{FF2B5EF4-FFF2-40B4-BE49-F238E27FC236}">
                  <a16:creationId xmlns:a16="http://schemas.microsoft.com/office/drawing/2014/main" id="{E7502F8A-AF09-4697-ABC6-CA1A5F370D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4177" y="4537489"/>
              <a:ext cx="400110" cy="400110"/>
            </a:xfrm>
            <a:prstGeom prst="rect">
              <a:avLst/>
            </a:prstGeom>
          </p:spPr>
        </p:pic>
      </p:grpSp>
      <p:grpSp>
        <p:nvGrpSpPr>
          <p:cNvPr id="32" name="Group 31">
            <a:extLst>
              <a:ext uri="{FF2B5EF4-FFF2-40B4-BE49-F238E27FC236}">
                <a16:creationId xmlns:a16="http://schemas.microsoft.com/office/drawing/2014/main" id="{740BAEFA-3D68-43CB-B435-24E7A678A0B8}"/>
              </a:ext>
            </a:extLst>
          </p:cNvPr>
          <p:cNvGrpSpPr/>
          <p:nvPr/>
        </p:nvGrpSpPr>
        <p:grpSpPr>
          <a:xfrm>
            <a:off x="367603" y="3201079"/>
            <a:ext cx="362504" cy="381140"/>
            <a:chOff x="358775" y="5173219"/>
            <a:chExt cx="670921" cy="705411"/>
          </a:xfrm>
        </p:grpSpPr>
        <p:sp>
          <p:nvSpPr>
            <p:cNvPr id="33" name="Freeform 35">
              <a:extLst>
                <a:ext uri="{FF2B5EF4-FFF2-40B4-BE49-F238E27FC236}">
                  <a16:creationId xmlns:a16="http://schemas.microsoft.com/office/drawing/2014/main" id="{9786EB0B-3801-46AA-B795-5C0CDDA80080}"/>
                </a:ext>
              </a:extLst>
            </p:cNvPr>
            <p:cNvSpPr>
              <a:spLocks/>
            </p:cNvSpPr>
            <p:nvPr/>
          </p:nvSpPr>
          <p:spPr bwMode="auto">
            <a:xfrm>
              <a:off x="358775" y="5173219"/>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34" name="Graphic 33" descr="Computer">
              <a:extLst>
                <a:ext uri="{FF2B5EF4-FFF2-40B4-BE49-F238E27FC236}">
                  <a16:creationId xmlns:a16="http://schemas.microsoft.com/office/drawing/2014/main" id="{A4641DB6-300D-4710-A543-04A705AEB51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4177" y="5223202"/>
              <a:ext cx="400110" cy="400110"/>
            </a:xfrm>
            <a:prstGeom prst="rect">
              <a:avLst/>
            </a:prstGeom>
          </p:spPr>
        </p:pic>
      </p:grpSp>
      <p:grpSp>
        <p:nvGrpSpPr>
          <p:cNvPr id="35" name="Group 34">
            <a:extLst>
              <a:ext uri="{FF2B5EF4-FFF2-40B4-BE49-F238E27FC236}">
                <a16:creationId xmlns:a16="http://schemas.microsoft.com/office/drawing/2014/main" id="{94F2B55F-1401-447C-B724-9D8539FADEB3}"/>
              </a:ext>
            </a:extLst>
          </p:cNvPr>
          <p:cNvGrpSpPr/>
          <p:nvPr/>
        </p:nvGrpSpPr>
        <p:grpSpPr>
          <a:xfrm>
            <a:off x="367603" y="2030018"/>
            <a:ext cx="362504" cy="381140"/>
            <a:chOff x="4647541" y="3009752"/>
            <a:chExt cx="670921" cy="705411"/>
          </a:xfrm>
        </p:grpSpPr>
        <p:sp>
          <p:nvSpPr>
            <p:cNvPr id="36" name="Freeform 35">
              <a:extLst>
                <a:ext uri="{FF2B5EF4-FFF2-40B4-BE49-F238E27FC236}">
                  <a16:creationId xmlns:a16="http://schemas.microsoft.com/office/drawing/2014/main" id="{E1A87779-FFB3-4EF4-9E60-13F462E8077B}"/>
                </a:ext>
              </a:extLst>
            </p:cNvPr>
            <p:cNvSpPr>
              <a:spLocks/>
            </p:cNvSpPr>
            <p:nvPr/>
          </p:nvSpPr>
          <p:spPr bwMode="auto">
            <a:xfrm>
              <a:off x="4647541" y="3009752"/>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37" name="Graphic 36" descr="Table">
              <a:extLst>
                <a:ext uri="{FF2B5EF4-FFF2-40B4-BE49-F238E27FC236}">
                  <a16:creationId xmlns:a16="http://schemas.microsoft.com/office/drawing/2014/main" id="{8149F4C2-408B-44F5-BE8B-0D6827A811F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82946" y="3072539"/>
              <a:ext cx="400110" cy="400110"/>
            </a:xfrm>
            <a:prstGeom prst="rect">
              <a:avLst/>
            </a:prstGeom>
          </p:spPr>
        </p:pic>
      </p:grpSp>
      <p:grpSp>
        <p:nvGrpSpPr>
          <p:cNvPr id="38" name="Group 37">
            <a:extLst>
              <a:ext uri="{FF2B5EF4-FFF2-40B4-BE49-F238E27FC236}">
                <a16:creationId xmlns:a16="http://schemas.microsoft.com/office/drawing/2014/main" id="{2ACD0516-8FBD-4197-9633-90FBF6116936}"/>
              </a:ext>
            </a:extLst>
          </p:cNvPr>
          <p:cNvGrpSpPr/>
          <p:nvPr/>
        </p:nvGrpSpPr>
        <p:grpSpPr>
          <a:xfrm>
            <a:off x="367603" y="1637014"/>
            <a:ext cx="362504" cy="381140"/>
            <a:chOff x="4647541" y="3729340"/>
            <a:chExt cx="670921" cy="705411"/>
          </a:xfrm>
        </p:grpSpPr>
        <p:sp>
          <p:nvSpPr>
            <p:cNvPr id="39" name="Freeform 35">
              <a:extLst>
                <a:ext uri="{FF2B5EF4-FFF2-40B4-BE49-F238E27FC236}">
                  <a16:creationId xmlns:a16="http://schemas.microsoft.com/office/drawing/2014/main" id="{902DB836-152A-4228-A07E-BC33B3A07DBB}"/>
                </a:ext>
              </a:extLst>
            </p:cNvPr>
            <p:cNvSpPr>
              <a:spLocks/>
            </p:cNvSpPr>
            <p:nvPr/>
          </p:nvSpPr>
          <p:spPr bwMode="auto">
            <a:xfrm>
              <a:off x="4647541" y="3729340"/>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40" name="Graphic 39" descr="Employee badge">
              <a:extLst>
                <a:ext uri="{FF2B5EF4-FFF2-40B4-BE49-F238E27FC236}">
                  <a16:creationId xmlns:a16="http://schemas.microsoft.com/office/drawing/2014/main" id="{7BB83079-6E22-4E1B-8BED-272CBBAFE48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82946" y="3796597"/>
              <a:ext cx="400110" cy="400110"/>
            </a:xfrm>
            <a:prstGeom prst="rect">
              <a:avLst/>
            </a:prstGeom>
          </p:spPr>
        </p:pic>
      </p:grpSp>
      <p:grpSp>
        <p:nvGrpSpPr>
          <p:cNvPr id="41" name="Group 40">
            <a:extLst>
              <a:ext uri="{FF2B5EF4-FFF2-40B4-BE49-F238E27FC236}">
                <a16:creationId xmlns:a16="http://schemas.microsoft.com/office/drawing/2014/main" id="{C9CF02FA-54A1-469F-8BDC-B4E37ABB661F}"/>
              </a:ext>
            </a:extLst>
          </p:cNvPr>
          <p:cNvGrpSpPr/>
          <p:nvPr/>
        </p:nvGrpSpPr>
        <p:grpSpPr>
          <a:xfrm>
            <a:off x="367603" y="4781046"/>
            <a:ext cx="362504" cy="381140"/>
            <a:chOff x="4647541" y="4452126"/>
            <a:chExt cx="670921" cy="705411"/>
          </a:xfrm>
        </p:grpSpPr>
        <p:sp>
          <p:nvSpPr>
            <p:cNvPr id="42" name="Freeform 35">
              <a:extLst>
                <a:ext uri="{FF2B5EF4-FFF2-40B4-BE49-F238E27FC236}">
                  <a16:creationId xmlns:a16="http://schemas.microsoft.com/office/drawing/2014/main" id="{C88CC5C9-4477-4F23-ADD6-D648008F5A14}"/>
                </a:ext>
              </a:extLst>
            </p:cNvPr>
            <p:cNvSpPr>
              <a:spLocks/>
            </p:cNvSpPr>
            <p:nvPr/>
          </p:nvSpPr>
          <p:spPr bwMode="auto">
            <a:xfrm>
              <a:off x="4647541" y="4452126"/>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43" name="Graphic 42" descr="Calculator">
              <a:extLst>
                <a:ext uri="{FF2B5EF4-FFF2-40B4-BE49-F238E27FC236}">
                  <a16:creationId xmlns:a16="http://schemas.microsoft.com/office/drawing/2014/main" id="{907762C5-68A2-4D0B-B0BF-C87936DC7D5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82946" y="4530595"/>
              <a:ext cx="400110" cy="400110"/>
            </a:xfrm>
            <a:prstGeom prst="rect">
              <a:avLst/>
            </a:prstGeom>
          </p:spPr>
        </p:pic>
      </p:grpSp>
      <p:grpSp>
        <p:nvGrpSpPr>
          <p:cNvPr id="44" name="Group 43">
            <a:extLst>
              <a:ext uri="{FF2B5EF4-FFF2-40B4-BE49-F238E27FC236}">
                <a16:creationId xmlns:a16="http://schemas.microsoft.com/office/drawing/2014/main" id="{AACCF7BB-A60F-4B0D-B3F6-54DFBAB67945}"/>
              </a:ext>
            </a:extLst>
          </p:cNvPr>
          <p:cNvGrpSpPr/>
          <p:nvPr/>
        </p:nvGrpSpPr>
        <p:grpSpPr>
          <a:xfrm>
            <a:off x="367603" y="5174050"/>
            <a:ext cx="362504" cy="381140"/>
            <a:chOff x="4647544" y="5173219"/>
            <a:chExt cx="670921" cy="705411"/>
          </a:xfrm>
        </p:grpSpPr>
        <p:sp>
          <p:nvSpPr>
            <p:cNvPr id="45" name="Freeform 35">
              <a:extLst>
                <a:ext uri="{FF2B5EF4-FFF2-40B4-BE49-F238E27FC236}">
                  <a16:creationId xmlns:a16="http://schemas.microsoft.com/office/drawing/2014/main" id="{D6501A34-EF15-477A-BA6B-979EA41FB6FA}"/>
                </a:ext>
              </a:extLst>
            </p:cNvPr>
            <p:cNvSpPr>
              <a:spLocks/>
            </p:cNvSpPr>
            <p:nvPr/>
          </p:nvSpPr>
          <p:spPr bwMode="auto">
            <a:xfrm>
              <a:off x="4647544" y="5173219"/>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46" name="Graphic 45" descr="Research">
              <a:extLst>
                <a:ext uri="{FF2B5EF4-FFF2-40B4-BE49-F238E27FC236}">
                  <a16:creationId xmlns:a16="http://schemas.microsoft.com/office/drawing/2014/main" id="{60DE2EC3-49A7-47BC-9301-469171E2055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782946" y="5254653"/>
              <a:ext cx="400110" cy="400110"/>
            </a:xfrm>
            <a:prstGeom prst="rect">
              <a:avLst/>
            </a:prstGeom>
          </p:spPr>
        </p:pic>
      </p:grpSp>
      <p:sp>
        <p:nvSpPr>
          <p:cNvPr id="48" name="Freeform 35">
            <a:extLst>
              <a:ext uri="{FF2B5EF4-FFF2-40B4-BE49-F238E27FC236}">
                <a16:creationId xmlns:a16="http://schemas.microsoft.com/office/drawing/2014/main" id="{1DB467BB-A2E4-4660-81B1-24AF8FDB913A}"/>
              </a:ext>
            </a:extLst>
          </p:cNvPr>
          <p:cNvSpPr>
            <a:spLocks/>
          </p:cNvSpPr>
          <p:nvPr/>
        </p:nvSpPr>
        <p:spPr bwMode="auto">
          <a:xfrm>
            <a:off x="369016" y="5956666"/>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50" name="Picture 10" descr="Image result for mri software">
            <a:extLst>
              <a:ext uri="{FF2B5EF4-FFF2-40B4-BE49-F238E27FC236}">
                <a16:creationId xmlns:a16="http://schemas.microsoft.com/office/drawing/2014/main" id="{4A6B7059-85E3-4784-9635-2DB527CAB16C}"/>
              </a:ext>
            </a:extLst>
          </p:cNvPr>
          <p:cNvPicPr>
            <a:picLocks noChangeAspect="1" noChangeArrowheads="1"/>
          </p:cNvPicPr>
          <p:nvPr/>
        </p:nvPicPr>
        <p:blipFill>
          <a:blip r:embed="rId18">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2971207" y="1656432"/>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2" descr="Image result for proactis software">
            <a:extLst>
              <a:ext uri="{FF2B5EF4-FFF2-40B4-BE49-F238E27FC236}">
                <a16:creationId xmlns:a16="http://schemas.microsoft.com/office/drawing/2014/main" id="{140B22A2-653D-4BCA-914F-4519D8C8A3DB}"/>
              </a:ext>
            </a:extLst>
          </p:cNvPr>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77220" y="2435762"/>
            <a:ext cx="833583" cy="34510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6" descr="Image result for fsi concept evolution">
            <a:extLst>
              <a:ext uri="{FF2B5EF4-FFF2-40B4-BE49-F238E27FC236}">
                <a16:creationId xmlns:a16="http://schemas.microsoft.com/office/drawing/2014/main" id="{907688C2-3F1C-4780-87D0-FC3786331159}"/>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33639" y="2037089"/>
            <a:ext cx="720744" cy="38362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alesforce logo">
            <a:extLst>
              <a:ext uri="{FF2B5EF4-FFF2-40B4-BE49-F238E27FC236}">
                <a16:creationId xmlns:a16="http://schemas.microsoft.com/office/drawing/2014/main" id="{32D56C1D-B6F0-4165-AB79-60D4FB8F5B1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71207" y="2772063"/>
            <a:ext cx="645608" cy="451926"/>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yieldstar realpage">
            <a:extLst>
              <a:ext uri="{FF2B5EF4-FFF2-40B4-BE49-F238E27FC236}">
                <a16:creationId xmlns:a16="http://schemas.microsoft.com/office/drawing/2014/main" id="{E374DA04-A7BB-4CB2-87E4-9ACAD026641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76682" y="4414473"/>
            <a:ext cx="1034658" cy="32104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a:extLst>
              <a:ext uri="{FF2B5EF4-FFF2-40B4-BE49-F238E27FC236}">
                <a16:creationId xmlns:a16="http://schemas.microsoft.com/office/drawing/2014/main" id="{675B4FD7-57E7-40FA-B67A-B514B99B66F7}"/>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866357" y="3239040"/>
            <a:ext cx="855308" cy="325018"/>
          </a:xfrm>
          <a:prstGeom prst="rect">
            <a:avLst/>
          </a:prstGeom>
        </p:spPr>
      </p:pic>
      <p:pic>
        <p:nvPicPr>
          <p:cNvPr id="56" name="Picture 55">
            <a:extLst>
              <a:ext uri="{FF2B5EF4-FFF2-40B4-BE49-F238E27FC236}">
                <a16:creationId xmlns:a16="http://schemas.microsoft.com/office/drawing/2014/main" id="{95F7F16A-91A8-4DF5-8054-996AF0973405}"/>
              </a:ext>
            </a:extLst>
          </p:cNvPr>
          <p:cNvPicPr>
            <a:picLocks noChangeAspect="1"/>
          </p:cNvPicPr>
          <p:nvPr/>
        </p:nvPicPr>
        <p:blipFill>
          <a:blip r:embed="rId2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90419" y="4710811"/>
            <a:ext cx="1007184" cy="527093"/>
          </a:xfrm>
          <a:prstGeom prst="rect">
            <a:avLst/>
          </a:prstGeom>
        </p:spPr>
      </p:pic>
      <p:pic>
        <p:nvPicPr>
          <p:cNvPr id="58" name="Picture 57">
            <a:extLst>
              <a:ext uri="{FF2B5EF4-FFF2-40B4-BE49-F238E27FC236}">
                <a16:creationId xmlns:a16="http://schemas.microsoft.com/office/drawing/2014/main" id="{1ED6B17E-A04E-4F47-9CE5-108D5E796A3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866357" y="5956199"/>
            <a:ext cx="855308" cy="371246"/>
          </a:xfrm>
          <a:prstGeom prst="rect">
            <a:avLst/>
          </a:prstGeom>
        </p:spPr>
      </p:pic>
      <p:sp>
        <p:nvSpPr>
          <p:cNvPr id="59" name="Freeform 35">
            <a:extLst>
              <a:ext uri="{FF2B5EF4-FFF2-40B4-BE49-F238E27FC236}">
                <a16:creationId xmlns:a16="http://schemas.microsoft.com/office/drawing/2014/main" id="{C992B428-A215-4CE0-9593-81F1AA5F9BEA}"/>
              </a:ext>
            </a:extLst>
          </p:cNvPr>
          <p:cNvSpPr>
            <a:spLocks/>
          </p:cNvSpPr>
          <p:nvPr/>
        </p:nvSpPr>
        <p:spPr bwMode="auto">
          <a:xfrm>
            <a:off x="367603" y="3995038"/>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60" name="Graphic 59">
            <a:extLst>
              <a:ext uri="{FF2B5EF4-FFF2-40B4-BE49-F238E27FC236}">
                <a16:creationId xmlns:a16="http://schemas.microsoft.com/office/drawing/2014/main" id="{7F4B4F16-6875-421E-8D2C-2A7A6A2EFBD6}"/>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724479" y="3634766"/>
            <a:ext cx="1139064" cy="315610"/>
          </a:xfrm>
          <a:prstGeom prst="rect">
            <a:avLst/>
          </a:prstGeom>
        </p:spPr>
      </p:pic>
      <p:pic>
        <p:nvPicPr>
          <p:cNvPr id="61" name="Picture 60">
            <a:extLst>
              <a:ext uri="{FF2B5EF4-FFF2-40B4-BE49-F238E27FC236}">
                <a16:creationId xmlns:a16="http://schemas.microsoft.com/office/drawing/2014/main" id="{D85158F8-2975-4AAB-AA64-27A44CC94925}"/>
              </a:ext>
            </a:extLst>
          </p:cNvPr>
          <p:cNvPicPr>
            <a:picLocks noChangeAspect="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621473" y="4029035"/>
            <a:ext cx="1345076" cy="330632"/>
          </a:xfrm>
          <a:prstGeom prst="rect">
            <a:avLst/>
          </a:prstGeom>
        </p:spPr>
      </p:pic>
      <p:grpSp>
        <p:nvGrpSpPr>
          <p:cNvPr id="62" name="Group 61">
            <a:extLst>
              <a:ext uri="{FF2B5EF4-FFF2-40B4-BE49-F238E27FC236}">
                <a16:creationId xmlns:a16="http://schemas.microsoft.com/office/drawing/2014/main" id="{F2CA4712-B23D-4098-B962-8FDA7F673A41}"/>
              </a:ext>
            </a:extLst>
          </p:cNvPr>
          <p:cNvGrpSpPr/>
          <p:nvPr/>
        </p:nvGrpSpPr>
        <p:grpSpPr>
          <a:xfrm>
            <a:off x="367603" y="3595332"/>
            <a:ext cx="362504" cy="387842"/>
            <a:chOff x="367603" y="3849771"/>
            <a:chExt cx="362504" cy="387842"/>
          </a:xfrm>
        </p:grpSpPr>
        <p:sp>
          <p:nvSpPr>
            <p:cNvPr id="63" name="Freeform 35">
              <a:extLst>
                <a:ext uri="{FF2B5EF4-FFF2-40B4-BE49-F238E27FC236}">
                  <a16:creationId xmlns:a16="http://schemas.microsoft.com/office/drawing/2014/main" id="{80A82B51-BC4A-4244-A867-90AE52D5E46F}"/>
                </a:ext>
              </a:extLst>
            </p:cNvPr>
            <p:cNvSpPr>
              <a:spLocks/>
            </p:cNvSpPr>
            <p:nvPr/>
          </p:nvSpPr>
          <p:spPr bwMode="auto">
            <a:xfrm>
              <a:off x="367603" y="3856473"/>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64" name="Picture 63">
              <a:extLst>
                <a:ext uri="{FF2B5EF4-FFF2-40B4-BE49-F238E27FC236}">
                  <a16:creationId xmlns:a16="http://schemas.microsoft.com/office/drawing/2014/main" id="{56AB0E17-41E9-4BF5-8FD2-A3829F5F9A71}"/>
                </a:ext>
              </a:extLst>
            </p:cNvPr>
            <p:cNvPicPr>
              <a:picLocks noChangeAspect="1"/>
            </p:cNvPicPr>
            <p:nvPr/>
          </p:nvPicPr>
          <p:blipFill>
            <a:blip r:embed="rId29">
              <a:biLevel thresh="25000"/>
              <a:extLst>
                <a:ext uri="{28A0092B-C50C-407E-A947-70E740481C1C}">
                  <a14:useLocalDpi xmlns:a14="http://schemas.microsoft.com/office/drawing/2010/main" val="0"/>
                </a:ext>
              </a:extLst>
            </a:blip>
            <a:stretch>
              <a:fillRect/>
            </a:stretch>
          </p:blipFill>
          <p:spPr>
            <a:xfrm>
              <a:off x="399766" y="3849771"/>
              <a:ext cx="298173" cy="298173"/>
            </a:xfrm>
            <a:prstGeom prst="rect">
              <a:avLst/>
            </a:prstGeom>
          </p:spPr>
        </p:pic>
        <p:pic>
          <p:nvPicPr>
            <p:cNvPr id="65" name="Picture 64">
              <a:extLst>
                <a:ext uri="{FF2B5EF4-FFF2-40B4-BE49-F238E27FC236}">
                  <a16:creationId xmlns:a16="http://schemas.microsoft.com/office/drawing/2014/main" id="{342E087C-173C-4431-813E-0D248DF600FB}"/>
                </a:ext>
              </a:extLst>
            </p:cNvPr>
            <p:cNvPicPr>
              <a:picLocks noChangeAspect="1"/>
            </p:cNvPicPr>
            <p:nvPr/>
          </p:nvPicPr>
          <p:blipFill>
            <a:blip r:embed="rId29">
              <a:biLevel thresh="25000"/>
              <a:extLst>
                <a:ext uri="{28A0092B-C50C-407E-A947-70E740481C1C}">
                  <a14:useLocalDpi xmlns:a14="http://schemas.microsoft.com/office/drawing/2010/main" val="0"/>
                </a:ext>
              </a:extLst>
            </a:blip>
            <a:stretch>
              <a:fillRect/>
            </a:stretch>
          </p:blipFill>
          <p:spPr>
            <a:xfrm>
              <a:off x="404101" y="3850396"/>
              <a:ext cx="298173" cy="298173"/>
            </a:xfrm>
            <a:prstGeom prst="rect">
              <a:avLst/>
            </a:prstGeom>
          </p:spPr>
        </p:pic>
      </p:grpSp>
      <p:pic>
        <p:nvPicPr>
          <p:cNvPr id="66" name="Picture 4" descr="Image result for document icon">
            <a:extLst>
              <a:ext uri="{FF2B5EF4-FFF2-40B4-BE49-F238E27FC236}">
                <a16:creationId xmlns:a16="http://schemas.microsoft.com/office/drawing/2014/main" id="{F0E1645A-F961-4C3D-ADFF-2361ADD9710C}"/>
              </a:ext>
            </a:extLst>
          </p:cNvPr>
          <p:cNvPicPr>
            <a:picLocks noChangeAspect="1" noChangeArrowheads="1"/>
          </p:cNvPicPr>
          <p:nvPr/>
        </p:nvPicPr>
        <p:blipFill>
          <a:blip r:embed="rId30">
            <a:clrChange>
              <a:clrFrom>
                <a:srgbClr val="FDFDFD"/>
              </a:clrFrom>
              <a:clrTo>
                <a:srgbClr val="FDFDFD">
                  <a:alpha val="0"/>
                </a:srgbClr>
              </a:clrTo>
            </a:clrChange>
            <a:lum bright="70000" contrast="-70000"/>
            <a:extLst>
              <a:ext uri="{BEBA8EAE-BF5A-486C-A8C5-ECC9F3942E4B}">
                <a14:imgProps xmlns:a14="http://schemas.microsoft.com/office/drawing/2010/main">
                  <a14:imgLayer r:embed="rId31">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54410" y="4057496"/>
            <a:ext cx="183854" cy="177895"/>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a:extLst>
              <a:ext uri="{FF2B5EF4-FFF2-40B4-BE49-F238E27FC236}">
                <a16:creationId xmlns:a16="http://schemas.microsoft.com/office/drawing/2014/main" id="{F793C814-22D5-450B-94C4-9E7D1AB73C38}"/>
              </a:ext>
            </a:extLst>
          </p:cNvPr>
          <p:cNvPicPr>
            <a:picLocks noChangeAspect="1"/>
          </p:cNvPicPr>
          <p:nvPr/>
        </p:nvPicPr>
        <p:blipFill>
          <a:blip r:embed="rId32">
            <a:clrChange>
              <a:clrFrom>
                <a:srgbClr val="009BE6"/>
              </a:clrFrom>
              <a:clrTo>
                <a:srgbClr val="009BE6">
                  <a:alpha val="0"/>
                </a:srgbClr>
              </a:clrTo>
            </a:clrChange>
            <a:extLst>
              <a:ext uri="{BEBA8EAE-BF5A-486C-A8C5-ECC9F3942E4B}">
                <a14:imgProps xmlns:a14="http://schemas.microsoft.com/office/drawing/2010/main">
                  <a14:imgLayer r:embed="rId3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417747" y="5976671"/>
            <a:ext cx="257179" cy="257179"/>
          </a:xfrm>
          <a:prstGeom prst="rect">
            <a:avLst/>
          </a:prstGeom>
        </p:spPr>
      </p:pic>
      <p:sp>
        <p:nvSpPr>
          <p:cNvPr id="2" name="TextBox 1">
            <a:extLst>
              <a:ext uri="{FF2B5EF4-FFF2-40B4-BE49-F238E27FC236}">
                <a16:creationId xmlns:a16="http://schemas.microsoft.com/office/drawing/2014/main" id="{60EFD282-B84F-4892-88D1-EF22C7AB0910}"/>
              </a:ext>
            </a:extLst>
          </p:cNvPr>
          <p:cNvSpPr txBox="1"/>
          <p:nvPr/>
        </p:nvSpPr>
        <p:spPr>
          <a:xfrm rot="16200000">
            <a:off x="8293624" y="2118224"/>
            <a:ext cx="1279517"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60" normalizeH="0" baseline="0" noProof="0" dirty="0">
                <a:ln>
                  <a:noFill/>
                </a:ln>
                <a:solidFill>
                  <a:srgbClr val="FF6600">
                    <a:lumMod val="60000"/>
                    <a:lumOff val="40000"/>
                  </a:srgbClr>
                </a:solidFill>
                <a:effectLst/>
                <a:uLnTx/>
                <a:uFillTx/>
                <a:latin typeface="Montserrat" panose="00000500000000000000" pitchFamily="2" charset="0"/>
                <a:ea typeface="+mn-ea"/>
                <a:cs typeface="+mn-cs"/>
              </a:rPr>
              <a:t>Original core system</a:t>
            </a:r>
          </a:p>
        </p:txBody>
      </p:sp>
      <p:sp>
        <p:nvSpPr>
          <p:cNvPr id="71" name="Freeform 35">
            <a:extLst>
              <a:ext uri="{FF2B5EF4-FFF2-40B4-BE49-F238E27FC236}">
                <a16:creationId xmlns:a16="http://schemas.microsoft.com/office/drawing/2014/main" id="{C1428055-CB41-445F-9595-CDCF198AE6F7}"/>
              </a:ext>
            </a:extLst>
          </p:cNvPr>
          <p:cNvSpPr>
            <a:spLocks/>
          </p:cNvSpPr>
          <p:nvPr/>
        </p:nvSpPr>
        <p:spPr bwMode="auto">
          <a:xfrm>
            <a:off x="367603" y="5564984"/>
            <a:ext cx="362505"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12" name="Picture 11" descr="A close up of a sign&#10;&#10;Description automatically generated">
            <a:extLst>
              <a:ext uri="{FF2B5EF4-FFF2-40B4-BE49-F238E27FC236}">
                <a16:creationId xmlns:a16="http://schemas.microsoft.com/office/drawing/2014/main" id="{E9AA0E56-FBAA-45BB-A94D-8FAD0D02B906}"/>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627939" y="5697049"/>
            <a:ext cx="773426" cy="246760"/>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224DCB1E-5F88-41A3-85E7-37BBAE5FF53B}"/>
              </a:ext>
            </a:extLst>
          </p:cNvPr>
          <p:cNvPicPr>
            <a:picLocks noChangeAspect="1"/>
          </p:cNvPicPr>
          <p:nvPr/>
        </p:nvPicPr>
        <p:blipFill>
          <a:blip r:embed="rId3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89768" y="5381611"/>
            <a:ext cx="953003" cy="595627"/>
          </a:xfrm>
          <a:prstGeom prst="rect">
            <a:avLst/>
          </a:prstGeom>
        </p:spPr>
      </p:pic>
      <p:pic>
        <p:nvPicPr>
          <p:cNvPr id="14" name="Picture 13" descr="A picture containing drawing, shirt&#10;&#10;Description automatically generated">
            <a:extLst>
              <a:ext uri="{FF2B5EF4-FFF2-40B4-BE49-F238E27FC236}">
                <a16:creationId xmlns:a16="http://schemas.microsoft.com/office/drawing/2014/main" id="{E1499991-537E-45C9-9FA1-EDD472434987}"/>
              </a:ext>
            </a:extLst>
          </p:cNvPr>
          <p:cNvPicPr>
            <a:picLocks noChangeAspect="1"/>
          </p:cNvPicPr>
          <p:nvPr/>
        </p:nvPicPr>
        <p:blipFill>
          <a:blip r:embed="rId36">
            <a:clrChange>
              <a:clrFrom>
                <a:srgbClr val="000000"/>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97114" y="5568341"/>
            <a:ext cx="298446" cy="298446"/>
          </a:xfrm>
          <a:prstGeom prst="rect">
            <a:avLst/>
          </a:prstGeom>
        </p:spPr>
      </p:pic>
      <p:pic>
        <p:nvPicPr>
          <p:cNvPr id="73" name="Picture 72">
            <a:extLst>
              <a:ext uri="{FF2B5EF4-FFF2-40B4-BE49-F238E27FC236}">
                <a16:creationId xmlns:a16="http://schemas.microsoft.com/office/drawing/2014/main" id="{290FC82A-2781-4AAF-A777-3AF2AC838868}"/>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2718139" y="5273367"/>
            <a:ext cx="683226" cy="197495"/>
          </a:xfrm>
          <a:prstGeom prst="rect">
            <a:avLst/>
          </a:prstGeom>
        </p:spPr>
      </p:pic>
      <p:pic>
        <p:nvPicPr>
          <p:cNvPr id="74" name="Picture 73">
            <a:extLst>
              <a:ext uri="{FF2B5EF4-FFF2-40B4-BE49-F238E27FC236}">
                <a16:creationId xmlns:a16="http://schemas.microsoft.com/office/drawing/2014/main" id="{60E2A559-9C3C-4C82-AD5B-A21A5DF090FB}"/>
              </a:ext>
            </a:extLst>
          </p:cNvPr>
          <p:cNvPicPr>
            <a:picLocks noChangeAspect="1"/>
          </p:cNvPicPr>
          <p:nvPr/>
        </p:nvPicPr>
        <p:blipFill rotWithShape="1">
          <a:blip r:embed="rId38">
            <a:clrChange>
              <a:clrFrom>
                <a:srgbClr val="FFFFFF"/>
              </a:clrFrom>
              <a:clrTo>
                <a:srgbClr val="FFFFFF">
                  <a:alpha val="0"/>
                </a:srgbClr>
              </a:clrTo>
            </a:clrChange>
          </a:blip>
          <a:srcRect l="16572" r="20242" b="26084"/>
          <a:stretch/>
        </p:blipFill>
        <p:spPr>
          <a:xfrm>
            <a:off x="3435083" y="5123054"/>
            <a:ext cx="490522" cy="439933"/>
          </a:xfrm>
          <a:prstGeom prst="rect">
            <a:avLst/>
          </a:prstGeom>
        </p:spPr>
      </p:pic>
    </p:spTree>
    <p:extLst>
      <p:ext uri="{BB962C8B-B14F-4D97-AF65-F5344CB8AC3E}">
        <p14:creationId xmlns:p14="http://schemas.microsoft.com/office/powerpoint/2010/main" val="417749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E16066-D6DF-4110-A787-3591A92B713F}"/>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2DEA96CD-CA1A-4B29-9F04-40E27D680A5A}"/>
              </a:ext>
            </a:extLst>
          </p:cNvPr>
          <p:cNvSpPr>
            <a:spLocks noGrp="1"/>
          </p:cNvSpPr>
          <p:nvPr>
            <p:ph type="sldNum" sz="quarter" idx="12"/>
          </p:nvPr>
        </p:nvSpPr>
        <p:spPr/>
        <p:txBody>
          <a:bodyPr/>
          <a:lstStyle/>
          <a:p>
            <a:fld id="{0D32313A-DEBC-4CA4-B008-A02D4ABE2C72}" type="slidenum">
              <a:rPr lang="en-GB" smtClean="0"/>
              <a:t>3</a:t>
            </a:fld>
            <a:endParaRPr lang="en-GB" dirty="0"/>
          </a:p>
        </p:txBody>
      </p:sp>
      <p:sp>
        <p:nvSpPr>
          <p:cNvPr id="5" name="Title 4">
            <a:extLst>
              <a:ext uri="{FF2B5EF4-FFF2-40B4-BE49-F238E27FC236}">
                <a16:creationId xmlns:a16="http://schemas.microsoft.com/office/drawing/2014/main" id="{0D91DBC6-9826-467B-BE7A-F29DA68B7BE5}"/>
              </a:ext>
            </a:extLst>
          </p:cNvPr>
          <p:cNvSpPr>
            <a:spLocks noGrp="1"/>
          </p:cNvSpPr>
          <p:nvPr>
            <p:ph type="title"/>
          </p:nvPr>
        </p:nvSpPr>
        <p:spPr/>
        <p:txBody>
          <a:bodyPr/>
          <a:lstStyle/>
          <a:p>
            <a:r>
              <a:rPr lang="en-GB" dirty="0"/>
              <a:t>High-level Platform architecture </a:t>
            </a:r>
          </a:p>
        </p:txBody>
      </p:sp>
      <p:pic>
        <p:nvPicPr>
          <p:cNvPr id="6" name="Picture 5">
            <a:extLst>
              <a:ext uri="{FF2B5EF4-FFF2-40B4-BE49-F238E27FC236}">
                <a16:creationId xmlns:a16="http://schemas.microsoft.com/office/drawing/2014/main" id="{05E40ED2-04BE-4E2A-94F2-C712B2B40241}"/>
              </a:ext>
            </a:extLst>
          </p:cNvPr>
          <p:cNvPicPr>
            <a:picLocks noChangeAspect="1"/>
          </p:cNvPicPr>
          <p:nvPr/>
        </p:nvPicPr>
        <p:blipFill>
          <a:blip r:embed="rId2"/>
          <a:stretch>
            <a:fillRect/>
          </a:stretch>
        </p:blipFill>
        <p:spPr>
          <a:xfrm>
            <a:off x="981986" y="964408"/>
            <a:ext cx="6918956" cy="5403809"/>
          </a:xfrm>
          <a:prstGeom prst="rect">
            <a:avLst/>
          </a:prstGeom>
        </p:spPr>
      </p:pic>
      <p:sp>
        <p:nvSpPr>
          <p:cNvPr id="2" name="Rectangle 1">
            <a:extLst>
              <a:ext uri="{FF2B5EF4-FFF2-40B4-BE49-F238E27FC236}">
                <a16:creationId xmlns:a16="http://schemas.microsoft.com/office/drawing/2014/main" id="{30E0AC9A-564A-42AE-80A2-E8AD5FF1B2BF}"/>
              </a:ext>
            </a:extLst>
          </p:cNvPr>
          <p:cNvSpPr/>
          <p:nvPr/>
        </p:nvSpPr>
        <p:spPr>
          <a:xfrm>
            <a:off x="739471" y="6329237"/>
            <a:ext cx="7422543" cy="62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6720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BBEEAC9B-45FD-41B9-8CFA-E0E78A10AEFA}"/>
              </a:ext>
            </a:extLst>
          </p:cNvPr>
          <p:cNvGraphicFramePr>
            <a:graphicFrameLocks noGrp="1"/>
          </p:cNvGraphicFramePr>
          <p:nvPr>
            <p:ph idx="1"/>
          </p:nvPr>
        </p:nvGraphicFramePr>
        <p:xfrm>
          <a:off x="358775" y="2779776"/>
          <a:ext cx="8426448" cy="3464684"/>
        </p:xfrm>
        <a:graphic>
          <a:graphicData uri="http://schemas.openxmlformats.org/drawingml/2006/table">
            <a:tbl>
              <a:tblPr/>
              <a:tblGrid>
                <a:gridCol w="1168092">
                  <a:extLst>
                    <a:ext uri="{9D8B030D-6E8A-4147-A177-3AD203B41FA5}">
                      <a16:colId xmlns:a16="http://schemas.microsoft.com/office/drawing/2014/main" val="4260020772"/>
                    </a:ext>
                  </a:extLst>
                </a:gridCol>
                <a:gridCol w="1209726">
                  <a:extLst>
                    <a:ext uri="{9D8B030D-6E8A-4147-A177-3AD203B41FA5}">
                      <a16:colId xmlns:a16="http://schemas.microsoft.com/office/drawing/2014/main" val="2205705042"/>
                    </a:ext>
                  </a:extLst>
                </a:gridCol>
                <a:gridCol w="1209726">
                  <a:extLst>
                    <a:ext uri="{9D8B030D-6E8A-4147-A177-3AD203B41FA5}">
                      <a16:colId xmlns:a16="http://schemas.microsoft.com/office/drawing/2014/main" val="783104242"/>
                    </a:ext>
                  </a:extLst>
                </a:gridCol>
                <a:gridCol w="1209726">
                  <a:extLst>
                    <a:ext uri="{9D8B030D-6E8A-4147-A177-3AD203B41FA5}">
                      <a16:colId xmlns:a16="http://schemas.microsoft.com/office/drawing/2014/main" val="3068789837"/>
                    </a:ext>
                  </a:extLst>
                </a:gridCol>
                <a:gridCol w="1209726">
                  <a:extLst>
                    <a:ext uri="{9D8B030D-6E8A-4147-A177-3AD203B41FA5}">
                      <a16:colId xmlns:a16="http://schemas.microsoft.com/office/drawing/2014/main" val="3900234969"/>
                    </a:ext>
                  </a:extLst>
                </a:gridCol>
                <a:gridCol w="1209726">
                  <a:extLst>
                    <a:ext uri="{9D8B030D-6E8A-4147-A177-3AD203B41FA5}">
                      <a16:colId xmlns:a16="http://schemas.microsoft.com/office/drawing/2014/main" val="890498235"/>
                    </a:ext>
                  </a:extLst>
                </a:gridCol>
                <a:gridCol w="1209726">
                  <a:extLst>
                    <a:ext uri="{9D8B030D-6E8A-4147-A177-3AD203B41FA5}">
                      <a16:colId xmlns:a16="http://schemas.microsoft.com/office/drawing/2014/main" val="3855158168"/>
                    </a:ext>
                  </a:extLst>
                </a:gridCol>
              </a:tblGrid>
              <a:tr h="257943">
                <a:tc>
                  <a:txBody>
                    <a:bodyPr/>
                    <a:lstStyle/>
                    <a:p>
                      <a:pPr algn="l" fontAlgn="b"/>
                      <a:endParaRPr lang="en-GB" sz="10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a:noFill/>
                    </a:lnB>
                  </a:tcPr>
                </a:tc>
                <a:tc gridSpan="2">
                  <a:txBody>
                    <a:bodyPr/>
                    <a:lstStyle/>
                    <a:p>
                      <a:pPr algn="ctr" fontAlgn="b"/>
                      <a:r>
                        <a:rPr lang="en-GB" sz="1000" b="1" i="0" u="none" strike="noStrike" dirty="0">
                          <a:solidFill>
                            <a:schemeClr val="bg1"/>
                          </a:solidFill>
                          <a:effectLst/>
                          <a:latin typeface="+mj-lt"/>
                        </a:rPr>
                        <a:t>Residential Module (RM)</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hMerge="1">
                  <a:txBody>
                    <a:bodyPr/>
                    <a:lstStyle/>
                    <a:p>
                      <a:endParaRPr lang="en-GB"/>
                    </a:p>
                  </a:txBody>
                  <a:tcPr/>
                </a:tc>
                <a:tc>
                  <a:txBody>
                    <a:bodyPr/>
                    <a:lstStyle/>
                    <a:p>
                      <a:endParaRPr lang="en-GB" sz="1050" dirty="0">
                        <a:solidFill>
                          <a:schemeClr val="bg1"/>
                        </a:solidFill>
                        <a:latin typeface="+mj-lt"/>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pattFill prst="wdUpDiag">
                      <a:fgClr>
                        <a:srgbClr val="4D858D"/>
                      </a:fgClr>
                      <a:bgClr>
                        <a:srgbClr val="56A7A8"/>
                      </a:bgClr>
                    </a:pattFill>
                  </a:tcPr>
                </a:tc>
                <a:tc gridSpan="2">
                  <a:txBody>
                    <a:bodyPr/>
                    <a:lstStyle/>
                    <a:p>
                      <a:pPr algn="ctr" fontAlgn="b"/>
                      <a:r>
                        <a:rPr lang="en-GB" sz="1000" b="1" i="0" u="none" strike="noStrike" dirty="0">
                          <a:solidFill>
                            <a:schemeClr val="bg1"/>
                          </a:solidFill>
                          <a:effectLst/>
                          <a:latin typeface="+mj-lt"/>
                        </a:rPr>
                        <a:t>Commercial Module (CM)</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hMerge="1">
                  <a:txBody>
                    <a:bodyPr/>
                    <a:lstStyle/>
                    <a:p>
                      <a:pPr algn="ctr" fontAlgn="b"/>
                      <a:endParaRPr lang="en-GB" sz="1000" b="1" i="0" u="none" strike="noStrike" dirty="0">
                        <a:solidFill>
                          <a:schemeClr val="bg1"/>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rowSpan="3">
                  <a:txBody>
                    <a:bodyPr/>
                    <a:lstStyle/>
                    <a:p>
                      <a:pPr algn="ctr" fontAlgn="b"/>
                      <a:r>
                        <a:rPr lang="en-GB" sz="1000" b="1" i="0" u="none" strike="noStrike" dirty="0">
                          <a:solidFill>
                            <a:schemeClr val="bg1"/>
                          </a:solidFill>
                          <a:effectLst/>
                          <a:latin typeface="+mj-lt"/>
                        </a:rPr>
                        <a:t>Total</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tx1"/>
                    </a:solidFill>
                  </a:tcPr>
                </a:tc>
                <a:extLst>
                  <a:ext uri="{0D108BD9-81ED-4DB2-BD59-A6C34878D82A}">
                    <a16:rowId xmlns:a16="http://schemas.microsoft.com/office/drawing/2014/main" val="3838324676"/>
                  </a:ext>
                </a:extLst>
              </a:tr>
              <a:tr h="406504">
                <a:tc>
                  <a:txBody>
                    <a:bodyPr/>
                    <a:lstStyle/>
                    <a:p>
                      <a:pPr algn="r" fontAlgn="b"/>
                      <a:r>
                        <a:rPr lang="en-GB" sz="1000" b="1" i="0" u="none" strike="noStrike" dirty="0">
                          <a:solidFill>
                            <a:srgbClr val="000000"/>
                          </a:solidFill>
                          <a:effectLst/>
                          <a:latin typeface="+mj-lt"/>
                        </a:rPr>
                        <a:t>Tenure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a:noFill/>
                    </a:lnT>
                    <a:lnB>
                      <a:noFill/>
                    </a:lnB>
                  </a:tcPr>
                </a:tc>
                <a:tc rowSpan="2">
                  <a:txBody>
                    <a:bodyPr/>
                    <a:lstStyle/>
                    <a:p>
                      <a:pPr algn="ctr" fontAlgn="b"/>
                      <a:r>
                        <a:rPr lang="en-GB" sz="1000" b="1" i="0" u="none" strike="noStrike" dirty="0">
                          <a:solidFill>
                            <a:schemeClr val="bg1"/>
                          </a:solidFill>
                          <a:effectLst/>
                          <a:latin typeface="+mj-lt"/>
                        </a:rPr>
                        <a:t>Short tenancies (BTR, AST, Comp-Let, Affordable)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rowSpan="2">
                  <a:txBody>
                    <a:bodyPr/>
                    <a:lstStyle/>
                    <a:p>
                      <a:pPr algn="ctr" fontAlgn="b"/>
                      <a:r>
                        <a:rPr lang="en-GB" sz="1000" b="1" i="0" u="none" strike="noStrike" dirty="0">
                          <a:solidFill>
                            <a:schemeClr val="bg1"/>
                          </a:solidFill>
                          <a:effectLst/>
                          <a:latin typeface="+mj-lt"/>
                        </a:rPr>
                        <a:t>Garages / Sheds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rowSpan="2">
                  <a:txBody>
                    <a:bodyPr/>
                    <a:lstStyle/>
                    <a:p>
                      <a:pPr algn="ctr" fontAlgn="b"/>
                      <a:r>
                        <a:rPr lang="en-GB" sz="1000" b="1" i="0" u="none" strike="noStrike" dirty="0">
                          <a:solidFill>
                            <a:schemeClr val="bg1"/>
                          </a:solidFill>
                          <a:effectLst/>
                          <a:latin typeface="+mj-lt"/>
                        </a:rPr>
                        <a:t>Regulated, Assured, Weekly Affordable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pattFill prst="wdUpDiag">
                      <a:fgClr>
                        <a:srgbClr val="4D858D"/>
                      </a:fgClr>
                      <a:bgClr>
                        <a:srgbClr val="56A7A8"/>
                      </a:bgClr>
                    </a:pattFill>
                  </a:tcPr>
                </a:tc>
                <a:tc rowSpan="2">
                  <a:txBody>
                    <a:bodyPr/>
                    <a:lstStyle/>
                    <a:p>
                      <a:pPr algn="ctr" fontAlgn="b"/>
                      <a:r>
                        <a:rPr lang="en-GB" sz="1000" b="1" i="0" u="none" strike="noStrike" dirty="0">
                          <a:solidFill>
                            <a:schemeClr val="bg1"/>
                          </a:solidFill>
                          <a:effectLst/>
                          <a:latin typeface="+mj-lt"/>
                        </a:rPr>
                        <a:t>Commercial, Leasehold, Ground Rents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rowSpan="2">
                  <a:txBody>
                    <a:bodyPr/>
                    <a:lstStyle/>
                    <a:p>
                      <a:pPr algn="ctr" fontAlgn="b"/>
                      <a:r>
                        <a:rPr lang="en-GB" sz="1000" b="1" i="0" u="none" strike="noStrike" dirty="0">
                          <a:solidFill>
                            <a:schemeClr val="bg1"/>
                          </a:solidFill>
                          <a:effectLst/>
                          <a:latin typeface="+mj-lt"/>
                        </a:rPr>
                        <a:t>Shared Ownership</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vMerge="1">
                  <a:txBody>
                    <a:bodyPr/>
                    <a:lstStyle/>
                    <a:p>
                      <a:pPr algn="l" fontAlgn="b"/>
                      <a:endParaRPr lang="en-GB" sz="1000" b="1" i="0" u="none" strike="noStrike" dirty="0">
                        <a:solidFill>
                          <a:schemeClr val="bg1"/>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tx1"/>
                    </a:solidFill>
                  </a:tcPr>
                </a:tc>
                <a:extLst>
                  <a:ext uri="{0D108BD9-81ED-4DB2-BD59-A6C34878D82A}">
                    <a16:rowId xmlns:a16="http://schemas.microsoft.com/office/drawing/2014/main" val="373487339"/>
                  </a:ext>
                </a:extLst>
              </a:tr>
              <a:tr h="406504">
                <a:tc>
                  <a:txBody>
                    <a:bodyPr/>
                    <a:lstStyle/>
                    <a:p>
                      <a:pPr algn="l" fontAlgn="b"/>
                      <a:r>
                        <a:rPr lang="en-GB" sz="1000" b="1" i="0" u="none" strike="noStrike" dirty="0">
                          <a:solidFill>
                            <a:srgbClr val="000000"/>
                          </a:solidFill>
                          <a:effectLst/>
                          <a:latin typeface="+mj-lt"/>
                        </a:rPr>
                        <a:t>Billing Freq</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a:noFill/>
                    </a:lnT>
                    <a:lnB w="12700" cap="flat" cmpd="sng" algn="ctr">
                      <a:solidFill>
                        <a:srgbClr val="4D858D"/>
                      </a:solidFill>
                      <a:prstDash val="solid"/>
                      <a:round/>
                      <a:headEnd type="none" w="med" len="med"/>
                      <a:tailEnd type="none" w="med" len="med"/>
                    </a:lnB>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30385602"/>
                  </a:ext>
                </a:extLst>
              </a:tr>
              <a:tr h="132029">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extLst>
                  <a:ext uri="{0D108BD9-81ED-4DB2-BD59-A6C34878D82A}">
                    <a16:rowId xmlns:a16="http://schemas.microsoft.com/office/drawing/2014/main" val="1296081887"/>
                  </a:ext>
                </a:extLst>
              </a:tr>
              <a:tr h="249471">
                <a:tc>
                  <a:txBody>
                    <a:bodyPr/>
                    <a:lstStyle/>
                    <a:p>
                      <a:pPr algn="l" fontAlgn="b"/>
                      <a:r>
                        <a:rPr lang="en-GB" sz="1000" b="0" i="0" u="none" strike="noStrike" dirty="0">
                          <a:solidFill>
                            <a:srgbClr val="000000"/>
                          </a:solidFill>
                          <a:effectLst/>
                          <a:latin typeface="Montserrat" panose="00000500000000000000" pitchFamily="50" charset="0"/>
                        </a:rPr>
                        <a:t>Monthly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3,590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587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1,141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651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199</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6,168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760136939"/>
                  </a:ext>
                </a:extLst>
              </a:tr>
              <a:tr h="418898">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Montserrat" panose="00000500000000000000" pitchFamily="50" charset="0"/>
                        </a:rPr>
                        <a:t>Quarterly, Half Yearly, Yearly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77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335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130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14,447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398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15,387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910269005"/>
                  </a:ext>
                </a:extLst>
              </a:tr>
              <a:tr h="139121">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708147945"/>
                  </a:ext>
                </a:extLst>
              </a:tr>
              <a:tr h="249471">
                <a:tc>
                  <a:txBody>
                    <a:bodyPr/>
                    <a:lstStyle/>
                    <a:p>
                      <a:pPr algn="l" fontAlgn="b"/>
                      <a:r>
                        <a:rPr lang="en-GB" sz="1000" b="0" i="0" u="none" strike="noStrike" dirty="0">
                          <a:solidFill>
                            <a:srgbClr val="000000"/>
                          </a:solidFill>
                          <a:effectLst/>
                          <a:latin typeface="Montserrat" panose="00000500000000000000" pitchFamily="50" charset="0"/>
                        </a:rPr>
                        <a:t>Weekly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64</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1" i="0" u="none" strike="noStrike" dirty="0">
                          <a:solidFill>
                            <a:schemeClr val="bg1"/>
                          </a:solidFill>
                          <a:effectLst/>
                          <a:latin typeface="Montserrat" panose="00000500000000000000" pitchFamily="50" charset="0"/>
                        </a:rPr>
                        <a:t>1,292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r" fontAlgn="b"/>
                      <a:r>
                        <a:rPr lang="en-GB" sz="1000" b="0" i="0" u="none" strike="noStrike" dirty="0">
                          <a:solidFill>
                            <a:srgbClr val="000000"/>
                          </a:solidFill>
                          <a:effectLst/>
                          <a:latin typeface="Montserrat" panose="00000500000000000000" pitchFamily="50" charset="0"/>
                        </a:rPr>
                        <a:t>118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1,481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189339681"/>
                  </a:ext>
                </a:extLst>
              </a:tr>
              <a:tr h="588325">
                <a:tc>
                  <a:txBody>
                    <a:bodyPr/>
                    <a:lstStyle/>
                    <a:p>
                      <a:pPr algn="l" fontAlgn="b"/>
                      <a:r>
                        <a:rPr lang="en-GB" sz="1000" b="0" i="0" u="none" strike="noStrike" dirty="0">
                          <a:solidFill>
                            <a:srgbClr val="000000"/>
                          </a:solidFill>
                          <a:effectLst/>
                          <a:latin typeface="Montserrat" panose="00000500000000000000" pitchFamily="50" charset="0"/>
                        </a:rPr>
                        <a:t>Fortnightly, legal Quarters, Others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 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75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3</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1,471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1,540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152829403"/>
                  </a:ext>
                </a:extLst>
              </a:tr>
              <a:tr h="117476">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Montserrat" panose="00000500000000000000" pitchFamily="50" charset="0"/>
                        </a:rPr>
                        <a:t> </a:t>
                      </a: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Montserrat" panose="00000500000000000000" pitchFamily="50" charset="0"/>
                        </a:rPr>
                        <a:t> </a:t>
                      </a: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1826889862"/>
                  </a:ext>
                </a:extLst>
              </a:tr>
              <a:tr h="249471">
                <a:tc rowSpan="2">
                  <a:txBody>
                    <a:bodyPr/>
                    <a:lstStyle/>
                    <a:p>
                      <a:pPr algn="l" fontAlgn="b"/>
                      <a:r>
                        <a:rPr lang="en-GB" sz="1000" b="1" i="0" u="none" strike="noStrike" dirty="0">
                          <a:solidFill>
                            <a:srgbClr val="000000"/>
                          </a:solidFill>
                          <a:effectLst/>
                          <a:latin typeface="Montserrat" panose="00000500000000000000" pitchFamily="50" charset="0"/>
                        </a:rPr>
                        <a:t>Total</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3,731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1,002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chemeClr val="bg1"/>
                          </a:solidFill>
                          <a:effectLst/>
                          <a:latin typeface="Montserrat" panose="00000500000000000000" pitchFamily="50" charset="0"/>
                        </a:rPr>
                        <a:t>2,566</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solidFill>
                      <a:srgbClr val="FF0000"/>
                    </a:solidFill>
                  </a:tcPr>
                </a:tc>
                <a:tc>
                  <a:txBody>
                    <a:bodyPr/>
                    <a:lstStyle/>
                    <a:p>
                      <a:pPr algn="r" fontAlgn="b"/>
                      <a:r>
                        <a:rPr lang="en-GB" sz="1000" b="1" i="0" u="none" strike="noStrike" dirty="0">
                          <a:solidFill>
                            <a:srgbClr val="000000"/>
                          </a:solidFill>
                          <a:effectLst/>
                          <a:latin typeface="Montserrat" panose="00000500000000000000" pitchFamily="50" charset="0"/>
                        </a:rPr>
                        <a:t>16,688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599</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24,586</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275672"/>
                  </a:ext>
                </a:extLst>
              </a:tr>
              <a:tr h="249471">
                <a:tc vMerge="1">
                  <a:txBody>
                    <a:bodyPr/>
                    <a:lstStyle/>
                    <a:p>
                      <a:pPr algn="l" fontAlgn="b"/>
                      <a:endParaRPr lang="en-GB" sz="1000" b="0" i="0" u="none" strike="noStrike" dirty="0">
                        <a:solidFill>
                          <a:srgbClr val="000000"/>
                        </a:solidFill>
                        <a:effectLst/>
                        <a:latin typeface="Montserrat" panose="00000500000000000000" pitchFamily="50" charset="0"/>
                      </a:endParaRPr>
                    </a:p>
                  </a:txBody>
                  <a:tcPr marL="72000" marR="72000" marT="36000" marB="36000" anchor="b">
                    <a:lnL>
                      <a:noFill/>
                    </a:lnL>
                    <a:lnR w="12700" cap="flat" cmpd="sng" algn="ctr">
                      <a:solidFill>
                        <a:srgbClr val="4D858D"/>
                      </a:solidFill>
                      <a:prstDash val="solid"/>
                      <a:round/>
                      <a:headEnd type="none" w="med" len="med"/>
                      <a:tailEnd type="none" w="med" len="med"/>
                    </a:lnR>
                    <a:lnT>
                      <a:noFill/>
                    </a:lnT>
                    <a:lnB>
                      <a:noFill/>
                    </a:lnB>
                  </a:tcPr>
                </a:tc>
                <a:tc>
                  <a:txBody>
                    <a:bodyPr/>
                    <a:lstStyle/>
                    <a:p>
                      <a:pPr algn="r" fontAlgn="b"/>
                      <a:r>
                        <a:rPr lang="en-GB" sz="1000" b="0" i="1" u="none" strike="noStrike" dirty="0">
                          <a:solidFill>
                            <a:srgbClr val="000000"/>
                          </a:solidFill>
                          <a:effectLst/>
                          <a:latin typeface="Montserrat" panose="00000500000000000000" pitchFamily="50" charset="0"/>
                        </a:rPr>
                        <a:t>15%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4%</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chemeClr val="bg1"/>
                          </a:solidFill>
                          <a:effectLst/>
                          <a:latin typeface="Montserrat" panose="00000500000000000000" pitchFamily="50" charset="0"/>
                        </a:rPr>
                        <a:t>10%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r" fontAlgn="b"/>
                      <a:r>
                        <a:rPr lang="en-GB" sz="1000" b="0" i="1" u="none" strike="noStrike" dirty="0">
                          <a:solidFill>
                            <a:srgbClr val="000000"/>
                          </a:solidFill>
                          <a:effectLst/>
                          <a:latin typeface="Montserrat" panose="00000500000000000000" pitchFamily="50" charset="0"/>
                        </a:rPr>
                        <a:t>68%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100%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1321332990"/>
                  </a:ext>
                </a:extLst>
              </a:tr>
            </a:tbl>
          </a:graphicData>
        </a:graphic>
      </p:graphicFrame>
      <p:sp>
        <p:nvSpPr>
          <p:cNvPr id="3" name="Footer Placeholder 2">
            <a:extLst>
              <a:ext uri="{FF2B5EF4-FFF2-40B4-BE49-F238E27FC236}">
                <a16:creationId xmlns:a16="http://schemas.microsoft.com/office/drawing/2014/main" id="{464D9BEF-9AC8-440A-81B4-5D16D19DE833}"/>
              </a:ext>
            </a:extLst>
          </p:cNvPr>
          <p:cNvSpPr>
            <a:spLocks noGrp="1"/>
          </p:cNvSpPr>
          <p:nvPr>
            <p:ph type="ftr" sz="quarter" idx="11"/>
          </p:nvPr>
        </p:nvSpPr>
        <p:spPr/>
        <p:txBody>
          <a:bodyPr/>
          <a:lstStyle/>
          <a:p>
            <a:r>
              <a:rPr lang="en-GB" dirty="0"/>
              <a:t>Grainger Plc  |  www.graingerplc.co.uk    |  Investor Day  |  September 2017</a:t>
            </a:r>
          </a:p>
        </p:txBody>
      </p:sp>
      <p:sp>
        <p:nvSpPr>
          <p:cNvPr id="4" name="Slide Number Placeholder 3">
            <a:extLst>
              <a:ext uri="{FF2B5EF4-FFF2-40B4-BE49-F238E27FC236}">
                <a16:creationId xmlns:a16="http://schemas.microsoft.com/office/drawing/2014/main" id="{C894ED77-9FE0-41D7-98AC-5586AC384038}"/>
              </a:ext>
            </a:extLst>
          </p:cNvPr>
          <p:cNvSpPr>
            <a:spLocks noGrp="1"/>
          </p:cNvSpPr>
          <p:nvPr>
            <p:ph type="sldNum" sz="quarter" idx="12"/>
          </p:nvPr>
        </p:nvSpPr>
        <p:spPr/>
        <p:txBody>
          <a:bodyPr/>
          <a:lstStyle/>
          <a:p>
            <a:fld id="{0D32313A-DEBC-4CA4-B008-A02D4ABE2C72}" type="slidenum">
              <a:rPr lang="en-GB" smtClean="0"/>
              <a:t>4</a:t>
            </a:fld>
            <a:endParaRPr lang="en-GB" dirty="0"/>
          </a:p>
        </p:txBody>
      </p:sp>
      <p:sp>
        <p:nvSpPr>
          <p:cNvPr id="5" name="Title 4">
            <a:extLst>
              <a:ext uri="{FF2B5EF4-FFF2-40B4-BE49-F238E27FC236}">
                <a16:creationId xmlns:a16="http://schemas.microsoft.com/office/drawing/2014/main" id="{BEDCA5BA-FE06-49A2-BC71-53A8AA875B39}"/>
              </a:ext>
            </a:extLst>
          </p:cNvPr>
          <p:cNvSpPr>
            <a:spLocks noGrp="1"/>
          </p:cNvSpPr>
          <p:nvPr>
            <p:ph type="title"/>
          </p:nvPr>
        </p:nvSpPr>
        <p:spPr>
          <a:xfrm>
            <a:off x="358775" y="270088"/>
            <a:ext cx="6646324" cy="937275"/>
          </a:xfrm>
        </p:spPr>
        <p:txBody>
          <a:bodyPr/>
          <a:lstStyle/>
          <a:p>
            <a:r>
              <a:rPr lang="en-GB" dirty="0"/>
              <a:t>Regulated Tenancies carry most of non-standard residential billing</a:t>
            </a:r>
          </a:p>
        </p:txBody>
      </p:sp>
      <p:cxnSp>
        <p:nvCxnSpPr>
          <p:cNvPr id="11" name="Straight Connector 10">
            <a:extLst>
              <a:ext uri="{FF2B5EF4-FFF2-40B4-BE49-F238E27FC236}">
                <a16:creationId xmlns:a16="http://schemas.microsoft.com/office/drawing/2014/main" id="{0BEFEFB4-4346-4898-9171-44B2A6DC4427}"/>
              </a:ext>
            </a:extLst>
          </p:cNvPr>
          <p:cNvCxnSpPr>
            <a:cxnSpLocks/>
          </p:cNvCxnSpPr>
          <p:nvPr/>
        </p:nvCxnSpPr>
        <p:spPr>
          <a:xfrm flipH="1" flipV="1">
            <a:off x="358774" y="2779775"/>
            <a:ext cx="1159130" cy="1051562"/>
          </a:xfrm>
          <a:prstGeom prst="line">
            <a:avLst/>
          </a:prstGeom>
          <a:ln w="12700">
            <a:solidFill>
              <a:srgbClr val="4D858D"/>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FEB65D4A-587D-404C-9BE0-585B8B6AEEC5}"/>
              </a:ext>
            </a:extLst>
          </p:cNvPr>
          <p:cNvSpPr txBox="1">
            <a:spLocks/>
          </p:cNvSpPr>
          <p:nvPr/>
        </p:nvSpPr>
        <p:spPr>
          <a:xfrm>
            <a:off x="358774" y="1263933"/>
            <a:ext cx="8426449" cy="836460"/>
          </a:xfrm>
          <a:prstGeom prst="rect">
            <a:avLst/>
          </a:prstGeom>
          <a:ln>
            <a:noFill/>
          </a:ln>
        </p:spPr>
        <p:txBody>
          <a:bodyPr vert="horz" lIns="84406" tIns="42203" rIns="84406" bIns="42203"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796">
              <a:lnSpc>
                <a:spcPct val="100000"/>
              </a:lnSpc>
              <a:spcBef>
                <a:spcPts val="1200"/>
              </a:spcBef>
              <a:buNone/>
            </a:pPr>
            <a:r>
              <a:rPr lang="en-GB" sz="1200" dirty="0">
                <a:solidFill>
                  <a:schemeClr val="accent2"/>
                </a:solidFill>
                <a:latin typeface="Montserrat"/>
                <a:ea typeface="+mn-ea"/>
                <a:cs typeface="+mn-cs"/>
              </a:rPr>
              <a:t>The guiding principle for splitting units across the 2 MRI modules (RM and CM) is based on the functionality in each one of the modules. CM is able to handle service charges, therefore it holds the commercial leases and also all tenures that involve service charges (leaseholds, ground rents, shared ownership). All the ‘short’ residential leases (mainly AST’s and regulated) would be held in RM. </a:t>
            </a:r>
          </a:p>
        </p:txBody>
      </p:sp>
      <p:sp>
        <p:nvSpPr>
          <p:cNvPr id="17" name="Oval 16">
            <a:extLst>
              <a:ext uri="{FF2B5EF4-FFF2-40B4-BE49-F238E27FC236}">
                <a16:creationId xmlns:a16="http://schemas.microsoft.com/office/drawing/2014/main" id="{0159C5BA-1828-447E-B9A5-77373B313021}"/>
              </a:ext>
            </a:extLst>
          </p:cNvPr>
          <p:cNvSpPr/>
          <p:nvPr/>
        </p:nvSpPr>
        <p:spPr>
          <a:xfrm>
            <a:off x="3886200" y="4739260"/>
            <a:ext cx="1304925" cy="35242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6700AB0F-D095-422F-9A4D-717F60088CCA}"/>
              </a:ext>
            </a:extLst>
          </p:cNvPr>
          <p:cNvSpPr/>
          <p:nvPr/>
        </p:nvSpPr>
        <p:spPr>
          <a:xfrm>
            <a:off x="358775" y="2120605"/>
            <a:ext cx="8426444" cy="542602"/>
          </a:xfrm>
          <a:prstGeom prst="rect">
            <a:avLst/>
          </a:prstGeom>
          <a:solidFill>
            <a:srgbClr val="FFFF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j-lt"/>
              </a:rPr>
              <a:t>The population impacted by the MRI deficiency are 1,292 regulated (and some affordable) tenants who are charged weekly. </a:t>
            </a:r>
            <a:r>
              <a:rPr lang="en-GB" sz="1000" dirty="0">
                <a:solidFill>
                  <a:schemeClr val="tx1"/>
                </a:solidFill>
              </a:rPr>
              <a:t>This is not a core customer segment for Grainger and is expected to shrink in the future. However the billing activity and arrears management are intense in this segment – so they should be the focus for a decision to be made in this topic. </a:t>
            </a:r>
          </a:p>
        </p:txBody>
      </p:sp>
      <p:cxnSp>
        <p:nvCxnSpPr>
          <p:cNvPr id="20" name="Straight Arrow Connector 19">
            <a:extLst>
              <a:ext uri="{FF2B5EF4-FFF2-40B4-BE49-F238E27FC236}">
                <a16:creationId xmlns:a16="http://schemas.microsoft.com/office/drawing/2014/main" id="{E2C48216-3E6C-4502-AD63-9783A78B647E}"/>
              </a:ext>
            </a:extLst>
          </p:cNvPr>
          <p:cNvCxnSpPr>
            <a:cxnSpLocks/>
            <a:endCxn id="17" idx="0"/>
          </p:cNvCxnSpPr>
          <p:nvPr/>
        </p:nvCxnSpPr>
        <p:spPr>
          <a:xfrm>
            <a:off x="3602736" y="2663207"/>
            <a:ext cx="935927" cy="20760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75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2F7EE0-20D5-42AD-9360-505ACE4F47DD}"/>
              </a:ext>
            </a:extLst>
          </p:cNvPr>
          <p:cNvSpPr>
            <a:spLocks noGrp="1"/>
          </p:cNvSpPr>
          <p:nvPr>
            <p:ph type="sldNum" sz="quarter" idx="12"/>
          </p:nvPr>
        </p:nvSpPr>
        <p:spPr/>
        <p:txBody>
          <a:bodyPr/>
          <a:lstStyle/>
          <a:p>
            <a:fld id="{0D32313A-DEBC-4CA4-B008-A02D4ABE2C72}" type="slidenum">
              <a:rPr lang="en-GB" smtClean="0"/>
              <a:t>5</a:t>
            </a:fld>
            <a:endParaRPr lang="en-GB" dirty="0"/>
          </a:p>
        </p:txBody>
      </p:sp>
      <p:sp>
        <p:nvSpPr>
          <p:cNvPr id="4" name="Title 3">
            <a:extLst>
              <a:ext uri="{FF2B5EF4-FFF2-40B4-BE49-F238E27FC236}">
                <a16:creationId xmlns:a16="http://schemas.microsoft.com/office/drawing/2014/main" id="{0599236D-3F85-4772-8B07-ECEBAC45AA03}"/>
              </a:ext>
            </a:extLst>
          </p:cNvPr>
          <p:cNvSpPr>
            <a:spLocks noGrp="1"/>
          </p:cNvSpPr>
          <p:nvPr>
            <p:ph type="title"/>
          </p:nvPr>
        </p:nvSpPr>
        <p:spPr>
          <a:xfrm>
            <a:off x="358775" y="289670"/>
            <a:ext cx="8328478" cy="581897"/>
          </a:xfrm>
        </p:spPr>
        <p:txBody>
          <a:bodyPr/>
          <a:lstStyle/>
          <a:p>
            <a:r>
              <a:rPr lang="en-GB" sz="2800" dirty="0"/>
              <a:t>MRI solution evolution: 2018 to date</a:t>
            </a:r>
            <a:endParaRPr lang="en-GB" sz="3600" dirty="0"/>
          </a:p>
        </p:txBody>
      </p:sp>
      <p:graphicFrame>
        <p:nvGraphicFramePr>
          <p:cNvPr id="5" name="Content Placeholder 5">
            <a:extLst>
              <a:ext uri="{FF2B5EF4-FFF2-40B4-BE49-F238E27FC236}">
                <a16:creationId xmlns:a16="http://schemas.microsoft.com/office/drawing/2014/main" id="{724F352D-F15D-4561-819E-2226663292BF}"/>
              </a:ext>
            </a:extLst>
          </p:cNvPr>
          <p:cNvGraphicFramePr>
            <a:graphicFrameLocks noGrp="1"/>
          </p:cNvGraphicFramePr>
          <p:nvPr>
            <p:ph idx="1"/>
            <p:extLst>
              <p:ext uri="{D42A27DB-BD31-4B8C-83A1-F6EECF244321}">
                <p14:modId xmlns:p14="http://schemas.microsoft.com/office/powerpoint/2010/main" val="408919026"/>
              </p:ext>
            </p:extLst>
          </p:nvPr>
        </p:nvGraphicFramePr>
        <p:xfrm>
          <a:off x="358775" y="1711647"/>
          <a:ext cx="8426451" cy="4500023"/>
        </p:xfrm>
        <a:graphic>
          <a:graphicData uri="http://schemas.openxmlformats.org/drawingml/2006/table">
            <a:tbl>
              <a:tblPr/>
              <a:tblGrid>
                <a:gridCol w="967007">
                  <a:extLst>
                    <a:ext uri="{9D8B030D-6E8A-4147-A177-3AD203B41FA5}">
                      <a16:colId xmlns:a16="http://schemas.microsoft.com/office/drawing/2014/main" val="498262556"/>
                    </a:ext>
                  </a:extLst>
                </a:gridCol>
                <a:gridCol w="2112796">
                  <a:extLst>
                    <a:ext uri="{9D8B030D-6E8A-4147-A177-3AD203B41FA5}">
                      <a16:colId xmlns:a16="http://schemas.microsoft.com/office/drawing/2014/main" val="542008314"/>
                    </a:ext>
                  </a:extLst>
                </a:gridCol>
                <a:gridCol w="891108">
                  <a:extLst>
                    <a:ext uri="{9D8B030D-6E8A-4147-A177-3AD203B41FA5}">
                      <a16:colId xmlns:a16="http://schemas.microsoft.com/office/drawing/2014/main" val="3073264862"/>
                    </a:ext>
                  </a:extLst>
                </a:gridCol>
                <a:gridCol w="891108">
                  <a:extLst>
                    <a:ext uri="{9D8B030D-6E8A-4147-A177-3AD203B41FA5}">
                      <a16:colId xmlns:a16="http://schemas.microsoft.com/office/drawing/2014/main" val="851723888"/>
                    </a:ext>
                  </a:extLst>
                </a:gridCol>
                <a:gridCol w="891108">
                  <a:extLst>
                    <a:ext uri="{9D8B030D-6E8A-4147-A177-3AD203B41FA5}">
                      <a16:colId xmlns:a16="http://schemas.microsoft.com/office/drawing/2014/main" val="1929150155"/>
                    </a:ext>
                  </a:extLst>
                </a:gridCol>
                <a:gridCol w="891108">
                  <a:extLst>
                    <a:ext uri="{9D8B030D-6E8A-4147-A177-3AD203B41FA5}">
                      <a16:colId xmlns:a16="http://schemas.microsoft.com/office/drawing/2014/main" val="3387804120"/>
                    </a:ext>
                  </a:extLst>
                </a:gridCol>
                <a:gridCol w="891108">
                  <a:extLst>
                    <a:ext uri="{9D8B030D-6E8A-4147-A177-3AD203B41FA5}">
                      <a16:colId xmlns:a16="http://schemas.microsoft.com/office/drawing/2014/main" val="1449742211"/>
                    </a:ext>
                  </a:extLst>
                </a:gridCol>
                <a:gridCol w="891108">
                  <a:extLst>
                    <a:ext uri="{9D8B030D-6E8A-4147-A177-3AD203B41FA5}">
                      <a16:colId xmlns:a16="http://schemas.microsoft.com/office/drawing/2014/main" val="883733744"/>
                    </a:ext>
                  </a:extLst>
                </a:gridCol>
              </a:tblGrid>
              <a:tr h="167912">
                <a:tc rowSpan="2" gridSpan="2">
                  <a:txBody>
                    <a:bodyPr/>
                    <a:lstStyle/>
                    <a:p>
                      <a:pPr algn="ctr" fontAlgn="b"/>
                      <a:r>
                        <a:rPr lang="en-GB" sz="600" b="1" i="0" u="none" strike="noStrike" dirty="0">
                          <a:solidFill>
                            <a:srgbClr val="000000"/>
                          </a:solidFill>
                          <a:effectLst/>
                          <a:latin typeface="Montserrat" panose="00000500000000000000" pitchFamily="50" charset="0"/>
                        </a:rPr>
                        <a:t> </a:t>
                      </a:r>
                      <a:r>
                        <a:rPr lang="en-GB" sz="1000" b="1" i="0" u="none" strike="noStrike" dirty="0">
                          <a:solidFill>
                            <a:srgbClr val="000000"/>
                          </a:solidFill>
                          <a:effectLst/>
                          <a:latin typeface="Montserrat" panose="00000500000000000000" pitchFamily="50" charset="0"/>
                        </a:rPr>
                        <a:t> Connect – Core Capabilities</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rowSpan="2"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gridSpan="6">
                  <a:txBody>
                    <a:bodyPr/>
                    <a:lstStyle/>
                    <a:p>
                      <a:pPr algn="ctr" fontAlgn="b"/>
                      <a:r>
                        <a:rPr lang="en-GB" sz="1000" b="1" i="0" u="none" strike="noStrike" dirty="0">
                          <a:solidFill>
                            <a:srgbClr val="000000"/>
                          </a:solidFill>
                          <a:effectLst/>
                          <a:latin typeface="Montserrat" panose="00000500000000000000" pitchFamily="50" charset="0"/>
                        </a:rPr>
                        <a:t>Core System per capability</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3482519942"/>
                  </a:ext>
                </a:extLst>
              </a:tr>
              <a:tr h="167912">
                <a:tc gridSpan="2" vMerge="1">
                  <a:txBody>
                    <a:bodyPr/>
                    <a:lstStyle/>
                    <a:p>
                      <a:pPr algn="ctr" fontAlgn="b"/>
                      <a:r>
                        <a:rPr lang="en-GB" sz="600" b="1" i="0" u="none" strike="noStrike">
                          <a:solidFill>
                            <a:srgbClr val="000000"/>
                          </a:solidFill>
                          <a:effectLst/>
                          <a:latin typeface="Montserrat" panose="00000500000000000000" pitchFamily="50" charset="0"/>
                        </a:rPr>
                        <a:t> </a:t>
                      </a:r>
                      <a:r>
                        <a:rPr lang="en-GB" sz="1000" b="1" i="0" u="none" strike="noStrike">
                          <a:solidFill>
                            <a:srgbClr val="000000"/>
                          </a:solidFill>
                          <a:effectLst/>
                          <a:latin typeface="Montserrat" panose="00000500000000000000" pitchFamily="50" charset="0"/>
                        </a:rPr>
                        <a:t> Connect – Core Capabilities</a:t>
                      </a:r>
                    </a:p>
                  </a:txBody>
                  <a:tcPr marL="0" marR="0" marT="0" marB="0" anchor="b">
                    <a:lnL>
                      <a:noFill/>
                    </a:lnL>
                    <a:lnR>
                      <a:noFill/>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hMerge="1" vMerge="1">
                  <a:txBody>
                    <a:bodyPr/>
                    <a:lstStyle/>
                    <a:p>
                      <a:pPr algn="ctr" fontAlgn="b"/>
                      <a:r>
                        <a:rPr lang="en-GB" sz="1000" b="1" i="0" u="none" strike="noStrike">
                          <a:solidFill>
                            <a:srgbClr val="000000"/>
                          </a:solidFill>
                          <a:effectLst/>
                          <a:latin typeface="Montserrat" panose="00000500000000000000" pitchFamily="50" charset="0"/>
                        </a:rPr>
                        <a:t> Connect – Core Capabilities</a:t>
                      </a:r>
                    </a:p>
                  </a:txBody>
                  <a:tcPr marL="0" marR="0" marT="0" marB="0" anchor="b">
                    <a:lnL>
                      <a:noFill/>
                    </a:lnL>
                    <a:lnR>
                      <a:noFill/>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H1 2018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H2 2018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H1 2019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H2 2019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H1 2020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H2 2020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32086988"/>
                  </a:ext>
                </a:extLst>
              </a:tr>
              <a:tr h="134329">
                <a:tc rowSpan="4">
                  <a:txBody>
                    <a:bodyPr/>
                    <a:lstStyle/>
                    <a:p>
                      <a:pPr algn="ctr" fontAlgn="ctr"/>
                      <a:r>
                        <a:rPr lang="en-GB" sz="1000" b="1" i="0" u="none" strike="noStrike" dirty="0">
                          <a:solidFill>
                            <a:srgbClr val="000000"/>
                          </a:solidFill>
                          <a:effectLst/>
                          <a:latin typeface="Montserrat" panose="00000500000000000000" pitchFamily="50" charset="0"/>
                        </a:rPr>
                        <a:t>PG1: Property &amp; Suppliers</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Compliments &amp; Complaints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3257448"/>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Facilities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 (RAM)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0977806"/>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Supplier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3665112878"/>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Purchase to Pay</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 (Nexus)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7090587"/>
                  </a:ext>
                </a:extLst>
              </a:tr>
              <a:tr h="134329">
                <a:tc rowSpan="4">
                  <a:txBody>
                    <a:bodyPr/>
                    <a:lstStyle/>
                    <a:p>
                      <a:pPr algn="ctr" fontAlgn="ctr"/>
                      <a:r>
                        <a:rPr lang="en-GB" sz="1000" b="1" i="0" u="none" strike="noStrike" dirty="0">
                          <a:solidFill>
                            <a:srgbClr val="000000"/>
                          </a:solidFill>
                          <a:effectLst/>
                          <a:latin typeface="Montserrat" panose="00000500000000000000" pitchFamily="50" charset="0"/>
                        </a:rPr>
                        <a:t>PG2: Charges &amp; Payments</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Accounting: charges &amp; payments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298619885"/>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Arrears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642068095"/>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Amenities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4554457"/>
                  </a:ext>
                </a:extLst>
              </a:tr>
              <a:tr h="134329">
                <a:tc vMerge="1">
                  <a:txBody>
                    <a:bodyPr/>
                    <a:lstStyle/>
                    <a:p>
                      <a:endParaRPr lang="en-GB"/>
                    </a:p>
                  </a:txBody>
                  <a:tcPr>
                    <a:lnT w="12700" cap="flat" cmpd="sng" algn="ctr">
                      <a:solidFill>
                        <a:srgbClr val="000000"/>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Collecting Payments</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SP/ 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5492944"/>
                  </a:ext>
                </a:extLst>
              </a:tr>
              <a:tr h="134329">
                <a:tc rowSpan="6">
                  <a:txBody>
                    <a:bodyPr/>
                    <a:lstStyle/>
                    <a:p>
                      <a:pPr algn="ctr" fontAlgn="ctr"/>
                      <a:r>
                        <a:rPr lang="en-GB" sz="1000" b="1" i="0" u="none" strike="noStrike" dirty="0">
                          <a:solidFill>
                            <a:srgbClr val="000000"/>
                          </a:solidFill>
                          <a:effectLst/>
                          <a:latin typeface="Montserrat" panose="00000500000000000000" pitchFamily="50" charset="0"/>
                        </a:rPr>
                        <a:t>PG3: Leasing, Move-in / Move-Out</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Lead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2014927"/>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Leasing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6942245"/>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L2L Payments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4236912"/>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Move in / Move out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807379"/>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Revenue Management </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tbd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tbd</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79451713"/>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Renewals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956858"/>
                  </a:ext>
                </a:extLst>
              </a:tr>
              <a:tr h="134329">
                <a:tc rowSpan="4">
                  <a:txBody>
                    <a:bodyPr/>
                    <a:lstStyle/>
                    <a:p>
                      <a:pPr algn="ctr" fontAlgn="ctr"/>
                      <a:r>
                        <a:rPr lang="en-GB" sz="1000" b="1" i="0" u="none" strike="noStrike" dirty="0">
                          <a:solidFill>
                            <a:srgbClr val="000000"/>
                          </a:solidFill>
                          <a:effectLst/>
                          <a:latin typeface="Montserrat" panose="00000500000000000000" pitchFamily="50" charset="0"/>
                        </a:rPr>
                        <a:t>PG4: Onboarding &amp; Sales</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Onboarding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4138231380"/>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Job Costing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(Not available)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451660380"/>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 Valuation</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073770081"/>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accounting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663949598"/>
                  </a:ext>
                </a:extLst>
              </a:tr>
              <a:tr h="134329">
                <a:tc rowSpan="8">
                  <a:txBody>
                    <a:bodyPr/>
                    <a:lstStyle/>
                    <a:p>
                      <a:pPr algn="ctr" fontAlgn="ctr"/>
                      <a:r>
                        <a:rPr lang="en-GB" sz="1000" b="1" i="0" u="none" strike="noStrike" dirty="0">
                          <a:solidFill>
                            <a:srgbClr val="000000"/>
                          </a:solidFill>
                          <a:effectLst/>
                          <a:latin typeface="Montserrat" panose="00000500000000000000" pitchFamily="50" charset="0"/>
                        </a:rPr>
                        <a:t>PG5: Finance</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Service Charge</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755353153"/>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Accounting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271470493"/>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Cash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4231360667"/>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Insurance</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671258776"/>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Staff Expenses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1010817"/>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FP&amp;A</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6898736"/>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Rent Review</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813575132"/>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Tax</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358578195"/>
                  </a:ext>
                </a:extLst>
              </a:tr>
              <a:tr h="134329">
                <a:tc rowSpan="5">
                  <a:txBody>
                    <a:bodyPr/>
                    <a:lstStyle/>
                    <a:p>
                      <a:pPr algn="ctr" fontAlgn="ctr"/>
                      <a:r>
                        <a:rPr lang="en-GB" sz="1000" b="1" i="0" u="none" strike="noStrike" dirty="0">
                          <a:solidFill>
                            <a:srgbClr val="000000"/>
                          </a:solidFill>
                          <a:effectLst/>
                          <a:latin typeface="Montserrat" panose="00000500000000000000" pitchFamily="50" charset="0"/>
                        </a:rPr>
                        <a:t>Shared &amp; Enabling functionality</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Master Data</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34247589"/>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Single View of Customer</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6354409"/>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Reporting (finance)</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Board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Board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Board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5247705"/>
                  </a:ext>
                </a:extLst>
              </a:tr>
              <a:tr h="134329">
                <a:tc vMerge="1">
                  <a:txBody>
                    <a:bodyPr/>
                    <a:lstStyle/>
                    <a:p>
                      <a:endParaRPr lang="en-GB"/>
                    </a:p>
                  </a:txBody>
                  <a:tcPr>
                    <a:lnT w="28575" cap="flat" cmpd="sng" algn="ctr">
                      <a:solidFill>
                        <a:schemeClr val="tx1"/>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Reporting (general)</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Power BI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Power BI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Power BI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5748701"/>
                  </a:ext>
                </a:extLst>
              </a:tr>
              <a:tr h="134329">
                <a:tc vMerge="1">
                  <a:txBody>
                    <a:bodyPr/>
                    <a:lstStyle/>
                    <a:p>
                      <a:endParaRPr lang="en-GB"/>
                    </a:p>
                  </a:txBody>
                  <a:tcPr>
                    <a:lnT w="28575" cap="flat" cmpd="sng" algn="ctr">
                      <a:solidFill>
                        <a:schemeClr val="tx1"/>
                      </a:solidFill>
                      <a:prstDash val="solid"/>
                      <a:round/>
                      <a:headEnd type="none" w="med" len="med"/>
                      <a:tailEnd type="none" w="med" len="med"/>
                    </a:lnT>
                  </a:tcPr>
                </a:tc>
                <a:tc>
                  <a:txBody>
                    <a:bodyPr/>
                    <a:lstStyle/>
                    <a:p>
                      <a:pPr marL="0" marR="0" lvl="0" indent="0" algn="l" defTabSz="685796" rtl="0" eaLnBrk="1" fontAlgn="b" latinLnBrk="0" hangingPunct="1">
                        <a:lnSpc>
                          <a:spcPct val="100000"/>
                        </a:lnSpc>
                        <a:spcBef>
                          <a:spcPts val="0"/>
                        </a:spcBef>
                        <a:spcAft>
                          <a:spcPts val="0"/>
                        </a:spcAft>
                        <a:buClrTx/>
                        <a:buSzTx/>
                        <a:buFontTx/>
                        <a:buNone/>
                        <a:tabLst/>
                        <a:defRPr/>
                      </a:pPr>
                      <a:r>
                        <a:rPr lang="en-GB" sz="800" b="0" i="0" u="none" strike="noStrike" dirty="0">
                          <a:solidFill>
                            <a:srgbClr val="000000"/>
                          </a:solidFill>
                          <a:effectLst/>
                          <a:latin typeface="Montserrat" panose="00000500000000000000" pitchFamily="50" charset="0"/>
                        </a:rPr>
                        <a:t>Document Storage</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Docushare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Docushare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Docushare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DMS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DMS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DMS</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9459183"/>
                  </a:ext>
                </a:extLst>
              </a:tr>
            </a:tbl>
          </a:graphicData>
        </a:graphic>
      </p:graphicFrame>
      <p:sp>
        <p:nvSpPr>
          <p:cNvPr id="6" name="Content Placeholder 5">
            <a:extLst>
              <a:ext uri="{FF2B5EF4-FFF2-40B4-BE49-F238E27FC236}">
                <a16:creationId xmlns:a16="http://schemas.microsoft.com/office/drawing/2014/main" id="{AAF742B7-F3CD-4D27-8F5F-691D80C6E4AC}"/>
              </a:ext>
            </a:extLst>
          </p:cNvPr>
          <p:cNvSpPr txBox="1">
            <a:spLocks/>
          </p:cNvSpPr>
          <p:nvPr/>
        </p:nvSpPr>
        <p:spPr>
          <a:xfrm>
            <a:off x="358775" y="882379"/>
            <a:ext cx="8426450" cy="829268"/>
          </a:xfrm>
          <a:prstGeom prst="rect">
            <a:avLst/>
          </a:prstGeom>
          <a:noFill/>
        </p:spPr>
        <p:txBody>
          <a:bodyPr wrap="square" rtlCol="0" anchor="t">
            <a:noAutofit/>
          </a:bodyPr>
          <a:lstStyle>
            <a:defPPr>
              <a:defRPr lang="en-US"/>
            </a:defPPr>
            <a:lvl1pPr>
              <a:lnSpc>
                <a:spcPct val="110000"/>
              </a:lnSpc>
              <a:defRPr sz="1100">
                <a:solidFill>
                  <a:srgbClr val="4D858D"/>
                </a:solidFill>
                <a:latin typeface="Montserrat" panose="00000500000000000000" pitchFamily="50"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MRI was the original core ERP solution, however given the adoption of best of breed applications namely FSI, Proactis and Salesforce, this is no longer the case. MRI hosts the master data of the platform and supports supplier management, but beyond that most of the MRI capability resides in finance or has been specifically built.</a:t>
            </a:r>
          </a:p>
        </p:txBody>
      </p:sp>
      <p:sp>
        <p:nvSpPr>
          <p:cNvPr id="7" name="Rectangle 6">
            <a:extLst>
              <a:ext uri="{FF2B5EF4-FFF2-40B4-BE49-F238E27FC236}">
                <a16:creationId xmlns:a16="http://schemas.microsoft.com/office/drawing/2014/main" id="{E692AD83-5397-41A3-8DED-3C0D10C41E69}"/>
              </a:ext>
            </a:extLst>
          </p:cNvPr>
          <p:cNvSpPr/>
          <p:nvPr/>
        </p:nvSpPr>
        <p:spPr>
          <a:xfrm>
            <a:off x="2752058" y="6462851"/>
            <a:ext cx="144000" cy="144000"/>
          </a:xfrm>
          <a:prstGeom prst="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8" name="Rectangle 7">
            <a:extLst>
              <a:ext uri="{FF2B5EF4-FFF2-40B4-BE49-F238E27FC236}">
                <a16:creationId xmlns:a16="http://schemas.microsoft.com/office/drawing/2014/main" id="{50BCF94E-C1C0-4C05-9545-FC0D5F4E8198}"/>
              </a:ext>
            </a:extLst>
          </p:cNvPr>
          <p:cNvSpPr/>
          <p:nvPr/>
        </p:nvSpPr>
        <p:spPr>
          <a:xfrm>
            <a:off x="2752058" y="6637243"/>
            <a:ext cx="1440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9" name="TextBox 8">
            <a:extLst>
              <a:ext uri="{FF2B5EF4-FFF2-40B4-BE49-F238E27FC236}">
                <a16:creationId xmlns:a16="http://schemas.microsoft.com/office/drawing/2014/main" id="{2F350E85-A69C-4510-989B-612A656E4746}"/>
              </a:ext>
            </a:extLst>
          </p:cNvPr>
          <p:cNvSpPr txBox="1"/>
          <p:nvPr/>
        </p:nvSpPr>
        <p:spPr>
          <a:xfrm>
            <a:off x="2845244" y="6427129"/>
            <a:ext cx="1881286" cy="215444"/>
          </a:xfrm>
          <a:prstGeom prst="rect">
            <a:avLst/>
          </a:prstGeom>
          <a:noFill/>
        </p:spPr>
        <p:txBody>
          <a:bodyPr wrap="square" rtlCol="0">
            <a:spAutoFit/>
          </a:bodyPr>
          <a:lstStyle/>
          <a:p>
            <a:pPr algn="l"/>
            <a:r>
              <a:rPr lang="en-GB" sz="800" i="1" dirty="0"/>
              <a:t>Finance capability – Core MRI</a:t>
            </a:r>
          </a:p>
        </p:txBody>
      </p:sp>
      <p:sp>
        <p:nvSpPr>
          <p:cNvPr id="10" name="TextBox 9">
            <a:extLst>
              <a:ext uri="{FF2B5EF4-FFF2-40B4-BE49-F238E27FC236}">
                <a16:creationId xmlns:a16="http://schemas.microsoft.com/office/drawing/2014/main" id="{1DF08F16-4A99-44A5-A417-ECB742AF1842}"/>
              </a:ext>
            </a:extLst>
          </p:cNvPr>
          <p:cNvSpPr txBox="1"/>
          <p:nvPr/>
        </p:nvSpPr>
        <p:spPr>
          <a:xfrm>
            <a:off x="2845244" y="6601521"/>
            <a:ext cx="1881286" cy="215444"/>
          </a:xfrm>
          <a:prstGeom prst="rect">
            <a:avLst/>
          </a:prstGeom>
          <a:noFill/>
        </p:spPr>
        <p:txBody>
          <a:bodyPr wrap="square" rtlCol="0">
            <a:spAutoFit/>
          </a:bodyPr>
          <a:lstStyle/>
          <a:p>
            <a:pPr algn="l"/>
            <a:r>
              <a:rPr lang="en-GB" sz="800" i="1" dirty="0"/>
              <a:t>Finance capability – Customised</a:t>
            </a:r>
          </a:p>
        </p:txBody>
      </p:sp>
      <p:sp>
        <p:nvSpPr>
          <p:cNvPr id="11" name="Rectangle 10">
            <a:extLst>
              <a:ext uri="{FF2B5EF4-FFF2-40B4-BE49-F238E27FC236}">
                <a16:creationId xmlns:a16="http://schemas.microsoft.com/office/drawing/2014/main" id="{FB51517C-C6B9-4B1E-8176-113DF631D1B6}"/>
              </a:ext>
            </a:extLst>
          </p:cNvPr>
          <p:cNvSpPr/>
          <p:nvPr/>
        </p:nvSpPr>
        <p:spPr>
          <a:xfrm>
            <a:off x="4764444" y="6462851"/>
            <a:ext cx="144000" cy="144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12" name="Rectangle 11">
            <a:extLst>
              <a:ext uri="{FF2B5EF4-FFF2-40B4-BE49-F238E27FC236}">
                <a16:creationId xmlns:a16="http://schemas.microsoft.com/office/drawing/2014/main" id="{CCEDDC3E-5A48-4798-9461-45AC37B59920}"/>
              </a:ext>
            </a:extLst>
          </p:cNvPr>
          <p:cNvSpPr/>
          <p:nvPr/>
        </p:nvSpPr>
        <p:spPr>
          <a:xfrm>
            <a:off x="4764444" y="6637243"/>
            <a:ext cx="144000" cy="144000"/>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13" name="TextBox 12">
            <a:extLst>
              <a:ext uri="{FF2B5EF4-FFF2-40B4-BE49-F238E27FC236}">
                <a16:creationId xmlns:a16="http://schemas.microsoft.com/office/drawing/2014/main" id="{93E49810-2E36-4892-BFF2-294288C2AD16}"/>
              </a:ext>
            </a:extLst>
          </p:cNvPr>
          <p:cNvSpPr txBox="1"/>
          <p:nvPr/>
        </p:nvSpPr>
        <p:spPr>
          <a:xfrm>
            <a:off x="4857629" y="6427129"/>
            <a:ext cx="2139013" cy="215444"/>
          </a:xfrm>
          <a:prstGeom prst="rect">
            <a:avLst/>
          </a:prstGeom>
          <a:noFill/>
        </p:spPr>
        <p:txBody>
          <a:bodyPr wrap="square" rtlCol="0">
            <a:spAutoFit/>
          </a:bodyPr>
          <a:lstStyle/>
          <a:p>
            <a:pPr algn="l"/>
            <a:r>
              <a:rPr lang="en-GB" sz="800" i="1" dirty="0"/>
              <a:t>Non-finance capability – Core MRI</a:t>
            </a:r>
          </a:p>
        </p:txBody>
      </p:sp>
      <p:sp>
        <p:nvSpPr>
          <p:cNvPr id="14" name="TextBox 13">
            <a:extLst>
              <a:ext uri="{FF2B5EF4-FFF2-40B4-BE49-F238E27FC236}">
                <a16:creationId xmlns:a16="http://schemas.microsoft.com/office/drawing/2014/main" id="{B103E0CF-14FC-42B6-8C6C-B2BA491AC0BA}"/>
              </a:ext>
            </a:extLst>
          </p:cNvPr>
          <p:cNvSpPr txBox="1"/>
          <p:nvPr/>
        </p:nvSpPr>
        <p:spPr>
          <a:xfrm>
            <a:off x="4857630" y="6601521"/>
            <a:ext cx="2139012" cy="215444"/>
          </a:xfrm>
          <a:prstGeom prst="rect">
            <a:avLst/>
          </a:prstGeom>
          <a:noFill/>
        </p:spPr>
        <p:txBody>
          <a:bodyPr wrap="square" rtlCol="0">
            <a:spAutoFit/>
          </a:bodyPr>
          <a:lstStyle/>
          <a:p>
            <a:pPr algn="l"/>
            <a:r>
              <a:rPr lang="en-GB" sz="800" i="1" dirty="0"/>
              <a:t>Non-finance capability – Customised</a:t>
            </a:r>
          </a:p>
        </p:txBody>
      </p:sp>
      <p:sp>
        <p:nvSpPr>
          <p:cNvPr id="15" name="TextBox 14">
            <a:extLst>
              <a:ext uri="{FF2B5EF4-FFF2-40B4-BE49-F238E27FC236}">
                <a16:creationId xmlns:a16="http://schemas.microsoft.com/office/drawing/2014/main" id="{A07037A1-B6CF-4CDE-8B41-D716E6C7FB36}"/>
              </a:ext>
            </a:extLst>
          </p:cNvPr>
          <p:cNvSpPr txBox="1"/>
          <p:nvPr/>
        </p:nvSpPr>
        <p:spPr>
          <a:xfrm>
            <a:off x="1424707" y="6427129"/>
            <a:ext cx="1881286" cy="215444"/>
          </a:xfrm>
          <a:prstGeom prst="rect">
            <a:avLst/>
          </a:prstGeom>
          <a:noFill/>
        </p:spPr>
        <p:txBody>
          <a:bodyPr wrap="square" rtlCol="0">
            <a:spAutoFit/>
          </a:bodyPr>
          <a:lstStyle/>
          <a:p>
            <a:pPr algn="l"/>
            <a:r>
              <a:rPr lang="en-GB" sz="800" b="1" i="1" dirty="0"/>
              <a:t>Key / MRI capabilities</a:t>
            </a:r>
          </a:p>
        </p:txBody>
      </p:sp>
      <p:sp>
        <p:nvSpPr>
          <p:cNvPr id="2" name="Arrow: Down 1">
            <a:extLst>
              <a:ext uri="{FF2B5EF4-FFF2-40B4-BE49-F238E27FC236}">
                <a16:creationId xmlns:a16="http://schemas.microsoft.com/office/drawing/2014/main" id="{4336366C-B97E-4A51-8DAF-93F7368D33B7}"/>
              </a:ext>
            </a:extLst>
          </p:cNvPr>
          <p:cNvSpPr/>
          <p:nvPr/>
        </p:nvSpPr>
        <p:spPr>
          <a:xfrm rot="16200000">
            <a:off x="6047193" y="-51028"/>
            <a:ext cx="188785" cy="3367771"/>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F8CB56C1-D131-44C1-9A95-E7DCD269F3BB}"/>
              </a:ext>
            </a:extLst>
          </p:cNvPr>
          <p:cNvSpPr/>
          <p:nvPr/>
        </p:nvSpPr>
        <p:spPr>
          <a:xfrm>
            <a:off x="7886700" y="1567542"/>
            <a:ext cx="967468" cy="47074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9C6CBF87-22BF-4952-B441-F952769093AD}"/>
              </a:ext>
            </a:extLst>
          </p:cNvPr>
          <p:cNvSpPr/>
          <p:nvPr/>
        </p:nvSpPr>
        <p:spPr>
          <a:xfrm>
            <a:off x="3397704" y="1567543"/>
            <a:ext cx="967468" cy="46840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AC84305D-5015-46E9-8916-6AA180D21E6C}"/>
              </a:ext>
            </a:extLst>
          </p:cNvPr>
          <p:cNvSpPr/>
          <p:nvPr/>
        </p:nvSpPr>
        <p:spPr>
          <a:xfrm>
            <a:off x="4396468" y="1881868"/>
            <a:ext cx="3490232" cy="4393097"/>
          </a:xfrm>
          <a:prstGeom prst="rect">
            <a:avLst/>
          </a:prstGeom>
          <a:solidFill>
            <a:srgbClr val="BFBFBF">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748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E56BAED-899B-48F3-A5DF-CE76782987F6}"/>
              </a:ext>
            </a:extLst>
          </p:cNvPr>
          <p:cNvSpPr>
            <a:spLocks noGrp="1"/>
          </p:cNvSpPr>
          <p:nvPr>
            <p:ph type="sldNum" sz="quarter" idx="12"/>
          </p:nvPr>
        </p:nvSpPr>
        <p:spPr/>
        <p:txBody>
          <a:bodyPr/>
          <a:lstStyle/>
          <a:p>
            <a:fld id="{0D32313A-DEBC-4CA4-B008-A02D4ABE2C72}" type="slidenum">
              <a:rPr lang="en-GB" smtClean="0"/>
              <a:t>6</a:t>
            </a:fld>
            <a:endParaRPr lang="en-GB" dirty="0"/>
          </a:p>
        </p:txBody>
      </p:sp>
      <p:sp>
        <p:nvSpPr>
          <p:cNvPr id="4" name="Title 3">
            <a:extLst>
              <a:ext uri="{FF2B5EF4-FFF2-40B4-BE49-F238E27FC236}">
                <a16:creationId xmlns:a16="http://schemas.microsoft.com/office/drawing/2014/main" id="{AB1BD24B-E658-4EE4-ACA4-DB9D92917A9F}"/>
              </a:ext>
            </a:extLst>
          </p:cNvPr>
          <p:cNvSpPr>
            <a:spLocks noGrp="1"/>
          </p:cNvSpPr>
          <p:nvPr>
            <p:ph type="title"/>
          </p:nvPr>
        </p:nvSpPr>
        <p:spPr>
          <a:xfrm>
            <a:off x="326350" y="302516"/>
            <a:ext cx="8426450" cy="581897"/>
          </a:xfrm>
        </p:spPr>
        <p:txBody>
          <a:bodyPr/>
          <a:lstStyle/>
          <a:p>
            <a:r>
              <a:rPr lang="en-GB" sz="2800" dirty="0"/>
              <a:t>Capability gaps post Phase 1 go-live</a:t>
            </a:r>
          </a:p>
        </p:txBody>
      </p:sp>
      <p:sp>
        <p:nvSpPr>
          <p:cNvPr id="18" name="Content Placeholder 5">
            <a:extLst>
              <a:ext uri="{FF2B5EF4-FFF2-40B4-BE49-F238E27FC236}">
                <a16:creationId xmlns:a16="http://schemas.microsoft.com/office/drawing/2014/main" id="{522D2E04-7A6B-4290-990B-54F0D374A545}"/>
              </a:ext>
            </a:extLst>
          </p:cNvPr>
          <p:cNvSpPr txBox="1">
            <a:spLocks/>
          </p:cNvSpPr>
          <p:nvPr/>
        </p:nvSpPr>
        <p:spPr>
          <a:xfrm>
            <a:off x="369858" y="1090210"/>
            <a:ext cx="8454485" cy="709633"/>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lvl1pPr marL="0" indent="0" algn="l" defTabSz="685796" rtl="0" eaLnBrk="1" latinLnBrk="0" hangingPunct="1">
              <a:lnSpc>
                <a:spcPct val="90000"/>
              </a:lnSpc>
              <a:spcBef>
                <a:spcPts val="1200"/>
              </a:spcBef>
              <a:buFont typeface="Arial" panose="020B0604020202020204" pitchFamily="34" charset="0"/>
              <a:buNone/>
              <a:defRPr sz="1800" b="0" kern="1200" spc="-80" baseline="0">
                <a:solidFill>
                  <a:schemeClr val="lt1"/>
                </a:solidFill>
                <a:latin typeface="+mn-lt"/>
                <a:ea typeface="+mn-ea"/>
                <a:cs typeface="+mn-cs"/>
              </a:defRPr>
            </a:lvl1pPr>
            <a:lvl2pPr marL="177799" indent="-177799" algn="l" defTabSz="685796" rtl="0" eaLnBrk="1" latinLnBrk="0" hangingPunct="1">
              <a:lnSpc>
                <a:spcPct val="90000"/>
              </a:lnSpc>
              <a:spcBef>
                <a:spcPts val="300"/>
              </a:spcBef>
              <a:spcAft>
                <a:spcPts val="300"/>
              </a:spcAft>
              <a:buSzPct val="80000"/>
              <a:buFontTx/>
              <a:buBlip>
                <a:blip r:embed="rId2"/>
              </a:buBlip>
              <a:defRPr sz="1600" kern="1200" spc="-80" baseline="0">
                <a:solidFill>
                  <a:schemeClr val="lt1"/>
                </a:solidFill>
                <a:latin typeface="+mn-lt"/>
                <a:ea typeface="+mn-ea"/>
                <a:cs typeface="+mn-cs"/>
              </a:defRPr>
            </a:lvl2pPr>
            <a:lvl3pPr marL="358773"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lt1"/>
                </a:solidFill>
                <a:latin typeface="+mn-lt"/>
                <a:ea typeface="+mn-ea"/>
                <a:cs typeface="+mn-cs"/>
              </a:defRPr>
            </a:lvl3pPr>
            <a:lvl4pPr marL="536572" indent="-177799"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lt1"/>
                </a:solidFill>
                <a:latin typeface="+mn-lt"/>
                <a:ea typeface="+mn-ea"/>
                <a:cs typeface="+mn-cs"/>
              </a:defRPr>
            </a:lvl4pPr>
            <a:lvl5pPr marL="717546"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lt1"/>
                </a:solidFill>
                <a:latin typeface="+mn-lt"/>
                <a:ea typeface="+mn-ea"/>
                <a:cs typeface="+mn-cs"/>
              </a:defRPr>
            </a:lvl5pPr>
            <a:lvl6pPr marL="1885939"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6pPr>
            <a:lvl7pPr marL="2228837"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7pPr>
            <a:lvl8pPr marL="2571735"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8pPr>
            <a:lvl9pPr marL="2914633"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9pPr>
          </a:lstStyle>
          <a:p>
            <a:pPr>
              <a:lnSpc>
                <a:spcPct val="100000"/>
              </a:lnSpc>
              <a:spcBef>
                <a:spcPts val="0"/>
              </a:spcBef>
            </a:pPr>
            <a:r>
              <a:rPr lang="en-GB" sz="1100" spc="0" dirty="0">
                <a:solidFill>
                  <a:schemeClr val="accent2"/>
                </a:solidFill>
                <a:latin typeface="Montserrat" panose="02000505000000020004" pitchFamily="2" charset="0"/>
              </a:rPr>
              <a:t>In this review we are asking MRI to look beyond fixing defects for go-live, and evaluate the overall solution in the context of Connect. We have made compromises in scope and design through the history of Connect, and our ‘phase 1’ Connect solution going live with MRI will not meet the expectations of the Grainger users. We must be sure that the solution will be acceptable in the medium and long terms from the points of view of functionality, usability and user experience. </a:t>
            </a:r>
          </a:p>
        </p:txBody>
      </p:sp>
      <p:graphicFrame>
        <p:nvGraphicFramePr>
          <p:cNvPr id="22" name="Content Placeholder 5">
            <a:extLst>
              <a:ext uri="{FF2B5EF4-FFF2-40B4-BE49-F238E27FC236}">
                <a16:creationId xmlns:a16="http://schemas.microsoft.com/office/drawing/2014/main" id="{B71D17B1-A257-4DE6-ABEB-728138C27FB5}"/>
              </a:ext>
            </a:extLst>
          </p:cNvPr>
          <p:cNvGraphicFramePr>
            <a:graphicFrameLocks noGrp="1"/>
          </p:cNvGraphicFramePr>
          <p:nvPr>
            <p:ph idx="1"/>
          </p:nvPr>
        </p:nvGraphicFramePr>
        <p:xfrm>
          <a:off x="347693" y="1815054"/>
          <a:ext cx="6640850" cy="4514534"/>
        </p:xfrm>
        <a:graphic>
          <a:graphicData uri="http://schemas.openxmlformats.org/drawingml/2006/table">
            <a:tbl>
              <a:tblPr/>
              <a:tblGrid>
                <a:gridCol w="1134745">
                  <a:extLst>
                    <a:ext uri="{9D8B030D-6E8A-4147-A177-3AD203B41FA5}">
                      <a16:colId xmlns:a16="http://schemas.microsoft.com/office/drawing/2014/main" val="498262556"/>
                    </a:ext>
                  </a:extLst>
                </a:gridCol>
                <a:gridCol w="1897468">
                  <a:extLst>
                    <a:ext uri="{9D8B030D-6E8A-4147-A177-3AD203B41FA5}">
                      <a16:colId xmlns:a16="http://schemas.microsoft.com/office/drawing/2014/main" val="542008314"/>
                    </a:ext>
                  </a:extLst>
                </a:gridCol>
                <a:gridCol w="37439">
                  <a:extLst>
                    <a:ext uri="{9D8B030D-6E8A-4147-A177-3AD203B41FA5}">
                      <a16:colId xmlns:a16="http://schemas.microsoft.com/office/drawing/2014/main" val="3439366660"/>
                    </a:ext>
                  </a:extLst>
                </a:gridCol>
                <a:gridCol w="1785599">
                  <a:extLst>
                    <a:ext uri="{9D8B030D-6E8A-4147-A177-3AD203B41FA5}">
                      <a16:colId xmlns:a16="http://schemas.microsoft.com/office/drawing/2014/main" val="1501188400"/>
                    </a:ext>
                  </a:extLst>
                </a:gridCol>
                <a:gridCol w="1785599">
                  <a:extLst>
                    <a:ext uri="{9D8B030D-6E8A-4147-A177-3AD203B41FA5}">
                      <a16:colId xmlns:a16="http://schemas.microsoft.com/office/drawing/2014/main" val="3157515313"/>
                    </a:ext>
                  </a:extLst>
                </a:gridCol>
              </a:tblGrid>
              <a:tr h="0">
                <a:tc gridSpan="5">
                  <a:txBody>
                    <a:bodyPr/>
                    <a:lstStyle/>
                    <a:p>
                      <a:pPr algn="ctr" fontAlgn="b"/>
                      <a:r>
                        <a:rPr lang="en-GB" sz="600" b="1" i="0" u="none" strike="noStrike" dirty="0">
                          <a:solidFill>
                            <a:srgbClr val="000000"/>
                          </a:solidFill>
                          <a:effectLst/>
                          <a:latin typeface="Montserrat" panose="00000500000000000000" pitchFamily="50" charset="0"/>
                        </a:rPr>
                        <a:t> </a:t>
                      </a:r>
                    </a:p>
                    <a:p>
                      <a:pPr algn="ctr" fontAlgn="b"/>
                      <a:r>
                        <a:rPr lang="en-GB" sz="600" b="1" i="0" u="none" strike="noStrike" dirty="0">
                          <a:solidFill>
                            <a:srgbClr val="000000"/>
                          </a:solidFill>
                          <a:effectLst/>
                          <a:latin typeface="Montserrat" panose="00000500000000000000" pitchFamily="50" charset="0"/>
                        </a:rPr>
                        <a:t> </a:t>
                      </a:r>
                      <a:r>
                        <a:rPr lang="en-GB" sz="1200" b="1" i="0" u="none" strike="noStrike" dirty="0">
                          <a:solidFill>
                            <a:srgbClr val="000000"/>
                          </a:solidFill>
                          <a:effectLst/>
                          <a:latin typeface="Montserrat" panose="00000500000000000000" pitchFamily="50" charset="0"/>
                        </a:rPr>
                        <a:t>Connect Phase 1 gaps: effort required to address workarounds post go-live</a:t>
                      </a:r>
                    </a:p>
                  </a:txBody>
                  <a:tcPr marL="0" marR="0" marT="0" marB="0" anchor="ctr">
                    <a:lnL>
                      <a:noFill/>
                    </a:lnL>
                    <a:lnR>
                      <a:noFill/>
                    </a:lnR>
                    <a:lnT>
                      <a:noFill/>
                    </a:lnT>
                    <a:lnB w="12700" cap="flat" cmpd="sng" algn="ctr">
                      <a:noFill/>
                      <a:prstDash val="solid"/>
                      <a:round/>
                      <a:headEnd type="none" w="med" len="med"/>
                      <a:tailEnd type="none" w="med" len="med"/>
                    </a:lnB>
                    <a:noFill/>
                  </a:tcPr>
                </a:tc>
                <a:tc hMerge="1">
                  <a:txBody>
                    <a:bodyPr/>
                    <a:lstStyle/>
                    <a:p>
                      <a:pPr algn="ctr" fontAlgn="b"/>
                      <a:r>
                        <a:rPr lang="en-GB" sz="600" b="1" i="0" u="none" strike="noStrike">
                          <a:solidFill>
                            <a:srgbClr val="000000"/>
                          </a:solidFill>
                          <a:effectLst/>
                          <a:latin typeface="Montserrat" panose="00000500000000000000" pitchFamily="50" charset="0"/>
                        </a:rPr>
                        <a:t> </a:t>
                      </a:r>
                    </a:p>
                    <a:p>
                      <a:pPr algn="ctr" fontAlgn="b"/>
                      <a:r>
                        <a:rPr lang="en-GB" sz="1000" b="1" i="0" u="none" strike="noStrike">
                          <a:solidFill>
                            <a:srgbClr val="000000"/>
                          </a:solidFill>
                          <a:effectLst/>
                          <a:latin typeface="Montserrat" panose="00000500000000000000" pitchFamily="50" charset="0"/>
                        </a:rPr>
                        <a:t>Connect ‘Phase 1’ capability: Readiness to go live</a:t>
                      </a:r>
                    </a:p>
                    <a:p>
                      <a:pPr algn="ctr" fontAlgn="b"/>
                      <a:r>
                        <a:rPr lang="en-GB" sz="1000" b="1" i="0" u="none" strike="noStrike">
                          <a:solidFill>
                            <a:srgbClr val="000000"/>
                          </a:solidFill>
                          <a:effectLst/>
                          <a:latin typeface="Montserrat" panose="00000500000000000000" pitchFamily="50" charset="0"/>
                        </a:rPr>
                        <a:t>(vs outstanding defects)</a:t>
                      </a:r>
                    </a:p>
                  </a:txBody>
                  <a:tcPr marL="0" marR="0" marT="0" marB="0" anchor="b">
                    <a:lnL>
                      <a:noFill/>
                    </a:lnL>
                    <a:lnR>
                      <a:noFill/>
                    </a:lnR>
                    <a:lnT>
                      <a:noFill/>
                    </a:lnT>
                    <a:lnB w="19050" cap="flat" cmpd="sng" algn="ctr">
                      <a:solidFill>
                        <a:schemeClr val="tx1"/>
                      </a:solidFill>
                      <a:prstDash val="solid"/>
                      <a:round/>
                      <a:headEnd type="none" w="med" len="med"/>
                      <a:tailEnd type="none" w="med" len="med"/>
                    </a:lnB>
                    <a:solidFill>
                      <a:srgbClr val="FFFFFF"/>
                    </a:solidFill>
                  </a:tcPr>
                </a:tc>
                <a:tc hMerge="1">
                  <a:txBody>
                    <a:bodyPr/>
                    <a:lstStyle/>
                    <a:p>
                      <a:pPr algn="ctr" fontAlgn="b"/>
                      <a:r>
                        <a:rPr lang="en-GB" sz="600" b="1" i="0" u="none" strike="noStrike">
                          <a:solidFill>
                            <a:srgbClr val="000000"/>
                          </a:solidFill>
                          <a:effectLst/>
                          <a:latin typeface="Montserrat" panose="00000500000000000000" pitchFamily="50" charset="0"/>
                        </a:rPr>
                        <a:t> </a:t>
                      </a:r>
                    </a:p>
                  </a:txBody>
                  <a:tcPr marL="0" marR="0" marT="0" marB="0" anchor="b">
                    <a:lnL>
                      <a:noFill/>
                    </a:lnL>
                    <a:lnR>
                      <a:noFill/>
                    </a:lnR>
                    <a:lnT>
                      <a:noFill/>
                    </a:lnT>
                    <a:lnB>
                      <a:noFill/>
                    </a:lnB>
                    <a:solidFill>
                      <a:srgbClr val="FFFFFF"/>
                    </a:solidFill>
                  </a:tcPr>
                </a:tc>
                <a:tc hMerge="1">
                  <a:txBody>
                    <a:bodyPr/>
                    <a:lstStyle/>
                    <a:p>
                      <a:pPr algn="ctr" fontAlgn="b"/>
                      <a:r>
                        <a:rPr lang="en-GB" sz="1000" b="1" i="0" u="none" strike="noStrike">
                          <a:solidFill>
                            <a:srgbClr val="000000"/>
                          </a:solidFill>
                          <a:effectLst/>
                          <a:latin typeface="Montserrat" panose="00000500000000000000" pitchFamily="50" charset="0"/>
                        </a:rPr>
                        <a:t>initial / day 1 capability</a:t>
                      </a:r>
                    </a:p>
                  </a:txBody>
                  <a:tcPr marL="0" marR="0" marT="0" marB="0" anchor="b">
                    <a:lnL>
                      <a:noFill/>
                    </a:lnL>
                    <a:lnR>
                      <a:noFill/>
                    </a:lnR>
                    <a:lnT>
                      <a:noFill/>
                    </a:lnT>
                    <a:lnB w="19050" cap="flat" cmpd="sng" algn="ctr">
                      <a:solidFill>
                        <a:schemeClr val="tx1"/>
                      </a:solidFill>
                      <a:prstDash val="solid"/>
                      <a:round/>
                      <a:headEnd type="none" w="med" len="med"/>
                      <a:tailEnd type="none" w="med" len="med"/>
                    </a:lnB>
                    <a:solidFill>
                      <a:srgbClr val="FFFFFF"/>
                    </a:solidFill>
                  </a:tcPr>
                </a:tc>
                <a:tc hMerge="1">
                  <a:txBody>
                    <a:bodyPr/>
                    <a:lstStyle/>
                    <a:p>
                      <a:pPr algn="ctr" fontAlgn="b"/>
                      <a:endParaRPr lang="en-GB" sz="1200" b="1" i="0" u="none" strike="noStrike" dirty="0">
                        <a:solidFill>
                          <a:srgbClr val="000000"/>
                        </a:solidFill>
                        <a:effectLst/>
                        <a:latin typeface="Montserrat" panose="00000500000000000000" pitchFamily="50" charset="0"/>
                      </a:endParaRPr>
                    </a:p>
                  </a:txBody>
                  <a:tcPr marL="0" marR="0" marT="0" marB="0" anchor="ctr">
                    <a:lnL>
                      <a:noFill/>
                    </a:lnL>
                    <a:lnR>
                      <a:noFill/>
                    </a:lnR>
                    <a:lnT>
                      <a:noFill/>
                    </a:lnT>
                    <a:lnB w="190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32086988"/>
                  </a:ext>
                </a:extLst>
              </a:tr>
              <a:tr h="0">
                <a:tc>
                  <a:txBody>
                    <a:bodyPr/>
                    <a:lstStyle/>
                    <a:p>
                      <a:pPr algn="ctr" fontAlgn="ctr"/>
                      <a:endParaRPr lang="en-GB" sz="1000" b="1" i="0" u="none" strike="noStrike" dirty="0">
                        <a:solidFill>
                          <a:srgbClr val="000000"/>
                        </a:solidFill>
                        <a:effectLst/>
                        <a:latin typeface="Montserrat" panose="00000500000000000000" pitchFamily="50"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endParaRPr lang="en-GB" sz="800" b="0" i="0" u="none" strike="noStrike" dirty="0">
                        <a:solidFill>
                          <a:srgbClr val="000000"/>
                        </a:solidFill>
                        <a:effectLst/>
                        <a:latin typeface="Montserrat" panose="00000500000000000000" pitchFamily="50" charset="0"/>
                      </a:endParaRPr>
                    </a:p>
                  </a:txBody>
                  <a:tcPr marL="36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endParaRPr lang="en-GB" sz="600" b="0" i="0" u="none" strike="noStrike" dirty="0">
                        <a:solidFill>
                          <a:srgbClr val="000000"/>
                        </a:solidFill>
                        <a:effectLst/>
                        <a:latin typeface="Montserrat" panose="00000500000000000000" pitchFamily="50"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r>
                        <a:rPr lang="en-GB" sz="900" b="0" i="1" u="none" strike="noStrike" dirty="0">
                          <a:solidFill>
                            <a:srgbClr val="000000"/>
                          </a:solidFill>
                          <a:effectLst/>
                          <a:latin typeface="Montserrat" panose="00000500000000000000" pitchFamily="50" charset="0"/>
                        </a:rPr>
                        <a:t>Capability gap? (R, A, 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b"/>
                      <a:r>
                        <a:rPr lang="en-GB" sz="900" b="0" i="1" u="none" strike="noStrike" dirty="0">
                          <a:solidFill>
                            <a:srgbClr val="000000"/>
                          </a:solidFill>
                          <a:effectLst/>
                          <a:latin typeface="Montserrat" panose="00000500000000000000" pitchFamily="50" charset="0"/>
                        </a:rPr>
                        <a:t>Caused by/ related to MRI?</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901259"/>
                  </a:ext>
                </a:extLst>
              </a:tr>
              <a:tr h="127000">
                <a:tc rowSpan="4">
                  <a:txBody>
                    <a:bodyPr/>
                    <a:lstStyle/>
                    <a:p>
                      <a:pPr algn="ctr" fontAlgn="ctr"/>
                      <a:r>
                        <a:rPr lang="en-GB" sz="1000" b="1" i="0" u="none" strike="noStrike" dirty="0">
                          <a:solidFill>
                            <a:srgbClr val="000000"/>
                          </a:solidFill>
                          <a:effectLst/>
                          <a:latin typeface="Montserrat" panose="00000500000000000000" pitchFamily="50" charset="0"/>
                        </a:rPr>
                        <a:t>PG1: Property &amp; Suppliers</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Compliments &amp; Complaints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83257448"/>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Facilities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90977806"/>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Supplier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65112878"/>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Purchase to Pay</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796" rtl="0" eaLnBrk="1" fontAlgn="b" latinLnBrk="0" hangingPunct="1">
                        <a:lnSpc>
                          <a:spcPct val="100000"/>
                        </a:lnSpc>
                        <a:spcBef>
                          <a:spcPts val="0"/>
                        </a:spcBef>
                        <a:spcAft>
                          <a:spcPts val="0"/>
                        </a:spcAft>
                        <a:buClrTx/>
                        <a:buSzTx/>
                        <a:buFontTx/>
                        <a:buNone/>
                        <a:tabLst/>
                        <a:defRPr/>
                      </a:pPr>
                      <a:endParaRPr lang="en-GB" sz="800" b="0" i="0" u="none" strike="noStrike" dirty="0">
                        <a:solidFill>
                          <a:srgbClr val="000000"/>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685796"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Performance)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87090587"/>
                  </a:ext>
                </a:extLst>
              </a:tr>
              <a:tr h="127000">
                <a:tc rowSpan="4">
                  <a:txBody>
                    <a:bodyPr/>
                    <a:lstStyle/>
                    <a:p>
                      <a:pPr algn="ctr" fontAlgn="ctr"/>
                      <a:r>
                        <a:rPr lang="en-GB" sz="1000" b="1" i="0" u="none" strike="noStrike" dirty="0">
                          <a:solidFill>
                            <a:srgbClr val="000000"/>
                          </a:solidFill>
                          <a:effectLst/>
                          <a:latin typeface="Montserrat" panose="00000500000000000000" pitchFamily="50" charset="0"/>
                        </a:rPr>
                        <a:t>PG2: Charges &amp; Payments</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Accounting: charges &amp; payments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GB" sz="800" b="0" i="0" u="none" strike="noStrike" dirty="0">
                          <a:solidFill>
                            <a:schemeClr val="tx1"/>
                          </a:solidFill>
                          <a:effectLst/>
                          <a:latin typeface="Montserrat" panose="00000500000000000000" pitchFamily="50" charset="0"/>
                        </a:rPr>
                        <a:t>Indirect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98619885"/>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Arrears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42068095"/>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Amenities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 Amenities booking via portal</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14554457"/>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Charges &amp; Payments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15492944"/>
                  </a:ext>
                </a:extLst>
              </a:tr>
              <a:tr h="127000">
                <a:tc rowSpan="5">
                  <a:txBody>
                    <a:bodyPr/>
                    <a:lstStyle/>
                    <a:p>
                      <a:pPr algn="ctr" fontAlgn="ctr"/>
                      <a:r>
                        <a:rPr lang="en-GB" sz="1000" b="1" i="0" u="none" strike="noStrike" dirty="0">
                          <a:solidFill>
                            <a:srgbClr val="000000"/>
                          </a:solidFill>
                          <a:effectLst/>
                          <a:latin typeface="Montserrat" panose="00000500000000000000" pitchFamily="50" charset="0"/>
                        </a:rPr>
                        <a:t>PG3: Leasing, Move-in / Move-Out</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Lead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82014927"/>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Leasing &amp; Renewals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 ’Option 4’ integrations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r>
                        <a:rPr lang="en-GB" sz="800" b="0" i="0" u="none" strike="noStrike" dirty="0">
                          <a:solidFill>
                            <a:schemeClr val="tx1"/>
                          </a:solidFill>
                          <a:effectLst/>
                          <a:latin typeface="Montserrat" panose="00000500000000000000" pitchFamily="50" charset="0"/>
                        </a:rPr>
                        <a:t>Indirect (Integration support)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66942245"/>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L2L Payments &amp; Accounting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rgbClr val="EEF5F5"/>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44236912"/>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Move in / Move out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rgbClr val="EEF5F5"/>
                          </a:solidFill>
                          <a:effectLst/>
                          <a:latin typeface="Montserrat" panose="00000500000000000000" pitchFamily="50" charset="0"/>
                        </a:rPr>
                        <a:t>Move-in / Move-out integrations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r>
                        <a:rPr lang="en-GB" sz="800" b="0" i="0" u="none" strike="noStrike" dirty="0">
                          <a:solidFill>
                            <a:schemeClr val="tx1"/>
                          </a:solidFill>
                          <a:effectLst/>
                          <a:latin typeface="Montserrat" panose="00000500000000000000" pitchFamily="50" charset="0"/>
                        </a:rPr>
                        <a:t>Indirect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50807379"/>
                  </a:ext>
                </a:extLst>
              </a:tr>
              <a:tr h="130969">
                <a:tc vMerge="1">
                  <a:txBody>
                    <a:bodyPr/>
                    <a:lstStyle/>
                    <a:p>
                      <a:endParaRPr lang="en-GB"/>
                    </a:p>
                  </a:txBody>
                  <a:tcPr>
                    <a:lnT w="12700" cap="flat" cmpd="sng" algn="ctr">
                      <a:solidFill>
                        <a:srgbClr val="000000"/>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Revenue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3956858"/>
                  </a:ext>
                </a:extLst>
              </a:tr>
              <a:tr h="127000">
                <a:tc rowSpan="4">
                  <a:txBody>
                    <a:bodyPr/>
                    <a:lstStyle/>
                    <a:p>
                      <a:pPr algn="ctr" fontAlgn="ctr"/>
                      <a:r>
                        <a:rPr lang="en-GB" sz="1000" b="1" i="0" u="none" strike="noStrike" dirty="0">
                          <a:solidFill>
                            <a:srgbClr val="000000"/>
                          </a:solidFill>
                          <a:effectLst/>
                          <a:latin typeface="Montserrat" panose="00000500000000000000" pitchFamily="50" charset="0"/>
                        </a:rPr>
                        <a:t>PG4: Onboarding &amp; Sales</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Onboarding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GB" sz="800" b="0" i="0" u="none" strike="noStrike" dirty="0">
                          <a:solidFill>
                            <a:schemeClr val="tx1"/>
                          </a:solidFill>
                          <a:effectLst/>
                          <a:latin typeface="Montserrat" panose="00000500000000000000" pitchFamily="50" charset="0"/>
                        </a:rPr>
                        <a:t>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38231380"/>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Job Costing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451660380"/>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 Valuation</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73770081"/>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accounting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63949598"/>
                  </a:ext>
                </a:extLst>
              </a:tr>
              <a:tr h="127000">
                <a:tc rowSpan="8">
                  <a:txBody>
                    <a:bodyPr/>
                    <a:lstStyle/>
                    <a:p>
                      <a:pPr algn="ctr" fontAlgn="ctr"/>
                      <a:r>
                        <a:rPr lang="en-GB" sz="1000" b="1" i="0" u="none" strike="noStrike" dirty="0">
                          <a:solidFill>
                            <a:srgbClr val="000000"/>
                          </a:solidFill>
                          <a:effectLst/>
                          <a:latin typeface="Montserrat" panose="00000500000000000000" pitchFamily="50" charset="0"/>
                        </a:rPr>
                        <a:t>PG5: Finance</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Service Charge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lumMod val="95000"/>
                            </a:schemeClr>
                          </a:solidFill>
                          <a:effectLst/>
                          <a:latin typeface="Montserrat" panose="00000500000000000000" pitchFamily="50" charset="0"/>
                        </a:rPr>
                        <a:t> MRI Service Charge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r>
                        <a:rPr lang="en-GB" sz="800" b="0" i="0" u="none" strike="noStrike" dirty="0">
                          <a:solidFill>
                            <a:schemeClr val="tx1"/>
                          </a:solidFill>
                          <a:effectLst/>
                          <a:latin typeface="Montserrat" panose="00000500000000000000" pitchFamily="50" charset="0"/>
                        </a:rPr>
                        <a:t>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55353153"/>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Accounting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lumMod val="95000"/>
                            </a:schemeClr>
                          </a:solidFill>
                          <a:effectLst/>
                          <a:latin typeface="Montserrat" panose="00000500000000000000" pitchFamily="50" charset="0"/>
                        </a:rPr>
                        <a:t>Post GL journals / prepaid revenue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71470493"/>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Cash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lumMod val="95000"/>
                            </a:schemeClr>
                          </a:solidFill>
                          <a:effectLst/>
                          <a:latin typeface="Montserrat" panose="00000500000000000000" pitchFamily="50" charset="0"/>
                        </a:rPr>
                        <a:t> Bank recs / Bank mapping tables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31360667"/>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Insurance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GB" sz="600" b="0" i="0" u="none" strike="noStrike" dirty="0">
                        <a:solidFill>
                          <a:srgbClr val="000000"/>
                        </a:solidFill>
                        <a:effectLst/>
                        <a:latin typeface="Montserrat" panose="00000500000000000000" pitchFamily="50" charset="0"/>
                      </a:endParaRP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dirty="0">
                          <a:solidFill>
                            <a:schemeClr val="bg1">
                              <a:lumMod val="95000"/>
                            </a:schemeClr>
                          </a:solidFill>
                          <a:effectLst/>
                          <a:latin typeface="Montserrat" panose="00000500000000000000" pitchFamily="50" charset="0"/>
                        </a:rPr>
                        <a:t> MRI Improvements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93814619"/>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Staff Expenses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71258776"/>
                  </a:ext>
                </a:extLst>
              </a:tr>
              <a:tr h="127000">
                <a:tc vMerge="1">
                  <a:txBody>
                    <a:bodyPr/>
                    <a:lstStyle/>
                    <a:p>
                      <a:endParaRPr lang="en-GB"/>
                    </a:p>
                  </a:txBody>
                  <a:tcPr>
                    <a:lnT w="12700" cap="flat" cmpd="sng" algn="ctr">
                      <a:solidFill>
                        <a:srgbClr val="000000"/>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FP&amp;A</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rgbClr val="EEF5F5"/>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06898736"/>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Rent Review</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13575132"/>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Tax</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58578195"/>
                  </a:ext>
                </a:extLst>
              </a:tr>
              <a:tr h="127000">
                <a:tc rowSpan="7">
                  <a:txBody>
                    <a:bodyPr/>
                    <a:lstStyle/>
                    <a:p>
                      <a:pPr algn="ctr" fontAlgn="ctr"/>
                      <a:r>
                        <a:rPr lang="en-GB" sz="1000" b="1" i="0" u="none" strike="noStrike" dirty="0">
                          <a:solidFill>
                            <a:srgbClr val="000000"/>
                          </a:solidFill>
                          <a:effectLst/>
                          <a:latin typeface="Montserrat" panose="00000500000000000000" pitchFamily="50" charset="0"/>
                        </a:rPr>
                        <a:t>Shared &amp; Enabling functionality</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Master Data</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rgbClr val="EEF5F5"/>
                          </a:solidFill>
                          <a:effectLst/>
                          <a:latin typeface="Montserrat" panose="00000500000000000000" pitchFamily="50" charset="0"/>
                        </a:rPr>
                        <a:t>Maintenance of tables </a:t>
                      </a:r>
                      <a:r>
                        <a:rPr lang="en-GB" sz="8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34247589"/>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Customer portals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GB" sz="600" b="0" i="0" u="none" strike="noStrike" dirty="0">
                        <a:solidFill>
                          <a:srgbClr val="000000"/>
                        </a:solidFill>
                        <a:effectLst/>
                        <a:latin typeface="Montserrat" panose="00000500000000000000" pitchFamily="50" charset="0"/>
                      </a:endParaRP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bg1">
                              <a:lumMod val="95000"/>
                            </a:schemeClr>
                          </a:solidFill>
                          <a:effectLst/>
                          <a:latin typeface="Montserrat" panose="00000500000000000000" pitchFamily="50" charset="0"/>
                        </a:rPr>
                        <a:t> MyGrainger customer Portal</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8314101"/>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Single View of Customer</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chemeClr val="bg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26354409"/>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Reporting (finance)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rgbClr val="EEF5F5"/>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2009946"/>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Reporting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25748701"/>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Audit &amp; Compliance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dirty="0">
                          <a:solidFill>
                            <a:schemeClr val="bg1">
                              <a:lumMod val="95000"/>
                            </a:schemeClr>
                          </a:solidFill>
                          <a:effectLst/>
                          <a:latin typeface="Montserrat" panose="00000500000000000000" pitchFamily="50" charset="0"/>
                          <a:ea typeface="+mn-ea"/>
                          <a:cs typeface="+mn-cs"/>
                        </a:rPr>
                        <a:t>MRI Audit module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dirty="0">
                          <a:solidFill>
                            <a:schemeClr val="tx1"/>
                          </a:solidFill>
                          <a:effectLst/>
                          <a:latin typeface="Montserrat" panose="00000500000000000000" pitchFamily="50" charset="0"/>
                          <a:ea typeface="+mn-ea"/>
                          <a:cs typeface="+mn-cs"/>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1877276"/>
                  </a:ext>
                </a:extLst>
              </a:tr>
              <a:tr h="130969">
                <a:tc vMerge="1">
                  <a:txBody>
                    <a:bodyPr/>
                    <a:lstStyle/>
                    <a:p>
                      <a:endParaRPr lang="en-GB"/>
                    </a:p>
                  </a:txBody>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rgbClr val="000000"/>
                          </a:solidFill>
                          <a:effectLst/>
                          <a:latin typeface="Montserrat" panose="00000500000000000000" pitchFamily="50" charset="0"/>
                        </a:rPr>
                        <a:t>Document Storage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59459183"/>
                  </a:ext>
                </a:extLst>
              </a:tr>
            </a:tbl>
          </a:graphicData>
        </a:graphic>
      </p:graphicFrame>
      <p:sp>
        <p:nvSpPr>
          <p:cNvPr id="8" name="Speech Bubble: Rectangle with Corners Rounded 7">
            <a:extLst>
              <a:ext uri="{FF2B5EF4-FFF2-40B4-BE49-F238E27FC236}">
                <a16:creationId xmlns:a16="http://schemas.microsoft.com/office/drawing/2014/main" id="{951A2385-CFEA-4325-AE9D-3FB3FD63549F}"/>
              </a:ext>
            </a:extLst>
          </p:cNvPr>
          <p:cNvSpPr/>
          <p:nvPr/>
        </p:nvSpPr>
        <p:spPr>
          <a:xfrm>
            <a:off x="6988543" y="4117785"/>
            <a:ext cx="1764257" cy="1773511"/>
          </a:xfrm>
          <a:prstGeom prst="wedgeRoundRectCallout">
            <a:avLst>
              <a:gd name="adj1" fmla="val -56887"/>
              <a:gd name="adj2" fmla="val -21627"/>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dirty="0">
                <a:solidFill>
                  <a:schemeClr val="tx1"/>
                </a:solidFill>
              </a:rPr>
              <a:t>During UAT the finance team raised a number of usability issues that add to the list of manual workarounds. They include intercompany transactions, posting &amp; approving GL journals. We have provided the full list to MRI</a:t>
            </a:r>
          </a:p>
        </p:txBody>
      </p:sp>
      <p:sp>
        <p:nvSpPr>
          <p:cNvPr id="19" name="Speech Bubble: Rectangle with Corners Rounded 18">
            <a:extLst>
              <a:ext uri="{FF2B5EF4-FFF2-40B4-BE49-F238E27FC236}">
                <a16:creationId xmlns:a16="http://schemas.microsoft.com/office/drawing/2014/main" id="{B2E82495-1CBC-426B-992A-B6F79DB0A503}"/>
              </a:ext>
            </a:extLst>
          </p:cNvPr>
          <p:cNvSpPr/>
          <p:nvPr/>
        </p:nvSpPr>
        <p:spPr>
          <a:xfrm>
            <a:off x="6988543" y="2322577"/>
            <a:ext cx="1764258" cy="1694854"/>
          </a:xfrm>
          <a:prstGeom prst="wedgeRoundRectCallout">
            <a:avLst>
              <a:gd name="adj1" fmla="val -55488"/>
              <a:gd name="adj2" fmla="val 23277"/>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dirty="0">
                <a:solidFill>
                  <a:schemeClr val="tx1"/>
                </a:solidFill>
              </a:rPr>
              <a:t>Most of the major functionality gaps post ‘phase 1’ relate to MRI, with few exceptions like the Customer Portal, ‘Option 4’ integrations at the end of the Leasing Journey, and the move-in / move-out integrations.</a:t>
            </a:r>
          </a:p>
        </p:txBody>
      </p:sp>
      <p:sp>
        <p:nvSpPr>
          <p:cNvPr id="9" name="TextBox 8">
            <a:extLst>
              <a:ext uri="{FF2B5EF4-FFF2-40B4-BE49-F238E27FC236}">
                <a16:creationId xmlns:a16="http://schemas.microsoft.com/office/drawing/2014/main" id="{EF9C184A-978F-4367-B581-8D625927EBB7}"/>
              </a:ext>
            </a:extLst>
          </p:cNvPr>
          <p:cNvSpPr txBox="1"/>
          <p:nvPr/>
        </p:nvSpPr>
        <p:spPr>
          <a:xfrm flipH="1">
            <a:off x="6988543" y="5980176"/>
            <a:ext cx="1764257" cy="400110"/>
          </a:xfrm>
          <a:prstGeom prst="rect">
            <a:avLst/>
          </a:prstGeom>
          <a:noFill/>
        </p:spPr>
        <p:txBody>
          <a:bodyPr wrap="square" rtlCol="0">
            <a:spAutoFit/>
          </a:bodyPr>
          <a:lstStyle/>
          <a:p>
            <a:pPr algn="l"/>
            <a:r>
              <a:rPr lang="en-GB" sz="1000" i="1" dirty="0">
                <a:solidFill>
                  <a:srgbClr val="FF0000"/>
                </a:solidFill>
                <a:latin typeface="Montserrat" panose="00000500000000000000" pitchFamily="50" charset="0"/>
              </a:rPr>
              <a:t>Updates slide #9 in the February Board Pack</a:t>
            </a:r>
          </a:p>
        </p:txBody>
      </p:sp>
    </p:spTree>
    <p:extLst>
      <p:ext uri="{BB962C8B-B14F-4D97-AF65-F5344CB8AC3E}">
        <p14:creationId xmlns:p14="http://schemas.microsoft.com/office/powerpoint/2010/main" val="1658219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CDAFB6-E6B5-4A40-AF01-0EB22B2F422C}"/>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FBF36EC1-C8D5-47D8-9585-7C57A5A74A73}"/>
              </a:ext>
            </a:extLst>
          </p:cNvPr>
          <p:cNvSpPr>
            <a:spLocks noGrp="1"/>
          </p:cNvSpPr>
          <p:nvPr>
            <p:ph type="sldNum" sz="quarter" idx="12"/>
          </p:nvPr>
        </p:nvSpPr>
        <p:spPr/>
        <p:txBody>
          <a:bodyPr/>
          <a:lstStyle/>
          <a:p>
            <a:fld id="{0D32313A-DEBC-4CA4-B008-A02D4ABE2C72}" type="slidenum">
              <a:rPr lang="en-GB" smtClean="0"/>
              <a:t>7</a:t>
            </a:fld>
            <a:endParaRPr lang="en-GB" dirty="0"/>
          </a:p>
        </p:txBody>
      </p:sp>
      <p:sp>
        <p:nvSpPr>
          <p:cNvPr id="5" name="Title 4">
            <a:extLst>
              <a:ext uri="{FF2B5EF4-FFF2-40B4-BE49-F238E27FC236}">
                <a16:creationId xmlns:a16="http://schemas.microsoft.com/office/drawing/2014/main" id="{8E57C84B-199D-4B20-A7E3-CD34EFF7AECF}"/>
              </a:ext>
            </a:extLst>
          </p:cNvPr>
          <p:cNvSpPr>
            <a:spLocks noGrp="1"/>
          </p:cNvSpPr>
          <p:nvPr>
            <p:ph type="title"/>
          </p:nvPr>
        </p:nvSpPr>
        <p:spPr/>
        <p:txBody>
          <a:bodyPr/>
          <a:lstStyle/>
          <a:p>
            <a:endParaRPr lang="en-GB" dirty="0"/>
          </a:p>
        </p:txBody>
      </p:sp>
      <p:sp>
        <p:nvSpPr>
          <p:cNvPr id="6" name="Content Placeholder 1">
            <a:extLst>
              <a:ext uri="{FF2B5EF4-FFF2-40B4-BE49-F238E27FC236}">
                <a16:creationId xmlns:a16="http://schemas.microsoft.com/office/drawing/2014/main" id="{443DEDDA-7416-4BDE-BEFC-05F8A0EFF6A0}"/>
              </a:ext>
            </a:extLst>
          </p:cNvPr>
          <p:cNvSpPr txBox="1">
            <a:spLocks/>
          </p:cNvSpPr>
          <p:nvPr/>
        </p:nvSpPr>
        <p:spPr>
          <a:xfrm>
            <a:off x="4572000" y="1263932"/>
            <a:ext cx="4213225" cy="4913031"/>
          </a:xfrm>
          <a:prstGeom prst="rect">
            <a:avLst/>
          </a:prstGeom>
        </p:spPr>
        <p:txBody>
          <a:bodyPr vert="horz" lIns="0" tIns="45720" rIns="0" bIns="45720" rtlCol="0">
            <a:normAutofit/>
          </a:bodyPr>
          <a:lst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a:p>
        </p:txBody>
      </p:sp>
      <p:sp>
        <p:nvSpPr>
          <p:cNvPr id="7" name="Content Placeholder 1">
            <a:extLst>
              <a:ext uri="{FF2B5EF4-FFF2-40B4-BE49-F238E27FC236}">
                <a16:creationId xmlns:a16="http://schemas.microsoft.com/office/drawing/2014/main" id="{8430C315-8A15-46A8-B19A-D2CA297D0164}"/>
              </a:ext>
            </a:extLst>
          </p:cNvPr>
          <p:cNvSpPr txBox="1">
            <a:spLocks/>
          </p:cNvSpPr>
          <p:nvPr/>
        </p:nvSpPr>
        <p:spPr>
          <a:xfrm>
            <a:off x="4759038" y="1263932"/>
            <a:ext cx="4026189" cy="4913031"/>
          </a:xfrm>
          <a:prstGeom prst="rect">
            <a:avLst/>
          </a:prstGeom>
        </p:spPr>
        <p:txBody>
          <a:bodyPr vert="horz" lIns="0" tIns="45720" rIns="0" bIns="45720" rtlCol="0">
            <a:normAutofit/>
          </a:bodyPr>
          <a:lst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dirty="0"/>
          </a:p>
        </p:txBody>
      </p:sp>
      <p:graphicFrame>
        <p:nvGraphicFramePr>
          <p:cNvPr id="8" name="Table 8">
            <a:extLst>
              <a:ext uri="{FF2B5EF4-FFF2-40B4-BE49-F238E27FC236}">
                <a16:creationId xmlns:a16="http://schemas.microsoft.com/office/drawing/2014/main" id="{AA42CB5E-F5DC-40B3-86FE-B2914BEFF618}"/>
              </a:ext>
            </a:extLst>
          </p:cNvPr>
          <p:cNvGraphicFramePr>
            <a:graphicFrameLocks noGrp="1"/>
          </p:cNvGraphicFramePr>
          <p:nvPr>
            <p:extLst>
              <p:ext uri="{D42A27DB-BD31-4B8C-83A1-F6EECF244321}">
                <p14:modId xmlns:p14="http://schemas.microsoft.com/office/powerpoint/2010/main" val="2170615857"/>
              </p:ext>
            </p:extLst>
          </p:nvPr>
        </p:nvGraphicFramePr>
        <p:xfrm>
          <a:off x="358772" y="1431636"/>
          <a:ext cx="8426449" cy="3639820"/>
        </p:xfrm>
        <a:graphic>
          <a:graphicData uri="http://schemas.openxmlformats.org/drawingml/2006/table">
            <a:tbl>
              <a:tblPr firstRow="1" bandRow="1">
                <a:tableStyleId>{5C22544A-7EE6-4342-B048-85BDC9FD1C3A}</a:tableStyleId>
              </a:tblPr>
              <a:tblGrid>
                <a:gridCol w="2865254">
                  <a:extLst>
                    <a:ext uri="{9D8B030D-6E8A-4147-A177-3AD203B41FA5}">
                      <a16:colId xmlns:a16="http://schemas.microsoft.com/office/drawing/2014/main" val="989922782"/>
                    </a:ext>
                  </a:extLst>
                </a:gridCol>
                <a:gridCol w="1095597">
                  <a:extLst>
                    <a:ext uri="{9D8B030D-6E8A-4147-A177-3AD203B41FA5}">
                      <a16:colId xmlns:a16="http://schemas.microsoft.com/office/drawing/2014/main" val="3723706232"/>
                    </a:ext>
                  </a:extLst>
                </a:gridCol>
                <a:gridCol w="1248148">
                  <a:extLst>
                    <a:ext uri="{9D8B030D-6E8A-4147-A177-3AD203B41FA5}">
                      <a16:colId xmlns:a16="http://schemas.microsoft.com/office/drawing/2014/main" val="2089347418"/>
                    </a:ext>
                  </a:extLst>
                </a:gridCol>
                <a:gridCol w="3217450">
                  <a:extLst>
                    <a:ext uri="{9D8B030D-6E8A-4147-A177-3AD203B41FA5}">
                      <a16:colId xmlns:a16="http://schemas.microsoft.com/office/drawing/2014/main" val="2914746228"/>
                    </a:ext>
                  </a:extLst>
                </a:gridCol>
              </a:tblGrid>
              <a:tr h="370840">
                <a:tc>
                  <a:txBody>
                    <a:bodyPr/>
                    <a:lstStyle/>
                    <a:p>
                      <a:r>
                        <a:rPr lang="en-GB" dirty="0"/>
                        <a:t>Objective – L&amp;P</a:t>
                      </a:r>
                    </a:p>
                  </a:txBody>
                  <a:tcPr/>
                </a:tc>
                <a:tc>
                  <a:txBody>
                    <a:bodyPr/>
                    <a:lstStyle/>
                    <a:p>
                      <a:r>
                        <a:rPr lang="en-GB" dirty="0"/>
                        <a:t>Date</a:t>
                      </a:r>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084427304"/>
                  </a:ext>
                </a:extLst>
              </a:tr>
              <a:tr h="370840">
                <a:tc>
                  <a:txBody>
                    <a:bodyPr/>
                    <a:lstStyle/>
                    <a:p>
                      <a:r>
                        <a:rPr lang="en-GB" sz="1050" dirty="0"/>
                        <a:t>We have the Catalogue of data definitions relevant to L&amp;P (AB) </a:t>
                      </a:r>
                    </a:p>
                  </a:txBody>
                  <a:tcPr/>
                </a:tc>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86044854"/>
                  </a:ext>
                </a:extLst>
              </a:tr>
              <a:tr h="370840">
                <a:tc>
                  <a:txBody>
                    <a:bodyPr/>
                    <a:lstStyle/>
                    <a:p>
                      <a:r>
                        <a:rPr lang="en-GB" sz="1050" dirty="0"/>
                        <a:t>Identified and agreed with business the people in critical roles of process owners, data owners etc for all relevant data in the catalogue of definitions</a:t>
                      </a:r>
                    </a:p>
                  </a:txBody>
                  <a:tcPr/>
                </a:tc>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800482939"/>
                  </a:ext>
                </a:extLst>
              </a:tr>
              <a:tr h="370840">
                <a:tc>
                  <a:txBody>
                    <a:bodyPr/>
                    <a:lstStyle/>
                    <a:p>
                      <a:r>
                        <a:rPr lang="en-GB" sz="1050" dirty="0"/>
                        <a:t>We have agreed a set of DQ KPIs with the business</a:t>
                      </a:r>
                    </a:p>
                  </a:txBody>
                  <a:tcPr/>
                </a:tc>
                <a:tc>
                  <a:txBody>
                    <a:bodyPr/>
                    <a:lstStyle/>
                    <a:p>
                      <a:endParaRPr lang="en-GB" dirty="0"/>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4050311763"/>
                  </a:ext>
                </a:extLst>
              </a:tr>
              <a:tr h="370840">
                <a:tc>
                  <a:txBody>
                    <a:bodyPr/>
                    <a:lstStyle/>
                    <a:p>
                      <a:r>
                        <a:rPr lang="en-GB" sz="1050" dirty="0"/>
                        <a:t>We have prepared all the training materials necessary to provide the training</a:t>
                      </a:r>
                    </a:p>
                  </a:txBody>
                  <a:tcPr/>
                </a:tc>
                <a:tc>
                  <a:txBody>
                    <a:bodyPr/>
                    <a:lstStyle/>
                    <a:p>
                      <a:r>
                        <a:rPr lang="en-GB" dirty="0"/>
                        <a:t>19/Feb</a:t>
                      </a:r>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250538341"/>
                  </a:ext>
                </a:extLst>
              </a:tr>
              <a:tr h="370840">
                <a:tc>
                  <a:txBody>
                    <a:bodyPr/>
                    <a:lstStyle/>
                    <a:p>
                      <a:r>
                        <a:rPr lang="en-GB" sz="1050" dirty="0"/>
                        <a:t>We have updated our Data Quality (DQ) Dashboard so it can capture  Salesforce data issues (and alert process owners / data champions of issues)</a:t>
                      </a:r>
                    </a:p>
                  </a:txBody>
                  <a:tcPr/>
                </a:tc>
                <a:tc>
                  <a:txBody>
                    <a:bodyPr/>
                    <a:lstStyle/>
                    <a:p>
                      <a:r>
                        <a:rPr lang="en-GB" dirty="0"/>
                        <a:t>8/Mar</a:t>
                      </a:r>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4201526760"/>
                  </a:ext>
                </a:extLst>
              </a:tr>
              <a:tr h="370840">
                <a:tc>
                  <a:txBody>
                    <a:bodyPr/>
                    <a:lstStyle/>
                    <a:p>
                      <a:r>
                        <a:rPr lang="en-GB" sz="1050" dirty="0"/>
                        <a:t>We have engaged and trained all of the required people on their respective roles</a:t>
                      </a:r>
                    </a:p>
                  </a:txBody>
                  <a:tcPr/>
                </a:tc>
                <a:tc>
                  <a:txBody>
                    <a:bodyPr/>
                    <a:lstStyle/>
                    <a:p>
                      <a:r>
                        <a:rPr lang="en-GB" dirty="0"/>
                        <a:t>8/Mar</a:t>
                      </a:r>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486393860"/>
                  </a:ext>
                </a:extLst>
              </a:tr>
            </a:tbl>
          </a:graphicData>
        </a:graphic>
      </p:graphicFrame>
    </p:spTree>
    <p:extLst>
      <p:ext uri="{BB962C8B-B14F-4D97-AF65-F5344CB8AC3E}">
        <p14:creationId xmlns:p14="http://schemas.microsoft.com/office/powerpoint/2010/main" val="3229949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4_Office Theme">
  <a:themeElements>
    <a:clrScheme name="Grainger 2017">
      <a:dk1>
        <a:srgbClr val="4A4A49"/>
      </a:dk1>
      <a:lt1>
        <a:sysClr val="window" lastClr="FFFFFF"/>
      </a:lt1>
      <a:dk2>
        <a:srgbClr val="8EC4C5"/>
      </a:dk2>
      <a:lt2>
        <a:srgbClr val="FFFFFF"/>
      </a:lt2>
      <a:accent1>
        <a:srgbClr val="8EC4C5"/>
      </a:accent1>
      <a:accent2>
        <a:srgbClr val="4D858D"/>
      </a:accent2>
      <a:accent3>
        <a:srgbClr val="FF6600"/>
      </a:accent3>
      <a:accent4>
        <a:srgbClr val="4A4A49"/>
      </a:accent4>
      <a:accent5>
        <a:srgbClr val="898987"/>
      </a:accent5>
      <a:accent6>
        <a:srgbClr val="DADADA"/>
      </a:accent6>
      <a:hlink>
        <a:srgbClr val="4D858D"/>
      </a:hlink>
      <a:folHlink>
        <a:srgbClr val="4A4A49"/>
      </a:folHlink>
    </a:clrScheme>
    <a:fontScheme name="Grainger">
      <a:majorFont>
        <a:latin typeface="Montserrat SemiBold"/>
        <a:ea typeface=""/>
        <a:cs typeface=""/>
      </a:majorFont>
      <a:minorFont>
        <a:latin typeface="Montserra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pc="-6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47E0126EE26B68468E30FEE8ADFBCCCC" ma:contentTypeVersion="3" ma:contentTypeDescription="A document associated with a project for a client." ma:contentTypeScope="" ma:versionID="268f348e925944570301af8ff2adc885">
  <xsd:schema xmlns:xsd="http://www.w3.org/2001/XMLSchema" xmlns:xs="http://www.w3.org/2001/XMLSchema" xmlns:p="http://schemas.microsoft.com/office/2006/metadata/properties" xmlns:ns2="1ffbd5dc-7a64-4097-8396-87f6c90b212f" targetNamespace="http://schemas.microsoft.com/office/2006/metadata/properties" ma:root="true" ma:fieldsID="93b052738fdbaae4d27c6d5b8c67869a"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Generic Project Document</TermName>
          <TermId xmlns="http://schemas.microsoft.com/office/infopath/2007/PartnerControls">258c2ed6-b93b-4ffe-8901-a23f2dc98ec9</TermId>
        </TermInfo>
      </Terms>
    </k6ebf865df8440b3a55c1aa81c9bae7c>
    <TaxCatchAll xmlns="1ffbd5dc-7a64-4097-8396-87f6c90b212f">
      <Value>6</Value>
      <Value>5</Value>
      <Value>4</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f0dc22cb723843c1bfbb2e8bcc9db6e4 xmlns="1ffbd5dc-7a64-4097-8396-87f6c90b212f">
      <Terms xmlns="http://schemas.microsoft.com/office/infopath/2007/PartnerControls"/>
    </f0dc22cb723843c1bfbb2e8bcc9db6e4>
  </documentManagement>
</p:properties>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2DB4BD56-5E5E-45C8-9D3B-88CD8BEA019E}"/>
</file>

<file path=customXml/itemProps2.xml><?xml version="1.0" encoding="utf-8"?>
<ds:datastoreItem xmlns:ds="http://schemas.openxmlformats.org/officeDocument/2006/customXml" ds:itemID="{3D48B250-3DE6-40B8-AAA0-736E97445E1A}">
  <ds:schemaRefs>
    <ds:schemaRef ds:uri="http://schemas.microsoft.com/sharepoint/v3/contenttype/forms"/>
  </ds:schemaRefs>
</ds:datastoreItem>
</file>

<file path=customXml/itemProps3.xml><?xml version="1.0" encoding="utf-8"?>
<ds:datastoreItem xmlns:ds="http://schemas.openxmlformats.org/officeDocument/2006/customXml" ds:itemID="{E862EC75-63FF-479A-8761-8B3F9465EE33}">
  <ds:schemaRefs>
    <ds:schemaRef ds:uri="http://schemas.microsoft.com/office/2006/documentManagement/types"/>
    <ds:schemaRef ds:uri="27e65327-d6c0-4f26-aff6-417da5767d74"/>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852d0734-5ac0-43ed-afd8-22c6b3fad396"/>
    <ds:schemaRef ds:uri="http://www.w3.org/XML/1998/namespace"/>
    <ds:schemaRef ds:uri="http://purl.org/dc/dcmitype/"/>
  </ds:schemaRefs>
</ds:datastoreItem>
</file>

<file path=customXml/itemProps4.xml><?xml version="1.0" encoding="utf-8"?>
<ds:datastoreItem xmlns:ds="http://schemas.openxmlformats.org/officeDocument/2006/customXml" ds:itemID="{095F624A-506F-49B5-A465-0BC432EAFF5C}"/>
</file>

<file path=docProps/app.xml><?xml version="1.0" encoding="utf-8"?>
<Properties xmlns="http://schemas.openxmlformats.org/officeDocument/2006/extended-properties" xmlns:vt="http://schemas.openxmlformats.org/officeDocument/2006/docPropsVTypes">
  <Template/>
  <TotalTime>51200</TotalTime>
  <Words>1783</Words>
  <Application>Microsoft Office PowerPoint</Application>
  <PresentationFormat>On-screen Show (4:3)</PresentationFormat>
  <Paragraphs>471</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Montserrat</vt:lpstr>
      <vt:lpstr>Montserrat Light</vt:lpstr>
      <vt:lpstr>Montserrat SemiBold</vt:lpstr>
      <vt:lpstr>4_Office Theme</vt:lpstr>
      <vt:lpstr>Connect Programme</vt:lpstr>
      <vt:lpstr>Elements of the Connect Platform</vt:lpstr>
      <vt:lpstr>High-level Platform architecture </vt:lpstr>
      <vt:lpstr>Regulated Tenancies carry most of non-standard residential billing</vt:lpstr>
      <vt:lpstr>MRI solution evolution: 2018 to date</vt:lpstr>
      <vt:lpstr>Capability gaps post Phase 1 go-live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way in a growing market</dc:title>
  <dc:creator>Kurt Mueller</dc:creator>
  <cp:lastModifiedBy>Joao Cardoso</cp:lastModifiedBy>
  <cp:revision>361</cp:revision>
  <cp:lastPrinted>2019-06-17T12:32:07Z</cp:lastPrinted>
  <dcterms:created xsi:type="dcterms:W3CDTF">2017-09-25T18:57:01Z</dcterms:created>
  <dcterms:modified xsi:type="dcterms:W3CDTF">2021-02-10T09:03:36Z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0x010100B16301FA1C2D5E4DB9305F31D037531D0207030047E0126EE26B68468E30FEE8ADFBCCCC</vt:lpwstr>
  </property>
  <property fmtid="{D5CDD505-2E9C-101B-9397-08002B2CF9AE}" pid="3" name="AuthorIds_UIVersion_512">
    <vt:lpwstr>420</vt:lpwstr>
  </property>
  <property fmtid="{D5CDD505-2E9C-101B-9397-08002B2CF9AE}" pid="4" name="AuthorIds_UIVersion_1024">
    <vt:lpwstr>420</vt:lpwstr>
  </property>
  <property fmtid="{D5CDD505-2E9C-101B-9397-08002B2CF9AE}" pid="5" name="AuthorIds_UIVersion_1536">
    <vt:lpwstr>420</vt:lpwstr>
  </property>
  <property fmtid="{D5CDD505-2E9C-101B-9397-08002B2CF9AE}" pid="6" name="Project Document Type">
    <vt:lpwstr>4;#Generic Project Document|258c2ed6-b93b-4ffe-8901-a23f2dc98ec9</vt:lpwstr>
  </property>
  <property fmtid="{D5CDD505-2E9C-101B-9397-08002B2CF9AE}" pid="7" name="Division">
    <vt:lpwstr>5;#Enterprise Solutions|08c57b01-67e8-4a4f-abc6-ffb3392ace7f</vt:lpwstr>
  </property>
  <property fmtid="{D5CDD505-2E9C-101B-9397-08002B2CF9AE}" pid="8" name="Client">
    <vt:lpwstr>6;#Grainger PLC|a74f1cb5-e995-4f9e-8521-6d52e2c6bf08</vt:lpwstr>
  </property>
  <property fmtid="{D5CDD505-2E9C-101B-9397-08002B2CF9AE}" pid="9" name="Order">
    <vt:r8>789100</vt:r8>
  </property>
  <property fmtid="{D5CDD505-2E9C-101B-9397-08002B2CF9AE}" pid="10" name="xd_Signature">
    <vt:bool>false</vt:bool>
  </property>
  <property fmtid="{D5CDD505-2E9C-101B-9397-08002B2CF9AE}" pid="11" name="SharedWithUsers">
    <vt:lpwstr>67;#Sara Allen;#71;#Sharon Coull</vt:lpwstr>
  </property>
  <property fmtid="{D5CDD505-2E9C-101B-9397-08002B2CF9AE}" pid="12" name="xd_ProgID">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y fmtid="{D5CDD505-2E9C-101B-9397-08002B2CF9AE}" pid="19" name="Client Project">
    <vt:lpwstr/>
  </property>
  <property fmtid="{D5CDD505-2E9C-101B-9397-08002B2CF9AE}" pid="20" name="MediaServiceImageTags">
    <vt:lpwstr/>
  </property>
  <property fmtid="{D5CDD505-2E9C-101B-9397-08002B2CF9AE}" pid="21" name="lcf76f155ced4ddcb4097134ff3c332f">
    <vt:lpwstr/>
  </property>
  <property fmtid="{D5CDD505-2E9C-101B-9397-08002B2CF9AE}" pid="22" name="Project_x0020_Document_x0020_Type">
    <vt:lpwstr>4;#Generic Project Document|258c2ed6-b93b-4ffe-8901-a23f2dc98ec9</vt:lpwstr>
  </property>
  <property fmtid="{D5CDD505-2E9C-101B-9397-08002B2CF9AE}" pid="23" name="Client_x0020_Project">
    <vt:lpwstr/>
  </property>
</Properties>
</file>