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A_9A843705.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C_B2A3732E.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F_2DA1DEF3.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11_FD7A8D92.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Lst>
  <p:notesMasterIdLst>
    <p:notesMasterId r:id="rId17"/>
  </p:notesMasterIdLst>
  <p:sldIdLst>
    <p:sldId id="256" r:id="rId6"/>
    <p:sldId id="266" r:id="rId7"/>
    <p:sldId id="267" r:id="rId8"/>
    <p:sldId id="268" r:id="rId9"/>
    <p:sldId id="269" r:id="rId10"/>
    <p:sldId id="270" r:id="rId11"/>
    <p:sldId id="274" r:id="rId12"/>
    <p:sldId id="271" r:id="rId13"/>
    <p:sldId id="265" r:id="rId14"/>
    <p:sldId id="272" r:id="rId15"/>
    <p:sldId id="273" r:id="rId16"/>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6AD4CBCC-6522-4E06-8B7A-F7EC80724FCF}">
          <p14:sldIdLst>
            <p14:sldId id="256"/>
            <p14:sldId id="266"/>
            <p14:sldId id="267"/>
            <p14:sldId id="268"/>
            <p14:sldId id="269"/>
            <p14:sldId id="270"/>
            <p14:sldId id="274"/>
            <p14:sldId id="271"/>
            <p14:sldId id="265"/>
            <p14:sldId id="272"/>
            <p14:sldId id="2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24326F-B7E2-C596-FB18-CB4C38568A76}" name="Tam Cummings" initials="TC" userId="S::tam.cummings@pib-insurance.com::c810b178-a0ee-4a80-9640-f27720cf7b67" providerId="AD"/>
  <p188:author id="{411D59CB-E194-D74B-FCF5-28A77AEB51E7}" name="Sam Duncan" initials="SD" userId="S::sduncan@openboxsoftware.com::c1d0992b-0ec5-443a-8c6c-87e1361e2b1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57A2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99" autoAdjust="0"/>
    <p:restoredTop sz="86496" autoAdjust="0"/>
  </p:normalViewPr>
  <p:slideViewPr>
    <p:cSldViewPr snapToGrid="0" snapToObjects="1">
      <p:cViewPr varScale="1">
        <p:scale>
          <a:sx n="130" d="100"/>
          <a:sy n="130" d="100"/>
        </p:scale>
        <p:origin x="136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Duncan" userId="c1d0992b-0ec5-443a-8c6c-87e1361e2b1d" providerId="ADAL" clId="{7F46518E-44CB-394B-B6F4-51FF864051C4}"/>
    <pc:docChg chg="undo custSel modSld">
      <pc:chgData name="Sam Duncan" userId="c1d0992b-0ec5-443a-8c6c-87e1361e2b1d" providerId="ADAL" clId="{7F46518E-44CB-394B-B6F4-51FF864051C4}" dt="2023-07-05T15:14:27.164" v="3" actId="1076"/>
      <pc:docMkLst>
        <pc:docMk/>
      </pc:docMkLst>
      <pc:sldChg chg="modSp mod">
        <pc:chgData name="Sam Duncan" userId="c1d0992b-0ec5-443a-8c6c-87e1361e2b1d" providerId="ADAL" clId="{7F46518E-44CB-394B-B6F4-51FF864051C4}" dt="2023-07-05T15:14:27.164" v="3" actId="1076"/>
        <pc:sldMkLst>
          <pc:docMk/>
          <pc:sldMk cId="2592356101" sldId="266"/>
        </pc:sldMkLst>
        <pc:spChg chg="mod">
          <ac:chgData name="Sam Duncan" userId="c1d0992b-0ec5-443a-8c6c-87e1361e2b1d" providerId="ADAL" clId="{7F46518E-44CB-394B-B6F4-51FF864051C4}" dt="2023-07-05T15:14:27.164" v="3" actId="1076"/>
          <ac:spMkLst>
            <pc:docMk/>
            <pc:sldMk cId="2592356101" sldId="266"/>
            <ac:spMk id="70" creationId="{829B7027-D599-1793-01E5-A8B8E82330D6}"/>
          </ac:spMkLst>
        </pc:spChg>
        <pc:spChg chg="mod">
          <ac:chgData name="Sam Duncan" userId="c1d0992b-0ec5-443a-8c6c-87e1361e2b1d" providerId="ADAL" clId="{7F46518E-44CB-394B-B6F4-51FF864051C4}" dt="2023-07-05T15:14:23.358" v="2" actId="1076"/>
          <ac:spMkLst>
            <pc:docMk/>
            <pc:sldMk cId="2592356101" sldId="266"/>
            <ac:spMk id="74" creationId="{08C2910F-9693-D5BD-1307-1D15FCBD2E75}"/>
          </ac:spMkLst>
        </pc:spChg>
      </pc:sldChg>
      <pc:sldChg chg="modSp mod">
        <pc:chgData name="Sam Duncan" userId="c1d0992b-0ec5-443a-8c6c-87e1361e2b1d" providerId="ADAL" clId="{7F46518E-44CB-394B-B6F4-51FF864051C4}" dt="2023-06-22T15:46:15.598" v="1" actId="20577"/>
        <pc:sldMkLst>
          <pc:docMk/>
          <pc:sldMk cId="2997056302" sldId="268"/>
        </pc:sldMkLst>
        <pc:spChg chg="mod">
          <ac:chgData name="Sam Duncan" userId="c1d0992b-0ec5-443a-8c6c-87e1361e2b1d" providerId="ADAL" clId="{7F46518E-44CB-394B-B6F4-51FF864051C4}" dt="2023-06-22T15:46:15.598" v="1" actId="20577"/>
          <ac:spMkLst>
            <pc:docMk/>
            <pc:sldMk cId="2997056302" sldId="268"/>
            <ac:spMk id="14" creationId="{ABAA3F78-F077-B026-55C4-E6649D06EF6D}"/>
          </ac:spMkLst>
        </pc:spChg>
      </pc:sldChg>
    </pc:docChg>
  </pc:docChgLst>
</pc:chgInfo>
</file>

<file path=ppt/comments/modernComment_10A_9A843705.xml><?xml version="1.0" encoding="utf-8"?>
<p188:cmLst xmlns:a="http://schemas.openxmlformats.org/drawingml/2006/main" xmlns:r="http://schemas.openxmlformats.org/officeDocument/2006/relationships" xmlns:p188="http://schemas.microsoft.com/office/powerpoint/2018/8/main">
  <p188:cm id="{6B90B600-682E-E746-B030-7867F95B8DC8}" authorId="{411D59CB-E194-D74B-FCF5-28A77AEB51E7}" created="2023-06-09T14:05:07.609">
    <pc:sldMkLst xmlns:pc="http://schemas.microsoft.com/office/powerpoint/2013/main/command">
      <pc:docMk/>
      <pc:sldMk cId="2592356101" sldId="266"/>
    </pc:sldMkLst>
    <p188:txBody>
      <a:bodyPr/>
      <a:lstStyle/>
      <a:p>
        <a:r>
          <a:rPr lang="en-US"/>
          <a:t>I have updated here to provide better granularity on the various callouts and split out Grainger portal and Grainger Salesforce</a:t>
        </a:r>
      </a:p>
    </p188:txBody>
  </p188:cm>
</p188:cmLst>
</file>

<file path=ppt/comments/modernComment_10C_B2A3732E.xml><?xml version="1.0" encoding="utf-8"?>
<p188:cmLst xmlns:a="http://schemas.openxmlformats.org/drawingml/2006/main" xmlns:r="http://schemas.openxmlformats.org/officeDocument/2006/relationships" xmlns:p188="http://schemas.microsoft.com/office/powerpoint/2018/8/main">
  <p188:cm id="{A60915FC-B3A0-BF4E-B95A-5236C2FEC7AE}" authorId="{411D59CB-E194-D74B-FCF5-28A77AEB51E7}" created="2023-06-09T11:16:31.456">
    <ac:deMkLst xmlns:ac="http://schemas.microsoft.com/office/drawing/2013/main/command">
      <pc:docMk xmlns:pc="http://schemas.microsoft.com/office/powerpoint/2013/main/command"/>
      <pc:sldMk xmlns:pc="http://schemas.microsoft.com/office/powerpoint/2013/main/command" cId="2997056302" sldId="268"/>
      <ac:spMk id="14" creationId="{ABAA3F78-F077-B026-55C4-E6649D06EF6D}"/>
    </ac:deMkLst>
    <p188:txBody>
      <a:bodyPr/>
      <a:lstStyle/>
      <a:p>
        <a:r>
          <a:rPr lang="en-US"/>
          <a:t>@jaic @lee 
Please confirm my understanding of the process is correct:
Additional applicants will be added via the Grainger Portal. The Grainger portal will create new Contact + OpportunityContactRole records in Salesforce.
Salesforce will then call AddApplicantToTenancyWithIframe. 
Salesforce will then email a link to the applicant which takes them to the Grainger Portal to complete the referencing. i.e. HomeLet does not email the applicant.
The Flow diagram below shows how additional tenants are added and then emailed a link to the Grainger portal.</a:t>
        </a:r>
      </a:p>
    </p188:txBody>
  </p188:cm>
</p188:cmLst>
</file>

<file path=ppt/comments/modernComment_10F_2DA1DEF3.xml><?xml version="1.0" encoding="utf-8"?>
<p188:cmLst xmlns:a="http://schemas.openxmlformats.org/drawingml/2006/main" xmlns:r="http://schemas.openxmlformats.org/officeDocument/2006/relationships" xmlns:p188="http://schemas.microsoft.com/office/powerpoint/2018/8/main">
  <p188:cm id="{0597A2CD-DFD5-3A4A-A2D8-47C7F4AA60F4}" authorId="{411D59CB-E194-D74B-FCF5-28A77AEB51E7}" created="2023-06-09T14:03:52.292">
    <pc:sldMkLst xmlns:pc="http://schemas.microsoft.com/office/powerpoint/2013/main/command">
      <pc:docMk/>
      <pc:sldMk cId="765583091" sldId="271"/>
    </pc:sldMkLst>
    <p188:txBody>
      <a:bodyPr/>
      <a:lstStyle/>
      <a:p>
        <a:r>
          <a:rPr lang="en-US"/>
          <a:t>I have updated here to provide more specific terminology</a:t>
        </a:r>
      </a:p>
    </p188:txBody>
  </p188:cm>
</p188:cmLst>
</file>

<file path=ppt/comments/modernComment_111_FD7A8D92.xml><?xml version="1.0" encoding="utf-8"?>
<p188:cmLst xmlns:a="http://schemas.openxmlformats.org/drawingml/2006/main" xmlns:r="http://schemas.openxmlformats.org/officeDocument/2006/relationships" xmlns:p188="http://schemas.microsoft.com/office/powerpoint/2018/8/main">
  <p188:cm id="{F2EF924A-224F-6044-AE8F-5FD0693AEB44}" authorId="{411D59CB-E194-D74B-FCF5-28A77AEB51E7}" created="2023-06-09T14:03:32.689">
    <pc:sldMkLst xmlns:pc="http://schemas.microsoft.com/office/powerpoint/2013/main/command">
      <pc:docMk/>
      <pc:sldMk cId="4252667282" sldId="273"/>
    </pc:sldMkLst>
    <p188:txBody>
      <a:bodyPr/>
      <a:lstStyle/>
      <a:p>
        <a:r>
          <a:rPr lang="en-US"/>
          <a:t>I have updated here to show the mapping of Vision+ to Salesforce objects.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A6FC849-81BE-4462-9973-4774E92E1743}" type="datetimeFigureOut">
              <a:rPr lang="en-GB" smtClean="0"/>
              <a:t>05/07/2023</a:t>
            </a:fld>
            <a:endParaRPr lang="en-GB"/>
          </a:p>
        </p:txBody>
      </p:sp>
      <p:sp>
        <p:nvSpPr>
          <p:cNvPr id="4" name="Slide Image Placeholder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DB027A43-381B-44EA-836A-45D025530142}" type="slidenum">
              <a:rPr lang="en-GB" smtClean="0"/>
              <a:t>‹#›</a:t>
            </a:fld>
            <a:endParaRPr lang="en-GB"/>
          </a:p>
        </p:txBody>
      </p:sp>
    </p:spTree>
    <p:extLst>
      <p:ext uri="{BB962C8B-B14F-4D97-AF65-F5344CB8AC3E}">
        <p14:creationId xmlns:p14="http://schemas.microsoft.com/office/powerpoint/2010/main" val="3625187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2</a:t>
            </a:fld>
            <a:endParaRPr lang="en-GB"/>
          </a:p>
        </p:txBody>
      </p:sp>
    </p:spTree>
    <p:extLst>
      <p:ext uri="{BB962C8B-B14F-4D97-AF65-F5344CB8AC3E}">
        <p14:creationId xmlns:p14="http://schemas.microsoft.com/office/powerpoint/2010/main" val="34370701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3</a:t>
            </a:fld>
            <a:endParaRPr lang="en-GB"/>
          </a:p>
        </p:txBody>
      </p:sp>
    </p:spTree>
    <p:extLst>
      <p:ext uri="{BB962C8B-B14F-4D97-AF65-F5344CB8AC3E}">
        <p14:creationId xmlns:p14="http://schemas.microsoft.com/office/powerpoint/2010/main" val="366575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4</a:t>
            </a:fld>
            <a:endParaRPr lang="en-GB"/>
          </a:p>
        </p:txBody>
      </p:sp>
    </p:spTree>
    <p:extLst>
      <p:ext uri="{BB962C8B-B14F-4D97-AF65-F5344CB8AC3E}">
        <p14:creationId xmlns:p14="http://schemas.microsoft.com/office/powerpoint/2010/main" val="792241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5</a:t>
            </a:fld>
            <a:endParaRPr lang="en-GB"/>
          </a:p>
        </p:txBody>
      </p:sp>
    </p:spTree>
    <p:extLst>
      <p:ext uri="{BB962C8B-B14F-4D97-AF65-F5344CB8AC3E}">
        <p14:creationId xmlns:p14="http://schemas.microsoft.com/office/powerpoint/2010/main" val="1040903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6</a:t>
            </a:fld>
            <a:endParaRPr lang="en-GB"/>
          </a:p>
        </p:txBody>
      </p:sp>
    </p:spTree>
    <p:extLst>
      <p:ext uri="{BB962C8B-B14F-4D97-AF65-F5344CB8AC3E}">
        <p14:creationId xmlns:p14="http://schemas.microsoft.com/office/powerpoint/2010/main" val="988780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7</a:t>
            </a:fld>
            <a:endParaRPr lang="en-GB"/>
          </a:p>
        </p:txBody>
      </p:sp>
    </p:spTree>
    <p:extLst>
      <p:ext uri="{BB962C8B-B14F-4D97-AF65-F5344CB8AC3E}">
        <p14:creationId xmlns:p14="http://schemas.microsoft.com/office/powerpoint/2010/main" val="1716980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8</a:t>
            </a:fld>
            <a:endParaRPr lang="en-GB"/>
          </a:p>
        </p:txBody>
      </p:sp>
    </p:spTree>
    <p:extLst>
      <p:ext uri="{BB962C8B-B14F-4D97-AF65-F5344CB8AC3E}">
        <p14:creationId xmlns:p14="http://schemas.microsoft.com/office/powerpoint/2010/main" val="2703313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9</a:t>
            </a:fld>
            <a:endParaRPr lang="en-GB"/>
          </a:p>
        </p:txBody>
      </p:sp>
    </p:spTree>
    <p:extLst>
      <p:ext uri="{BB962C8B-B14F-4D97-AF65-F5344CB8AC3E}">
        <p14:creationId xmlns:p14="http://schemas.microsoft.com/office/powerpoint/2010/main" val="21446401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B027A43-381B-44EA-836A-45D025530142}" type="slidenum">
              <a:rPr lang="en-GB" smtClean="0"/>
              <a:t>11</a:t>
            </a:fld>
            <a:endParaRPr lang="en-GB"/>
          </a:p>
        </p:txBody>
      </p:sp>
    </p:spTree>
    <p:extLst>
      <p:ext uri="{BB962C8B-B14F-4D97-AF65-F5344CB8AC3E}">
        <p14:creationId xmlns:p14="http://schemas.microsoft.com/office/powerpoint/2010/main" val="6035973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jpg"/><Relationship Id="rId4" Type="http://schemas.microsoft.com/office/2007/relationships/hdphoto" Target="../media/hdphoto2.wdp"/></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CFB4D18-094C-4203-AB24-11DFADEA59E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7692"/>
          <a:stretch/>
        </p:blipFill>
        <p:spPr>
          <a:xfrm>
            <a:off x="0" y="0"/>
            <a:ext cx="9144000" cy="3543300"/>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14960" y="3079548"/>
            <a:ext cx="5081016" cy="1045128"/>
          </a:xfrm>
          <a:prstGeom prst="rect">
            <a:avLst/>
          </a:prstGeom>
        </p:spPr>
      </p:pic>
      <p:sp>
        <p:nvSpPr>
          <p:cNvPr id="2" name="Title 1"/>
          <p:cNvSpPr>
            <a:spLocks noGrp="1"/>
          </p:cNvSpPr>
          <p:nvPr>
            <p:ph type="ctrTitle" hasCustomPrompt="1"/>
          </p:nvPr>
        </p:nvSpPr>
        <p:spPr>
          <a:xfrm>
            <a:off x="685800" y="3938955"/>
            <a:ext cx="6502791" cy="1554479"/>
          </a:xfrm>
        </p:spPr>
        <p:txBody>
          <a:bodyPr anchor="b">
            <a:normAutofit/>
          </a:bodyPr>
          <a:lstStyle>
            <a:lvl1pPr algn="l">
              <a:defRPr sz="4500"/>
            </a:lvl1pPr>
          </a:lstStyle>
          <a:p>
            <a:r>
              <a:rPr lang="en-US" dirty="0"/>
              <a:t>Click to edit Master title </a:t>
            </a:r>
            <a:br>
              <a:rPr lang="en-US" dirty="0"/>
            </a:br>
            <a:r>
              <a:rPr lang="en-US" dirty="0"/>
              <a:t>style one or two lines</a:t>
            </a:r>
          </a:p>
        </p:txBody>
      </p:sp>
      <p:sp>
        <p:nvSpPr>
          <p:cNvPr id="3" name="Subtitle 2"/>
          <p:cNvSpPr>
            <a:spLocks noGrp="1"/>
          </p:cNvSpPr>
          <p:nvPr>
            <p:ph type="subTitle" idx="1"/>
          </p:nvPr>
        </p:nvSpPr>
        <p:spPr>
          <a:xfrm>
            <a:off x="685800" y="5669281"/>
            <a:ext cx="5721875" cy="443132"/>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4" name="Rectangle 13"/>
          <p:cNvSpPr/>
          <p:nvPr userDrawn="1"/>
        </p:nvSpPr>
        <p:spPr>
          <a:xfrm>
            <a:off x="0" y="590330"/>
            <a:ext cx="273304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4E97BE"/>
              </a:solidFill>
            </a:endParaRPr>
          </a:p>
        </p:txBody>
      </p:sp>
      <p:pic>
        <p:nvPicPr>
          <p:cNvPr id="15" name="Picture 14"/>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71944" y="472311"/>
            <a:ext cx="661392" cy="622118"/>
          </a:xfrm>
          <a:prstGeom prst="rect">
            <a:avLst/>
          </a:prstGeom>
        </p:spPr>
      </p:pic>
      <p:sp>
        <p:nvSpPr>
          <p:cNvPr id="16" name="TextBox 15"/>
          <p:cNvSpPr txBox="1"/>
          <p:nvPr userDrawn="1"/>
        </p:nvSpPr>
        <p:spPr>
          <a:xfrm>
            <a:off x="985520" y="633858"/>
            <a:ext cx="166624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pic>
        <p:nvPicPr>
          <p:cNvPr id="12" name="Picture 11"/>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485550" y="5816261"/>
            <a:ext cx="2447238" cy="79794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555133"/>
            <a:ext cx="5642448" cy="1580442"/>
          </a:xfrm>
        </p:spPr>
        <p:txBody>
          <a:bodyPr/>
          <a:lstStyle>
            <a:lvl1pPr algn="r">
              <a:defRPr/>
            </a:lvl1pPr>
          </a:lstStyle>
          <a:p>
            <a:r>
              <a:rPr lang="en-US" dirty="0"/>
              <a:t>Place sub-heading title here one or two lines to fit</a:t>
            </a:r>
          </a:p>
        </p:txBody>
      </p:sp>
      <p:pic>
        <p:nvPicPr>
          <p:cNvPr id="10" name="Picture 9"/>
          <p:cNvPicPr>
            <a:picLocks noChangeAspect="1"/>
          </p:cNvPicPr>
          <p:nvPr userDrawn="1"/>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a:ext>
            </a:extLst>
          </a:blip>
          <a:srcRect/>
          <a:stretch/>
        </p:blipFill>
        <p:spPr>
          <a:xfrm>
            <a:off x="-312342" y="3911569"/>
            <a:ext cx="3697568" cy="279334"/>
          </a:xfrm>
          <a:prstGeom prst="rect">
            <a:avLst/>
          </a:prstGeom>
          <a:noFill/>
        </p:spPr>
      </p:pic>
      <p:pic>
        <p:nvPicPr>
          <p:cNvPr id="11" name="Picture 10"/>
          <p:cNvPicPr>
            <a:picLocks noChangeAspect="1"/>
          </p:cNvPicPr>
          <p:nvPr userDrawn="1"/>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rcRect/>
          <a:stretch/>
        </p:blipFill>
        <p:spPr>
          <a:xfrm>
            <a:off x="2930211" y="3911569"/>
            <a:ext cx="3697568" cy="279334"/>
          </a:xfrm>
          <a:prstGeom prst="rect">
            <a:avLst/>
          </a:prstGeom>
          <a:noFill/>
        </p:spPr>
      </p:pic>
      <p:sp>
        <p:nvSpPr>
          <p:cNvPr id="12" name="Rectangle 11"/>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Box 12"/>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4"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15" name="Picture 14"/>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6485550" y="5816261"/>
            <a:ext cx="2447238" cy="7979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ner Page Bullets">
    <p:spTree>
      <p:nvGrpSpPr>
        <p:cNvPr id="1" name=""/>
        <p:cNvGrpSpPr/>
        <p:nvPr/>
      </p:nvGrpSpPr>
      <p:grpSpPr>
        <a:xfrm>
          <a:off x="0" y="0"/>
          <a:ext cx="0" cy="0"/>
          <a:chOff x="0" y="0"/>
          <a:chExt cx="0" cy="0"/>
        </a:xfrm>
      </p:grpSpPr>
      <p:sp>
        <p:nvSpPr>
          <p:cNvPr id="2" name="Title 1"/>
          <p:cNvSpPr>
            <a:spLocks noGrp="1"/>
          </p:cNvSpPr>
          <p:nvPr>
            <p:ph type="title"/>
          </p:nvPr>
        </p:nvSpPr>
        <p:spPr>
          <a:xfrm>
            <a:off x="623888" y="853707"/>
            <a:ext cx="7886700" cy="592474"/>
          </a:xfrm>
        </p:spPr>
        <p:txBody>
          <a:bodyPr anchor="b">
            <a:normAutofit/>
          </a:bodyPr>
          <a:lstStyle>
            <a:lvl1pPr>
              <a:defRPr sz="3300"/>
            </a:lvl1pPr>
          </a:lstStyle>
          <a:p>
            <a:r>
              <a:rPr lang="en-US" dirty="0"/>
              <a:t>Click to edit Master title style</a:t>
            </a:r>
          </a:p>
        </p:txBody>
      </p:sp>
      <p:sp>
        <p:nvSpPr>
          <p:cNvPr id="10" name="Content Placeholder 2"/>
          <p:cNvSpPr>
            <a:spLocks noGrp="1"/>
          </p:cNvSpPr>
          <p:nvPr>
            <p:ph idx="13" hasCustomPrompt="1"/>
          </p:nvPr>
        </p:nvSpPr>
        <p:spPr>
          <a:xfrm>
            <a:off x="623888" y="1593391"/>
            <a:ext cx="7886700" cy="4632312"/>
          </a:xfrm>
        </p:spPr>
        <p:txBody>
          <a:bodyPr/>
          <a:lstStyle>
            <a:lvl5pPr marL="0" marR="0" indent="-171450" algn="l" defTabSz="685800" rtl="0" eaLnBrk="1" fontAlgn="auto" latinLnBrk="0" hangingPunct="1">
              <a:lnSpc>
                <a:spcPct val="90000"/>
              </a:lnSpc>
              <a:spcBef>
                <a:spcPts val="375"/>
              </a:spcBef>
              <a:spcAft>
                <a:spcPts val="0"/>
              </a:spcAft>
              <a:buClr>
                <a:schemeClr val="accent1"/>
              </a:buClr>
              <a:buSzTx/>
              <a:buFont typeface=".AppleSystemUIFont" charset="-120"/>
              <a:buChar char="›"/>
              <a:tabLst/>
              <a:defRPr>
                <a:solidFill>
                  <a:schemeClr val="accent2">
                    <a:lumMod val="10000"/>
                  </a:schemeClr>
                </a:solidFill>
              </a:defRPr>
            </a:lvl5pPr>
          </a:lstStyle>
          <a:p>
            <a:pPr lvl="4"/>
            <a:r>
              <a:rPr lang="en-US" dirty="0"/>
              <a:t>Bullet style</a:t>
            </a:r>
          </a:p>
          <a:p>
            <a:pPr lvl="4"/>
            <a:r>
              <a:rPr lang="en-US" dirty="0"/>
              <a:t>Bullet style</a:t>
            </a:r>
          </a:p>
          <a:p>
            <a:pPr lvl="4"/>
            <a:r>
              <a:rPr lang="en-US" dirty="0"/>
              <a:t>Bullet style</a:t>
            </a:r>
          </a:p>
          <a:p>
            <a:pPr lvl="4"/>
            <a:r>
              <a:rPr lang="en-US" dirty="0"/>
              <a:t>Bullet style</a:t>
            </a:r>
          </a:p>
        </p:txBody>
      </p:sp>
      <p:cxnSp>
        <p:nvCxnSpPr>
          <p:cNvPr id="11" name="Straight Connector 10"/>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TextBox 13"/>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5"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16" name="Picture 1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3" name="TextBox 2"/>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picture and text">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614014" y="1602848"/>
            <a:ext cx="3416300" cy="4632325"/>
          </a:xfrm>
        </p:spPr>
        <p:txBody>
          <a:bodyPr/>
          <a:lstStyle/>
          <a:p>
            <a:endParaRPr lang="en-US"/>
          </a:p>
        </p:txBody>
      </p:sp>
      <p:sp>
        <p:nvSpPr>
          <p:cNvPr id="19" name="Text Placeholder 18"/>
          <p:cNvSpPr>
            <a:spLocks noGrp="1"/>
          </p:cNvSpPr>
          <p:nvPr>
            <p:ph type="body" sz="quarter" idx="15" hasCustomPrompt="1"/>
          </p:nvPr>
        </p:nvSpPr>
        <p:spPr>
          <a:xfrm>
            <a:off x="4214813" y="1593850"/>
            <a:ext cx="4314825" cy="4632325"/>
          </a:xfrm>
        </p:spPr>
        <p:txBody>
          <a:bodyPr/>
          <a:lstStyle>
            <a:lvl1pPr marL="0" indent="0">
              <a:buNone/>
              <a:defRPr/>
            </a:lvl1pPr>
          </a:lstStyle>
          <a:p>
            <a:pPr lvl="0"/>
            <a:r>
              <a:rPr lang="en-US" dirty="0"/>
              <a:t>Text to go in here</a:t>
            </a:r>
          </a:p>
        </p:txBody>
      </p:sp>
      <p:sp>
        <p:nvSpPr>
          <p:cNvPr id="97" name="Title 96"/>
          <p:cNvSpPr>
            <a:spLocks noGrp="1"/>
          </p:cNvSpPr>
          <p:nvPr>
            <p:ph type="title"/>
          </p:nvPr>
        </p:nvSpPr>
        <p:spPr/>
        <p:txBody>
          <a:bodyPr/>
          <a:lstStyle/>
          <a:p>
            <a:r>
              <a:rPr lang="en-US"/>
              <a:t>Click to edit Master title style</a:t>
            </a:r>
          </a:p>
        </p:txBody>
      </p:sp>
      <p:sp>
        <p:nvSpPr>
          <p:cNvPr id="99" name="Picture Placeholder 98"/>
          <p:cNvSpPr>
            <a:spLocks noGrp="1"/>
          </p:cNvSpPr>
          <p:nvPr>
            <p:ph type="pic" sz="quarter" idx="16"/>
          </p:nvPr>
        </p:nvSpPr>
        <p:spPr>
          <a:xfrm>
            <a:off x="607488" y="5824000"/>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6" name="Straight Connector 15"/>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TextBox 19"/>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1"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2" name="Picture 21"/>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2" name="TextBox 11">
            <a:extLst>
              <a:ext uri="{FF2B5EF4-FFF2-40B4-BE49-F238E27FC236}">
                <a16:creationId xmlns:a16="http://schemas.microsoft.com/office/drawing/2014/main" id="{A84DBE27-B260-4AC1-90CA-F84C54FEF09C}"/>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mall images with text">
    <p:spTree>
      <p:nvGrpSpPr>
        <p:cNvPr id="1" name=""/>
        <p:cNvGrpSpPr/>
        <p:nvPr/>
      </p:nvGrpSpPr>
      <p:grpSpPr>
        <a:xfrm>
          <a:off x="0" y="0"/>
          <a:ext cx="0" cy="0"/>
          <a:chOff x="0" y="0"/>
          <a:chExt cx="0" cy="0"/>
        </a:xfrm>
      </p:grpSpPr>
      <p:sp>
        <p:nvSpPr>
          <p:cNvPr id="10"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9" name="Picture Placeholder 18"/>
          <p:cNvSpPr>
            <a:spLocks noGrp="1"/>
          </p:cNvSpPr>
          <p:nvPr>
            <p:ph type="pic" sz="quarter" idx="15"/>
          </p:nvPr>
        </p:nvSpPr>
        <p:spPr>
          <a:xfrm>
            <a:off x="623888" y="1582738"/>
            <a:ext cx="1413382" cy="1413382"/>
          </a:xfrm>
        </p:spPr>
        <p:txBody>
          <a:bodyPr/>
          <a:lstStyle/>
          <a:p>
            <a:endParaRPr lang="en-US"/>
          </a:p>
        </p:txBody>
      </p:sp>
      <p:sp>
        <p:nvSpPr>
          <p:cNvPr id="21" name="Picture Placeholder 18"/>
          <p:cNvSpPr>
            <a:spLocks noGrp="1"/>
          </p:cNvSpPr>
          <p:nvPr>
            <p:ph type="pic" sz="quarter" idx="17"/>
          </p:nvPr>
        </p:nvSpPr>
        <p:spPr>
          <a:xfrm>
            <a:off x="623888" y="3191043"/>
            <a:ext cx="1413382" cy="1413382"/>
          </a:xfrm>
        </p:spPr>
        <p:txBody>
          <a:bodyPr/>
          <a:lstStyle/>
          <a:p>
            <a:endParaRPr lang="en-US"/>
          </a:p>
        </p:txBody>
      </p:sp>
      <p:sp>
        <p:nvSpPr>
          <p:cNvPr id="24" name="Picture Placeholder 18"/>
          <p:cNvSpPr>
            <a:spLocks noGrp="1"/>
          </p:cNvSpPr>
          <p:nvPr>
            <p:ph type="pic" sz="quarter" idx="18"/>
          </p:nvPr>
        </p:nvSpPr>
        <p:spPr>
          <a:xfrm>
            <a:off x="623888" y="4805832"/>
            <a:ext cx="1413382" cy="1413382"/>
          </a:xfrm>
        </p:spPr>
        <p:txBody>
          <a:bodyPr/>
          <a:lstStyle/>
          <a:p>
            <a:endParaRPr lang="en-US"/>
          </a:p>
        </p:txBody>
      </p:sp>
      <p:sp>
        <p:nvSpPr>
          <p:cNvPr id="26" name="Text Placeholder 25"/>
          <p:cNvSpPr>
            <a:spLocks noGrp="1"/>
          </p:cNvSpPr>
          <p:nvPr>
            <p:ph type="body" sz="quarter" idx="19" hasCustomPrompt="1"/>
          </p:nvPr>
        </p:nvSpPr>
        <p:spPr>
          <a:xfrm>
            <a:off x="2270125" y="1582738"/>
            <a:ext cx="6240463" cy="4636476"/>
          </a:xfrm>
        </p:spPr>
        <p:txBody>
          <a:bodyPr/>
          <a:lstStyle>
            <a:lvl1pPr marL="0" indent="0">
              <a:buNone/>
              <a:defRPr/>
            </a:lvl1pPr>
          </a:lstStyle>
          <a:p>
            <a:pPr lvl="0"/>
            <a:r>
              <a:rPr lang="en-US" dirty="0"/>
              <a:t>Text to go in here</a:t>
            </a:r>
          </a:p>
        </p:txBody>
      </p:sp>
      <p:sp>
        <p:nvSpPr>
          <p:cNvPr id="28" name="Picture Placeholder 98"/>
          <p:cNvSpPr>
            <a:spLocks noGrp="1"/>
          </p:cNvSpPr>
          <p:nvPr>
            <p:ph type="pic" sz="quarter" idx="16"/>
          </p:nvPr>
        </p:nvSpPr>
        <p:spPr>
          <a:xfrm>
            <a:off x="607489" y="5967663"/>
            <a:ext cx="1735410" cy="272262"/>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8" name="Straight Connector 17"/>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TextBox 21"/>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3"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5" name="Picture 2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4" name="TextBox 13">
            <a:extLst>
              <a:ext uri="{FF2B5EF4-FFF2-40B4-BE49-F238E27FC236}">
                <a16:creationId xmlns:a16="http://schemas.microsoft.com/office/drawing/2014/main" id="{42F73E74-6B88-4765-832E-AF1C5439CA37}"/>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ll Images and text">
    <p:spTree>
      <p:nvGrpSpPr>
        <p:cNvPr id="1" name=""/>
        <p:cNvGrpSpPr/>
        <p:nvPr/>
      </p:nvGrpSpPr>
      <p:grpSpPr>
        <a:xfrm>
          <a:off x="0" y="0"/>
          <a:ext cx="0" cy="0"/>
          <a:chOff x="0" y="0"/>
          <a:chExt cx="0" cy="0"/>
        </a:xfrm>
      </p:grpSpPr>
      <p:sp>
        <p:nvSpPr>
          <p:cNvPr id="10"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21" name="Picture Placeholder 18"/>
          <p:cNvSpPr>
            <a:spLocks noGrp="1"/>
          </p:cNvSpPr>
          <p:nvPr>
            <p:ph type="pic" sz="quarter" idx="17"/>
          </p:nvPr>
        </p:nvSpPr>
        <p:spPr>
          <a:xfrm>
            <a:off x="623888" y="3902297"/>
            <a:ext cx="1111157" cy="1111157"/>
          </a:xfrm>
        </p:spPr>
        <p:txBody>
          <a:bodyPr/>
          <a:lstStyle/>
          <a:p>
            <a:endParaRPr lang="en-US" dirty="0"/>
          </a:p>
        </p:txBody>
      </p:sp>
      <p:sp>
        <p:nvSpPr>
          <p:cNvPr id="24" name="Picture Placeholder 18"/>
          <p:cNvSpPr>
            <a:spLocks noGrp="1"/>
          </p:cNvSpPr>
          <p:nvPr>
            <p:ph type="pic" sz="quarter" idx="18"/>
          </p:nvPr>
        </p:nvSpPr>
        <p:spPr>
          <a:xfrm>
            <a:off x="623888" y="5118073"/>
            <a:ext cx="1111157" cy="1111157"/>
          </a:xfrm>
        </p:spPr>
        <p:txBody>
          <a:bodyPr/>
          <a:lstStyle/>
          <a:p>
            <a:endParaRPr lang="en-US"/>
          </a:p>
        </p:txBody>
      </p:sp>
      <p:sp>
        <p:nvSpPr>
          <p:cNvPr id="26" name="Text Placeholder 25"/>
          <p:cNvSpPr>
            <a:spLocks noGrp="1"/>
          </p:cNvSpPr>
          <p:nvPr>
            <p:ph type="body" sz="quarter" idx="19" hasCustomPrompt="1"/>
          </p:nvPr>
        </p:nvSpPr>
        <p:spPr>
          <a:xfrm>
            <a:off x="623889" y="1582738"/>
            <a:ext cx="7886700" cy="221494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7" name="Picture Placeholder 18"/>
          <p:cNvSpPr>
            <a:spLocks noGrp="1"/>
          </p:cNvSpPr>
          <p:nvPr>
            <p:ph type="pic" sz="quarter" idx="20"/>
          </p:nvPr>
        </p:nvSpPr>
        <p:spPr>
          <a:xfrm>
            <a:off x="1836605" y="3902297"/>
            <a:ext cx="2326933" cy="2326933"/>
          </a:xfrm>
        </p:spPr>
        <p:txBody>
          <a:bodyPr/>
          <a:lstStyle/>
          <a:p>
            <a:endParaRPr lang="en-US"/>
          </a:p>
        </p:txBody>
      </p:sp>
      <p:sp>
        <p:nvSpPr>
          <p:cNvPr id="18" name="Text Placeholder 25"/>
          <p:cNvSpPr>
            <a:spLocks noGrp="1"/>
          </p:cNvSpPr>
          <p:nvPr>
            <p:ph type="body" sz="quarter" idx="21" hasCustomPrompt="1"/>
          </p:nvPr>
        </p:nvSpPr>
        <p:spPr>
          <a:xfrm>
            <a:off x="4281489" y="3902297"/>
            <a:ext cx="4229099" cy="2326933"/>
          </a:xfrm>
        </p:spPr>
        <p:txBody>
          <a:bodyPr/>
          <a:lstStyle>
            <a:lvl1pPr marL="0" indent="0">
              <a:buNone/>
              <a:defRPr/>
            </a:lvl1pPr>
          </a:lstStyle>
          <a:p>
            <a:pPr lvl="0"/>
            <a:r>
              <a:rPr lang="en-US" dirty="0"/>
              <a:t>Text to go in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98"/>
          <p:cNvSpPr>
            <a:spLocks noGrp="1"/>
          </p:cNvSpPr>
          <p:nvPr>
            <p:ph type="pic" sz="quarter" idx="16"/>
          </p:nvPr>
        </p:nvSpPr>
        <p:spPr>
          <a:xfrm>
            <a:off x="1829730" y="5906500"/>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22" name="Straight Connector 21"/>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extBox 24"/>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7"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8" name="Picture 27"/>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5" name="TextBox 14">
            <a:extLst>
              <a:ext uri="{FF2B5EF4-FFF2-40B4-BE49-F238E27FC236}">
                <a16:creationId xmlns:a16="http://schemas.microsoft.com/office/drawing/2014/main" id="{4A8FFEE4-E621-44C8-B423-099E46456753}"/>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sidebar">
    <p:spTree>
      <p:nvGrpSpPr>
        <p:cNvPr id="1" name=""/>
        <p:cNvGrpSpPr/>
        <p:nvPr/>
      </p:nvGrpSpPr>
      <p:grpSpPr>
        <a:xfrm>
          <a:off x="0" y="0"/>
          <a:ext cx="0" cy="0"/>
          <a:chOff x="0" y="0"/>
          <a:chExt cx="0" cy="0"/>
        </a:xfrm>
      </p:grpSpPr>
      <p:sp>
        <p:nvSpPr>
          <p:cNvPr id="6"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7" name="Text Placeholder 25"/>
          <p:cNvSpPr>
            <a:spLocks noGrp="1"/>
          </p:cNvSpPr>
          <p:nvPr>
            <p:ph type="body" sz="quarter" idx="19"/>
          </p:nvPr>
        </p:nvSpPr>
        <p:spPr>
          <a:xfrm>
            <a:off x="623889" y="1582737"/>
            <a:ext cx="5385926" cy="472718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4" name="Rectangle 13"/>
          <p:cNvSpPr/>
          <p:nvPr userDrawn="1"/>
        </p:nvSpPr>
        <p:spPr>
          <a:xfrm>
            <a:off x="6140870" y="1582737"/>
            <a:ext cx="2389173" cy="4727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5" name="Picture 14"/>
          <p:cNvPicPr>
            <a:picLocks noChangeAspect="1"/>
          </p:cNvPicPr>
          <p:nvPr userDrawn="1"/>
        </p:nvPicPr>
        <p:blipFill rotWithShape="1">
          <a:blip r:embed="rId2">
            <a:extLst>
              <a:ext uri="{28A0092B-C50C-407E-A947-70E740481C1C}">
                <a14:useLocalDpi xmlns:a14="http://schemas.microsoft.com/office/drawing/2010/main"/>
              </a:ext>
            </a:extLst>
          </a:blip>
          <a:srcRect t="-295"/>
          <a:stretch/>
        </p:blipFill>
        <p:spPr>
          <a:xfrm>
            <a:off x="6133581" y="6035196"/>
            <a:ext cx="1748536" cy="345440"/>
          </a:xfrm>
          <a:prstGeom prst="rect">
            <a:avLst/>
          </a:prstGeom>
        </p:spPr>
      </p:pic>
      <p:sp>
        <p:nvSpPr>
          <p:cNvPr id="16" name="Text Placeholder 25"/>
          <p:cNvSpPr>
            <a:spLocks noGrp="1"/>
          </p:cNvSpPr>
          <p:nvPr>
            <p:ph type="body" sz="quarter" idx="20"/>
          </p:nvPr>
        </p:nvSpPr>
        <p:spPr>
          <a:xfrm>
            <a:off x="6186389" y="1645920"/>
            <a:ext cx="2245010" cy="2062130"/>
          </a:xfrm>
        </p:spPr>
        <p:txBody>
          <a:bodyPr/>
          <a:lstStyle>
            <a:lvl1pPr marL="0" indent="0">
              <a:buNone/>
              <a:defRPr>
                <a:solidFill>
                  <a:schemeClr val="bg1"/>
                </a:solidFill>
              </a:defRPr>
            </a:lvl1pPr>
          </a:lstStyle>
          <a:p>
            <a:pPr lvl="0"/>
            <a:r>
              <a:rPr lang="en-US" dirty="0"/>
              <a:t>Click to edit Master text styles</a:t>
            </a:r>
          </a:p>
        </p:txBody>
      </p:sp>
      <p:sp>
        <p:nvSpPr>
          <p:cNvPr id="18" name="Text Placeholder 17"/>
          <p:cNvSpPr>
            <a:spLocks noGrp="1"/>
          </p:cNvSpPr>
          <p:nvPr>
            <p:ph type="body" sz="quarter" idx="21" hasCustomPrompt="1"/>
          </p:nvPr>
        </p:nvSpPr>
        <p:spPr>
          <a:xfrm>
            <a:off x="6186488" y="3759200"/>
            <a:ext cx="2244725" cy="227647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White bullet points if needed</a:t>
            </a:r>
          </a:p>
        </p:txBody>
      </p:sp>
      <p:cxnSp>
        <p:nvCxnSpPr>
          <p:cNvPr id="19" name="Straight Connector 18"/>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2"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3" name="Picture 22"/>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7" name="TextBox 16">
            <a:extLst>
              <a:ext uri="{FF2B5EF4-FFF2-40B4-BE49-F238E27FC236}">
                <a16:creationId xmlns:a16="http://schemas.microsoft.com/office/drawing/2014/main" id="{18920CF7-5FB2-4C5A-9B78-05455F17369A}"/>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5"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4" name="Content Placeholder 13"/>
          <p:cNvSpPr>
            <a:spLocks noGrp="1"/>
          </p:cNvSpPr>
          <p:nvPr>
            <p:ph sz="quarter" idx="20" hasCustomPrompt="1"/>
          </p:nvPr>
        </p:nvSpPr>
        <p:spPr>
          <a:xfrm>
            <a:off x="623888" y="1582738"/>
            <a:ext cx="3784600" cy="4727575"/>
          </a:xfrm>
        </p:spPr>
        <p:txBody>
          <a:bodyPr/>
          <a:lstStyle>
            <a:lvl1pPr marL="0" indent="0">
              <a:buNone/>
              <a:defRPr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5" name="Content Placeholder 13"/>
          <p:cNvSpPr>
            <a:spLocks noGrp="1"/>
          </p:cNvSpPr>
          <p:nvPr>
            <p:ph sz="quarter" idx="21"/>
          </p:nvPr>
        </p:nvSpPr>
        <p:spPr>
          <a:xfrm>
            <a:off x="4725988" y="1582738"/>
            <a:ext cx="3784600" cy="472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extBox 17"/>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19"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0" name="Picture 19"/>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1" name="TextBox 10">
            <a:extLst>
              <a:ext uri="{FF2B5EF4-FFF2-40B4-BE49-F238E27FC236}">
                <a16:creationId xmlns:a16="http://schemas.microsoft.com/office/drawing/2014/main" id="{74277C0F-D476-411C-BC81-97DF6ED2C2D1}"/>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head style text and image content">
    <p:spTree>
      <p:nvGrpSpPr>
        <p:cNvPr id="1" name=""/>
        <p:cNvGrpSpPr/>
        <p:nvPr/>
      </p:nvGrpSpPr>
      <p:grpSpPr>
        <a:xfrm>
          <a:off x="0" y="0"/>
          <a:ext cx="0" cy="0"/>
          <a:chOff x="0" y="0"/>
          <a:chExt cx="0" cy="0"/>
        </a:xfrm>
      </p:grpSpPr>
      <p:sp>
        <p:nvSpPr>
          <p:cNvPr id="19" name="Picture Placeholder 18"/>
          <p:cNvSpPr>
            <a:spLocks noGrp="1"/>
          </p:cNvSpPr>
          <p:nvPr>
            <p:ph type="pic" sz="quarter" idx="22"/>
          </p:nvPr>
        </p:nvSpPr>
        <p:spPr>
          <a:xfrm>
            <a:off x="6140870" y="4010025"/>
            <a:ext cx="2369718" cy="2300288"/>
          </a:xfrm>
        </p:spPr>
        <p:txBody>
          <a:bodyPr/>
          <a:lstStyle/>
          <a:p>
            <a:endParaRPr lang="en-US"/>
          </a:p>
        </p:txBody>
      </p:sp>
      <p:sp>
        <p:nvSpPr>
          <p:cNvPr id="8" name="Title 1"/>
          <p:cNvSpPr>
            <a:spLocks noGrp="1"/>
          </p:cNvSpPr>
          <p:nvPr>
            <p:ph type="title"/>
          </p:nvPr>
        </p:nvSpPr>
        <p:spPr>
          <a:xfrm>
            <a:off x="623888" y="826321"/>
            <a:ext cx="7886700" cy="592474"/>
          </a:xfrm>
        </p:spPr>
        <p:txBody>
          <a:bodyPr anchor="b">
            <a:normAutofit/>
          </a:bodyPr>
          <a:lstStyle>
            <a:lvl1pPr>
              <a:defRPr sz="3300"/>
            </a:lvl1pPr>
          </a:lstStyle>
          <a:p>
            <a:r>
              <a:rPr lang="en-US" dirty="0"/>
              <a:t>Click to edit Master title style</a:t>
            </a:r>
          </a:p>
        </p:txBody>
      </p:sp>
      <p:sp>
        <p:nvSpPr>
          <p:cNvPr id="15" name="Content Placeholder 13"/>
          <p:cNvSpPr>
            <a:spLocks noGrp="1"/>
          </p:cNvSpPr>
          <p:nvPr>
            <p:ph sz="quarter" idx="20" hasCustomPrompt="1"/>
          </p:nvPr>
        </p:nvSpPr>
        <p:spPr>
          <a:xfrm>
            <a:off x="623888" y="1967537"/>
            <a:ext cx="5348090" cy="4342776"/>
          </a:xfrm>
        </p:spPr>
        <p:txBody>
          <a:bodyPr/>
          <a:lstStyle>
            <a:lvl1pPr marL="0" indent="0">
              <a:buNone/>
              <a:defRPr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Text to go in here</a:t>
            </a:r>
          </a:p>
        </p:txBody>
      </p:sp>
      <p:sp>
        <p:nvSpPr>
          <p:cNvPr id="16" name="Content Placeholder 13"/>
          <p:cNvSpPr>
            <a:spLocks noGrp="1"/>
          </p:cNvSpPr>
          <p:nvPr>
            <p:ph sz="quarter" idx="21"/>
          </p:nvPr>
        </p:nvSpPr>
        <p:spPr>
          <a:xfrm>
            <a:off x="6140870" y="1582738"/>
            <a:ext cx="2369718" cy="2358641"/>
          </a:xfrm>
        </p:spPr>
        <p:txBody>
          <a:bodyPr/>
          <a:lstStyle/>
          <a:p>
            <a:pPr lvl="0"/>
            <a:r>
              <a:rPr lang="en-US" dirty="0"/>
              <a:t>Click to edit Master text styles</a:t>
            </a:r>
          </a:p>
        </p:txBody>
      </p:sp>
      <p:sp>
        <p:nvSpPr>
          <p:cNvPr id="22" name="Text Placeholder 21"/>
          <p:cNvSpPr>
            <a:spLocks noGrp="1"/>
          </p:cNvSpPr>
          <p:nvPr>
            <p:ph type="body" sz="quarter" idx="23" hasCustomPrompt="1"/>
          </p:nvPr>
        </p:nvSpPr>
        <p:spPr>
          <a:xfrm>
            <a:off x="623888" y="1582738"/>
            <a:ext cx="5348287" cy="303212"/>
          </a:xfrm>
        </p:spPr>
        <p:txBody>
          <a:bodyPr/>
          <a:lstStyle>
            <a:lvl1pPr marL="0" indent="0">
              <a:buNone/>
              <a:defRPr b="1" i="0">
                <a:solidFill>
                  <a:schemeClr val="accent1"/>
                </a:solidFill>
                <a:latin typeface="Arial" charset="0"/>
                <a:ea typeface="Arial" charset="0"/>
                <a:cs typeface="Arial" charset="0"/>
              </a:defRPr>
            </a:lvl1pPr>
          </a:lstStyle>
          <a:p>
            <a:pPr lvl="0"/>
            <a:r>
              <a:rPr lang="en-US" dirty="0"/>
              <a:t>Subheading style text</a:t>
            </a:r>
          </a:p>
        </p:txBody>
      </p:sp>
      <p:sp>
        <p:nvSpPr>
          <p:cNvPr id="23" name="Picture Placeholder 98"/>
          <p:cNvSpPr>
            <a:spLocks noGrp="1"/>
          </p:cNvSpPr>
          <p:nvPr>
            <p:ph type="pic" sz="quarter" idx="16"/>
          </p:nvPr>
        </p:nvSpPr>
        <p:spPr>
          <a:xfrm>
            <a:off x="6133995" y="5901038"/>
            <a:ext cx="2651125" cy="415925"/>
          </a:xfrm>
          <a:blipFill>
            <a:blip r:embed="rId2"/>
            <a:stretch>
              <a:fillRect/>
            </a:stretch>
          </a:blipFill>
        </p:spPr>
        <p:txBody>
          <a:bodyPr/>
          <a:lstStyle>
            <a:lvl1pPr marL="0" indent="0">
              <a:buNone/>
              <a:defRPr>
                <a:solidFill>
                  <a:schemeClr val="bg1">
                    <a:alpha val="0"/>
                  </a:schemeClr>
                </a:solidFill>
              </a:defRPr>
            </a:lvl1pPr>
          </a:lstStyle>
          <a:p>
            <a:pPr marL="228600" marR="0" lvl="0" indent="-228600" algn="l" defTabSz="914400" rtl="0" eaLnBrk="1" fontAlgn="auto" latinLnBrk="0" hangingPunct="1">
              <a:lnSpc>
                <a:spcPct val="90000"/>
              </a:lnSpc>
              <a:spcBef>
                <a:spcPts val="1000"/>
              </a:spcBef>
              <a:spcAft>
                <a:spcPts val="0"/>
              </a:spcAft>
              <a:buClr>
                <a:srgbClr val="57A2D3"/>
              </a:buClr>
              <a:buSzTx/>
              <a:tabLst/>
              <a:defRPr/>
            </a:pPr>
            <a:endParaRPr lang="en-US" dirty="0"/>
          </a:p>
        </p:txBody>
      </p:sp>
      <p:cxnSp>
        <p:nvCxnSpPr>
          <p:cNvPr id="18" name="Straight Connector 17"/>
          <p:cNvCxnSpPr/>
          <p:nvPr userDrawn="1"/>
        </p:nvCxnSpPr>
        <p:spPr>
          <a:xfrm>
            <a:off x="623888" y="6401230"/>
            <a:ext cx="78867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0" y="0"/>
            <a:ext cx="9144000" cy="3860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TextBox 20"/>
          <p:cNvSpPr txBox="1"/>
          <p:nvPr userDrawn="1"/>
        </p:nvSpPr>
        <p:spPr>
          <a:xfrm>
            <a:off x="628650" y="50013"/>
            <a:ext cx="6148070" cy="276999"/>
          </a:xfrm>
          <a:prstGeom prst="rect">
            <a:avLst/>
          </a:prstGeom>
          <a:noFill/>
        </p:spPr>
        <p:txBody>
          <a:bodyPr wrap="square" rtlCol="0">
            <a:spAutoFit/>
          </a:bodyPr>
          <a:lstStyle/>
          <a:p>
            <a:r>
              <a:rPr lang="en-US" sz="1200" dirty="0" err="1">
                <a:solidFill>
                  <a:schemeClr val="bg1"/>
                </a:solidFill>
                <a:latin typeface="Roboto Thin" charset="0"/>
                <a:ea typeface="Roboto Thin" charset="0"/>
                <a:cs typeface="Roboto Thin" charset="0"/>
              </a:rPr>
              <a:t>pibgroup.co.uk</a:t>
            </a:r>
            <a:endParaRPr lang="en-US" sz="1200" dirty="0">
              <a:solidFill>
                <a:schemeClr val="bg1"/>
              </a:solidFill>
              <a:latin typeface="Roboto Thin" charset="0"/>
              <a:ea typeface="Roboto Thin" charset="0"/>
              <a:cs typeface="Roboto Thin" charset="0"/>
            </a:endParaRPr>
          </a:p>
        </p:txBody>
      </p:sp>
      <p:sp>
        <p:nvSpPr>
          <p:cNvPr id="24" name="Slide Number Placeholder 16"/>
          <p:cNvSpPr>
            <a:spLocks noGrp="1"/>
          </p:cNvSpPr>
          <p:nvPr>
            <p:ph type="sldNum" sz="quarter" idx="4"/>
          </p:nvPr>
        </p:nvSpPr>
        <p:spPr>
          <a:xfrm>
            <a:off x="7401707" y="-121920"/>
            <a:ext cx="1543050" cy="606183"/>
          </a:xfrm>
          <a:prstGeom prst="rect">
            <a:avLst/>
          </a:prstGeom>
        </p:spPr>
        <p:txBody>
          <a:bodyPr vert="horz" lIns="91440" tIns="45720" rIns="91440" bIns="45720" rtlCol="0" anchor="ctr"/>
          <a:lstStyle>
            <a:lvl1pPr algn="r">
              <a:defRPr sz="1200">
                <a:solidFill>
                  <a:schemeClr val="bg1"/>
                </a:solidFill>
              </a:defRPr>
            </a:lvl1pPr>
          </a:lstStyle>
          <a:p>
            <a:fld id="{D009C8E7-BEA0-074C-AC73-A442BB7253D1}" type="slidenum">
              <a:rPr lang="en-US" smtClean="0"/>
              <a:pPr/>
              <a:t>‹#›</a:t>
            </a:fld>
            <a:endParaRPr lang="en-US" dirty="0"/>
          </a:p>
        </p:txBody>
      </p:sp>
      <p:pic>
        <p:nvPicPr>
          <p:cNvPr id="25" name="Picture 24"/>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569488" y="6451347"/>
            <a:ext cx="1044895" cy="340699"/>
          </a:xfrm>
          <a:prstGeom prst="rect">
            <a:avLst/>
          </a:prstGeom>
        </p:spPr>
      </p:pic>
      <p:sp>
        <p:nvSpPr>
          <p:cNvPr id="14" name="TextBox 13">
            <a:extLst>
              <a:ext uri="{FF2B5EF4-FFF2-40B4-BE49-F238E27FC236}">
                <a16:creationId xmlns:a16="http://schemas.microsoft.com/office/drawing/2014/main" id="{133433DE-E606-459A-9E54-6220D7BD8F3E}"/>
              </a:ext>
            </a:extLst>
          </p:cNvPr>
          <p:cNvSpPr txBox="1"/>
          <p:nvPr userDrawn="1"/>
        </p:nvSpPr>
        <p:spPr>
          <a:xfrm>
            <a:off x="532015" y="6484599"/>
            <a:ext cx="7037473" cy="338554"/>
          </a:xfrm>
          <a:prstGeom prst="rect">
            <a:avLst/>
          </a:prstGeom>
          <a:noFill/>
        </p:spPr>
        <p:txBody>
          <a:bodyPr wrap="square" rtlCol="0">
            <a:spAutoFit/>
          </a:bodyPr>
          <a:lstStyle/>
          <a:p>
            <a:r>
              <a:rPr lang="en-GB" sz="800" dirty="0">
                <a:solidFill>
                  <a:schemeClr val="tx2"/>
                </a:solidFill>
                <a:latin typeface="Arial" panose="020B0604020202020204" pitchFamily="34" charset="0"/>
                <a:cs typeface="Arial" panose="020B0604020202020204" pitchFamily="34" charset="0"/>
              </a:rPr>
              <a:t>Copyright © 2019 PIB Group Limited. PIB Group is a trading style of PIB Group Limited. PIB Group Limited is registered in England &amp; Wales. Company Registration Number 09900466. Registered Office: Rossington's Business Park, West </a:t>
            </a:r>
            <a:r>
              <a:rPr lang="en-GB" sz="800" dirty="0" err="1">
                <a:solidFill>
                  <a:schemeClr val="tx2"/>
                </a:solidFill>
                <a:latin typeface="Arial" panose="020B0604020202020204" pitchFamily="34" charset="0"/>
                <a:cs typeface="Arial" panose="020B0604020202020204" pitchFamily="34" charset="0"/>
              </a:rPr>
              <a:t>Carr</a:t>
            </a:r>
            <a:r>
              <a:rPr lang="en-GB" sz="800" dirty="0">
                <a:solidFill>
                  <a:schemeClr val="tx2"/>
                </a:solidFill>
                <a:latin typeface="Arial" panose="020B0604020202020204" pitchFamily="34" charset="0"/>
                <a:cs typeface="Arial" panose="020B0604020202020204" pitchFamily="34" charset="0"/>
              </a:rPr>
              <a:t> Road, Retford, Nottinghamshire, DN22 7SW.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47C51-2566-D7F0-AF73-F11C384195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F5044E-5601-E3AE-431C-916E8AA84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341E0-0A08-AA95-CBC2-3D8A6F01D97E}"/>
              </a:ext>
            </a:extLst>
          </p:cNvPr>
          <p:cNvSpPr>
            <a:spLocks noGrp="1"/>
          </p:cNvSpPr>
          <p:nvPr>
            <p:ph type="dt" sz="half" idx="10"/>
          </p:nvPr>
        </p:nvSpPr>
        <p:spPr/>
        <p:txBody>
          <a:bodyPr/>
          <a:lstStyle/>
          <a:p>
            <a:fld id="{B7752319-28EE-46A6-B991-C4832524CFB8}" type="datetimeFigureOut">
              <a:rPr lang="en-IN" smtClean="0"/>
              <a:t>05/07/23</a:t>
            </a:fld>
            <a:endParaRPr lang="en-IN"/>
          </a:p>
        </p:txBody>
      </p:sp>
      <p:sp>
        <p:nvSpPr>
          <p:cNvPr id="5" name="Footer Placeholder 4">
            <a:extLst>
              <a:ext uri="{FF2B5EF4-FFF2-40B4-BE49-F238E27FC236}">
                <a16:creationId xmlns:a16="http://schemas.microsoft.com/office/drawing/2014/main" id="{FB43CA64-91DE-2BB4-6CB6-B540FC3B09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E18AB6-8933-7EB9-50FE-6401A8032C69}"/>
              </a:ext>
            </a:extLst>
          </p:cNvPr>
          <p:cNvSpPr>
            <a:spLocks noGrp="1"/>
          </p:cNvSpPr>
          <p:nvPr>
            <p:ph type="sldNum" sz="quarter" idx="12"/>
          </p:nvPr>
        </p:nvSpPr>
        <p:spPr/>
        <p:txBody>
          <a:bodyPr/>
          <a:lstStyle/>
          <a:p>
            <a:fld id="{8882252F-572C-48DE-82B3-BEB6935BA7BE}" type="slidenum">
              <a:rPr lang="en-IN" smtClean="0"/>
              <a:t>‹#›</a:t>
            </a:fld>
            <a:endParaRPr lang="en-IN"/>
          </a:p>
        </p:txBody>
      </p:sp>
    </p:spTree>
    <p:extLst>
      <p:ext uri="{BB962C8B-B14F-4D97-AF65-F5344CB8AC3E}">
        <p14:creationId xmlns:p14="http://schemas.microsoft.com/office/powerpoint/2010/main" val="2696974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290238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2" r:id="rId6"/>
    <p:sldLayoutId id="2147483666" r:id="rId7"/>
    <p:sldLayoutId id="2147483667" r:id="rId8"/>
    <p:sldLayoutId id="2147483668" r:id="rId9"/>
    <p:sldLayoutId id="2147483673" r:id="rId10"/>
  </p:sldLayoutIdLst>
  <p:hf hdr="0" ftr="0" dt="0"/>
  <p:txStyles>
    <p:titleStyle>
      <a:lvl1pPr algn="l" defTabSz="914400" rtl="0" eaLnBrk="1" latinLnBrk="0" hangingPunct="1">
        <a:lnSpc>
          <a:spcPct val="90000"/>
        </a:lnSpc>
        <a:spcBef>
          <a:spcPct val="0"/>
        </a:spcBef>
        <a:buNone/>
        <a:defRPr sz="3300" b="0" i="0" kern="1200">
          <a:solidFill>
            <a:schemeClr val="accent1"/>
          </a:solidFill>
          <a:latin typeface="Roboto Thin" charset="0"/>
          <a:ea typeface="Roboto Thin" charset="0"/>
          <a:cs typeface="Roboto Thin" charset="0"/>
        </a:defRPr>
      </a:lvl1pPr>
    </p:titleStyle>
    <p:bodyStyle>
      <a:lvl1pPr marL="228600" indent="-228600" algn="l" defTabSz="914400" rtl="0" eaLnBrk="1" latinLnBrk="0" hangingPunct="1">
        <a:lnSpc>
          <a:spcPct val="90000"/>
        </a:lnSpc>
        <a:spcBef>
          <a:spcPts val="10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1pPr>
      <a:lvl2pPr marL="6858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2pPr>
      <a:lvl3pPr marL="11430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3pPr>
      <a:lvl4pPr marL="16002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4pPr>
      <a:lvl5pPr marL="2057400" indent="-228600" algn="l" defTabSz="914400" rtl="0" eaLnBrk="1" latinLnBrk="0" hangingPunct="1">
        <a:lnSpc>
          <a:spcPct val="90000"/>
        </a:lnSpc>
        <a:spcBef>
          <a:spcPts val="500"/>
        </a:spcBef>
        <a:buClr>
          <a:schemeClr val="accent1"/>
        </a:buClr>
        <a:buFont typeface=".AppleSystemUIFont" charset="-120"/>
        <a:buChar char="›"/>
        <a:defRPr sz="1350" kern="1200">
          <a:solidFill>
            <a:schemeClr val="accent2">
              <a:lumMod val="10000"/>
            </a:schemeClr>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0A_9A843705.xml"/><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12.sv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C_B2A3732E.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hyperlink" Target="https://preprod-auth-service.letalliance.dev/" TargetMode="External"/><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hyperlink" Target="https://preprod-tenant.letalliance.dev/externalreferenc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hyperlink" Target="https://help.salesforce.com/s/articleView?id=sf.remoteaccess_oauth_client_credentials_flow.htm&amp;language=en_US&amp;type=5" TargetMode="Externa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F_2DA1DEF3.xml"/><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20.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11_FD7A8D92.xml"/><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B83A5C-20B4-E204-CADE-D33E536706E2}"/>
              </a:ext>
            </a:extLst>
          </p:cNvPr>
          <p:cNvSpPr/>
          <p:nvPr/>
        </p:nvSpPr>
        <p:spPr>
          <a:xfrm>
            <a:off x="0" y="668847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F3E8D81A-AFCC-9A60-8531-8A04DB6F850C}"/>
              </a:ext>
            </a:extLst>
          </p:cNvPr>
          <p:cNvSpPr/>
          <p:nvPr/>
        </p:nvSpPr>
        <p:spPr>
          <a:xfrm rot="10800000" flipV="1">
            <a:off x="107593" y="618540"/>
            <a:ext cx="2456380" cy="2962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bg1"/>
              </a:solidFill>
            </a:endParaRPr>
          </a:p>
        </p:txBody>
      </p:sp>
      <p:sp>
        <p:nvSpPr>
          <p:cNvPr id="2" name="TextBox 1">
            <a:extLst>
              <a:ext uri="{FF2B5EF4-FFF2-40B4-BE49-F238E27FC236}">
                <a16:creationId xmlns:a16="http://schemas.microsoft.com/office/drawing/2014/main" id="{C86110A0-033B-E7DE-F1E9-95ABF3009ACB}"/>
              </a:ext>
            </a:extLst>
          </p:cNvPr>
          <p:cNvSpPr txBox="1"/>
          <p:nvPr/>
        </p:nvSpPr>
        <p:spPr>
          <a:xfrm>
            <a:off x="474980" y="4060804"/>
            <a:ext cx="8194039" cy="1446550"/>
          </a:xfrm>
          <a:prstGeom prst="rect">
            <a:avLst/>
          </a:prstGeom>
          <a:noFill/>
        </p:spPr>
        <p:txBody>
          <a:bodyPr wrap="square" rtlCol="0">
            <a:spAutoFit/>
          </a:bodyPr>
          <a:lstStyle/>
          <a:p>
            <a:r>
              <a:rPr lang="en-GB" sz="4400" dirty="0"/>
              <a:t>Grainger – Vision+  </a:t>
            </a:r>
            <a:br>
              <a:rPr lang="en-GB" sz="4400" dirty="0"/>
            </a:br>
            <a:r>
              <a:rPr lang="en-GB" sz="4400" dirty="0"/>
              <a:t>Tenant &amp; Agent Journey V1.1</a:t>
            </a:r>
          </a:p>
        </p:txBody>
      </p:sp>
      <p:pic>
        <p:nvPicPr>
          <p:cNvPr id="3" name="Picture 2" descr="New-HomeLet-logo - Atkinson McLeod website">
            <a:extLst>
              <a:ext uri="{FF2B5EF4-FFF2-40B4-BE49-F238E27FC236}">
                <a16:creationId xmlns:a16="http://schemas.microsoft.com/office/drawing/2014/main" id="{19BCA89B-E764-B8C0-BEDC-16003BA75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4557" y="5961839"/>
            <a:ext cx="1236133" cy="53887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eet the Let Alliance Team - Home">
            <a:extLst>
              <a:ext uri="{FF2B5EF4-FFF2-40B4-BE49-F238E27FC236}">
                <a16:creationId xmlns:a16="http://schemas.microsoft.com/office/drawing/2014/main" id="{6E215B32-F4C0-F671-B951-5CB2EE437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80" y="5904450"/>
            <a:ext cx="1867590" cy="6536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arbon Insurance Group - Living and Working in Lincolnshire">
            <a:extLst>
              <a:ext uri="{FF2B5EF4-FFF2-40B4-BE49-F238E27FC236}">
                <a16:creationId xmlns:a16="http://schemas.microsoft.com/office/drawing/2014/main" id="{6276F35F-F489-D6A7-C48C-1FA1E30BEC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8530" y="6078399"/>
            <a:ext cx="1303868" cy="36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4894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01765"/>
            <a:ext cx="6888480" cy="461665"/>
          </a:xfrm>
          <a:prstGeom prst="rect">
            <a:avLst/>
          </a:prstGeom>
          <a:noFill/>
        </p:spPr>
        <p:txBody>
          <a:bodyPr wrap="square" rtlCol="0">
            <a:spAutoFit/>
          </a:bodyPr>
          <a:lstStyle/>
          <a:p>
            <a:r>
              <a:rPr lang="en-GB" sz="2400" b="1" dirty="0"/>
              <a:t>Tenant and Agent Journey Overview</a:t>
            </a:r>
          </a:p>
        </p:txBody>
      </p:sp>
      <p:sp>
        <p:nvSpPr>
          <p:cNvPr id="2" name="Rectangle 1">
            <a:extLst>
              <a:ext uri="{FF2B5EF4-FFF2-40B4-BE49-F238E27FC236}">
                <a16:creationId xmlns:a16="http://schemas.microsoft.com/office/drawing/2014/main" id="{2F109531-1981-0CFF-762F-814946B6B868}"/>
              </a:ext>
            </a:extLst>
          </p:cNvPr>
          <p:cNvSpPr/>
          <p:nvPr/>
        </p:nvSpPr>
        <p:spPr>
          <a:xfrm>
            <a:off x="4784501" y="830981"/>
            <a:ext cx="1794933" cy="719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Vision+ API</a:t>
            </a:r>
          </a:p>
        </p:txBody>
      </p:sp>
      <p:sp>
        <p:nvSpPr>
          <p:cNvPr id="3" name="Rectangle 2">
            <a:extLst>
              <a:ext uri="{FF2B5EF4-FFF2-40B4-BE49-F238E27FC236}">
                <a16:creationId xmlns:a16="http://schemas.microsoft.com/office/drawing/2014/main" id="{748879A7-FC1D-83CA-A540-11185E1160A3}"/>
              </a:ext>
            </a:extLst>
          </p:cNvPr>
          <p:cNvSpPr/>
          <p:nvPr/>
        </p:nvSpPr>
        <p:spPr>
          <a:xfrm>
            <a:off x="540040" y="830981"/>
            <a:ext cx="1794933" cy="719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Grainger Portal</a:t>
            </a:r>
          </a:p>
        </p:txBody>
      </p:sp>
      <p:cxnSp>
        <p:nvCxnSpPr>
          <p:cNvPr id="17" name="Straight Arrow Connector 16">
            <a:extLst>
              <a:ext uri="{FF2B5EF4-FFF2-40B4-BE49-F238E27FC236}">
                <a16:creationId xmlns:a16="http://schemas.microsoft.com/office/drawing/2014/main" id="{04319FAD-EAA1-B00F-AEB8-0996E986D672}"/>
              </a:ext>
            </a:extLst>
          </p:cNvPr>
          <p:cNvCxnSpPr>
            <a:cxnSpLocks/>
          </p:cNvCxnSpPr>
          <p:nvPr/>
        </p:nvCxnSpPr>
        <p:spPr>
          <a:xfrm>
            <a:off x="1547574" y="1956756"/>
            <a:ext cx="179493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8" name="Rectangle 17">
            <a:extLst>
              <a:ext uri="{FF2B5EF4-FFF2-40B4-BE49-F238E27FC236}">
                <a16:creationId xmlns:a16="http://schemas.microsoft.com/office/drawing/2014/main" id="{64CEB71D-5BCF-7340-D36A-5D536ADB606C}"/>
              </a:ext>
            </a:extLst>
          </p:cNvPr>
          <p:cNvSpPr/>
          <p:nvPr/>
        </p:nvSpPr>
        <p:spPr>
          <a:xfrm>
            <a:off x="1327440" y="1550648"/>
            <a:ext cx="220134" cy="1179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7BAE3413-8758-8644-6583-84E8A0EFF810}"/>
              </a:ext>
            </a:extLst>
          </p:cNvPr>
          <p:cNvSpPr/>
          <p:nvPr/>
        </p:nvSpPr>
        <p:spPr>
          <a:xfrm>
            <a:off x="5571900" y="1550648"/>
            <a:ext cx="220134" cy="24413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3E10B814-1850-8FE7-0E65-2A7D2C1AF56D}"/>
              </a:ext>
            </a:extLst>
          </p:cNvPr>
          <p:cNvSpPr txBox="1"/>
          <p:nvPr/>
        </p:nvSpPr>
        <p:spPr>
          <a:xfrm>
            <a:off x="3663188" y="2305353"/>
            <a:ext cx="1534394" cy="261610"/>
          </a:xfrm>
          <a:prstGeom prst="rect">
            <a:avLst/>
          </a:prstGeom>
          <a:noFill/>
        </p:spPr>
        <p:txBody>
          <a:bodyPr wrap="square" rtlCol="0">
            <a:spAutoFit/>
          </a:bodyPr>
          <a:lstStyle/>
          <a:p>
            <a:r>
              <a:rPr lang="en-GB" sz="1100" b="1" dirty="0"/>
              <a:t>2. Reference instigated</a:t>
            </a:r>
          </a:p>
        </p:txBody>
      </p:sp>
      <p:cxnSp>
        <p:nvCxnSpPr>
          <p:cNvPr id="26" name="Straight Arrow Connector 25">
            <a:extLst>
              <a:ext uri="{FF2B5EF4-FFF2-40B4-BE49-F238E27FC236}">
                <a16:creationId xmlns:a16="http://schemas.microsoft.com/office/drawing/2014/main" id="{4A51FAFD-09FE-2DA9-E9C4-16D8ABF0778B}"/>
              </a:ext>
            </a:extLst>
          </p:cNvPr>
          <p:cNvCxnSpPr>
            <a:cxnSpLocks/>
          </p:cNvCxnSpPr>
          <p:nvPr/>
        </p:nvCxnSpPr>
        <p:spPr>
          <a:xfrm>
            <a:off x="1565679" y="2371097"/>
            <a:ext cx="1813655" cy="10023"/>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7" name="TextBox 26">
            <a:extLst>
              <a:ext uri="{FF2B5EF4-FFF2-40B4-BE49-F238E27FC236}">
                <a16:creationId xmlns:a16="http://schemas.microsoft.com/office/drawing/2014/main" id="{2218AFBB-32AC-A41F-5E8E-1A43578F9DDD}"/>
              </a:ext>
            </a:extLst>
          </p:cNvPr>
          <p:cNvSpPr txBox="1"/>
          <p:nvPr/>
        </p:nvSpPr>
        <p:spPr>
          <a:xfrm>
            <a:off x="1518664" y="1968466"/>
            <a:ext cx="1373426" cy="430887"/>
          </a:xfrm>
          <a:prstGeom prst="rect">
            <a:avLst/>
          </a:prstGeom>
          <a:noFill/>
        </p:spPr>
        <p:txBody>
          <a:bodyPr wrap="square" rtlCol="0">
            <a:spAutoFit/>
          </a:bodyPr>
          <a:lstStyle/>
          <a:p>
            <a:r>
              <a:rPr lang="en-GB" sz="1100" b="1" dirty="0"/>
              <a:t>1.b Tenant makes advance payment</a:t>
            </a:r>
          </a:p>
        </p:txBody>
      </p:sp>
      <p:sp>
        <p:nvSpPr>
          <p:cNvPr id="30" name="TextBox 29">
            <a:extLst>
              <a:ext uri="{FF2B5EF4-FFF2-40B4-BE49-F238E27FC236}">
                <a16:creationId xmlns:a16="http://schemas.microsoft.com/office/drawing/2014/main" id="{FC5A1E7E-5B52-C2E1-05E5-32B3532D4F7C}"/>
              </a:ext>
            </a:extLst>
          </p:cNvPr>
          <p:cNvSpPr txBox="1"/>
          <p:nvPr/>
        </p:nvSpPr>
        <p:spPr>
          <a:xfrm>
            <a:off x="3652431" y="4732562"/>
            <a:ext cx="3610496" cy="261610"/>
          </a:xfrm>
          <a:prstGeom prst="rect">
            <a:avLst/>
          </a:prstGeom>
          <a:noFill/>
        </p:spPr>
        <p:txBody>
          <a:bodyPr wrap="square" rtlCol="0">
            <a:spAutoFit/>
          </a:bodyPr>
          <a:lstStyle/>
          <a:p>
            <a:r>
              <a:rPr lang="en-GB" sz="1100" b="1" dirty="0"/>
              <a:t>10. </a:t>
            </a:r>
            <a:r>
              <a:rPr lang="en-GB" sz="1100" b="1" dirty="0">
                <a:solidFill>
                  <a:srgbClr val="FF0000"/>
                </a:solidFill>
              </a:rPr>
              <a:t>Applicant(s) access portal via </a:t>
            </a:r>
            <a:r>
              <a:rPr lang="en-GB" sz="1100" b="1" dirty="0" err="1">
                <a:solidFill>
                  <a:srgbClr val="FF0000"/>
                </a:solidFill>
              </a:rPr>
              <a:t>iFrame</a:t>
            </a:r>
            <a:r>
              <a:rPr lang="en-GB" sz="1100" b="1" dirty="0">
                <a:solidFill>
                  <a:srgbClr val="FF0000"/>
                </a:solidFill>
              </a:rPr>
              <a:t> and </a:t>
            </a:r>
            <a:r>
              <a:rPr lang="en-GB" sz="1100" b="1" dirty="0" err="1">
                <a:solidFill>
                  <a:srgbClr val="FF0000"/>
                </a:solidFill>
              </a:rPr>
              <a:t>Jwt</a:t>
            </a:r>
            <a:r>
              <a:rPr lang="en-GB" sz="1100" b="1" dirty="0">
                <a:solidFill>
                  <a:srgbClr val="FF0000"/>
                </a:solidFill>
              </a:rPr>
              <a:t> Token</a:t>
            </a:r>
          </a:p>
        </p:txBody>
      </p:sp>
      <p:sp>
        <p:nvSpPr>
          <p:cNvPr id="31" name="Rectangle 30">
            <a:extLst>
              <a:ext uri="{FF2B5EF4-FFF2-40B4-BE49-F238E27FC236}">
                <a16:creationId xmlns:a16="http://schemas.microsoft.com/office/drawing/2014/main" id="{8D102639-3787-0EF9-429A-C2A1584D935E}"/>
              </a:ext>
            </a:extLst>
          </p:cNvPr>
          <p:cNvSpPr/>
          <p:nvPr/>
        </p:nvSpPr>
        <p:spPr>
          <a:xfrm>
            <a:off x="6799568" y="830981"/>
            <a:ext cx="1794933" cy="719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Vision+ Tenant Portal</a:t>
            </a:r>
          </a:p>
        </p:txBody>
      </p:sp>
      <p:sp>
        <p:nvSpPr>
          <p:cNvPr id="33" name="Rectangle 32">
            <a:extLst>
              <a:ext uri="{FF2B5EF4-FFF2-40B4-BE49-F238E27FC236}">
                <a16:creationId xmlns:a16="http://schemas.microsoft.com/office/drawing/2014/main" id="{A4B3A15F-1BB7-612B-8CE0-38200ABB3E7E}"/>
              </a:ext>
            </a:extLst>
          </p:cNvPr>
          <p:cNvSpPr/>
          <p:nvPr/>
        </p:nvSpPr>
        <p:spPr>
          <a:xfrm>
            <a:off x="7530649" y="1550647"/>
            <a:ext cx="175844" cy="35776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5" name="Straight Arrow Connector 34">
            <a:extLst>
              <a:ext uri="{FF2B5EF4-FFF2-40B4-BE49-F238E27FC236}">
                <a16:creationId xmlns:a16="http://schemas.microsoft.com/office/drawing/2014/main" id="{6F5EB479-BE84-E4CF-6C58-E5F5935E9862}"/>
              </a:ext>
            </a:extLst>
          </p:cNvPr>
          <p:cNvCxnSpPr>
            <a:cxnSpLocks/>
          </p:cNvCxnSpPr>
          <p:nvPr/>
        </p:nvCxnSpPr>
        <p:spPr>
          <a:xfrm flipH="1">
            <a:off x="3716884" y="5750789"/>
            <a:ext cx="3786752" cy="18528"/>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0" name="TextBox 39">
            <a:extLst>
              <a:ext uri="{FF2B5EF4-FFF2-40B4-BE49-F238E27FC236}">
                <a16:creationId xmlns:a16="http://schemas.microsoft.com/office/drawing/2014/main" id="{0912EE4D-C800-7FD9-FE89-D18BBBFE3B1C}"/>
              </a:ext>
            </a:extLst>
          </p:cNvPr>
          <p:cNvSpPr txBox="1"/>
          <p:nvPr/>
        </p:nvSpPr>
        <p:spPr>
          <a:xfrm>
            <a:off x="3774160" y="5507707"/>
            <a:ext cx="3691150" cy="261610"/>
          </a:xfrm>
          <a:prstGeom prst="rect">
            <a:avLst/>
          </a:prstGeom>
          <a:noFill/>
        </p:spPr>
        <p:txBody>
          <a:bodyPr wrap="square" rtlCol="0">
            <a:spAutoFit/>
          </a:bodyPr>
          <a:lstStyle/>
          <a:p>
            <a:r>
              <a:rPr lang="en-GB" sz="1100" b="1" dirty="0"/>
              <a:t>12. Vision+ updates Salesforce  on reference Status change</a:t>
            </a:r>
          </a:p>
        </p:txBody>
      </p:sp>
      <p:cxnSp>
        <p:nvCxnSpPr>
          <p:cNvPr id="32" name="Straight Arrow Connector 31">
            <a:extLst>
              <a:ext uri="{FF2B5EF4-FFF2-40B4-BE49-F238E27FC236}">
                <a16:creationId xmlns:a16="http://schemas.microsoft.com/office/drawing/2014/main" id="{51FC68F0-8CF8-065C-CF9C-B3248C8C570E}"/>
              </a:ext>
            </a:extLst>
          </p:cNvPr>
          <p:cNvCxnSpPr>
            <a:cxnSpLocks/>
          </p:cNvCxnSpPr>
          <p:nvPr/>
        </p:nvCxnSpPr>
        <p:spPr>
          <a:xfrm>
            <a:off x="4773743" y="6501954"/>
            <a:ext cx="4707466"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1" name="Rectangle 40">
            <a:extLst>
              <a:ext uri="{FF2B5EF4-FFF2-40B4-BE49-F238E27FC236}">
                <a16:creationId xmlns:a16="http://schemas.microsoft.com/office/drawing/2014/main" id="{01BCB24E-C56F-F0BD-DF7E-320E03A15E32}"/>
              </a:ext>
            </a:extLst>
          </p:cNvPr>
          <p:cNvSpPr/>
          <p:nvPr/>
        </p:nvSpPr>
        <p:spPr>
          <a:xfrm>
            <a:off x="8814635" y="830981"/>
            <a:ext cx="1794933" cy="719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Vision+ Agent Portal</a:t>
            </a:r>
          </a:p>
        </p:txBody>
      </p:sp>
      <p:sp>
        <p:nvSpPr>
          <p:cNvPr id="42" name="Rectangle 41">
            <a:extLst>
              <a:ext uri="{FF2B5EF4-FFF2-40B4-BE49-F238E27FC236}">
                <a16:creationId xmlns:a16="http://schemas.microsoft.com/office/drawing/2014/main" id="{8D77D8EF-07AA-A849-1354-3CF0C5390100}"/>
              </a:ext>
            </a:extLst>
          </p:cNvPr>
          <p:cNvSpPr/>
          <p:nvPr/>
        </p:nvSpPr>
        <p:spPr>
          <a:xfrm>
            <a:off x="9491967" y="1550646"/>
            <a:ext cx="277494" cy="5675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624B5AAF-5EAC-1326-B9CC-06E24A68D0DB}"/>
              </a:ext>
            </a:extLst>
          </p:cNvPr>
          <p:cNvSpPr txBox="1"/>
          <p:nvPr/>
        </p:nvSpPr>
        <p:spPr>
          <a:xfrm>
            <a:off x="4823249" y="6268144"/>
            <a:ext cx="2923495" cy="261610"/>
          </a:xfrm>
          <a:prstGeom prst="rect">
            <a:avLst/>
          </a:prstGeom>
          <a:noFill/>
        </p:spPr>
        <p:txBody>
          <a:bodyPr wrap="square" rtlCol="0">
            <a:spAutoFit/>
          </a:bodyPr>
          <a:lstStyle/>
          <a:p>
            <a:r>
              <a:rPr lang="en-GB" sz="1100" b="1" dirty="0" err="1"/>
              <a:t>i</a:t>
            </a:r>
            <a:r>
              <a:rPr lang="en-GB" sz="1100" b="1" dirty="0"/>
              <a:t>) Agent goes to Vision+ portal for review</a:t>
            </a:r>
          </a:p>
        </p:txBody>
      </p:sp>
      <p:cxnSp>
        <p:nvCxnSpPr>
          <p:cNvPr id="45" name="Straight Arrow Connector 44">
            <a:extLst>
              <a:ext uri="{FF2B5EF4-FFF2-40B4-BE49-F238E27FC236}">
                <a16:creationId xmlns:a16="http://schemas.microsoft.com/office/drawing/2014/main" id="{70875111-62EE-3DCB-4354-38AE13885B61}"/>
              </a:ext>
            </a:extLst>
          </p:cNvPr>
          <p:cNvCxnSpPr>
            <a:cxnSpLocks/>
          </p:cNvCxnSpPr>
          <p:nvPr/>
        </p:nvCxnSpPr>
        <p:spPr>
          <a:xfrm>
            <a:off x="1590088" y="5010900"/>
            <a:ext cx="5934565"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3" name="Rectangle 22">
            <a:extLst>
              <a:ext uri="{FF2B5EF4-FFF2-40B4-BE49-F238E27FC236}">
                <a16:creationId xmlns:a16="http://schemas.microsoft.com/office/drawing/2014/main" id="{B032B5F4-770B-75DF-4A1A-B12B7137D9DF}"/>
              </a:ext>
            </a:extLst>
          </p:cNvPr>
          <p:cNvSpPr/>
          <p:nvPr/>
        </p:nvSpPr>
        <p:spPr>
          <a:xfrm>
            <a:off x="2745794" y="823314"/>
            <a:ext cx="1794933" cy="7196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Grainger Salesforce</a:t>
            </a:r>
          </a:p>
        </p:txBody>
      </p:sp>
      <p:sp>
        <p:nvSpPr>
          <p:cNvPr id="24" name="Rectangle 23">
            <a:extLst>
              <a:ext uri="{FF2B5EF4-FFF2-40B4-BE49-F238E27FC236}">
                <a16:creationId xmlns:a16="http://schemas.microsoft.com/office/drawing/2014/main" id="{6B1A7A95-B65A-1827-9DEA-658D2DCC72FC}"/>
              </a:ext>
            </a:extLst>
          </p:cNvPr>
          <p:cNvSpPr/>
          <p:nvPr/>
        </p:nvSpPr>
        <p:spPr>
          <a:xfrm>
            <a:off x="3369973" y="1550647"/>
            <a:ext cx="336153" cy="43460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81DFCEC5-930C-79EE-8F37-ED32DD82CA1A}"/>
              </a:ext>
            </a:extLst>
          </p:cNvPr>
          <p:cNvSpPr txBox="1"/>
          <p:nvPr/>
        </p:nvSpPr>
        <p:spPr>
          <a:xfrm>
            <a:off x="1527101" y="1558735"/>
            <a:ext cx="1649872" cy="430887"/>
          </a:xfrm>
          <a:prstGeom prst="rect">
            <a:avLst/>
          </a:prstGeom>
          <a:noFill/>
        </p:spPr>
        <p:txBody>
          <a:bodyPr wrap="square" rtlCol="0">
            <a:spAutoFit/>
          </a:bodyPr>
          <a:lstStyle/>
          <a:p>
            <a:r>
              <a:rPr lang="en-GB" sz="1100" b="1" dirty="0"/>
              <a:t>1a. Additional Applicants added</a:t>
            </a:r>
          </a:p>
        </p:txBody>
      </p:sp>
      <p:cxnSp>
        <p:nvCxnSpPr>
          <p:cNvPr id="28" name="Straight Arrow Connector 27">
            <a:extLst>
              <a:ext uri="{FF2B5EF4-FFF2-40B4-BE49-F238E27FC236}">
                <a16:creationId xmlns:a16="http://schemas.microsoft.com/office/drawing/2014/main" id="{787CA269-CAB0-A88C-89F5-9D7D0DC144D8}"/>
              </a:ext>
            </a:extLst>
          </p:cNvPr>
          <p:cNvCxnSpPr>
            <a:cxnSpLocks/>
          </p:cNvCxnSpPr>
          <p:nvPr/>
        </p:nvCxnSpPr>
        <p:spPr>
          <a:xfrm>
            <a:off x="3610581" y="2609443"/>
            <a:ext cx="196131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29" name="Straight Arrow Connector 28">
            <a:extLst>
              <a:ext uri="{FF2B5EF4-FFF2-40B4-BE49-F238E27FC236}">
                <a16:creationId xmlns:a16="http://schemas.microsoft.com/office/drawing/2014/main" id="{72F4A23F-6D88-5496-7F6F-B25D441D66C0}"/>
              </a:ext>
            </a:extLst>
          </p:cNvPr>
          <p:cNvCxnSpPr>
            <a:cxnSpLocks/>
          </p:cNvCxnSpPr>
          <p:nvPr/>
        </p:nvCxnSpPr>
        <p:spPr>
          <a:xfrm flipH="1">
            <a:off x="3610581" y="3164934"/>
            <a:ext cx="194667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4" name="TextBox 33">
            <a:extLst>
              <a:ext uri="{FF2B5EF4-FFF2-40B4-BE49-F238E27FC236}">
                <a16:creationId xmlns:a16="http://schemas.microsoft.com/office/drawing/2014/main" id="{6009AA16-E5C4-1812-B8E4-BF461FBC6649}"/>
              </a:ext>
            </a:extLst>
          </p:cNvPr>
          <p:cNvSpPr txBox="1"/>
          <p:nvPr/>
        </p:nvSpPr>
        <p:spPr>
          <a:xfrm>
            <a:off x="3663188" y="2584926"/>
            <a:ext cx="1534394" cy="600164"/>
          </a:xfrm>
          <a:prstGeom prst="rect">
            <a:avLst/>
          </a:prstGeom>
          <a:noFill/>
        </p:spPr>
        <p:txBody>
          <a:bodyPr wrap="square" rtlCol="0">
            <a:spAutoFit/>
          </a:bodyPr>
          <a:lstStyle/>
          <a:p>
            <a:r>
              <a:rPr lang="en-GB" sz="1100" b="1" dirty="0"/>
              <a:t>3. </a:t>
            </a:r>
            <a:r>
              <a:rPr lang="en-GB" sz="1100" b="1" dirty="0" err="1"/>
              <a:t>TenancyID</a:t>
            </a:r>
            <a:r>
              <a:rPr lang="en-GB" sz="1100" b="1" dirty="0"/>
              <a:t> and </a:t>
            </a:r>
            <a:r>
              <a:rPr lang="en-GB" sz="1100" b="1" dirty="0" err="1"/>
              <a:t>ApplicantID</a:t>
            </a:r>
            <a:r>
              <a:rPr lang="en-GB" sz="1100" b="1" dirty="0"/>
              <a:t> returned to Salesforce</a:t>
            </a:r>
          </a:p>
        </p:txBody>
      </p:sp>
      <p:sp>
        <p:nvSpPr>
          <p:cNvPr id="36" name="Rectangle 35">
            <a:extLst>
              <a:ext uri="{FF2B5EF4-FFF2-40B4-BE49-F238E27FC236}">
                <a16:creationId xmlns:a16="http://schemas.microsoft.com/office/drawing/2014/main" id="{F0C1E8F1-B6D2-AC9A-8513-44444A03FB55}"/>
              </a:ext>
            </a:extLst>
          </p:cNvPr>
          <p:cNvSpPr/>
          <p:nvPr/>
        </p:nvSpPr>
        <p:spPr>
          <a:xfrm>
            <a:off x="3359215" y="6295839"/>
            <a:ext cx="220134" cy="841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TextBox 36">
            <a:extLst>
              <a:ext uri="{FF2B5EF4-FFF2-40B4-BE49-F238E27FC236}">
                <a16:creationId xmlns:a16="http://schemas.microsoft.com/office/drawing/2014/main" id="{EB6519AE-0073-9835-7A8A-335186E86795}"/>
              </a:ext>
            </a:extLst>
          </p:cNvPr>
          <p:cNvSpPr txBox="1"/>
          <p:nvPr/>
        </p:nvSpPr>
        <p:spPr>
          <a:xfrm>
            <a:off x="3657936" y="3203988"/>
            <a:ext cx="1895958" cy="430887"/>
          </a:xfrm>
          <a:prstGeom prst="rect">
            <a:avLst/>
          </a:prstGeom>
          <a:noFill/>
        </p:spPr>
        <p:txBody>
          <a:bodyPr wrap="square" rtlCol="0">
            <a:spAutoFit/>
          </a:bodyPr>
          <a:lstStyle/>
          <a:p>
            <a:r>
              <a:rPr lang="en-GB" sz="1100" b="1" dirty="0"/>
              <a:t>4. Additional applicants added to reference</a:t>
            </a:r>
          </a:p>
        </p:txBody>
      </p:sp>
      <p:cxnSp>
        <p:nvCxnSpPr>
          <p:cNvPr id="38" name="Straight Arrow Connector 37">
            <a:extLst>
              <a:ext uri="{FF2B5EF4-FFF2-40B4-BE49-F238E27FC236}">
                <a16:creationId xmlns:a16="http://schemas.microsoft.com/office/drawing/2014/main" id="{CB5C83F1-A296-972C-14E2-87F6D9AAD01D}"/>
              </a:ext>
            </a:extLst>
          </p:cNvPr>
          <p:cNvCxnSpPr>
            <a:cxnSpLocks/>
          </p:cNvCxnSpPr>
          <p:nvPr/>
        </p:nvCxnSpPr>
        <p:spPr>
          <a:xfrm>
            <a:off x="3651818" y="3636107"/>
            <a:ext cx="196131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39" name="Straight Arrow Connector 38">
            <a:extLst>
              <a:ext uri="{FF2B5EF4-FFF2-40B4-BE49-F238E27FC236}">
                <a16:creationId xmlns:a16="http://schemas.microsoft.com/office/drawing/2014/main" id="{2988964F-D7F5-3493-0D02-C82AC6EDC334}"/>
              </a:ext>
            </a:extLst>
          </p:cNvPr>
          <p:cNvCxnSpPr>
            <a:cxnSpLocks/>
          </p:cNvCxnSpPr>
          <p:nvPr/>
        </p:nvCxnSpPr>
        <p:spPr>
          <a:xfrm flipH="1">
            <a:off x="3666459" y="4031988"/>
            <a:ext cx="194667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43" name="TextBox 42">
            <a:extLst>
              <a:ext uri="{FF2B5EF4-FFF2-40B4-BE49-F238E27FC236}">
                <a16:creationId xmlns:a16="http://schemas.microsoft.com/office/drawing/2014/main" id="{AF0D9085-0BC7-1E2D-0D7E-5A02051399D0}"/>
              </a:ext>
            </a:extLst>
          </p:cNvPr>
          <p:cNvSpPr txBox="1"/>
          <p:nvPr/>
        </p:nvSpPr>
        <p:spPr>
          <a:xfrm>
            <a:off x="3689750" y="3653924"/>
            <a:ext cx="1895958" cy="430887"/>
          </a:xfrm>
          <a:prstGeom prst="rect">
            <a:avLst/>
          </a:prstGeom>
          <a:noFill/>
        </p:spPr>
        <p:txBody>
          <a:bodyPr wrap="square" rtlCol="0">
            <a:spAutoFit/>
          </a:bodyPr>
          <a:lstStyle/>
          <a:p>
            <a:r>
              <a:rPr lang="en-GB" sz="1100" b="1" dirty="0"/>
              <a:t>5. Applicant ID’s returned to Salesforce</a:t>
            </a:r>
          </a:p>
        </p:txBody>
      </p:sp>
      <p:sp>
        <p:nvSpPr>
          <p:cNvPr id="47" name="Rectangle 46">
            <a:extLst>
              <a:ext uri="{FF2B5EF4-FFF2-40B4-BE49-F238E27FC236}">
                <a16:creationId xmlns:a16="http://schemas.microsoft.com/office/drawing/2014/main" id="{589AB42D-FB67-1BB8-26C6-BFC9CE64BA6D}"/>
              </a:ext>
            </a:extLst>
          </p:cNvPr>
          <p:cNvSpPr/>
          <p:nvPr/>
        </p:nvSpPr>
        <p:spPr>
          <a:xfrm>
            <a:off x="1347867" y="3248709"/>
            <a:ext cx="199706" cy="2213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48" name="Straight Arrow Connector 47">
            <a:extLst>
              <a:ext uri="{FF2B5EF4-FFF2-40B4-BE49-F238E27FC236}">
                <a16:creationId xmlns:a16="http://schemas.microsoft.com/office/drawing/2014/main" id="{378F51D7-F01B-CF57-C379-536E1C6A3ACE}"/>
              </a:ext>
            </a:extLst>
          </p:cNvPr>
          <p:cNvCxnSpPr>
            <a:cxnSpLocks/>
            <a:stCxn id="18" idx="2"/>
            <a:endCxn id="47" idx="0"/>
          </p:cNvCxnSpPr>
          <p:nvPr/>
        </p:nvCxnSpPr>
        <p:spPr>
          <a:xfrm>
            <a:off x="1437507" y="2730238"/>
            <a:ext cx="10213" cy="518471"/>
          </a:xfrm>
          <a:prstGeom prst="straightConnector1">
            <a:avLst/>
          </a:prstGeom>
          <a:ln>
            <a:prstDash val="sysDash"/>
            <a:tailEnd type="triangle"/>
          </a:ln>
        </p:spPr>
        <p:style>
          <a:lnRef idx="3">
            <a:schemeClr val="accent3"/>
          </a:lnRef>
          <a:fillRef idx="0">
            <a:schemeClr val="accent3"/>
          </a:fillRef>
          <a:effectRef idx="2">
            <a:schemeClr val="accent3"/>
          </a:effectRef>
          <a:fontRef idx="minor">
            <a:schemeClr val="tx1"/>
          </a:fontRef>
        </p:style>
      </p:cxnSp>
      <p:sp>
        <p:nvSpPr>
          <p:cNvPr id="51" name="TextBox 50">
            <a:extLst>
              <a:ext uri="{FF2B5EF4-FFF2-40B4-BE49-F238E27FC236}">
                <a16:creationId xmlns:a16="http://schemas.microsoft.com/office/drawing/2014/main" id="{D98146C1-4B82-D8FA-D6C1-5C2102D110C6}"/>
              </a:ext>
            </a:extLst>
          </p:cNvPr>
          <p:cNvSpPr txBox="1"/>
          <p:nvPr/>
        </p:nvSpPr>
        <p:spPr>
          <a:xfrm>
            <a:off x="560176" y="2850974"/>
            <a:ext cx="863057" cy="276999"/>
          </a:xfrm>
          <a:prstGeom prst="rect">
            <a:avLst/>
          </a:prstGeom>
          <a:noFill/>
        </p:spPr>
        <p:txBody>
          <a:bodyPr wrap="none" rtlCol="0">
            <a:spAutoFit/>
          </a:bodyPr>
          <a:lstStyle/>
          <a:p>
            <a:r>
              <a:rPr lang="en-US" sz="1200" dirty="0"/>
              <a:t>Time delay</a:t>
            </a:r>
          </a:p>
        </p:txBody>
      </p:sp>
      <p:sp>
        <p:nvSpPr>
          <p:cNvPr id="54" name="Rectangle 53">
            <a:extLst>
              <a:ext uri="{FF2B5EF4-FFF2-40B4-BE49-F238E27FC236}">
                <a16:creationId xmlns:a16="http://schemas.microsoft.com/office/drawing/2014/main" id="{3137F939-60D7-11FE-7BDB-9D057E85CA17}"/>
              </a:ext>
            </a:extLst>
          </p:cNvPr>
          <p:cNvSpPr/>
          <p:nvPr/>
        </p:nvSpPr>
        <p:spPr>
          <a:xfrm>
            <a:off x="7503636" y="5553574"/>
            <a:ext cx="220134" cy="6648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55" name="Straight Arrow Connector 54">
            <a:extLst>
              <a:ext uri="{FF2B5EF4-FFF2-40B4-BE49-F238E27FC236}">
                <a16:creationId xmlns:a16="http://schemas.microsoft.com/office/drawing/2014/main" id="{41DC4AC9-DD88-C710-563D-AA3967DDA698}"/>
              </a:ext>
            </a:extLst>
          </p:cNvPr>
          <p:cNvCxnSpPr>
            <a:cxnSpLocks/>
            <a:endCxn id="54" idx="0"/>
          </p:cNvCxnSpPr>
          <p:nvPr/>
        </p:nvCxnSpPr>
        <p:spPr>
          <a:xfrm>
            <a:off x="7613703" y="5119509"/>
            <a:ext cx="0" cy="434065"/>
          </a:xfrm>
          <a:prstGeom prst="straightConnector1">
            <a:avLst/>
          </a:prstGeom>
          <a:ln>
            <a:prstDash val="sysDash"/>
            <a:tailEnd type="triangle"/>
          </a:ln>
        </p:spPr>
        <p:style>
          <a:lnRef idx="3">
            <a:schemeClr val="accent3"/>
          </a:lnRef>
          <a:fillRef idx="0">
            <a:schemeClr val="accent3"/>
          </a:fillRef>
          <a:effectRef idx="2">
            <a:schemeClr val="accent3"/>
          </a:effectRef>
          <a:fontRef idx="minor">
            <a:schemeClr val="tx1"/>
          </a:fontRef>
        </p:style>
      </p:cxnSp>
      <p:sp>
        <p:nvSpPr>
          <p:cNvPr id="57" name="TextBox 56">
            <a:extLst>
              <a:ext uri="{FF2B5EF4-FFF2-40B4-BE49-F238E27FC236}">
                <a16:creationId xmlns:a16="http://schemas.microsoft.com/office/drawing/2014/main" id="{FFC631EA-10CE-49AD-693E-29793683D8FC}"/>
              </a:ext>
            </a:extLst>
          </p:cNvPr>
          <p:cNvSpPr txBox="1"/>
          <p:nvPr/>
        </p:nvSpPr>
        <p:spPr>
          <a:xfrm>
            <a:off x="7746744" y="5105708"/>
            <a:ext cx="1664623" cy="461665"/>
          </a:xfrm>
          <a:prstGeom prst="rect">
            <a:avLst/>
          </a:prstGeom>
          <a:noFill/>
        </p:spPr>
        <p:txBody>
          <a:bodyPr wrap="none" rtlCol="0">
            <a:spAutoFit/>
          </a:bodyPr>
          <a:lstStyle/>
          <a:p>
            <a:r>
              <a:rPr lang="en-US" sz="1200" dirty="0"/>
              <a:t>11. Referencing process</a:t>
            </a:r>
          </a:p>
          <a:p>
            <a:r>
              <a:rPr lang="en-US" sz="1200" dirty="0"/>
              <a:t>In progress</a:t>
            </a:r>
          </a:p>
        </p:txBody>
      </p:sp>
      <p:pic>
        <p:nvPicPr>
          <p:cNvPr id="61" name="Graphic 60" descr="Laptop with solid fill">
            <a:extLst>
              <a:ext uri="{FF2B5EF4-FFF2-40B4-BE49-F238E27FC236}">
                <a16:creationId xmlns:a16="http://schemas.microsoft.com/office/drawing/2014/main" id="{CD7D5C30-8D58-387C-7C9E-2B61928C73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009926" y="6062714"/>
            <a:ext cx="771876" cy="771876"/>
          </a:xfrm>
          <a:prstGeom prst="rect">
            <a:avLst/>
          </a:prstGeom>
        </p:spPr>
      </p:pic>
      <p:cxnSp>
        <p:nvCxnSpPr>
          <p:cNvPr id="63" name="Straight Arrow Connector 62">
            <a:extLst>
              <a:ext uri="{FF2B5EF4-FFF2-40B4-BE49-F238E27FC236}">
                <a16:creationId xmlns:a16="http://schemas.microsoft.com/office/drawing/2014/main" id="{667DD318-4E85-22F3-E2A8-FAAEDCB2C6C4}"/>
              </a:ext>
            </a:extLst>
          </p:cNvPr>
          <p:cNvCxnSpPr>
            <a:cxnSpLocks/>
          </p:cNvCxnSpPr>
          <p:nvPr/>
        </p:nvCxnSpPr>
        <p:spPr>
          <a:xfrm flipH="1">
            <a:off x="3609212" y="6745647"/>
            <a:ext cx="587419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68" name="Straight Arrow Connector 67">
            <a:extLst>
              <a:ext uri="{FF2B5EF4-FFF2-40B4-BE49-F238E27FC236}">
                <a16:creationId xmlns:a16="http://schemas.microsoft.com/office/drawing/2014/main" id="{E13F69EE-2907-2D98-7E9B-DB8B48F85912}"/>
              </a:ext>
            </a:extLst>
          </p:cNvPr>
          <p:cNvCxnSpPr>
            <a:cxnSpLocks/>
          </p:cNvCxnSpPr>
          <p:nvPr/>
        </p:nvCxnSpPr>
        <p:spPr>
          <a:xfrm flipV="1">
            <a:off x="1516343" y="4471852"/>
            <a:ext cx="4467063" cy="50958"/>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0" name="TextBox 69">
            <a:extLst>
              <a:ext uri="{FF2B5EF4-FFF2-40B4-BE49-F238E27FC236}">
                <a16:creationId xmlns:a16="http://schemas.microsoft.com/office/drawing/2014/main" id="{829B7027-D599-1793-01E5-A8B8E82330D6}"/>
              </a:ext>
            </a:extLst>
          </p:cNvPr>
          <p:cNvSpPr txBox="1"/>
          <p:nvPr/>
        </p:nvSpPr>
        <p:spPr>
          <a:xfrm>
            <a:off x="1671067" y="3934121"/>
            <a:ext cx="1644624" cy="600164"/>
          </a:xfrm>
          <a:prstGeom prst="rect">
            <a:avLst/>
          </a:prstGeom>
          <a:noFill/>
        </p:spPr>
        <p:txBody>
          <a:bodyPr wrap="square" rtlCol="0">
            <a:spAutoFit/>
          </a:bodyPr>
          <a:lstStyle/>
          <a:p>
            <a:r>
              <a:rPr lang="en-GB" sz="1100" b="1" dirty="0">
                <a:solidFill>
                  <a:srgbClr val="FF0000"/>
                </a:solidFill>
              </a:rPr>
              <a:t>8. Query </a:t>
            </a:r>
            <a:r>
              <a:rPr lang="en-GB" sz="1100" b="1" dirty="0" err="1">
                <a:solidFill>
                  <a:srgbClr val="FF0000"/>
                </a:solidFill>
              </a:rPr>
              <a:t>jwt</a:t>
            </a:r>
            <a:r>
              <a:rPr lang="en-GB" sz="1100" b="1" dirty="0">
                <a:solidFill>
                  <a:srgbClr val="FF0000"/>
                </a:solidFill>
              </a:rPr>
              <a:t> with applicant secret and client id</a:t>
            </a:r>
          </a:p>
        </p:txBody>
      </p:sp>
      <p:cxnSp>
        <p:nvCxnSpPr>
          <p:cNvPr id="71" name="Straight Arrow Connector 70">
            <a:extLst>
              <a:ext uri="{FF2B5EF4-FFF2-40B4-BE49-F238E27FC236}">
                <a16:creationId xmlns:a16="http://schemas.microsoft.com/office/drawing/2014/main" id="{3517459E-E6F3-1524-1785-DC154D741577}"/>
              </a:ext>
            </a:extLst>
          </p:cNvPr>
          <p:cNvCxnSpPr>
            <a:cxnSpLocks/>
          </p:cNvCxnSpPr>
          <p:nvPr/>
        </p:nvCxnSpPr>
        <p:spPr>
          <a:xfrm flipH="1">
            <a:off x="1516343" y="4622911"/>
            <a:ext cx="4467063" cy="41999"/>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4" name="TextBox 73">
            <a:extLst>
              <a:ext uri="{FF2B5EF4-FFF2-40B4-BE49-F238E27FC236}">
                <a16:creationId xmlns:a16="http://schemas.microsoft.com/office/drawing/2014/main" id="{08C2910F-9693-D5BD-1307-1D15FCBD2E75}"/>
              </a:ext>
            </a:extLst>
          </p:cNvPr>
          <p:cNvSpPr txBox="1"/>
          <p:nvPr/>
        </p:nvSpPr>
        <p:spPr>
          <a:xfrm>
            <a:off x="1684637" y="4741988"/>
            <a:ext cx="1563525" cy="261610"/>
          </a:xfrm>
          <a:prstGeom prst="rect">
            <a:avLst/>
          </a:prstGeom>
          <a:noFill/>
        </p:spPr>
        <p:txBody>
          <a:bodyPr wrap="square" rtlCol="0">
            <a:spAutoFit/>
          </a:bodyPr>
          <a:lstStyle/>
          <a:p>
            <a:r>
              <a:rPr lang="en-GB" sz="1100" b="1" dirty="0">
                <a:solidFill>
                  <a:srgbClr val="FF0000"/>
                </a:solidFill>
              </a:rPr>
              <a:t>9</a:t>
            </a:r>
            <a:r>
              <a:rPr lang="en-GB" sz="1100" b="1" dirty="0"/>
              <a:t>.</a:t>
            </a:r>
            <a:r>
              <a:rPr lang="en-GB" sz="1100" b="1" dirty="0">
                <a:solidFill>
                  <a:srgbClr val="FF0000"/>
                </a:solidFill>
              </a:rPr>
              <a:t>Jwt Token return</a:t>
            </a:r>
          </a:p>
        </p:txBody>
      </p:sp>
      <p:sp>
        <p:nvSpPr>
          <p:cNvPr id="76" name="TextBox 75">
            <a:extLst>
              <a:ext uri="{FF2B5EF4-FFF2-40B4-BE49-F238E27FC236}">
                <a16:creationId xmlns:a16="http://schemas.microsoft.com/office/drawing/2014/main" id="{B109648D-FC70-4195-0D78-D06614F2CDCD}"/>
              </a:ext>
            </a:extLst>
          </p:cNvPr>
          <p:cNvSpPr txBox="1"/>
          <p:nvPr/>
        </p:nvSpPr>
        <p:spPr>
          <a:xfrm>
            <a:off x="4808711" y="6522329"/>
            <a:ext cx="3995165" cy="261610"/>
          </a:xfrm>
          <a:prstGeom prst="rect">
            <a:avLst/>
          </a:prstGeom>
          <a:noFill/>
        </p:spPr>
        <p:txBody>
          <a:bodyPr wrap="square" rtlCol="0">
            <a:spAutoFit/>
          </a:bodyPr>
          <a:lstStyle/>
          <a:p>
            <a:r>
              <a:rPr lang="en-GB" sz="1100" b="1" dirty="0" err="1"/>
              <a:t>Ii</a:t>
            </a:r>
            <a:r>
              <a:rPr lang="en-GB" sz="1100" b="1" dirty="0"/>
              <a:t>)SAML request sent to Salesforce Identity Provider</a:t>
            </a:r>
          </a:p>
        </p:txBody>
      </p:sp>
      <p:cxnSp>
        <p:nvCxnSpPr>
          <p:cNvPr id="77" name="Straight Arrow Connector 76">
            <a:extLst>
              <a:ext uri="{FF2B5EF4-FFF2-40B4-BE49-F238E27FC236}">
                <a16:creationId xmlns:a16="http://schemas.microsoft.com/office/drawing/2014/main" id="{4C01C136-6D7B-EC17-F99C-EAF1B0AF42C3}"/>
              </a:ext>
            </a:extLst>
          </p:cNvPr>
          <p:cNvCxnSpPr>
            <a:cxnSpLocks/>
          </p:cNvCxnSpPr>
          <p:nvPr/>
        </p:nvCxnSpPr>
        <p:spPr>
          <a:xfrm>
            <a:off x="3594571" y="7022216"/>
            <a:ext cx="588663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79" name="TextBox 78">
            <a:extLst>
              <a:ext uri="{FF2B5EF4-FFF2-40B4-BE49-F238E27FC236}">
                <a16:creationId xmlns:a16="http://schemas.microsoft.com/office/drawing/2014/main" id="{218F201B-7588-2B82-66FE-597748A20D14}"/>
              </a:ext>
            </a:extLst>
          </p:cNvPr>
          <p:cNvSpPr txBox="1"/>
          <p:nvPr/>
        </p:nvSpPr>
        <p:spPr>
          <a:xfrm>
            <a:off x="4781802" y="6800061"/>
            <a:ext cx="4551017" cy="261610"/>
          </a:xfrm>
          <a:prstGeom prst="rect">
            <a:avLst/>
          </a:prstGeom>
          <a:noFill/>
        </p:spPr>
        <p:txBody>
          <a:bodyPr wrap="square" rtlCol="0">
            <a:spAutoFit/>
          </a:bodyPr>
          <a:lstStyle/>
          <a:p>
            <a:r>
              <a:rPr lang="en-GB" sz="1100" b="1" dirty="0"/>
              <a:t>iii) SAML assertion sent to Vision+ Agent Portal to allow user access</a:t>
            </a:r>
          </a:p>
        </p:txBody>
      </p:sp>
      <p:sp>
        <p:nvSpPr>
          <p:cNvPr id="7" name="Rectangle 6">
            <a:extLst>
              <a:ext uri="{FF2B5EF4-FFF2-40B4-BE49-F238E27FC236}">
                <a16:creationId xmlns:a16="http://schemas.microsoft.com/office/drawing/2014/main" id="{6B41593D-D629-57B0-507D-CCFBC8579830}"/>
              </a:ext>
            </a:extLst>
          </p:cNvPr>
          <p:cNvSpPr/>
          <p:nvPr/>
        </p:nvSpPr>
        <p:spPr>
          <a:xfrm>
            <a:off x="5983406" y="3935223"/>
            <a:ext cx="1279520" cy="771455"/>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PIB Auth Server</a:t>
            </a:r>
          </a:p>
        </p:txBody>
      </p:sp>
      <p:cxnSp>
        <p:nvCxnSpPr>
          <p:cNvPr id="50" name="Straight Arrow Connector 49">
            <a:extLst>
              <a:ext uri="{FF2B5EF4-FFF2-40B4-BE49-F238E27FC236}">
                <a16:creationId xmlns:a16="http://schemas.microsoft.com/office/drawing/2014/main" id="{7E1D33CA-8FB4-7BCD-E5EB-7BF689F220AD}"/>
              </a:ext>
            </a:extLst>
          </p:cNvPr>
          <p:cNvCxnSpPr>
            <a:cxnSpLocks/>
          </p:cNvCxnSpPr>
          <p:nvPr/>
        </p:nvCxnSpPr>
        <p:spPr>
          <a:xfrm>
            <a:off x="1555131" y="3358399"/>
            <a:ext cx="1780139"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2" name="TextBox 51">
            <a:extLst>
              <a:ext uri="{FF2B5EF4-FFF2-40B4-BE49-F238E27FC236}">
                <a16:creationId xmlns:a16="http://schemas.microsoft.com/office/drawing/2014/main" id="{E1B6FCBA-DB2F-713F-FC32-8839CBABCD4F}"/>
              </a:ext>
            </a:extLst>
          </p:cNvPr>
          <p:cNvSpPr txBox="1"/>
          <p:nvPr/>
        </p:nvSpPr>
        <p:spPr>
          <a:xfrm>
            <a:off x="1607251" y="2961613"/>
            <a:ext cx="1534394" cy="430887"/>
          </a:xfrm>
          <a:prstGeom prst="rect">
            <a:avLst/>
          </a:prstGeom>
          <a:noFill/>
        </p:spPr>
        <p:txBody>
          <a:bodyPr wrap="square" rtlCol="0">
            <a:spAutoFit/>
          </a:bodyPr>
          <a:lstStyle/>
          <a:p>
            <a:r>
              <a:rPr lang="en-GB" sz="1100" b="1" dirty="0"/>
              <a:t>6. Query applicant ID + applicant secret</a:t>
            </a:r>
          </a:p>
        </p:txBody>
      </p:sp>
      <p:cxnSp>
        <p:nvCxnSpPr>
          <p:cNvPr id="53" name="Straight Arrow Connector 52">
            <a:extLst>
              <a:ext uri="{FF2B5EF4-FFF2-40B4-BE49-F238E27FC236}">
                <a16:creationId xmlns:a16="http://schemas.microsoft.com/office/drawing/2014/main" id="{21DF41E5-477C-13FB-6940-2F050E118085}"/>
              </a:ext>
            </a:extLst>
          </p:cNvPr>
          <p:cNvCxnSpPr>
            <a:cxnSpLocks/>
          </p:cNvCxnSpPr>
          <p:nvPr/>
        </p:nvCxnSpPr>
        <p:spPr>
          <a:xfrm flipH="1">
            <a:off x="1529145" y="3833456"/>
            <a:ext cx="1778658" cy="6729"/>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56" name="TextBox 55">
            <a:extLst>
              <a:ext uri="{FF2B5EF4-FFF2-40B4-BE49-F238E27FC236}">
                <a16:creationId xmlns:a16="http://schemas.microsoft.com/office/drawing/2014/main" id="{64DEB0FD-2A82-958A-08EA-89A604CB363E}"/>
              </a:ext>
            </a:extLst>
          </p:cNvPr>
          <p:cNvSpPr txBox="1"/>
          <p:nvPr/>
        </p:nvSpPr>
        <p:spPr>
          <a:xfrm>
            <a:off x="1590088" y="3413111"/>
            <a:ext cx="1752625" cy="430887"/>
          </a:xfrm>
          <a:prstGeom prst="rect">
            <a:avLst/>
          </a:prstGeom>
          <a:noFill/>
        </p:spPr>
        <p:txBody>
          <a:bodyPr wrap="square" rtlCol="0">
            <a:spAutoFit/>
          </a:bodyPr>
          <a:lstStyle/>
          <a:p>
            <a:r>
              <a:rPr lang="en-GB" sz="1100" b="1" dirty="0"/>
              <a:t>7. Applicant ID + applicant secret returned</a:t>
            </a:r>
          </a:p>
        </p:txBody>
      </p:sp>
    </p:spTree>
    <p:extLst>
      <p:ext uri="{BB962C8B-B14F-4D97-AF65-F5344CB8AC3E}">
        <p14:creationId xmlns:p14="http://schemas.microsoft.com/office/powerpoint/2010/main" val="2592356101"/>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1303"/>
            <a:ext cx="6888480" cy="461665"/>
          </a:xfrm>
          <a:prstGeom prst="rect">
            <a:avLst/>
          </a:prstGeom>
          <a:noFill/>
        </p:spPr>
        <p:txBody>
          <a:bodyPr wrap="square" rtlCol="0">
            <a:spAutoFit/>
          </a:bodyPr>
          <a:lstStyle/>
          <a:p>
            <a:r>
              <a:rPr lang="en-GB" sz="2400" b="1" dirty="0"/>
              <a:t>1. Reference instigated</a:t>
            </a:r>
          </a:p>
        </p:txBody>
      </p:sp>
      <p:graphicFrame>
        <p:nvGraphicFramePr>
          <p:cNvPr id="25" name="Table 24">
            <a:extLst>
              <a:ext uri="{FF2B5EF4-FFF2-40B4-BE49-F238E27FC236}">
                <a16:creationId xmlns:a16="http://schemas.microsoft.com/office/drawing/2014/main" id="{A4C66454-83F4-3E38-7EC6-F41FAB45FFC8}"/>
              </a:ext>
            </a:extLst>
          </p:cNvPr>
          <p:cNvGraphicFramePr>
            <a:graphicFrameLocks noGrp="1"/>
          </p:cNvGraphicFramePr>
          <p:nvPr>
            <p:extLst>
              <p:ext uri="{D42A27DB-BD31-4B8C-83A1-F6EECF244321}">
                <p14:modId xmlns:p14="http://schemas.microsoft.com/office/powerpoint/2010/main" val="3447945830"/>
              </p:ext>
            </p:extLst>
          </p:nvPr>
        </p:nvGraphicFramePr>
        <p:xfrm>
          <a:off x="215710" y="1411178"/>
          <a:ext cx="4470400" cy="3902963"/>
        </p:xfrm>
        <a:graphic>
          <a:graphicData uri="http://schemas.openxmlformats.org/drawingml/2006/table">
            <a:tbl>
              <a:tblPr>
                <a:tableStyleId>{5C22544A-7EE6-4342-B048-85BDC9FD1C3A}</a:tableStyleId>
              </a:tblPr>
              <a:tblGrid>
                <a:gridCol w="3251200">
                  <a:extLst>
                    <a:ext uri="{9D8B030D-6E8A-4147-A177-3AD203B41FA5}">
                      <a16:colId xmlns:a16="http://schemas.microsoft.com/office/drawing/2014/main" val="3509169429"/>
                    </a:ext>
                  </a:extLst>
                </a:gridCol>
                <a:gridCol w="1219200">
                  <a:extLst>
                    <a:ext uri="{9D8B030D-6E8A-4147-A177-3AD203B41FA5}">
                      <a16:colId xmlns:a16="http://schemas.microsoft.com/office/drawing/2014/main" val="3082326189"/>
                    </a:ext>
                  </a:extLst>
                </a:gridCol>
              </a:tblGrid>
              <a:tr h="111573">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892746207"/>
                  </a:ext>
                </a:extLst>
              </a:tr>
              <a:tr h="111573">
                <a:tc>
                  <a:txBody>
                    <a:bodyPr/>
                    <a:lstStyle/>
                    <a:p>
                      <a:pPr algn="l" fontAlgn="b"/>
                      <a:r>
                        <a:rPr lang="en-GB" sz="700" u="none" strike="noStrike">
                          <a:effectLst/>
                        </a:rPr>
                        <a:t>  "agentCode": "9999",</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agentCode</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121293903"/>
                  </a:ext>
                </a:extLst>
              </a:tr>
              <a:tr h="111573">
                <a:tc>
                  <a:txBody>
                    <a:bodyPr/>
                    <a:lstStyle/>
                    <a:p>
                      <a:pPr algn="l" fontAlgn="b"/>
                      <a:r>
                        <a:rPr lang="en-GB" sz="700" u="none" strike="noStrike">
                          <a:effectLst/>
                        </a:rPr>
                        <a:t>  "rentGuarantee":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rentGuarantee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43254747"/>
                  </a:ext>
                </a:extLst>
              </a:tr>
              <a:tr h="111573">
                <a:tc>
                  <a:txBody>
                    <a:bodyPr/>
                    <a:lstStyle/>
                    <a:p>
                      <a:pPr algn="l" fontAlgn="b"/>
                      <a:r>
                        <a:rPr lang="en-GB" sz="700" u="none" strike="noStrike">
                          <a:effectLst/>
                        </a:rPr>
                        <a:t>  "tenancyTermMonths": 12,</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tenancyTermMonths</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95092635"/>
                  </a:ext>
                </a:extLst>
              </a:tr>
              <a:tr h="111573">
                <a:tc>
                  <a:txBody>
                    <a:bodyPr/>
                    <a:lstStyle/>
                    <a:p>
                      <a:pPr algn="l" fontAlgn="b"/>
                      <a:r>
                        <a:rPr lang="en-GB" sz="700" u="none" strike="noStrike">
                          <a:effectLst/>
                        </a:rPr>
                        <a:t>  "monthlyRental": 2000,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monthlyRental</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259940693"/>
                  </a:ext>
                </a:extLst>
              </a:tr>
              <a:tr h="59143">
                <a:tc>
                  <a:txBody>
                    <a:bodyPr/>
                    <a:lstStyle/>
                    <a:p>
                      <a:pPr algn="l" fontAlgn="b"/>
                      <a:r>
                        <a:rPr lang="en-GB" sz="700" u="none" strike="noStrike">
                          <a:effectLst/>
                        </a:rPr>
                        <a:t>  "lettingType":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lettingType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003640339"/>
                  </a:ext>
                </a:extLst>
              </a:tr>
              <a:tr h="111573">
                <a:tc>
                  <a:txBody>
                    <a:bodyPr/>
                    <a:lstStyle/>
                    <a:p>
                      <a:pPr algn="l" fontAlgn="b"/>
                      <a:r>
                        <a:rPr lang="en-GB" sz="700" u="none" strike="noStrike">
                          <a:effectLst/>
                        </a:rPr>
                        <a:t>  "estimatedMoveInDate": "2023-04-01T10:55:02.383Z",</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estimatedMoveInDate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34121821"/>
                  </a:ext>
                </a:extLst>
              </a:tr>
              <a:tr h="85074">
                <a:tc>
                  <a:txBody>
                    <a:bodyPr/>
                    <a:lstStyle/>
                    <a:p>
                      <a:pPr algn="l" fontAlgn="b"/>
                      <a:r>
                        <a:rPr lang="en-GB" sz="700" u="none" strike="noStrike" dirty="0">
                          <a:effectLst/>
                        </a:rPr>
                        <a:t>  "</a:t>
                      </a:r>
                      <a:r>
                        <a:rPr lang="en-GB" sz="700" u="none" strike="noStrike" dirty="0" err="1">
                          <a:effectLst/>
                        </a:rPr>
                        <a:t>propertyType</a:t>
                      </a:r>
                      <a:r>
                        <a:rPr lang="en-GB" sz="700" u="none" strike="noStrike" dirty="0">
                          <a:effectLst/>
                        </a:rPr>
                        <a:t>": 1,</a:t>
                      </a:r>
                      <a:endParaRPr lang="en-GB" sz="700" b="0" i="0" u="none" strike="noStrike" dirty="0">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propertyType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693936013"/>
                  </a:ext>
                </a:extLst>
              </a:tr>
              <a:tr h="111573">
                <a:tc>
                  <a:txBody>
                    <a:bodyPr/>
                    <a:lstStyle/>
                    <a:p>
                      <a:pPr algn="l" fontAlgn="b"/>
                      <a:r>
                        <a:rPr lang="en-GB" sz="700" u="none" strike="noStrike">
                          <a:effectLst/>
                        </a:rPr>
                        <a:t>  "isAdvanceRent": false,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isAdvanceRent</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979922706"/>
                  </a:ext>
                </a:extLst>
              </a:tr>
              <a:tr h="111573">
                <a:tc>
                  <a:txBody>
                    <a:bodyPr/>
                    <a:lstStyle/>
                    <a:p>
                      <a:pPr algn="l" fontAlgn="b"/>
                      <a:r>
                        <a:rPr lang="en-GB" sz="700" u="none" strike="noStrike">
                          <a:effectLst/>
                        </a:rPr>
                        <a:t>  "propertyAddress":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99862955"/>
                  </a:ext>
                </a:extLst>
              </a:tr>
              <a:tr h="111573">
                <a:tc>
                  <a:txBody>
                    <a:bodyPr/>
                    <a:lstStyle/>
                    <a:p>
                      <a:pPr algn="l" fontAlgn="b"/>
                      <a:r>
                        <a:rPr lang="en-GB" sz="700" u="none" strike="noStrike">
                          <a:effectLst/>
                        </a:rPr>
                        <a:t>    "houseNumber": "65000",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houseNumber</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052553893"/>
                  </a:ext>
                </a:extLst>
              </a:tr>
              <a:tr h="111573">
                <a:tc>
                  <a:txBody>
                    <a:bodyPr/>
                    <a:lstStyle/>
                    <a:p>
                      <a:pPr algn="l" fontAlgn="b"/>
                      <a:r>
                        <a:rPr lang="en-GB" sz="700" u="none" strike="noStrike">
                          <a:effectLst/>
                        </a:rPr>
                        <a:t>    "houseName": "Oxford Street",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err="1">
                          <a:effectLst/>
                        </a:rPr>
                        <a:t>houseName</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155780326"/>
                  </a:ext>
                </a:extLst>
              </a:tr>
              <a:tr h="111573">
                <a:tc>
                  <a:txBody>
                    <a:bodyPr/>
                    <a:lstStyle/>
                    <a:p>
                      <a:pPr algn="l" fontAlgn="b"/>
                      <a:r>
                        <a:rPr lang="en-GB" sz="700" u="none" strike="noStrike">
                          <a:effectLst/>
                        </a:rPr>
                        <a:t>    "addressLine1": "Gadlys",</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addressLine1</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876428709"/>
                  </a:ext>
                </a:extLst>
              </a:tr>
              <a:tr h="111573">
                <a:tc>
                  <a:txBody>
                    <a:bodyPr/>
                    <a:lstStyle/>
                    <a:p>
                      <a:pPr algn="l" fontAlgn="b"/>
                      <a:r>
                        <a:rPr lang="en-GB" sz="700" u="none" strike="noStrike">
                          <a:effectLst/>
                        </a:rPr>
                        <a:t>    "addressLine2": "Parkway",</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addressLine2</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790465473"/>
                  </a:ext>
                </a:extLst>
              </a:tr>
              <a:tr h="111573">
                <a:tc>
                  <a:txBody>
                    <a:bodyPr/>
                    <a:lstStyle/>
                    <a:p>
                      <a:pPr algn="l" fontAlgn="b"/>
                      <a:r>
                        <a:rPr lang="en-GB" sz="700" u="none" strike="noStrike">
                          <a:effectLst/>
                        </a:rPr>
                        <a:t>    "town": "Aberdare",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town</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323630948"/>
                  </a:ext>
                </a:extLst>
              </a:tr>
              <a:tr h="111573">
                <a:tc>
                  <a:txBody>
                    <a:bodyPr/>
                    <a:lstStyle/>
                    <a:p>
                      <a:pPr algn="l" fontAlgn="b"/>
                      <a:r>
                        <a:rPr lang="en-GB" sz="700" u="none" strike="noStrike">
                          <a:effectLst/>
                        </a:rPr>
                        <a:t>    "postcode": "CF44 8BE",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postcode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853896795"/>
                  </a:ext>
                </a:extLst>
              </a:tr>
              <a:tr h="111573">
                <a:tc>
                  <a:txBody>
                    <a:bodyPr/>
                    <a:lstStyle/>
                    <a:p>
                      <a:pPr algn="l" fontAlgn="b"/>
                      <a:r>
                        <a:rPr lang="en-GB" sz="700" u="none" strike="noStrike">
                          <a:effectLst/>
                        </a:rPr>
                        <a:t>    "ukCountryCode": 3</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ukCountryCode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335047132"/>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84464445"/>
                  </a:ext>
                </a:extLst>
              </a:tr>
              <a:tr h="111573">
                <a:tc>
                  <a:txBody>
                    <a:bodyPr/>
                    <a:lstStyle/>
                    <a:p>
                      <a:pPr algn="l" fontAlgn="b"/>
                      <a:r>
                        <a:rPr lang="en-GB" sz="700" u="none" strike="noStrike">
                          <a:effectLst/>
                        </a:rPr>
                        <a:t>  "tenants":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119387764"/>
                  </a:ext>
                </a:extLst>
              </a:tr>
              <a:tr h="111573">
                <a:tc>
                  <a:txBody>
                    <a:bodyPr/>
                    <a:lstStyle/>
                    <a:p>
                      <a:pPr algn="l" fontAlgn="b"/>
                      <a:r>
                        <a:rPr lang="en-GB" sz="700" u="none" strike="noStrike" dirty="0">
                          <a:effectLst/>
                        </a:rPr>
                        <a:t>    {</a:t>
                      </a:r>
                      <a:endParaRPr lang="en-GB" sz="700" b="0" i="0" u="none" strike="noStrike" dirty="0">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2760993253"/>
                  </a:ext>
                </a:extLst>
              </a:tr>
              <a:tr h="111573">
                <a:tc>
                  <a:txBody>
                    <a:bodyPr/>
                    <a:lstStyle/>
                    <a:p>
                      <a:pPr algn="l" fontAlgn="b"/>
                      <a:r>
                        <a:rPr lang="en-GB" sz="700" u="none" strike="noStrike">
                          <a:effectLst/>
                        </a:rPr>
                        <a:t>      "tenantTypeId":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tenantTypeId</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006605777"/>
                  </a:ext>
                </a:extLst>
              </a:tr>
              <a:tr h="111573">
                <a:tc>
                  <a:txBody>
                    <a:bodyPr/>
                    <a:lstStyle/>
                    <a:p>
                      <a:pPr algn="l" fontAlgn="b"/>
                      <a:r>
                        <a:rPr lang="en-GB" sz="700" u="none" strike="noStrike">
                          <a:effectLst/>
                        </a:rPr>
                        <a:t>      "referenceType":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referenceType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989029494"/>
                  </a:ext>
                </a:extLst>
              </a:tr>
              <a:tr h="111573">
                <a:tc>
                  <a:txBody>
                    <a:bodyPr/>
                    <a:lstStyle/>
                    <a:p>
                      <a:pPr algn="l" fontAlgn="b"/>
                      <a:r>
                        <a:rPr lang="en-GB" sz="700" u="none" strike="noStrike">
                          <a:effectLst/>
                        </a:rPr>
                        <a:t>      "rightToRent": true,</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rightToRent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269793583"/>
                  </a:ext>
                </a:extLst>
              </a:tr>
              <a:tr h="111573">
                <a:tc>
                  <a:txBody>
                    <a:bodyPr/>
                    <a:lstStyle/>
                    <a:p>
                      <a:pPr algn="l" fontAlgn="b"/>
                      <a:r>
                        <a:rPr lang="en-GB" sz="700" u="none" strike="noStrike">
                          <a:effectLst/>
                        </a:rPr>
                        <a:t>      "title": 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title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797422067"/>
                  </a:ext>
                </a:extLst>
              </a:tr>
              <a:tr h="111573">
                <a:tc>
                  <a:txBody>
                    <a:bodyPr/>
                    <a:lstStyle/>
                    <a:p>
                      <a:pPr algn="l" fontAlgn="b"/>
                      <a:r>
                        <a:rPr lang="en-GB" sz="700" u="none" strike="noStrike">
                          <a:effectLst/>
                        </a:rPr>
                        <a:t>      "otherTitle":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otherTitle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40612202"/>
                  </a:ext>
                </a:extLst>
              </a:tr>
              <a:tr h="111573">
                <a:tc>
                  <a:txBody>
                    <a:bodyPr/>
                    <a:lstStyle/>
                    <a:p>
                      <a:pPr algn="l" fontAlgn="b"/>
                      <a:r>
                        <a:rPr lang="en-GB" sz="700" u="none" strike="noStrike">
                          <a:effectLst/>
                        </a:rPr>
                        <a:t>      "firstName": "Berty",</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firstName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60716893"/>
                  </a:ext>
                </a:extLst>
              </a:tr>
              <a:tr h="111573">
                <a:tc>
                  <a:txBody>
                    <a:bodyPr/>
                    <a:lstStyle/>
                    <a:p>
                      <a:pPr algn="l" fontAlgn="b"/>
                      <a:r>
                        <a:rPr lang="en-GB" sz="700" u="none" strike="noStrike">
                          <a:effectLst/>
                        </a:rPr>
                        <a:t>      "middleName": "Boo",</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middleName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752430834"/>
                  </a:ext>
                </a:extLst>
              </a:tr>
              <a:tr h="111573">
                <a:tc>
                  <a:txBody>
                    <a:bodyPr/>
                    <a:lstStyle/>
                    <a:p>
                      <a:pPr algn="l" fontAlgn="b"/>
                      <a:r>
                        <a:rPr lang="en-GB" sz="700" u="none" strike="noStrike">
                          <a:effectLst/>
                        </a:rPr>
                        <a:t>      "surname": "Basset",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surname</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952672339"/>
                  </a:ext>
                </a:extLst>
              </a:tr>
              <a:tr h="111573">
                <a:tc>
                  <a:txBody>
                    <a:bodyPr/>
                    <a:lstStyle/>
                    <a:p>
                      <a:pPr algn="l" fontAlgn="b"/>
                      <a:r>
                        <a:rPr lang="en-GB" sz="700" u="none" strike="noStrike">
                          <a:effectLst/>
                        </a:rPr>
                        <a:t>      "shareOfRent": 600,</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shareOfRent</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856555230"/>
                  </a:ext>
                </a:extLst>
              </a:tr>
              <a:tr h="111573">
                <a:tc>
                  <a:txBody>
                    <a:bodyPr/>
                    <a:lstStyle/>
                    <a:p>
                      <a:pPr algn="l" fontAlgn="b"/>
                      <a:r>
                        <a:rPr lang="en-GB" sz="700" u="none" strike="noStrike">
                          <a:effectLst/>
                        </a:rPr>
                        <a:t>      "telephoneCountryID": 2,</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telephoneCountryID</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287456809"/>
                  </a:ext>
                </a:extLst>
              </a:tr>
              <a:tr h="111573">
                <a:tc>
                  <a:txBody>
                    <a:bodyPr/>
                    <a:lstStyle/>
                    <a:p>
                      <a:pPr algn="l" fontAlgn="b"/>
                      <a:r>
                        <a:rPr lang="en-GB" sz="700" u="none" strike="noStrike">
                          <a:effectLst/>
                        </a:rPr>
                        <a:t>      "contactTelephoneNo": "01234567891",</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contactTelephoneNo</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525095773"/>
                  </a:ext>
                </a:extLst>
              </a:tr>
              <a:tr h="111573">
                <a:tc>
                  <a:txBody>
                    <a:bodyPr/>
                    <a:lstStyle/>
                    <a:p>
                      <a:pPr algn="l" fontAlgn="b"/>
                      <a:r>
                        <a:rPr lang="en-GB" sz="700" u="none" strike="noStrike">
                          <a:effectLst/>
                        </a:rPr>
                        <a:t>      "emailAddress": "test@testtesttest.test"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emailAddress</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523408226"/>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380483843"/>
                  </a:ext>
                </a:extLst>
              </a:tr>
              <a:tr h="111573">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a:effectLst/>
                        </a:rPr>
                        <a:t> </a:t>
                      </a:r>
                      <a:endParaRPr lang="en-GB" sz="700" b="0" i="0" u="none" strike="noStrike">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3270225133"/>
                  </a:ext>
                </a:extLst>
              </a:tr>
              <a:tr h="111573">
                <a:tc>
                  <a:txBody>
                    <a:bodyPr/>
                    <a:lstStyle/>
                    <a:p>
                      <a:pPr algn="l" fontAlgn="b"/>
                      <a:r>
                        <a:rPr lang="en-GB" sz="700" u="none" strike="noStrike">
                          <a:effectLst/>
                        </a:rPr>
                        <a:t>}</a:t>
                      </a:r>
                      <a:endParaRPr lang="en-GB" sz="700" b="0" i="0" u="none" strike="noStrike">
                        <a:solidFill>
                          <a:srgbClr val="000000"/>
                        </a:solidFill>
                        <a:effectLst/>
                        <a:latin typeface="Courier New" panose="02070309020205020404" pitchFamily="49" charset="0"/>
                      </a:endParaRPr>
                    </a:p>
                  </a:txBody>
                  <a:tcPr marL="3847" marR="3847" marT="3847" marB="0" anchor="b"/>
                </a:tc>
                <a:tc>
                  <a:txBody>
                    <a:bodyPr/>
                    <a:lstStyle/>
                    <a:p>
                      <a:pPr algn="l" fontAlgn="b"/>
                      <a:r>
                        <a:rPr lang="en-GB" sz="700" u="none" strike="noStrike" dirty="0">
                          <a:effectLst/>
                        </a:rPr>
                        <a:t> </a:t>
                      </a:r>
                      <a:endParaRPr lang="en-GB" sz="700" b="0" i="0" u="none" strike="noStrike" dirty="0">
                        <a:solidFill>
                          <a:srgbClr val="000000"/>
                        </a:solidFill>
                        <a:effectLst/>
                        <a:latin typeface="Calibri" panose="020F0502020204030204" pitchFamily="34" charset="0"/>
                      </a:endParaRPr>
                    </a:p>
                  </a:txBody>
                  <a:tcPr marL="3847" marR="3847" marT="3847" marB="0" anchor="b"/>
                </a:tc>
                <a:extLst>
                  <a:ext uri="{0D108BD9-81ED-4DB2-BD59-A6C34878D82A}">
                    <a16:rowId xmlns:a16="http://schemas.microsoft.com/office/drawing/2014/main" val="1908599463"/>
                  </a:ext>
                </a:extLst>
              </a:tr>
            </a:tbl>
          </a:graphicData>
        </a:graphic>
      </p:graphicFrame>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852615" y="362807"/>
            <a:ext cx="1160895" cy="215444"/>
          </a:xfrm>
          <a:prstGeom prst="rect">
            <a:avLst/>
          </a:prstGeom>
          <a:noFill/>
        </p:spPr>
        <p:txBody>
          <a:bodyPr wrap="none" rtlCol="0">
            <a:spAutoFit/>
          </a:bodyPr>
          <a:lstStyle/>
          <a:p>
            <a:r>
              <a:rPr lang="en-GB" sz="800" b="1" dirty="0"/>
              <a:t>1. Reference instigated</a:t>
            </a:r>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869115" y="630439"/>
            <a:ext cx="1248592"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TextBox 13">
            <a:extLst>
              <a:ext uri="{FF2B5EF4-FFF2-40B4-BE49-F238E27FC236}">
                <a16:creationId xmlns:a16="http://schemas.microsoft.com/office/drawing/2014/main" id="{ABAA3F78-F077-B026-55C4-E6649D06EF6D}"/>
              </a:ext>
            </a:extLst>
          </p:cNvPr>
          <p:cNvSpPr txBox="1"/>
          <p:nvPr/>
        </p:nvSpPr>
        <p:spPr>
          <a:xfrm>
            <a:off x="121920" y="978832"/>
            <a:ext cx="5110480" cy="369332"/>
          </a:xfrm>
          <a:prstGeom prst="rect">
            <a:avLst/>
          </a:prstGeom>
          <a:noFill/>
        </p:spPr>
        <p:txBody>
          <a:bodyPr wrap="square">
            <a:spAutoFit/>
          </a:bodyPr>
          <a:lstStyle/>
          <a:p>
            <a:r>
              <a:rPr lang="en-GB" dirty="0"/>
              <a:t> </a:t>
            </a:r>
            <a:r>
              <a:rPr lang="en-GB" b="1" dirty="0"/>
              <a:t>Request: </a:t>
            </a:r>
            <a:r>
              <a:rPr lang="en-GB" dirty="0" err="1"/>
              <a:t>CreateReferenceWithApplicantIframe</a:t>
            </a:r>
            <a:endParaRPr lang="en-GB" dirty="0"/>
          </a:p>
        </p:txBody>
      </p:sp>
      <p:sp>
        <p:nvSpPr>
          <p:cNvPr id="22" name="TextBox 21">
            <a:extLst>
              <a:ext uri="{FF2B5EF4-FFF2-40B4-BE49-F238E27FC236}">
                <a16:creationId xmlns:a16="http://schemas.microsoft.com/office/drawing/2014/main" id="{DE8E22F2-8976-E428-EB50-62587630E78D}"/>
              </a:ext>
            </a:extLst>
          </p:cNvPr>
          <p:cNvSpPr txBox="1"/>
          <p:nvPr/>
        </p:nvSpPr>
        <p:spPr>
          <a:xfrm>
            <a:off x="5329331" y="1990938"/>
            <a:ext cx="1156547" cy="369332"/>
          </a:xfrm>
          <a:prstGeom prst="rect">
            <a:avLst/>
          </a:prstGeom>
          <a:noFill/>
        </p:spPr>
        <p:txBody>
          <a:bodyPr wrap="square">
            <a:spAutoFit/>
          </a:bodyPr>
          <a:lstStyle/>
          <a:p>
            <a:r>
              <a:rPr lang="en-GB" b="1" dirty="0"/>
              <a:t> Response</a:t>
            </a:r>
          </a:p>
        </p:txBody>
      </p:sp>
      <p:graphicFrame>
        <p:nvGraphicFramePr>
          <p:cNvPr id="29" name="Table 28">
            <a:extLst>
              <a:ext uri="{FF2B5EF4-FFF2-40B4-BE49-F238E27FC236}">
                <a16:creationId xmlns:a16="http://schemas.microsoft.com/office/drawing/2014/main" id="{7466D611-F097-64CB-64B0-3ECC08D39784}"/>
              </a:ext>
            </a:extLst>
          </p:cNvPr>
          <p:cNvGraphicFramePr>
            <a:graphicFrameLocks noGrp="1"/>
          </p:cNvGraphicFramePr>
          <p:nvPr>
            <p:extLst>
              <p:ext uri="{D42A27DB-BD31-4B8C-83A1-F6EECF244321}">
                <p14:modId xmlns:p14="http://schemas.microsoft.com/office/powerpoint/2010/main" val="2195147799"/>
              </p:ext>
            </p:extLst>
          </p:nvPr>
        </p:nvGraphicFramePr>
        <p:xfrm>
          <a:off x="5410354" y="2360270"/>
          <a:ext cx="2325900" cy="2616902"/>
        </p:xfrm>
        <a:graphic>
          <a:graphicData uri="http://schemas.openxmlformats.org/drawingml/2006/table">
            <a:tbl>
              <a:tblPr>
                <a:tableStyleId>{5C22544A-7EE6-4342-B048-85BDC9FD1C3A}</a:tableStyleId>
              </a:tblPr>
              <a:tblGrid>
                <a:gridCol w="2325900">
                  <a:extLst>
                    <a:ext uri="{9D8B030D-6E8A-4147-A177-3AD203B41FA5}">
                      <a16:colId xmlns:a16="http://schemas.microsoft.com/office/drawing/2014/main" val="3385810108"/>
                    </a:ext>
                  </a:extLst>
                </a:gridCol>
              </a:tblGrid>
              <a:tr h="174060">
                <a:tc>
                  <a:txBody>
                    <a:bodyPr/>
                    <a:lstStyle/>
                    <a:p>
                      <a:pPr algn="l" fontAlgn="b"/>
                      <a:r>
                        <a:rPr lang="en-GB" sz="700" u="none" strike="noStrike" dirty="0">
                          <a:effectLst/>
                        </a:rPr>
                        <a:t>{</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425658088"/>
                  </a:ext>
                </a:extLst>
              </a:tr>
              <a:tr h="174060">
                <a:tc>
                  <a:txBody>
                    <a:bodyPr/>
                    <a:lstStyle/>
                    <a:p>
                      <a:pPr algn="l" fontAlgn="b"/>
                      <a:r>
                        <a:rPr lang="en-GB" sz="700" u="none" strike="noStrike">
                          <a:effectLst/>
                        </a:rPr>
                        <a:t>  "success": true,</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535148649"/>
                  </a:ext>
                </a:extLst>
              </a:tr>
              <a:tr h="174060">
                <a:tc>
                  <a:txBody>
                    <a:bodyPr/>
                    <a:lstStyle/>
                    <a:p>
                      <a:pPr algn="l" fontAlgn="b"/>
                      <a:r>
                        <a:rPr lang="en-GB" sz="700" u="none" strike="noStrike">
                          <a:effectLst/>
                        </a:rPr>
                        <a:t>  "payload":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857089492"/>
                  </a:ext>
                </a:extLst>
              </a:tr>
              <a:tr h="174060">
                <a:tc>
                  <a:txBody>
                    <a:bodyPr/>
                    <a:lstStyle/>
                    <a:p>
                      <a:pPr algn="l" fontAlgn="b"/>
                      <a:r>
                        <a:rPr lang="en-GB" sz="700" u="none" strike="noStrike" dirty="0">
                          <a:effectLst/>
                        </a:rPr>
                        <a:t>    "</a:t>
                      </a:r>
                      <a:r>
                        <a:rPr lang="en-GB" sz="700" u="none" strike="noStrike" dirty="0" err="1">
                          <a:effectLst/>
                        </a:rPr>
                        <a:t>agentCode</a:t>
                      </a:r>
                      <a:r>
                        <a:rPr lang="en-GB" sz="700" u="none" strike="noStrike" dirty="0">
                          <a:effectLst/>
                        </a:rPr>
                        <a:t>": "9999",</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706543517"/>
                  </a:ext>
                </a:extLst>
              </a:tr>
              <a:tr h="174060">
                <a:tc>
                  <a:txBody>
                    <a:bodyPr/>
                    <a:lstStyle/>
                    <a:p>
                      <a:pPr algn="l" fontAlgn="b"/>
                      <a:r>
                        <a:rPr lang="en-GB" sz="700" u="none" strike="noStrike" dirty="0">
                          <a:effectLst/>
                        </a:rPr>
                        <a:t>    "</a:t>
                      </a:r>
                      <a:r>
                        <a:rPr lang="en-GB" sz="700" u="none" strike="noStrike" dirty="0" err="1">
                          <a:effectLst/>
                        </a:rPr>
                        <a:t>propertyTenancyId</a:t>
                      </a:r>
                      <a:r>
                        <a:rPr lang="en-GB" sz="700" u="none" strike="noStrike" dirty="0">
                          <a:effectLst/>
                        </a:rPr>
                        <a:t>": 85670,</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12278021"/>
                  </a:ext>
                </a:extLst>
              </a:tr>
              <a:tr h="174060">
                <a:tc>
                  <a:txBody>
                    <a:bodyPr/>
                    <a:lstStyle/>
                    <a:p>
                      <a:pPr algn="l" fontAlgn="b"/>
                      <a:r>
                        <a:rPr lang="en-GB" sz="700" u="none" strike="noStrike" dirty="0">
                          <a:effectLst/>
                        </a:rPr>
                        <a:t>    "</a:t>
                      </a:r>
                      <a:r>
                        <a:rPr lang="en-GB" sz="700" u="none" strike="noStrike" dirty="0" err="1">
                          <a:effectLst/>
                        </a:rPr>
                        <a:t>ReferencingApplicantList</a:t>
                      </a:r>
                      <a:r>
                        <a:rPr lang="en-GB" sz="700" u="none" strike="noStrike" dirty="0">
                          <a:effectLst/>
                        </a:rPr>
                        <a:t>": [</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37582816"/>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3900002694"/>
                  </a:ext>
                </a:extLst>
              </a:tr>
              <a:tr h="174060">
                <a:tc>
                  <a:txBody>
                    <a:bodyPr/>
                    <a:lstStyle/>
                    <a:p>
                      <a:pPr algn="l" fontAlgn="b"/>
                      <a:r>
                        <a:rPr lang="en-GB" sz="700" u="none" strike="noStrike">
                          <a:effectLst/>
                        </a:rPr>
                        <a:t>        "applicantID": 678007,</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240618264"/>
                  </a:ext>
                </a:extLst>
              </a:tr>
              <a:tr h="174060">
                <a:tc>
                  <a:txBody>
                    <a:bodyPr/>
                    <a:lstStyle/>
                    <a:p>
                      <a:pPr algn="l" fontAlgn="b"/>
                      <a:r>
                        <a:rPr lang="en-GB" sz="700" u="none" strike="noStrike">
                          <a:effectLst/>
                        </a:rPr>
                        <a:t>        "applicantName": "Mr Berty Boo Basset"</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933189921"/>
                  </a:ext>
                </a:extLst>
              </a:tr>
              <a:tr h="180062">
                <a:tc>
                  <a:txBody>
                    <a:bodyPr/>
                    <a:lstStyle/>
                    <a:p>
                      <a:pPr algn="l" fontAlgn="b"/>
                      <a:r>
                        <a:rPr lang="en-GB" sz="700" u="none" strike="noStrike">
                          <a:effectLst/>
                        </a:rPr>
                        <a:t>        "applicantSecretKey: "0982109380193280918320918"</a:t>
                      </a:r>
                      <a:endParaRPr lang="en-GB" sz="700" b="1" i="0" u="none" strike="noStrike">
                        <a:solidFill>
                          <a:srgbClr val="FF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652864416"/>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806322730"/>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16632504"/>
                  </a:ext>
                </a:extLst>
              </a:tr>
              <a:tr h="174060">
                <a:tc>
                  <a:txBody>
                    <a:bodyPr/>
                    <a:lstStyle/>
                    <a:p>
                      <a:pPr algn="l" fontAlgn="b"/>
                      <a:r>
                        <a:rPr lang="en-GB" sz="700" u="none" strike="noStrike">
                          <a:effectLst/>
                        </a:rPr>
                        <a:t>  },</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993787114"/>
                  </a:ext>
                </a:extLst>
              </a:tr>
              <a:tr h="174060">
                <a:tc>
                  <a:txBody>
                    <a:bodyPr/>
                    <a:lstStyle/>
                    <a:p>
                      <a:pPr algn="l" fontAlgn="b"/>
                      <a:r>
                        <a:rPr lang="en-GB" sz="700" u="none" strike="noStrike">
                          <a:effectLst/>
                        </a:rPr>
                        <a:t>  "message": "Applicant link sent successfully."</a:t>
                      </a:r>
                      <a:endParaRPr lang="en-GB" sz="700" b="0" i="0" u="none" strike="noStrike">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595842982"/>
                  </a:ext>
                </a:extLst>
              </a:tr>
              <a:tr h="174060">
                <a:tc>
                  <a:txBody>
                    <a:bodyPr/>
                    <a:lstStyle/>
                    <a:p>
                      <a:pPr algn="l" fontAlgn="b"/>
                      <a:r>
                        <a:rPr lang="en-GB" sz="700" u="none" strike="noStrike" dirty="0">
                          <a:effectLst/>
                        </a:rPr>
                        <a:t>}</a:t>
                      </a:r>
                      <a:endParaRPr lang="en-GB" sz="700" b="0" i="0" u="none" strike="noStrike" dirty="0">
                        <a:solidFill>
                          <a:srgbClr val="000000"/>
                        </a:solidFill>
                        <a:effectLst/>
                        <a:latin typeface="Courier New" panose="02070309020205020404" pitchFamily="49" charset="0"/>
                      </a:endParaRPr>
                    </a:p>
                  </a:txBody>
                  <a:tcPr marL="6002" marR="6002" marT="6002" marB="0" anchor="b"/>
                </a:tc>
                <a:extLst>
                  <a:ext uri="{0D108BD9-81ED-4DB2-BD59-A6C34878D82A}">
                    <a16:rowId xmlns:a16="http://schemas.microsoft.com/office/drawing/2014/main" val="2404404658"/>
                  </a:ext>
                </a:extLst>
              </a:tr>
            </a:tbl>
          </a:graphicData>
        </a:graphic>
      </p:graphicFrame>
    </p:spTree>
    <p:extLst>
      <p:ext uri="{BB962C8B-B14F-4D97-AF65-F5344CB8AC3E}">
        <p14:creationId xmlns:p14="http://schemas.microsoft.com/office/powerpoint/2010/main" val="194916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6888480" cy="461665"/>
          </a:xfrm>
          <a:prstGeom prst="rect">
            <a:avLst/>
          </a:prstGeom>
          <a:noFill/>
        </p:spPr>
        <p:txBody>
          <a:bodyPr wrap="square" rtlCol="0">
            <a:spAutoFit/>
          </a:bodyPr>
          <a:lstStyle/>
          <a:p>
            <a:r>
              <a:rPr lang="en-GB" sz="2400" b="1" dirty="0"/>
              <a:t>1.a Additional Applicants added</a:t>
            </a:r>
          </a:p>
        </p:txBody>
      </p:sp>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5932225"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637800" y="379741"/>
            <a:ext cx="1540806" cy="215444"/>
          </a:xfrm>
          <a:prstGeom prst="rect">
            <a:avLst/>
          </a:prstGeom>
          <a:noFill/>
        </p:spPr>
        <p:txBody>
          <a:bodyPr wrap="none" rtlCol="0">
            <a:spAutoFit/>
          </a:bodyPr>
          <a:lstStyle/>
          <a:p>
            <a:r>
              <a:rPr lang="en-GB" sz="800" b="1" dirty="0"/>
              <a:t>1.a Additional Applicants added</a:t>
            </a:r>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698699" y="630439"/>
            <a:ext cx="14190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4" name="TextBox 13">
            <a:extLst>
              <a:ext uri="{FF2B5EF4-FFF2-40B4-BE49-F238E27FC236}">
                <a16:creationId xmlns:a16="http://schemas.microsoft.com/office/drawing/2014/main" id="{ABAA3F78-F077-B026-55C4-E6649D06EF6D}"/>
              </a:ext>
            </a:extLst>
          </p:cNvPr>
          <p:cNvSpPr txBox="1"/>
          <p:nvPr/>
        </p:nvSpPr>
        <p:spPr>
          <a:xfrm>
            <a:off x="121920" y="978832"/>
            <a:ext cx="5110480" cy="369332"/>
          </a:xfrm>
          <a:prstGeom prst="rect">
            <a:avLst/>
          </a:prstGeom>
          <a:noFill/>
        </p:spPr>
        <p:txBody>
          <a:bodyPr wrap="square">
            <a:spAutoFit/>
          </a:bodyPr>
          <a:lstStyle/>
          <a:p>
            <a:r>
              <a:rPr lang="en-GB" dirty="0"/>
              <a:t> </a:t>
            </a:r>
            <a:r>
              <a:rPr lang="en-GB" b="1" dirty="0"/>
              <a:t>Request: </a:t>
            </a:r>
            <a:r>
              <a:rPr lang="en-GB" dirty="0" err="1"/>
              <a:t>AddApplicantToTenancyWithIframe</a:t>
            </a:r>
            <a:endParaRPr lang="en-GB" dirty="0"/>
          </a:p>
        </p:txBody>
      </p:sp>
      <p:sp>
        <p:nvSpPr>
          <p:cNvPr id="22" name="TextBox 21">
            <a:extLst>
              <a:ext uri="{FF2B5EF4-FFF2-40B4-BE49-F238E27FC236}">
                <a16:creationId xmlns:a16="http://schemas.microsoft.com/office/drawing/2014/main" id="{DE8E22F2-8976-E428-EB50-62587630E78D}"/>
              </a:ext>
            </a:extLst>
          </p:cNvPr>
          <p:cNvSpPr txBox="1"/>
          <p:nvPr/>
        </p:nvSpPr>
        <p:spPr>
          <a:xfrm>
            <a:off x="5232400" y="1734135"/>
            <a:ext cx="1156547" cy="369332"/>
          </a:xfrm>
          <a:prstGeom prst="rect">
            <a:avLst/>
          </a:prstGeom>
          <a:noFill/>
        </p:spPr>
        <p:txBody>
          <a:bodyPr wrap="square">
            <a:spAutoFit/>
          </a:bodyPr>
          <a:lstStyle/>
          <a:p>
            <a:r>
              <a:rPr lang="en-GB" b="1" dirty="0"/>
              <a:t> Response</a:t>
            </a:r>
          </a:p>
        </p:txBody>
      </p:sp>
      <p:graphicFrame>
        <p:nvGraphicFramePr>
          <p:cNvPr id="2" name="Table 1">
            <a:extLst>
              <a:ext uri="{FF2B5EF4-FFF2-40B4-BE49-F238E27FC236}">
                <a16:creationId xmlns:a16="http://schemas.microsoft.com/office/drawing/2014/main" id="{5436AEDD-B3EC-66CE-4FCE-EBB965FA34A7}"/>
              </a:ext>
            </a:extLst>
          </p:cNvPr>
          <p:cNvGraphicFramePr>
            <a:graphicFrameLocks noGrp="1"/>
          </p:cNvGraphicFramePr>
          <p:nvPr>
            <p:extLst>
              <p:ext uri="{D42A27DB-BD31-4B8C-83A1-F6EECF244321}">
                <p14:modId xmlns:p14="http://schemas.microsoft.com/office/powerpoint/2010/main" val="2901398088"/>
              </p:ext>
            </p:extLst>
          </p:nvPr>
        </p:nvGraphicFramePr>
        <p:xfrm>
          <a:off x="622300" y="1562594"/>
          <a:ext cx="3949700" cy="3498850"/>
        </p:xfrm>
        <a:graphic>
          <a:graphicData uri="http://schemas.openxmlformats.org/drawingml/2006/table">
            <a:tbl>
              <a:tblPr>
                <a:tableStyleId>{5C22544A-7EE6-4342-B048-85BDC9FD1C3A}</a:tableStyleId>
              </a:tblPr>
              <a:tblGrid>
                <a:gridCol w="3949700">
                  <a:extLst>
                    <a:ext uri="{9D8B030D-6E8A-4147-A177-3AD203B41FA5}">
                      <a16:colId xmlns:a16="http://schemas.microsoft.com/office/drawing/2014/main" val="3683002648"/>
                    </a:ext>
                  </a:extLst>
                </a:gridCol>
              </a:tblGrid>
              <a:tr h="184150">
                <a:tc>
                  <a:txBody>
                    <a:bodyPr/>
                    <a:lstStyle/>
                    <a:p>
                      <a:pPr algn="l" fontAlgn="b"/>
                      <a:r>
                        <a:rPr lang="en-GB" sz="1100" u="none" strike="noStrike">
                          <a:effectLst/>
                        </a:rPr>
                        <a:t>{</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544559520"/>
                  </a:ext>
                </a:extLst>
              </a:tr>
              <a:tr h="184150">
                <a:tc>
                  <a:txBody>
                    <a:bodyPr/>
                    <a:lstStyle/>
                    <a:p>
                      <a:pPr algn="l" fontAlgn="b"/>
                      <a:r>
                        <a:rPr lang="en-GB" sz="1100" u="none" strike="noStrike">
                          <a:effectLst/>
                        </a:rPr>
                        <a:t>  "agentCode":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373837813"/>
                  </a:ext>
                </a:extLst>
              </a:tr>
              <a:tr h="184150">
                <a:tc>
                  <a:txBody>
                    <a:bodyPr/>
                    <a:lstStyle/>
                    <a:p>
                      <a:pPr algn="l" fontAlgn="b"/>
                      <a:r>
                        <a:rPr lang="en-GB" sz="1100" u="none" strike="noStrike">
                          <a:effectLst/>
                        </a:rPr>
                        <a:t>  "propertyTenancyId": 989898,</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090775249"/>
                  </a:ext>
                </a:extLst>
              </a:tr>
              <a:tr h="184150">
                <a:tc>
                  <a:txBody>
                    <a:bodyPr/>
                    <a:lstStyle/>
                    <a:p>
                      <a:pPr algn="l" fontAlgn="b"/>
                      <a:r>
                        <a:rPr lang="en-GB" sz="1100" u="none" strike="noStrike">
                          <a:effectLst/>
                        </a:rPr>
                        <a:t>  "isSentTenantLink": true,</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9165463"/>
                  </a:ext>
                </a:extLst>
              </a:tr>
              <a:tr h="184150">
                <a:tc>
                  <a:txBody>
                    <a:bodyPr/>
                    <a:lstStyle/>
                    <a:p>
                      <a:pPr algn="l" fontAlgn="b"/>
                      <a:r>
                        <a:rPr lang="en-GB" sz="1100" u="none" strike="noStrike" dirty="0">
                          <a:effectLst/>
                        </a:rPr>
                        <a:t>  "</a:t>
                      </a:r>
                      <a:r>
                        <a:rPr lang="en-GB" sz="1100" u="none" strike="noStrike" dirty="0" err="1">
                          <a:effectLst/>
                        </a:rPr>
                        <a:t>linkedApplicantID</a:t>
                      </a:r>
                      <a:r>
                        <a:rPr lang="en-GB" sz="1100" u="none" strike="noStrike" dirty="0">
                          <a:effectLst/>
                        </a:rPr>
                        <a:t>": [9999],</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363448068"/>
                  </a:ext>
                </a:extLst>
              </a:tr>
              <a:tr h="184150">
                <a:tc>
                  <a:txBody>
                    <a:bodyPr/>
                    <a:lstStyle/>
                    <a:p>
                      <a:pPr algn="l" fontAlgn="b"/>
                      <a:r>
                        <a:rPr lang="en-GB" sz="1100" u="none" strike="noStrike">
                          <a:effectLst/>
                        </a:rPr>
                        <a:t>      "tenantTypeId":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91959792"/>
                  </a:ext>
                </a:extLst>
              </a:tr>
              <a:tr h="184150">
                <a:tc>
                  <a:txBody>
                    <a:bodyPr/>
                    <a:lstStyle/>
                    <a:p>
                      <a:pPr algn="l" fontAlgn="b"/>
                      <a:r>
                        <a:rPr lang="en-GB" sz="1100" u="none" strike="noStrike" dirty="0">
                          <a:effectLst/>
                        </a:rPr>
                        <a:t>      "</a:t>
                      </a:r>
                      <a:r>
                        <a:rPr lang="en-GB" sz="1100" u="none" strike="noStrike" dirty="0" err="1">
                          <a:effectLst/>
                        </a:rPr>
                        <a:t>referenceType</a:t>
                      </a:r>
                      <a:r>
                        <a:rPr lang="en-GB" sz="1100" u="none" strike="noStrike" dirty="0">
                          <a:effectLst/>
                        </a:rPr>
                        <a:t>": 1,</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577889019"/>
                  </a:ext>
                </a:extLst>
              </a:tr>
              <a:tr h="184150">
                <a:tc>
                  <a:txBody>
                    <a:bodyPr/>
                    <a:lstStyle/>
                    <a:p>
                      <a:pPr algn="l" fontAlgn="b"/>
                      <a:r>
                        <a:rPr lang="en-GB" sz="1100" u="none" strike="noStrike">
                          <a:effectLst/>
                        </a:rPr>
                        <a:t>      "rightToRent": true,</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789300478"/>
                  </a:ext>
                </a:extLst>
              </a:tr>
              <a:tr h="184150">
                <a:tc>
                  <a:txBody>
                    <a:bodyPr/>
                    <a:lstStyle/>
                    <a:p>
                      <a:pPr algn="l" fontAlgn="b"/>
                      <a:r>
                        <a:rPr lang="en-GB" sz="1100" u="none" strike="noStrike">
                          <a:effectLst/>
                        </a:rPr>
                        <a:t>      "title":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568909646"/>
                  </a:ext>
                </a:extLst>
              </a:tr>
              <a:tr h="184150">
                <a:tc>
                  <a:txBody>
                    <a:bodyPr/>
                    <a:lstStyle/>
                    <a:p>
                      <a:pPr algn="l" fontAlgn="b"/>
                      <a:r>
                        <a:rPr lang="en-GB" sz="1100" u="none" strike="noStrike">
                          <a:effectLst/>
                        </a:rPr>
                        <a:t>      "otherTitle":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411511179"/>
                  </a:ext>
                </a:extLst>
              </a:tr>
              <a:tr h="184150">
                <a:tc>
                  <a:txBody>
                    <a:bodyPr/>
                    <a:lstStyle/>
                    <a:p>
                      <a:pPr algn="l" fontAlgn="b"/>
                      <a:r>
                        <a:rPr lang="en-GB" sz="1100" u="none" strike="noStrike">
                          <a:effectLst/>
                        </a:rPr>
                        <a:t>      "firstName":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504932301"/>
                  </a:ext>
                </a:extLst>
              </a:tr>
              <a:tr h="184150">
                <a:tc>
                  <a:txBody>
                    <a:bodyPr/>
                    <a:lstStyle/>
                    <a:p>
                      <a:pPr algn="l" fontAlgn="b"/>
                      <a:r>
                        <a:rPr lang="en-GB" sz="1100" u="none" strike="noStrike">
                          <a:effectLst/>
                        </a:rPr>
                        <a:t>      "middleName":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290255169"/>
                  </a:ext>
                </a:extLst>
              </a:tr>
              <a:tr h="184150">
                <a:tc>
                  <a:txBody>
                    <a:bodyPr/>
                    <a:lstStyle/>
                    <a:p>
                      <a:pPr algn="l" fontAlgn="b"/>
                      <a:r>
                        <a:rPr lang="en-GB" sz="1100" u="none" strike="noStrike">
                          <a:effectLst/>
                        </a:rPr>
                        <a:t>      "surname":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836008747"/>
                  </a:ext>
                </a:extLst>
              </a:tr>
              <a:tr h="184150">
                <a:tc>
                  <a:txBody>
                    <a:bodyPr/>
                    <a:lstStyle/>
                    <a:p>
                      <a:pPr algn="l" fontAlgn="b"/>
                      <a:r>
                        <a:rPr lang="en-GB" sz="1100" u="none" strike="noStrike" dirty="0">
                          <a:effectLst/>
                        </a:rPr>
                        <a:t>      "</a:t>
                      </a:r>
                      <a:r>
                        <a:rPr lang="en-GB" sz="1100" u="none" strike="noStrike" dirty="0" err="1">
                          <a:effectLst/>
                        </a:rPr>
                        <a:t>shareOfRent</a:t>
                      </a:r>
                      <a:r>
                        <a:rPr lang="en-GB" sz="1100" u="none" strike="noStrike" dirty="0">
                          <a:effectLst/>
                        </a:rPr>
                        <a:t>": 0,</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4118066154"/>
                  </a:ext>
                </a:extLst>
              </a:tr>
              <a:tr h="184150">
                <a:tc>
                  <a:txBody>
                    <a:bodyPr/>
                    <a:lstStyle/>
                    <a:p>
                      <a:pPr algn="l" fontAlgn="b"/>
                      <a:r>
                        <a:rPr lang="en-GB" sz="1100" u="none" strike="noStrike">
                          <a:effectLst/>
                        </a:rPr>
                        <a:t>      "telephoneCountryID": 1,</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4119586467"/>
                  </a:ext>
                </a:extLst>
              </a:tr>
              <a:tr h="184150">
                <a:tc>
                  <a:txBody>
                    <a:bodyPr/>
                    <a:lstStyle/>
                    <a:p>
                      <a:pPr algn="l" fontAlgn="b"/>
                      <a:r>
                        <a:rPr lang="en-GB" sz="1100" u="none" strike="noStrike">
                          <a:effectLst/>
                        </a:rPr>
                        <a:t>      "contactTelephoneNo": "string",</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014723389"/>
                  </a:ext>
                </a:extLst>
              </a:tr>
              <a:tr h="184150">
                <a:tc>
                  <a:txBody>
                    <a:bodyPr/>
                    <a:lstStyle/>
                    <a:p>
                      <a:pPr algn="l" fontAlgn="b"/>
                      <a:r>
                        <a:rPr lang="en-GB" sz="1100" u="none" strike="noStrike">
                          <a:effectLst/>
                        </a:rPr>
                        <a:t>      "emailAddress": "string"    </a:t>
                      </a:r>
                      <a:endParaRPr lang="en-GB" sz="11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59083488"/>
                  </a:ext>
                </a:extLst>
              </a:tr>
              <a:tr h="184150">
                <a:tc>
                  <a:txBody>
                    <a:bodyPr/>
                    <a:lstStyle/>
                    <a:p>
                      <a:pPr algn="l" fontAlgn="b"/>
                      <a:r>
                        <a:rPr lang="en-GB" sz="1100" u="none" strike="noStrike" dirty="0">
                          <a:effectLst/>
                        </a:rPr>
                        <a:t>     }</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203990641"/>
                  </a:ext>
                </a:extLst>
              </a:tr>
              <a:tr h="184150">
                <a:tc>
                  <a:txBody>
                    <a:bodyPr/>
                    <a:lstStyle/>
                    <a:p>
                      <a:pPr algn="l" fontAlgn="b"/>
                      <a:r>
                        <a:rPr lang="en-GB" sz="1100" u="none" strike="noStrike" dirty="0">
                          <a:effectLst/>
                        </a:rPr>
                        <a:t>}</a:t>
                      </a:r>
                      <a:endParaRPr lang="en-GB" sz="11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787319375"/>
                  </a:ext>
                </a:extLst>
              </a:tr>
            </a:tbl>
          </a:graphicData>
        </a:graphic>
      </p:graphicFrame>
      <p:graphicFrame>
        <p:nvGraphicFramePr>
          <p:cNvPr id="9" name="Table 8">
            <a:extLst>
              <a:ext uri="{FF2B5EF4-FFF2-40B4-BE49-F238E27FC236}">
                <a16:creationId xmlns:a16="http://schemas.microsoft.com/office/drawing/2014/main" id="{D817624A-6FBB-6715-205E-7028C96DE747}"/>
              </a:ext>
            </a:extLst>
          </p:cNvPr>
          <p:cNvGraphicFramePr>
            <a:graphicFrameLocks noGrp="1"/>
          </p:cNvGraphicFramePr>
          <p:nvPr>
            <p:extLst>
              <p:ext uri="{D42A27DB-BD31-4B8C-83A1-F6EECF244321}">
                <p14:modId xmlns:p14="http://schemas.microsoft.com/office/powerpoint/2010/main" val="521989089"/>
              </p:ext>
            </p:extLst>
          </p:nvPr>
        </p:nvGraphicFramePr>
        <p:xfrm>
          <a:off x="4877355" y="2111811"/>
          <a:ext cx="3396446" cy="2762250"/>
        </p:xfrm>
        <a:graphic>
          <a:graphicData uri="http://schemas.openxmlformats.org/drawingml/2006/table">
            <a:tbl>
              <a:tblPr>
                <a:tableStyleId>{5C22544A-7EE6-4342-B048-85BDC9FD1C3A}</a:tableStyleId>
              </a:tblPr>
              <a:tblGrid>
                <a:gridCol w="3396446">
                  <a:extLst>
                    <a:ext uri="{9D8B030D-6E8A-4147-A177-3AD203B41FA5}">
                      <a16:colId xmlns:a16="http://schemas.microsoft.com/office/drawing/2014/main" val="1169511394"/>
                    </a:ext>
                  </a:extLst>
                </a:gridCol>
              </a:tblGrid>
              <a:tr h="184150">
                <a:tc>
                  <a:txBody>
                    <a:bodyPr/>
                    <a:lstStyle/>
                    <a:p>
                      <a:pPr algn="l" fontAlgn="b"/>
                      <a:r>
                        <a:rPr lang="en-GB" sz="1000" u="none" strike="noStrike">
                          <a:effectLst/>
                        </a:rPr>
                        <a:t>{</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169939078"/>
                  </a:ext>
                </a:extLst>
              </a:tr>
              <a:tr h="184150">
                <a:tc>
                  <a:txBody>
                    <a:bodyPr/>
                    <a:lstStyle/>
                    <a:p>
                      <a:pPr algn="l" fontAlgn="b"/>
                      <a:r>
                        <a:rPr lang="en-GB" sz="1000" u="none" strike="noStrike">
                          <a:effectLst/>
                        </a:rPr>
                        <a:t>  "success": true,</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956194419"/>
                  </a:ext>
                </a:extLst>
              </a:tr>
              <a:tr h="184150">
                <a:tc>
                  <a:txBody>
                    <a:bodyPr/>
                    <a:lstStyle/>
                    <a:p>
                      <a:pPr algn="l" fontAlgn="b"/>
                      <a:r>
                        <a:rPr lang="en-GB" sz="1000" u="none" strike="noStrike">
                          <a:effectLst/>
                        </a:rPr>
                        <a:t>  "payload":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543920537"/>
                  </a:ext>
                </a:extLst>
              </a:tr>
              <a:tr h="184150">
                <a:tc>
                  <a:txBody>
                    <a:bodyPr/>
                    <a:lstStyle/>
                    <a:p>
                      <a:pPr algn="l" fontAlgn="b"/>
                      <a:r>
                        <a:rPr lang="en-GB" sz="1000" u="none" strike="noStrike">
                          <a:effectLst/>
                        </a:rPr>
                        <a:t>    "agentCode": "99999",</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55229881"/>
                  </a:ext>
                </a:extLst>
              </a:tr>
              <a:tr h="184150">
                <a:tc>
                  <a:txBody>
                    <a:bodyPr/>
                    <a:lstStyle/>
                    <a:p>
                      <a:pPr algn="l" fontAlgn="b"/>
                      <a:r>
                        <a:rPr lang="en-GB" sz="1000" u="none" strike="noStrike">
                          <a:effectLst/>
                        </a:rPr>
                        <a:t>    "propertyTenancyId": 87812,</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37506241"/>
                  </a:ext>
                </a:extLst>
              </a:tr>
              <a:tr h="184150">
                <a:tc>
                  <a:txBody>
                    <a:bodyPr/>
                    <a:lstStyle/>
                    <a:p>
                      <a:pPr algn="l" fontAlgn="b"/>
                      <a:r>
                        <a:rPr lang="en-GB" sz="1000" u="none" strike="noStrike">
                          <a:effectLst/>
                        </a:rPr>
                        <a:t>    "ReferencingApplicantList":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73032372"/>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831234743"/>
                  </a:ext>
                </a:extLst>
              </a:tr>
              <a:tr h="184150">
                <a:tc>
                  <a:txBody>
                    <a:bodyPr/>
                    <a:lstStyle/>
                    <a:p>
                      <a:pPr algn="l" fontAlgn="b"/>
                      <a:r>
                        <a:rPr lang="en-GB" sz="1000" u="none" strike="noStrike">
                          <a:effectLst/>
                        </a:rPr>
                        <a:t>        "applicantID": 679755,</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932764397"/>
                  </a:ext>
                </a:extLst>
              </a:tr>
              <a:tr h="184150">
                <a:tc>
                  <a:txBody>
                    <a:bodyPr/>
                    <a:lstStyle/>
                    <a:p>
                      <a:pPr algn="l" fontAlgn="b"/>
                      <a:r>
                        <a:rPr lang="en-GB" sz="1000" u="none" strike="noStrike">
                          <a:effectLst/>
                        </a:rPr>
                        <a:t>        "applicantName": "Mr Billy Bob"</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713469859"/>
                  </a:ext>
                </a:extLst>
              </a:tr>
              <a:tr h="184150">
                <a:tc>
                  <a:txBody>
                    <a:bodyPr/>
                    <a:lstStyle/>
                    <a:p>
                      <a:pPr algn="l" fontAlgn="b"/>
                      <a:r>
                        <a:rPr lang="en-GB" sz="1000" u="none" strike="noStrike" dirty="0">
                          <a:effectLst/>
                        </a:rPr>
                        <a:t>        "</a:t>
                      </a:r>
                      <a:r>
                        <a:rPr lang="en-GB" sz="1000" u="none" strike="noStrike" dirty="0" err="1">
                          <a:effectLst/>
                        </a:rPr>
                        <a:t>applicantSecretKey</a:t>
                      </a:r>
                      <a:r>
                        <a:rPr lang="en-GB" sz="1000" u="none" strike="noStrike" dirty="0">
                          <a:effectLst/>
                        </a:rPr>
                        <a:t>: "0982109380193280918320918"</a:t>
                      </a:r>
                      <a:endParaRPr lang="en-GB" sz="10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413593054"/>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1935289914"/>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328700952"/>
                  </a:ext>
                </a:extLst>
              </a:tr>
              <a:tr h="184150">
                <a:tc>
                  <a:txBody>
                    <a:bodyPr/>
                    <a:lstStyle/>
                    <a:p>
                      <a:pPr algn="l" fontAlgn="b"/>
                      <a:r>
                        <a:rPr lang="en-GB" sz="1000" u="none" strike="noStrike">
                          <a:effectLst/>
                        </a:rPr>
                        <a:t>  },</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51064618"/>
                  </a:ext>
                </a:extLst>
              </a:tr>
              <a:tr h="184150">
                <a:tc>
                  <a:txBody>
                    <a:bodyPr/>
                    <a:lstStyle/>
                    <a:p>
                      <a:pPr algn="l" fontAlgn="b"/>
                      <a:r>
                        <a:rPr lang="en-GB" sz="1000" u="none" strike="noStrike">
                          <a:effectLst/>
                        </a:rPr>
                        <a:t>  "message": "Applicant link sent successfully."</a:t>
                      </a:r>
                      <a:endParaRPr lang="en-GB" sz="1000" b="0" i="0" u="none" strike="noStrike">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388661294"/>
                  </a:ext>
                </a:extLst>
              </a:tr>
              <a:tr h="184150">
                <a:tc>
                  <a:txBody>
                    <a:bodyPr/>
                    <a:lstStyle/>
                    <a:p>
                      <a:pPr algn="l" fontAlgn="b"/>
                      <a:r>
                        <a:rPr lang="en-GB" sz="1000" u="none" strike="noStrike" dirty="0">
                          <a:effectLst/>
                        </a:rPr>
                        <a:t>}</a:t>
                      </a:r>
                      <a:endParaRPr lang="en-GB" sz="1000" b="0" i="0" u="none" strike="noStrike" dirty="0">
                        <a:solidFill>
                          <a:srgbClr val="000000"/>
                        </a:solidFill>
                        <a:effectLst/>
                        <a:latin typeface="Courier New" panose="02070309020205020404" pitchFamily="49" charset="0"/>
                      </a:endParaRPr>
                    </a:p>
                  </a:txBody>
                  <a:tcPr marL="6350" marR="6350" marT="6350" marB="0" anchor="b"/>
                </a:tc>
                <a:extLst>
                  <a:ext uri="{0D108BD9-81ED-4DB2-BD59-A6C34878D82A}">
                    <a16:rowId xmlns:a16="http://schemas.microsoft.com/office/drawing/2014/main" val="2100067920"/>
                  </a:ext>
                </a:extLst>
              </a:tr>
            </a:tbl>
          </a:graphicData>
        </a:graphic>
      </p:graphicFrame>
      <p:pic>
        <p:nvPicPr>
          <p:cNvPr id="3" name="Picture 2">
            <a:extLst>
              <a:ext uri="{FF2B5EF4-FFF2-40B4-BE49-F238E27FC236}">
                <a16:creationId xmlns:a16="http://schemas.microsoft.com/office/drawing/2014/main" id="{D212C492-4C3E-E324-BACA-106CBA1BE427}"/>
              </a:ext>
            </a:extLst>
          </p:cNvPr>
          <p:cNvPicPr>
            <a:picLocks noChangeAspect="1"/>
          </p:cNvPicPr>
          <p:nvPr/>
        </p:nvPicPr>
        <p:blipFill>
          <a:blip r:embed="rId4"/>
          <a:stretch>
            <a:fillRect/>
          </a:stretch>
        </p:blipFill>
        <p:spPr>
          <a:xfrm>
            <a:off x="1001485" y="5275874"/>
            <a:ext cx="7425622" cy="3741024"/>
          </a:xfrm>
          <a:prstGeom prst="rect">
            <a:avLst/>
          </a:prstGeom>
        </p:spPr>
      </p:pic>
    </p:spTree>
    <p:extLst>
      <p:ext uri="{BB962C8B-B14F-4D97-AF65-F5344CB8AC3E}">
        <p14:creationId xmlns:p14="http://schemas.microsoft.com/office/powerpoint/2010/main" val="299705630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1303"/>
            <a:ext cx="6888480" cy="461665"/>
          </a:xfrm>
          <a:prstGeom prst="rect">
            <a:avLst/>
          </a:prstGeom>
          <a:noFill/>
        </p:spPr>
        <p:txBody>
          <a:bodyPr wrap="square" rtlCol="0">
            <a:spAutoFit/>
          </a:bodyPr>
          <a:lstStyle/>
          <a:p>
            <a:r>
              <a:rPr lang="en-GB" sz="2400" b="1" dirty="0"/>
              <a:t>2. Applicant(s) access portal via </a:t>
            </a:r>
            <a:r>
              <a:rPr lang="en-GB" sz="2400" b="1" dirty="0" err="1"/>
              <a:t>iframe</a:t>
            </a:r>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117707" y="352287"/>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Portal</a:t>
            </a:r>
          </a:p>
        </p:txBody>
      </p:sp>
      <p:sp>
        <p:nvSpPr>
          <p:cNvPr id="7" name="Rectangle 6">
            <a:extLst>
              <a:ext uri="{FF2B5EF4-FFF2-40B4-BE49-F238E27FC236}">
                <a16:creationId xmlns:a16="http://schemas.microsoft.com/office/drawing/2014/main" id="{A6BE94CC-7C1A-58AE-4B18-13975E4EDF75}"/>
              </a:ext>
            </a:extLst>
          </p:cNvPr>
          <p:cNvSpPr/>
          <p:nvPr/>
        </p:nvSpPr>
        <p:spPr>
          <a:xfrm>
            <a:off x="5932225" y="352286"/>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840904" y="305634"/>
            <a:ext cx="1236200" cy="338554"/>
          </a:xfrm>
          <a:prstGeom prst="rect">
            <a:avLst/>
          </a:prstGeom>
          <a:noFill/>
        </p:spPr>
        <p:txBody>
          <a:bodyPr wrap="square" rtlCol="0">
            <a:spAutoFit/>
          </a:bodyPr>
          <a:lstStyle/>
          <a:p>
            <a:r>
              <a:rPr lang="en-GB" sz="800" b="1" dirty="0"/>
              <a:t>2. Applicant(s) access portal via </a:t>
            </a:r>
            <a:r>
              <a:rPr lang="en-GB" sz="800" b="1" dirty="0" err="1"/>
              <a:t>iframe</a:t>
            </a:r>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a:off x="6698699" y="630439"/>
            <a:ext cx="1419008"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3" name="Rectangle 2">
            <a:extLst>
              <a:ext uri="{FF2B5EF4-FFF2-40B4-BE49-F238E27FC236}">
                <a16:creationId xmlns:a16="http://schemas.microsoft.com/office/drawing/2014/main" id="{6285BAF2-87D9-479C-8140-C37E40853E95}"/>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2CE86A43-BA2C-927B-EF10-3764FD549CC5}"/>
              </a:ext>
            </a:extLst>
          </p:cNvPr>
          <p:cNvSpPr txBox="1"/>
          <p:nvPr/>
        </p:nvSpPr>
        <p:spPr>
          <a:xfrm>
            <a:off x="792480" y="990720"/>
            <a:ext cx="6888480" cy="1107996"/>
          </a:xfrm>
          <a:prstGeom prst="rect">
            <a:avLst/>
          </a:prstGeom>
          <a:noFill/>
        </p:spPr>
        <p:txBody>
          <a:bodyPr wrap="square" rtlCol="0">
            <a:spAutoFit/>
          </a:bodyPr>
          <a:lstStyle/>
          <a:p>
            <a:r>
              <a:rPr lang="en-GB" sz="1100" dirty="0"/>
              <a:t>Vision+ API called from Grainger Salesforce to create tenancy with input from applicant</a:t>
            </a:r>
          </a:p>
          <a:p>
            <a:endParaRPr lang="en-GB" sz="1100" dirty="0"/>
          </a:p>
          <a:p>
            <a:r>
              <a:rPr lang="en-GB" sz="1100" dirty="0"/>
              <a:t>Or </a:t>
            </a:r>
          </a:p>
          <a:p>
            <a:endParaRPr lang="en-GB" sz="1100" dirty="0"/>
          </a:p>
          <a:p>
            <a:r>
              <a:rPr lang="en-GB" sz="1100" dirty="0"/>
              <a:t>Vision+ API called from Grainger Salesforce to add applicant to tenancy with input from applicant</a:t>
            </a:r>
          </a:p>
          <a:p>
            <a:pPr lvl="1"/>
            <a:endParaRPr lang="en-GB" sz="1100" dirty="0"/>
          </a:p>
        </p:txBody>
      </p:sp>
      <p:sp>
        <p:nvSpPr>
          <p:cNvPr id="9" name="TextBox 8">
            <a:extLst>
              <a:ext uri="{FF2B5EF4-FFF2-40B4-BE49-F238E27FC236}">
                <a16:creationId xmlns:a16="http://schemas.microsoft.com/office/drawing/2014/main" id="{5D54F846-FF00-7C44-C728-ADF2CD0C4389}"/>
              </a:ext>
            </a:extLst>
          </p:cNvPr>
          <p:cNvSpPr txBox="1"/>
          <p:nvPr/>
        </p:nvSpPr>
        <p:spPr>
          <a:xfrm>
            <a:off x="792480" y="2343016"/>
            <a:ext cx="6583680" cy="592470"/>
          </a:xfrm>
          <a:prstGeom prst="rect">
            <a:avLst/>
          </a:prstGeom>
          <a:noFill/>
        </p:spPr>
        <p:txBody>
          <a:bodyPr wrap="square" rtlCol="0">
            <a:spAutoFit/>
          </a:bodyPr>
          <a:lstStyle/>
          <a:p>
            <a:r>
              <a:rPr lang="en-GB" sz="1100" dirty="0"/>
              <a:t>Vision+ API responds with </a:t>
            </a:r>
            <a:r>
              <a:rPr lang="en-GB" sz="1100" b="1" dirty="0">
                <a:solidFill>
                  <a:schemeClr val="tx2">
                    <a:lumMod val="75000"/>
                  </a:schemeClr>
                </a:solidFill>
              </a:rPr>
              <a:t>Applicant Secret Key</a:t>
            </a:r>
            <a:r>
              <a:rPr lang="en-GB" sz="1100" dirty="0"/>
              <a:t>, </a:t>
            </a:r>
            <a:r>
              <a:rPr lang="en-GB" sz="1100" b="1" dirty="0" err="1">
                <a:solidFill>
                  <a:schemeClr val="tx2"/>
                </a:solidFill>
              </a:rPr>
              <a:t>PropertyTenancyId</a:t>
            </a:r>
            <a:r>
              <a:rPr lang="en-GB" sz="1100" dirty="0"/>
              <a:t> &amp; </a:t>
            </a:r>
            <a:r>
              <a:rPr lang="en-GB" sz="1100" b="1" dirty="0" err="1">
                <a:solidFill>
                  <a:schemeClr val="tx2"/>
                </a:solidFill>
              </a:rPr>
              <a:t>ApplicantID</a:t>
            </a:r>
            <a:r>
              <a:rPr lang="en-GB" sz="1100" b="1" dirty="0">
                <a:solidFill>
                  <a:schemeClr val="tx2"/>
                </a:solidFill>
              </a:rPr>
              <a:t>, </a:t>
            </a:r>
            <a:r>
              <a:rPr lang="en-GB" sz="1100" dirty="0"/>
              <a:t>stored in salesforce.</a:t>
            </a:r>
            <a:r>
              <a:rPr lang="en-GB" sz="1100" b="1" dirty="0">
                <a:solidFill>
                  <a:schemeClr val="tx2"/>
                </a:solidFill>
              </a:rPr>
              <a:t> </a:t>
            </a:r>
            <a:r>
              <a:rPr lang="en-GB" sz="1100" dirty="0"/>
              <a:t>Agent setting in Vision+ supresses email send</a:t>
            </a:r>
          </a:p>
          <a:p>
            <a:pPr lvl="1"/>
            <a:endParaRPr lang="en-GB" sz="1050" dirty="0"/>
          </a:p>
        </p:txBody>
      </p:sp>
      <p:sp>
        <p:nvSpPr>
          <p:cNvPr id="11" name="TextBox 10">
            <a:extLst>
              <a:ext uri="{FF2B5EF4-FFF2-40B4-BE49-F238E27FC236}">
                <a16:creationId xmlns:a16="http://schemas.microsoft.com/office/drawing/2014/main" id="{9A32F80F-EFCB-84D0-953A-954AE495DD24}"/>
              </a:ext>
            </a:extLst>
          </p:cNvPr>
          <p:cNvSpPr txBox="1"/>
          <p:nvPr/>
        </p:nvSpPr>
        <p:spPr>
          <a:xfrm>
            <a:off x="673771" y="2945864"/>
            <a:ext cx="6690985" cy="600164"/>
          </a:xfrm>
          <a:prstGeom prst="rect">
            <a:avLst/>
          </a:prstGeom>
          <a:noFill/>
        </p:spPr>
        <p:txBody>
          <a:bodyPr wrap="square" rtlCol="0">
            <a:spAutoFit/>
          </a:bodyPr>
          <a:lstStyle/>
          <a:p>
            <a:r>
              <a:rPr lang="en-GB" sz="1100" dirty="0">
                <a:solidFill>
                  <a:srgbClr val="FF0000"/>
                </a:solidFill>
              </a:rPr>
              <a:t>Grainger Portal (Codification) will call </a:t>
            </a:r>
            <a:r>
              <a:rPr lang="en-GB" sz="1100" dirty="0" err="1">
                <a:solidFill>
                  <a:srgbClr val="FF0000"/>
                </a:solidFill>
              </a:rPr>
              <a:t>pib</a:t>
            </a:r>
            <a:r>
              <a:rPr lang="en-GB" sz="1100" dirty="0">
                <a:solidFill>
                  <a:srgbClr val="FF0000"/>
                </a:solidFill>
              </a:rPr>
              <a:t> auth server to generate token with client id and application secret key. </a:t>
            </a:r>
          </a:p>
          <a:p>
            <a:r>
              <a:rPr lang="en-IN" sz="1100" dirty="0">
                <a:solidFill>
                  <a:srgbClr val="FF0000"/>
                </a:solidFill>
              </a:rPr>
              <a:t>(</a:t>
            </a:r>
            <a:r>
              <a:rPr lang="en-GB" sz="1100" b="1" u="sng" dirty="0">
                <a:solidFill>
                  <a:srgbClr val="FF0000"/>
                </a:solidFill>
                <a:effectLst/>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https://preprod-auth-service.letalliance.dev</a:t>
            </a:r>
            <a:r>
              <a:rPr lang="en-IN" sz="1100" dirty="0">
                <a:solidFill>
                  <a:srgbClr val="FF0000"/>
                </a:solidFill>
              </a:rPr>
              <a:t>)</a:t>
            </a:r>
            <a:endParaRPr lang="en-GB" sz="1100" b="1" dirty="0">
              <a:solidFill>
                <a:srgbClr val="FF0000"/>
              </a:solidFill>
            </a:endParaRPr>
          </a:p>
          <a:p>
            <a:endParaRPr lang="en-GB" sz="1100" b="1" dirty="0"/>
          </a:p>
        </p:txBody>
      </p:sp>
      <p:sp>
        <p:nvSpPr>
          <p:cNvPr id="16" name="TextBox 15">
            <a:extLst>
              <a:ext uri="{FF2B5EF4-FFF2-40B4-BE49-F238E27FC236}">
                <a16:creationId xmlns:a16="http://schemas.microsoft.com/office/drawing/2014/main" id="{8043603B-7ECD-746D-5CF9-EBE5B9767298}"/>
              </a:ext>
            </a:extLst>
          </p:cNvPr>
          <p:cNvSpPr txBox="1"/>
          <p:nvPr/>
        </p:nvSpPr>
        <p:spPr>
          <a:xfrm>
            <a:off x="792479" y="4485713"/>
            <a:ext cx="6971453" cy="423193"/>
          </a:xfrm>
          <a:prstGeom prst="rect">
            <a:avLst/>
          </a:prstGeom>
          <a:noFill/>
        </p:spPr>
        <p:txBody>
          <a:bodyPr wrap="square" rtlCol="0">
            <a:spAutoFit/>
          </a:bodyPr>
          <a:lstStyle/>
          <a:p>
            <a:r>
              <a:rPr lang="en-GB" sz="1100" dirty="0">
                <a:solidFill>
                  <a:srgbClr val="FF0000"/>
                </a:solidFill>
              </a:rPr>
              <a:t>Vision+ will use the token and extract user data with client id as Grainger.</a:t>
            </a:r>
            <a:endParaRPr lang="en-GB" sz="1100" b="1" dirty="0">
              <a:solidFill>
                <a:srgbClr val="FF0000"/>
              </a:solidFill>
            </a:endParaRPr>
          </a:p>
          <a:p>
            <a:pPr lvl="1"/>
            <a:endParaRPr lang="en-GB" sz="1050" dirty="0"/>
          </a:p>
        </p:txBody>
      </p:sp>
      <p:sp>
        <p:nvSpPr>
          <p:cNvPr id="17" name="TextBox 16">
            <a:extLst>
              <a:ext uri="{FF2B5EF4-FFF2-40B4-BE49-F238E27FC236}">
                <a16:creationId xmlns:a16="http://schemas.microsoft.com/office/drawing/2014/main" id="{340C628A-2E1D-4362-4CED-3B071693297C}"/>
              </a:ext>
            </a:extLst>
          </p:cNvPr>
          <p:cNvSpPr txBox="1"/>
          <p:nvPr/>
        </p:nvSpPr>
        <p:spPr>
          <a:xfrm>
            <a:off x="268615" y="348883"/>
            <a:ext cx="416560" cy="4801314"/>
          </a:xfrm>
          <a:prstGeom prst="rect">
            <a:avLst/>
          </a:prstGeom>
          <a:noFill/>
        </p:spPr>
        <p:txBody>
          <a:bodyPr wrap="square" rtlCol="0">
            <a:spAutoFit/>
          </a:bodyPr>
          <a:lstStyle/>
          <a:p>
            <a:endParaRPr lang="en-GB" dirty="0"/>
          </a:p>
          <a:p>
            <a:endParaRPr lang="en-GB" dirty="0"/>
          </a:p>
          <a:p>
            <a:r>
              <a:rPr lang="en-GB" dirty="0"/>
              <a:t>1</a:t>
            </a:r>
          </a:p>
          <a:p>
            <a:endParaRPr lang="en-GB" dirty="0"/>
          </a:p>
          <a:p>
            <a:endParaRPr lang="en-GB" dirty="0"/>
          </a:p>
          <a:p>
            <a:endParaRPr lang="en-GB" dirty="0"/>
          </a:p>
          <a:p>
            <a:endParaRPr lang="en-GB" dirty="0"/>
          </a:p>
          <a:p>
            <a:r>
              <a:rPr lang="en-GB" dirty="0"/>
              <a:t>2</a:t>
            </a:r>
          </a:p>
          <a:p>
            <a:endParaRPr lang="en-GB" dirty="0"/>
          </a:p>
          <a:p>
            <a:endParaRPr lang="en-GB" dirty="0"/>
          </a:p>
          <a:p>
            <a:r>
              <a:rPr lang="en-GB" dirty="0"/>
              <a:t>3</a:t>
            </a:r>
          </a:p>
          <a:p>
            <a:endParaRPr lang="en-GB" dirty="0"/>
          </a:p>
          <a:p>
            <a:r>
              <a:rPr lang="en-GB" dirty="0"/>
              <a:t>4</a:t>
            </a:r>
          </a:p>
          <a:p>
            <a:endParaRPr lang="en-GB" dirty="0"/>
          </a:p>
          <a:p>
            <a:endParaRPr lang="en-GB" dirty="0"/>
          </a:p>
          <a:p>
            <a:r>
              <a:rPr lang="en-GB" dirty="0"/>
              <a:t>5</a:t>
            </a:r>
          </a:p>
          <a:p>
            <a:endParaRPr lang="en-GB" dirty="0"/>
          </a:p>
        </p:txBody>
      </p:sp>
      <p:sp>
        <p:nvSpPr>
          <p:cNvPr id="2" name="TextBox 1">
            <a:extLst>
              <a:ext uri="{FF2B5EF4-FFF2-40B4-BE49-F238E27FC236}">
                <a16:creationId xmlns:a16="http://schemas.microsoft.com/office/drawing/2014/main" id="{854C19C3-02FC-7F80-CA70-DDC3FFCC2BE4}"/>
              </a:ext>
            </a:extLst>
          </p:cNvPr>
          <p:cNvSpPr txBox="1"/>
          <p:nvPr/>
        </p:nvSpPr>
        <p:spPr>
          <a:xfrm>
            <a:off x="717218" y="3685600"/>
            <a:ext cx="6690985" cy="600164"/>
          </a:xfrm>
          <a:prstGeom prst="rect">
            <a:avLst/>
          </a:prstGeom>
          <a:noFill/>
        </p:spPr>
        <p:txBody>
          <a:bodyPr wrap="square" rtlCol="0">
            <a:spAutoFit/>
          </a:bodyPr>
          <a:lstStyle/>
          <a:p>
            <a:r>
              <a:rPr lang="en-GB" sz="1100" dirty="0">
                <a:solidFill>
                  <a:srgbClr val="FF0000"/>
                </a:solidFill>
              </a:rPr>
              <a:t>Grainger Portal (Codification) will </a:t>
            </a:r>
            <a:r>
              <a:rPr lang="en-IN" sz="1100" dirty="0">
                <a:solidFill>
                  <a:srgbClr val="FF0000"/>
                </a:solidFill>
              </a:rPr>
              <a:t>load tenant portal in </a:t>
            </a:r>
            <a:r>
              <a:rPr lang="en-IN" sz="1100" dirty="0" err="1">
                <a:solidFill>
                  <a:srgbClr val="FF0000"/>
                </a:solidFill>
              </a:rPr>
              <a:t>iframe</a:t>
            </a:r>
            <a:r>
              <a:rPr lang="en-IN" sz="1100" dirty="0">
                <a:solidFill>
                  <a:srgbClr val="FF0000"/>
                </a:solidFill>
              </a:rPr>
              <a:t> using token return by auth server.</a:t>
            </a:r>
          </a:p>
          <a:p>
            <a:r>
              <a:rPr lang="en-IN" sz="1100" b="1" dirty="0">
                <a:solidFill>
                  <a:srgbClr val="FF0000"/>
                </a:solidFill>
              </a:rPr>
              <a:t>(</a:t>
            </a:r>
            <a:r>
              <a:rPr lang="en-IN" sz="1100" b="1" u="sng" dirty="0">
                <a:solidFill>
                  <a:srgbClr val="FF0000"/>
                </a:solidFill>
                <a:effectLst/>
                <a:latin typeface="Calibri" panose="020F0502020204030204" pitchFamily="34" charset="0"/>
                <a:ea typeface="Calibri" panose="020F0502020204030204" pitchFamily="34" charset="0"/>
                <a:hlinkClick r:id="rId4" tooltip="https://preprod-tenant.letalliance.dev/externalreference">
                  <a:extLst>
                    <a:ext uri="{A12FA001-AC4F-418D-AE19-62706E023703}">
                      <ahyp:hlinkClr xmlns:ahyp="http://schemas.microsoft.com/office/drawing/2018/hyperlinkcolor" val="tx"/>
                    </a:ext>
                  </a:extLst>
                </a:hlinkClick>
              </a:rPr>
              <a:t>https://preprod-tenant.letalliance.dev/externalreference</a:t>
            </a:r>
            <a:r>
              <a:rPr lang="en-IN" sz="1100" b="1" dirty="0">
                <a:solidFill>
                  <a:srgbClr val="FF0000"/>
                </a:solidFill>
              </a:rPr>
              <a:t>)</a:t>
            </a:r>
            <a:endParaRPr lang="en-GB" sz="1100" b="1" dirty="0">
              <a:solidFill>
                <a:srgbClr val="FF0000"/>
              </a:solidFill>
            </a:endParaRPr>
          </a:p>
          <a:p>
            <a:endParaRPr lang="en-GB" sz="1100" b="1" dirty="0"/>
          </a:p>
        </p:txBody>
      </p:sp>
    </p:spTree>
    <p:extLst>
      <p:ext uri="{BB962C8B-B14F-4D97-AF65-F5344CB8AC3E}">
        <p14:creationId xmlns:p14="http://schemas.microsoft.com/office/powerpoint/2010/main" val="2602288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4179147" cy="1200329"/>
          </a:xfrm>
          <a:prstGeom prst="rect">
            <a:avLst/>
          </a:prstGeom>
          <a:noFill/>
        </p:spPr>
        <p:txBody>
          <a:bodyPr wrap="square" rtlCol="0">
            <a:spAutoFit/>
          </a:bodyPr>
          <a:lstStyle/>
          <a:p>
            <a:r>
              <a:rPr lang="en-GB" sz="2400" b="1" dirty="0"/>
              <a:t>3a. Vision+ updates Grainger on reference Status change</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Salesforce</a:t>
            </a:r>
          </a:p>
        </p:txBody>
      </p:sp>
      <p:sp>
        <p:nvSpPr>
          <p:cNvPr id="10" name="TextBox 9">
            <a:extLst>
              <a:ext uri="{FF2B5EF4-FFF2-40B4-BE49-F238E27FC236}">
                <a16:creationId xmlns:a16="http://schemas.microsoft.com/office/drawing/2014/main" id="{1153242C-4DCE-DECB-1D73-C17E8F720BFC}"/>
              </a:ext>
            </a:extLst>
          </p:cNvPr>
          <p:cNvSpPr txBox="1"/>
          <p:nvPr/>
        </p:nvSpPr>
        <p:spPr>
          <a:xfrm>
            <a:off x="7062216" y="258090"/>
            <a:ext cx="1151533" cy="584775"/>
          </a:xfrm>
          <a:prstGeom prst="rect">
            <a:avLst/>
          </a:prstGeom>
          <a:noFill/>
        </p:spPr>
        <p:txBody>
          <a:bodyPr wrap="square" rtlCol="0">
            <a:spAutoFit/>
          </a:bodyPr>
          <a:lstStyle/>
          <a:p>
            <a:r>
              <a:rPr lang="en-GB" sz="800" b="1" dirty="0"/>
              <a:t>3. Vision+ updates Grainger on reference Status change</a:t>
            </a:r>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flipH="1">
            <a:off x="6869115" y="709199"/>
            <a:ext cx="13446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7" name="Picture 26">
            <a:extLst>
              <a:ext uri="{FF2B5EF4-FFF2-40B4-BE49-F238E27FC236}">
                <a16:creationId xmlns:a16="http://schemas.microsoft.com/office/drawing/2014/main" id="{15C8991A-64FA-1224-D056-77A61992F359}"/>
              </a:ext>
            </a:extLst>
          </p:cNvPr>
          <p:cNvPicPr>
            <a:picLocks noChangeAspect="1"/>
          </p:cNvPicPr>
          <p:nvPr/>
        </p:nvPicPr>
        <p:blipFill>
          <a:blip r:embed="rId3"/>
          <a:stretch>
            <a:fillRect/>
          </a:stretch>
        </p:blipFill>
        <p:spPr>
          <a:xfrm>
            <a:off x="6883942" y="8091882"/>
            <a:ext cx="2706220" cy="1338941"/>
          </a:xfrm>
          <a:prstGeom prst="rect">
            <a:avLst/>
          </a:prstGeom>
        </p:spPr>
      </p:pic>
      <p:pic>
        <p:nvPicPr>
          <p:cNvPr id="1026" name="Picture 2">
            <a:extLst>
              <a:ext uri="{FF2B5EF4-FFF2-40B4-BE49-F238E27FC236}">
                <a16:creationId xmlns:a16="http://schemas.microsoft.com/office/drawing/2014/main" id="{9EFB5BC1-1BC8-5A4E-504D-D670571C9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033" y="3634340"/>
            <a:ext cx="4998516" cy="3034689"/>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DEABDC38-B40C-D6A9-AC0E-5426C97632BC}"/>
              </a:ext>
            </a:extLst>
          </p:cNvPr>
          <p:cNvSpPr txBox="1"/>
          <p:nvPr/>
        </p:nvSpPr>
        <p:spPr>
          <a:xfrm>
            <a:off x="398033" y="1355464"/>
            <a:ext cx="8477026" cy="2492990"/>
          </a:xfrm>
          <a:prstGeom prst="rect">
            <a:avLst/>
          </a:prstGeom>
          <a:noFill/>
        </p:spPr>
        <p:txBody>
          <a:bodyPr wrap="square" rtlCol="0">
            <a:spAutoFit/>
          </a:bodyPr>
          <a:lstStyle/>
          <a:p>
            <a:r>
              <a:rPr lang="en-US" sz="1200" dirty="0" err="1">
                <a:solidFill>
                  <a:schemeClr val="accent6"/>
                </a:solidFill>
              </a:rPr>
              <a:t>HomeLet</a:t>
            </a:r>
            <a:r>
              <a:rPr lang="en-US" sz="1200" dirty="0">
                <a:solidFill>
                  <a:schemeClr val="accent6"/>
                </a:solidFill>
              </a:rPr>
              <a:t> to call in to Salesforce using the composite API, using </a:t>
            </a:r>
            <a:r>
              <a:rPr lang="en-US" sz="1200" dirty="0" err="1">
                <a:solidFill>
                  <a:schemeClr val="accent6"/>
                </a:solidFill>
              </a:rPr>
              <a:t>propertyTenancyId</a:t>
            </a:r>
            <a:r>
              <a:rPr lang="en-US" sz="1200" dirty="0">
                <a:solidFill>
                  <a:schemeClr val="accent6"/>
                </a:solidFill>
              </a:rPr>
              <a:t> and </a:t>
            </a:r>
            <a:r>
              <a:rPr lang="en-US" sz="1200" dirty="0" err="1">
                <a:solidFill>
                  <a:schemeClr val="accent6"/>
                </a:solidFill>
              </a:rPr>
              <a:t>applicantId</a:t>
            </a:r>
            <a:r>
              <a:rPr lang="en-US" sz="1200" dirty="0">
                <a:solidFill>
                  <a:schemeClr val="accent6"/>
                </a:solidFill>
              </a:rPr>
              <a:t> to identify the record in Salesforce.  </a:t>
            </a:r>
          </a:p>
          <a:p>
            <a:endParaRPr lang="en-US" sz="1200" dirty="0">
              <a:solidFill>
                <a:schemeClr val="accent6"/>
              </a:solidFill>
            </a:endParaRPr>
          </a:p>
          <a:p>
            <a:r>
              <a:rPr lang="en-US" sz="1200" dirty="0">
                <a:solidFill>
                  <a:schemeClr val="accent6"/>
                </a:solidFill>
              </a:rPr>
              <a:t>Open Box to support integration delivery by providing details with Postman collection covering:</a:t>
            </a:r>
          </a:p>
          <a:p>
            <a:pPr marL="171450" indent="-171450">
              <a:buFont typeface="Arial" panose="020B0604020202020204" pitchFamily="34" charset="0"/>
              <a:buChar char="•"/>
            </a:pPr>
            <a:r>
              <a:rPr lang="en-US" sz="1200" dirty="0">
                <a:solidFill>
                  <a:schemeClr val="accent6"/>
                </a:solidFill>
              </a:rPr>
              <a:t>authorize -&gt; Bearer token</a:t>
            </a:r>
          </a:p>
          <a:p>
            <a:pPr marL="171450" indent="-171450">
              <a:buFont typeface="Arial" panose="020B0604020202020204" pitchFamily="34" charset="0"/>
              <a:buChar char="•"/>
            </a:pPr>
            <a:r>
              <a:rPr lang="en-US" sz="1200" dirty="0">
                <a:solidFill>
                  <a:schemeClr val="accent6"/>
                </a:solidFill>
              </a:rPr>
              <a:t>POST -&gt; </a:t>
            </a:r>
            <a:r>
              <a:rPr lang="en-US" sz="1200" dirty="0" err="1">
                <a:solidFill>
                  <a:schemeClr val="accent6"/>
                </a:solidFill>
              </a:rPr>
              <a:t>OpportunityContactRole</a:t>
            </a:r>
            <a:r>
              <a:rPr lang="en-US" sz="1200" dirty="0">
                <a:solidFill>
                  <a:schemeClr val="accent6"/>
                </a:solidFill>
              </a:rPr>
              <a:t> &amp; Contact</a:t>
            </a:r>
          </a:p>
          <a:p>
            <a:pPr marL="628650" lvl="1" indent="-171450">
              <a:buFont typeface="Arial" panose="020B0604020202020204" pitchFamily="34" charset="0"/>
              <a:buChar char="•"/>
            </a:pPr>
            <a:r>
              <a:rPr lang="en-US" sz="1200" dirty="0">
                <a:solidFill>
                  <a:schemeClr val="accent6"/>
                </a:solidFill>
              </a:rPr>
              <a:t>Applicant’s ‘Current Address’ to be returned (on Contact / Person Account) </a:t>
            </a:r>
          </a:p>
          <a:p>
            <a:pPr marL="1085850" lvl="2" indent="-171450">
              <a:buFont typeface="Arial" panose="020B0604020202020204" pitchFamily="34" charset="0"/>
              <a:buChar char="•"/>
            </a:pPr>
            <a:r>
              <a:rPr lang="en-US" sz="1200" dirty="0" err="1">
                <a:solidFill>
                  <a:schemeClr val="accent6"/>
                </a:solidFill>
              </a:rPr>
              <a:t>Contact.MailingStreet</a:t>
            </a:r>
            <a:r>
              <a:rPr lang="en-US" sz="1200" dirty="0">
                <a:solidFill>
                  <a:schemeClr val="accent6"/>
                </a:solidFill>
              </a:rPr>
              <a:t>, </a:t>
            </a:r>
            <a:r>
              <a:rPr lang="en-US" sz="1200" dirty="0" err="1">
                <a:solidFill>
                  <a:schemeClr val="accent6"/>
                </a:solidFill>
              </a:rPr>
              <a:t>Contact.MailingCity</a:t>
            </a:r>
            <a:r>
              <a:rPr lang="en-US" sz="1200" dirty="0">
                <a:solidFill>
                  <a:schemeClr val="accent6"/>
                </a:solidFill>
              </a:rPr>
              <a:t>, </a:t>
            </a:r>
            <a:r>
              <a:rPr lang="en-US" sz="1200" dirty="0" err="1">
                <a:solidFill>
                  <a:schemeClr val="accent6"/>
                </a:solidFill>
              </a:rPr>
              <a:t>Contact.MailingState</a:t>
            </a:r>
            <a:r>
              <a:rPr lang="en-US" sz="1200" dirty="0">
                <a:solidFill>
                  <a:schemeClr val="accent6"/>
                </a:solidFill>
              </a:rPr>
              <a:t>, </a:t>
            </a:r>
            <a:r>
              <a:rPr lang="en-US" sz="1200" dirty="0" err="1">
                <a:solidFill>
                  <a:schemeClr val="accent6"/>
                </a:solidFill>
              </a:rPr>
              <a:t>Contact.MailingPostalCode</a:t>
            </a:r>
            <a:r>
              <a:rPr lang="en-US" sz="1200" dirty="0">
                <a:solidFill>
                  <a:schemeClr val="accent6"/>
                </a:solidFill>
              </a:rPr>
              <a:t>, </a:t>
            </a:r>
            <a:r>
              <a:rPr lang="en-US" sz="1200" dirty="0" err="1">
                <a:solidFill>
                  <a:schemeClr val="accent6"/>
                </a:solidFill>
              </a:rPr>
              <a:t>Contact.MailingCountry</a:t>
            </a:r>
            <a:endParaRPr lang="en-US" sz="1200" dirty="0">
              <a:solidFill>
                <a:schemeClr val="accent6"/>
              </a:solidFill>
            </a:endParaRPr>
          </a:p>
          <a:p>
            <a:pPr marL="628650" lvl="1" indent="-171450">
              <a:buFont typeface="Arial" panose="020B0604020202020204" pitchFamily="34" charset="0"/>
              <a:buChar char="•"/>
            </a:pPr>
            <a:r>
              <a:rPr lang="en-US" sz="1200" dirty="0">
                <a:solidFill>
                  <a:schemeClr val="accent6"/>
                </a:solidFill>
              </a:rPr>
              <a:t>Applicant’s ‘Outcome Status’ and ‘Referencing Status’ to be returned (near real time)</a:t>
            </a:r>
          </a:p>
          <a:p>
            <a:pPr marL="1085850" lvl="2" indent="-171450">
              <a:buFont typeface="Arial" panose="020B0604020202020204" pitchFamily="34" charset="0"/>
              <a:buChar char="•"/>
            </a:pPr>
            <a:r>
              <a:rPr lang="en-US" sz="1200" dirty="0" err="1">
                <a:solidFill>
                  <a:schemeClr val="accent6"/>
                </a:solidFill>
              </a:rPr>
              <a:t>OpportunityContactRole.Reference_Check_Status__c</a:t>
            </a:r>
            <a:r>
              <a:rPr lang="en-US" sz="1200" dirty="0">
                <a:solidFill>
                  <a:schemeClr val="accent6"/>
                </a:solidFill>
              </a:rPr>
              <a:t>​ (Picklist):</a:t>
            </a:r>
          </a:p>
          <a:p>
            <a:pPr marL="1543050" lvl="3" indent="-171450">
              <a:buFont typeface="Arial" panose="020B0604020202020204" pitchFamily="34" charset="0"/>
              <a:buChar char="•"/>
            </a:pPr>
            <a:r>
              <a:rPr lang="en-US" sz="1200" dirty="0">
                <a:solidFill>
                  <a:schemeClr val="accent6"/>
                </a:solidFill>
              </a:rPr>
              <a:t>Incomplete / Awaiting Details / In Progress / Complete / Approve / Awaiting Review / Deleted</a:t>
            </a:r>
          </a:p>
          <a:p>
            <a:pPr marL="1085850" lvl="2" indent="-171450">
              <a:buFont typeface="Arial" panose="020B0604020202020204" pitchFamily="34" charset="0"/>
              <a:buChar char="•"/>
            </a:pPr>
            <a:r>
              <a:rPr lang="en-US" sz="1200" dirty="0" err="1">
                <a:solidFill>
                  <a:schemeClr val="accent6"/>
                </a:solidFill>
              </a:rPr>
              <a:t>OpportunityContactRole.Referencing_Outcome__c</a:t>
            </a:r>
            <a:r>
              <a:rPr lang="en-US" sz="1200" dirty="0">
                <a:solidFill>
                  <a:schemeClr val="accent6"/>
                </a:solidFill>
              </a:rPr>
              <a:t> (Picklist):</a:t>
            </a:r>
          </a:p>
          <a:p>
            <a:pPr marL="1543050" lvl="3" indent="-171450">
              <a:buFont typeface="Arial" panose="020B0604020202020204" pitchFamily="34" charset="0"/>
              <a:buChar char="•"/>
            </a:pPr>
            <a:r>
              <a:rPr lang="en-US" sz="1200" dirty="0">
                <a:solidFill>
                  <a:schemeClr val="accent6"/>
                </a:solidFill>
              </a:rPr>
              <a:t>Acceptable / Guarantor Required / Incomplete / Not Acceptable</a:t>
            </a:r>
          </a:p>
        </p:txBody>
      </p:sp>
    </p:spTree>
    <p:extLst>
      <p:ext uri="{BB962C8B-B14F-4D97-AF65-F5344CB8AC3E}">
        <p14:creationId xmlns:p14="http://schemas.microsoft.com/office/powerpoint/2010/main" val="422278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4179147" cy="1200329"/>
          </a:xfrm>
          <a:prstGeom prst="rect">
            <a:avLst/>
          </a:prstGeom>
          <a:noFill/>
        </p:spPr>
        <p:txBody>
          <a:bodyPr wrap="square" rtlCol="0">
            <a:spAutoFit/>
          </a:bodyPr>
          <a:lstStyle/>
          <a:p>
            <a:r>
              <a:rPr lang="en-GB" sz="2400" b="1" dirty="0"/>
              <a:t>3b. Vision+ updates Grainger on reference Status change</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API</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Salesforce</a:t>
            </a:r>
          </a:p>
        </p:txBody>
      </p:sp>
      <p:sp>
        <p:nvSpPr>
          <p:cNvPr id="10" name="TextBox 9">
            <a:extLst>
              <a:ext uri="{FF2B5EF4-FFF2-40B4-BE49-F238E27FC236}">
                <a16:creationId xmlns:a16="http://schemas.microsoft.com/office/drawing/2014/main" id="{1153242C-4DCE-DECB-1D73-C17E8F720BFC}"/>
              </a:ext>
            </a:extLst>
          </p:cNvPr>
          <p:cNvSpPr txBox="1"/>
          <p:nvPr/>
        </p:nvSpPr>
        <p:spPr>
          <a:xfrm>
            <a:off x="7062216" y="258090"/>
            <a:ext cx="1151533" cy="584775"/>
          </a:xfrm>
          <a:prstGeom prst="rect">
            <a:avLst/>
          </a:prstGeom>
          <a:noFill/>
        </p:spPr>
        <p:txBody>
          <a:bodyPr wrap="square" rtlCol="0">
            <a:spAutoFit/>
          </a:bodyPr>
          <a:lstStyle/>
          <a:p>
            <a:r>
              <a:rPr lang="en-GB" sz="800" b="1" dirty="0"/>
              <a:t>3. Vision+ updates Grainger on reference Status change</a:t>
            </a:r>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p:cNvCxnSpPr>
          <p:nvPr/>
        </p:nvCxnSpPr>
        <p:spPr>
          <a:xfrm flipH="1">
            <a:off x="6869115" y="709199"/>
            <a:ext cx="1344634" cy="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pic>
        <p:nvPicPr>
          <p:cNvPr id="27" name="Picture 26">
            <a:extLst>
              <a:ext uri="{FF2B5EF4-FFF2-40B4-BE49-F238E27FC236}">
                <a16:creationId xmlns:a16="http://schemas.microsoft.com/office/drawing/2014/main" id="{15C8991A-64FA-1224-D056-77A61992F359}"/>
              </a:ext>
            </a:extLst>
          </p:cNvPr>
          <p:cNvPicPr>
            <a:picLocks noChangeAspect="1"/>
          </p:cNvPicPr>
          <p:nvPr/>
        </p:nvPicPr>
        <p:blipFill>
          <a:blip r:embed="rId3"/>
          <a:stretch>
            <a:fillRect/>
          </a:stretch>
        </p:blipFill>
        <p:spPr>
          <a:xfrm>
            <a:off x="6883942" y="8091882"/>
            <a:ext cx="2706220" cy="1338941"/>
          </a:xfrm>
          <a:prstGeom prst="rect">
            <a:avLst/>
          </a:prstGeom>
        </p:spPr>
      </p:pic>
      <p:pic>
        <p:nvPicPr>
          <p:cNvPr id="11" name="Picture 10">
            <a:extLst>
              <a:ext uri="{FF2B5EF4-FFF2-40B4-BE49-F238E27FC236}">
                <a16:creationId xmlns:a16="http://schemas.microsoft.com/office/drawing/2014/main" id="{13DD439C-9788-4AE1-740A-80F50AD4D9CD}"/>
              </a:ext>
            </a:extLst>
          </p:cNvPr>
          <p:cNvPicPr>
            <a:picLocks noChangeAspect="1"/>
          </p:cNvPicPr>
          <p:nvPr/>
        </p:nvPicPr>
        <p:blipFill>
          <a:blip r:embed="rId4"/>
          <a:stretch>
            <a:fillRect/>
          </a:stretch>
        </p:blipFill>
        <p:spPr>
          <a:xfrm>
            <a:off x="5252115" y="3274977"/>
            <a:ext cx="3730787" cy="2960001"/>
          </a:xfrm>
          <a:prstGeom prst="rect">
            <a:avLst/>
          </a:prstGeom>
          <a:effectLst>
            <a:outerShdw blurRad="50800" dist="38100" dir="2700000" algn="tl" rotWithShape="0">
              <a:prstClr val="black">
                <a:alpha val="40000"/>
              </a:prstClr>
            </a:outerShdw>
          </a:effectLst>
        </p:spPr>
      </p:pic>
      <p:sp>
        <p:nvSpPr>
          <p:cNvPr id="33" name="TextBox 32">
            <a:extLst>
              <a:ext uri="{FF2B5EF4-FFF2-40B4-BE49-F238E27FC236}">
                <a16:creationId xmlns:a16="http://schemas.microsoft.com/office/drawing/2014/main" id="{01B64827-934E-5FAC-056F-4A22F1C56AF4}"/>
              </a:ext>
            </a:extLst>
          </p:cNvPr>
          <p:cNvSpPr txBox="1"/>
          <p:nvPr/>
        </p:nvSpPr>
        <p:spPr>
          <a:xfrm>
            <a:off x="268308" y="3013024"/>
            <a:ext cx="4313382" cy="246221"/>
          </a:xfrm>
          <a:prstGeom prst="rect">
            <a:avLst/>
          </a:prstGeom>
          <a:noFill/>
        </p:spPr>
        <p:txBody>
          <a:bodyPr wrap="square" rtlCol="0">
            <a:spAutoFit/>
          </a:bodyPr>
          <a:lstStyle/>
          <a:p>
            <a:r>
              <a:rPr lang="en-US" sz="1000" dirty="0">
                <a:solidFill>
                  <a:schemeClr val="accent6"/>
                </a:solidFill>
              </a:rPr>
              <a:t>Update </a:t>
            </a:r>
            <a:r>
              <a:rPr lang="en-US" sz="1000" dirty="0" err="1">
                <a:solidFill>
                  <a:schemeClr val="accent6"/>
                </a:solidFill>
              </a:rPr>
              <a:t>OpportunityContactRole</a:t>
            </a:r>
            <a:r>
              <a:rPr lang="en-US" sz="1000" dirty="0">
                <a:solidFill>
                  <a:schemeClr val="accent6"/>
                </a:solidFill>
              </a:rPr>
              <a:t> status and Contact address </a:t>
            </a:r>
          </a:p>
        </p:txBody>
      </p:sp>
      <p:sp>
        <p:nvSpPr>
          <p:cNvPr id="34" name="TextBox 33">
            <a:extLst>
              <a:ext uri="{FF2B5EF4-FFF2-40B4-BE49-F238E27FC236}">
                <a16:creationId xmlns:a16="http://schemas.microsoft.com/office/drawing/2014/main" id="{8908EF66-6CFE-C216-4500-F7AFE3937FEC}"/>
              </a:ext>
            </a:extLst>
          </p:cNvPr>
          <p:cNvSpPr txBox="1"/>
          <p:nvPr/>
        </p:nvSpPr>
        <p:spPr>
          <a:xfrm>
            <a:off x="4696375" y="4634699"/>
            <a:ext cx="657590" cy="246221"/>
          </a:xfrm>
          <a:prstGeom prst="rect">
            <a:avLst/>
          </a:prstGeom>
          <a:noFill/>
        </p:spPr>
        <p:txBody>
          <a:bodyPr wrap="square" rtlCol="0">
            <a:spAutoFit/>
          </a:bodyPr>
          <a:lstStyle/>
          <a:p>
            <a:r>
              <a:rPr lang="en-US" sz="1000" dirty="0">
                <a:solidFill>
                  <a:schemeClr val="accent6"/>
                </a:solidFill>
              </a:rPr>
              <a:t>Returns</a:t>
            </a:r>
          </a:p>
        </p:txBody>
      </p:sp>
      <p:sp>
        <p:nvSpPr>
          <p:cNvPr id="35" name="Right Arrow 34">
            <a:extLst>
              <a:ext uri="{FF2B5EF4-FFF2-40B4-BE49-F238E27FC236}">
                <a16:creationId xmlns:a16="http://schemas.microsoft.com/office/drawing/2014/main" id="{DE4B521D-7A1F-697A-9C31-B70E5CDFACBC}"/>
              </a:ext>
            </a:extLst>
          </p:cNvPr>
          <p:cNvSpPr/>
          <p:nvPr/>
        </p:nvSpPr>
        <p:spPr>
          <a:xfrm>
            <a:off x="4904509" y="4315392"/>
            <a:ext cx="221673" cy="33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B2AC5690-F5E6-1504-2233-990DCAF92282}"/>
              </a:ext>
            </a:extLst>
          </p:cNvPr>
          <p:cNvGrpSpPr/>
          <p:nvPr/>
        </p:nvGrpSpPr>
        <p:grpSpPr>
          <a:xfrm>
            <a:off x="341789" y="3194166"/>
            <a:ext cx="4304987" cy="3341184"/>
            <a:chOff x="341789" y="3194166"/>
            <a:chExt cx="4304987" cy="3341184"/>
          </a:xfrm>
          <a:effectLst>
            <a:outerShdw blurRad="50800" dist="38100" dir="2700000" algn="tl" rotWithShape="0">
              <a:prstClr val="black">
                <a:alpha val="40000"/>
              </a:prstClr>
            </a:outerShdw>
          </a:effectLst>
        </p:grpSpPr>
        <p:pic>
          <p:nvPicPr>
            <p:cNvPr id="3" name="Picture 2">
              <a:extLst>
                <a:ext uri="{FF2B5EF4-FFF2-40B4-BE49-F238E27FC236}">
                  <a16:creationId xmlns:a16="http://schemas.microsoft.com/office/drawing/2014/main" id="{62792899-9D26-8467-3C88-EE7EC2359F52}"/>
                </a:ext>
              </a:extLst>
            </p:cNvPr>
            <p:cNvPicPr>
              <a:picLocks noChangeAspect="1"/>
            </p:cNvPicPr>
            <p:nvPr/>
          </p:nvPicPr>
          <p:blipFill>
            <a:blip r:embed="rId5"/>
            <a:stretch>
              <a:fillRect/>
            </a:stretch>
          </p:blipFill>
          <p:spPr>
            <a:xfrm>
              <a:off x="341789" y="3194166"/>
              <a:ext cx="4304987" cy="3341184"/>
            </a:xfrm>
            <a:prstGeom prst="rect">
              <a:avLst/>
            </a:prstGeom>
          </p:spPr>
        </p:pic>
        <p:sp>
          <p:nvSpPr>
            <p:cNvPr id="8" name="Rectangle 7">
              <a:extLst>
                <a:ext uri="{FF2B5EF4-FFF2-40B4-BE49-F238E27FC236}">
                  <a16:creationId xmlns:a16="http://schemas.microsoft.com/office/drawing/2014/main" id="{48E43F3B-D3B9-A837-3615-4D2E73ACA305}"/>
                </a:ext>
              </a:extLst>
            </p:cNvPr>
            <p:cNvSpPr/>
            <p:nvPr/>
          </p:nvSpPr>
          <p:spPr>
            <a:xfrm>
              <a:off x="2114210" y="4315392"/>
              <a:ext cx="233491"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6FE372-D3C9-2CC3-50B7-2B1924CA3FBF}"/>
                </a:ext>
              </a:extLst>
            </p:cNvPr>
            <p:cNvSpPr/>
            <p:nvPr/>
          </p:nvSpPr>
          <p:spPr>
            <a:xfrm>
              <a:off x="2294498" y="4417969"/>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4E0F61-CABA-9BB0-8DEB-34AFD5A96EE3}"/>
                </a:ext>
              </a:extLst>
            </p:cNvPr>
            <p:cNvSpPr/>
            <p:nvPr/>
          </p:nvSpPr>
          <p:spPr>
            <a:xfrm>
              <a:off x="2079819" y="5021220"/>
              <a:ext cx="298159"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9D2E25A-1DCA-B45E-25BD-AD65C2B7AEEC}"/>
                </a:ext>
              </a:extLst>
            </p:cNvPr>
            <p:cNvSpPr/>
            <p:nvPr/>
          </p:nvSpPr>
          <p:spPr>
            <a:xfrm>
              <a:off x="1967895" y="5134264"/>
              <a:ext cx="507217"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ED96AFD-46F0-31A6-E98B-5B529102D999}"/>
                </a:ext>
              </a:extLst>
            </p:cNvPr>
            <p:cNvSpPr/>
            <p:nvPr/>
          </p:nvSpPr>
          <p:spPr>
            <a:xfrm>
              <a:off x="1564398" y="5743199"/>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0F5584-8EA3-4DE2-B44A-73B165407144}"/>
                </a:ext>
              </a:extLst>
            </p:cNvPr>
            <p:cNvSpPr/>
            <p:nvPr/>
          </p:nvSpPr>
          <p:spPr>
            <a:xfrm>
              <a:off x="1627941" y="5845776"/>
              <a:ext cx="261002" cy="10257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59CFDAB-40CE-0595-D375-D9421141AD4B}"/>
                </a:ext>
              </a:extLst>
            </p:cNvPr>
            <p:cNvSpPr/>
            <p:nvPr/>
          </p:nvSpPr>
          <p:spPr>
            <a:xfrm>
              <a:off x="1721206" y="5948353"/>
              <a:ext cx="261002" cy="77353"/>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039FF07-4ED3-6FC4-1FD3-9AE4CDCF6B62}"/>
                </a:ext>
              </a:extLst>
            </p:cNvPr>
            <p:cNvSpPr/>
            <p:nvPr/>
          </p:nvSpPr>
          <p:spPr>
            <a:xfrm>
              <a:off x="1627941" y="6025706"/>
              <a:ext cx="602662" cy="9801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4B4B311-7E17-BD0A-3785-E2AB57DC9C53}"/>
                </a:ext>
              </a:extLst>
            </p:cNvPr>
            <p:cNvSpPr/>
            <p:nvPr/>
          </p:nvSpPr>
          <p:spPr>
            <a:xfrm>
              <a:off x="1627941" y="6123916"/>
              <a:ext cx="602662" cy="98017"/>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ular Callout 8">
              <a:extLst>
                <a:ext uri="{FF2B5EF4-FFF2-40B4-BE49-F238E27FC236}">
                  <a16:creationId xmlns:a16="http://schemas.microsoft.com/office/drawing/2014/main" id="{57307248-2727-4D04-7F3A-E680541C7B5F}"/>
                </a:ext>
              </a:extLst>
            </p:cNvPr>
            <p:cNvSpPr/>
            <p:nvPr/>
          </p:nvSpPr>
          <p:spPr>
            <a:xfrm>
              <a:off x="2319360" y="3955585"/>
              <a:ext cx="798848" cy="153020"/>
            </a:xfrm>
            <a:prstGeom prst="wedgeRoundRectCallout">
              <a:avLst>
                <a:gd name="adj1" fmla="val -44409"/>
                <a:gd name="adj2" fmla="val 1741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ApplicantId</a:t>
              </a:r>
              <a:endParaRPr lang="en-US" sz="800" dirty="0"/>
            </a:p>
          </p:txBody>
        </p:sp>
        <p:sp>
          <p:nvSpPr>
            <p:cNvPr id="29" name="Rounded Rectangular Callout 28">
              <a:extLst>
                <a:ext uri="{FF2B5EF4-FFF2-40B4-BE49-F238E27FC236}">
                  <a16:creationId xmlns:a16="http://schemas.microsoft.com/office/drawing/2014/main" id="{01BC4C46-8005-2CF5-4297-50686ED221B0}"/>
                </a:ext>
              </a:extLst>
            </p:cNvPr>
            <p:cNvSpPr/>
            <p:nvPr/>
          </p:nvSpPr>
          <p:spPr>
            <a:xfrm>
              <a:off x="2864399" y="4419972"/>
              <a:ext cx="1057880" cy="153020"/>
            </a:xfrm>
            <a:prstGeom prst="wedgeRoundRectCallout">
              <a:avLst>
                <a:gd name="adj1" fmla="val -77952"/>
                <a:gd name="adj2" fmla="val -14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PropertyTenancyId</a:t>
              </a:r>
              <a:endParaRPr lang="en-US" sz="800" dirty="0"/>
            </a:p>
          </p:txBody>
        </p:sp>
        <p:sp>
          <p:nvSpPr>
            <p:cNvPr id="30" name="Rounded Rectangular Callout 29">
              <a:extLst>
                <a:ext uri="{FF2B5EF4-FFF2-40B4-BE49-F238E27FC236}">
                  <a16:creationId xmlns:a16="http://schemas.microsoft.com/office/drawing/2014/main" id="{49699CF1-0122-2518-62BE-279F1C73FE47}"/>
                </a:ext>
              </a:extLst>
            </p:cNvPr>
            <p:cNvSpPr/>
            <p:nvPr/>
          </p:nvSpPr>
          <p:spPr>
            <a:xfrm>
              <a:off x="2685203" y="5003770"/>
              <a:ext cx="1057880" cy="153020"/>
            </a:xfrm>
            <a:prstGeom prst="wedgeRoundRectCallout">
              <a:avLst>
                <a:gd name="adj1" fmla="val -77952"/>
                <a:gd name="adj2" fmla="val -1411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ReferenceStatus</a:t>
              </a:r>
              <a:endParaRPr lang="en-US" sz="800" dirty="0"/>
            </a:p>
          </p:txBody>
        </p:sp>
        <p:sp>
          <p:nvSpPr>
            <p:cNvPr id="31" name="Rounded Rectangular Callout 30">
              <a:extLst>
                <a:ext uri="{FF2B5EF4-FFF2-40B4-BE49-F238E27FC236}">
                  <a16:creationId xmlns:a16="http://schemas.microsoft.com/office/drawing/2014/main" id="{522764AA-505D-3B47-FDC6-4D5A32B01D6B}"/>
                </a:ext>
              </a:extLst>
            </p:cNvPr>
            <p:cNvSpPr/>
            <p:nvPr/>
          </p:nvSpPr>
          <p:spPr>
            <a:xfrm>
              <a:off x="2685203" y="5238968"/>
              <a:ext cx="1057880" cy="153020"/>
            </a:xfrm>
            <a:prstGeom prst="wedgeRoundRectCallout">
              <a:avLst>
                <a:gd name="adj1" fmla="val -70670"/>
                <a:gd name="adj2" fmla="val -5132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err="1"/>
                <a:t>OutcomeStatus</a:t>
              </a:r>
              <a:endParaRPr lang="en-US" sz="800" dirty="0"/>
            </a:p>
          </p:txBody>
        </p:sp>
        <p:sp>
          <p:nvSpPr>
            <p:cNvPr id="32" name="Rounded Rectangular Callout 31">
              <a:extLst>
                <a:ext uri="{FF2B5EF4-FFF2-40B4-BE49-F238E27FC236}">
                  <a16:creationId xmlns:a16="http://schemas.microsoft.com/office/drawing/2014/main" id="{750E8893-7E36-4E29-3BFA-EE7998BF302C}"/>
                </a:ext>
              </a:extLst>
            </p:cNvPr>
            <p:cNvSpPr/>
            <p:nvPr/>
          </p:nvSpPr>
          <p:spPr>
            <a:xfrm>
              <a:off x="2494282" y="5884314"/>
              <a:ext cx="1057880" cy="226626"/>
            </a:xfrm>
            <a:prstGeom prst="wedgeRoundRectCallout">
              <a:avLst>
                <a:gd name="adj1" fmla="val -70037"/>
                <a:gd name="adj2" fmla="val -698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Contact address details</a:t>
              </a:r>
            </a:p>
          </p:txBody>
        </p:sp>
        <p:sp>
          <p:nvSpPr>
            <p:cNvPr id="37" name="Rectangle 36">
              <a:extLst>
                <a:ext uri="{FF2B5EF4-FFF2-40B4-BE49-F238E27FC236}">
                  <a16:creationId xmlns:a16="http://schemas.microsoft.com/office/drawing/2014/main" id="{CA87DE74-087B-8768-5582-6777EEC20F11}"/>
                </a:ext>
              </a:extLst>
            </p:cNvPr>
            <p:cNvSpPr/>
            <p:nvPr/>
          </p:nvSpPr>
          <p:spPr>
            <a:xfrm>
              <a:off x="1215062" y="3302019"/>
              <a:ext cx="899147" cy="11509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ular Callout 37">
              <a:extLst>
                <a:ext uri="{FF2B5EF4-FFF2-40B4-BE49-F238E27FC236}">
                  <a16:creationId xmlns:a16="http://schemas.microsoft.com/office/drawing/2014/main" id="{49A29C6A-3631-63A6-4C1D-87FADD5A0507}"/>
                </a:ext>
              </a:extLst>
            </p:cNvPr>
            <p:cNvSpPr/>
            <p:nvPr/>
          </p:nvSpPr>
          <p:spPr>
            <a:xfrm>
              <a:off x="2494282" y="3477297"/>
              <a:ext cx="1057880" cy="153020"/>
            </a:xfrm>
            <a:prstGeom prst="wedgeRoundRectCallout">
              <a:avLst>
                <a:gd name="adj1" fmla="val -86013"/>
                <a:gd name="adj2" fmla="val -9151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Instance URL</a:t>
              </a:r>
            </a:p>
          </p:txBody>
        </p:sp>
      </p:grpSp>
      <p:grpSp>
        <p:nvGrpSpPr>
          <p:cNvPr id="2" name="Group 1">
            <a:extLst>
              <a:ext uri="{FF2B5EF4-FFF2-40B4-BE49-F238E27FC236}">
                <a16:creationId xmlns:a16="http://schemas.microsoft.com/office/drawing/2014/main" id="{F1E3702D-1781-81C8-34F2-D36F788E6BE5}"/>
              </a:ext>
            </a:extLst>
          </p:cNvPr>
          <p:cNvGrpSpPr/>
          <p:nvPr/>
        </p:nvGrpSpPr>
        <p:grpSpPr>
          <a:xfrm>
            <a:off x="296733" y="1336215"/>
            <a:ext cx="3899747" cy="1483425"/>
            <a:chOff x="296733" y="1336215"/>
            <a:chExt cx="3899747" cy="1483425"/>
          </a:xfrm>
        </p:grpSpPr>
        <p:pic>
          <p:nvPicPr>
            <p:cNvPr id="36" name="Picture 35">
              <a:extLst>
                <a:ext uri="{FF2B5EF4-FFF2-40B4-BE49-F238E27FC236}">
                  <a16:creationId xmlns:a16="http://schemas.microsoft.com/office/drawing/2014/main" id="{D6EBF34C-3B57-0C17-9D4A-CF85CFD86022}"/>
                </a:ext>
              </a:extLst>
            </p:cNvPr>
            <p:cNvPicPr>
              <a:picLocks noChangeAspect="1"/>
            </p:cNvPicPr>
            <p:nvPr/>
          </p:nvPicPr>
          <p:blipFill>
            <a:blip r:embed="rId6"/>
            <a:stretch>
              <a:fillRect/>
            </a:stretch>
          </p:blipFill>
          <p:spPr>
            <a:xfrm>
              <a:off x="296733" y="1336215"/>
              <a:ext cx="3899747" cy="1467178"/>
            </a:xfrm>
            <a:prstGeom prst="rect">
              <a:avLst/>
            </a:prstGeom>
            <a:effectLst>
              <a:outerShdw blurRad="50800" dist="38100" dir="2700000" algn="tl" rotWithShape="0">
                <a:prstClr val="black">
                  <a:alpha val="40000"/>
                </a:prstClr>
              </a:outerShdw>
            </a:effectLst>
          </p:spPr>
        </p:pic>
        <p:sp>
          <p:nvSpPr>
            <p:cNvPr id="40" name="Rounded Rectangular Callout 39">
              <a:extLst>
                <a:ext uri="{FF2B5EF4-FFF2-40B4-BE49-F238E27FC236}">
                  <a16:creationId xmlns:a16="http://schemas.microsoft.com/office/drawing/2014/main" id="{3B697035-54F5-D8B2-533B-CBADC7C3B18F}"/>
                </a:ext>
              </a:extLst>
            </p:cNvPr>
            <p:cNvSpPr/>
            <p:nvPr/>
          </p:nvSpPr>
          <p:spPr>
            <a:xfrm>
              <a:off x="2691553" y="1649012"/>
              <a:ext cx="1057880" cy="153020"/>
            </a:xfrm>
            <a:prstGeom prst="wedgeRoundRectCallout">
              <a:avLst>
                <a:gd name="adj1" fmla="val -87556"/>
                <a:gd name="adj2" fmla="val -8999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Instance URL</a:t>
              </a:r>
            </a:p>
          </p:txBody>
        </p:sp>
        <p:sp>
          <p:nvSpPr>
            <p:cNvPr id="41" name="Rectangle 40">
              <a:extLst>
                <a:ext uri="{FF2B5EF4-FFF2-40B4-BE49-F238E27FC236}">
                  <a16:creationId xmlns:a16="http://schemas.microsoft.com/office/drawing/2014/main" id="{0F94EFE4-1BA9-1383-C047-13B004C004D5}"/>
                </a:ext>
              </a:extLst>
            </p:cNvPr>
            <p:cNvSpPr/>
            <p:nvPr/>
          </p:nvSpPr>
          <p:spPr>
            <a:xfrm>
              <a:off x="1305828" y="1456164"/>
              <a:ext cx="988669" cy="109279"/>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4FB3315-6265-EB23-E5C1-DAB69BD2F63C}"/>
                </a:ext>
              </a:extLst>
            </p:cNvPr>
            <p:cNvSpPr/>
            <p:nvPr/>
          </p:nvSpPr>
          <p:spPr>
            <a:xfrm>
              <a:off x="2453099" y="2431126"/>
              <a:ext cx="1743381" cy="14932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A947729-E849-A5D3-806B-948B63620D70}"/>
                </a:ext>
              </a:extLst>
            </p:cNvPr>
            <p:cNvSpPr/>
            <p:nvPr/>
          </p:nvSpPr>
          <p:spPr>
            <a:xfrm>
              <a:off x="2446901" y="2612268"/>
              <a:ext cx="1743381" cy="149322"/>
            </a:xfrm>
            <a:prstGeom prst="rect">
              <a:avLst/>
            </a:prstGeom>
            <a:solidFill>
              <a:srgbClr val="FFFF00">
                <a:alpha val="32941"/>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ular Callout 44">
              <a:extLst>
                <a:ext uri="{FF2B5EF4-FFF2-40B4-BE49-F238E27FC236}">
                  <a16:creationId xmlns:a16="http://schemas.microsoft.com/office/drawing/2014/main" id="{54B62353-5D7E-80A0-203D-84F7BE5B380C}"/>
                </a:ext>
              </a:extLst>
            </p:cNvPr>
            <p:cNvSpPr/>
            <p:nvPr/>
          </p:nvSpPr>
          <p:spPr>
            <a:xfrm>
              <a:off x="1227651" y="2426714"/>
              <a:ext cx="1057880" cy="153020"/>
            </a:xfrm>
            <a:prstGeom prst="wedgeRoundRectCallout">
              <a:avLst>
                <a:gd name="adj1" fmla="val 65423"/>
                <a:gd name="adj2" fmla="val 96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Client ID</a:t>
              </a:r>
            </a:p>
          </p:txBody>
        </p:sp>
        <p:sp>
          <p:nvSpPr>
            <p:cNvPr id="46" name="Rounded Rectangular Callout 45">
              <a:extLst>
                <a:ext uri="{FF2B5EF4-FFF2-40B4-BE49-F238E27FC236}">
                  <a16:creationId xmlns:a16="http://schemas.microsoft.com/office/drawing/2014/main" id="{A222C37A-8AA8-2ADB-DEC1-C019FD65258C}"/>
                </a:ext>
              </a:extLst>
            </p:cNvPr>
            <p:cNvSpPr/>
            <p:nvPr/>
          </p:nvSpPr>
          <p:spPr>
            <a:xfrm>
              <a:off x="1220318" y="2666620"/>
              <a:ext cx="1057880" cy="153020"/>
            </a:xfrm>
            <a:prstGeom prst="wedgeRoundRectCallout">
              <a:avLst>
                <a:gd name="adj1" fmla="val 65423"/>
                <a:gd name="adj2" fmla="val 960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Client Secret</a:t>
              </a:r>
            </a:p>
          </p:txBody>
        </p:sp>
      </p:grpSp>
      <p:sp>
        <p:nvSpPr>
          <p:cNvPr id="47" name="TextBox 46">
            <a:extLst>
              <a:ext uri="{FF2B5EF4-FFF2-40B4-BE49-F238E27FC236}">
                <a16:creationId xmlns:a16="http://schemas.microsoft.com/office/drawing/2014/main" id="{D2684136-0365-E5AD-FEC4-F22977D850A1}"/>
              </a:ext>
            </a:extLst>
          </p:cNvPr>
          <p:cNvSpPr txBox="1"/>
          <p:nvPr/>
        </p:nvSpPr>
        <p:spPr>
          <a:xfrm>
            <a:off x="290210" y="1108697"/>
            <a:ext cx="4313382" cy="246221"/>
          </a:xfrm>
          <a:prstGeom prst="rect">
            <a:avLst/>
          </a:prstGeom>
          <a:noFill/>
        </p:spPr>
        <p:txBody>
          <a:bodyPr wrap="square" rtlCol="0">
            <a:spAutoFit/>
          </a:bodyPr>
          <a:lstStyle/>
          <a:p>
            <a:r>
              <a:rPr lang="en-US" sz="1000" dirty="0">
                <a:solidFill>
                  <a:schemeClr val="accent6"/>
                </a:solidFill>
              </a:rPr>
              <a:t>Access Token Request using </a:t>
            </a:r>
            <a:r>
              <a:rPr lang="en-US" sz="1000" dirty="0">
                <a:solidFill>
                  <a:schemeClr val="accent6"/>
                </a:solidFill>
                <a:hlinkClick r:id="rId7"/>
              </a:rPr>
              <a:t>Client Credentials Flow</a:t>
            </a:r>
            <a:endParaRPr lang="en-US" sz="1000" dirty="0">
              <a:solidFill>
                <a:schemeClr val="accent6"/>
              </a:solidFill>
            </a:endParaRPr>
          </a:p>
        </p:txBody>
      </p:sp>
      <p:sp>
        <p:nvSpPr>
          <p:cNvPr id="48" name="TextBox 47">
            <a:extLst>
              <a:ext uri="{FF2B5EF4-FFF2-40B4-BE49-F238E27FC236}">
                <a16:creationId xmlns:a16="http://schemas.microsoft.com/office/drawing/2014/main" id="{80DFA6EC-B8F8-2D96-6043-2FAD0FD46DC7}"/>
              </a:ext>
            </a:extLst>
          </p:cNvPr>
          <p:cNvSpPr txBox="1"/>
          <p:nvPr/>
        </p:nvSpPr>
        <p:spPr>
          <a:xfrm>
            <a:off x="4289932" y="2123439"/>
            <a:ext cx="657590" cy="246221"/>
          </a:xfrm>
          <a:prstGeom prst="rect">
            <a:avLst/>
          </a:prstGeom>
          <a:noFill/>
        </p:spPr>
        <p:txBody>
          <a:bodyPr wrap="square" rtlCol="0">
            <a:spAutoFit/>
          </a:bodyPr>
          <a:lstStyle/>
          <a:p>
            <a:r>
              <a:rPr lang="en-US" sz="1000" dirty="0">
                <a:solidFill>
                  <a:schemeClr val="accent6"/>
                </a:solidFill>
              </a:rPr>
              <a:t>Returns</a:t>
            </a:r>
          </a:p>
        </p:txBody>
      </p:sp>
      <p:sp>
        <p:nvSpPr>
          <p:cNvPr id="49" name="Right Arrow 48">
            <a:extLst>
              <a:ext uri="{FF2B5EF4-FFF2-40B4-BE49-F238E27FC236}">
                <a16:creationId xmlns:a16="http://schemas.microsoft.com/office/drawing/2014/main" id="{15CBE2D0-3D9B-51AF-200B-CAE7CC2BFE7A}"/>
              </a:ext>
            </a:extLst>
          </p:cNvPr>
          <p:cNvSpPr/>
          <p:nvPr/>
        </p:nvSpPr>
        <p:spPr>
          <a:xfrm>
            <a:off x="4498066" y="1804132"/>
            <a:ext cx="221673" cy="3397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BBD66249-AC47-AB0C-E424-4286A70A9B9D}"/>
              </a:ext>
            </a:extLst>
          </p:cNvPr>
          <p:cNvPicPr>
            <a:picLocks noChangeAspect="1"/>
          </p:cNvPicPr>
          <p:nvPr/>
        </p:nvPicPr>
        <p:blipFill>
          <a:blip r:embed="rId8"/>
          <a:stretch>
            <a:fillRect/>
          </a:stretch>
        </p:blipFill>
        <p:spPr>
          <a:xfrm>
            <a:off x="4947522" y="1592496"/>
            <a:ext cx="3932871" cy="115778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26919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5BE7F990-D417-5CB5-0847-7A9E4F860586}"/>
              </a:ext>
            </a:extLst>
          </p:cNvPr>
          <p:cNvSpPr txBox="1"/>
          <p:nvPr/>
        </p:nvSpPr>
        <p:spPr>
          <a:xfrm>
            <a:off x="121920" y="262537"/>
            <a:ext cx="5474547" cy="830997"/>
          </a:xfrm>
          <a:prstGeom prst="rect">
            <a:avLst/>
          </a:prstGeom>
          <a:noFill/>
        </p:spPr>
        <p:txBody>
          <a:bodyPr wrap="square" rtlCol="0">
            <a:spAutoFit/>
          </a:bodyPr>
          <a:lstStyle/>
          <a:p>
            <a:r>
              <a:rPr lang="en-GB" sz="2400" b="1" dirty="0"/>
              <a:t>4. Agent goes to Vision+ portal for review</a:t>
            </a:r>
          </a:p>
          <a:p>
            <a:endParaRPr lang="en-GB" sz="2400" b="1" dirty="0"/>
          </a:p>
        </p:txBody>
      </p:sp>
      <p:sp>
        <p:nvSpPr>
          <p:cNvPr id="6" name="Rectangle 5">
            <a:extLst>
              <a:ext uri="{FF2B5EF4-FFF2-40B4-BE49-F238E27FC236}">
                <a16:creationId xmlns:a16="http://schemas.microsoft.com/office/drawing/2014/main" id="{891E98C1-FEDD-DA87-1F1A-497C7B79F44E}"/>
              </a:ext>
            </a:extLst>
          </p:cNvPr>
          <p:cNvSpPr/>
          <p:nvPr/>
        </p:nvSpPr>
        <p:spPr>
          <a:xfrm>
            <a:off x="8213749" y="449239"/>
            <a:ext cx="787399" cy="4616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Vision+ Portal</a:t>
            </a:r>
          </a:p>
        </p:txBody>
      </p:sp>
      <p:sp>
        <p:nvSpPr>
          <p:cNvPr id="7" name="Rectangle 6">
            <a:extLst>
              <a:ext uri="{FF2B5EF4-FFF2-40B4-BE49-F238E27FC236}">
                <a16:creationId xmlns:a16="http://schemas.microsoft.com/office/drawing/2014/main" id="{A6BE94CC-7C1A-58AE-4B18-13975E4EDF75}"/>
              </a:ext>
            </a:extLst>
          </p:cNvPr>
          <p:cNvSpPr/>
          <p:nvPr/>
        </p:nvSpPr>
        <p:spPr>
          <a:xfrm>
            <a:off x="6102641" y="445004"/>
            <a:ext cx="766474"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100" dirty="0"/>
              <a:t>Grainger Systems</a:t>
            </a:r>
          </a:p>
        </p:txBody>
      </p:sp>
      <p:sp>
        <p:nvSpPr>
          <p:cNvPr id="10" name="TextBox 9">
            <a:extLst>
              <a:ext uri="{FF2B5EF4-FFF2-40B4-BE49-F238E27FC236}">
                <a16:creationId xmlns:a16="http://schemas.microsoft.com/office/drawing/2014/main" id="{1153242C-4DCE-DECB-1D73-C17E8F720BFC}"/>
              </a:ext>
            </a:extLst>
          </p:cNvPr>
          <p:cNvSpPr txBox="1"/>
          <p:nvPr/>
        </p:nvSpPr>
        <p:spPr>
          <a:xfrm>
            <a:off x="6962714" y="321894"/>
            <a:ext cx="1235117" cy="584775"/>
          </a:xfrm>
          <a:prstGeom prst="rect">
            <a:avLst/>
          </a:prstGeom>
          <a:noFill/>
        </p:spPr>
        <p:txBody>
          <a:bodyPr wrap="square" rtlCol="0">
            <a:spAutoFit/>
          </a:bodyPr>
          <a:lstStyle/>
          <a:p>
            <a:r>
              <a:rPr lang="en-GB" sz="800" b="1" dirty="0"/>
              <a:t>4. Agent goes to Vision+ portal for review</a:t>
            </a:r>
          </a:p>
          <a:p>
            <a:endParaRPr lang="en-GB" sz="800" b="1" dirty="0"/>
          </a:p>
          <a:p>
            <a:endParaRPr lang="en-GB" sz="800" b="1" dirty="0"/>
          </a:p>
        </p:txBody>
      </p:sp>
      <p:cxnSp>
        <p:nvCxnSpPr>
          <p:cNvPr id="12" name="Straight Arrow Connector 11">
            <a:extLst>
              <a:ext uri="{FF2B5EF4-FFF2-40B4-BE49-F238E27FC236}">
                <a16:creationId xmlns:a16="http://schemas.microsoft.com/office/drawing/2014/main" id="{4263023F-7EAE-2204-2286-921790ED6C0E}"/>
              </a:ext>
            </a:extLst>
          </p:cNvPr>
          <p:cNvCxnSpPr>
            <a:cxnSpLocks/>
            <a:stCxn id="7" idx="3"/>
            <a:endCxn id="6" idx="1"/>
          </p:cNvCxnSpPr>
          <p:nvPr/>
        </p:nvCxnSpPr>
        <p:spPr>
          <a:xfrm>
            <a:off x="6869115" y="675837"/>
            <a:ext cx="1344634" cy="4234"/>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1" name="TextBox 10">
            <a:extLst>
              <a:ext uri="{FF2B5EF4-FFF2-40B4-BE49-F238E27FC236}">
                <a16:creationId xmlns:a16="http://schemas.microsoft.com/office/drawing/2014/main" id="{2B630A0C-7150-C34D-C9BC-732333677882}"/>
              </a:ext>
            </a:extLst>
          </p:cNvPr>
          <p:cNvSpPr txBox="1"/>
          <p:nvPr/>
        </p:nvSpPr>
        <p:spPr>
          <a:xfrm>
            <a:off x="856827" y="1541154"/>
            <a:ext cx="6888480" cy="261610"/>
          </a:xfrm>
          <a:prstGeom prst="rect">
            <a:avLst/>
          </a:prstGeom>
          <a:noFill/>
        </p:spPr>
        <p:txBody>
          <a:bodyPr wrap="square" rtlCol="0">
            <a:spAutoFit/>
          </a:bodyPr>
          <a:lstStyle/>
          <a:p>
            <a:r>
              <a:rPr lang="en-GB" sz="1100" dirty="0"/>
              <a:t>Agent has a Salesforce user and is authenticated in Salesforce</a:t>
            </a:r>
          </a:p>
        </p:txBody>
      </p:sp>
      <p:sp>
        <p:nvSpPr>
          <p:cNvPr id="13" name="TextBox 12">
            <a:extLst>
              <a:ext uri="{FF2B5EF4-FFF2-40B4-BE49-F238E27FC236}">
                <a16:creationId xmlns:a16="http://schemas.microsoft.com/office/drawing/2014/main" id="{C302F5C7-8B81-4A7B-4128-B2689BD2253E}"/>
              </a:ext>
            </a:extLst>
          </p:cNvPr>
          <p:cNvSpPr txBox="1"/>
          <p:nvPr/>
        </p:nvSpPr>
        <p:spPr>
          <a:xfrm>
            <a:off x="856827" y="2112517"/>
            <a:ext cx="3972560" cy="2462213"/>
          </a:xfrm>
          <a:prstGeom prst="rect">
            <a:avLst/>
          </a:prstGeom>
          <a:noFill/>
        </p:spPr>
        <p:txBody>
          <a:bodyPr wrap="square" rtlCol="0">
            <a:spAutoFit/>
          </a:bodyPr>
          <a:lstStyle/>
          <a:p>
            <a:r>
              <a:rPr lang="en-GB" sz="1100" dirty="0"/>
              <a:t>Salesforce user clicks Vision+ button to open a new tab with Vision+ Portal URL</a:t>
            </a:r>
          </a:p>
          <a:p>
            <a:endParaRPr lang="en-GB" sz="1100" dirty="0"/>
          </a:p>
          <a:p>
            <a:endParaRPr lang="en-GB" sz="1100" dirty="0"/>
          </a:p>
          <a:p>
            <a:r>
              <a:rPr lang="en-GB" sz="1100" dirty="0"/>
              <a:t>Vision+ makes SAML request to Salesforce identity provider</a:t>
            </a:r>
          </a:p>
          <a:p>
            <a:endParaRPr lang="en-GB" sz="1100" dirty="0"/>
          </a:p>
          <a:p>
            <a:endParaRPr lang="en-GB" sz="1100" dirty="0"/>
          </a:p>
          <a:p>
            <a:r>
              <a:rPr lang="en-GB" sz="1100" dirty="0"/>
              <a:t>Salesforce responds SAML assertion confirming identity of Salesforce user (Salesforce username to be used as unique identifier)</a:t>
            </a:r>
          </a:p>
          <a:p>
            <a:endParaRPr lang="en-GB" sz="1100" dirty="0"/>
          </a:p>
          <a:p>
            <a:endParaRPr lang="en-GB" sz="1100" dirty="0"/>
          </a:p>
          <a:p>
            <a:r>
              <a:rPr lang="en-GB" sz="1100" dirty="0"/>
              <a:t>Vision+ Agent facing Portal logs user in (Vision+ portal user must already exist and is identified by Grainger Salesforce username)</a:t>
            </a:r>
          </a:p>
        </p:txBody>
      </p:sp>
      <p:sp>
        <p:nvSpPr>
          <p:cNvPr id="14" name="TextBox 13">
            <a:extLst>
              <a:ext uri="{FF2B5EF4-FFF2-40B4-BE49-F238E27FC236}">
                <a16:creationId xmlns:a16="http://schemas.microsoft.com/office/drawing/2014/main" id="{830C4AE1-6304-C916-5E9B-E1D5EE0D21D2}"/>
              </a:ext>
            </a:extLst>
          </p:cNvPr>
          <p:cNvSpPr txBox="1"/>
          <p:nvPr/>
        </p:nvSpPr>
        <p:spPr>
          <a:xfrm>
            <a:off x="856827" y="6662433"/>
            <a:ext cx="6583680" cy="423193"/>
          </a:xfrm>
          <a:prstGeom prst="rect">
            <a:avLst/>
          </a:prstGeom>
          <a:noFill/>
        </p:spPr>
        <p:txBody>
          <a:bodyPr wrap="square" rtlCol="0">
            <a:spAutoFit/>
          </a:bodyPr>
          <a:lstStyle/>
          <a:p>
            <a:r>
              <a:rPr lang="en-GB" sz="1100" dirty="0"/>
              <a:t>Vision+ decrypts and decodes JWT Token, validates applicant and starts tenant facing journey in </a:t>
            </a:r>
            <a:r>
              <a:rPr lang="en-GB" sz="1100" dirty="0" err="1"/>
              <a:t>iframe</a:t>
            </a:r>
            <a:endParaRPr lang="en-GB" sz="1100" b="1" dirty="0">
              <a:solidFill>
                <a:schemeClr val="tx2"/>
              </a:solidFill>
            </a:endParaRPr>
          </a:p>
          <a:p>
            <a:pPr lvl="1"/>
            <a:endParaRPr lang="en-GB" sz="1050" dirty="0"/>
          </a:p>
        </p:txBody>
      </p:sp>
      <p:sp>
        <p:nvSpPr>
          <p:cNvPr id="16" name="TextBox 15">
            <a:extLst>
              <a:ext uri="{FF2B5EF4-FFF2-40B4-BE49-F238E27FC236}">
                <a16:creationId xmlns:a16="http://schemas.microsoft.com/office/drawing/2014/main" id="{D8802F85-67E3-ADC3-AA65-2DD90AF2B36A}"/>
              </a:ext>
            </a:extLst>
          </p:cNvPr>
          <p:cNvSpPr txBox="1"/>
          <p:nvPr/>
        </p:nvSpPr>
        <p:spPr>
          <a:xfrm>
            <a:off x="332962" y="899317"/>
            <a:ext cx="416560" cy="3416320"/>
          </a:xfrm>
          <a:prstGeom prst="rect">
            <a:avLst/>
          </a:prstGeom>
          <a:noFill/>
        </p:spPr>
        <p:txBody>
          <a:bodyPr wrap="square" rtlCol="0">
            <a:spAutoFit/>
          </a:bodyPr>
          <a:lstStyle/>
          <a:p>
            <a:endParaRPr lang="en-GB" dirty="0"/>
          </a:p>
          <a:p>
            <a:endParaRPr lang="en-GB" dirty="0"/>
          </a:p>
          <a:p>
            <a:r>
              <a:rPr lang="en-GB" dirty="0"/>
              <a:t>1</a:t>
            </a:r>
          </a:p>
          <a:p>
            <a:endParaRPr lang="en-GB" dirty="0"/>
          </a:p>
          <a:p>
            <a:r>
              <a:rPr lang="en-GB" dirty="0"/>
              <a:t>2</a:t>
            </a:r>
          </a:p>
          <a:p>
            <a:endParaRPr lang="en-GB" dirty="0"/>
          </a:p>
          <a:p>
            <a:r>
              <a:rPr lang="en-GB" dirty="0"/>
              <a:t>3</a:t>
            </a:r>
          </a:p>
          <a:p>
            <a:endParaRPr lang="en-GB" dirty="0"/>
          </a:p>
          <a:p>
            <a:r>
              <a:rPr lang="en-GB" dirty="0"/>
              <a:t>4</a:t>
            </a:r>
          </a:p>
          <a:p>
            <a:endParaRPr lang="en-GB" dirty="0"/>
          </a:p>
          <a:p>
            <a:r>
              <a:rPr lang="en-GB" dirty="0"/>
              <a:t>5</a:t>
            </a:r>
          </a:p>
          <a:p>
            <a:endParaRPr lang="en-GB" dirty="0"/>
          </a:p>
        </p:txBody>
      </p:sp>
      <p:pic>
        <p:nvPicPr>
          <p:cNvPr id="17" name="Picture 2">
            <a:extLst>
              <a:ext uri="{FF2B5EF4-FFF2-40B4-BE49-F238E27FC236}">
                <a16:creationId xmlns:a16="http://schemas.microsoft.com/office/drawing/2014/main" id="{6344EE71-034F-10B4-6CFF-7929B87BA6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5069" y="2114001"/>
            <a:ext cx="3190875"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5583091"/>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1EBFAA3-FF8D-65C4-0788-5826D719A8D4}"/>
              </a:ext>
            </a:extLst>
          </p:cNvPr>
          <p:cNvSpPr txBox="1"/>
          <p:nvPr/>
        </p:nvSpPr>
        <p:spPr>
          <a:xfrm>
            <a:off x="121920" y="262537"/>
            <a:ext cx="5474547" cy="830997"/>
          </a:xfrm>
          <a:prstGeom prst="rect">
            <a:avLst/>
          </a:prstGeom>
          <a:noFill/>
        </p:spPr>
        <p:txBody>
          <a:bodyPr wrap="square" rtlCol="0">
            <a:spAutoFit/>
          </a:bodyPr>
          <a:lstStyle/>
          <a:p>
            <a:r>
              <a:rPr lang="en-GB" sz="2400" b="1" dirty="0"/>
              <a:t>Vision+ Mandatory Fields in discussion </a:t>
            </a:r>
          </a:p>
          <a:p>
            <a:endParaRPr lang="en-GB" sz="2400" b="1" dirty="0"/>
          </a:p>
        </p:txBody>
      </p:sp>
      <p:graphicFrame>
        <p:nvGraphicFramePr>
          <p:cNvPr id="9" name="Table 8">
            <a:extLst>
              <a:ext uri="{FF2B5EF4-FFF2-40B4-BE49-F238E27FC236}">
                <a16:creationId xmlns:a16="http://schemas.microsoft.com/office/drawing/2014/main" id="{133A0941-CF37-534F-1EF5-3FA898724BD1}"/>
              </a:ext>
            </a:extLst>
          </p:cNvPr>
          <p:cNvGraphicFramePr>
            <a:graphicFrameLocks noGrp="1"/>
          </p:cNvGraphicFramePr>
          <p:nvPr>
            <p:extLst>
              <p:ext uri="{D42A27DB-BD31-4B8C-83A1-F6EECF244321}">
                <p14:modId xmlns:p14="http://schemas.microsoft.com/office/powerpoint/2010/main" val="1303102639"/>
              </p:ext>
            </p:extLst>
          </p:nvPr>
        </p:nvGraphicFramePr>
        <p:xfrm>
          <a:off x="569384" y="862054"/>
          <a:ext cx="8185151" cy="5610860"/>
        </p:xfrm>
        <a:graphic>
          <a:graphicData uri="http://schemas.openxmlformats.org/drawingml/2006/table">
            <a:tbl>
              <a:tblPr>
                <a:tableStyleId>{5C22544A-7EE6-4342-B048-85BDC9FD1C3A}</a:tableStyleId>
              </a:tblPr>
              <a:tblGrid>
                <a:gridCol w="1577637">
                  <a:extLst>
                    <a:ext uri="{9D8B030D-6E8A-4147-A177-3AD203B41FA5}">
                      <a16:colId xmlns:a16="http://schemas.microsoft.com/office/drawing/2014/main" val="3157686054"/>
                    </a:ext>
                  </a:extLst>
                </a:gridCol>
                <a:gridCol w="1651878">
                  <a:extLst>
                    <a:ext uri="{9D8B030D-6E8A-4147-A177-3AD203B41FA5}">
                      <a16:colId xmlns:a16="http://schemas.microsoft.com/office/drawing/2014/main" val="1700370211"/>
                    </a:ext>
                  </a:extLst>
                </a:gridCol>
                <a:gridCol w="1837483">
                  <a:extLst>
                    <a:ext uri="{9D8B030D-6E8A-4147-A177-3AD203B41FA5}">
                      <a16:colId xmlns:a16="http://schemas.microsoft.com/office/drawing/2014/main" val="910276494"/>
                    </a:ext>
                  </a:extLst>
                </a:gridCol>
                <a:gridCol w="1721152">
                  <a:extLst>
                    <a:ext uri="{9D8B030D-6E8A-4147-A177-3AD203B41FA5}">
                      <a16:colId xmlns:a16="http://schemas.microsoft.com/office/drawing/2014/main" val="3243437898"/>
                    </a:ext>
                  </a:extLst>
                </a:gridCol>
                <a:gridCol w="1397001">
                  <a:extLst>
                    <a:ext uri="{9D8B030D-6E8A-4147-A177-3AD203B41FA5}">
                      <a16:colId xmlns:a16="http://schemas.microsoft.com/office/drawing/2014/main" val="1449977148"/>
                    </a:ext>
                  </a:extLst>
                </a:gridCol>
              </a:tblGrid>
              <a:tr h="558800">
                <a:tc>
                  <a:txBody>
                    <a:bodyPr/>
                    <a:lstStyle/>
                    <a:p>
                      <a:pPr algn="l" rtl="0" fontAlgn="b"/>
                      <a:r>
                        <a:rPr lang="en-GB" sz="1600" b="1" u="none" strike="noStrike" dirty="0">
                          <a:effectLst/>
                        </a:rPr>
                        <a:t>Property</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Mandatory in Vision+</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Impact of incorrect/default data</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Issue</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600" b="1" u="none" strike="noStrike" dirty="0">
                          <a:effectLst/>
                        </a:rPr>
                        <a:t>Agreed Action</a:t>
                      </a:r>
                      <a:endParaRPr lang="en-GB" sz="1600" b="1"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89572273"/>
                  </a:ext>
                </a:extLst>
              </a:tr>
              <a:tr h="260350">
                <a:tc>
                  <a:txBody>
                    <a:bodyPr/>
                    <a:lstStyle/>
                    <a:p>
                      <a:pPr algn="l" rtl="0" fontAlgn="b"/>
                      <a:r>
                        <a:rPr lang="en-GB" sz="1000" u="none" strike="noStrike">
                          <a:effectLst/>
                        </a:rPr>
                        <a:t>propertyType</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Yes, </a:t>
                      </a:r>
                      <a:r>
                        <a:rPr lang="en-GB" sz="1000" u="none" strike="noStrike" dirty="0" err="1">
                          <a:effectLst/>
                        </a:rPr>
                        <a:t>enum</a:t>
                      </a:r>
                      <a:r>
                        <a:rPr lang="en-GB" sz="1000" u="none" strike="noStrike" dirty="0">
                          <a:effectLst/>
                        </a:rPr>
                        <a:t> lookup</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Lower, impacts reporting </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Data not currently available in Grainger Salesforce</a:t>
                      </a: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 Grainger will map between systems but use “other” in the meantime. No impact to dev work on Vision+.</a:t>
                      </a:r>
                    </a:p>
                  </a:txBody>
                  <a:tcPr marL="6350" marR="6350" marT="6350" marB="0" anchor="b"/>
                </a:tc>
                <a:extLst>
                  <a:ext uri="{0D108BD9-81ED-4DB2-BD59-A6C34878D82A}">
                    <a16:rowId xmlns:a16="http://schemas.microsoft.com/office/drawing/2014/main" val="3559168806"/>
                  </a:ext>
                </a:extLst>
              </a:tr>
              <a:tr h="292100">
                <a:tc>
                  <a:txBody>
                    <a:bodyPr/>
                    <a:lstStyle/>
                    <a:p>
                      <a:pPr algn="l" rtl="0" fontAlgn="b"/>
                      <a:r>
                        <a:rPr lang="en-GB" sz="1000" u="none" strike="noStrike" dirty="0" err="1">
                          <a:solidFill>
                            <a:srgbClr val="FF0000"/>
                          </a:solidFill>
                          <a:effectLst/>
                        </a:rPr>
                        <a:t>propertyConstructionPeriod</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solidFill>
                            <a:srgbClr val="FF0000"/>
                          </a:solidFill>
                          <a:effectLst/>
                        </a:rPr>
                        <a:t>Yes, </a:t>
                      </a:r>
                      <a:r>
                        <a:rPr lang="en-GB" sz="1000" u="none" strike="noStrike" dirty="0" err="1">
                          <a:solidFill>
                            <a:srgbClr val="FF0000"/>
                          </a:solidFill>
                          <a:effectLst/>
                        </a:rPr>
                        <a:t>enum</a:t>
                      </a:r>
                      <a:r>
                        <a:rPr lang="en-GB" sz="1000" u="none" strike="noStrike" dirty="0">
                          <a:solidFill>
                            <a:srgbClr val="FF0000"/>
                          </a:solidFill>
                          <a:effectLst/>
                        </a:rPr>
                        <a:t> lookup</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rgbClr val="FF0000"/>
                          </a:solidFill>
                          <a:effectLst/>
                          <a:latin typeface="+mn-lt"/>
                          <a:ea typeface="+mn-ea"/>
                          <a:cs typeface="+mn-cs"/>
                        </a:rPr>
                        <a:t>Lower, impacts reporting </a:t>
                      </a:r>
                    </a:p>
                    <a:p>
                      <a:pPr marL="0" algn="l" defTabSz="914400" rtl="0" eaLnBrk="1" fontAlgn="b" latinLnBrk="0" hangingPunct="1"/>
                      <a:endParaRPr lang="en-GB" sz="1000" u="none" strike="noStrike" kern="1200" dirty="0">
                        <a:solidFill>
                          <a:srgbClr val="FF0000"/>
                        </a:solidFill>
                        <a:effectLst/>
                        <a:latin typeface="+mn-lt"/>
                        <a:ea typeface="+mn-ea"/>
                        <a:cs typeface="+mn-cs"/>
                      </a:endParaRPr>
                    </a:p>
                  </a:txBody>
                  <a:tcPr marL="6350" marR="6350" marT="6350" marB="0" anchor="b"/>
                </a:tc>
                <a:tc>
                  <a:txBody>
                    <a:bodyPr/>
                    <a:lstStyle/>
                    <a:p>
                      <a:pPr algn="l" rtl="0" fontAlgn="b"/>
                      <a:r>
                        <a:rPr lang="en-GB" sz="1000" u="none" strike="noStrike" dirty="0">
                          <a:solidFill>
                            <a:srgbClr val="FF0000"/>
                          </a:solidFill>
                          <a:effectLst/>
                        </a:rPr>
                        <a:t>Data not currently available in Grainger Salesforce</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algn="l" rtl="0" fontAlgn="b"/>
                      <a:r>
                        <a:rPr lang="en-GB" sz="1000" b="0" i="0" u="none" strike="noStrike" dirty="0">
                          <a:solidFill>
                            <a:srgbClr val="FF0000"/>
                          </a:solidFill>
                          <a:effectLst/>
                          <a:latin typeface="Calibri" panose="020F0502020204030204" pitchFamily="34" charset="0"/>
                        </a:rPr>
                        <a:t>Set to Non mandatory in new API call</a:t>
                      </a:r>
                    </a:p>
                  </a:txBody>
                  <a:tcPr marL="6350" marR="6350" marT="6350" marB="0" anchor="b"/>
                </a:tc>
                <a:extLst>
                  <a:ext uri="{0D108BD9-81ED-4DB2-BD59-A6C34878D82A}">
                    <a16:rowId xmlns:a16="http://schemas.microsoft.com/office/drawing/2014/main" val="4276615543"/>
                  </a:ext>
                </a:extLst>
              </a:tr>
              <a:tr h="387626">
                <a:tc>
                  <a:txBody>
                    <a:bodyPr/>
                    <a:lstStyle/>
                    <a:p>
                      <a:pPr algn="l" rtl="0" fontAlgn="b"/>
                      <a:r>
                        <a:rPr lang="en-GB" sz="1000" u="none" strike="noStrike">
                          <a:solidFill>
                            <a:srgbClr val="FF0000"/>
                          </a:solidFill>
                          <a:effectLst/>
                        </a:rPr>
                        <a:t>numberOfBedrooms</a:t>
                      </a:r>
                      <a:endParaRPr lang="en-GB" sz="1000" b="0" i="0" u="none" strike="noStrike">
                        <a:solidFill>
                          <a:srgbClr val="FF0000"/>
                        </a:solidFill>
                        <a:effectLst/>
                        <a:latin typeface="Calibri" panose="020F0502020204030204" pitchFamily="34" charset="0"/>
                      </a:endParaRPr>
                    </a:p>
                  </a:txBody>
                  <a:tcPr marL="6350" marR="6350" marT="6350" marB="0" anchor="b"/>
                </a:tc>
                <a:tc>
                  <a:txBody>
                    <a:bodyPr/>
                    <a:lstStyle/>
                    <a:p>
                      <a:pPr algn="l" rtl="0" fontAlgn="b"/>
                      <a:r>
                        <a:rPr lang="en-GB" sz="1000" u="none" strike="noStrike">
                          <a:solidFill>
                            <a:srgbClr val="FF0000"/>
                          </a:solidFill>
                          <a:effectLst/>
                        </a:rPr>
                        <a:t>Yes, integer</a:t>
                      </a:r>
                      <a:endParaRPr lang="en-GB" sz="1000" b="0" i="0" u="none" strike="noStrike">
                        <a:solidFill>
                          <a:srgbClr val="FF0000"/>
                        </a:solidFill>
                        <a:effectLst/>
                        <a:latin typeface="Calibri" panose="020F0502020204030204" pitchFamily="34" charset="0"/>
                      </a:endParaRP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rgbClr val="FF0000"/>
                          </a:solidFill>
                          <a:effectLst/>
                          <a:latin typeface="+mn-lt"/>
                          <a:ea typeface="+mn-ea"/>
                          <a:cs typeface="+mn-cs"/>
                        </a:rPr>
                        <a:t>Lower, impacts reporting </a:t>
                      </a:r>
                    </a:p>
                    <a:p>
                      <a:pPr marL="0" algn="l" defTabSz="914400" rtl="0" eaLnBrk="1" fontAlgn="b" latinLnBrk="0" hangingPunct="1"/>
                      <a:endParaRPr lang="en-GB" sz="1000" u="none" strike="noStrike" kern="1200" dirty="0">
                        <a:solidFill>
                          <a:srgbClr val="FF0000"/>
                        </a:solidFill>
                        <a:effectLst/>
                        <a:latin typeface="+mn-lt"/>
                        <a:ea typeface="+mn-ea"/>
                        <a:cs typeface="+mn-cs"/>
                      </a:endParaRPr>
                    </a:p>
                  </a:txBody>
                  <a:tcPr marL="6350" marR="6350" marT="6350" marB="0" anchor="b"/>
                </a:tc>
                <a:tc>
                  <a:txBody>
                    <a:bodyPr/>
                    <a:lstStyle/>
                    <a:p>
                      <a:pPr algn="l" rtl="0" fontAlgn="b"/>
                      <a:r>
                        <a:rPr lang="en-GB" sz="1000" u="none" strike="noStrike" dirty="0">
                          <a:solidFill>
                            <a:srgbClr val="FF0000"/>
                          </a:solidFill>
                          <a:effectLst/>
                        </a:rPr>
                        <a:t>Data not currently recorded in Grainger</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i="0" u="none" strike="noStrike" dirty="0">
                          <a:solidFill>
                            <a:srgbClr val="FF0000"/>
                          </a:solidFill>
                          <a:effectLst/>
                          <a:latin typeface="Calibri" panose="020F0502020204030204" pitchFamily="34" charset="0"/>
                        </a:rPr>
                        <a:t>Set to Non mandatory in new API call</a:t>
                      </a:r>
                    </a:p>
                    <a:p>
                      <a:pPr algn="l" rtl="0" fontAlgn="b"/>
                      <a:r>
                        <a:rPr lang="en-GB" sz="1000" u="none" strike="noStrike" dirty="0">
                          <a:solidFill>
                            <a:srgbClr val="FF0000"/>
                          </a:solidFill>
                          <a:effectLst/>
                        </a:rPr>
                        <a:t> </a:t>
                      </a:r>
                      <a:endParaRPr lang="en-GB" sz="1000" b="0"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109797487"/>
                  </a:ext>
                </a:extLst>
              </a:tr>
              <a:tr h="463826">
                <a:tc>
                  <a:txBody>
                    <a:bodyPr/>
                    <a:lstStyle/>
                    <a:p>
                      <a:pPr algn="l" rtl="0" fontAlgn="b"/>
                      <a:r>
                        <a:rPr lang="en-GB" sz="1000" u="none" strike="noStrike" dirty="0" err="1">
                          <a:solidFill>
                            <a:srgbClr val="FF0000"/>
                          </a:solidFill>
                          <a:effectLst/>
                        </a:rPr>
                        <a:t>noOfAdultOccupants</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solidFill>
                            <a:srgbClr val="FF0000"/>
                          </a:solidFill>
                          <a:effectLst/>
                        </a:rPr>
                        <a:t>Yes, integer</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rgbClr val="FF0000"/>
                          </a:solidFill>
                          <a:effectLst/>
                          <a:latin typeface="+mn-lt"/>
                          <a:ea typeface="+mn-ea"/>
                          <a:cs typeface="+mn-cs"/>
                        </a:rPr>
                        <a:t>High, impacts referencing chance</a:t>
                      </a:r>
                    </a:p>
                    <a:p>
                      <a:pPr algn="l" fontAlgn="b"/>
                      <a:endParaRPr lang="en-GB" sz="1000" u="none" strike="noStrike" kern="1200" dirty="0">
                        <a:solidFill>
                          <a:srgbClr val="FF0000"/>
                        </a:solidFill>
                        <a:effectLst/>
                        <a:latin typeface="+mn-lt"/>
                        <a:ea typeface="+mn-ea"/>
                        <a:cs typeface="+mn-cs"/>
                      </a:endParaRPr>
                    </a:p>
                  </a:txBody>
                  <a:tcPr marL="6350" marR="6350" marT="6350" marB="0" anchor="b"/>
                </a:tc>
                <a:tc>
                  <a:txBody>
                    <a:bodyPr/>
                    <a:lstStyle/>
                    <a:p>
                      <a:pPr algn="l" rtl="0" fontAlgn="b"/>
                      <a:r>
                        <a:rPr lang="en-GB" sz="1000" u="none" strike="noStrike" dirty="0">
                          <a:solidFill>
                            <a:srgbClr val="FF0000"/>
                          </a:solidFill>
                          <a:effectLst/>
                        </a:rPr>
                        <a:t>Data not currently recorded in Grainger</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i="0" u="none" strike="noStrike" dirty="0">
                          <a:solidFill>
                            <a:srgbClr val="FF0000"/>
                          </a:solidFill>
                          <a:effectLst/>
                          <a:latin typeface="Calibri" panose="020F0502020204030204" pitchFamily="34" charset="0"/>
                        </a:rPr>
                        <a:t>Recommend using tenant count,  </a:t>
                      </a:r>
                    </a:p>
                    <a:p>
                      <a:pPr marL="0" marR="0" lvl="0" indent="0" algn="l" defTabSz="914400" rtl="0" eaLnBrk="1" fontAlgn="b" latinLnBrk="0" hangingPunct="1">
                        <a:lnSpc>
                          <a:spcPct val="100000"/>
                        </a:lnSpc>
                        <a:spcBef>
                          <a:spcPts val="0"/>
                        </a:spcBef>
                        <a:spcAft>
                          <a:spcPts val="0"/>
                        </a:spcAft>
                        <a:buClrTx/>
                        <a:buSzTx/>
                        <a:buFontTx/>
                        <a:buNone/>
                        <a:tabLst/>
                        <a:defRPr/>
                      </a:pPr>
                      <a:r>
                        <a:rPr lang="en-GB" sz="1000" b="0" i="0" u="none" strike="noStrike" dirty="0">
                          <a:solidFill>
                            <a:srgbClr val="FF0000"/>
                          </a:solidFill>
                          <a:effectLst/>
                          <a:latin typeface="Calibri" panose="020F0502020204030204" pitchFamily="34" charset="0"/>
                        </a:rPr>
                        <a:t>Set to Non mandatory in new API call.</a:t>
                      </a:r>
                    </a:p>
                  </a:txBody>
                  <a:tcPr marL="6350" marR="6350" marT="6350" marB="0" anchor="b"/>
                </a:tc>
                <a:extLst>
                  <a:ext uri="{0D108BD9-81ED-4DB2-BD59-A6C34878D82A}">
                    <a16:rowId xmlns:a16="http://schemas.microsoft.com/office/drawing/2014/main" val="1922089198"/>
                  </a:ext>
                </a:extLst>
              </a:tr>
              <a:tr h="292100">
                <a:tc>
                  <a:txBody>
                    <a:bodyPr/>
                    <a:lstStyle/>
                    <a:p>
                      <a:pPr algn="l" rtl="0" fontAlgn="b"/>
                      <a:r>
                        <a:rPr lang="en-GB" sz="1000" u="none" strike="noStrike" dirty="0" err="1">
                          <a:solidFill>
                            <a:srgbClr val="FF0000"/>
                          </a:solidFill>
                          <a:effectLst/>
                        </a:rPr>
                        <a:t>noOfChildOccupants</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solidFill>
                            <a:srgbClr val="FF0000"/>
                          </a:solidFill>
                          <a:effectLst/>
                        </a:rPr>
                        <a:t>Yes, integer</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rgbClr val="FF0000"/>
                          </a:solidFill>
                          <a:effectLst/>
                          <a:latin typeface="+mn-lt"/>
                          <a:ea typeface="+mn-ea"/>
                          <a:cs typeface="+mn-cs"/>
                        </a:rPr>
                        <a:t>Lower, impacts reporting </a:t>
                      </a:r>
                    </a:p>
                    <a:p>
                      <a:pPr algn="l" fontAlgn="b"/>
                      <a:endParaRPr lang="en-GB" sz="1000" u="none" strike="noStrike" kern="1200" dirty="0">
                        <a:solidFill>
                          <a:srgbClr val="FF0000"/>
                        </a:solidFill>
                        <a:effectLst/>
                        <a:latin typeface="+mn-lt"/>
                        <a:ea typeface="+mn-ea"/>
                        <a:cs typeface="+mn-cs"/>
                      </a:endParaRPr>
                    </a:p>
                  </a:txBody>
                  <a:tcPr marL="6350" marR="6350" marT="6350" marB="0" anchor="b"/>
                </a:tc>
                <a:tc>
                  <a:txBody>
                    <a:bodyPr/>
                    <a:lstStyle/>
                    <a:p>
                      <a:pPr algn="l" rtl="0" fontAlgn="b"/>
                      <a:r>
                        <a:rPr lang="en-GB" sz="1000" u="none" strike="noStrike" dirty="0">
                          <a:solidFill>
                            <a:srgbClr val="FF0000"/>
                          </a:solidFill>
                          <a:effectLst/>
                        </a:rPr>
                        <a:t>Data not currently recorded in Grainger</a:t>
                      </a:r>
                      <a:endParaRPr lang="en-GB" sz="1000" b="0" i="0" u="none" strike="noStrike" dirty="0">
                        <a:solidFill>
                          <a:srgbClr val="FF0000"/>
                        </a:solidFill>
                        <a:effectLst/>
                        <a:latin typeface="Calibri" panose="020F0502020204030204" pitchFamily="34" charset="0"/>
                      </a:endParaRP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b="0" i="0" u="none" strike="noStrike" dirty="0">
                          <a:solidFill>
                            <a:srgbClr val="FF0000"/>
                          </a:solidFill>
                          <a:effectLst/>
                          <a:latin typeface="Calibri" panose="020F0502020204030204" pitchFamily="34" charset="0"/>
                        </a:rPr>
                        <a:t>Set to Non mandatory in new API call</a:t>
                      </a:r>
                    </a:p>
                    <a:p>
                      <a:pPr algn="l" rtl="0" fontAlgn="b"/>
                      <a:r>
                        <a:rPr lang="en-GB" sz="1000" u="none" strike="noStrike" dirty="0">
                          <a:solidFill>
                            <a:srgbClr val="FF0000"/>
                          </a:solidFill>
                          <a:effectLst/>
                        </a:rPr>
                        <a:t> </a:t>
                      </a:r>
                      <a:endParaRPr lang="en-GB" sz="1000" b="0"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36439326"/>
                  </a:ext>
                </a:extLst>
              </a:tr>
              <a:tr h="292100">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rtl="0" fontAlgn="b"/>
                      <a:r>
                        <a:rPr lang="en-GB" sz="1000" u="none" strike="noStrike" dirty="0">
                          <a:effectLst/>
                        </a:rPr>
                        <a:t> </a:t>
                      </a:r>
                      <a:endParaRPr lang="en-GB" sz="1000" b="0"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02743145"/>
                  </a:ext>
                </a:extLst>
              </a:tr>
              <a:tr h="292100">
                <a:tc>
                  <a:txBody>
                    <a:bodyPr/>
                    <a:lstStyle/>
                    <a:p>
                      <a:pPr algn="l" rtl="0" fontAlgn="b"/>
                      <a:r>
                        <a:rPr lang="en-GB" sz="1600" b="1" u="none" strike="noStrike" dirty="0">
                          <a:effectLst/>
                        </a:rPr>
                        <a:t>Applicant </a:t>
                      </a:r>
                      <a:endParaRPr lang="en-GB" sz="1600" b="1" i="0" u="none" strike="noStrike" dirty="0">
                        <a:solidFill>
                          <a:srgbClr val="E3B900"/>
                        </a:solidFill>
                        <a:effectLst/>
                        <a:latin typeface="Calibri" panose="020F0502020204030204" pitchFamily="34" charset="0"/>
                      </a:endParaRPr>
                    </a:p>
                  </a:txBody>
                  <a:tcPr marL="6350" marR="6350" marT="6350" marB="0" anchor="b"/>
                </a:tc>
                <a:tc>
                  <a:txBody>
                    <a:bodyPr/>
                    <a:lstStyle/>
                    <a:p>
                      <a:pPr algn="l" fontAlgn="b"/>
                      <a:r>
                        <a:rPr lang="en-GB" sz="2800" u="none" strike="noStrike">
                          <a:effectLst/>
                        </a:rPr>
                        <a:t> </a:t>
                      </a:r>
                      <a:endParaRPr lang="en-GB" sz="2800" b="0" i="0" u="none" strike="noStrike">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fontAlgn="b"/>
                      <a:r>
                        <a:rPr lang="en-GB" sz="2800" u="none" strike="noStrike" dirty="0">
                          <a:effectLst/>
                        </a:rPr>
                        <a:t> </a:t>
                      </a:r>
                      <a:endParaRPr lang="en-GB" sz="2800" b="0" i="0" u="none" strike="noStrike" dirty="0">
                        <a:solidFill>
                          <a:srgbClr val="000000"/>
                        </a:solidFill>
                        <a:effectLst/>
                        <a:latin typeface="Arial" panose="020B0604020202020204" pitchFamily="34" charset="0"/>
                      </a:endParaRPr>
                    </a:p>
                  </a:txBody>
                  <a:tcPr marL="6350" marR="6350" marT="6350" marB="0" anchor="b"/>
                </a:tc>
                <a:tc>
                  <a:txBody>
                    <a:bodyPr/>
                    <a:lstStyle/>
                    <a:p>
                      <a:pPr algn="l" rtl="0" fontAlgn="b"/>
                      <a:r>
                        <a:rPr lang="en-GB" sz="1000" u="none" strike="noStrike">
                          <a:effectLst/>
                        </a:rPr>
                        <a:t> </a:t>
                      </a:r>
                      <a:endParaRPr lang="en-GB" sz="1000" b="0" i="0" u="none" strike="noStrike">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043935339"/>
                  </a:ext>
                </a:extLst>
              </a:tr>
              <a:tr h="260350">
                <a:tc>
                  <a:txBody>
                    <a:bodyPr/>
                    <a:lstStyle/>
                    <a:p>
                      <a:pPr algn="l" rtl="0" fontAlgn="b"/>
                      <a:r>
                        <a:rPr lang="en-GB" sz="1000" u="none" strike="noStrike" dirty="0">
                          <a:effectLst/>
                        </a:rPr>
                        <a:t>title</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Yes, </a:t>
                      </a:r>
                      <a:r>
                        <a:rPr lang="en-GB" sz="1000" u="none" strike="noStrike" dirty="0" err="1">
                          <a:effectLst/>
                        </a:rPr>
                        <a:t>enum</a:t>
                      </a:r>
                      <a:r>
                        <a:rPr lang="en-GB" sz="1000" u="none" strike="noStrike" dirty="0">
                          <a:effectLst/>
                        </a:rPr>
                        <a:t> lookup</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High, impacts referencing chance</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Data not currently mandatory in Grainger, not always recorded</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dirty="0">
                          <a:effectLst/>
                        </a:rPr>
                        <a:t>Grainger to amend system to provide title. </a:t>
                      </a:r>
                      <a:r>
                        <a:rPr lang="en-GB" sz="1000" b="1" u="none" strike="noStrike" dirty="0">
                          <a:effectLst/>
                        </a:rPr>
                        <a:t>Confirmed that Tenant has the ability to amend details in first screen of </a:t>
                      </a:r>
                      <a:r>
                        <a:rPr lang="en-GB" sz="1000" b="1" u="none" strike="noStrike" dirty="0" err="1">
                          <a:effectLst/>
                        </a:rPr>
                        <a:t>iframe</a:t>
                      </a:r>
                      <a:endParaRPr lang="en-GB" sz="1000" b="1"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702464774"/>
                  </a:ext>
                </a:extLst>
              </a:tr>
              <a:tr h="514350">
                <a:tc>
                  <a:txBody>
                    <a:bodyPr/>
                    <a:lstStyle/>
                    <a:p>
                      <a:pPr algn="l" rtl="0" fontAlgn="b"/>
                      <a:r>
                        <a:rPr lang="en-GB" sz="1000" u="none" strike="noStrike">
                          <a:effectLst/>
                        </a:rPr>
                        <a:t>telephoneCountryID</a:t>
                      </a:r>
                      <a:endParaRPr lang="en-GB" sz="1000" b="0" i="0" u="none" strike="noStrike">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u="none" strike="noStrike" kern="1200" dirty="0">
                          <a:solidFill>
                            <a:schemeClr val="dk1"/>
                          </a:solidFill>
                          <a:effectLst/>
                          <a:latin typeface="+mn-lt"/>
                          <a:ea typeface="+mn-ea"/>
                          <a:cs typeface="+mn-cs"/>
                        </a:rPr>
                        <a:t>Yes, </a:t>
                      </a:r>
                      <a:r>
                        <a:rPr lang="en-GB" sz="1000" u="none" strike="noStrike" kern="1200" dirty="0" err="1">
                          <a:solidFill>
                            <a:schemeClr val="dk1"/>
                          </a:solidFill>
                          <a:effectLst/>
                          <a:latin typeface="+mn-lt"/>
                          <a:ea typeface="+mn-ea"/>
                          <a:cs typeface="+mn-cs"/>
                        </a:rPr>
                        <a:t>enum</a:t>
                      </a:r>
                      <a:r>
                        <a:rPr lang="en-GB" sz="1000" u="none" strike="noStrike" kern="1200" dirty="0">
                          <a:solidFill>
                            <a:schemeClr val="dk1"/>
                          </a:solidFill>
                          <a:effectLst/>
                          <a:latin typeface="+mn-lt"/>
                          <a:ea typeface="+mn-ea"/>
                          <a:cs typeface="+mn-cs"/>
                        </a:rPr>
                        <a:t> lookup</a:t>
                      </a:r>
                    </a:p>
                  </a:txBody>
                  <a:tcPr marL="6350" marR="6350" marT="635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GB" sz="1000" u="none" strike="noStrike" kern="1200" dirty="0">
                          <a:solidFill>
                            <a:schemeClr val="dk1"/>
                          </a:solidFill>
                          <a:effectLst/>
                          <a:latin typeface="+mn-lt"/>
                          <a:ea typeface="+mn-ea"/>
                          <a:cs typeface="+mn-cs"/>
                        </a:rPr>
                        <a:t> High, impacts referencing chance</a:t>
                      </a:r>
                    </a:p>
                  </a:txBody>
                  <a:tcPr marL="6350" marR="6350" marT="6350" marB="0" anchor="b"/>
                </a:tc>
                <a:tc>
                  <a:txBody>
                    <a:bodyPr/>
                    <a:lstStyle/>
                    <a:p>
                      <a:pPr algn="l" rtl="0" fontAlgn="b"/>
                      <a:r>
                        <a:rPr lang="en-GB" sz="1000" u="none" strike="noStrike" dirty="0">
                          <a:effectLst/>
                        </a:rPr>
                        <a:t>Data not currently recorded in Grainger, Telephone number is free text and can have country code or not</a:t>
                      </a:r>
                      <a:endParaRPr lang="en-GB" sz="1000" b="0" i="0" u="none" strike="noStrike" dirty="0">
                        <a:solidFill>
                          <a:srgbClr val="E3B900"/>
                        </a:solidFill>
                        <a:effectLst/>
                        <a:latin typeface="Calibri" panose="020F0502020204030204" pitchFamily="34" charset="0"/>
                      </a:endParaRPr>
                    </a:p>
                  </a:txBody>
                  <a:tcPr marL="6350" marR="6350" marT="6350" marB="0" anchor="b"/>
                </a:tc>
                <a:tc>
                  <a:txBody>
                    <a:bodyPr/>
                    <a:lstStyle/>
                    <a:p>
                      <a:pPr algn="l" rtl="0" fontAlgn="b"/>
                      <a:r>
                        <a:rPr lang="en-GB" sz="1000" b="1" u="none" strike="noStrike" dirty="0">
                          <a:effectLst/>
                        </a:rPr>
                        <a:t>Confirmed that Tenant has the ability to amend details in first screen of </a:t>
                      </a:r>
                      <a:r>
                        <a:rPr lang="en-GB" sz="1000" b="1" u="none" strike="noStrike" dirty="0" err="1">
                          <a:effectLst/>
                        </a:rPr>
                        <a:t>iframe</a:t>
                      </a:r>
                      <a:r>
                        <a:rPr lang="en-GB" sz="1000" u="none" strike="noStrike" dirty="0">
                          <a:effectLst/>
                        </a:rPr>
                        <a:t> </a:t>
                      </a:r>
                      <a:endParaRPr lang="en-GB" sz="1000" b="0" i="0" u="none" strike="noStrike" dirty="0">
                        <a:solidFill>
                          <a:srgbClr val="E3B9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62065040"/>
                  </a:ext>
                </a:extLst>
              </a:tr>
            </a:tbl>
          </a:graphicData>
        </a:graphic>
      </p:graphicFrame>
    </p:spTree>
    <p:extLst>
      <p:ext uri="{BB962C8B-B14F-4D97-AF65-F5344CB8AC3E}">
        <p14:creationId xmlns:p14="http://schemas.microsoft.com/office/powerpoint/2010/main" val="4103054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62FFB6-9E17-33AF-EAFD-E57FA722F514}"/>
              </a:ext>
            </a:extLst>
          </p:cNvPr>
          <p:cNvSpPr>
            <a:spLocks noGrp="1"/>
          </p:cNvSpPr>
          <p:nvPr>
            <p:ph type="sldNum" sz="quarter" idx="12"/>
          </p:nvPr>
        </p:nvSpPr>
        <p:spPr/>
        <p:txBody>
          <a:bodyPr/>
          <a:lstStyle/>
          <a:p>
            <a:r>
              <a:rPr lang="en-IN" dirty="0"/>
              <a:t>“</a:t>
            </a:r>
          </a:p>
        </p:txBody>
      </p:sp>
      <p:pic>
        <p:nvPicPr>
          <p:cNvPr id="6" name="Picture 5">
            <a:extLst>
              <a:ext uri="{FF2B5EF4-FFF2-40B4-BE49-F238E27FC236}">
                <a16:creationId xmlns:a16="http://schemas.microsoft.com/office/drawing/2014/main" id="{960317E0-97C8-7FD3-F734-9512DB59C892}"/>
              </a:ext>
            </a:extLst>
          </p:cNvPr>
          <p:cNvPicPr>
            <a:picLocks noChangeAspect="1"/>
          </p:cNvPicPr>
          <p:nvPr/>
        </p:nvPicPr>
        <p:blipFill>
          <a:blip r:embed="rId2"/>
          <a:stretch>
            <a:fillRect/>
          </a:stretch>
        </p:blipFill>
        <p:spPr>
          <a:xfrm>
            <a:off x="0" y="779363"/>
            <a:ext cx="9144000" cy="5299274"/>
          </a:xfrm>
          <a:prstGeom prst="rect">
            <a:avLst/>
          </a:prstGeom>
        </p:spPr>
      </p:pic>
      <p:sp>
        <p:nvSpPr>
          <p:cNvPr id="7" name="Rectangle 6">
            <a:extLst>
              <a:ext uri="{FF2B5EF4-FFF2-40B4-BE49-F238E27FC236}">
                <a16:creationId xmlns:a16="http://schemas.microsoft.com/office/drawing/2014/main" id="{EBC5AD71-DDB4-3F5A-813F-8E739BEEF289}"/>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70FD34B-65AB-3498-7EEE-F3416C329482}"/>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63659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14FA80-2BA9-457A-FA25-B93C3A01FA28}"/>
              </a:ext>
            </a:extLst>
          </p:cNvPr>
          <p:cNvSpPr/>
          <p:nvPr/>
        </p:nvSpPr>
        <p:spPr>
          <a:xfrm>
            <a:off x="0" y="6698746"/>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0F25BA2-BB5D-4D3B-0601-2BB13AD968D4}"/>
              </a:ext>
            </a:extLst>
          </p:cNvPr>
          <p:cNvSpPr/>
          <p:nvPr/>
        </p:nvSpPr>
        <p:spPr>
          <a:xfrm>
            <a:off x="0" y="-2862"/>
            <a:ext cx="9144000" cy="1695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1EBFAA3-FF8D-65C4-0788-5826D719A8D4}"/>
              </a:ext>
            </a:extLst>
          </p:cNvPr>
          <p:cNvSpPr txBox="1"/>
          <p:nvPr/>
        </p:nvSpPr>
        <p:spPr>
          <a:xfrm>
            <a:off x="121920" y="262537"/>
            <a:ext cx="5474547" cy="830997"/>
          </a:xfrm>
          <a:prstGeom prst="rect">
            <a:avLst/>
          </a:prstGeom>
          <a:noFill/>
        </p:spPr>
        <p:txBody>
          <a:bodyPr wrap="square" rtlCol="0">
            <a:spAutoFit/>
          </a:bodyPr>
          <a:lstStyle/>
          <a:p>
            <a:r>
              <a:rPr lang="en-GB" sz="2400" b="1" dirty="0"/>
              <a:t>Vision+ /Grainger Identity mapping</a:t>
            </a:r>
          </a:p>
          <a:p>
            <a:endParaRPr lang="en-GB" sz="2400" b="1" dirty="0"/>
          </a:p>
        </p:txBody>
      </p:sp>
      <p:pic>
        <p:nvPicPr>
          <p:cNvPr id="3" name="Picture 2" descr="A picture containing graphical user interface&#10;&#10;Description automatically generated">
            <a:extLst>
              <a:ext uri="{FF2B5EF4-FFF2-40B4-BE49-F238E27FC236}">
                <a16:creationId xmlns:a16="http://schemas.microsoft.com/office/drawing/2014/main" id="{5DF9AF62-1CEF-F85B-59CE-A6C91F539DA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1795" y="1002215"/>
            <a:ext cx="2364105" cy="2857566"/>
          </a:xfrm>
          <a:prstGeom prst="rect">
            <a:avLst/>
          </a:prstGeom>
          <a:noFill/>
          <a:ln>
            <a:noFill/>
          </a:ln>
        </p:spPr>
      </p:pic>
      <p:sp>
        <p:nvSpPr>
          <p:cNvPr id="6" name="Rectangle 5">
            <a:extLst>
              <a:ext uri="{FF2B5EF4-FFF2-40B4-BE49-F238E27FC236}">
                <a16:creationId xmlns:a16="http://schemas.microsoft.com/office/drawing/2014/main" id="{9E8DC496-B666-83C7-83F4-0A85A5BC7A78}"/>
              </a:ext>
            </a:extLst>
          </p:cNvPr>
          <p:cNvSpPr/>
          <p:nvPr/>
        </p:nvSpPr>
        <p:spPr>
          <a:xfrm>
            <a:off x="3114202" y="2203184"/>
            <a:ext cx="261461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err="1"/>
              <a:t>propertyTenancyId</a:t>
            </a:r>
            <a:endParaRPr lang="en-GB" dirty="0"/>
          </a:p>
        </p:txBody>
      </p:sp>
      <p:sp>
        <p:nvSpPr>
          <p:cNvPr id="7" name="Rectangle 6">
            <a:extLst>
              <a:ext uri="{FF2B5EF4-FFF2-40B4-BE49-F238E27FC236}">
                <a16:creationId xmlns:a16="http://schemas.microsoft.com/office/drawing/2014/main" id="{5D5E0EA8-FBF1-1A70-C3C0-FBAE42618A80}"/>
              </a:ext>
            </a:extLst>
          </p:cNvPr>
          <p:cNvSpPr/>
          <p:nvPr/>
        </p:nvSpPr>
        <p:spPr>
          <a:xfrm>
            <a:off x="3483758" y="3083909"/>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1" name="Rectangle 10">
            <a:extLst>
              <a:ext uri="{FF2B5EF4-FFF2-40B4-BE49-F238E27FC236}">
                <a16:creationId xmlns:a16="http://schemas.microsoft.com/office/drawing/2014/main" id="{976EF2CA-1DCC-7EA5-EA7E-6E750C368703}"/>
              </a:ext>
            </a:extLst>
          </p:cNvPr>
          <p:cNvSpPr/>
          <p:nvPr/>
        </p:nvSpPr>
        <p:spPr>
          <a:xfrm>
            <a:off x="3504479" y="3807337"/>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2" name="Rectangle 11">
            <a:extLst>
              <a:ext uri="{FF2B5EF4-FFF2-40B4-BE49-F238E27FC236}">
                <a16:creationId xmlns:a16="http://schemas.microsoft.com/office/drawing/2014/main" id="{B2681430-8D89-915B-B8F1-C2E6B22E06BC}"/>
              </a:ext>
            </a:extLst>
          </p:cNvPr>
          <p:cNvSpPr/>
          <p:nvPr/>
        </p:nvSpPr>
        <p:spPr>
          <a:xfrm>
            <a:off x="3504479" y="4619755"/>
            <a:ext cx="135255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Applicant ID</a:t>
            </a:r>
          </a:p>
        </p:txBody>
      </p:sp>
      <p:sp>
        <p:nvSpPr>
          <p:cNvPr id="13" name="Left Brace 12">
            <a:extLst>
              <a:ext uri="{FF2B5EF4-FFF2-40B4-BE49-F238E27FC236}">
                <a16:creationId xmlns:a16="http://schemas.microsoft.com/office/drawing/2014/main" id="{344D5109-A31E-AC09-7BC4-BBA7B330113E}"/>
              </a:ext>
            </a:extLst>
          </p:cNvPr>
          <p:cNvSpPr/>
          <p:nvPr/>
        </p:nvSpPr>
        <p:spPr>
          <a:xfrm>
            <a:off x="3114202" y="3205753"/>
            <a:ext cx="242184" cy="173785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Rectangle 20">
            <a:extLst>
              <a:ext uri="{FF2B5EF4-FFF2-40B4-BE49-F238E27FC236}">
                <a16:creationId xmlns:a16="http://schemas.microsoft.com/office/drawing/2014/main" id="{CC6E229A-0057-72FE-FDA0-113700C62B34}"/>
              </a:ext>
            </a:extLst>
          </p:cNvPr>
          <p:cNvSpPr/>
          <p:nvPr/>
        </p:nvSpPr>
        <p:spPr>
          <a:xfrm>
            <a:off x="3100704" y="1466112"/>
            <a:ext cx="2614610" cy="323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err="1"/>
              <a:t>agentID</a:t>
            </a:r>
            <a:endParaRPr lang="en-GB" dirty="0"/>
          </a:p>
        </p:txBody>
      </p:sp>
      <p:sp>
        <p:nvSpPr>
          <p:cNvPr id="22" name="Rectangle 21">
            <a:extLst>
              <a:ext uri="{FF2B5EF4-FFF2-40B4-BE49-F238E27FC236}">
                <a16:creationId xmlns:a16="http://schemas.microsoft.com/office/drawing/2014/main" id="{3268CFFC-2CBC-0BD9-7859-BCD8853AAC73}"/>
              </a:ext>
            </a:extLst>
          </p:cNvPr>
          <p:cNvSpPr/>
          <p:nvPr/>
        </p:nvSpPr>
        <p:spPr>
          <a:xfrm>
            <a:off x="7044055" y="1414662"/>
            <a:ext cx="1708150" cy="534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dirty="0"/>
              <a:t>264020 </a:t>
            </a:r>
            <a:r>
              <a:rPr lang="en-GB" altLang="en-US" dirty="0"/>
              <a:t> (Grainger)</a:t>
            </a:r>
            <a:endParaRPr lang="en-US" altLang="en-US" dirty="0"/>
          </a:p>
        </p:txBody>
      </p:sp>
      <p:sp>
        <p:nvSpPr>
          <p:cNvPr id="26" name="Rectangle 25">
            <a:extLst>
              <a:ext uri="{FF2B5EF4-FFF2-40B4-BE49-F238E27FC236}">
                <a16:creationId xmlns:a16="http://schemas.microsoft.com/office/drawing/2014/main" id="{048AE293-7A3D-8031-013D-6B68212315AC}"/>
              </a:ext>
            </a:extLst>
          </p:cNvPr>
          <p:cNvSpPr/>
          <p:nvPr/>
        </p:nvSpPr>
        <p:spPr>
          <a:xfrm>
            <a:off x="6656543" y="2154187"/>
            <a:ext cx="2366884"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a:t>Opportunity</a:t>
            </a:r>
          </a:p>
          <a:p>
            <a:pPr algn="ctr"/>
            <a:r>
              <a:rPr lang="en-GB" altLang="en-US" sz="1000" dirty="0" err="1"/>
              <a:t>Referencing_Property_Tenancy_Id__c</a:t>
            </a:r>
            <a:endParaRPr lang="en-US" altLang="en-US" sz="1000" dirty="0"/>
          </a:p>
        </p:txBody>
      </p:sp>
      <p:sp>
        <p:nvSpPr>
          <p:cNvPr id="29" name="TextBox 28">
            <a:extLst>
              <a:ext uri="{FF2B5EF4-FFF2-40B4-BE49-F238E27FC236}">
                <a16:creationId xmlns:a16="http://schemas.microsoft.com/office/drawing/2014/main" id="{2C6021FF-5FB5-956A-77AB-0A13E1A0F42E}"/>
              </a:ext>
            </a:extLst>
          </p:cNvPr>
          <p:cNvSpPr txBox="1"/>
          <p:nvPr/>
        </p:nvSpPr>
        <p:spPr>
          <a:xfrm>
            <a:off x="3100704" y="1020580"/>
            <a:ext cx="5300346" cy="369332"/>
          </a:xfrm>
          <a:prstGeom prst="rect">
            <a:avLst/>
          </a:prstGeom>
          <a:noFill/>
        </p:spPr>
        <p:txBody>
          <a:bodyPr wrap="square">
            <a:spAutoFit/>
          </a:bodyPr>
          <a:lstStyle/>
          <a:p>
            <a:r>
              <a:rPr lang="en-GB" sz="1800" b="1" dirty="0"/>
              <a:t>Vision+                                                             Grainger </a:t>
            </a:r>
            <a:endParaRPr lang="en-GB" dirty="0"/>
          </a:p>
        </p:txBody>
      </p:sp>
      <p:sp>
        <p:nvSpPr>
          <p:cNvPr id="30" name="TextBox 29">
            <a:extLst>
              <a:ext uri="{FF2B5EF4-FFF2-40B4-BE49-F238E27FC236}">
                <a16:creationId xmlns:a16="http://schemas.microsoft.com/office/drawing/2014/main" id="{727F1ABC-F29F-C967-7D55-4AFB3E74A05D}"/>
              </a:ext>
            </a:extLst>
          </p:cNvPr>
          <p:cNvSpPr txBox="1"/>
          <p:nvPr/>
        </p:nvSpPr>
        <p:spPr>
          <a:xfrm>
            <a:off x="2946294" y="5478108"/>
            <a:ext cx="5300346" cy="1200329"/>
          </a:xfrm>
          <a:prstGeom prst="rect">
            <a:avLst/>
          </a:prstGeom>
          <a:noFill/>
        </p:spPr>
        <p:txBody>
          <a:bodyPr wrap="square">
            <a:spAutoFit/>
          </a:bodyPr>
          <a:lstStyle/>
          <a:p>
            <a:r>
              <a:rPr lang="en-GB" sz="1800" dirty="0"/>
              <a:t>On create reference call or add applicant, the IDs are returned from Vision+ and stored in salesforce. These are synonymous data points with their equivalent in salesforce and other  Grainger systems</a:t>
            </a:r>
            <a:endParaRPr lang="en-GB" dirty="0"/>
          </a:p>
        </p:txBody>
      </p:sp>
      <p:sp>
        <p:nvSpPr>
          <p:cNvPr id="31" name="Arrow: Left-Right 30">
            <a:extLst>
              <a:ext uri="{FF2B5EF4-FFF2-40B4-BE49-F238E27FC236}">
                <a16:creationId xmlns:a16="http://schemas.microsoft.com/office/drawing/2014/main" id="{49484E97-ACD6-FA9B-5D09-4F4863BBE5BB}"/>
              </a:ext>
            </a:extLst>
          </p:cNvPr>
          <p:cNvSpPr/>
          <p:nvPr/>
        </p:nvSpPr>
        <p:spPr>
          <a:xfrm>
            <a:off x="5975822" y="1044390"/>
            <a:ext cx="680720" cy="373507"/>
          </a:xfrm>
          <a:prstGeom prst="leftRightArrow">
            <a:avLst>
              <a:gd name="adj1" fmla="val 28239"/>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E414C0F9-A693-FD03-4F9F-6777D5E88A9A}"/>
              </a:ext>
            </a:extLst>
          </p:cNvPr>
          <p:cNvSpPr/>
          <p:nvPr/>
        </p:nvSpPr>
        <p:spPr>
          <a:xfrm>
            <a:off x="6772833" y="2941770"/>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
        <p:nvSpPr>
          <p:cNvPr id="34" name="Rectangle 33">
            <a:extLst>
              <a:ext uri="{FF2B5EF4-FFF2-40B4-BE49-F238E27FC236}">
                <a16:creationId xmlns:a16="http://schemas.microsoft.com/office/drawing/2014/main" id="{50E2F77D-E5D1-3E28-C68D-5DAA9AD584C1}"/>
              </a:ext>
            </a:extLst>
          </p:cNvPr>
          <p:cNvSpPr/>
          <p:nvPr/>
        </p:nvSpPr>
        <p:spPr>
          <a:xfrm>
            <a:off x="6772832" y="3696597"/>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
        <p:nvSpPr>
          <p:cNvPr id="35" name="Rectangle 34">
            <a:extLst>
              <a:ext uri="{FF2B5EF4-FFF2-40B4-BE49-F238E27FC236}">
                <a16:creationId xmlns:a16="http://schemas.microsoft.com/office/drawing/2014/main" id="{3473BDA7-0FCF-3F0B-4D65-C7F5C6F9D6B3}"/>
              </a:ext>
            </a:extLst>
          </p:cNvPr>
          <p:cNvSpPr/>
          <p:nvPr/>
        </p:nvSpPr>
        <p:spPr>
          <a:xfrm>
            <a:off x="6772832" y="4463112"/>
            <a:ext cx="2069953" cy="6428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en-US" sz="1400" b="1" dirty="0" err="1"/>
              <a:t>OpportunityContactRole</a:t>
            </a:r>
            <a:endParaRPr lang="en-GB" altLang="en-US" sz="1400" b="1" dirty="0"/>
          </a:p>
          <a:p>
            <a:pPr algn="ctr"/>
            <a:r>
              <a:rPr lang="en-GB" altLang="en-US" sz="1000" dirty="0" err="1"/>
              <a:t>Referencing_Applicant_Id__c</a:t>
            </a:r>
            <a:endParaRPr lang="en-US" altLang="en-US" sz="1000" dirty="0"/>
          </a:p>
        </p:txBody>
      </p:sp>
    </p:spTree>
    <p:extLst>
      <p:ext uri="{BB962C8B-B14F-4D97-AF65-F5344CB8AC3E}">
        <p14:creationId xmlns:p14="http://schemas.microsoft.com/office/powerpoint/2010/main" val="4252667282"/>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Custom 8">
      <a:dk1>
        <a:srgbClr val="E3B900"/>
      </a:dk1>
      <a:lt1>
        <a:srgbClr val="FFFFFF"/>
      </a:lt1>
      <a:dk2>
        <a:srgbClr val="35393B"/>
      </a:dk2>
      <a:lt2>
        <a:srgbClr val="FEFFFE"/>
      </a:lt2>
      <a:accent1>
        <a:srgbClr val="E3B900"/>
      </a:accent1>
      <a:accent2>
        <a:srgbClr val="D4D5D4"/>
      </a:accent2>
      <a:accent3>
        <a:srgbClr val="35393A"/>
      </a:accent3>
      <a:accent4>
        <a:srgbClr val="FEFFFE"/>
      </a:accent4>
      <a:accent5>
        <a:srgbClr val="FFD600"/>
      </a:accent5>
      <a:accent6>
        <a:srgbClr val="A38500"/>
      </a:accent6>
      <a:hlink>
        <a:srgbClr val="A38500"/>
      </a:hlink>
      <a:folHlink>
        <a:srgbClr val="E3B90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Enterprise Solutions</TermName>
          <TermId xmlns="http://schemas.microsoft.com/office/infopath/2007/PartnerControls">08c57b01-67e8-4a4f-abc6-ffb3392ace7f</TermId>
        </TermInfo>
      </Terms>
    </nae5750f31d8428b9a1182bd8e59d390>
    <k6ebf865df8440b3a55c1aa81c9bae7c xmlns="1ffbd5dc-7a64-4097-8396-87f6c90b212f">
      <Terms xmlns="http://schemas.microsoft.com/office/infopath/2007/PartnerControls"/>
    </k6ebf865df8440b3a55c1aa81c9bae7c>
    <f0dc22cb723843c1bfbb2e8bcc9db6e4 xmlns="1ffbd5dc-7a64-4097-8396-87f6c90b212f">
      <Terms xmlns="http://schemas.microsoft.com/office/infopath/2007/PartnerControls"/>
    </f0dc22cb723843c1bfbb2e8bcc9db6e4>
    <TaxCatchAll xmlns="1ffbd5dc-7a64-4097-8396-87f6c90b212f">
      <Value>5</Value>
      <Value>6</Value>
    </TaxCatchAll>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Grainger PLC</TermName>
          <TermId xmlns="http://schemas.microsoft.com/office/infopath/2007/PartnerControls">a74f1cb5-e995-4f9e-8521-6d52e2c6bf08</TermId>
        </TermInfo>
      </Terms>
    </ica44df5449d49f98766f83f0bd254a7>
  </documentManagement>
</p:properties>
</file>

<file path=customXml/item4.xml><?xml version="1.0" encoding="utf-8"?>
<?mso-contentType ?>
<SharedContentType xmlns="Microsoft.SharePoint.Taxonomy.ContentTypeSync" SourceId="5676dd91-060c-4b71-810a-dbdca5582071" ContentTypeId="0x010100B16301FA1C2D5E4DB9305F31D037531D020703" PreviousValue="false"/>
</file>

<file path=customXml/itemProps1.xml><?xml version="1.0" encoding="utf-8"?>
<ds:datastoreItem xmlns:ds="http://schemas.openxmlformats.org/officeDocument/2006/customXml" ds:itemID="{DCBBABD8-3555-48AA-8719-AB43048C5B52}">
  <ds:schemaRefs>
    <ds:schemaRef ds:uri="http://schemas.microsoft.com/sharepoint/v3/contenttype/forms"/>
  </ds:schemaRefs>
</ds:datastoreItem>
</file>

<file path=customXml/itemProps2.xml><?xml version="1.0" encoding="utf-8"?>
<ds:datastoreItem xmlns:ds="http://schemas.openxmlformats.org/officeDocument/2006/customXml" ds:itemID="{10DC14FE-34F4-4099-9DE0-3BC6ACFEEC4C}"/>
</file>

<file path=customXml/itemProps3.xml><?xml version="1.0" encoding="utf-8"?>
<ds:datastoreItem xmlns:ds="http://schemas.openxmlformats.org/officeDocument/2006/customXml" ds:itemID="{8AE041E5-2483-43B0-8D4B-CEC76562B093}">
  <ds:schemaRefs>
    <ds:schemaRef ds:uri="http://purl.org/dc/dcmitype/"/>
    <ds:schemaRef ds:uri="http://purl.org/dc/elements/1.1/"/>
    <ds:schemaRef ds:uri="http://schemas.microsoft.com/office/2006/documentManagement/types"/>
    <ds:schemaRef ds:uri="http://purl.org/dc/terms/"/>
    <ds:schemaRef ds:uri="http://www.w3.org/XML/1998/namespace"/>
    <ds:schemaRef ds:uri="http://schemas.microsoft.com/office/infopath/2007/PartnerControls"/>
    <ds:schemaRef ds:uri="http://schemas.openxmlformats.org/package/2006/metadata/core-properties"/>
    <ds:schemaRef ds:uri="1ffbd5dc-7a64-4097-8396-87f6c90b212f"/>
    <ds:schemaRef ds:uri="http://schemas.microsoft.com/office/2006/metadata/properties"/>
  </ds:schemaRefs>
</ds:datastoreItem>
</file>

<file path=customXml/itemProps4.xml><?xml version="1.0" encoding="utf-8"?>
<ds:datastoreItem xmlns:ds="http://schemas.openxmlformats.org/officeDocument/2006/customXml" ds:itemID="{F3A93AF6-26A7-42B3-8A52-087468ECFDD2}">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
  <TotalTime>99940</TotalTime>
  <Words>1556</Words>
  <Application>Microsoft Macintosh PowerPoint</Application>
  <PresentationFormat>On-screen Show (4:3)</PresentationFormat>
  <Paragraphs>329</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.AppleSystemUIFont</vt:lpstr>
      <vt:lpstr>Arial</vt:lpstr>
      <vt:lpstr>Calibri</vt:lpstr>
      <vt:lpstr>Courier New</vt:lpstr>
      <vt:lpstr>Roboto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Donnelly, Craig (Fish)</dc:creator>
  <cp:lastModifiedBy>Sam Duncan</cp:lastModifiedBy>
  <cp:revision>978</cp:revision>
  <cp:lastPrinted>2019-07-17T11:00:11Z</cp:lastPrinted>
  <dcterms:created xsi:type="dcterms:W3CDTF">2017-07-18T10:38:07Z</dcterms:created>
  <dcterms:modified xsi:type="dcterms:W3CDTF">2023-07-05T16:19:49Z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Project Document Type">
    <vt:lpwstr/>
  </property>
  <property fmtid="{D5CDD505-2E9C-101B-9397-08002B2CF9AE}" pid="4" name="Client">
    <vt:lpwstr>6;#Grainger PLC|a74f1cb5-e995-4f9e-8521-6d52e2c6bf08</vt:lpwstr>
  </property>
  <property fmtid="{D5CDD505-2E9C-101B-9397-08002B2CF9AE}" pid="5" name="Client Project">
    <vt:lpwstr/>
  </property>
  <property fmtid="{D5CDD505-2E9C-101B-9397-08002B2CF9AE}" pid="6" name="Division">
    <vt:lpwstr>5;#Enterprise Solutions|08c57b01-67e8-4a4f-abc6-ffb3392ace7f</vt:lpwstr>
  </property>
  <property fmtid="{D5CDD505-2E9C-101B-9397-08002B2CF9AE}" pid="7" name="SharedWithUsers">
    <vt:lpwstr>29;#Anjali Salecha;#42;#Chris Burger</vt:lpwstr>
  </property>
  <property fmtid="{D5CDD505-2E9C-101B-9397-08002B2CF9AE}" pid="8" name="MediaServiceImageTags">
    <vt:lpwstr/>
  </property>
  <property fmtid="{D5CDD505-2E9C-101B-9397-08002B2CF9AE}" pid="9" name="lcf76f155ced4ddcb4097134ff3c332f">
    <vt:lpwstr/>
  </property>
  <property fmtid="{D5CDD505-2E9C-101B-9397-08002B2CF9AE}" pid="10" name="Project_x0020_Document_x0020_Type">
    <vt:lpwstr/>
  </property>
  <property fmtid="{D5CDD505-2E9C-101B-9397-08002B2CF9AE}" pid="11" name="Client_x0020_Project">
    <vt:lpwstr/>
  </property>
</Properties>
</file>