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A_9A843705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FDB05-ACC3-BC4F-ABF9-DF3F14B582DE}" v="4" dt="2023-06-22T11:13:02.031"/>
    <p1510:client id="{E2BE193A-CFEC-1949-74D8-9F359F385D49}" v="6" dt="2023-06-22T11:11:55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80"/>
    <p:restoredTop sz="94719"/>
  </p:normalViewPr>
  <p:slideViewPr>
    <p:cSldViewPr snapToGrid="0" snapToObjects="1">
      <p:cViewPr varScale="1">
        <p:scale>
          <a:sx n="148" d="100"/>
          <a:sy n="148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Duncan" userId="c1d0992b-0ec5-443a-8c6c-87e1361e2b1d" providerId="ADAL" clId="{A54FDB05-ACC3-BC4F-ABF9-DF3F14B582DE}"/>
    <pc:docChg chg="custSel delSld modSld">
      <pc:chgData name="Sam Duncan" userId="c1d0992b-0ec5-443a-8c6c-87e1361e2b1d" providerId="ADAL" clId="{A54FDB05-ACC3-BC4F-ABF9-DF3F14B582DE}" dt="2023-06-22T15:46:36.912" v="17" actId="478"/>
      <pc:docMkLst>
        <pc:docMk/>
      </pc:docMkLst>
      <pc:sldChg chg="del">
        <pc:chgData name="Sam Duncan" userId="c1d0992b-0ec5-443a-8c6c-87e1361e2b1d" providerId="ADAL" clId="{A54FDB05-ACC3-BC4F-ABF9-DF3F14B582DE}" dt="2023-06-22T11:10:52.401" v="0" actId="2696"/>
        <pc:sldMkLst>
          <pc:docMk/>
          <pc:sldMk cId="469586206" sldId="256"/>
        </pc:sldMkLst>
      </pc:sldChg>
      <pc:sldChg chg="delSp modSp mod">
        <pc:chgData name="Sam Duncan" userId="c1d0992b-0ec5-443a-8c6c-87e1361e2b1d" providerId="ADAL" clId="{A54FDB05-ACC3-BC4F-ABF9-DF3F14B582DE}" dt="2023-06-22T15:46:36.912" v="17" actId="478"/>
        <pc:sldMkLst>
          <pc:docMk/>
          <pc:sldMk cId="2592356101" sldId="266"/>
        </pc:sldMkLst>
        <pc:spChg chg="mod">
          <ac:chgData name="Sam Duncan" userId="c1d0992b-0ec5-443a-8c6c-87e1361e2b1d" providerId="ADAL" clId="{A54FDB05-ACC3-BC4F-ABF9-DF3F14B582DE}" dt="2023-06-22T11:13:02.031" v="16" actId="20577"/>
          <ac:spMkLst>
            <pc:docMk/>
            <pc:sldMk cId="2592356101" sldId="266"/>
            <ac:spMk id="15" creationId="{5BE7F990-D417-5CB5-0847-7A9E4F860586}"/>
          </ac:spMkLst>
        </pc:spChg>
        <pc:cxnChg chg="del">
          <ac:chgData name="Sam Duncan" userId="c1d0992b-0ec5-443a-8c6c-87e1361e2b1d" providerId="ADAL" clId="{A54FDB05-ACC3-BC4F-ABF9-DF3F14B582DE}" dt="2023-06-22T15:46:36.912" v="17" actId="478"/>
          <ac:cxnSpMkLst>
            <pc:docMk/>
            <pc:sldMk cId="2592356101" sldId="266"/>
            <ac:cxnSpMk id="55" creationId="{CB23597B-2628-C8D0-ED5F-E1B04FA199E9}"/>
          </ac:cxnSpMkLst>
        </pc:cxnChg>
      </pc:sldChg>
    </pc:docChg>
  </pc:docChgLst>
  <pc:docChgLst>
    <pc:chgData name="Sam Duncan" userId="S::sduncan@openboxsoftware.com::c1d0992b-0ec5-443a-8c6c-87e1361e2b1d" providerId="AD" clId="Web-{E2BE193A-CFEC-1949-74D8-9F359F385D49}"/>
    <pc:docChg chg="modSld">
      <pc:chgData name="Sam Duncan" userId="S::sduncan@openboxsoftware.com::c1d0992b-0ec5-443a-8c6c-87e1361e2b1d" providerId="AD" clId="Web-{E2BE193A-CFEC-1949-74D8-9F359F385D49}" dt="2023-06-22T11:11:55.932" v="2" actId="20577"/>
      <pc:docMkLst>
        <pc:docMk/>
      </pc:docMkLst>
      <pc:sldChg chg="modSp">
        <pc:chgData name="Sam Duncan" userId="S::sduncan@openboxsoftware.com::c1d0992b-0ec5-443a-8c6c-87e1361e2b1d" providerId="AD" clId="Web-{E2BE193A-CFEC-1949-74D8-9F359F385D49}" dt="2023-06-22T11:11:55.932" v="2" actId="20577"/>
        <pc:sldMkLst>
          <pc:docMk/>
          <pc:sldMk cId="2592356101" sldId="266"/>
        </pc:sldMkLst>
        <pc:spChg chg="mod">
          <ac:chgData name="Sam Duncan" userId="S::sduncan@openboxsoftware.com::c1d0992b-0ec5-443a-8c6c-87e1361e2b1d" providerId="AD" clId="Web-{E2BE193A-CFEC-1949-74D8-9F359F385D49}" dt="2023-06-22T11:11:55.932" v="2" actId="20577"/>
          <ac:spMkLst>
            <pc:docMk/>
            <pc:sldMk cId="2592356101" sldId="266"/>
            <ac:spMk id="15" creationId="{5BE7F990-D417-5CB5-0847-7A9E4F860586}"/>
          </ac:spMkLst>
        </pc:spChg>
      </pc:sldChg>
    </pc:docChg>
  </pc:docChgLst>
</pc:chgInfo>
</file>

<file path=ppt/comments/modernComment_10A_9A8437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90B600-682E-E746-B030-7867F95B8DC8}" authorId="{411D59CB-E194-D74B-FCF5-28A77AEB51E7}" created="2023-06-09T14:05:07.609">
    <pc:sldMkLst xmlns:pc="http://schemas.microsoft.com/office/powerpoint/2013/main/command">
      <pc:docMk/>
      <pc:sldMk cId="2592356101" sldId="266"/>
    </pc:sldMkLst>
    <p188:txBody>
      <a:bodyPr/>
      <a:lstStyle/>
      <a:p>
        <a:r>
          <a:rPr lang="en-US"/>
          <a:t>I have updated here to provide better granularity on the various callouts and split out Grainger portal and Grainger Salesforce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33F65-103C-0643-93C4-B6EB47D8B88F}" type="datetimeFigureOut">
              <a:rPr lang="en-US" smtClean="0"/>
              <a:t>6/22/23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31BB7-E0BE-CC4B-9233-352B7DA20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96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27A43-381B-44EA-836A-45D02553014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07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F9DD-07A3-1A29-6859-F10E08D8B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96DC6-F546-2ECD-1B3E-33E87EADB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69418-5A53-17C4-45FD-736DF6BD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5E06-325E-1644-AEC3-92E39FE9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68CB1-C71A-31B7-6A0F-1A9633FC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3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C681-CB87-A7CF-725D-E38200EE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B4BD2-9E04-3D66-A705-E40E3DD08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4AE3-1273-32AB-FABF-1395F4FD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26C2E-2C4E-0FBE-A9D4-4DC98AF3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57AD4-FF93-D1D9-3234-F03883C0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3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E88D-69C7-C156-D694-C475FCC8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96A9-F0D0-2BBE-FEFD-2E30FCEAA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706EC-F5AB-554F-C9AA-D3017921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CF777-D675-E5E3-EF39-C13F66D4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5E4A4-134D-675A-615A-398C1D89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89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035E-8737-A62F-CE01-DFAEEB2C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CA7AC-A704-D2EA-E50C-69F9E7159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FCFBA-FA7B-0530-E7CC-FC0701F64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BD171-6198-DE9C-62EC-5BD66489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D78F9-A275-8267-72FE-B43F43DC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82F80-0A2E-A542-79CF-2F909E17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11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1063-D4C9-00CD-106F-03384EA55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57E12-0ACD-B87F-4880-79BE7FBD2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3FF9E-CB0F-6263-8FD3-E52BEFC21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F7CB1-E21F-319D-441F-4917527AB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1B6F0-CEDD-2415-87B1-DDDA51652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DA5DB-A385-682C-ED01-3BB577D9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6E368-A366-F426-1862-B9107274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B5A0C-E4C8-1CCC-8240-F8714CB8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5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EAD8-CB01-2CEB-D25D-2BC290A8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467DF-E8E9-1D78-8AD6-DC8424F7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42E8E-09BB-AD2F-DD06-CC9CD259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9EDA9-C09E-A33C-45AC-B99DADE0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6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D11C0-766A-A39A-8709-F1365881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9F3E3-C3D5-4156-B8DE-11280D48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7F920-35BC-898B-C717-A91C4086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2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6BDC-29BB-8E4C-EF36-22FC104A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66AF3-9813-91D5-C7EE-7C9724666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216F1-A222-77E2-6C6A-F5866C2EE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FEECF-8B85-F53C-4ACA-D1C4853B7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AA620-8F64-CE5B-FA09-A8E81D17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69684-578B-2A7D-3157-9B7C05D0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2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F8CB-F9AB-DF67-EBB6-FC0DDB95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35C3A-7ED8-6CE6-4F95-3D60AA5DE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6D8A5-2A15-6FDA-2590-DDE8BE688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4C7EE-92E4-A71D-BECA-17066D3F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30D7D-0BCD-3F9E-8C0C-445EC022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D560D-9A40-EE8F-4C21-FFCF1AB8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61A5-D5FD-7C86-1741-F33B3D2E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7CBE3-9784-4F9C-DA30-4F47E1E0D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35CC0-44E6-DFCC-1BE5-58195FFA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5F0A-7320-BB53-9AE5-1A33A1279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0845A-CD2A-827C-ACFF-893024FE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6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EFA01-026C-5FEF-139E-4C1B9B078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803EA-5661-550F-57A3-C63B5A08A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2B0E9-5992-3852-AE6F-C9DD82EA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AB0E2-26B5-9E0A-EE90-98C9DBCA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ACE7-0CC7-C0C2-20DA-9B2337A1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0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ED7BA-24E9-DEF4-A9C5-8EB096E91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E54C4-3C7A-4C84-A637-DE7E0CA60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1AB5D-BF7A-E218-A5E4-D2C245990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A93CC-8D17-E74A-996A-CE6AB561C611}" type="datetimeFigureOut">
              <a:rPr lang="en-US" smtClean="0"/>
              <a:t>6/22/23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A3D1C-CE4E-289D-39DB-62029612B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0F191-AF5D-B040-9761-A0EBAF41D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1E418-B199-A94C-B0EE-19A13522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7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9A84370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14FA80-2BA9-457A-FA25-B93C3A01FA28}"/>
              </a:ext>
            </a:extLst>
          </p:cNvPr>
          <p:cNvSpPr/>
          <p:nvPr/>
        </p:nvSpPr>
        <p:spPr>
          <a:xfrm>
            <a:off x="1526723" y="7801667"/>
            <a:ext cx="9144000" cy="169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F25BA2-BB5D-4D3B-0601-2BB13AD968D4}"/>
              </a:ext>
            </a:extLst>
          </p:cNvPr>
          <p:cNvSpPr/>
          <p:nvPr/>
        </p:nvSpPr>
        <p:spPr>
          <a:xfrm>
            <a:off x="1524000" y="-2862"/>
            <a:ext cx="9144000" cy="169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E7F990-D417-5CB5-0847-7A9E4F860586}"/>
              </a:ext>
            </a:extLst>
          </p:cNvPr>
          <p:cNvSpPr txBox="1"/>
          <p:nvPr/>
        </p:nvSpPr>
        <p:spPr>
          <a:xfrm>
            <a:off x="1645920" y="201766"/>
            <a:ext cx="843937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b="1"/>
              <a:t>Tenant and Agent Journey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09531-1981-0CFF-762F-814946B6B868}"/>
              </a:ext>
            </a:extLst>
          </p:cNvPr>
          <p:cNvSpPr/>
          <p:nvPr/>
        </p:nvSpPr>
        <p:spPr>
          <a:xfrm>
            <a:off x="5052683" y="702950"/>
            <a:ext cx="1181888" cy="4795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Vision+ API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319FAD-EAA1-B00F-AEB8-0996E986D672}"/>
              </a:ext>
            </a:extLst>
          </p:cNvPr>
          <p:cNvCxnSpPr>
            <a:cxnSpLocks/>
          </p:cNvCxnSpPr>
          <p:nvPr/>
        </p:nvCxnSpPr>
        <p:spPr>
          <a:xfrm>
            <a:off x="2243289" y="1597339"/>
            <a:ext cx="14331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4CEB71D-5BCF-7340-D36A-5D536ADB606C}"/>
              </a:ext>
            </a:extLst>
          </p:cNvPr>
          <p:cNvSpPr/>
          <p:nvPr/>
        </p:nvSpPr>
        <p:spPr>
          <a:xfrm>
            <a:off x="2032938" y="1160139"/>
            <a:ext cx="193899" cy="1179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AE3413-8758-8644-6583-84E8A0EFF810}"/>
              </a:ext>
            </a:extLst>
          </p:cNvPr>
          <p:cNvSpPr/>
          <p:nvPr/>
        </p:nvSpPr>
        <p:spPr>
          <a:xfrm>
            <a:off x="5501190" y="1190533"/>
            <a:ext cx="227341" cy="27166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10B814-1850-8FE7-0E65-2A7D2C1AF56D}"/>
              </a:ext>
            </a:extLst>
          </p:cNvPr>
          <p:cNvSpPr txBox="1"/>
          <p:nvPr/>
        </p:nvSpPr>
        <p:spPr>
          <a:xfrm>
            <a:off x="3922074" y="1805306"/>
            <a:ext cx="1534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2. Reference instigated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51FAFD-09FE-2DA9-E9C4-16D8ABF0778B}"/>
              </a:ext>
            </a:extLst>
          </p:cNvPr>
          <p:cNvCxnSpPr>
            <a:cxnSpLocks/>
          </p:cNvCxnSpPr>
          <p:nvPr/>
        </p:nvCxnSpPr>
        <p:spPr>
          <a:xfrm>
            <a:off x="2261394" y="2011680"/>
            <a:ext cx="13877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218AFBB-32AC-A41F-5E8E-1A43578F9DDD}"/>
              </a:ext>
            </a:extLst>
          </p:cNvPr>
          <p:cNvSpPr txBox="1"/>
          <p:nvPr/>
        </p:nvSpPr>
        <p:spPr>
          <a:xfrm>
            <a:off x="2214378" y="1609050"/>
            <a:ext cx="13734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1.b Tenant makes advance payment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5A1E7E-5B52-C2E1-05E5-32B3532D4F7C}"/>
              </a:ext>
            </a:extLst>
          </p:cNvPr>
          <p:cNvSpPr txBox="1"/>
          <p:nvPr/>
        </p:nvSpPr>
        <p:spPr>
          <a:xfrm>
            <a:off x="2256431" y="5632796"/>
            <a:ext cx="3610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10. Applicant(s) access portal via </a:t>
            </a:r>
            <a:r>
              <a:rPr lang="en-GB" sz="1100" err="1">
                <a:solidFill>
                  <a:schemeClr val="accent3"/>
                </a:solidFill>
              </a:rPr>
              <a:t>iFrame</a:t>
            </a:r>
            <a:r>
              <a:rPr lang="en-GB" sz="1100">
                <a:solidFill>
                  <a:schemeClr val="accent3"/>
                </a:solidFill>
              </a:rPr>
              <a:t> and JWT Token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102639-3787-0EF9-429A-C2A1584D935E}"/>
              </a:ext>
            </a:extLst>
          </p:cNvPr>
          <p:cNvSpPr/>
          <p:nvPr/>
        </p:nvSpPr>
        <p:spPr>
          <a:xfrm>
            <a:off x="8046693" y="702950"/>
            <a:ext cx="1181888" cy="4795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Vision+ Tenant Portal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B3A15F-1BB7-612B-8CE0-38200ABB3E7E}"/>
              </a:ext>
            </a:extLst>
          </p:cNvPr>
          <p:cNvSpPr/>
          <p:nvPr/>
        </p:nvSpPr>
        <p:spPr>
          <a:xfrm>
            <a:off x="8569236" y="1189682"/>
            <a:ext cx="175844" cy="357764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5EB479-BE84-E4CF-6C58-E5F5935E9862}"/>
              </a:ext>
            </a:extLst>
          </p:cNvPr>
          <p:cNvCxnSpPr>
            <a:cxnSpLocks/>
          </p:cNvCxnSpPr>
          <p:nvPr/>
        </p:nvCxnSpPr>
        <p:spPr>
          <a:xfrm flipH="1" flipV="1">
            <a:off x="3910705" y="6733067"/>
            <a:ext cx="1404969" cy="26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912EE4D-C800-7FD9-FE89-D18BBBFE3B1C}"/>
              </a:ext>
            </a:extLst>
          </p:cNvPr>
          <p:cNvSpPr txBox="1"/>
          <p:nvPr/>
        </p:nvSpPr>
        <p:spPr>
          <a:xfrm>
            <a:off x="3835418" y="6082794"/>
            <a:ext cx="1678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12. Vision+ updates Salesforce  on reference Status change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1FC68F0-8CF8-065C-CF9C-B3248C8C570E}"/>
              </a:ext>
            </a:extLst>
          </p:cNvPr>
          <p:cNvCxnSpPr>
            <a:cxnSpLocks/>
          </p:cNvCxnSpPr>
          <p:nvPr/>
        </p:nvCxnSpPr>
        <p:spPr>
          <a:xfrm flipV="1">
            <a:off x="3889161" y="7058378"/>
            <a:ext cx="5982183" cy="27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1BCB24E-C56F-F0BD-DF7E-320E03A15E32}"/>
              </a:ext>
            </a:extLst>
          </p:cNvPr>
          <p:cNvSpPr/>
          <p:nvPr/>
        </p:nvSpPr>
        <p:spPr>
          <a:xfrm>
            <a:off x="9399362" y="702950"/>
            <a:ext cx="1181888" cy="4795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Vision+ Agent Portal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77D8EF-07AA-A849-1354-3CF0C5390100}"/>
              </a:ext>
            </a:extLst>
          </p:cNvPr>
          <p:cNvSpPr/>
          <p:nvPr/>
        </p:nvSpPr>
        <p:spPr>
          <a:xfrm>
            <a:off x="9846860" y="1163263"/>
            <a:ext cx="162974" cy="541552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4B5AAF-5EAC-1326-B9CC-06E24A68D0DB}"/>
              </a:ext>
            </a:extLst>
          </p:cNvPr>
          <p:cNvSpPr txBox="1"/>
          <p:nvPr/>
        </p:nvSpPr>
        <p:spPr>
          <a:xfrm>
            <a:off x="5213384" y="6824568"/>
            <a:ext cx="292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13. Agent goes to Vision+ portal for review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875111-62EE-3DCB-4354-38AE13885B61}"/>
              </a:ext>
            </a:extLst>
          </p:cNvPr>
          <p:cNvCxnSpPr>
            <a:cxnSpLocks/>
          </p:cNvCxnSpPr>
          <p:nvPr/>
        </p:nvCxnSpPr>
        <p:spPr>
          <a:xfrm>
            <a:off x="2285804" y="5894406"/>
            <a:ext cx="62174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032B5F4-770B-75DF-4A1A-B12B7137D9DF}"/>
              </a:ext>
            </a:extLst>
          </p:cNvPr>
          <p:cNvSpPr/>
          <p:nvPr/>
        </p:nvSpPr>
        <p:spPr>
          <a:xfrm>
            <a:off x="3231970" y="702950"/>
            <a:ext cx="1181888" cy="479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Grainger Salesforce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1A7A95-B65A-1827-9DEA-658D2DCC72FC}"/>
              </a:ext>
            </a:extLst>
          </p:cNvPr>
          <p:cNvSpPr/>
          <p:nvPr/>
        </p:nvSpPr>
        <p:spPr>
          <a:xfrm>
            <a:off x="3681998" y="1172966"/>
            <a:ext cx="159107" cy="2678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FCEC5-930C-79EE-8F37-ED32DD82CA1A}"/>
              </a:ext>
            </a:extLst>
          </p:cNvPr>
          <p:cNvSpPr txBox="1"/>
          <p:nvPr/>
        </p:nvSpPr>
        <p:spPr>
          <a:xfrm>
            <a:off x="2222815" y="1199319"/>
            <a:ext cx="14097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1a. Additional Applicants added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7CA269-CAB0-A88C-89F5-9D7D0DC144D8}"/>
              </a:ext>
            </a:extLst>
          </p:cNvPr>
          <p:cNvCxnSpPr>
            <a:cxnSpLocks/>
          </p:cNvCxnSpPr>
          <p:nvPr/>
        </p:nvCxnSpPr>
        <p:spPr>
          <a:xfrm>
            <a:off x="3869467" y="2109396"/>
            <a:ext cx="16132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F4A23F-6D88-5496-7F6F-B25D441D66C0}"/>
              </a:ext>
            </a:extLst>
          </p:cNvPr>
          <p:cNvCxnSpPr>
            <a:cxnSpLocks/>
          </p:cNvCxnSpPr>
          <p:nvPr/>
        </p:nvCxnSpPr>
        <p:spPr>
          <a:xfrm flipH="1">
            <a:off x="3869468" y="2664887"/>
            <a:ext cx="15870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009AA16-E5C4-1812-B8E4-BF461FBC6649}"/>
              </a:ext>
            </a:extLst>
          </p:cNvPr>
          <p:cNvSpPr txBox="1"/>
          <p:nvPr/>
        </p:nvSpPr>
        <p:spPr>
          <a:xfrm>
            <a:off x="3922074" y="2084879"/>
            <a:ext cx="15343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3. </a:t>
            </a:r>
            <a:r>
              <a:rPr lang="en-GB" sz="1100" err="1">
                <a:solidFill>
                  <a:schemeClr val="accent3"/>
                </a:solidFill>
              </a:rPr>
              <a:t>TenancyID</a:t>
            </a:r>
            <a:r>
              <a:rPr lang="en-GB" sz="1100">
                <a:solidFill>
                  <a:schemeClr val="accent3"/>
                </a:solidFill>
              </a:rPr>
              <a:t> and </a:t>
            </a:r>
            <a:r>
              <a:rPr lang="en-GB" sz="1100" err="1">
                <a:solidFill>
                  <a:schemeClr val="accent3"/>
                </a:solidFill>
              </a:rPr>
              <a:t>ApplicantID</a:t>
            </a:r>
            <a:r>
              <a:rPr lang="en-GB" sz="1100">
                <a:solidFill>
                  <a:schemeClr val="accent3"/>
                </a:solidFill>
              </a:rPr>
              <a:t> returned to Salesforce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C1E8F1-B6D2-AC9A-8513-44444A03FB55}"/>
              </a:ext>
            </a:extLst>
          </p:cNvPr>
          <p:cNvSpPr/>
          <p:nvPr/>
        </p:nvSpPr>
        <p:spPr>
          <a:xfrm>
            <a:off x="3672370" y="5963492"/>
            <a:ext cx="176842" cy="178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6519AE-0073-9835-7A8A-335186E86795}"/>
              </a:ext>
            </a:extLst>
          </p:cNvPr>
          <p:cNvSpPr txBox="1"/>
          <p:nvPr/>
        </p:nvSpPr>
        <p:spPr>
          <a:xfrm>
            <a:off x="3947564" y="2703942"/>
            <a:ext cx="15658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4. Additional applicants added to reference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5C83F1-A296-972C-14E2-87F6D9AAD01D}"/>
              </a:ext>
            </a:extLst>
          </p:cNvPr>
          <p:cNvCxnSpPr>
            <a:cxnSpLocks/>
          </p:cNvCxnSpPr>
          <p:nvPr/>
        </p:nvCxnSpPr>
        <p:spPr>
          <a:xfrm flipV="1">
            <a:off x="3910705" y="3134828"/>
            <a:ext cx="1571999" cy="12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88964F-D7F5-3493-0D02-C82AC6EDC334}"/>
              </a:ext>
            </a:extLst>
          </p:cNvPr>
          <p:cNvCxnSpPr>
            <a:cxnSpLocks/>
          </p:cNvCxnSpPr>
          <p:nvPr/>
        </p:nvCxnSpPr>
        <p:spPr>
          <a:xfrm flipH="1">
            <a:off x="3925345" y="3531941"/>
            <a:ext cx="14448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F0D9085-0BC7-1E2D-0D7E-5A02051399D0}"/>
              </a:ext>
            </a:extLst>
          </p:cNvPr>
          <p:cNvSpPr txBox="1"/>
          <p:nvPr/>
        </p:nvSpPr>
        <p:spPr>
          <a:xfrm>
            <a:off x="3948637" y="3153878"/>
            <a:ext cx="15832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5. Applicant IDs + applicant secret returned to Salesforce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9AB42D-FB67-1BB8-26C6-BFC9CE64BA6D}"/>
              </a:ext>
            </a:extLst>
          </p:cNvPr>
          <p:cNvSpPr/>
          <p:nvPr/>
        </p:nvSpPr>
        <p:spPr>
          <a:xfrm>
            <a:off x="2032695" y="2889291"/>
            <a:ext cx="199706" cy="3182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78F51D7-F01B-CF57-C379-536E1C6A3ACE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>
            <a:off x="2129888" y="2339729"/>
            <a:ext cx="2660" cy="54956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98146C1-4B82-D8FA-D6C1-5C2102D110C6}"/>
              </a:ext>
            </a:extLst>
          </p:cNvPr>
          <p:cNvSpPr txBox="1"/>
          <p:nvPr/>
        </p:nvSpPr>
        <p:spPr>
          <a:xfrm>
            <a:off x="2324491" y="2214180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Time delay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37F939-60D7-11FE-7BDB-9D057E85CA17}"/>
              </a:ext>
            </a:extLst>
          </p:cNvPr>
          <p:cNvSpPr/>
          <p:nvPr/>
        </p:nvSpPr>
        <p:spPr>
          <a:xfrm>
            <a:off x="5491314" y="6114013"/>
            <a:ext cx="220134" cy="66480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C631EA-10CE-49AD-693E-29793683D8FC}"/>
              </a:ext>
            </a:extLst>
          </p:cNvPr>
          <p:cNvSpPr txBox="1"/>
          <p:nvPr/>
        </p:nvSpPr>
        <p:spPr>
          <a:xfrm>
            <a:off x="7447445" y="6071441"/>
            <a:ext cx="3751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3"/>
                </a:solidFill>
              </a:rPr>
              <a:t>11. Referencing process In progress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67DD318-4E85-22F3-E2A8-FAAEDCB2C6C4}"/>
              </a:ext>
            </a:extLst>
          </p:cNvPr>
          <p:cNvCxnSpPr>
            <a:cxnSpLocks/>
          </p:cNvCxnSpPr>
          <p:nvPr/>
        </p:nvCxnSpPr>
        <p:spPr>
          <a:xfrm flipH="1">
            <a:off x="3889160" y="7302071"/>
            <a:ext cx="5984378" cy="38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13F69EE-2907-2D98-7E9B-DB8B48F85912}"/>
              </a:ext>
            </a:extLst>
          </p:cNvPr>
          <p:cNvCxnSpPr>
            <a:cxnSpLocks/>
          </p:cNvCxnSpPr>
          <p:nvPr/>
        </p:nvCxnSpPr>
        <p:spPr>
          <a:xfrm flipV="1">
            <a:off x="2272528" y="4069818"/>
            <a:ext cx="4771305" cy="210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29B7027-D599-1793-01E5-A8B8E82330D6}"/>
              </a:ext>
            </a:extLst>
          </p:cNvPr>
          <p:cNvSpPr txBox="1"/>
          <p:nvPr/>
        </p:nvSpPr>
        <p:spPr>
          <a:xfrm>
            <a:off x="2265757" y="3850803"/>
            <a:ext cx="3049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8. Query auth server with applicant id and client id signed with applicant secret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517459E-E6F3-1524-1785-DC154D741577}"/>
              </a:ext>
            </a:extLst>
          </p:cNvPr>
          <p:cNvCxnSpPr>
            <a:cxnSpLocks/>
          </p:cNvCxnSpPr>
          <p:nvPr/>
        </p:nvCxnSpPr>
        <p:spPr>
          <a:xfrm flipH="1">
            <a:off x="2247061" y="5406733"/>
            <a:ext cx="4789410" cy="24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8C2910F-9693-D5BD-1307-1D15FCBD2E75}"/>
              </a:ext>
            </a:extLst>
          </p:cNvPr>
          <p:cNvSpPr txBox="1"/>
          <p:nvPr/>
        </p:nvSpPr>
        <p:spPr>
          <a:xfrm>
            <a:off x="2351321" y="5181529"/>
            <a:ext cx="1845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9. Access Token returned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09648D-FC70-4195-0D78-D06614F2CDCD}"/>
              </a:ext>
            </a:extLst>
          </p:cNvPr>
          <p:cNvSpPr txBox="1"/>
          <p:nvPr/>
        </p:nvSpPr>
        <p:spPr>
          <a:xfrm>
            <a:off x="5198846" y="7078753"/>
            <a:ext cx="39951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14. SAML request sent to Salesforce Identity Provider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01C136-6D7B-EC17-F99C-EAF1B0AF42C3}"/>
              </a:ext>
            </a:extLst>
          </p:cNvPr>
          <p:cNvCxnSpPr>
            <a:cxnSpLocks/>
          </p:cNvCxnSpPr>
          <p:nvPr/>
        </p:nvCxnSpPr>
        <p:spPr>
          <a:xfrm>
            <a:off x="3922075" y="7578640"/>
            <a:ext cx="59492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18F201B-7588-2B82-66FE-597748A20D14}"/>
              </a:ext>
            </a:extLst>
          </p:cNvPr>
          <p:cNvSpPr txBox="1"/>
          <p:nvPr/>
        </p:nvSpPr>
        <p:spPr>
          <a:xfrm>
            <a:off x="5171937" y="7356485"/>
            <a:ext cx="4551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15. SAML assertion sent to Vision+ Agent Portal to allow user access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E1D33CA-8FB4-7BCD-E5EB-7BF689F220AD}"/>
              </a:ext>
            </a:extLst>
          </p:cNvPr>
          <p:cNvCxnSpPr>
            <a:cxnSpLocks/>
          </p:cNvCxnSpPr>
          <p:nvPr/>
        </p:nvCxnSpPr>
        <p:spPr>
          <a:xfrm>
            <a:off x="2250845" y="2998982"/>
            <a:ext cx="14255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1B6FCBA-DB2F-713F-FC32-8839CBABCD4F}"/>
              </a:ext>
            </a:extLst>
          </p:cNvPr>
          <p:cNvSpPr txBox="1"/>
          <p:nvPr/>
        </p:nvSpPr>
        <p:spPr>
          <a:xfrm>
            <a:off x="2302965" y="2602197"/>
            <a:ext cx="13734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6. Query applicant ID + applicant secret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1DF41E5-477C-13FB-6940-2F050E118085}"/>
              </a:ext>
            </a:extLst>
          </p:cNvPr>
          <p:cNvCxnSpPr>
            <a:cxnSpLocks/>
          </p:cNvCxnSpPr>
          <p:nvPr/>
        </p:nvCxnSpPr>
        <p:spPr>
          <a:xfrm flipH="1">
            <a:off x="2244738" y="3613186"/>
            <a:ext cx="1362945" cy="67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4DEB0FD-2A82-958A-08EA-89A604CB363E}"/>
              </a:ext>
            </a:extLst>
          </p:cNvPr>
          <p:cNvSpPr txBox="1"/>
          <p:nvPr/>
        </p:nvSpPr>
        <p:spPr>
          <a:xfrm>
            <a:off x="2285804" y="3053694"/>
            <a:ext cx="14938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7. Applicant ID + applicant secret returned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6FAA60-6A28-40C0-899F-D8D4E1BBA8D5}"/>
              </a:ext>
            </a:extLst>
          </p:cNvPr>
          <p:cNvSpPr/>
          <p:nvPr/>
        </p:nvSpPr>
        <p:spPr>
          <a:xfrm>
            <a:off x="6554824" y="702950"/>
            <a:ext cx="1181888" cy="47959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Vision+ Auth Server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3D8F7E2-9870-7C88-3446-968FC211C7A3}"/>
              </a:ext>
            </a:extLst>
          </p:cNvPr>
          <p:cNvSpPr/>
          <p:nvPr/>
        </p:nvSpPr>
        <p:spPr>
          <a:xfrm>
            <a:off x="7046842" y="1181268"/>
            <a:ext cx="197974" cy="425627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8879A7-FC1D-83CA-A540-11185E1160A3}"/>
              </a:ext>
            </a:extLst>
          </p:cNvPr>
          <p:cNvSpPr/>
          <p:nvPr/>
        </p:nvSpPr>
        <p:spPr>
          <a:xfrm>
            <a:off x="1626042" y="702950"/>
            <a:ext cx="1181888" cy="479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Grainger Portal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D6FAF1C-6D20-32DC-9FFE-A79B65FDDC47}"/>
              </a:ext>
            </a:extLst>
          </p:cNvPr>
          <p:cNvCxnSpPr>
            <a:cxnSpLocks/>
          </p:cNvCxnSpPr>
          <p:nvPr/>
        </p:nvCxnSpPr>
        <p:spPr>
          <a:xfrm flipH="1">
            <a:off x="5738552" y="4758941"/>
            <a:ext cx="13122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3FFC6A0-E991-1C3D-F878-4299190E6C04}"/>
              </a:ext>
            </a:extLst>
          </p:cNvPr>
          <p:cNvSpPr txBox="1"/>
          <p:nvPr/>
        </p:nvSpPr>
        <p:spPr>
          <a:xfrm>
            <a:off x="5702569" y="4169050"/>
            <a:ext cx="14938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Get applicant secret for specified applicant Id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DEBC6FE-318F-1638-B1B6-4707C2247BAA}"/>
              </a:ext>
            </a:extLst>
          </p:cNvPr>
          <p:cNvCxnSpPr>
            <a:cxnSpLocks/>
          </p:cNvCxnSpPr>
          <p:nvPr/>
        </p:nvCxnSpPr>
        <p:spPr>
          <a:xfrm>
            <a:off x="5745562" y="5207675"/>
            <a:ext cx="1305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EC9C308-15C3-3670-3FAE-7FC85E502CD1}"/>
              </a:ext>
            </a:extLst>
          </p:cNvPr>
          <p:cNvSpPr txBox="1"/>
          <p:nvPr/>
        </p:nvSpPr>
        <p:spPr>
          <a:xfrm>
            <a:off x="5686714" y="4785291"/>
            <a:ext cx="14938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>
                <a:solidFill>
                  <a:schemeClr val="accent3"/>
                </a:solidFill>
              </a:rPr>
              <a:t>Applicant secret returned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A758C6-3E62-5917-BB3D-2F4453BC21C5}"/>
              </a:ext>
            </a:extLst>
          </p:cNvPr>
          <p:cNvSpPr txBox="1"/>
          <p:nvPr/>
        </p:nvSpPr>
        <p:spPr>
          <a:xfrm>
            <a:off x="7218303" y="5089951"/>
            <a:ext cx="3751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3"/>
                </a:solidFill>
              </a:rPr>
              <a:t>Validates signature from #8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8C2AEC3-A1A6-9D0A-9A61-6900DF475F8E}"/>
              </a:ext>
            </a:extLst>
          </p:cNvPr>
          <p:cNvSpPr/>
          <p:nvPr/>
        </p:nvSpPr>
        <p:spPr>
          <a:xfrm>
            <a:off x="5520907" y="4204970"/>
            <a:ext cx="220134" cy="112486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35A7A4C-414B-7677-1F64-B6757060066F}"/>
              </a:ext>
            </a:extLst>
          </p:cNvPr>
          <p:cNvCxnSpPr/>
          <p:nvPr/>
        </p:nvCxnSpPr>
        <p:spPr>
          <a:xfrm>
            <a:off x="6234571" y="960392"/>
            <a:ext cx="3202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3561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Salesforce</TermName>
          <TermId xmlns="http://schemas.microsoft.com/office/infopath/2007/PartnerControls">65ce3b0d-68ef-4d0b-ac56-177d5509cec4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Technical Specification</TermName>
          <TermId xmlns="http://schemas.microsoft.com/office/infopath/2007/PartnerControls">2306ffb8-5561-41d9-bd52-c6952c692787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TaxCatchAll xmlns="1ffbd5dc-7a64-4097-8396-87f6c90b212f">
      <Value>6</Value>
      <Value>13</Value>
      <Value>23</Value>
    </TaxCatchAll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05D626-0ED3-4BC1-BB27-E5F11F073A55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purl.org/dc/dcmitype/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5D6624D-0A7A-4435-BC4C-2C2BEFB0D1A7}"/>
</file>

<file path=customXml/itemProps3.xml><?xml version="1.0" encoding="utf-8"?>
<ds:datastoreItem xmlns:ds="http://schemas.openxmlformats.org/officeDocument/2006/customXml" ds:itemID="{3E28BACF-99CE-4EA5-A06E-4F03EA9832D6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0930BD55-9013-4B59-A705-5DEBB71770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Duncan</dc:creator>
  <cp:lastModifiedBy>Sam Duncan</cp:lastModifiedBy>
  <cp:revision>1</cp:revision>
  <dcterms:created xsi:type="dcterms:W3CDTF">2023-06-22T07:24:06Z</dcterms:created>
  <dcterms:modified xsi:type="dcterms:W3CDTF">2023-06-22T15:46:41Z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ject Document Type">
    <vt:lpwstr>23;#Technical Specification|2306ffb8-5561-41d9-bd52-c6952c692787</vt:lpwstr>
  </property>
  <property fmtid="{D5CDD505-2E9C-101B-9397-08002B2CF9AE}" pid="3" name="Client">
    <vt:lpwstr>6;#Grainger PLC|a74f1cb5-e995-4f9e-8521-6d52e2c6bf08</vt:lpwstr>
  </property>
  <property fmtid="{D5CDD505-2E9C-101B-9397-08002B2CF9AE}" pid="4" name="ContentTypeId">
    <vt:lpwstr>0x010100B16301FA1C2D5E4DB9305F31D037531D02070300B4E123A7400DE24C83BA9D1BFCD12C10</vt:lpwstr>
  </property>
  <property fmtid="{D5CDD505-2E9C-101B-9397-08002B2CF9AE}" pid="5" name="Client Project">
    <vt:lpwstr/>
  </property>
  <property fmtid="{D5CDD505-2E9C-101B-9397-08002B2CF9AE}" pid="6" name="Division">
    <vt:lpwstr>13;#Salesforce|65ce3b0d-68ef-4d0b-ac56-177d5509cec4</vt:lpwstr>
  </property>
  <property fmtid="{D5CDD505-2E9C-101B-9397-08002B2CF9AE}" pid="7" name="MediaServiceImageTags">
    <vt:lpwstr/>
  </property>
  <property fmtid="{D5CDD505-2E9C-101B-9397-08002B2CF9AE}" pid="8" name="lcf76f155ced4ddcb4097134ff3c332f">
    <vt:lpwstr/>
  </property>
</Properties>
</file>