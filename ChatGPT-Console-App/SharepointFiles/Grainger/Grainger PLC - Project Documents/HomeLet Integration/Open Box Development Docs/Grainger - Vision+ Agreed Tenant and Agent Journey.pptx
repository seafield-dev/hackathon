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A_9A843705.xml" ContentType="application/vnd.ms-powerpoint.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10C_B2A3732E.xml" ContentType="application/vnd.ms-powerpoint.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modernComment_10F_2DA1DEF3.xml" ContentType="application/vnd.ms-powerpoint.comments+xml"/>
  <Override PartName="/ppt/notesSlides/notesSlide8.xml" ContentType="application/vnd.openxmlformats-officedocument.presentationml.notesSlide+xml"/>
  <Override PartName="/ppt/notesSlides/notesSlide9.xml" ContentType="application/vnd.openxmlformats-officedocument.presentationml.notesSlide+xml"/>
  <Override PartName="/ppt/comments/modernComment_111_FD7A8D92.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5"/>
  </p:sldMasterIdLst>
  <p:notesMasterIdLst>
    <p:notesMasterId r:id="rId17"/>
  </p:notesMasterIdLst>
  <p:sldIdLst>
    <p:sldId id="256" r:id="rId6"/>
    <p:sldId id="266" r:id="rId7"/>
    <p:sldId id="267" r:id="rId8"/>
    <p:sldId id="268" r:id="rId9"/>
    <p:sldId id="269" r:id="rId10"/>
    <p:sldId id="270" r:id="rId11"/>
    <p:sldId id="274" r:id="rId12"/>
    <p:sldId id="271" r:id="rId13"/>
    <p:sldId id="265" r:id="rId14"/>
    <p:sldId id="272" r:id="rId15"/>
    <p:sldId id="273" r:id="rId16"/>
  </p:sldIdLst>
  <p:sldSz cx="9144000" cy="6858000" type="screen4x3"/>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esentation" id="{6AD4CBCC-6522-4E06-8B7A-F7EC80724FCF}">
          <p14:sldIdLst>
            <p14:sldId id="256"/>
            <p14:sldId id="266"/>
            <p14:sldId id="267"/>
            <p14:sldId id="268"/>
            <p14:sldId id="269"/>
            <p14:sldId id="270"/>
            <p14:sldId id="274"/>
            <p14:sldId id="271"/>
            <p14:sldId id="265"/>
            <p14:sldId id="272"/>
            <p14:sldId id="273"/>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C24326F-B7E2-C596-FB18-CB4C38568A76}" name="Tam Cummings" initials="TC" userId="S::tam.cummings@pib-insurance.com::c810b178-a0ee-4a80-9640-f27720cf7b67" providerId="AD"/>
  <p188:author id="{411D59CB-E194-D74B-FCF5-28A77AEB51E7}" name="Sam Duncan" initials="SD" userId="S::sduncan@openboxsoftware.com::c1d0992b-0ec5-443a-8c6c-87e1361e2b1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57A2D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714" autoAdjust="0"/>
    <p:restoredTop sz="93907" autoAdjust="0"/>
  </p:normalViewPr>
  <p:slideViewPr>
    <p:cSldViewPr snapToGrid="0" snapToObjects="1">
      <p:cViewPr varScale="1">
        <p:scale>
          <a:sx n="64" d="100"/>
          <a:sy n="64" d="100"/>
        </p:scale>
        <p:origin x="440"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1.xml"/><Relationship Id="rId15" Type="http://schemas.openxmlformats.org/officeDocument/2006/relationships/slide" Target="slides/slide10.xml"/><Relationship Id="rId10" Type="http://schemas.openxmlformats.org/officeDocument/2006/relationships/slide" Target="slides/slide5.xml"/><Relationship Id="rId19"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microsoft.com/office/2018/10/relationships/authors" Target="authors.xml"/></Relationships>
</file>

<file path=ppt/comments/modernComment_10A_9A843705.xml><?xml version="1.0" encoding="utf-8"?>
<p188:cmLst xmlns:a="http://schemas.openxmlformats.org/drawingml/2006/main" xmlns:r="http://schemas.openxmlformats.org/officeDocument/2006/relationships" xmlns:p188="http://schemas.microsoft.com/office/powerpoint/2018/8/main">
  <p188:cm id="{6B90B600-682E-E746-B030-7867F95B8DC8}" authorId="{411D59CB-E194-D74B-FCF5-28A77AEB51E7}" created="2023-06-09T14:05:07.609">
    <pc:sldMkLst xmlns:pc="http://schemas.microsoft.com/office/powerpoint/2013/main/command">
      <pc:docMk/>
      <pc:sldMk cId="2592356101" sldId="266"/>
    </pc:sldMkLst>
    <p188:txBody>
      <a:bodyPr/>
      <a:lstStyle/>
      <a:p>
        <a:r>
          <a:rPr lang="en-US"/>
          <a:t>I have updated here to provide better granularity on the various callouts and split out Grainger portal and Grainger Salesforce</a:t>
        </a:r>
      </a:p>
    </p188:txBody>
  </p188:cm>
</p188:cmLst>
</file>

<file path=ppt/comments/modernComment_10C_B2A3732E.xml><?xml version="1.0" encoding="utf-8"?>
<p188:cmLst xmlns:a="http://schemas.openxmlformats.org/drawingml/2006/main" xmlns:r="http://schemas.openxmlformats.org/officeDocument/2006/relationships" xmlns:p188="http://schemas.microsoft.com/office/powerpoint/2018/8/main">
  <p188:cm id="{A60915FC-B3A0-BF4E-B95A-5236C2FEC7AE}" authorId="{411D59CB-E194-D74B-FCF5-28A77AEB51E7}" created="2023-06-09T11:16:31.456">
    <ac:deMkLst xmlns:ac="http://schemas.microsoft.com/office/drawing/2013/main/command">
      <pc:docMk xmlns:pc="http://schemas.microsoft.com/office/powerpoint/2013/main/command"/>
      <pc:sldMk xmlns:pc="http://schemas.microsoft.com/office/powerpoint/2013/main/command" cId="2997056302" sldId="268"/>
      <ac:spMk id="14" creationId="{ABAA3F78-F077-B026-55C4-E6649D06EF6D}"/>
    </ac:deMkLst>
    <p188:txBody>
      <a:bodyPr/>
      <a:lstStyle/>
      <a:p>
        <a:r>
          <a:rPr lang="en-US"/>
          <a:t>@jaic @lee 
Please confirm my understanding of the process is correct:
Additional applicants will be added via the Grainger Portal. The Grainger portal will create new Contact + OpportunityContactRole records in Salesforce.
Salesforce will then call AddApplicantToTenancyWithIframe. 
Salesforce will then email a link to the applicant which takes them to the Grainger Portal to complete the referencing. i.e. HomeLet does not email the applicant.
The Flow diagram below shows how additional tenants are added and then emailed a link to the Grainger portal.</a:t>
        </a:r>
      </a:p>
    </p188:txBody>
  </p188:cm>
</p188:cmLst>
</file>

<file path=ppt/comments/modernComment_10F_2DA1DEF3.xml><?xml version="1.0" encoding="utf-8"?>
<p188:cmLst xmlns:a="http://schemas.openxmlformats.org/drawingml/2006/main" xmlns:r="http://schemas.openxmlformats.org/officeDocument/2006/relationships" xmlns:p188="http://schemas.microsoft.com/office/powerpoint/2018/8/main">
  <p188:cm id="{0597A2CD-DFD5-3A4A-A2D8-47C7F4AA60F4}" authorId="{411D59CB-E194-D74B-FCF5-28A77AEB51E7}" created="2023-06-09T14:03:52.292">
    <pc:sldMkLst xmlns:pc="http://schemas.microsoft.com/office/powerpoint/2013/main/command">
      <pc:docMk/>
      <pc:sldMk cId="765583091" sldId="271"/>
    </pc:sldMkLst>
    <p188:txBody>
      <a:bodyPr/>
      <a:lstStyle/>
      <a:p>
        <a:r>
          <a:rPr lang="en-US"/>
          <a:t>I have updated here to provide more specific terminology</a:t>
        </a:r>
      </a:p>
    </p188:txBody>
  </p188:cm>
</p188:cmLst>
</file>

<file path=ppt/comments/modernComment_111_FD7A8D92.xml><?xml version="1.0" encoding="utf-8"?>
<p188:cmLst xmlns:a="http://schemas.openxmlformats.org/drawingml/2006/main" xmlns:r="http://schemas.openxmlformats.org/officeDocument/2006/relationships" xmlns:p188="http://schemas.microsoft.com/office/powerpoint/2018/8/main">
  <p188:cm id="{F2EF924A-224F-6044-AE8F-5FD0693AEB44}" authorId="{411D59CB-E194-D74B-FCF5-28A77AEB51E7}" created="2023-06-09T14:03:32.689">
    <pc:sldMkLst xmlns:pc="http://schemas.microsoft.com/office/powerpoint/2013/main/command">
      <pc:docMk/>
      <pc:sldMk cId="4252667282" sldId="273"/>
    </pc:sldMkLst>
    <p188:txBody>
      <a:bodyPr/>
      <a:lstStyle/>
      <a:p>
        <a:r>
          <a:rPr lang="en-US"/>
          <a:t>I have updated here to show the mapping of Vision+ to Salesforce objects.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lvl1pPr>
          </a:lstStyle>
          <a:p>
            <a:fld id="{CA6FC849-81BE-4462-9973-4774E92E1743}" type="datetimeFigureOut">
              <a:rPr lang="en-GB" smtClean="0"/>
              <a:t>15/06/2023</a:t>
            </a:fld>
            <a:endParaRPr lang="en-GB"/>
          </a:p>
        </p:txBody>
      </p:sp>
      <p:sp>
        <p:nvSpPr>
          <p:cNvPr id="4" name="Slide Image Placeholder 3"/>
          <p:cNvSpPr>
            <a:spLocks noGrp="1" noRot="1" noChangeAspect="1"/>
          </p:cNvSpPr>
          <p:nvPr>
            <p:ph type="sldImg" idx="2"/>
          </p:nvPr>
        </p:nvSpPr>
        <p:spPr>
          <a:xfrm>
            <a:off x="1165225" y="1241425"/>
            <a:ext cx="4467225" cy="33496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450" y="4776788"/>
            <a:ext cx="5438775" cy="390842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29750"/>
            <a:ext cx="2946400" cy="496888"/>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49688" y="9429750"/>
            <a:ext cx="2946400" cy="496888"/>
          </a:xfrm>
          <a:prstGeom prst="rect">
            <a:avLst/>
          </a:prstGeom>
        </p:spPr>
        <p:txBody>
          <a:bodyPr vert="horz" lIns="91440" tIns="45720" rIns="91440" bIns="45720" rtlCol="0" anchor="b"/>
          <a:lstStyle>
            <a:lvl1pPr algn="r">
              <a:defRPr sz="1200"/>
            </a:lvl1pPr>
          </a:lstStyle>
          <a:p>
            <a:fld id="{DB027A43-381B-44EA-836A-45D025530142}" type="slidenum">
              <a:rPr lang="en-GB" smtClean="0"/>
              <a:t>‹#›</a:t>
            </a:fld>
            <a:endParaRPr lang="en-GB"/>
          </a:p>
        </p:txBody>
      </p:sp>
    </p:spTree>
    <p:extLst>
      <p:ext uri="{BB962C8B-B14F-4D97-AF65-F5344CB8AC3E}">
        <p14:creationId xmlns:p14="http://schemas.microsoft.com/office/powerpoint/2010/main" val="3625187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B027A43-381B-44EA-836A-45D025530142}" type="slidenum">
              <a:rPr lang="en-GB" smtClean="0"/>
              <a:t>2</a:t>
            </a:fld>
            <a:endParaRPr lang="en-GB"/>
          </a:p>
        </p:txBody>
      </p:sp>
    </p:spTree>
    <p:extLst>
      <p:ext uri="{BB962C8B-B14F-4D97-AF65-F5344CB8AC3E}">
        <p14:creationId xmlns:p14="http://schemas.microsoft.com/office/powerpoint/2010/main" val="34370701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B027A43-381B-44EA-836A-45D025530142}" type="slidenum">
              <a:rPr lang="en-GB" smtClean="0"/>
              <a:t>3</a:t>
            </a:fld>
            <a:endParaRPr lang="en-GB"/>
          </a:p>
        </p:txBody>
      </p:sp>
    </p:spTree>
    <p:extLst>
      <p:ext uri="{BB962C8B-B14F-4D97-AF65-F5344CB8AC3E}">
        <p14:creationId xmlns:p14="http://schemas.microsoft.com/office/powerpoint/2010/main" val="36657566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B027A43-381B-44EA-836A-45D025530142}" type="slidenum">
              <a:rPr lang="en-GB" smtClean="0"/>
              <a:t>4</a:t>
            </a:fld>
            <a:endParaRPr lang="en-GB"/>
          </a:p>
        </p:txBody>
      </p:sp>
    </p:spTree>
    <p:extLst>
      <p:ext uri="{BB962C8B-B14F-4D97-AF65-F5344CB8AC3E}">
        <p14:creationId xmlns:p14="http://schemas.microsoft.com/office/powerpoint/2010/main" val="7922411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B027A43-381B-44EA-836A-45D025530142}" type="slidenum">
              <a:rPr lang="en-GB" smtClean="0"/>
              <a:t>5</a:t>
            </a:fld>
            <a:endParaRPr lang="en-GB"/>
          </a:p>
        </p:txBody>
      </p:sp>
    </p:spTree>
    <p:extLst>
      <p:ext uri="{BB962C8B-B14F-4D97-AF65-F5344CB8AC3E}">
        <p14:creationId xmlns:p14="http://schemas.microsoft.com/office/powerpoint/2010/main" val="10409034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B027A43-381B-44EA-836A-45D025530142}" type="slidenum">
              <a:rPr lang="en-GB" smtClean="0"/>
              <a:t>6</a:t>
            </a:fld>
            <a:endParaRPr lang="en-GB"/>
          </a:p>
        </p:txBody>
      </p:sp>
    </p:spTree>
    <p:extLst>
      <p:ext uri="{BB962C8B-B14F-4D97-AF65-F5344CB8AC3E}">
        <p14:creationId xmlns:p14="http://schemas.microsoft.com/office/powerpoint/2010/main" val="9887803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B027A43-381B-44EA-836A-45D025530142}" type="slidenum">
              <a:rPr lang="en-GB" smtClean="0"/>
              <a:t>7</a:t>
            </a:fld>
            <a:endParaRPr lang="en-GB"/>
          </a:p>
        </p:txBody>
      </p:sp>
    </p:spTree>
    <p:extLst>
      <p:ext uri="{BB962C8B-B14F-4D97-AF65-F5344CB8AC3E}">
        <p14:creationId xmlns:p14="http://schemas.microsoft.com/office/powerpoint/2010/main" val="17169809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B027A43-381B-44EA-836A-45D025530142}" type="slidenum">
              <a:rPr lang="en-GB" smtClean="0"/>
              <a:t>8</a:t>
            </a:fld>
            <a:endParaRPr lang="en-GB"/>
          </a:p>
        </p:txBody>
      </p:sp>
    </p:spTree>
    <p:extLst>
      <p:ext uri="{BB962C8B-B14F-4D97-AF65-F5344CB8AC3E}">
        <p14:creationId xmlns:p14="http://schemas.microsoft.com/office/powerpoint/2010/main" val="27033135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B027A43-381B-44EA-836A-45D025530142}" type="slidenum">
              <a:rPr lang="en-GB" smtClean="0"/>
              <a:t>9</a:t>
            </a:fld>
            <a:endParaRPr lang="en-GB"/>
          </a:p>
        </p:txBody>
      </p:sp>
    </p:spTree>
    <p:extLst>
      <p:ext uri="{BB962C8B-B14F-4D97-AF65-F5344CB8AC3E}">
        <p14:creationId xmlns:p14="http://schemas.microsoft.com/office/powerpoint/2010/main" val="21446401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B027A43-381B-44EA-836A-45D025530142}" type="slidenum">
              <a:rPr lang="en-GB" smtClean="0"/>
              <a:t>11</a:t>
            </a:fld>
            <a:endParaRPr lang="en-GB"/>
          </a:p>
        </p:txBody>
      </p:sp>
    </p:spTree>
    <p:extLst>
      <p:ext uri="{BB962C8B-B14F-4D97-AF65-F5344CB8AC3E}">
        <p14:creationId xmlns:p14="http://schemas.microsoft.com/office/powerpoint/2010/main" val="60359736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4.jp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4.jpg"/><Relationship Id="rId4" Type="http://schemas.microsoft.com/office/2007/relationships/hdphoto" Target="../media/hdphoto2.wdp"/></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6CFB4D18-094C-4203-AB24-11DFADEA59E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r="7692"/>
          <a:stretch/>
        </p:blipFill>
        <p:spPr>
          <a:xfrm>
            <a:off x="0" y="0"/>
            <a:ext cx="9144000" cy="3543300"/>
          </a:xfrm>
          <a:prstGeom prst="rect">
            <a:avLst/>
          </a:prstGeom>
        </p:spPr>
      </p:pic>
      <p:pic>
        <p:nvPicPr>
          <p:cNvPr id="9" name="Picture 8"/>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314960" y="3079548"/>
            <a:ext cx="5081016" cy="1045128"/>
          </a:xfrm>
          <a:prstGeom prst="rect">
            <a:avLst/>
          </a:prstGeom>
        </p:spPr>
      </p:pic>
      <p:sp>
        <p:nvSpPr>
          <p:cNvPr id="2" name="Title 1"/>
          <p:cNvSpPr>
            <a:spLocks noGrp="1"/>
          </p:cNvSpPr>
          <p:nvPr>
            <p:ph type="ctrTitle" hasCustomPrompt="1"/>
          </p:nvPr>
        </p:nvSpPr>
        <p:spPr>
          <a:xfrm>
            <a:off x="685800" y="3938955"/>
            <a:ext cx="6502791" cy="1554479"/>
          </a:xfrm>
        </p:spPr>
        <p:txBody>
          <a:bodyPr anchor="b">
            <a:normAutofit/>
          </a:bodyPr>
          <a:lstStyle>
            <a:lvl1pPr algn="l">
              <a:defRPr sz="4500"/>
            </a:lvl1pPr>
          </a:lstStyle>
          <a:p>
            <a:r>
              <a:rPr lang="en-US" dirty="0"/>
              <a:t>Click to edit Master title </a:t>
            </a:r>
            <a:br>
              <a:rPr lang="en-US" dirty="0"/>
            </a:br>
            <a:r>
              <a:rPr lang="en-US" dirty="0"/>
              <a:t>style one or two lines</a:t>
            </a:r>
          </a:p>
        </p:txBody>
      </p:sp>
      <p:sp>
        <p:nvSpPr>
          <p:cNvPr id="3" name="Subtitle 2"/>
          <p:cNvSpPr>
            <a:spLocks noGrp="1"/>
          </p:cNvSpPr>
          <p:nvPr>
            <p:ph type="subTitle" idx="1"/>
          </p:nvPr>
        </p:nvSpPr>
        <p:spPr>
          <a:xfrm>
            <a:off x="685800" y="5669281"/>
            <a:ext cx="5721875" cy="443132"/>
          </a:xfrm>
        </p:spPr>
        <p:txBody>
          <a:bodyPr>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4" name="Rectangle 13"/>
          <p:cNvSpPr/>
          <p:nvPr userDrawn="1"/>
        </p:nvSpPr>
        <p:spPr>
          <a:xfrm>
            <a:off x="0" y="590330"/>
            <a:ext cx="2733040" cy="3860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4E97BE"/>
              </a:solidFill>
            </a:endParaRPr>
          </a:p>
        </p:txBody>
      </p:sp>
      <p:pic>
        <p:nvPicPr>
          <p:cNvPr id="15" name="Picture 14"/>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471944" y="472311"/>
            <a:ext cx="661392" cy="622118"/>
          </a:xfrm>
          <a:prstGeom prst="rect">
            <a:avLst/>
          </a:prstGeom>
        </p:spPr>
      </p:pic>
      <p:sp>
        <p:nvSpPr>
          <p:cNvPr id="16" name="TextBox 15"/>
          <p:cNvSpPr txBox="1"/>
          <p:nvPr userDrawn="1"/>
        </p:nvSpPr>
        <p:spPr>
          <a:xfrm>
            <a:off x="985520" y="633858"/>
            <a:ext cx="1666240" cy="276999"/>
          </a:xfrm>
          <a:prstGeom prst="rect">
            <a:avLst/>
          </a:prstGeom>
          <a:noFill/>
        </p:spPr>
        <p:txBody>
          <a:bodyPr wrap="square" rtlCol="0">
            <a:spAutoFit/>
          </a:bodyPr>
          <a:lstStyle/>
          <a:p>
            <a:r>
              <a:rPr lang="en-US" sz="1200" dirty="0" err="1">
                <a:solidFill>
                  <a:schemeClr val="bg1"/>
                </a:solidFill>
                <a:latin typeface="Roboto Thin" charset="0"/>
                <a:ea typeface="Roboto Thin" charset="0"/>
                <a:cs typeface="Roboto Thin" charset="0"/>
              </a:rPr>
              <a:t>pibgroup.co.uk</a:t>
            </a:r>
            <a:endParaRPr lang="en-US" sz="1200" dirty="0">
              <a:solidFill>
                <a:schemeClr val="bg1"/>
              </a:solidFill>
              <a:latin typeface="Roboto Thin" charset="0"/>
              <a:ea typeface="Roboto Thin" charset="0"/>
              <a:cs typeface="Roboto Thin" charset="0"/>
            </a:endParaRPr>
          </a:p>
        </p:txBody>
      </p:sp>
      <p:pic>
        <p:nvPicPr>
          <p:cNvPr id="12" name="Picture 11"/>
          <p:cNvPicPr>
            <a:picLocks noChangeAspect="1"/>
          </p:cNvPicPr>
          <p:nvPr userDrawn="1"/>
        </p:nvPicPr>
        <p:blipFill>
          <a:blip r:embed="rId5">
            <a:extLst>
              <a:ext uri="{28A0092B-C50C-407E-A947-70E740481C1C}">
                <a14:useLocalDpi xmlns:a14="http://schemas.microsoft.com/office/drawing/2010/main"/>
              </a:ext>
            </a:extLst>
          </a:blip>
          <a:stretch>
            <a:fillRect/>
          </a:stretch>
        </p:blipFill>
        <p:spPr>
          <a:xfrm>
            <a:off x="6485550" y="5816261"/>
            <a:ext cx="2447238" cy="797948"/>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ubheading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28650" y="2555133"/>
            <a:ext cx="5642448" cy="1580442"/>
          </a:xfrm>
        </p:spPr>
        <p:txBody>
          <a:bodyPr/>
          <a:lstStyle>
            <a:lvl1pPr algn="r">
              <a:defRPr/>
            </a:lvl1pPr>
          </a:lstStyle>
          <a:p>
            <a:r>
              <a:rPr lang="en-US" dirty="0"/>
              <a:t>Place sub-heading title here one or two lines to fit</a:t>
            </a:r>
          </a:p>
        </p:txBody>
      </p:sp>
      <p:pic>
        <p:nvPicPr>
          <p:cNvPr id="10" name="Picture 9"/>
          <p:cNvPicPr>
            <a:picLocks noChangeAspect="1"/>
          </p:cNvPicPr>
          <p:nvPr userDrawn="1"/>
        </p:nvPicPr>
        <p:blipFill rotWithShape="1">
          <a:blip r:embed="rId2">
            <a:duotone>
              <a:schemeClr val="accent5">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a:ext>
            </a:extLst>
          </a:blip>
          <a:srcRect/>
          <a:stretch/>
        </p:blipFill>
        <p:spPr>
          <a:xfrm>
            <a:off x="-312342" y="3911569"/>
            <a:ext cx="3697568" cy="279334"/>
          </a:xfrm>
          <a:prstGeom prst="rect">
            <a:avLst/>
          </a:prstGeom>
          <a:noFill/>
        </p:spPr>
      </p:pic>
      <p:pic>
        <p:nvPicPr>
          <p:cNvPr id="11" name="Picture 10"/>
          <p:cNvPicPr>
            <a:picLocks noChangeAspect="1"/>
          </p:cNvPicPr>
          <p:nvPr userDrawn="1"/>
        </p:nvPicPr>
        <p:blipFill rotWithShape="1">
          <a:blip r:embed="rId2">
            <a:duotone>
              <a:schemeClr val="accent5">
                <a:shade val="45000"/>
                <a:satMod val="135000"/>
              </a:schemeClr>
              <a:prstClr val="white"/>
            </a:duotone>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a:ext>
            </a:extLst>
          </a:blip>
          <a:srcRect/>
          <a:stretch/>
        </p:blipFill>
        <p:spPr>
          <a:xfrm>
            <a:off x="2930211" y="3911569"/>
            <a:ext cx="3697568" cy="279334"/>
          </a:xfrm>
          <a:prstGeom prst="rect">
            <a:avLst/>
          </a:prstGeom>
          <a:noFill/>
        </p:spPr>
      </p:pic>
      <p:sp>
        <p:nvSpPr>
          <p:cNvPr id="12" name="Rectangle 11"/>
          <p:cNvSpPr/>
          <p:nvPr userDrawn="1"/>
        </p:nvSpPr>
        <p:spPr>
          <a:xfrm>
            <a:off x="0" y="0"/>
            <a:ext cx="9144000" cy="3860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TextBox 12"/>
          <p:cNvSpPr txBox="1"/>
          <p:nvPr userDrawn="1"/>
        </p:nvSpPr>
        <p:spPr>
          <a:xfrm>
            <a:off x="628650" y="50013"/>
            <a:ext cx="6148070" cy="276999"/>
          </a:xfrm>
          <a:prstGeom prst="rect">
            <a:avLst/>
          </a:prstGeom>
          <a:noFill/>
        </p:spPr>
        <p:txBody>
          <a:bodyPr wrap="square" rtlCol="0">
            <a:spAutoFit/>
          </a:bodyPr>
          <a:lstStyle/>
          <a:p>
            <a:r>
              <a:rPr lang="en-US" sz="1200" dirty="0" err="1">
                <a:solidFill>
                  <a:schemeClr val="bg1"/>
                </a:solidFill>
                <a:latin typeface="Roboto Thin" charset="0"/>
                <a:ea typeface="Roboto Thin" charset="0"/>
                <a:cs typeface="Roboto Thin" charset="0"/>
              </a:rPr>
              <a:t>pibgroup.co.uk</a:t>
            </a:r>
            <a:endParaRPr lang="en-US" sz="1200" dirty="0">
              <a:solidFill>
                <a:schemeClr val="bg1"/>
              </a:solidFill>
              <a:latin typeface="Roboto Thin" charset="0"/>
              <a:ea typeface="Roboto Thin" charset="0"/>
              <a:cs typeface="Roboto Thin" charset="0"/>
            </a:endParaRPr>
          </a:p>
        </p:txBody>
      </p:sp>
      <p:sp>
        <p:nvSpPr>
          <p:cNvPr id="14" name="Slide Number Placeholder 16"/>
          <p:cNvSpPr>
            <a:spLocks noGrp="1"/>
          </p:cNvSpPr>
          <p:nvPr>
            <p:ph type="sldNum" sz="quarter" idx="4"/>
          </p:nvPr>
        </p:nvSpPr>
        <p:spPr>
          <a:xfrm>
            <a:off x="7401707" y="-121920"/>
            <a:ext cx="1543050" cy="606183"/>
          </a:xfrm>
          <a:prstGeom prst="rect">
            <a:avLst/>
          </a:prstGeom>
        </p:spPr>
        <p:txBody>
          <a:bodyPr vert="horz" lIns="91440" tIns="45720" rIns="91440" bIns="45720" rtlCol="0" anchor="ctr"/>
          <a:lstStyle>
            <a:lvl1pPr algn="r">
              <a:defRPr sz="1200">
                <a:solidFill>
                  <a:schemeClr val="bg1"/>
                </a:solidFill>
              </a:defRPr>
            </a:lvl1pPr>
          </a:lstStyle>
          <a:p>
            <a:fld id="{D009C8E7-BEA0-074C-AC73-A442BB7253D1}" type="slidenum">
              <a:rPr lang="en-US" smtClean="0"/>
              <a:pPr/>
              <a:t>‹#›</a:t>
            </a:fld>
            <a:endParaRPr lang="en-US" dirty="0"/>
          </a:p>
        </p:txBody>
      </p:sp>
      <p:pic>
        <p:nvPicPr>
          <p:cNvPr id="15" name="Picture 14"/>
          <p:cNvPicPr>
            <a:picLocks noChangeAspect="1"/>
          </p:cNvPicPr>
          <p:nvPr userDrawn="1"/>
        </p:nvPicPr>
        <p:blipFill>
          <a:blip r:embed="rId5">
            <a:extLst>
              <a:ext uri="{28A0092B-C50C-407E-A947-70E740481C1C}">
                <a14:useLocalDpi xmlns:a14="http://schemas.microsoft.com/office/drawing/2010/main"/>
              </a:ext>
            </a:extLst>
          </a:blip>
          <a:stretch>
            <a:fillRect/>
          </a:stretch>
        </p:blipFill>
        <p:spPr>
          <a:xfrm>
            <a:off x="6485550" y="5816261"/>
            <a:ext cx="2447238" cy="79794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ner Page Bullets">
    <p:spTree>
      <p:nvGrpSpPr>
        <p:cNvPr id="1" name=""/>
        <p:cNvGrpSpPr/>
        <p:nvPr/>
      </p:nvGrpSpPr>
      <p:grpSpPr>
        <a:xfrm>
          <a:off x="0" y="0"/>
          <a:ext cx="0" cy="0"/>
          <a:chOff x="0" y="0"/>
          <a:chExt cx="0" cy="0"/>
        </a:xfrm>
      </p:grpSpPr>
      <p:sp>
        <p:nvSpPr>
          <p:cNvPr id="2" name="Title 1"/>
          <p:cNvSpPr>
            <a:spLocks noGrp="1"/>
          </p:cNvSpPr>
          <p:nvPr>
            <p:ph type="title"/>
          </p:nvPr>
        </p:nvSpPr>
        <p:spPr>
          <a:xfrm>
            <a:off x="623888" y="853707"/>
            <a:ext cx="7886700" cy="592474"/>
          </a:xfrm>
        </p:spPr>
        <p:txBody>
          <a:bodyPr anchor="b">
            <a:normAutofit/>
          </a:bodyPr>
          <a:lstStyle>
            <a:lvl1pPr>
              <a:defRPr sz="3300"/>
            </a:lvl1pPr>
          </a:lstStyle>
          <a:p>
            <a:r>
              <a:rPr lang="en-US" dirty="0"/>
              <a:t>Click to edit Master title style</a:t>
            </a:r>
          </a:p>
        </p:txBody>
      </p:sp>
      <p:sp>
        <p:nvSpPr>
          <p:cNvPr id="10" name="Content Placeholder 2"/>
          <p:cNvSpPr>
            <a:spLocks noGrp="1"/>
          </p:cNvSpPr>
          <p:nvPr>
            <p:ph idx="13" hasCustomPrompt="1"/>
          </p:nvPr>
        </p:nvSpPr>
        <p:spPr>
          <a:xfrm>
            <a:off x="623888" y="1593391"/>
            <a:ext cx="7886700" cy="4632312"/>
          </a:xfrm>
        </p:spPr>
        <p:txBody>
          <a:bodyPr/>
          <a:lstStyle>
            <a:lvl5pPr marL="0" marR="0" indent="-171450" algn="l" defTabSz="685800" rtl="0" eaLnBrk="1" fontAlgn="auto" latinLnBrk="0" hangingPunct="1">
              <a:lnSpc>
                <a:spcPct val="90000"/>
              </a:lnSpc>
              <a:spcBef>
                <a:spcPts val="375"/>
              </a:spcBef>
              <a:spcAft>
                <a:spcPts val="0"/>
              </a:spcAft>
              <a:buClr>
                <a:schemeClr val="accent1"/>
              </a:buClr>
              <a:buSzTx/>
              <a:buFont typeface=".AppleSystemUIFont" charset="-120"/>
              <a:buChar char="›"/>
              <a:tabLst/>
              <a:defRPr>
                <a:solidFill>
                  <a:schemeClr val="accent2">
                    <a:lumMod val="10000"/>
                  </a:schemeClr>
                </a:solidFill>
              </a:defRPr>
            </a:lvl5pPr>
          </a:lstStyle>
          <a:p>
            <a:pPr lvl="4"/>
            <a:r>
              <a:rPr lang="en-US" dirty="0"/>
              <a:t>Bullet style</a:t>
            </a:r>
          </a:p>
          <a:p>
            <a:pPr lvl="4"/>
            <a:r>
              <a:rPr lang="en-US" dirty="0"/>
              <a:t>Bullet style</a:t>
            </a:r>
          </a:p>
          <a:p>
            <a:pPr lvl="4"/>
            <a:r>
              <a:rPr lang="en-US" dirty="0"/>
              <a:t>Bullet style</a:t>
            </a:r>
          </a:p>
          <a:p>
            <a:pPr lvl="4"/>
            <a:r>
              <a:rPr lang="en-US" dirty="0"/>
              <a:t>Bullet style</a:t>
            </a:r>
          </a:p>
        </p:txBody>
      </p:sp>
      <p:cxnSp>
        <p:nvCxnSpPr>
          <p:cNvPr id="11" name="Straight Connector 10"/>
          <p:cNvCxnSpPr/>
          <p:nvPr userDrawn="1"/>
        </p:nvCxnSpPr>
        <p:spPr>
          <a:xfrm>
            <a:off x="623888" y="6401230"/>
            <a:ext cx="78867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0" y="0"/>
            <a:ext cx="9144000" cy="3860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TextBox 13"/>
          <p:cNvSpPr txBox="1"/>
          <p:nvPr userDrawn="1"/>
        </p:nvSpPr>
        <p:spPr>
          <a:xfrm>
            <a:off x="628650" y="50013"/>
            <a:ext cx="6148070" cy="276999"/>
          </a:xfrm>
          <a:prstGeom prst="rect">
            <a:avLst/>
          </a:prstGeom>
          <a:noFill/>
        </p:spPr>
        <p:txBody>
          <a:bodyPr wrap="square" rtlCol="0">
            <a:spAutoFit/>
          </a:bodyPr>
          <a:lstStyle/>
          <a:p>
            <a:r>
              <a:rPr lang="en-US" sz="1200" dirty="0" err="1">
                <a:solidFill>
                  <a:schemeClr val="bg1"/>
                </a:solidFill>
                <a:latin typeface="Roboto Thin" charset="0"/>
                <a:ea typeface="Roboto Thin" charset="0"/>
                <a:cs typeface="Roboto Thin" charset="0"/>
              </a:rPr>
              <a:t>pibgroup.co.uk</a:t>
            </a:r>
            <a:endParaRPr lang="en-US" sz="1200" dirty="0">
              <a:solidFill>
                <a:schemeClr val="bg1"/>
              </a:solidFill>
              <a:latin typeface="Roboto Thin" charset="0"/>
              <a:ea typeface="Roboto Thin" charset="0"/>
              <a:cs typeface="Roboto Thin" charset="0"/>
            </a:endParaRPr>
          </a:p>
        </p:txBody>
      </p:sp>
      <p:sp>
        <p:nvSpPr>
          <p:cNvPr id="15" name="Slide Number Placeholder 16"/>
          <p:cNvSpPr>
            <a:spLocks noGrp="1"/>
          </p:cNvSpPr>
          <p:nvPr>
            <p:ph type="sldNum" sz="quarter" idx="4"/>
          </p:nvPr>
        </p:nvSpPr>
        <p:spPr>
          <a:xfrm>
            <a:off x="7401707" y="-121920"/>
            <a:ext cx="1543050" cy="606183"/>
          </a:xfrm>
          <a:prstGeom prst="rect">
            <a:avLst/>
          </a:prstGeom>
        </p:spPr>
        <p:txBody>
          <a:bodyPr vert="horz" lIns="91440" tIns="45720" rIns="91440" bIns="45720" rtlCol="0" anchor="ctr"/>
          <a:lstStyle>
            <a:lvl1pPr algn="r">
              <a:defRPr sz="1200">
                <a:solidFill>
                  <a:schemeClr val="bg1"/>
                </a:solidFill>
              </a:defRPr>
            </a:lvl1pPr>
          </a:lstStyle>
          <a:p>
            <a:fld id="{D009C8E7-BEA0-074C-AC73-A442BB7253D1}" type="slidenum">
              <a:rPr lang="en-US" smtClean="0"/>
              <a:pPr/>
              <a:t>‹#›</a:t>
            </a:fld>
            <a:endParaRPr lang="en-US" dirty="0"/>
          </a:p>
        </p:txBody>
      </p:sp>
      <p:pic>
        <p:nvPicPr>
          <p:cNvPr id="16" name="Picture 15"/>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7569488" y="6451347"/>
            <a:ext cx="1044895" cy="340699"/>
          </a:xfrm>
          <a:prstGeom prst="rect">
            <a:avLst/>
          </a:prstGeom>
        </p:spPr>
      </p:pic>
      <p:sp>
        <p:nvSpPr>
          <p:cNvPr id="3" name="TextBox 2"/>
          <p:cNvSpPr txBox="1"/>
          <p:nvPr userDrawn="1"/>
        </p:nvSpPr>
        <p:spPr>
          <a:xfrm>
            <a:off x="532015" y="6484599"/>
            <a:ext cx="7037473" cy="338554"/>
          </a:xfrm>
          <a:prstGeom prst="rect">
            <a:avLst/>
          </a:prstGeom>
          <a:noFill/>
        </p:spPr>
        <p:txBody>
          <a:bodyPr wrap="square" rtlCol="0">
            <a:spAutoFit/>
          </a:bodyPr>
          <a:lstStyle/>
          <a:p>
            <a:r>
              <a:rPr lang="en-GB" sz="800" dirty="0">
                <a:solidFill>
                  <a:schemeClr val="tx2"/>
                </a:solidFill>
                <a:latin typeface="Arial" panose="020B0604020202020204" pitchFamily="34" charset="0"/>
                <a:cs typeface="Arial" panose="020B0604020202020204" pitchFamily="34" charset="0"/>
              </a:rPr>
              <a:t>Copyright © 2019 PIB Group Limited. PIB Group is a trading style of PIB Group Limited. PIB Group Limited is registered in England &amp; Wales. Company Registration Number 09900466. Registered Office: Rossington's Business Park, West </a:t>
            </a:r>
            <a:r>
              <a:rPr lang="en-GB" sz="800" dirty="0" err="1">
                <a:solidFill>
                  <a:schemeClr val="tx2"/>
                </a:solidFill>
                <a:latin typeface="Arial" panose="020B0604020202020204" pitchFamily="34" charset="0"/>
                <a:cs typeface="Arial" panose="020B0604020202020204" pitchFamily="34" charset="0"/>
              </a:rPr>
              <a:t>Carr</a:t>
            </a:r>
            <a:r>
              <a:rPr lang="en-GB" sz="800" dirty="0">
                <a:solidFill>
                  <a:schemeClr val="tx2"/>
                </a:solidFill>
                <a:latin typeface="Arial" panose="020B0604020202020204" pitchFamily="34" charset="0"/>
                <a:cs typeface="Arial" panose="020B0604020202020204" pitchFamily="34" charset="0"/>
              </a:rPr>
              <a:t> Road, Retford, Nottinghamshire, DN22 7SW. </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ain picture and text">
    <p:spTree>
      <p:nvGrpSpPr>
        <p:cNvPr id="1" name=""/>
        <p:cNvGrpSpPr/>
        <p:nvPr/>
      </p:nvGrpSpPr>
      <p:grpSpPr>
        <a:xfrm>
          <a:off x="0" y="0"/>
          <a:ext cx="0" cy="0"/>
          <a:chOff x="0" y="0"/>
          <a:chExt cx="0" cy="0"/>
        </a:xfrm>
      </p:grpSpPr>
      <p:sp>
        <p:nvSpPr>
          <p:cNvPr id="17" name="Picture Placeholder 16"/>
          <p:cNvSpPr>
            <a:spLocks noGrp="1"/>
          </p:cNvSpPr>
          <p:nvPr>
            <p:ph type="pic" sz="quarter" idx="14"/>
          </p:nvPr>
        </p:nvSpPr>
        <p:spPr>
          <a:xfrm>
            <a:off x="614014" y="1602848"/>
            <a:ext cx="3416300" cy="4632325"/>
          </a:xfrm>
        </p:spPr>
        <p:txBody>
          <a:bodyPr/>
          <a:lstStyle/>
          <a:p>
            <a:endParaRPr lang="en-US"/>
          </a:p>
        </p:txBody>
      </p:sp>
      <p:sp>
        <p:nvSpPr>
          <p:cNvPr id="19" name="Text Placeholder 18"/>
          <p:cNvSpPr>
            <a:spLocks noGrp="1"/>
          </p:cNvSpPr>
          <p:nvPr>
            <p:ph type="body" sz="quarter" idx="15" hasCustomPrompt="1"/>
          </p:nvPr>
        </p:nvSpPr>
        <p:spPr>
          <a:xfrm>
            <a:off x="4214813" y="1593850"/>
            <a:ext cx="4314825" cy="4632325"/>
          </a:xfrm>
        </p:spPr>
        <p:txBody>
          <a:bodyPr/>
          <a:lstStyle>
            <a:lvl1pPr marL="0" indent="0">
              <a:buNone/>
              <a:defRPr/>
            </a:lvl1pPr>
          </a:lstStyle>
          <a:p>
            <a:pPr lvl="0"/>
            <a:r>
              <a:rPr lang="en-US" dirty="0"/>
              <a:t>Text to go in here</a:t>
            </a:r>
          </a:p>
        </p:txBody>
      </p:sp>
      <p:sp>
        <p:nvSpPr>
          <p:cNvPr id="97" name="Title 96"/>
          <p:cNvSpPr>
            <a:spLocks noGrp="1"/>
          </p:cNvSpPr>
          <p:nvPr>
            <p:ph type="title"/>
          </p:nvPr>
        </p:nvSpPr>
        <p:spPr/>
        <p:txBody>
          <a:bodyPr/>
          <a:lstStyle/>
          <a:p>
            <a:r>
              <a:rPr lang="en-US"/>
              <a:t>Click to edit Master title style</a:t>
            </a:r>
          </a:p>
        </p:txBody>
      </p:sp>
      <p:sp>
        <p:nvSpPr>
          <p:cNvPr id="99" name="Picture Placeholder 98"/>
          <p:cNvSpPr>
            <a:spLocks noGrp="1"/>
          </p:cNvSpPr>
          <p:nvPr>
            <p:ph type="pic" sz="quarter" idx="16"/>
          </p:nvPr>
        </p:nvSpPr>
        <p:spPr>
          <a:xfrm>
            <a:off x="607488" y="5824000"/>
            <a:ext cx="2651125" cy="415925"/>
          </a:xfrm>
          <a:blipFill>
            <a:blip r:embed="rId2"/>
            <a:stretch>
              <a:fillRect/>
            </a:stretch>
          </a:blipFill>
        </p:spPr>
        <p:txBody>
          <a:bodyPr/>
          <a:lstStyle>
            <a:lvl1pPr marL="0" indent="0">
              <a:buNone/>
              <a:defRPr>
                <a:solidFill>
                  <a:schemeClr val="bg1">
                    <a:alpha val="0"/>
                  </a:schemeClr>
                </a:solidFill>
              </a:defRPr>
            </a:lvl1pPr>
          </a:lstStyle>
          <a:p>
            <a:pPr marL="228600" marR="0" lvl="0" indent="-228600" algn="l" defTabSz="914400" rtl="0" eaLnBrk="1" fontAlgn="auto" latinLnBrk="0" hangingPunct="1">
              <a:lnSpc>
                <a:spcPct val="90000"/>
              </a:lnSpc>
              <a:spcBef>
                <a:spcPts val="1000"/>
              </a:spcBef>
              <a:spcAft>
                <a:spcPts val="0"/>
              </a:spcAft>
              <a:buClr>
                <a:srgbClr val="57A2D3"/>
              </a:buClr>
              <a:buSzTx/>
              <a:tabLst/>
              <a:defRPr/>
            </a:pPr>
            <a:endParaRPr lang="en-US" dirty="0"/>
          </a:p>
        </p:txBody>
      </p:sp>
      <p:cxnSp>
        <p:nvCxnSpPr>
          <p:cNvPr id="16" name="Straight Connector 15"/>
          <p:cNvCxnSpPr/>
          <p:nvPr userDrawn="1"/>
        </p:nvCxnSpPr>
        <p:spPr>
          <a:xfrm>
            <a:off x="623888" y="6401230"/>
            <a:ext cx="78867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8" name="Rectangle 17"/>
          <p:cNvSpPr/>
          <p:nvPr userDrawn="1"/>
        </p:nvSpPr>
        <p:spPr>
          <a:xfrm>
            <a:off x="0" y="0"/>
            <a:ext cx="9144000" cy="3860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TextBox 19"/>
          <p:cNvSpPr txBox="1"/>
          <p:nvPr userDrawn="1"/>
        </p:nvSpPr>
        <p:spPr>
          <a:xfrm>
            <a:off x="628650" y="50013"/>
            <a:ext cx="6148070" cy="276999"/>
          </a:xfrm>
          <a:prstGeom prst="rect">
            <a:avLst/>
          </a:prstGeom>
          <a:noFill/>
        </p:spPr>
        <p:txBody>
          <a:bodyPr wrap="square" rtlCol="0">
            <a:spAutoFit/>
          </a:bodyPr>
          <a:lstStyle/>
          <a:p>
            <a:r>
              <a:rPr lang="en-US" sz="1200" dirty="0" err="1">
                <a:solidFill>
                  <a:schemeClr val="bg1"/>
                </a:solidFill>
                <a:latin typeface="Roboto Thin" charset="0"/>
                <a:ea typeface="Roboto Thin" charset="0"/>
                <a:cs typeface="Roboto Thin" charset="0"/>
              </a:rPr>
              <a:t>pibgroup.co.uk</a:t>
            </a:r>
            <a:endParaRPr lang="en-US" sz="1200" dirty="0">
              <a:solidFill>
                <a:schemeClr val="bg1"/>
              </a:solidFill>
              <a:latin typeface="Roboto Thin" charset="0"/>
              <a:ea typeface="Roboto Thin" charset="0"/>
              <a:cs typeface="Roboto Thin" charset="0"/>
            </a:endParaRPr>
          </a:p>
        </p:txBody>
      </p:sp>
      <p:sp>
        <p:nvSpPr>
          <p:cNvPr id="21" name="Slide Number Placeholder 16"/>
          <p:cNvSpPr>
            <a:spLocks noGrp="1"/>
          </p:cNvSpPr>
          <p:nvPr>
            <p:ph type="sldNum" sz="quarter" idx="4"/>
          </p:nvPr>
        </p:nvSpPr>
        <p:spPr>
          <a:xfrm>
            <a:off x="7401707" y="-121920"/>
            <a:ext cx="1543050" cy="606183"/>
          </a:xfrm>
          <a:prstGeom prst="rect">
            <a:avLst/>
          </a:prstGeom>
        </p:spPr>
        <p:txBody>
          <a:bodyPr vert="horz" lIns="91440" tIns="45720" rIns="91440" bIns="45720" rtlCol="0" anchor="ctr"/>
          <a:lstStyle>
            <a:lvl1pPr algn="r">
              <a:defRPr sz="1200">
                <a:solidFill>
                  <a:schemeClr val="bg1"/>
                </a:solidFill>
              </a:defRPr>
            </a:lvl1pPr>
          </a:lstStyle>
          <a:p>
            <a:fld id="{D009C8E7-BEA0-074C-AC73-A442BB7253D1}" type="slidenum">
              <a:rPr lang="en-US" smtClean="0"/>
              <a:pPr/>
              <a:t>‹#›</a:t>
            </a:fld>
            <a:endParaRPr lang="en-US" dirty="0"/>
          </a:p>
        </p:txBody>
      </p:sp>
      <p:pic>
        <p:nvPicPr>
          <p:cNvPr id="22" name="Picture 21"/>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7569488" y="6451347"/>
            <a:ext cx="1044895" cy="340699"/>
          </a:xfrm>
          <a:prstGeom prst="rect">
            <a:avLst/>
          </a:prstGeom>
        </p:spPr>
      </p:pic>
      <p:sp>
        <p:nvSpPr>
          <p:cNvPr id="12" name="TextBox 11">
            <a:extLst>
              <a:ext uri="{FF2B5EF4-FFF2-40B4-BE49-F238E27FC236}">
                <a16:creationId xmlns:a16="http://schemas.microsoft.com/office/drawing/2014/main" id="{A84DBE27-B260-4AC1-90CA-F84C54FEF09C}"/>
              </a:ext>
            </a:extLst>
          </p:cNvPr>
          <p:cNvSpPr txBox="1"/>
          <p:nvPr userDrawn="1"/>
        </p:nvSpPr>
        <p:spPr>
          <a:xfrm>
            <a:off x="532015" y="6484599"/>
            <a:ext cx="7037473" cy="338554"/>
          </a:xfrm>
          <a:prstGeom prst="rect">
            <a:avLst/>
          </a:prstGeom>
          <a:noFill/>
        </p:spPr>
        <p:txBody>
          <a:bodyPr wrap="square" rtlCol="0">
            <a:spAutoFit/>
          </a:bodyPr>
          <a:lstStyle/>
          <a:p>
            <a:r>
              <a:rPr lang="en-GB" sz="800" dirty="0">
                <a:solidFill>
                  <a:schemeClr val="tx2"/>
                </a:solidFill>
                <a:latin typeface="Arial" panose="020B0604020202020204" pitchFamily="34" charset="0"/>
                <a:cs typeface="Arial" panose="020B0604020202020204" pitchFamily="34" charset="0"/>
              </a:rPr>
              <a:t>Copyright © 2019 PIB Group Limited. PIB Group is a trading style of PIB Group Limited. PIB Group Limited is registered in England &amp; Wales. Company Registration Number 09900466. Registered Office: Rossington's Business Park, West </a:t>
            </a:r>
            <a:r>
              <a:rPr lang="en-GB" sz="800" dirty="0" err="1">
                <a:solidFill>
                  <a:schemeClr val="tx2"/>
                </a:solidFill>
                <a:latin typeface="Arial" panose="020B0604020202020204" pitchFamily="34" charset="0"/>
                <a:cs typeface="Arial" panose="020B0604020202020204" pitchFamily="34" charset="0"/>
              </a:rPr>
              <a:t>Carr</a:t>
            </a:r>
            <a:r>
              <a:rPr lang="en-GB" sz="800" dirty="0">
                <a:solidFill>
                  <a:schemeClr val="tx2"/>
                </a:solidFill>
                <a:latin typeface="Arial" panose="020B0604020202020204" pitchFamily="34" charset="0"/>
                <a:cs typeface="Arial" panose="020B0604020202020204" pitchFamily="34" charset="0"/>
              </a:rPr>
              <a:t> Road, Retford, Nottinghamshire, DN22 7SW. </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mall images with text">
    <p:spTree>
      <p:nvGrpSpPr>
        <p:cNvPr id="1" name=""/>
        <p:cNvGrpSpPr/>
        <p:nvPr/>
      </p:nvGrpSpPr>
      <p:grpSpPr>
        <a:xfrm>
          <a:off x="0" y="0"/>
          <a:ext cx="0" cy="0"/>
          <a:chOff x="0" y="0"/>
          <a:chExt cx="0" cy="0"/>
        </a:xfrm>
      </p:grpSpPr>
      <p:sp>
        <p:nvSpPr>
          <p:cNvPr id="10" name="Title 1"/>
          <p:cNvSpPr>
            <a:spLocks noGrp="1"/>
          </p:cNvSpPr>
          <p:nvPr>
            <p:ph type="title"/>
          </p:nvPr>
        </p:nvSpPr>
        <p:spPr>
          <a:xfrm>
            <a:off x="623888" y="826321"/>
            <a:ext cx="7886700" cy="592474"/>
          </a:xfrm>
        </p:spPr>
        <p:txBody>
          <a:bodyPr anchor="b">
            <a:normAutofit/>
          </a:bodyPr>
          <a:lstStyle>
            <a:lvl1pPr>
              <a:defRPr sz="3300"/>
            </a:lvl1pPr>
          </a:lstStyle>
          <a:p>
            <a:r>
              <a:rPr lang="en-US" dirty="0"/>
              <a:t>Click to edit Master title style</a:t>
            </a:r>
          </a:p>
        </p:txBody>
      </p:sp>
      <p:sp>
        <p:nvSpPr>
          <p:cNvPr id="19" name="Picture Placeholder 18"/>
          <p:cNvSpPr>
            <a:spLocks noGrp="1"/>
          </p:cNvSpPr>
          <p:nvPr>
            <p:ph type="pic" sz="quarter" idx="15"/>
          </p:nvPr>
        </p:nvSpPr>
        <p:spPr>
          <a:xfrm>
            <a:off x="623888" y="1582738"/>
            <a:ext cx="1413382" cy="1413382"/>
          </a:xfrm>
        </p:spPr>
        <p:txBody>
          <a:bodyPr/>
          <a:lstStyle/>
          <a:p>
            <a:endParaRPr lang="en-US"/>
          </a:p>
        </p:txBody>
      </p:sp>
      <p:sp>
        <p:nvSpPr>
          <p:cNvPr id="21" name="Picture Placeholder 18"/>
          <p:cNvSpPr>
            <a:spLocks noGrp="1"/>
          </p:cNvSpPr>
          <p:nvPr>
            <p:ph type="pic" sz="quarter" idx="17"/>
          </p:nvPr>
        </p:nvSpPr>
        <p:spPr>
          <a:xfrm>
            <a:off x="623888" y="3191043"/>
            <a:ext cx="1413382" cy="1413382"/>
          </a:xfrm>
        </p:spPr>
        <p:txBody>
          <a:bodyPr/>
          <a:lstStyle/>
          <a:p>
            <a:endParaRPr lang="en-US"/>
          </a:p>
        </p:txBody>
      </p:sp>
      <p:sp>
        <p:nvSpPr>
          <p:cNvPr id="24" name="Picture Placeholder 18"/>
          <p:cNvSpPr>
            <a:spLocks noGrp="1"/>
          </p:cNvSpPr>
          <p:nvPr>
            <p:ph type="pic" sz="quarter" idx="18"/>
          </p:nvPr>
        </p:nvSpPr>
        <p:spPr>
          <a:xfrm>
            <a:off x="623888" y="4805832"/>
            <a:ext cx="1413382" cy="1413382"/>
          </a:xfrm>
        </p:spPr>
        <p:txBody>
          <a:bodyPr/>
          <a:lstStyle/>
          <a:p>
            <a:endParaRPr lang="en-US"/>
          </a:p>
        </p:txBody>
      </p:sp>
      <p:sp>
        <p:nvSpPr>
          <p:cNvPr id="26" name="Text Placeholder 25"/>
          <p:cNvSpPr>
            <a:spLocks noGrp="1"/>
          </p:cNvSpPr>
          <p:nvPr>
            <p:ph type="body" sz="quarter" idx="19" hasCustomPrompt="1"/>
          </p:nvPr>
        </p:nvSpPr>
        <p:spPr>
          <a:xfrm>
            <a:off x="2270125" y="1582738"/>
            <a:ext cx="6240463" cy="4636476"/>
          </a:xfrm>
        </p:spPr>
        <p:txBody>
          <a:bodyPr/>
          <a:lstStyle>
            <a:lvl1pPr marL="0" indent="0">
              <a:buNone/>
              <a:defRPr/>
            </a:lvl1pPr>
          </a:lstStyle>
          <a:p>
            <a:pPr lvl="0"/>
            <a:r>
              <a:rPr lang="en-US" dirty="0"/>
              <a:t>Text to go in here</a:t>
            </a:r>
          </a:p>
        </p:txBody>
      </p:sp>
      <p:sp>
        <p:nvSpPr>
          <p:cNvPr id="28" name="Picture Placeholder 98"/>
          <p:cNvSpPr>
            <a:spLocks noGrp="1"/>
          </p:cNvSpPr>
          <p:nvPr>
            <p:ph type="pic" sz="quarter" idx="16"/>
          </p:nvPr>
        </p:nvSpPr>
        <p:spPr>
          <a:xfrm>
            <a:off x="607489" y="5967663"/>
            <a:ext cx="1735410" cy="272262"/>
          </a:xfrm>
          <a:blipFill>
            <a:blip r:embed="rId2"/>
            <a:stretch>
              <a:fillRect/>
            </a:stretch>
          </a:blipFill>
        </p:spPr>
        <p:txBody>
          <a:bodyPr/>
          <a:lstStyle>
            <a:lvl1pPr marL="0" indent="0">
              <a:buNone/>
              <a:defRPr>
                <a:solidFill>
                  <a:schemeClr val="bg1">
                    <a:alpha val="0"/>
                  </a:schemeClr>
                </a:solidFill>
              </a:defRPr>
            </a:lvl1pPr>
          </a:lstStyle>
          <a:p>
            <a:pPr marL="228600" marR="0" lvl="0" indent="-228600" algn="l" defTabSz="914400" rtl="0" eaLnBrk="1" fontAlgn="auto" latinLnBrk="0" hangingPunct="1">
              <a:lnSpc>
                <a:spcPct val="90000"/>
              </a:lnSpc>
              <a:spcBef>
                <a:spcPts val="1000"/>
              </a:spcBef>
              <a:spcAft>
                <a:spcPts val="0"/>
              </a:spcAft>
              <a:buClr>
                <a:srgbClr val="57A2D3"/>
              </a:buClr>
              <a:buSzTx/>
              <a:tabLst/>
              <a:defRPr/>
            </a:pPr>
            <a:endParaRPr lang="en-US" dirty="0"/>
          </a:p>
        </p:txBody>
      </p:sp>
      <p:cxnSp>
        <p:nvCxnSpPr>
          <p:cNvPr id="18" name="Straight Connector 17"/>
          <p:cNvCxnSpPr/>
          <p:nvPr userDrawn="1"/>
        </p:nvCxnSpPr>
        <p:spPr>
          <a:xfrm>
            <a:off x="623888" y="6401230"/>
            <a:ext cx="78867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0" name="Rectangle 19"/>
          <p:cNvSpPr/>
          <p:nvPr userDrawn="1"/>
        </p:nvSpPr>
        <p:spPr>
          <a:xfrm>
            <a:off x="0" y="0"/>
            <a:ext cx="9144000" cy="3860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 name="TextBox 21"/>
          <p:cNvSpPr txBox="1"/>
          <p:nvPr userDrawn="1"/>
        </p:nvSpPr>
        <p:spPr>
          <a:xfrm>
            <a:off x="628650" y="50013"/>
            <a:ext cx="6148070" cy="276999"/>
          </a:xfrm>
          <a:prstGeom prst="rect">
            <a:avLst/>
          </a:prstGeom>
          <a:noFill/>
        </p:spPr>
        <p:txBody>
          <a:bodyPr wrap="square" rtlCol="0">
            <a:spAutoFit/>
          </a:bodyPr>
          <a:lstStyle/>
          <a:p>
            <a:r>
              <a:rPr lang="en-US" sz="1200" dirty="0" err="1">
                <a:solidFill>
                  <a:schemeClr val="bg1"/>
                </a:solidFill>
                <a:latin typeface="Roboto Thin" charset="0"/>
                <a:ea typeface="Roboto Thin" charset="0"/>
                <a:cs typeface="Roboto Thin" charset="0"/>
              </a:rPr>
              <a:t>pibgroup.co.uk</a:t>
            </a:r>
            <a:endParaRPr lang="en-US" sz="1200" dirty="0">
              <a:solidFill>
                <a:schemeClr val="bg1"/>
              </a:solidFill>
              <a:latin typeface="Roboto Thin" charset="0"/>
              <a:ea typeface="Roboto Thin" charset="0"/>
              <a:cs typeface="Roboto Thin" charset="0"/>
            </a:endParaRPr>
          </a:p>
        </p:txBody>
      </p:sp>
      <p:sp>
        <p:nvSpPr>
          <p:cNvPr id="23" name="Slide Number Placeholder 16"/>
          <p:cNvSpPr>
            <a:spLocks noGrp="1"/>
          </p:cNvSpPr>
          <p:nvPr>
            <p:ph type="sldNum" sz="quarter" idx="4"/>
          </p:nvPr>
        </p:nvSpPr>
        <p:spPr>
          <a:xfrm>
            <a:off x="7401707" y="-121920"/>
            <a:ext cx="1543050" cy="606183"/>
          </a:xfrm>
          <a:prstGeom prst="rect">
            <a:avLst/>
          </a:prstGeom>
        </p:spPr>
        <p:txBody>
          <a:bodyPr vert="horz" lIns="91440" tIns="45720" rIns="91440" bIns="45720" rtlCol="0" anchor="ctr"/>
          <a:lstStyle>
            <a:lvl1pPr algn="r">
              <a:defRPr sz="1200">
                <a:solidFill>
                  <a:schemeClr val="bg1"/>
                </a:solidFill>
              </a:defRPr>
            </a:lvl1pPr>
          </a:lstStyle>
          <a:p>
            <a:fld id="{D009C8E7-BEA0-074C-AC73-A442BB7253D1}" type="slidenum">
              <a:rPr lang="en-US" smtClean="0"/>
              <a:pPr/>
              <a:t>‹#›</a:t>
            </a:fld>
            <a:endParaRPr lang="en-US" dirty="0"/>
          </a:p>
        </p:txBody>
      </p:sp>
      <p:pic>
        <p:nvPicPr>
          <p:cNvPr id="25" name="Picture 24"/>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7569488" y="6451347"/>
            <a:ext cx="1044895" cy="340699"/>
          </a:xfrm>
          <a:prstGeom prst="rect">
            <a:avLst/>
          </a:prstGeom>
        </p:spPr>
      </p:pic>
      <p:sp>
        <p:nvSpPr>
          <p:cNvPr id="14" name="TextBox 13">
            <a:extLst>
              <a:ext uri="{FF2B5EF4-FFF2-40B4-BE49-F238E27FC236}">
                <a16:creationId xmlns:a16="http://schemas.microsoft.com/office/drawing/2014/main" id="{42F73E74-6B88-4765-832E-AF1C5439CA37}"/>
              </a:ext>
            </a:extLst>
          </p:cNvPr>
          <p:cNvSpPr txBox="1"/>
          <p:nvPr userDrawn="1"/>
        </p:nvSpPr>
        <p:spPr>
          <a:xfrm>
            <a:off x="532015" y="6484599"/>
            <a:ext cx="7037473" cy="338554"/>
          </a:xfrm>
          <a:prstGeom prst="rect">
            <a:avLst/>
          </a:prstGeom>
          <a:noFill/>
        </p:spPr>
        <p:txBody>
          <a:bodyPr wrap="square" rtlCol="0">
            <a:spAutoFit/>
          </a:bodyPr>
          <a:lstStyle/>
          <a:p>
            <a:r>
              <a:rPr lang="en-GB" sz="800" dirty="0">
                <a:solidFill>
                  <a:schemeClr val="tx2"/>
                </a:solidFill>
                <a:latin typeface="Arial" panose="020B0604020202020204" pitchFamily="34" charset="0"/>
                <a:cs typeface="Arial" panose="020B0604020202020204" pitchFamily="34" charset="0"/>
              </a:rPr>
              <a:t>Copyright © 2019 PIB Group Limited. PIB Group is a trading style of PIB Group Limited. PIB Group Limited is registered in England &amp; Wales. Company Registration Number 09900466. Registered Office: Rossington's Business Park, West </a:t>
            </a:r>
            <a:r>
              <a:rPr lang="en-GB" sz="800" dirty="0" err="1">
                <a:solidFill>
                  <a:schemeClr val="tx2"/>
                </a:solidFill>
                <a:latin typeface="Arial" panose="020B0604020202020204" pitchFamily="34" charset="0"/>
                <a:cs typeface="Arial" panose="020B0604020202020204" pitchFamily="34" charset="0"/>
              </a:rPr>
              <a:t>Carr</a:t>
            </a:r>
            <a:r>
              <a:rPr lang="en-GB" sz="800" dirty="0">
                <a:solidFill>
                  <a:schemeClr val="tx2"/>
                </a:solidFill>
                <a:latin typeface="Arial" panose="020B0604020202020204" pitchFamily="34" charset="0"/>
                <a:cs typeface="Arial" panose="020B0604020202020204" pitchFamily="34" charset="0"/>
              </a:rPr>
              <a:t> Road, Retford, Nottinghamshire, DN22 7SW. </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mall Images and text">
    <p:spTree>
      <p:nvGrpSpPr>
        <p:cNvPr id="1" name=""/>
        <p:cNvGrpSpPr/>
        <p:nvPr/>
      </p:nvGrpSpPr>
      <p:grpSpPr>
        <a:xfrm>
          <a:off x="0" y="0"/>
          <a:ext cx="0" cy="0"/>
          <a:chOff x="0" y="0"/>
          <a:chExt cx="0" cy="0"/>
        </a:xfrm>
      </p:grpSpPr>
      <p:sp>
        <p:nvSpPr>
          <p:cNvPr id="10" name="Title 1"/>
          <p:cNvSpPr>
            <a:spLocks noGrp="1"/>
          </p:cNvSpPr>
          <p:nvPr>
            <p:ph type="title"/>
          </p:nvPr>
        </p:nvSpPr>
        <p:spPr>
          <a:xfrm>
            <a:off x="623888" y="826321"/>
            <a:ext cx="7886700" cy="592474"/>
          </a:xfrm>
        </p:spPr>
        <p:txBody>
          <a:bodyPr anchor="b">
            <a:normAutofit/>
          </a:bodyPr>
          <a:lstStyle>
            <a:lvl1pPr>
              <a:defRPr sz="3300"/>
            </a:lvl1pPr>
          </a:lstStyle>
          <a:p>
            <a:r>
              <a:rPr lang="en-US" dirty="0"/>
              <a:t>Click to edit Master title style</a:t>
            </a:r>
          </a:p>
        </p:txBody>
      </p:sp>
      <p:sp>
        <p:nvSpPr>
          <p:cNvPr id="21" name="Picture Placeholder 18"/>
          <p:cNvSpPr>
            <a:spLocks noGrp="1"/>
          </p:cNvSpPr>
          <p:nvPr>
            <p:ph type="pic" sz="quarter" idx="17"/>
          </p:nvPr>
        </p:nvSpPr>
        <p:spPr>
          <a:xfrm>
            <a:off x="623888" y="3902297"/>
            <a:ext cx="1111157" cy="1111157"/>
          </a:xfrm>
        </p:spPr>
        <p:txBody>
          <a:bodyPr/>
          <a:lstStyle/>
          <a:p>
            <a:endParaRPr lang="en-US" dirty="0"/>
          </a:p>
        </p:txBody>
      </p:sp>
      <p:sp>
        <p:nvSpPr>
          <p:cNvPr id="24" name="Picture Placeholder 18"/>
          <p:cNvSpPr>
            <a:spLocks noGrp="1"/>
          </p:cNvSpPr>
          <p:nvPr>
            <p:ph type="pic" sz="quarter" idx="18"/>
          </p:nvPr>
        </p:nvSpPr>
        <p:spPr>
          <a:xfrm>
            <a:off x="623888" y="5118073"/>
            <a:ext cx="1111157" cy="1111157"/>
          </a:xfrm>
        </p:spPr>
        <p:txBody>
          <a:bodyPr/>
          <a:lstStyle/>
          <a:p>
            <a:endParaRPr lang="en-US"/>
          </a:p>
        </p:txBody>
      </p:sp>
      <p:sp>
        <p:nvSpPr>
          <p:cNvPr id="26" name="Text Placeholder 25"/>
          <p:cNvSpPr>
            <a:spLocks noGrp="1"/>
          </p:cNvSpPr>
          <p:nvPr>
            <p:ph type="body" sz="quarter" idx="19" hasCustomPrompt="1"/>
          </p:nvPr>
        </p:nvSpPr>
        <p:spPr>
          <a:xfrm>
            <a:off x="623889" y="1582738"/>
            <a:ext cx="7886700" cy="2214940"/>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Text to go in here</a:t>
            </a:r>
          </a:p>
        </p:txBody>
      </p:sp>
      <p:sp>
        <p:nvSpPr>
          <p:cNvPr id="17" name="Picture Placeholder 18"/>
          <p:cNvSpPr>
            <a:spLocks noGrp="1"/>
          </p:cNvSpPr>
          <p:nvPr>
            <p:ph type="pic" sz="quarter" idx="20"/>
          </p:nvPr>
        </p:nvSpPr>
        <p:spPr>
          <a:xfrm>
            <a:off x="1836605" y="3902297"/>
            <a:ext cx="2326933" cy="2326933"/>
          </a:xfrm>
        </p:spPr>
        <p:txBody>
          <a:bodyPr/>
          <a:lstStyle/>
          <a:p>
            <a:endParaRPr lang="en-US"/>
          </a:p>
        </p:txBody>
      </p:sp>
      <p:sp>
        <p:nvSpPr>
          <p:cNvPr id="18" name="Text Placeholder 25"/>
          <p:cNvSpPr>
            <a:spLocks noGrp="1"/>
          </p:cNvSpPr>
          <p:nvPr>
            <p:ph type="body" sz="quarter" idx="21" hasCustomPrompt="1"/>
          </p:nvPr>
        </p:nvSpPr>
        <p:spPr>
          <a:xfrm>
            <a:off x="4281489" y="3902297"/>
            <a:ext cx="4229099" cy="2326933"/>
          </a:xfrm>
        </p:spPr>
        <p:txBody>
          <a:bodyPr/>
          <a:lstStyle>
            <a:lvl1pPr marL="0" indent="0">
              <a:buNone/>
              <a:defRPr/>
            </a:lvl1pPr>
          </a:lstStyle>
          <a:p>
            <a:pPr lvl="0"/>
            <a:r>
              <a:rPr lang="en-US" dirty="0"/>
              <a:t>Text to go in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Picture Placeholder 98"/>
          <p:cNvSpPr>
            <a:spLocks noGrp="1"/>
          </p:cNvSpPr>
          <p:nvPr>
            <p:ph type="pic" sz="quarter" idx="16"/>
          </p:nvPr>
        </p:nvSpPr>
        <p:spPr>
          <a:xfrm>
            <a:off x="1829730" y="5906500"/>
            <a:ext cx="2651125" cy="415925"/>
          </a:xfrm>
          <a:blipFill>
            <a:blip r:embed="rId2"/>
            <a:stretch>
              <a:fillRect/>
            </a:stretch>
          </a:blipFill>
        </p:spPr>
        <p:txBody>
          <a:bodyPr/>
          <a:lstStyle>
            <a:lvl1pPr marL="0" indent="0">
              <a:buNone/>
              <a:defRPr>
                <a:solidFill>
                  <a:schemeClr val="bg1">
                    <a:alpha val="0"/>
                  </a:schemeClr>
                </a:solidFill>
              </a:defRPr>
            </a:lvl1pPr>
          </a:lstStyle>
          <a:p>
            <a:pPr marL="228600" marR="0" lvl="0" indent="-228600" algn="l" defTabSz="914400" rtl="0" eaLnBrk="1" fontAlgn="auto" latinLnBrk="0" hangingPunct="1">
              <a:lnSpc>
                <a:spcPct val="90000"/>
              </a:lnSpc>
              <a:spcBef>
                <a:spcPts val="1000"/>
              </a:spcBef>
              <a:spcAft>
                <a:spcPts val="0"/>
              </a:spcAft>
              <a:buClr>
                <a:srgbClr val="57A2D3"/>
              </a:buClr>
              <a:buSzTx/>
              <a:tabLst/>
              <a:defRPr/>
            </a:pPr>
            <a:endParaRPr lang="en-US" dirty="0"/>
          </a:p>
        </p:txBody>
      </p:sp>
      <p:cxnSp>
        <p:nvCxnSpPr>
          <p:cNvPr id="22" name="Straight Connector 21"/>
          <p:cNvCxnSpPr/>
          <p:nvPr userDrawn="1"/>
        </p:nvCxnSpPr>
        <p:spPr>
          <a:xfrm>
            <a:off x="623888" y="6401230"/>
            <a:ext cx="78867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3" name="Rectangle 22"/>
          <p:cNvSpPr/>
          <p:nvPr userDrawn="1"/>
        </p:nvSpPr>
        <p:spPr>
          <a:xfrm>
            <a:off x="0" y="0"/>
            <a:ext cx="9144000" cy="3860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5" name="TextBox 24"/>
          <p:cNvSpPr txBox="1"/>
          <p:nvPr userDrawn="1"/>
        </p:nvSpPr>
        <p:spPr>
          <a:xfrm>
            <a:off x="628650" y="50013"/>
            <a:ext cx="6148070" cy="276999"/>
          </a:xfrm>
          <a:prstGeom prst="rect">
            <a:avLst/>
          </a:prstGeom>
          <a:noFill/>
        </p:spPr>
        <p:txBody>
          <a:bodyPr wrap="square" rtlCol="0">
            <a:spAutoFit/>
          </a:bodyPr>
          <a:lstStyle/>
          <a:p>
            <a:r>
              <a:rPr lang="en-US" sz="1200" dirty="0" err="1">
                <a:solidFill>
                  <a:schemeClr val="bg1"/>
                </a:solidFill>
                <a:latin typeface="Roboto Thin" charset="0"/>
                <a:ea typeface="Roboto Thin" charset="0"/>
                <a:cs typeface="Roboto Thin" charset="0"/>
              </a:rPr>
              <a:t>pibgroup.co.uk</a:t>
            </a:r>
            <a:endParaRPr lang="en-US" sz="1200" dirty="0">
              <a:solidFill>
                <a:schemeClr val="bg1"/>
              </a:solidFill>
              <a:latin typeface="Roboto Thin" charset="0"/>
              <a:ea typeface="Roboto Thin" charset="0"/>
              <a:cs typeface="Roboto Thin" charset="0"/>
            </a:endParaRPr>
          </a:p>
        </p:txBody>
      </p:sp>
      <p:sp>
        <p:nvSpPr>
          <p:cNvPr id="27" name="Slide Number Placeholder 16"/>
          <p:cNvSpPr>
            <a:spLocks noGrp="1"/>
          </p:cNvSpPr>
          <p:nvPr>
            <p:ph type="sldNum" sz="quarter" idx="4"/>
          </p:nvPr>
        </p:nvSpPr>
        <p:spPr>
          <a:xfrm>
            <a:off x="7401707" y="-121920"/>
            <a:ext cx="1543050" cy="606183"/>
          </a:xfrm>
          <a:prstGeom prst="rect">
            <a:avLst/>
          </a:prstGeom>
        </p:spPr>
        <p:txBody>
          <a:bodyPr vert="horz" lIns="91440" tIns="45720" rIns="91440" bIns="45720" rtlCol="0" anchor="ctr"/>
          <a:lstStyle>
            <a:lvl1pPr algn="r">
              <a:defRPr sz="1200">
                <a:solidFill>
                  <a:schemeClr val="bg1"/>
                </a:solidFill>
              </a:defRPr>
            </a:lvl1pPr>
          </a:lstStyle>
          <a:p>
            <a:fld id="{D009C8E7-BEA0-074C-AC73-A442BB7253D1}" type="slidenum">
              <a:rPr lang="en-US" smtClean="0"/>
              <a:pPr/>
              <a:t>‹#›</a:t>
            </a:fld>
            <a:endParaRPr lang="en-US" dirty="0"/>
          </a:p>
        </p:txBody>
      </p:sp>
      <p:pic>
        <p:nvPicPr>
          <p:cNvPr id="28" name="Picture 27"/>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7569488" y="6451347"/>
            <a:ext cx="1044895" cy="340699"/>
          </a:xfrm>
          <a:prstGeom prst="rect">
            <a:avLst/>
          </a:prstGeom>
        </p:spPr>
      </p:pic>
      <p:sp>
        <p:nvSpPr>
          <p:cNvPr id="15" name="TextBox 14">
            <a:extLst>
              <a:ext uri="{FF2B5EF4-FFF2-40B4-BE49-F238E27FC236}">
                <a16:creationId xmlns:a16="http://schemas.microsoft.com/office/drawing/2014/main" id="{4A8FFEE4-E621-44C8-B423-099E46456753}"/>
              </a:ext>
            </a:extLst>
          </p:cNvPr>
          <p:cNvSpPr txBox="1"/>
          <p:nvPr userDrawn="1"/>
        </p:nvSpPr>
        <p:spPr>
          <a:xfrm>
            <a:off x="532015" y="6484599"/>
            <a:ext cx="7037473" cy="338554"/>
          </a:xfrm>
          <a:prstGeom prst="rect">
            <a:avLst/>
          </a:prstGeom>
          <a:noFill/>
        </p:spPr>
        <p:txBody>
          <a:bodyPr wrap="square" rtlCol="0">
            <a:spAutoFit/>
          </a:bodyPr>
          <a:lstStyle/>
          <a:p>
            <a:r>
              <a:rPr lang="en-GB" sz="800" dirty="0">
                <a:solidFill>
                  <a:schemeClr val="tx2"/>
                </a:solidFill>
                <a:latin typeface="Arial" panose="020B0604020202020204" pitchFamily="34" charset="0"/>
                <a:cs typeface="Arial" panose="020B0604020202020204" pitchFamily="34" charset="0"/>
              </a:rPr>
              <a:t>Copyright © 2019 PIB Group Limited. PIB Group is a trading style of PIB Group Limited. PIB Group Limited is registered in England &amp; Wales. Company Registration Number 09900466. Registered Office: Rossington's Business Park, West </a:t>
            </a:r>
            <a:r>
              <a:rPr lang="en-GB" sz="800" dirty="0" err="1">
                <a:solidFill>
                  <a:schemeClr val="tx2"/>
                </a:solidFill>
                <a:latin typeface="Arial" panose="020B0604020202020204" pitchFamily="34" charset="0"/>
                <a:cs typeface="Arial" panose="020B0604020202020204" pitchFamily="34" charset="0"/>
              </a:rPr>
              <a:t>Carr</a:t>
            </a:r>
            <a:r>
              <a:rPr lang="en-GB" sz="800" dirty="0">
                <a:solidFill>
                  <a:schemeClr val="tx2"/>
                </a:solidFill>
                <a:latin typeface="Arial" panose="020B0604020202020204" pitchFamily="34" charset="0"/>
                <a:cs typeface="Arial" panose="020B0604020202020204" pitchFamily="34" charset="0"/>
              </a:rPr>
              <a:t> Road, Retford, Nottinghamshire, DN22 7SW. </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and sidebar">
    <p:spTree>
      <p:nvGrpSpPr>
        <p:cNvPr id="1" name=""/>
        <p:cNvGrpSpPr/>
        <p:nvPr/>
      </p:nvGrpSpPr>
      <p:grpSpPr>
        <a:xfrm>
          <a:off x="0" y="0"/>
          <a:ext cx="0" cy="0"/>
          <a:chOff x="0" y="0"/>
          <a:chExt cx="0" cy="0"/>
        </a:xfrm>
      </p:grpSpPr>
      <p:sp>
        <p:nvSpPr>
          <p:cNvPr id="6" name="Title 1"/>
          <p:cNvSpPr>
            <a:spLocks noGrp="1"/>
          </p:cNvSpPr>
          <p:nvPr>
            <p:ph type="title"/>
          </p:nvPr>
        </p:nvSpPr>
        <p:spPr>
          <a:xfrm>
            <a:off x="623888" y="826321"/>
            <a:ext cx="7886700" cy="592474"/>
          </a:xfrm>
        </p:spPr>
        <p:txBody>
          <a:bodyPr anchor="b">
            <a:normAutofit/>
          </a:bodyPr>
          <a:lstStyle>
            <a:lvl1pPr>
              <a:defRPr sz="3300"/>
            </a:lvl1pPr>
          </a:lstStyle>
          <a:p>
            <a:r>
              <a:rPr lang="en-US" dirty="0"/>
              <a:t>Click to edit Master title style</a:t>
            </a:r>
          </a:p>
        </p:txBody>
      </p:sp>
      <p:sp>
        <p:nvSpPr>
          <p:cNvPr id="7" name="Text Placeholder 25"/>
          <p:cNvSpPr>
            <a:spLocks noGrp="1"/>
          </p:cNvSpPr>
          <p:nvPr>
            <p:ph type="body" sz="quarter" idx="19"/>
          </p:nvPr>
        </p:nvSpPr>
        <p:spPr>
          <a:xfrm>
            <a:off x="623889" y="1582737"/>
            <a:ext cx="5385926" cy="4727187"/>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14" name="Rectangle 13"/>
          <p:cNvSpPr/>
          <p:nvPr userDrawn="1"/>
        </p:nvSpPr>
        <p:spPr>
          <a:xfrm>
            <a:off x="6140870" y="1582737"/>
            <a:ext cx="2389173" cy="47271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5" name="Picture 14"/>
          <p:cNvPicPr>
            <a:picLocks noChangeAspect="1"/>
          </p:cNvPicPr>
          <p:nvPr userDrawn="1"/>
        </p:nvPicPr>
        <p:blipFill rotWithShape="1">
          <a:blip r:embed="rId2">
            <a:extLst>
              <a:ext uri="{28A0092B-C50C-407E-A947-70E740481C1C}">
                <a14:useLocalDpi xmlns:a14="http://schemas.microsoft.com/office/drawing/2010/main"/>
              </a:ext>
            </a:extLst>
          </a:blip>
          <a:srcRect t="-295"/>
          <a:stretch/>
        </p:blipFill>
        <p:spPr>
          <a:xfrm>
            <a:off x="6133581" y="6035196"/>
            <a:ext cx="1748536" cy="345440"/>
          </a:xfrm>
          <a:prstGeom prst="rect">
            <a:avLst/>
          </a:prstGeom>
        </p:spPr>
      </p:pic>
      <p:sp>
        <p:nvSpPr>
          <p:cNvPr id="16" name="Text Placeholder 25"/>
          <p:cNvSpPr>
            <a:spLocks noGrp="1"/>
          </p:cNvSpPr>
          <p:nvPr>
            <p:ph type="body" sz="quarter" idx="20"/>
          </p:nvPr>
        </p:nvSpPr>
        <p:spPr>
          <a:xfrm>
            <a:off x="6186389" y="1645920"/>
            <a:ext cx="2245010" cy="2062130"/>
          </a:xfrm>
        </p:spPr>
        <p:txBody>
          <a:bodyPr/>
          <a:lstStyle>
            <a:lvl1pPr marL="0" indent="0">
              <a:buNone/>
              <a:defRPr>
                <a:solidFill>
                  <a:schemeClr val="bg1"/>
                </a:solidFill>
              </a:defRPr>
            </a:lvl1pPr>
          </a:lstStyle>
          <a:p>
            <a:pPr lvl="0"/>
            <a:r>
              <a:rPr lang="en-US" dirty="0"/>
              <a:t>Click to edit Master text styles</a:t>
            </a:r>
          </a:p>
        </p:txBody>
      </p:sp>
      <p:sp>
        <p:nvSpPr>
          <p:cNvPr id="18" name="Text Placeholder 17"/>
          <p:cNvSpPr>
            <a:spLocks noGrp="1"/>
          </p:cNvSpPr>
          <p:nvPr>
            <p:ph type="body" sz="quarter" idx="21" hasCustomPrompt="1"/>
          </p:nvPr>
        </p:nvSpPr>
        <p:spPr>
          <a:xfrm>
            <a:off x="6186488" y="3759200"/>
            <a:ext cx="2244725" cy="2276475"/>
          </a:xfrm>
        </p:spPr>
        <p:txBody>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dirty="0"/>
              <a:t>White bullet points if needed</a:t>
            </a:r>
          </a:p>
        </p:txBody>
      </p:sp>
      <p:cxnSp>
        <p:nvCxnSpPr>
          <p:cNvPr id="19" name="Straight Connector 18"/>
          <p:cNvCxnSpPr/>
          <p:nvPr userDrawn="1"/>
        </p:nvCxnSpPr>
        <p:spPr>
          <a:xfrm>
            <a:off x="623888" y="6401230"/>
            <a:ext cx="78867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0" name="Rectangle 19"/>
          <p:cNvSpPr/>
          <p:nvPr userDrawn="1"/>
        </p:nvSpPr>
        <p:spPr>
          <a:xfrm>
            <a:off x="0" y="0"/>
            <a:ext cx="9144000" cy="3860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1" name="TextBox 20"/>
          <p:cNvSpPr txBox="1"/>
          <p:nvPr userDrawn="1"/>
        </p:nvSpPr>
        <p:spPr>
          <a:xfrm>
            <a:off x="628650" y="50013"/>
            <a:ext cx="6148070" cy="276999"/>
          </a:xfrm>
          <a:prstGeom prst="rect">
            <a:avLst/>
          </a:prstGeom>
          <a:noFill/>
        </p:spPr>
        <p:txBody>
          <a:bodyPr wrap="square" rtlCol="0">
            <a:spAutoFit/>
          </a:bodyPr>
          <a:lstStyle/>
          <a:p>
            <a:r>
              <a:rPr lang="en-US" sz="1200" dirty="0" err="1">
                <a:solidFill>
                  <a:schemeClr val="bg1"/>
                </a:solidFill>
                <a:latin typeface="Roboto Thin" charset="0"/>
                <a:ea typeface="Roboto Thin" charset="0"/>
                <a:cs typeface="Roboto Thin" charset="0"/>
              </a:rPr>
              <a:t>pibgroup.co.uk</a:t>
            </a:r>
            <a:endParaRPr lang="en-US" sz="1200" dirty="0">
              <a:solidFill>
                <a:schemeClr val="bg1"/>
              </a:solidFill>
              <a:latin typeface="Roboto Thin" charset="0"/>
              <a:ea typeface="Roboto Thin" charset="0"/>
              <a:cs typeface="Roboto Thin" charset="0"/>
            </a:endParaRPr>
          </a:p>
        </p:txBody>
      </p:sp>
      <p:sp>
        <p:nvSpPr>
          <p:cNvPr id="22" name="Slide Number Placeholder 16"/>
          <p:cNvSpPr>
            <a:spLocks noGrp="1"/>
          </p:cNvSpPr>
          <p:nvPr>
            <p:ph type="sldNum" sz="quarter" idx="4"/>
          </p:nvPr>
        </p:nvSpPr>
        <p:spPr>
          <a:xfrm>
            <a:off x="7401707" y="-121920"/>
            <a:ext cx="1543050" cy="606183"/>
          </a:xfrm>
          <a:prstGeom prst="rect">
            <a:avLst/>
          </a:prstGeom>
        </p:spPr>
        <p:txBody>
          <a:bodyPr vert="horz" lIns="91440" tIns="45720" rIns="91440" bIns="45720" rtlCol="0" anchor="ctr"/>
          <a:lstStyle>
            <a:lvl1pPr algn="r">
              <a:defRPr sz="1200">
                <a:solidFill>
                  <a:schemeClr val="bg1"/>
                </a:solidFill>
              </a:defRPr>
            </a:lvl1pPr>
          </a:lstStyle>
          <a:p>
            <a:fld id="{D009C8E7-BEA0-074C-AC73-A442BB7253D1}" type="slidenum">
              <a:rPr lang="en-US" smtClean="0"/>
              <a:pPr/>
              <a:t>‹#›</a:t>
            </a:fld>
            <a:endParaRPr lang="en-US" dirty="0"/>
          </a:p>
        </p:txBody>
      </p:sp>
      <p:pic>
        <p:nvPicPr>
          <p:cNvPr id="23" name="Picture 22"/>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7569488" y="6451347"/>
            <a:ext cx="1044895" cy="340699"/>
          </a:xfrm>
          <a:prstGeom prst="rect">
            <a:avLst/>
          </a:prstGeom>
        </p:spPr>
      </p:pic>
      <p:sp>
        <p:nvSpPr>
          <p:cNvPr id="17" name="TextBox 16">
            <a:extLst>
              <a:ext uri="{FF2B5EF4-FFF2-40B4-BE49-F238E27FC236}">
                <a16:creationId xmlns:a16="http://schemas.microsoft.com/office/drawing/2014/main" id="{18920CF7-5FB2-4C5A-9B78-05455F17369A}"/>
              </a:ext>
            </a:extLst>
          </p:cNvPr>
          <p:cNvSpPr txBox="1"/>
          <p:nvPr userDrawn="1"/>
        </p:nvSpPr>
        <p:spPr>
          <a:xfrm>
            <a:off x="532015" y="6484599"/>
            <a:ext cx="7037473" cy="338554"/>
          </a:xfrm>
          <a:prstGeom prst="rect">
            <a:avLst/>
          </a:prstGeom>
          <a:noFill/>
        </p:spPr>
        <p:txBody>
          <a:bodyPr wrap="square" rtlCol="0">
            <a:spAutoFit/>
          </a:bodyPr>
          <a:lstStyle/>
          <a:p>
            <a:r>
              <a:rPr lang="en-GB" sz="800" dirty="0">
                <a:solidFill>
                  <a:schemeClr val="tx2"/>
                </a:solidFill>
                <a:latin typeface="Arial" panose="020B0604020202020204" pitchFamily="34" charset="0"/>
                <a:cs typeface="Arial" panose="020B0604020202020204" pitchFamily="34" charset="0"/>
              </a:rPr>
              <a:t>Copyright © 2019 PIB Group Limited. PIB Group is a trading style of PIB Group Limited. PIB Group Limited is registered in England &amp; Wales. Company Registration Number 09900466. Registered Office: Rossington's Business Park, West </a:t>
            </a:r>
            <a:r>
              <a:rPr lang="en-GB" sz="800" dirty="0" err="1">
                <a:solidFill>
                  <a:schemeClr val="tx2"/>
                </a:solidFill>
                <a:latin typeface="Arial" panose="020B0604020202020204" pitchFamily="34" charset="0"/>
                <a:cs typeface="Arial" panose="020B0604020202020204" pitchFamily="34" charset="0"/>
              </a:rPr>
              <a:t>Carr</a:t>
            </a:r>
            <a:r>
              <a:rPr lang="en-GB" sz="800" dirty="0">
                <a:solidFill>
                  <a:schemeClr val="tx2"/>
                </a:solidFill>
                <a:latin typeface="Arial" panose="020B0604020202020204" pitchFamily="34" charset="0"/>
                <a:cs typeface="Arial" panose="020B0604020202020204" pitchFamily="34" charset="0"/>
              </a:rPr>
              <a:t> Road, Retford, Nottinghamshire, DN22 7SW. </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 content">
    <p:spTree>
      <p:nvGrpSpPr>
        <p:cNvPr id="1" name=""/>
        <p:cNvGrpSpPr/>
        <p:nvPr/>
      </p:nvGrpSpPr>
      <p:grpSpPr>
        <a:xfrm>
          <a:off x="0" y="0"/>
          <a:ext cx="0" cy="0"/>
          <a:chOff x="0" y="0"/>
          <a:chExt cx="0" cy="0"/>
        </a:xfrm>
      </p:grpSpPr>
      <p:sp>
        <p:nvSpPr>
          <p:cNvPr id="5" name="Title 1"/>
          <p:cNvSpPr>
            <a:spLocks noGrp="1"/>
          </p:cNvSpPr>
          <p:nvPr>
            <p:ph type="title"/>
          </p:nvPr>
        </p:nvSpPr>
        <p:spPr>
          <a:xfrm>
            <a:off x="623888" y="826321"/>
            <a:ext cx="7886700" cy="592474"/>
          </a:xfrm>
        </p:spPr>
        <p:txBody>
          <a:bodyPr anchor="b">
            <a:normAutofit/>
          </a:bodyPr>
          <a:lstStyle>
            <a:lvl1pPr>
              <a:defRPr sz="3300"/>
            </a:lvl1pPr>
          </a:lstStyle>
          <a:p>
            <a:r>
              <a:rPr lang="en-US" dirty="0"/>
              <a:t>Click to edit Master title style</a:t>
            </a:r>
          </a:p>
        </p:txBody>
      </p:sp>
      <p:sp>
        <p:nvSpPr>
          <p:cNvPr id="14" name="Content Placeholder 13"/>
          <p:cNvSpPr>
            <a:spLocks noGrp="1"/>
          </p:cNvSpPr>
          <p:nvPr>
            <p:ph sz="quarter" idx="20" hasCustomPrompt="1"/>
          </p:nvPr>
        </p:nvSpPr>
        <p:spPr>
          <a:xfrm>
            <a:off x="623888" y="1582738"/>
            <a:ext cx="3784600" cy="4727575"/>
          </a:xfrm>
        </p:spPr>
        <p:txBody>
          <a:bodyPr/>
          <a:lstStyle>
            <a:lvl1pPr marL="0" indent="0">
              <a:buNone/>
              <a:defRPr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Text to go in here</a:t>
            </a:r>
          </a:p>
        </p:txBody>
      </p:sp>
      <p:sp>
        <p:nvSpPr>
          <p:cNvPr id="15" name="Content Placeholder 13"/>
          <p:cNvSpPr>
            <a:spLocks noGrp="1"/>
          </p:cNvSpPr>
          <p:nvPr>
            <p:ph sz="quarter" idx="21"/>
          </p:nvPr>
        </p:nvSpPr>
        <p:spPr>
          <a:xfrm>
            <a:off x="4725988" y="1582738"/>
            <a:ext cx="3784600" cy="472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6" name="Straight Connector 15"/>
          <p:cNvCxnSpPr/>
          <p:nvPr userDrawn="1"/>
        </p:nvCxnSpPr>
        <p:spPr>
          <a:xfrm>
            <a:off x="623888" y="6401230"/>
            <a:ext cx="78867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Rectangle 16"/>
          <p:cNvSpPr/>
          <p:nvPr userDrawn="1"/>
        </p:nvSpPr>
        <p:spPr>
          <a:xfrm>
            <a:off x="0" y="0"/>
            <a:ext cx="9144000" cy="3860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8" name="TextBox 17"/>
          <p:cNvSpPr txBox="1"/>
          <p:nvPr userDrawn="1"/>
        </p:nvSpPr>
        <p:spPr>
          <a:xfrm>
            <a:off x="628650" y="50013"/>
            <a:ext cx="6148070" cy="276999"/>
          </a:xfrm>
          <a:prstGeom prst="rect">
            <a:avLst/>
          </a:prstGeom>
          <a:noFill/>
        </p:spPr>
        <p:txBody>
          <a:bodyPr wrap="square" rtlCol="0">
            <a:spAutoFit/>
          </a:bodyPr>
          <a:lstStyle/>
          <a:p>
            <a:r>
              <a:rPr lang="en-US" sz="1200" dirty="0" err="1">
                <a:solidFill>
                  <a:schemeClr val="bg1"/>
                </a:solidFill>
                <a:latin typeface="Roboto Thin" charset="0"/>
                <a:ea typeface="Roboto Thin" charset="0"/>
                <a:cs typeface="Roboto Thin" charset="0"/>
              </a:rPr>
              <a:t>pibgroup.co.uk</a:t>
            </a:r>
            <a:endParaRPr lang="en-US" sz="1200" dirty="0">
              <a:solidFill>
                <a:schemeClr val="bg1"/>
              </a:solidFill>
              <a:latin typeface="Roboto Thin" charset="0"/>
              <a:ea typeface="Roboto Thin" charset="0"/>
              <a:cs typeface="Roboto Thin" charset="0"/>
            </a:endParaRPr>
          </a:p>
        </p:txBody>
      </p:sp>
      <p:sp>
        <p:nvSpPr>
          <p:cNvPr id="19" name="Slide Number Placeholder 16"/>
          <p:cNvSpPr>
            <a:spLocks noGrp="1"/>
          </p:cNvSpPr>
          <p:nvPr>
            <p:ph type="sldNum" sz="quarter" idx="4"/>
          </p:nvPr>
        </p:nvSpPr>
        <p:spPr>
          <a:xfrm>
            <a:off x="7401707" y="-121920"/>
            <a:ext cx="1543050" cy="606183"/>
          </a:xfrm>
          <a:prstGeom prst="rect">
            <a:avLst/>
          </a:prstGeom>
        </p:spPr>
        <p:txBody>
          <a:bodyPr vert="horz" lIns="91440" tIns="45720" rIns="91440" bIns="45720" rtlCol="0" anchor="ctr"/>
          <a:lstStyle>
            <a:lvl1pPr algn="r">
              <a:defRPr sz="1200">
                <a:solidFill>
                  <a:schemeClr val="bg1"/>
                </a:solidFill>
              </a:defRPr>
            </a:lvl1pPr>
          </a:lstStyle>
          <a:p>
            <a:fld id="{D009C8E7-BEA0-074C-AC73-A442BB7253D1}" type="slidenum">
              <a:rPr lang="en-US" smtClean="0"/>
              <a:pPr/>
              <a:t>‹#›</a:t>
            </a:fld>
            <a:endParaRPr lang="en-US" dirty="0"/>
          </a:p>
        </p:txBody>
      </p:sp>
      <p:pic>
        <p:nvPicPr>
          <p:cNvPr id="20" name="Picture 19"/>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7569488" y="6451347"/>
            <a:ext cx="1044895" cy="340699"/>
          </a:xfrm>
          <a:prstGeom prst="rect">
            <a:avLst/>
          </a:prstGeom>
        </p:spPr>
      </p:pic>
      <p:sp>
        <p:nvSpPr>
          <p:cNvPr id="11" name="TextBox 10">
            <a:extLst>
              <a:ext uri="{FF2B5EF4-FFF2-40B4-BE49-F238E27FC236}">
                <a16:creationId xmlns:a16="http://schemas.microsoft.com/office/drawing/2014/main" id="{74277C0F-D476-411C-BC81-97DF6ED2C2D1}"/>
              </a:ext>
            </a:extLst>
          </p:cNvPr>
          <p:cNvSpPr txBox="1"/>
          <p:nvPr userDrawn="1"/>
        </p:nvSpPr>
        <p:spPr>
          <a:xfrm>
            <a:off x="532015" y="6484599"/>
            <a:ext cx="7037473" cy="338554"/>
          </a:xfrm>
          <a:prstGeom prst="rect">
            <a:avLst/>
          </a:prstGeom>
          <a:noFill/>
        </p:spPr>
        <p:txBody>
          <a:bodyPr wrap="square" rtlCol="0">
            <a:spAutoFit/>
          </a:bodyPr>
          <a:lstStyle/>
          <a:p>
            <a:r>
              <a:rPr lang="en-GB" sz="800" dirty="0">
                <a:solidFill>
                  <a:schemeClr val="tx2"/>
                </a:solidFill>
                <a:latin typeface="Arial" panose="020B0604020202020204" pitchFamily="34" charset="0"/>
                <a:cs typeface="Arial" panose="020B0604020202020204" pitchFamily="34" charset="0"/>
              </a:rPr>
              <a:t>Copyright © 2019 PIB Group Limited. PIB Group is a trading style of PIB Group Limited. PIB Group Limited is registered in England &amp; Wales. Company Registration Number 09900466. Registered Office: Rossington's Business Park, West </a:t>
            </a:r>
            <a:r>
              <a:rPr lang="en-GB" sz="800" dirty="0" err="1">
                <a:solidFill>
                  <a:schemeClr val="tx2"/>
                </a:solidFill>
                <a:latin typeface="Arial" panose="020B0604020202020204" pitchFamily="34" charset="0"/>
                <a:cs typeface="Arial" panose="020B0604020202020204" pitchFamily="34" charset="0"/>
              </a:rPr>
              <a:t>Carr</a:t>
            </a:r>
            <a:r>
              <a:rPr lang="en-GB" sz="800" dirty="0">
                <a:solidFill>
                  <a:schemeClr val="tx2"/>
                </a:solidFill>
                <a:latin typeface="Arial" panose="020B0604020202020204" pitchFamily="34" charset="0"/>
                <a:cs typeface="Arial" panose="020B0604020202020204" pitchFamily="34" charset="0"/>
              </a:rPr>
              <a:t> Road, Retford, Nottinghamshire, DN22 7SW. </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bhead style text and image content">
    <p:spTree>
      <p:nvGrpSpPr>
        <p:cNvPr id="1" name=""/>
        <p:cNvGrpSpPr/>
        <p:nvPr/>
      </p:nvGrpSpPr>
      <p:grpSpPr>
        <a:xfrm>
          <a:off x="0" y="0"/>
          <a:ext cx="0" cy="0"/>
          <a:chOff x="0" y="0"/>
          <a:chExt cx="0" cy="0"/>
        </a:xfrm>
      </p:grpSpPr>
      <p:sp>
        <p:nvSpPr>
          <p:cNvPr id="19" name="Picture Placeholder 18"/>
          <p:cNvSpPr>
            <a:spLocks noGrp="1"/>
          </p:cNvSpPr>
          <p:nvPr>
            <p:ph type="pic" sz="quarter" idx="22"/>
          </p:nvPr>
        </p:nvSpPr>
        <p:spPr>
          <a:xfrm>
            <a:off x="6140870" y="4010025"/>
            <a:ext cx="2369718" cy="2300288"/>
          </a:xfrm>
        </p:spPr>
        <p:txBody>
          <a:bodyPr/>
          <a:lstStyle/>
          <a:p>
            <a:endParaRPr lang="en-US"/>
          </a:p>
        </p:txBody>
      </p:sp>
      <p:sp>
        <p:nvSpPr>
          <p:cNvPr id="8" name="Title 1"/>
          <p:cNvSpPr>
            <a:spLocks noGrp="1"/>
          </p:cNvSpPr>
          <p:nvPr>
            <p:ph type="title"/>
          </p:nvPr>
        </p:nvSpPr>
        <p:spPr>
          <a:xfrm>
            <a:off x="623888" y="826321"/>
            <a:ext cx="7886700" cy="592474"/>
          </a:xfrm>
        </p:spPr>
        <p:txBody>
          <a:bodyPr anchor="b">
            <a:normAutofit/>
          </a:bodyPr>
          <a:lstStyle>
            <a:lvl1pPr>
              <a:defRPr sz="3300"/>
            </a:lvl1pPr>
          </a:lstStyle>
          <a:p>
            <a:r>
              <a:rPr lang="en-US" dirty="0"/>
              <a:t>Click to edit Master title style</a:t>
            </a:r>
          </a:p>
        </p:txBody>
      </p:sp>
      <p:sp>
        <p:nvSpPr>
          <p:cNvPr id="15" name="Content Placeholder 13"/>
          <p:cNvSpPr>
            <a:spLocks noGrp="1"/>
          </p:cNvSpPr>
          <p:nvPr>
            <p:ph sz="quarter" idx="20" hasCustomPrompt="1"/>
          </p:nvPr>
        </p:nvSpPr>
        <p:spPr>
          <a:xfrm>
            <a:off x="623888" y="1967537"/>
            <a:ext cx="5348090" cy="4342776"/>
          </a:xfrm>
        </p:spPr>
        <p:txBody>
          <a:bodyPr/>
          <a:lstStyle>
            <a:lvl1pPr marL="0" indent="0">
              <a:buNone/>
              <a:defRPr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Text to go in here</a:t>
            </a:r>
          </a:p>
        </p:txBody>
      </p:sp>
      <p:sp>
        <p:nvSpPr>
          <p:cNvPr id="16" name="Content Placeholder 13"/>
          <p:cNvSpPr>
            <a:spLocks noGrp="1"/>
          </p:cNvSpPr>
          <p:nvPr>
            <p:ph sz="quarter" idx="21"/>
          </p:nvPr>
        </p:nvSpPr>
        <p:spPr>
          <a:xfrm>
            <a:off x="6140870" y="1582738"/>
            <a:ext cx="2369718" cy="2358641"/>
          </a:xfrm>
        </p:spPr>
        <p:txBody>
          <a:bodyPr/>
          <a:lstStyle/>
          <a:p>
            <a:pPr lvl="0"/>
            <a:r>
              <a:rPr lang="en-US" dirty="0"/>
              <a:t>Click to edit Master text styles</a:t>
            </a:r>
          </a:p>
        </p:txBody>
      </p:sp>
      <p:sp>
        <p:nvSpPr>
          <p:cNvPr id="22" name="Text Placeholder 21"/>
          <p:cNvSpPr>
            <a:spLocks noGrp="1"/>
          </p:cNvSpPr>
          <p:nvPr>
            <p:ph type="body" sz="quarter" idx="23" hasCustomPrompt="1"/>
          </p:nvPr>
        </p:nvSpPr>
        <p:spPr>
          <a:xfrm>
            <a:off x="623888" y="1582738"/>
            <a:ext cx="5348287" cy="303212"/>
          </a:xfrm>
        </p:spPr>
        <p:txBody>
          <a:bodyPr/>
          <a:lstStyle>
            <a:lvl1pPr marL="0" indent="0">
              <a:buNone/>
              <a:defRPr b="1" i="0">
                <a:solidFill>
                  <a:schemeClr val="accent1"/>
                </a:solidFill>
                <a:latin typeface="Arial" charset="0"/>
                <a:ea typeface="Arial" charset="0"/>
                <a:cs typeface="Arial" charset="0"/>
              </a:defRPr>
            </a:lvl1pPr>
          </a:lstStyle>
          <a:p>
            <a:pPr lvl="0"/>
            <a:r>
              <a:rPr lang="en-US" dirty="0"/>
              <a:t>Subheading style text</a:t>
            </a:r>
          </a:p>
        </p:txBody>
      </p:sp>
      <p:sp>
        <p:nvSpPr>
          <p:cNvPr id="23" name="Picture Placeholder 98"/>
          <p:cNvSpPr>
            <a:spLocks noGrp="1"/>
          </p:cNvSpPr>
          <p:nvPr>
            <p:ph type="pic" sz="quarter" idx="16"/>
          </p:nvPr>
        </p:nvSpPr>
        <p:spPr>
          <a:xfrm>
            <a:off x="6133995" y="5901038"/>
            <a:ext cx="2651125" cy="415925"/>
          </a:xfrm>
          <a:blipFill>
            <a:blip r:embed="rId2"/>
            <a:stretch>
              <a:fillRect/>
            </a:stretch>
          </a:blipFill>
        </p:spPr>
        <p:txBody>
          <a:bodyPr/>
          <a:lstStyle>
            <a:lvl1pPr marL="0" indent="0">
              <a:buNone/>
              <a:defRPr>
                <a:solidFill>
                  <a:schemeClr val="bg1">
                    <a:alpha val="0"/>
                  </a:schemeClr>
                </a:solidFill>
              </a:defRPr>
            </a:lvl1pPr>
          </a:lstStyle>
          <a:p>
            <a:pPr marL="228600" marR="0" lvl="0" indent="-228600" algn="l" defTabSz="914400" rtl="0" eaLnBrk="1" fontAlgn="auto" latinLnBrk="0" hangingPunct="1">
              <a:lnSpc>
                <a:spcPct val="90000"/>
              </a:lnSpc>
              <a:spcBef>
                <a:spcPts val="1000"/>
              </a:spcBef>
              <a:spcAft>
                <a:spcPts val="0"/>
              </a:spcAft>
              <a:buClr>
                <a:srgbClr val="57A2D3"/>
              </a:buClr>
              <a:buSzTx/>
              <a:tabLst/>
              <a:defRPr/>
            </a:pPr>
            <a:endParaRPr lang="en-US" dirty="0"/>
          </a:p>
        </p:txBody>
      </p:sp>
      <p:cxnSp>
        <p:nvCxnSpPr>
          <p:cNvPr id="18" name="Straight Connector 17"/>
          <p:cNvCxnSpPr/>
          <p:nvPr userDrawn="1"/>
        </p:nvCxnSpPr>
        <p:spPr>
          <a:xfrm>
            <a:off x="623888" y="6401230"/>
            <a:ext cx="78867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0" name="Rectangle 19"/>
          <p:cNvSpPr/>
          <p:nvPr userDrawn="1"/>
        </p:nvSpPr>
        <p:spPr>
          <a:xfrm>
            <a:off x="0" y="0"/>
            <a:ext cx="9144000" cy="3860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1" name="TextBox 20"/>
          <p:cNvSpPr txBox="1"/>
          <p:nvPr userDrawn="1"/>
        </p:nvSpPr>
        <p:spPr>
          <a:xfrm>
            <a:off x="628650" y="50013"/>
            <a:ext cx="6148070" cy="276999"/>
          </a:xfrm>
          <a:prstGeom prst="rect">
            <a:avLst/>
          </a:prstGeom>
          <a:noFill/>
        </p:spPr>
        <p:txBody>
          <a:bodyPr wrap="square" rtlCol="0">
            <a:spAutoFit/>
          </a:bodyPr>
          <a:lstStyle/>
          <a:p>
            <a:r>
              <a:rPr lang="en-US" sz="1200" dirty="0" err="1">
                <a:solidFill>
                  <a:schemeClr val="bg1"/>
                </a:solidFill>
                <a:latin typeface="Roboto Thin" charset="0"/>
                <a:ea typeface="Roboto Thin" charset="0"/>
                <a:cs typeface="Roboto Thin" charset="0"/>
              </a:rPr>
              <a:t>pibgroup.co.uk</a:t>
            </a:r>
            <a:endParaRPr lang="en-US" sz="1200" dirty="0">
              <a:solidFill>
                <a:schemeClr val="bg1"/>
              </a:solidFill>
              <a:latin typeface="Roboto Thin" charset="0"/>
              <a:ea typeface="Roboto Thin" charset="0"/>
              <a:cs typeface="Roboto Thin" charset="0"/>
            </a:endParaRPr>
          </a:p>
        </p:txBody>
      </p:sp>
      <p:sp>
        <p:nvSpPr>
          <p:cNvPr id="24" name="Slide Number Placeholder 16"/>
          <p:cNvSpPr>
            <a:spLocks noGrp="1"/>
          </p:cNvSpPr>
          <p:nvPr>
            <p:ph type="sldNum" sz="quarter" idx="4"/>
          </p:nvPr>
        </p:nvSpPr>
        <p:spPr>
          <a:xfrm>
            <a:off x="7401707" y="-121920"/>
            <a:ext cx="1543050" cy="606183"/>
          </a:xfrm>
          <a:prstGeom prst="rect">
            <a:avLst/>
          </a:prstGeom>
        </p:spPr>
        <p:txBody>
          <a:bodyPr vert="horz" lIns="91440" tIns="45720" rIns="91440" bIns="45720" rtlCol="0" anchor="ctr"/>
          <a:lstStyle>
            <a:lvl1pPr algn="r">
              <a:defRPr sz="1200">
                <a:solidFill>
                  <a:schemeClr val="bg1"/>
                </a:solidFill>
              </a:defRPr>
            </a:lvl1pPr>
          </a:lstStyle>
          <a:p>
            <a:fld id="{D009C8E7-BEA0-074C-AC73-A442BB7253D1}" type="slidenum">
              <a:rPr lang="en-US" smtClean="0"/>
              <a:pPr/>
              <a:t>‹#›</a:t>
            </a:fld>
            <a:endParaRPr lang="en-US" dirty="0"/>
          </a:p>
        </p:txBody>
      </p:sp>
      <p:pic>
        <p:nvPicPr>
          <p:cNvPr id="25" name="Picture 24"/>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7569488" y="6451347"/>
            <a:ext cx="1044895" cy="340699"/>
          </a:xfrm>
          <a:prstGeom prst="rect">
            <a:avLst/>
          </a:prstGeom>
        </p:spPr>
      </p:pic>
      <p:sp>
        <p:nvSpPr>
          <p:cNvPr id="14" name="TextBox 13">
            <a:extLst>
              <a:ext uri="{FF2B5EF4-FFF2-40B4-BE49-F238E27FC236}">
                <a16:creationId xmlns:a16="http://schemas.microsoft.com/office/drawing/2014/main" id="{133433DE-E606-459A-9E54-6220D7BD8F3E}"/>
              </a:ext>
            </a:extLst>
          </p:cNvPr>
          <p:cNvSpPr txBox="1"/>
          <p:nvPr userDrawn="1"/>
        </p:nvSpPr>
        <p:spPr>
          <a:xfrm>
            <a:off x="532015" y="6484599"/>
            <a:ext cx="7037473" cy="338554"/>
          </a:xfrm>
          <a:prstGeom prst="rect">
            <a:avLst/>
          </a:prstGeom>
          <a:noFill/>
        </p:spPr>
        <p:txBody>
          <a:bodyPr wrap="square" rtlCol="0">
            <a:spAutoFit/>
          </a:bodyPr>
          <a:lstStyle/>
          <a:p>
            <a:r>
              <a:rPr lang="en-GB" sz="800" dirty="0">
                <a:solidFill>
                  <a:schemeClr val="tx2"/>
                </a:solidFill>
                <a:latin typeface="Arial" panose="020B0604020202020204" pitchFamily="34" charset="0"/>
                <a:cs typeface="Arial" panose="020B0604020202020204" pitchFamily="34" charset="0"/>
              </a:rPr>
              <a:t>Copyright © 2019 PIB Group Limited. PIB Group is a trading style of PIB Group Limited. PIB Group Limited is registered in England &amp; Wales. Company Registration Number 09900466. Registered Office: Rossington's Business Park, West </a:t>
            </a:r>
            <a:r>
              <a:rPr lang="en-GB" sz="800" dirty="0" err="1">
                <a:solidFill>
                  <a:schemeClr val="tx2"/>
                </a:solidFill>
                <a:latin typeface="Arial" panose="020B0604020202020204" pitchFamily="34" charset="0"/>
                <a:cs typeface="Arial" panose="020B0604020202020204" pitchFamily="34" charset="0"/>
              </a:rPr>
              <a:t>Carr</a:t>
            </a:r>
            <a:r>
              <a:rPr lang="en-GB" sz="800" dirty="0">
                <a:solidFill>
                  <a:schemeClr val="tx2"/>
                </a:solidFill>
                <a:latin typeface="Arial" panose="020B0604020202020204" pitchFamily="34" charset="0"/>
                <a:cs typeface="Arial" panose="020B0604020202020204" pitchFamily="34" charset="0"/>
              </a:rPr>
              <a:t> Road, Retford, Nottinghamshire, DN22 7SW. </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47C51-2566-D7F0-AF73-F11C3841953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EF5044E-5601-E3AE-431C-916E8AA84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3341E0-0A08-AA95-CBC2-3D8A6F01D97E}"/>
              </a:ext>
            </a:extLst>
          </p:cNvPr>
          <p:cNvSpPr>
            <a:spLocks noGrp="1"/>
          </p:cNvSpPr>
          <p:nvPr>
            <p:ph type="dt" sz="half" idx="10"/>
          </p:nvPr>
        </p:nvSpPr>
        <p:spPr/>
        <p:txBody>
          <a:bodyPr/>
          <a:lstStyle/>
          <a:p>
            <a:fld id="{B7752319-28EE-46A6-B991-C4832524CFB8}" type="datetimeFigureOut">
              <a:rPr lang="en-IN" smtClean="0"/>
              <a:t>15-06-2023</a:t>
            </a:fld>
            <a:endParaRPr lang="en-IN"/>
          </a:p>
        </p:txBody>
      </p:sp>
      <p:sp>
        <p:nvSpPr>
          <p:cNvPr id="5" name="Footer Placeholder 4">
            <a:extLst>
              <a:ext uri="{FF2B5EF4-FFF2-40B4-BE49-F238E27FC236}">
                <a16:creationId xmlns:a16="http://schemas.microsoft.com/office/drawing/2014/main" id="{FB43CA64-91DE-2BB4-6CB6-B540FC3B090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AE18AB6-8933-7EB9-50FE-6401A8032C69}"/>
              </a:ext>
            </a:extLst>
          </p:cNvPr>
          <p:cNvSpPr>
            <a:spLocks noGrp="1"/>
          </p:cNvSpPr>
          <p:nvPr>
            <p:ph type="sldNum" sz="quarter" idx="12"/>
          </p:nvPr>
        </p:nvSpPr>
        <p:spPr/>
        <p:txBody>
          <a:bodyPr/>
          <a:lstStyle/>
          <a:p>
            <a:fld id="{8882252F-572C-48DE-82B3-BEB6935BA7BE}" type="slidenum">
              <a:rPr lang="en-IN" smtClean="0"/>
              <a:t>‹#›</a:t>
            </a:fld>
            <a:endParaRPr lang="en-IN"/>
          </a:p>
        </p:txBody>
      </p:sp>
    </p:spTree>
    <p:extLst>
      <p:ext uri="{BB962C8B-B14F-4D97-AF65-F5344CB8AC3E}">
        <p14:creationId xmlns:p14="http://schemas.microsoft.com/office/powerpoint/2010/main" val="26969746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290238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72" r:id="rId6"/>
    <p:sldLayoutId id="2147483666" r:id="rId7"/>
    <p:sldLayoutId id="2147483667" r:id="rId8"/>
    <p:sldLayoutId id="2147483668" r:id="rId9"/>
    <p:sldLayoutId id="2147483673" r:id="rId10"/>
  </p:sldLayoutIdLst>
  <p:hf hdr="0" ftr="0" dt="0"/>
  <p:txStyles>
    <p:titleStyle>
      <a:lvl1pPr algn="l" defTabSz="914400" rtl="0" eaLnBrk="1" latinLnBrk="0" hangingPunct="1">
        <a:lnSpc>
          <a:spcPct val="90000"/>
        </a:lnSpc>
        <a:spcBef>
          <a:spcPct val="0"/>
        </a:spcBef>
        <a:buNone/>
        <a:defRPr sz="3300" b="0" i="0" kern="1200">
          <a:solidFill>
            <a:schemeClr val="accent1"/>
          </a:solidFill>
          <a:latin typeface="Roboto Thin" charset="0"/>
          <a:ea typeface="Roboto Thin" charset="0"/>
          <a:cs typeface="Roboto Thin" charset="0"/>
        </a:defRPr>
      </a:lvl1pPr>
    </p:titleStyle>
    <p:bodyStyle>
      <a:lvl1pPr marL="228600" indent="-228600" algn="l" defTabSz="914400" rtl="0" eaLnBrk="1" latinLnBrk="0" hangingPunct="1">
        <a:lnSpc>
          <a:spcPct val="90000"/>
        </a:lnSpc>
        <a:spcBef>
          <a:spcPts val="1000"/>
        </a:spcBef>
        <a:buClr>
          <a:schemeClr val="accent1"/>
        </a:buClr>
        <a:buFont typeface=".AppleSystemUIFont" charset="-120"/>
        <a:buChar char="›"/>
        <a:defRPr sz="1350" kern="1200">
          <a:solidFill>
            <a:schemeClr val="accent2">
              <a:lumMod val="10000"/>
            </a:schemeClr>
          </a:solidFill>
          <a:latin typeface="Arial" charset="0"/>
          <a:ea typeface="Arial" charset="0"/>
          <a:cs typeface="Arial" charset="0"/>
        </a:defRPr>
      </a:lvl1pPr>
      <a:lvl2pPr marL="685800" indent="-228600" algn="l" defTabSz="914400" rtl="0" eaLnBrk="1" latinLnBrk="0" hangingPunct="1">
        <a:lnSpc>
          <a:spcPct val="90000"/>
        </a:lnSpc>
        <a:spcBef>
          <a:spcPts val="500"/>
        </a:spcBef>
        <a:buClr>
          <a:schemeClr val="accent1"/>
        </a:buClr>
        <a:buFont typeface=".AppleSystemUIFont" charset="-120"/>
        <a:buChar char="›"/>
        <a:defRPr sz="1350" kern="1200">
          <a:solidFill>
            <a:schemeClr val="accent2">
              <a:lumMod val="10000"/>
            </a:schemeClr>
          </a:solidFill>
          <a:latin typeface="Arial" charset="0"/>
          <a:ea typeface="Arial" charset="0"/>
          <a:cs typeface="Arial" charset="0"/>
        </a:defRPr>
      </a:lvl2pPr>
      <a:lvl3pPr marL="1143000" indent="-228600" algn="l" defTabSz="914400" rtl="0" eaLnBrk="1" latinLnBrk="0" hangingPunct="1">
        <a:lnSpc>
          <a:spcPct val="90000"/>
        </a:lnSpc>
        <a:spcBef>
          <a:spcPts val="500"/>
        </a:spcBef>
        <a:buClr>
          <a:schemeClr val="accent1"/>
        </a:buClr>
        <a:buFont typeface=".AppleSystemUIFont" charset="-120"/>
        <a:buChar char="›"/>
        <a:defRPr sz="1350" kern="1200">
          <a:solidFill>
            <a:schemeClr val="accent2">
              <a:lumMod val="10000"/>
            </a:schemeClr>
          </a:solidFill>
          <a:latin typeface="Arial" charset="0"/>
          <a:ea typeface="Arial" charset="0"/>
          <a:cs typeface="Arial" charset="0"/>
        </a:defRPr>
      </a:lvl3pPr>
      <a:lvl4pPr marL="1600200" indent="-228600" algn="l" defTabSz="914400" rtl="0" eaLnBrk="1" latinLnBrk="0" hangingPunct="1">
        <a:lnSpc>
          <a:spcPct val="90000"/>
        </a:lnSpc>
        <a:spcBef>
          <a:spcPts val="500"/>
        </a:spcBef>
        <a:buClr>
          <a:schemeClr val="accent1"/>
        </a:buClr>
        <a:buFont typeface=".AppleSystemUIFont" charset="-120"/>
        <a:buChar char="›"/>
        <a:defRPr sz="1350" kern="1200">
          <a:solidFill>
            <a:schemeClr val="accent2">
              <a:lumMod val="10000"/>
            </a:schemeClr>
          </a:solidFill>
          <a:latin typeface="Arial" charset="0"/>
          <a:ea typeface="Arial" charset="0"/>
          <a:cs typeface="Arial" charset="0"/>
        </a:defRPr>
      </a:lvl4pPr>
      <a:lvl5pPr marL="2057400" indent="-228600" algn="l" defTabSz="914400" rtl="0" eaLnBrk="1" latinLnBrk="0" hangingPunct="1">
        <a:lnSpc>
          <a:spcPct val="90000"/>
        </a:lnSpc>
        <a:spcBef>
          <a:spcPts val="500"/>
        </a:spcBef>
        <a:buClr>
          <a:schemeClr val="accent1"/>
        </a:buClr>
        <a:buFont typeface=".AppleSystemUIFont" charset="-120"/>
        <a:buChar char="›"/>
        <a:defRPr sz="1350" kern="1200">
          <a:solidFill>
            <a:schemeClr val="accent2">
              <a:lumMod val="10000"/>
            </a:schemeClr>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3" Type="http://schemas.microsoft.com/office/2018/10/relationships/comments" Target="../comments/modernComment_10A_9A843705.xml"/><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microsoft.com/office/2018/10/relationships/comments" Target="../comments/modernComment_10C_B2A3732E.xml"/><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hyperlink" Target="https://preprod-auth-service.letalliance.dev/" TargetMode="External"/><Relationship Id="rId2" Type="http://schemas.openxmlformats.org/officeDocument/2006/relationships/notesSlide" Target="../notesSlides/notesSlide4.xml"/><Relationship Id="rId1" Type="http://schemas.openxmlformats.org/officeDocument/2006/relationships/slideLayout" Target="../slideLayouts/slideLayout10.xml"/><Relationship Id="rId4" Type="http://schemas.openxmlformats.org/officeDocument/2006/relationships/hyperlink" Target="https://preprod-tenant.letalliance.dev/externalreference"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0.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hyperlink" Target="https://help.salesforce.com/s/articleView?id=sf.remoteaccess_oauth_client_credentials_flow.htm&amp;language=en_US&amp;type=5" TargetMode="External"/><Relationship Id="rId2" Type="http://schemas.openxmlformats.org/officeDocument/2006/relationships/notesSlide" Target="../notesSlides/notesSlide6.xml"/><Relationship Id="rId1" Type="http://schemas.openxmlformats.org/officeDocument/2006/relationships/slideLayout" Target="../slideLayouts/slideLayout10.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microsoft.com/office/2018/10/relationships/comments" Target="../comments/modernComment_10F_2DA1DEF3.xml"/><Relationship Id="rId2" Type="http://schemas.openxmlformats.org/officeDocument/2006/relationships/notesSlide" Target="../notesSlides/notesSlide7.xml"/><Relationship Id="rId1" Type="http://schemas.openxmlformats.org/officeDocument/2006/relationships/slideLayout" Target="../slideLayouts/slideLayout10.xml"/><Relationship Id="rId4" Type="http://schemas.openxmlformats.org/officeDocument/2006/relationships/image" Target="../media/image17.gif"/></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microsoft.com/office/2018/10/relationships/comments" Target="../comments/modernComment_111_FD7A8D92.xml"/><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7B83A5C-20B4-E204-CADE-D33E536706E2}"/>
              </a:ext>
            </a:extLst>
          </p:cNvPr>
          <p:cNvSpPr/>
          <p:nvPr/>
        </p:nvSpPr>
        <p:spPr>
          <a:xfrm>
            <a:off x="0" y="6688476"/>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F3E8D81A-AFCC-9A60-8531-8A04DB6F850C}"/>
              </a:ext>
            </a:extLst>
          </p:cNvPr>
          <p:cNvSpPr/>
          <p:nvPr/>
        </p:nvSpPr>
        <p:spPr>
          <a:xfrm rot="10800000" flipV="1">
            <a:off x="107593" y="618540"/>
            <a:ext cx="2456380" cy="2962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2" name="TextBox 1">
            <a:extLst>
              <a:ext uri="{FF2B5EF4-FFF2-40B4-BE49-F238E27FC236}">
                <a16:creationId xmlns:a16="http://schemas.microsoft.com/office/drawing/2014/main" id="{C86110A0-033B-E7DE-F1E9-95ABF3009ACB}"/>
              </a:ext>
            </a:extLst>
          </p:cNvPr>
          <p:cNvSpPr txBox="1"/>
          <p:nvPr/>
        </p:nvSpPr>
        <p:spPr>
          <a:xfrm>
            <a:off x="474980" y="4060804"/>
            <a:ext cx="8194039" cy="1446550"/>
          </a:xfrm>
          <a:prstGeom prst="rect">
            <a:avLst/>
          </a:prstGeom>
          <a:noFill/>
        </p:spPr>
        <p:txBody>
          <a:bodyPr wrap="square" rtlCol="0">
            <a:spAutoFit/>
          </a:bodyPr>
          <a:lstStyle/>
          <a:p>
            <a:r>
              <a:rPr lang="en-GB" sz="4400" dirty="0"/>
              <a:t>Grainger – Vision+  </a:t>
            </a:r>
            <a:br>
              <a:rPr lang="en-GB" sz="4400" dirty="0"/>
            </a:br>
            <a:r>
              <a:rPr lang="en-GB" sz="4400" dirty="0"/>
              <a:t>Tenant &amp; Agent Journey V1.3</a:t>
            </a:r>
          </a:p>
        </p:txBody>
      </p:sp>
      <p:pic>
        <p:nvPicPr>
          <p:cNvPr id="3" name="Picture 2" descr="New-HomeLet-logo - Atkinson McLeod website">
            <a:extLst>
              <a:ext uri="{FF2B5EF4-FFF2-40B4-BE49-F238E27FC236}">
                <a16:creationId xmlns:a16="http://schemas.microsoft.com/office/drawing/2014/main" id="{19BCA89B-E764-B8C0-BEDC-16003BA750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14557" y="5961839"/>
            <a:ext cx="1236133" cy="538877"/>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Meet the Let Alliance Team - Home">
            <a:extLst>
              <a:ext uri="{FF2B5EF4-FFF2-40B4-BE49-F238E27FC236}">
                <a16:creationId xmlns:a16="http://schemas.microsoft.com/office/drawing/2014/main" id="{6E215B32-F4C0-F671-B951-5CB2EE4376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4980" y="5904450"/>
            <a:ext cx="1867590" cy="653657"/>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Barbon Insurance Group - Living and Working in Lincolnshire">
            <a:extLst>
              <a:ext uri="{FF2B5EF4-FFF2-40B4-BE49-F238E27FC236}">
                <a16:creationId xmlns:a16="http://schemas.microsoft.com/office/drawing/2014/main" id="{6276F35F-F489-D6A7-C48C-1FA1E30BEC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48530" y="6078399"/>
            <a:ext cx="1303868" cy="3699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48948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F14FA80-2BA9-457A-FA25-B93C3A01FA28}"/>
              </a:ext>
            </a:extLst>
          </p:cNvPr>
          <p:cNvSpPr/>
          <p:nvPr/>
        </p:nvSpPr>
        <p:spPr>
          <a:xfrm>
            <a:off x="2723" y="6709247"/>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50F25BA2-BB5D-4D3B-0601-2BB13AD968D4}"/>
              </a:ext>
            </a:extLst>
          </p:cNvPr>
          <p:cNvSpPr/>
          <p:nvPr/>
        </p:nvSpPr>
        <p:spPr>
          <a:xfrm>
            <a:off x="0" y="-2862"/>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5BE7F990-D417-5CB5-0847-7A9E4F860586}"/>
              </a:ext>
            </a:extLst>
          </p:cNvPr>
          <p:cNvSpPr txBox="1"/>
          <p:nvPr/>
        </p:nvSpPr>
        <p:spPr>
          <a:xfrm>
            <a:off x="121920" y="201765"/>
            <a:ext cx="6888480" cy="461665"/>
          </a:xfrm>
          <a:prstGeom prst="rect">
            <a:avLst/>
          </a:prstGeom>
          <a:noFill/>
        </p:spPr>
        <p:txBody>
          <a:bodyPr wrap="square" rtlCol="0">
            <a:spAutoFit/>
          </a:bodyPr>
          <a:lstStyle/>
          <a:p>
            <a:r>
              <a:rPr lang="en-GB" sz="2400" b="1" dirty="0"/>
              <a:t>Tenant and Agent Journey Overview</a:t>
            </a:r>
          </a:p>
        </p:txBody>
      </p:sp>
      <p:sp>
        <p:nvSpPr>
          <p:cNvPr id="2" name="Rectangle 1">
            <a:extLst>
              <a:ext uri="{FF2B5EF4-FFF2-40B4-BE49-F238E27FC236}">
                <a16:creationId xmlns:a16="http://schemas.microsoft.com/office/drawing/2014/main" id="{2F109531-1981-0CFF-762F-814946B6B868}"/>
              </a:ext>
            </a:extLst>
          </p:cNvPr>
          <p:cNvSpPr/>
          <p:nvPr/>
        </p:nvSpPr>
        <p:spPr>
          <a:xfrm>
            <a:off x="3528683" y="702949"/>
            <a:ext cx="1181888" cy="479591"/>
          </a:xfrm>
          <a:prstGeom prst="rect">
            <a:avLst/>
          </a:prstGeom>
          <a:solidFill>
            <a:schemeClr val="accent6"/>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Vision+ API</a:t>
            </a:r>
          </a:p>
        </p:txBody>
      </p:sp>
      <p:cxnSp>
        <p:nvCxnSpPr>
          <p:cNvPr id="17" name="Straight Arrow Connector 16">
            <a:extLst>
              <a:ext uri="{FF2B5EF4-FFF2-40B4-BE49-F238E27FC236}">
                <a16:creationId xmlns:a16="http://schemas.microsoft.com/office/drawing/2014/main" id="{04319FAD-EAA1-B00F-AEB8-0996E986D672}"/>
              </a:ext>
            </a:extLst>
          </p:cNvPr>
          <p:cNvCxnSpPr>
            <a:cxnSpLocks/>
          </p:cNvCxnSpPr>
          <p:nvPr/>
        </p:nvCxnSpPr>
        <p:spPr>
          <a:xfrm>
            <a:off x="719288" y="1597339"/>
            <a:ext cx="1433103"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18" name="Rectangle 17">
            <a:extLst>
              <a:ext uri="{FF2B5EF4-FFF2-40B4-BE49-F238E27FC236}">
                <a16:creationId xmlns:a16="http://schemas.microsoft.com/office/drawing/2014/main" id="{64CEB71D-5BCF-7340-D36A-5D536ADB606C}"/>
              </a:ext>
            </a:extLst>
          </p:cNvPr>
          <p:cNvSpPr/>
          <p:nvPr/>
        </p:nvSpPr>
        <p:spPr>
          <a:xfrm>
            <a:off x="508937" y="1160139"/>
            <a:ext cx="193899" cy="11795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ectangle 19">
            <a:extLst>
              <a:ext uri="{FF2B5EF4-FFF2-40B4-BE49-F238E27FC236}">
                <a16:creationId xmlns:a16="http://schemas.microsoft.com/office/drawing/2014/main" id="{7BAE3413-8758-8644-6583-84E8A0EFF810}"/>
              </a:ext>
            </a:extLst>
          </p:cNvPr>
          <p:cNvSpPr/>
          <p:nvPr/>
        </p:nvSpPr>
        <p:spPr>
          <a:xfrm>
            <a:off x="3977191" y="1190533"/>
            <a:ext cx="220134" cy="2441326"/>
          </a:xfrm>
          <a:prstGeom prst="rect">
            <a:avLst/>
          </a:prstGeom>
          <a:solidFill>
            <a:schemeClr val="accent6"/>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TextBox 20">
            <a:extLst>
              <a:ext uri="{FF2B5EF4-FFF2-40B4-BE49-F238E27FC236}">
                <a16:creationId xmlns:a16="http://schemas.microsoft.com/office/drawing/2014/main" id="{3E10B814-1850-8FE7-0E65-2A7D2C1AF56D}"/>
              </a:ext>
            </a:extLst>
          </p:cNvPr>
          <p:cNvSpPr txBox="1"/>
          <p:nvPr/>
        </p:nvSpPr>
        <p:spPr>
          <a:xfrm>
            <a:off x="2398074" y="1805306"/>
            <a:ext cx="1534394" cy="261610"/>
          </a:xfrm>
          <a:prstGeom prst="rect">
            <a:avLst/>
          </a:prstGeom>
          <a:noFill/>
        </p:spPr>
        <p:txBody>
          <a:bodyPr wrap="square" rtlCol="0">
            <a:spAutoFit/>
          </a:bodyPr>
          <a:lstStyle/>
          <a:p>
            <a:r>
              <a:rPr lang="en-GB" sz="1100" dirty="0">
                <a:solidFill>
                  <a:schemeClr val="accent3"/>
                </a:solidFill>
              </a:rPr>
              <a:t>2. Reference instigated</a:t>
            </a:r>
          </a:p>
        </p:txBody>
      </p:sp>
      <p:cxnSp>
        <p:nvCxnSpPr>
          <p:cNvPr id="26" name="Straight Arrow Connector 25">
            <a:extLst>
              <a:ext uri="{FF2B5EF4-FFF2-40B4-BE49-F238E27FC236}">
                <a16:creationId xmlns:a16="http://schemas.microsoft.com/office/drawing/2014/main" id="{4A51FAFD-09FE-2DA9-E9C4-16D8ABF0778B}"/>
              </a:ext>
            </a:extLst>
          </p:cNvPr>
          <p:cNvCxnSpPr>
            <a:cxnSpLocks/>
          </p:cNvCxnSpPr>
          <p:nvPr/>
        </p:nvCxnSpPr>
        <p:spPr>
          <a:xfrm>
            <a:off x="737393" y="2011680"/>
            <a:ext cx="1387769"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27" name="TextBox 26">
            <a:extLst>
              <a:ext uri="{FF2B5EF4-FFF2-40B4-BE49-F238E27FC236}">
                <a16:creationId xmlns:a16="http://schemas.microsoft.com/office/drawing/2014/main" id="{2218AFBB-32AC-A41F-5E8E-1A43578F9DDD}"/>
              </a:ext>
            </a:extLst>
          </p:cNvPr>
          <p:cNvSpPr txBox="1"/>
          <p:nvPr/>
        </p:nvSpPr>
        <p:spPr>
          <a:xfrm>
            <a:off x="690378" y="1609049"/>
            <a:ext cx="1373426" cy="430887"/>
          </a:xfrm>
          <a:prstGeom prst="rect">
            <a:avLst/>
          </a:prstGeom>
          <a:noFill/>
        </p:spPr>
        <p:txBody>
          <a:bodyPr wrap="square" rtlCol="0">
            <a:spAutoFit/>
          </a:bodyPr>
          <a:lstStyle/>
          <a:p>
            <a:r>
              <a:rPr lang="en-GB" sz="1100" dirty="0">
                <a:solidFill>
                  <a:schemeClr val="accent3"/>
                </a:solidFill>
              </a:rPr>
              <a:t>1.b Tenant makes advance payment</a:t>
            </a:r>
          </a:p>
        </p:txBody>
      </p:sp>
      <p:sp>
        <p:nvSpPr>
          <p:cNvPr id="30" name="TextBox 29">
            <a:extLst>
              <a:ext uri="{FF2B5EF4-FFF2-40B4-BE49-F238E27FC236}">
                <a16:creationId xmlns:a16="http://schemas.microsoft.com/office/drawing/2014/main" id="{FC5A1E7E-5B52-C2E1-05E5-32B3532D4F7C}"/>
              </a:ext>
            </a:extLst>
          </p:cNvPr>
          <p:cNvSpPr txBox="1"/>
          <p:nvPr/>
        </p:nvSpPr>
        <p:spPr>
          <a:xfrm>
            <a:off x="732431" y="4435180"/>
            <a:ext cx="3610496" cy="261610"/>
          </a:xfrm>
          <a:prstGeom prst="rect">
            <a:avLst/>
          </a:prstGeom>
          <a:noFill/>
        </p:spPr>
        <p:txBody>
          <a:bodyPr wrap="square" rtlCol="0">
            <a:spAutoFit/>
          </a:bodyPr>
          <a:lstStyle/>
          <a:p>
            <a:r>
              <a:rPr lang="en-GB" sz="1100" dirty="0">
                <a:solidFill>
                  <a:schemeClr val="accent3"/>
                </a:solidFill>
              </a:rPr>
              <a:t>10. Applicant(s) access portal via </a:t>
            </a:r>
            <a:r>
              <a:rPr lang="en-GB" sz="1100" dirty="0" err="1">
                <a:solidFill>
                  <a:schemeClr val="accent3"/>
                </a:solidFill>
              </a:rPr>
              <a:t>iFrame</a:t>
            </a:r>
            <a:r>
              <a:rPr lang="en-GB" sz="1100" dirty="0">
                <a:solidFill>
                  <a:schemeClr val="accent3"/>
                </a:solidFill>
              </a:rPr>
              <a:t> and JWT Token</a:t>
            </a:r>
          </a:p>
        </p:txBody>
      </p:sp>
      <p:sp>
        <p:nvSpPr>
          <p:cNvPr id="31" name="Rectangle 30">
            <a:extLst>
              <a:ext uri="{FF2B5EF4-FFF2-40B4-BE49-F238E27FC236}">
                <a16:creationId xmlns:a16="http://schemas.microsoft.com/office/drawing/2014/main" id="{8D102639-3787-0EF9-429A-C2A1584D935E}"/>
              </a:ext>
            </a:extLst>
          </p:cNvPr>
          <p:cNvSpPr/>
          <p:nvPr/>
        </p:nvSpPr>
        <p:spPr>
          <a:xfrm>
            <a:off x="6522693" y="702949"/>
            <a:ext cx="1181888" cy="479591"/>
          </a:xfrm>
          <a:prstGeom prst="rect">
            <a:avLst/>
          </a:prstGeom>
          <a:solidFill>
            <a:schemeClr val="accent6"/>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Vision+ Tenant Portal</a:t>
            </a:r>
          </a:p>
        </p:txBody>
      </p:sp>
      <p:sp>
        <p:nvSpPr>
          <p:cNvPr id="33" name="Rectangle 32">
            <a:extLst>
              <a:ext uri="{FF2B5EF4-FFF2-40B4-BE49-F238E27FC236}">
                <a16:creationId xmlns:a16="http://schemas.microsoft.com/office/drawing/2014/main" id="{A4B3A15F-1BB7-612B-8CE0-38200ABB3E7E}"/>
              </a:ext>
            </a:extLst>
          </p:cNvPr>
          <p:cNvSpPr/>
          <p:nvPr/>
        </p:nvSpPr>
        <p:spPr>
          <a:xfrm>
            <a:off x="7045236" y="1189681"/>
            <a:ext cx="175844" cy="3577641"/>
          </a:xfrm>
          <a:prstGeom prst="rect">
            <a:avLst/>
          </a:prstGeom>
          <a:solidFill>
            <a:schemeClr val="accent6"/>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5" name="Straight Arrow Connector 34">
            <a:extLst>
              <a:ext uri="{FF2B5EF4-FFF2-40B4-BE49-F238E27FC236}">
                <a16:creationId xmlns:a16="http://schemas.microsoft.com/office/drawing/2014/main" id="{6F5EB479-BE84-E4CF-6C58-E5F5935E9862}"/>
              </a:ext>
            </a:extLst>
          </p:cNvPr>
          <p:cNvCxnSpPr>
            <a:cxnSpLocks/>
          </p:cNvCxnSpPr>
          <p:nvPr/>
        </p:nvCxnSpPr>
        <p:spPr>
          <a:xfrm flipH="1" flipV="1">
            <a:off x="2386704" y="5640646"/>
            <a:ext cx="1404969" cy="2683"/>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40" name="TextBox 39">
            <a:extLst>
              <a:ext uri="{FF2B5EF4-FFF2-40B4-BE49-F238E27FC236}">
                <a16:creationId xmlns:a16="http://schemas.microsoft.com/office/drawing/2014/main" id="{0912EE4D-C800-7FD9-FE89-D18BBBFE3B1C}"/>
              </a:ext>
            </a:extLst>
          </p:cNvPr>
          <p:cNvSpPr txBox="1"/>
          <p:nvPr/>
        </p:nvSpPr>
        <p:spPr>
          <a:xfrm>
            <a:off x="2311417" y="4990374"/>
            <a:ext cx="1678027" cy="600164"/>
          </a:xfrm>
          <a:prstGeom prst="rect">
            <a:avLst/>
          </a:prstGeom>
          <a:noFill/>
        </p:spPr>
        <p:txBody>
          <a:bodyPr wrap="square" rtlCol="0">
            <a:spAutoFit/>
          </a:bodyPr>
          <a:lstStyle/>
          <a:p>
            <a:r>
              <a:rPr lang="en-GB" sz="1100" dirty="0">
                <a:solidFill>
                  <a:schemeClr val="accent3"/>
                </a:solidFill>
              </a:rPr>
              <a:t>12. Vision+ updates Salesforce  on reference Status change</a:t>
            </a:r>
          </a:p>
        </p:txBody>
      </p:sp>
      <p:cxnSp>
        <p:nvCxnSpPr>
          <p:cNvPr id="32" name="Straight Arrow Connector 31">
            <a:extLst>
              <a:ext uri="{FF2B5EF4-FFF2-40B4-BE49-F238E27FC236}">
                <a16:creationId xmlns:a16="http://schemas.microsoft.com/office/drawing/2014/main" id="{51FC68F0-8CF8-065C-CF9C-B3248C8C570E}"/>
              </a:ext>
            </a:extLst>
          </p:cNvPr>
          <p:cNvCxnSpPr>
            <a:cxnSpLocks/>
          </p:cNvCxnSpPr>
          <p:nvPr/>
        </p:nvCxnSpPr>
        <p:spPr>
          <a:xfrm flipV="1">
            <a:off x="2365160" y="5965958"/>
            <a:ext cx="5982183" cy="2780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41" name="Rectangle 40">
            <a:extLst>
              <a:ext uri="{FF2B5EF4-FFF2-40B4-BE49-F238E27FC236}">
                <a16:creationId xmlns:a16="http://schemas.microsoft.com/office/drawing/2014/main" id="{01BCB24E-C56F-F0BD-DF7E-320E03A15E32}"/>
              </a:ext>
            </a:extLst>
          </p:cNvPr>
          <p:cNvSpPr/>
          <p:nvPr/>
        </p:nvSpPr>
        <p:spPr>
          <a:xfrm>
            <a:off x="7875362" y="702949"/>
            <a:ext cx="1181888" cy="479591"/>
          </a:xfrm>
          <a:prstGeom prst="rect">
            <a:avLst/>
          </a:prstGeom>
          <a:solidFill>
            <a:schemeClr val="accent6"/>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Vision+ Agent Portal</a:t>
            </a:r>
          </a:p>
        </p:txBody>
      </p:sp>
      <p:sp>
        <p:nvSpPr>
          <p:cNvPr id="42" name="Rectangle 41">
            <a:extLst>
              <a:ext uri="{FF2B5EF4-FFF2-40B4-BE49-F238E27FC236}">
                <a16:creationId xmlns:a16="http://schemas.microsoft.com/office/drawing/2014/main" id="{8D77D8EF-07AA-A849-1354-3CF0C5390100}"/>
              </a:ext>
            </a:extLst>
          </p:cNvPr>
          <p:cNvSpPr/>
          <p:nvPr/>
        </p:nvSpPr>
        <p:spPr>
          <a:xfrm>
            <a:off x="8322860" y="1163262"/>
            <a:ext cx="162974" cy="5415529"/>
          </a:xfrm>
          <a:prstGeom prst="rect">
            <a:avLst/>
          </a:prstGeom>
          <a:solidFill>
            <a:schemeClr val="accent6"/>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TextBox 43">
            <a:extLst>
              <a:ext uri="{FF2B5EF4-FFF2-40B4-BE49-F238E27FC236}">
                <a16:creationId xmlns:a16="http://schemas.microsoft.com/office/drawing/2014/main" id="{624B5AAF-5EAC-1326-B9CC-06E24A68D0DB}"/>
              </a:ext>
            </a:extLst>
          </p:cNvPr>
          <p:cNvSpPr txBox="1"/>
          <p:nvPr/>
        </p:nvSpPr>
        <p:spPr>
          <a:xfrm>
            <a:off x="3689383" y="5732148"/>
            <a:ext cx="2923495" cy="261610"/>
          </a:xfrm>
          <a:prstGeom prst="rect">
            <a:avLst/>
          </a:prstGeom>
          <a:noFill/>
        </p:spPr>
        <p:txBody>
          <a:bodyPr wrap="square" rtlCol="0">
            <a:spAutoFit/>
          </a:bodyPr>
          <a:lstStyle/>
          <a:p>
            <a:r>
              <a:rPr lang="en-GB" sz="1100" dirty="0">
                <a:solidFill>
                  <a:schemeClr val="accent3"/>
                </a:solidFill>
              </a:rPr>
              <a:t>13. Agent goes to Vision+ portal for review</a:t>
            </a:r>
          </a:p>
        </p:txBody>
      </p:sp>
      <p:cxnSp>
        <p:nvCxnSpPr>
          <p:cNvPr id="45" name="Straight Arrow Connector 44">
            <a:extLst>
              <a:ext uri="{FF2B5EF4-FFF2-40B4-BE49-F238E27FC236}">
                <a16:creationId xmlns:a16="http://schemas.microsoft.com/office/drawing/2014/main" id="{70875111-62EE-3DCB-4354-38AE13885B61}"/>
              </a:ext>
            </a:extLst>
          </p:cNvPr>
          <p:cNvCxnSpPr>
            <a:cxnSpLocks/>
          </p:cNvCxnSpPr>
          <p:nvPr/>
        </p:nvCxnSpPr>
        <p:spPr>
          <a:xfrm>
            <a:off x="761466" y="4698723"/>
            <a:ext cx="6217402"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23" name="Rectangle 22">
            <a:extLst>
              <a:ext uri="{FF2B5EF4-FFF2-40B4-BE49-F238E27FC236}">
                <a16:creationId xmlns:a16="http://schemas.microsoft.com/office/drawing/2014/main" id="{B032B5F4-770B-75DF-4A1A-B12B7137D9DF}"/>
              </a:ext>
            </a:extLst>
          </p:cNvPr>
          <p:cNvSpPr/>
          <p:nvPr/>
        </p:nvSpPr>
        <p:spPr>
          <a:xfrm>
            <a:off x="1707970" y="702949"/>
            <a:ext cx="1181888" cy="4795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Grainger Salesforce</a:t>
            </a:r>
          </a:p>
        </p:txBody>
      </p:sp>
      <p:sp>
        <p:nvSpPr>
          <p:cNvPr id="24" name="Rectangle 23">
            <a:extLst>
              <a:ext uri="{FF2B5EF4-FFF2-40B4-BE49-F238E27FC236}">
                <a16:creationId xmlns:a16="http://schemas.microsoft.com/office/drawing/2014/main" id="{6B1A7A95-B65A-1827-9DEA-658D2DCC72FC}"/>
              </a:ext>
            </a:extLst>
          </p:cNvPr>
          <p:cNvSpPr/>
          <p:nvPr/>
        </p:nvSpPr>
        <p:spPr>
          <a:xfrm>
            <a:off x="2157997" y="1172965"/>
            <a:ext cx="159107" cy="26784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a:extLst>
              <a:ext uri="{FF2B5EF4-FFF2-40B4-BE49-F238E27FC236}">
                <a16:creationId xmlns:a16="http://schemas.microsoft.com/office/drawing/2014/main" id="{81DFCEC5-930C-79EE-8F37-ED32DD82CA1A}"/>
              </a:ext>
            </a:extLst>
          </p:cNvPr>
          <p:cNvSpPr txBox="1"/>
          <p:nvPr/>
        </p:nvSpPr>
        <p:spPr>
          <a:xfrm>
            <a:off x="698815" y="1199318"/>
            <a:ext cx="1409712" cy="430887"/>
          </a:xfrm>
          <a:prstGeom prst="rect">
            <a:avLst/>
          </a:prstGeom>
          <a:noFill/>
        </p:spPr>
        <p:txBody>
          <a:bodyPr wrap="square" rtlCol="0">
            <a:spAutoFit/>
          </a:bodyPr>
          <a:lstStyle/>
          <a:p>
            <a:r>
              <a:rPr lang="en-GB" sz="1100" dirty="0">
                <a:solidFill>
                  <a:schemeClr val="accent3"/>
                </a:solidFill>
              </a:rPr>
              <a:t>1a. Additional Applicants added</a:t>
            </a:r>
          </a:p>
        </p:txBody>
      </p:sp>
      <p:cxnSp>
        <p:nvCxnSpPr>
          <p:cNvPr id="28" name="Straight Arrow Connector 27">
            <a:extLst>
              <a:ext uri="{FF2B5EF4-FFF2-40B4-BE49-F238E27FC236}">
                <a16:creationId xmlns:a16="http://schemas.microsoft.com/office/drawing/2014/main" id="{787CA269-CAB0-A88C-89F5-9D7D0DC144D8}"/>
              </a:ext>
            </a:extLst>
          </p:cNvPr>
          <p:cNvCxnSpPr>
            <a:cxnSpLocks/>
          </p:cNvCxnSpPr>
          <p:nvPr/>
        </p:nvCxnSpPr>
        <p:spPr>
          <a:xfrm>
            <a:off x="2345467" y="2109396"/>
            <a:ext cx="1613236"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29" name="Straight Arrow Connector 28">
            <a:extLst>
              <a:ext uri="{FF2B5EF4-FFF2-40B4-BE49-F238E27FC236}">
                <a16:creationId xmlns:a16="http://schemas.microsoft.com/office/drawing/2014/main" id="{72F4A23F-6D88-5496-7F6F-B25D441D66C0}"/>
              </a:ext>
            </a:extLst>
          </p:cNvPr>
          <p:cNvCxnSpPr>
            <a:cxnSpLocks/>
          </p:cNvCxnSpPr>
          <p:nvPr/>
        </p:nvCxnSpPr>
        <p:spPr>
          <a:xfrm flipH="1">
            <a:off x="2345467" y="2664887"/>
            <a:ext cx="1587001"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34" name="TextBox 33">
            <a:extLst>
              <a:ext uri="{FF2B5EF4-FFF2-40B4-BE49-F238E27FC236}">
                <a16:creationId xmlns:a16="http://schemas.microsoft.com/office/drawing/2014/main" id="{6009AA16-E5C4-1812-B8E4-BF461FBC6649}"/>
              </a:ext>
            </a:extLst>
          </p:cNvPr>
          <p:cNvSpPr txBox="1"/>
          <p:nvPr/>
        </p:nvSpPr>
        <p:spPr>
          <a:xfrm>
            <a:off x="2398074" y="2084879"/>
            <a:ext cx="1534394" cy="600164"/>
          </a:xfrm>
          <a:prstGeom prst="rect">
            <a:avLst/>
          </a:prstGeom>
          <a:noFill/>
        </p:spPr>
        <p:txBody>
          <a:bodyPr wrap="square" rtlCol="0">
            <a:spAutoFit/>
          </a:bodyPr>
          <a:lstStyle/>
          <a:p>
            <a:r>
              <a:rPr lang="en-GB" sz="1100" dirty="0">
                <a:solidFill>
                  <a:schemeClr val="accent3"/>
                </a:solidFill>
              </a:rPr>
              <a:t>3. </a:t>
            </a:r>
            <a:r>
              <a:rPr lang="en-GB" sz="1100" dirty="0" err="1">
                <a:solidFill>
                  <a:schemeClr val="accent3"/>
                </a:solidFill>
              </a:rPr>
              <a:t>TenancyID</a:t>
            </a:r>
            <a:r>
              <a:rPr lang="en-GB" sz="1100" dirty="0">
                <a:solidFill>
                  <a:schemeClr val="accent3"/>
                </a:solidFill>
              </a:rPr>
              <a:t> and </a:t>
            </a:r>
            <a:r>
              <a:rPr lang="en-GB" sz="1100" dirty="0" err="1">
                <a:solidFill>
                  <a:schemeClr val="accent3"/>
                </a:solidFill>
              </a:rPr>
              <a:t>ApplicantID</a:t>
            </a:r>
            <a:r>
              <a:rPr lang="en-GB" sz="1100" dirty="0">
                <a:solidFill>
                  <a:schemeClr val="accent3"/>
                </a:solidFill>
              </a:rPr>
              <a:t> returned to Salesforce</a:t>
            </a:r>
          </a:p>
        </p:txBody>
      </p:sp>
      <p:sp>
        <p:nvSpPr>
          <p:cNvPr id="36" name="Rectangle 35">
            <a:extLst>
              <a:ext uri="{FF2B5EF4-FFF2-40B4-BE49-F238E27FC236}">
                <a16:creationId xmlns:a16="http://schemas.microsoft.com/office/drawing/2014/main" id="{F0C1E8F1-B6D2-AC9A-8513-44444A03FB55}"/>
              </a:ext>
            </a:extLst>
          </p:cNvPr>
          <p:cNvSpPr/>
          <p:nvPr/>
        </p:nvSpPr>
        <p:spPr>
          <a:xfrm>
            <a:off x="2148370" y="4871072"/>
            <a:ext cx="176842" cy="17824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7" name="TextBox 36">
            <a:extLst>
              <a:ext uri="{FF2B5EF4-FFF2-40B4-BE49-F238E27FC236}">
                <a16:creationId xmlns:a16="http://schemas.microsoft.com/office/drawing/2014/main" id="{EB6519AE-0073-9835-7A8A-335186E86795}"/>
              </a:ext>
            </a:extLst>
          </p:cNvPr>
          <p:cNvSpPr txBox="1"/>
          <p:nvPr/>
        </p:nvSpPr>
        <p:spPr>
          <a:xfrm>
            <a:off x="2423563" y="2703941"/>
            <a:ext cx="1565881" cy="430887"/>
          </a:xfrm>
          <a:prstGeom prst="rect">
            <a:avLst/>
          </a:prstGeom>
          <a:noFill/>
        </p:spPr>
        <p:txBody>
          <a:bodyPr wrap="square" rtlCol="0">
            <a:spAutoFit/>
          </a:bodyPr>
          <a:lstStyle/>
          <a:p>
            <a:r>
              <a:rPr lang="en-GB" sz="1100" dirty="0">
                <a:solidFill>
                  <a:schemeClr val="accent3"/>
                </a:solidFill>
              </a:rPr>
              <a:t>4. Additional applicants added to reference</a:t>
            </a:r>
          </a:p>
        </p:txBody>
      </p:sp>
      <p:cxnSp>
        <p:nvCxnSpPr>
          <p:cNvPr id="38" name="Straight Arrow Connector 37">
            <a:extLst>
              <a:ext uri="{FF2B5EF4-FFF2-40B4-BE49-F238E27FC236}">
                <a16:creationId xmlns:a16="http://schemas.microsoft.com/office/drawing/2014/main" id="{CB5C83F1-A296-972C-14E2-87F6D9AAD01D}"/>
              </a:ext>
            </a:extLst>
          </p:cNvPr>
          <p:cNvCxnSpPr>
            <a:cxnSpLocks/>
          </p:cNvCxnSpPr>
          <p:nvPr/>
        </p:nvCxnSpPr>
        <p:spPr>
          <a:xfrm flipV="1">
            <a:off x="2386704" y="3134828"/>
            <a:ext cx="1571999" cy="1232"/>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39" name="Straight Arrow Connector 38">
            <a:extLst>
              <a:ext uri="{FF2B5EF4-FFF2-40B4-BE49-F238E27FC236}">
                <a16:creationId xmlns:a16="http://schemas.microsoft.com/office/drawing/2014/main" id="{2988964F-D7F5-3493-0D02-C82AC6EDC334}"/>
              </a:ext>
            </a:extLst>
          </p:cNvPr>
          <p:cNvCxnSpPr>
            <a:cxnSpLocks/>
          </p:cNvCxnSpPr>
          <p:nvPr/>
        </p:nvCxnSpPr>
        <p:spPr>
          <a:xfrm flipH="1">
            <a:off x="2401345" y="3531941"/>
            <a:ext cx="1444804"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43" name="TextBox 42">
            <a:extLst>
              <a:ext uri="{FF2B5EF4-FFF2-40B4-BE49-F238E27FC236}">
                <a16:creationId xmlns:a16="http://schemas.microsoft.com/office/drawing/2014/main" id="{AF0D9085-0BC7-1E2D-0D7E-5A02051399D0}"/>
              </a:ext>
            </a:extLst>
          </p:cNvPr>
          <p:cNvSpPr txBox="1"/>
          <p:nvPr/>
        </p:nvSpPr>
        <p:spPr>
          <a:xfrm>
            <a:off x="2424636" y="3153877"/>
            <a:ext cx="1583233" cy="430887"/>
          </a:xfrm>
          <a:prstGeom prst="rect">
            <a:avLst/>
          </a:prstGeom>
          <a:noFill/>
        </p:spPr>
        <p:txBody>
          <a:bodyPr wrap="square" rtlCol="0">
            <a:spAutoFit/>
          </a:bodyPr>
          <a:lstStyle/>
          <a:p>
            <a:r>
              <a:rPr lang="en-GB" sz="1100" dirty="0">
                <a:solidFill>
                  <a:schemeClr val="accent3"/>
                </a:solidFill>
              </a:rPr>
              <a:t>5. Applicant IDs returned to Salesforce</a:t>
            </a:r>
          </a:p>
        </p:txBody>
      </p:sp>
      <p:sp>
        <p:nvSpPr>
          <p:cNvPr id="47" name="Rectangle 46">
            <a:extLst>
              <a:ext uri="{FF2B5EF4-FFF2-40B4-BE49-F238E27FC236}">
                <a16:creationId xmlns:a16="http://schemas.microsoft.com/office/drawing/2014/main" id="{589AB42D-FB67-1BB8-26C6-BFC9CE64BA6D}"/>
              </a:ext>
            </a:extLst>
          </p:cNvPr>
          <p:cNvSpPr/>
          <p:nvPr/>
        </p:nvSpPr>
        <p:spPr>
          <a:xfrm>
            <a:off x="508695" y="2889292"/>
            <a:ext cx="199706" cy="2213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cxnSp>
        <p:nvCxnSpPr>
          <p:cNvPr id="48" name="Straight Arrow Connector 47">
            <a:extLst>
              <a:ext uri="{FF2B5EF4-FFF2-40B4-BE49-F238E27FC236}">
                <a16:creationId xmlns:a16="http://schemas.microsoft.com/office/drawing/2014/main" id="{378F51D7-F01B-CF57-C379-536E1C6A3ACE}"/>
              </a:ext>
            </a:extLst>
          </p:cNvPr>
          <p:cNvCxnSpPr>
            <a:cxnSpLocks/>
            <a:stCxn id="18" idx="2"/>
            <a:endCxn id="47" idx="0"/>
          </p:cNvCxnSpPr>
          <p:nvPr/>
        </p:nvCxnSpPr>
        <p:spPr>
          <a:xfrm>
            <a:off x="605887" y="2339729"/>
            <a:ext cx="2661" cy="549563"/>
          </a:xfrm>
          <a:prstGeom prst="straightConnector1">
            <a:avLst/>
          </a:prstGeom>
          <a:ln>
            <a:prstDash val="sysDash"/>
            <a:tailEnd type="triangle"/>
          </a:ln>
        </p:spPr>
        <p:style>
          <a:lnRef idx="3">
            <a:schemeClr val="accent3"/>
          </a:lnRef>
          <a:fillRef idx="0">
            <a:schemeClr val="accent3"/>
          </a:fillRef>
          <a:effectRef idx="2">
            <a:schemeClr val="accent3"/>
          </a:effectRef>
          <a:fontRef idx="minor">
            <a:schemeClr val="tx1"/>
          </a:fontRef>
        </p:style>
      </p:cxnSp>
      <p:sp>
        <p:nvSpPr>
          <p:cNvPr id="51" name="TextBox 50">
            <a:extLst>
              <a:ext uri="{FF2B5EF4-FFF2-40B4-BE49-F238E27FC236}">
                <a16:creationId xmlns:a16="http://schemas.microsoft.com/office/drawing/2014/main" id="{D98146C1-4B82-D8FA-D6C1-5C2102D110C6}"/>
              </a:ext>
            </a:extLst>
          </p:cNvPr>
          <p:cNvSpPr txBox="1"/>
          <p:nvPr/>
        </p:nvSpPr>
        <p:spPr>
          <a:xfrm>
            <a:off x="800490" y="2214179"/>
            <a:ext cx="880819" cy="276999"/>
          </a:xfrm>
          <a:prstGeom prst="rect">
            <a:avLst/>
          </a:prstGeom>
          <a:noFill/>
        </p:spPr>
        <p:txBody>
          <a:bodyPr wrap="none" rtlCol="0">
            <a:spAutoFit/>
          </a:bodyPr>
          <a:lstStyle/>
          <a:p>
            <a:r>
              <a:rPr lang="en-US" sz="1200" b="1" dirty="0"/>
              <a:t>Time delay</a:t>
            </a:r>
          </a:p>
        </p:txBody>
      </p:sp>
      <p:sp>
        <p:nvSpPr>
          <p:cNvPr id="54" name="Rectangle 53">
            <a:extLst>
              <a:ext uri="{FF2B5EF4-FFF2-40B4-BE49-F238E27FC236}">
                <a16:creationId xmlns:a16="http://schemas.microsoft.com/office/drawing/2014/main" id="{3137F939-60D7-11FE-7BDB-9D057E85CA17}"/>
              </a:ext>
            </a:extLst>
          </p:cNvPr>
          <p:cNvSpPr/>
          <p:nvPr/>
        </p:nvSpPr>
        <p:spPr>
          <a:xfrm>
            <a:off x="3967314" y="5021592"/>
            <a:ext cx="220134" cy="664805"/>
          </a:xfrm>
          <a:prstGeom prst="rect">
            <a:avLst/>
          </a:prstGeom>
          <a:solidFill>
            <a:schemeClr val="accent6"/>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7" name="TextBox 56">
            <a:extLst>
              <a:ext uri="{FF2B5EF4-FFF2-40B4-BE49-F238E27FC236}">
                <a16:creationId xmlns:a16="http://schemas.microsoft.com/office/drawing/2014/main" id="{FFC631EA-10CE-49AD-693E-29793683D8FC}"/>
              </a:ext>
            </a:extLst>
          </p:cNvPr>
          <p:cNvSpPr txBox="1"/>
          <p:nvPr/>
        </p:nvSpPr>
        <p:spPr>
          <a:xfrm>
            <a:off x="5629170" y="4826009"/>
            <a:ext cx="3751313" cy="276999"/>
          </a:xfrm>
          <a:prstGeom prst="rect">
            <a:avLst/>
          </a:prstGeom>
          <a:noFill/>
        </p:spPr>
        <p:txBody>
          <a:bodyPr wrap="square" rtlCol="0">
            <a:spAutoFit/>
          </a:bodyPr>
          <a:lstStyle/>
          <a:p>
            <a:r>
              <a:rPr lang="en-US" sz="1200" dirty="0">
                <a:solidFill>
                  <a:schemeClr val="accent3"/>
                </a:solidFill>
              </a:rPr>
              <a:t>11. Referencing process In progress</a:t>
            </a:r>
          </a:p>
        </p:txBody>
      </p:sp>
      <p:cxnSp>
        <p:nvCxnSpPr>
          <p:cNvPr id="63" name="Straight Arrow Connector 62">
            <a:extLst>
              <a:ext uri="{FF2B5EF4-FFF2-40B4-BE49-F238E27FC236}">
                <a16:creationId xmlns:a16="http://schemas.microsoft.com/office/drawing/2014/main" id="{667DD318-4E85-22F3-E2A8-FAAEDCB2C6C4}"/>
              </a:ext>
            </a:extLst>
          </p:cNvPr>
          <p:cNvCxnSpPr>
            <a:cxnSpLocks/>
          </p:cNvCxnSpPr>
          <p:nvPr/>
        </p:nvCxnSpPr>
        <p:spPr>
          <a:xfrm flipH="1">
            <a:off x="2365160" y="6209651"/>
            <a:ext cx="5984378" cy="38292"/>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68" name="Straight Arrow Connector 67">
            <a:extLst>
              <a:ext uri="{FF2B5EF4-FFF2-40B4-BE49-F238E27FC236}">
                <a16:creationId xmlns:a16="http://schemas.microsoft.com/office/drawing/2014/main" id="{E13F69EE-2907-2D98-7E9B-DB8B48F85912}"/>
              </a:ext>
            </a:extLst>
          </p:cNvPr>
          <p:cNvCxnSpPr>
            <a:cxnSpLocks/>
          </p:cNvCxnSpPr>
          <p:nvPr/>
        </p:nvCxnSpPr>
        <p:spPr>
          <a:xfrm flipV="1">
            <a:off x="748527" y="4094093"/>
            <a:ext cx="4771305" cy="21077"/>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70" name="TextBox 69">
            <a:extLst>
              <a:ext uri="{FF2B5EF4-FFF2-40B4-BE49-F238E27FC236}">
                <a16:creationId xmlns:a16="http://schemas.microsoft.com/office/drawing/2014/main" id="{829B7027-D599-1793-01E5-A8B8E82330D6}"/>
              </a:ext>
            </a:extLst>
          </p:cNvPr>
          <p:cNvSpPr txBox="1"/>
          <p:nvPr/>
        </p:nvSpPr>
        <p:spPr>
          <a:xfrm>
            <a:off x="741756" y="3850803"/>
            <a:ext cx="3667611" cy="261610"/>
          </a:xfrm>
          <a:prstGeom prst="rect">
            <a:avLst/>
          </a:prstGeom>
          <a:noFill/>
        </p:spPr>
        <p:txBody>
          <a:bodyPr wrap="square" rtlCol="0">
            <a:spAutoFit/>
          </a:bodyPr>
          <a:lstStyle/>
          <a:p>
            <a:r>
              <a:rPr lang="en-GB" sz="1100" dirty="0">
                <a:solidFill>
                  <a:schemeClr val="accent3"/>
                </a:solidFill>
              </a:rPr>
              <a:t>8. Query JWT with applicant secret and client id</a:t>
            </a:r>
          </a:p>
        </p:txBody>
      </p:sp>
      <p:cxnSp>
        <p:nvCxnSpPr>
          <p:cNvPr id="71" name="Straight Arrow Connector 70">
            <a:extLst>
              <a:ext uri="{FF2B5EF4-FFF2-40B4-BE49-F238E27FC236}">
                <a16:creationId xmlns:a16="http://schemas.microsoft.com/office/drawing/2014/main" id="{3517459E-E6F3-1524-1785-DC154D741577}"/>
              </a:ext>
            </a:extLst>
          </p:cNvPr>
          <p:cNvCxnSpPr>
            <a:cxnSpLocks/>
          </p:cNvCxnSpPr>
          <p:nvPr/>
        </p:nvCxnSpPr>
        <p:spPr>
          <a:xfrm flipH="1">
            <a:off x="730422" y="4354102"/>
            <a:ext cx="4789410" cy="2494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74" name="TextBox 73">
            <a:extLst>
              <a:ext uri="{FF2B5EF4-FFF2-40B4-BE49-F238E27FC236}">
                <a16:creationId xmlns:a16="http://schemas.microsoft.com/office/drawing/2014/main" id="{08C2910F-9693-D5BD-1307-1D15FCBD2E75}"/>
              </a:ext>
            </a:extLst>
          </p:cNvPr>
          <p:cNvSpPr txBox="1"/>
          <p:nvPr/>
        </p:nvSpPr>
        <p:spPr>
          <a:xfrm>
            <a:off x="761879" y="4121932"/>
            <a:ext cx="1563525" cy="261610"/>
          </a:xfrm>
          <a:prstGeom prst="rect">
            <a:avLst/>
          </a:prstGeom>
          <a:noFill/>
        </p:spPr>
        <p:txBody>
          <a:bodyPr wrap="square" rtlCol="0">
            <a:spAutoFit/>
          </a:bodyPr>
          <a:lstStyle/>
          <a:p>
            <a:r>
              <a:rPr lang="en-GB" sz="1100" dirty="0">
                <a:solidFill>
                  <a:schemeClr val="accent3"/>
                </a:solidFill>
              </a:rPr>
              <a:t>9. JWT Token return</a:t>
            </a:r>
          </a:p>
        </p:txBody>
      </p:sp>
      <p:sp>
        <p:nvSpPr>
          <p:cNvPr id="76" name="TextBox 75">
            <a:extLst>
              <a:ext uri="{FF2B5EF4-FFF2-40B4-BE49-F238E27FC236}">
                <a16:creationId xmlns:a16="http://schemas.microsoft.com/office/drawing/2014/main" id="{B109648D-FC70-4195-0D78-D06614F2CDCD}"/>
              </a:ext>
            </a:extLst>
          </p:cNvPr>
          <p:cNvSpPr txBox="1"/>
          <p:nvPr/>
        </p:nvSpPr>
        <p:spPr>
          <a:xfrm>
            <a:off x="3674845" y="5986333"/>
            <a:ext cx="3995165" cy="261610"/>
          </a:xfrm>
          <a:prstGeom prst="rect">
            <a:avLst/>
          </a:prstGeom>
          <a:noFill/>
        </p:spPr>
        <p:txBody>
          <a:bodyPr wrap="square" rtlCol="0">
            <a:spAutoFit/>
          </a:bodyPr>
          <a:lstStyle/>
          <a:p>
            <a:r>
              <a:rPr lang="en-GB" sz="1100" dirty="0">
                <a:solidFill>
                  <a:schemeClr val="accent3"/>
                </a:solidFill>
              </a:rPr>
              <a:t>14. SAML request sent to Salesforce Identity Provider</a:t>
            </a:r>
          </a:p>
        </p:txBody>
      </p:sp>
      <p:cxnSp>
        <p:nvCxnSpPr>
          <p:cNvPr id="77" name="Straight Arrow Connector 76">
            <a:extLst>
              <a:ext uri="{FF2B5EF4-FFF2-40B4-BE49-F238E27FC236}">
                <a16:creationId xmlns:a16="http://schemas.microsoft.com/office/drawing/2014/main" id="{4C01C136-6D7B-EC17-F99C-EAF1B0AF42C3}"/>
              </a:ext>
            </a:extLst>
          </p:cNvPr>
          <p:cNvCxnSpPr>
            <a:cxnSpLocks/>
          </p:cNvCxnSpPr>
          <p:nvPr/>
        </p:nvCxnSpPr>
        <p:spPr>
          <a:xfrm>
            <a:off x="2398074" y="6486220"/>
            <a:ext cx="5949269"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79" name="TextBox 78">
            <a:extLst>
              <a:ext uri="{FF2B5EF4-FFF2-40B4-BE49-F238E27FC236}">
                <a16:creationId xmlns:a16="http://schemas.microsoft.com/office/drawing/2014/main" id="{218F201B-7588-2B82-66FE-597748A20D14}"/>
              </a:ext>
            </a:extLst>
          </p:cNvPr>
          <p:cNvSpPr txBox="1"/>
          <p:nvPr/>
        </p:nvSpPr>
        <p:spPr>
          <a:xfrm>
            <a:off x="3647936" y="6264065"/>
            <a:ext cx="4551017" cy="261610"/>
          </a:xfrm>
          <a:prstGeom prst="rect">
            <a:avLst/>
          </a:prstGeom>
          <a:noFill/>
        </p:spPr>
        <p:txBody>
          <a:bodyPr wrap="square" rtlCol="0">
            <a:spAutoFit/>
          </a:bodyPr>
          <a:lstStyle/>
          <a:p>
            <a:r>
              <a:rPr lang="en-GB" sz="1100" dirty="0">
                <a:solidFill>
                  <a:schemeClr val="accent3"/>
                </a:solidFill>
              </a:rPr>
              <a:t>15. SAML assertion sent to Vision+ Agent Portal to allow user access</a:t>
            </a:r>
          </a:p>
        </p:txBody>
      </p:sp>
      <p:cxnSp>
        <p:nvCxnSpPr>
          <p:cNvPr id="50" name="Straight Arrow Connector 49">
            <a:extLst>
              <a:ext uri="{FF2B5EF4-FFF2-40B4-BE49-F238E27FC236}">
                <a16:creationId xmlns:a16="http://schemas.microsoft.com/office/drawing/2014/main" id="{7E1D33CA-8FB4-7BCD-E5EB-7BF689F220AD}"/>
              </a:ext>
            </a:extLst>
          </p:cNvPr>
          <p:cNvCxnSpPr>
            <a:cxnSpLocks/>
          </p:cNvCxnSpPr>
          <p:nvPr/>
        </p:nvCxnSpPr>
        <p:spPr>
          <a:xfrm>
            <a:off x="726845" y="2998982"/>
            <a:ext cx="1425546"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52" name="TextBox 51">
            <a:extLst>
              <a:ext uri="{FF2B5EF4-FFF2-40B4-BE49-F238E27FC236}">
                <a16:creationId xmlns:a16="http://schemas.microsoft.com/office/drawing/2014/main" id="{E1B6FCBA-DB2F-713F-FC32-8839CBABCD4F}"/>
              </a:ext>
            </a:extLst>
          </p:cNvPr>
          <p:cNvSpPr txBox="1"/>
          <p:nvPr/>
        </p:nvSpPr>
        <p:spPr>
          <a:xfrm>
            <a:off x="778965" y="2602196"/>
            <a:ext cx="1373426" cy="430887"/>
          </a:xfrm>
          <a:prstGeom prst="rect">
            <a:avLst/>
          </a:prstGeom>
          <a:noFill/>
        </p:spPr>
        <p:txBody>
          <a:bodyPr wrap="square" rtlCol="0">
            <a:spAutoFit/>
          </a:bodyPr>
          <a:lstStyle/>
          <a:p>
            <a:r>
              <a:rPr lang="en-GB" sz="1100" dirty="0">
                <a:solidFill>
                  <a:schemeClr val="accent3"/>
                </a:solidFill>
              </a:rPr>
              <a:t>6. Query applicant ID + applicant secret</a:t>
            </a:r>
          </a:p>
        </p:txBody>
      </p:sp>
      <p:cxnSp>
        <p:nvCxnSpPr>
          <p:cNvPr id="53" name="Straight Arrow Connector 52">
            <a:extLst>
              <a:ext uri="{FF2B5EF4-FFF2-40B4-BE49-F238E27FC236}">
                <a16:creationId xmlns:a16="http://schemas.microsoft.com/office/drawing/2014/main" id="{21DF41E5-477C-13FB-6940-2F050E118085}"/>
              </a:ext>
            </a:extLst>
          </p:cNvPr>
          <p:cNvCxnSpPr>
            <a:cxnSpLocks/>
          </p:cNvCxnSpPr>
          <p:nvPr/>
        </p:nvCxnSpPr>
        <p:spPr>
          <a:xfrm flipH="1">
            <a:off x="720737" y="3613185"/>
            <a:ext cx="1362945" cy="6729"/>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56" name="TextBox 55">
            <a:extLst>
              <a:ext uri="{FF2B5EF4-FFF2-40B4-BE49-F238E27FC236}">
                <a16:creationId xmlns:a16="http://schemas.microsoft.com/office/drawing/2014/main" id="{64DEB0FD-2A82-958A-08EA-89A604CB363E}"/>
              </a:ext>
            </a:extLst>
          </p:cNvPr>
          <p:cNvSpPr txBox="1"/>
          <p:nvPr/>
        </p:nvSpPr>
        <p:spPr>
          <a:xfrm>
            <a:off x="761803" y="3053694"/>
            <a:ext cx="1493859" cy="600164"/>
          </a:xfrm>
          <a:prstGeom prst="rect">
            <a:avLst/>
          </a:prstGeom>
          <a:noFill/>
        </p:spPr>
        <p:txBody>
          <a:bodyPr wrap="square" rtlCol="0">
            <a:spAutoFit/>
          </a:bodyPr>
          <a:lstStyle/>
          <a:p>
            <a:r>
              <a:rPr lang="en-GB" sz="1100" dirty="0">
                <a:solidFill>
                  <a:schemeClr val="accent3"/>
                </a:solidFill>
              </a:rPr>
              <a:t>7. Applicant ID + applicant secret returned</a:t>
            </a:r>
          </a:p>
        </p:txBody>
      </p:sp>
      <p:sp>
        <p:nvSpPr>
          <p:cNvPr id="11" name="Rectangle 10">
            <a:extLst>
              <a:ext uri="{FF2B5EF4-FFF2-40B4-BE49-F238E27FC236}">
                <a16:creationId xmlns:a16="http://schemas.microsoft.com/office/drawing/2014/main" id="{866FAA60-6A28-40C0-899F-D8D4E1BBA8D5}"/>
              </a:ext>
            </a:extLst>
          </p:cNvPr>
          <p:cNvSpPr/>
          <p:nvPr/>
        </p:nvSpPr>
        <p:spPr>
          <a:xfrm>
            <a:off x="5030824" y="702949"/>
            <a:ext cx="1181888" cy="479591"/>
          </a:xfrm>
          <a:prstGeom prst="rect">
            <a:avLst/>
          </a:prstGeom>
          <a:solidFill>
            <a:schemeClr val="accent6"/>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Vision+ Auth Server</a:t>
            </a:r>
          </a:p>
        </p:txBody>
      </p:sp>
      <p:sp>
        <p:nvSpPr>
          <p:cNvPr id="75" name="Rectangle 74">
            <a:extLst>
              <a:ext uri="{FF2B5EF4-FFF2-40B4-BE49-F238E27FC236}">
                <a16:creationId xmlns:a16="http://schemas.microsoft.com/office/drawing/2014/main" id="{43D8F7E2-9870-7C88-3446-968FC211C7A3}"/>
              </a:ext>
            </a:extLst>
          </p:cNvPr>
          <p:cNvSpPr/>
          <p:nvPr/>
        </p:nvSpPr>
        <p:spPr>
          <a:xfrm>
            <a:off x="5522841" y="1181267"/>
            <a:ext cx="184029" cy="3383169"/>
          </a:xfrm>
          <a:prstGeom prst="rect">
            <a:avLst/>
          </a:prstGeom>
          <a:solidFill>
            <a:schemeClr val="accent6"/>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Rectangle 2">
            <a:extLst>
              <a:ext uri="{FF2B5EF4-FFF2-40B4-BE49-F238E27FC236}">
                <a16:creationId xmlns:a16="http://schemas.microsoft.com/office/drawing/2014/main" id="{748879A7-FC1D-83CA-A540-11185E1160A3}"/>
              </a:ext>
            </a:extLst>
          </p:cNvPr>
          <p:cNvSpPr/>
          <p:nvPr/>
        </p:nvSpPr>
        <p:spPr>
          <a:xfrm>
            <a:off x="102042" y="702949"/>
            <a:ext cx="1181888" cy="4795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Grainger Portal</a:t>
            </a:r>
          </a:p>
        </p:txBody>
      </p:sp>
    </p:spTree>
    <p:extLst>
      <p:ext uri="{BB962C8B-B14F-4D97-AF65-F5344CB8AC3E}">
        <p14:creationId xmlns:p14="http://schemas.microsoft.com/office/powerpoint/2010/main" val="2592356101"/>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F14FA80-2BA9-457A-FA25-B93C3A01FA28}"/>
              </a:ext>
            </a:extLst>
          </p:cNvPr>
          <p:cNvSpPr/>
          <p:nvPr/>
        </p:nvSpPr>
        <p:spPr>
          <a:xfrm>
            <a:off x="0" y="6698746"/>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50F25BA2-BB5D-4D3B-0601-2BB13AD968D4}"/>
              </a:ext>
            </a:extLst>
          </p:cNvPr>
          <p:cNvSpPr/>
          <p:nvPr/>
        </p:nvSpPr>
        <p:spPr>
          <a:xfrm>
            <a:off x="0" y="-2862"/>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5BE7F990-D417-5CB5-0847-7A9E4F860586}"/>
              </a:ext>
            </a:extLst>
          </p:cNvPr>
          <p:cNvSpPr txBox="1"/>
          <p:nvPr/>
        </p:nvSpPr>
        <p:spPr>
          <a:xfrm>
            <a:off x="121920" y="261303"/>
            <a:ext cx="6888480" cy="461665"/>
          </a:xfrm>
          <a:prstGeom prst="rect">
            <a:avLst/>
          </a:prstGeom>
          <a:noFill/>
        </p:spPr>
        <p:txBody>
          <a:bodyPr wrap="square" rtlCol="0">
            <a:spAutoFit/>
          </a:bodyPr>
          <a:lstStyle/>
          <a:p>
            <a:r>
              <a:rPr lang="en-GB" sz="2400" b="1" dirty="0"/>
              <a:t>2. Reference instigated</a:t>
            </a:r>
          </a:p>
        </p:txBody>
      </p:sp>
      <p:graphicFrame>
        <p:nvGraphicFramePr>
          <p:cNvPr id="25" name="Table 24">
            <a:extLst>
              <a:ext uri="{FF2B5EF4-FFF2-40B4-BE49-F238E27FC236}">
                <a16:creationId xmlns:a16="http://schemas.microsoft.com/office/drawing/2014/main" id="{A4C66454-83F4-3E38-7EC6-F41FAB45FFC8}"/>
              </a:ext>
            </a:extLst>
          </p:cNvPr>
          <p:cNvGraphicFramePr>
            <a:graphicFrameLocks noGrp="1"/>
          </p:cNvGraphicFramePr>
          <p:nvPr>
            <p:extLst>
              <p:ext uri="{D42A27DB-BD31-4B8C-83A1-F6EECF244321}">
                <p14:modId xmlns:p14="http://schemas.microsoft.com/office/powerpoint/2010/main" val="3447945830"/>
              </p:ext>
            </p:extLst>
          </p:nvPr>
        </p:nvGraphicFramePr>
        <p:xfrm>
          <a:off x="215710" y="1411178"/>
          <a:ext cx="4470400" cy="3902963"/>
        </p:xfrm>
        <a:graphic>
          <a:graphicData uri="http://schemas.openxmlformats.org/drawingml/2006/table">
            <a:tbl>
              <a:tblPr>
                <a:tableStyleId>{5C22544A-7EE6-4342-B048-85BDC9FD1C3A}</a:tableStyleId>
              </a:tblPr>
              <a:tblGrid>
                <a:gridCol w="3251200">
                  <a:extLst>
                    <a:ext uri="{9D8B030D-6E8A-4147-A177-3AD203B41FA5}">
                      <a16:colId xmlns:a16="http://schemas.microsoft.com/office/drawing/2014/main" val="3509169429"/>
                    </a:ext>
                  </a:extLst>
                </a:gridCol>
                <a:gridCol w="1219200">
                  <a:extLst>
                    <a:ext uri="{9D8B030D-6E8A-4147-A177-3AD203B41FA5}">
                      <a16:colId xmlns:a16="http://schemas.microsoft.com/office/drawing/2014/main" val="3082326189"/>
                    </a:ext>
                  </a:extLst>
                </a:gridCol>
              </a:tblGrid>
              <a:tr h="111573">
                <a:tc>
                  <a:txBody>
                    <a:bodyPr/>
                    <a:lstStyle/>
                    <a:p>
                      <a:pPr algn="l" fontAlgn="b"/>
                      <a:r>
                        <a:rPr lang="en-GB" sz="700" u="none" strike="noStrike">
                          <a:effectLst/>
                        </a:rPr>
                        <a:t>{</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 </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2892746207"/>
                  </a:ext>
                </a:extLst>
              </a:tr>
              <a:tr h="111573">
                <a:tc>
                  <a:txBody>
                    <a:bodyPr/>
                    <a:lstStyle/>
                    <a:p>
                      <a:pPr algn="l" fontAlgn="b"/>
                      <a:r>
                        <a:rPr lang="en-GB" sz="700" u="none" strike="noStrike">
                          <a:effectLst/>
                        </a:rPr>
                        <a:t>  "agentCode": "9999",</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dirty="0" err="1">
                          <a:effectLst/>
                        </a:rPr>
                        <a:t>agentCode</a:t>
                      </a:r>
                      <a:endParaRPr lang="en-GB" sz="700" b="0" i="0" u="none" strike="noStrike" dirty="0">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1121293903"/>
                  </a:ext>
                </a:extLst>
              </a:tr>
              <a:tr h="111573">
                <a:tc>
                  <a:txBody>
                    <a:bodyPr/>
                    <a:lstStyle/>
                    <a:p>
                      <a:pPr algn="l" fontAlgn="b"/>
                      <a:r>
                        <a:rPr lang="en-GB" sz="700" u="none" strike="noStrike">
                          <a:effectLst/>
                        </a:rPr>
                        <a:t>  "rentGuarantee": 1,</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rentGuarantee</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443254747"/>
                  </a:ext>
                </a:extLst>
              </a:tr>
              <a:tr h="111573">
                <a:tc>
                  <a:txBody>
                    <a:bodyPr/>
                    <a:lstStyle/>
                    <a:p>
                      <a:pPr algn="l" fontAlgn="b"/>
                      <a:r>
                        <a:rPr lang="en-GB" sz="700" u="none" strike="noStrike">
                          <a:effectLst/>
                        </a:rPr>
                        <a:t>  "tenancyTermMonths": 12,</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tenancyTermMonths</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1095092635"/>
                  </a:ext>
                </a:extLst>
              </a:tr>
              <a:tr h="111573">
                <a:tc>
                  <a:txBody>
                    <a:bodyPr/>
                    <a:lstStyle/>
                    <a:p>
                      <a:pPr algn="l" fontAlgn="b"/>
                      <a:r>
                        <a:rPr lang="en-GB" sz="700" u="none" strike="noStrike">
                          <a:effectLst/>
                        </a:rPr>
                        <a:t>  "monthlyRental": 2000,</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monthlyRental</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1259940693"/>
                  </a:ext>
                </a:extLst>
              </a:tr>
              <a:tr h="59143">
                <a:tc>
                  <a:txBody>
                    <a:bodyPr/>
                    <a:lstStyle/>
                    <a:p>
                      <a:pPr algn="l" fontAlgn="b"/>
                      <a:r>
                        <a:rPr lang="en-GB" sz="700" u="none" strike="noStrike">
                          <a:effectLst/>
                        </a:rPr>
                        <a:t>  "lettingType": 1,</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lettingType</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3003640339"/>
                  </a:ext>
                </a:extLst>
              </a:tr>
              <a:tr h="111573">
                <a:tc>
                  <a:txBody>
                    <a:bodyPr/>
                    <a:lstStyle/>
                    <a:p>
                      <a:pPr algn="l" fontAlgn="b"/>
                      <a:r>
                        <a:rPr lang="en-GB" sz="700" u="none" strike="noStrike">
                          <a:effectLst/>
                        </a:rPr>
                        <a:t>  "estimatedMoveInDate": "2023-04-01T10:55:02.383Z",</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estimatedMoveInDate</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1034121821"/>
                  </a:ext>
                </a:extLst>
              </a:tr>
              <a:tr h="85074">
                <a:tc>
                  <a:txBody>
                    <a:bodyPr/>
                    <a:lstStyle/>
                    <a:p>
                      <a:pPr algn="l" fontAlgn="b"/>
                      <a:r>
                        <a:rPr lang="en-GB" sz="700" u="none" strike="noStrike" dirty="0">
                          <a:effectLst/>
                        </a:rPr>
                        <a:t>  "</a:t>
                      </a:r>
                      <a:r>
                        <a:rPr lang="en-GB" sz="700" u="none" strike="noStrike" dirty="0" err="1">
                          <a:effectLst/>
                        </a:rPr>
                        <a:t>propertyType</a:t>
                      </a:r>
                      <a:r>
                        <a:rPr lang="en-GB" sz="700" u="none" strike="noStrike" dirty="0">
                          <a:effectLst/>
                        </a:rPr>
                        <a:t>": 1,</a:t>
                      </a:r>
                      <a:endParaRPr lang="en-GB" sz="700" b="0" i="0" u="none" strike="noStrike" dirty="0">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propertyType</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2693936013"/>
                  </a:ext>
                </a:extLst>
              </a:tr>
              <a:tr h="111573">
                <a:tc>
                  <a:txBody>
                    <a:bodyPr/>
                    <a:lstStyle/>
                    <a:p>
                      <a:pPr algn="l" fontAlgn="b"/>
                      <a:r>
                        <a:rPr lang="en-GB" sz="700" u="none" strike="noStrike">
                          <a:effectLst/>
                        </a:rPr>
                        <a:t>  "isAdvanceRent": false,</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dirty="0" err="1">
                          <a:effectLst/>
                        </a:rPr>
                        <a:t>isAdvanceRent</a:t>
                      </a:r>
                      <a:endParaRPr lang="en-GB" sz="700" b="0" i="0" u="none" strike="noStrike" dirty="0">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2979922706"/>
                  </a:ext>
                </a:extLst>
              </a:tr>
              <a:tr h="111573">
                <a:tc>
                  <a:txBody>
                    <a:bodyPr/>
                    <a:lstStyle/>
                    <a:p>
                      <a:pPr algn="l" fontAlgn="b"/>
                      <a:r>
                        <a:rPr lang="en-GB" sz="700" u="none" strike="noStrike">
                          <a:effectLst/>
                        </a:rPr>
                        <a:t>  "propertyAddress": {</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 </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1099862955"/>
                  </a:ext>
                </a:extLst>
              </a:tr>
              <a:tr h="111573">
                <a:tc>
                  <a:txBody>
                    <a:bodyPr/>
                    <a:lstStyle/>
                    <a:p>
                      <a:pPr algn="l" fontAlgn="b"/>
                      <a:r>
                        <a:rPr lang="en-GB" sz="700" u="none" strike="noStrike">
                          <a:effectLst/>
                        </a:rPr>
                        <a:t>    "houseNumber": "65000",</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houseNumber</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1052553893"/>
                  </a:ext>
                </a:extLst>
              </a:tr>
              <a:tr h="111573">
                <a:tc>
                  <a:txBody>
                    <a:bodyPr/>
                    <a:lstStyle/>
                    <a:p>
                      <a:pPr algn="l" fontAlgn="b"/>
                      <a:r>
                        <a:rPr lang="en-GB" sz="700" u="none" strike="noStrike">
                          <a:effectLst/>
                        </a:rPr>
                        <a:t>    "houseName": "Oxford Street",</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dirty="0" err="1">
                          <a:effectLst/>
                        </a:rPr>
                        <a:t>houseName</a:t>
                      </a:r>
                      <a:endParaRPr lang="en-GB" sz="700" b="0" i="0" u="none" strike="noStrike" dirty="0">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2155780326"/>
                  </a:ext>
                </a:extLst>
              </a:tr>
              <a:tr h="111573">
                <a:tc>
                  <a:txBody>
                    <a:bodyPr/>
                    <a:lstStyle/>
                    <a:p>
                      <a:pPr algn="l" fontAlgn="b"/>
                      <a:r>
                        <a:rPr lang="en-GB" sz="700" u="none" strike="noStrike">
                          <a:effectLst/>
                        </a:rPr>
                        <a:t>    "addressLine1": "Gadlys",</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addressLine1</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2876428709"/>
                  </a:ext>
                </a:extLst>
              </a:tr>
              <a:tr h="111573">
                <a:tc>
                  <a:txBody>
                    <a:bodyPr/>
                    <a:lstStyle/>
                    <a:p>
                      <a:pPr algn="l" fontAlgn="b"/>
                      <a:r>
                        <a:rPr lang="en-GB" sz="700" u="none" strike="noStrike">
                          <a:effectLst/>
                        </a:rPr>
                        <a:t>    "addressLine2": "Parkway",</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addressLine2</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2790465473"/>
                  </a:ext>
                </a:extLst>
              </a:tr>
              <a:tr h="111573">
                <a:tc>
                  <a:txBody>
                    <a:bodyPr/>
                    <a:lstStyle/>
                    <a:p>
                      <a:pPr algn="l" fontAlgn="b"/>
                      <a:r>
                        <a:rPr lang="en-GB" sz="700" u="none" strike="noStrike">
                          <a:effectLst/>
                        </a:rPr>
                        <a:t>    "town": "Aberdare",</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town</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2323630948"/>
                  </a:ext>
                </a:extLst>
              </a:tr>
              <a:tr h="111573">
                <a:tc>
                  <a:txBody>
                    <a:bodyPr/>
                    <a:lstStyle/>
                    <a:p>
                      <a:pPr algn="l" fontAlgn="b"/>
                      <a:r>
                        <a:rPr lang="en-GB" sz="700" u="none" strike="noStrike">
                          <a:effectLst/>
                        </a:rPr>
                        <a:t>    "postcode": "CF44 8BE",</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postcode</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1853896795"/>
                  </a:ext>
                </a:extLst>
              </a:tr>
              <a:tr h="111573">
                <a:tc>
                  <a:txBody>
                    <a:bodyPr/>
                    <a:lstStyle/>
                    <a:p>
                      <a:pPr algn="l" fontAlgn="b"/>
                      <a:r>
                        <a:rPr lang="en-GB" sz="700" u="none" strike="noStrike">
                          <a:effectLst/>
                        </a:rPr>
                        <a:t>    "ukCountryCode": 3</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ukCountryCode</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1335047132"/>
                  </a:ext>
                </a:extLst>
              </a:tr>
              <a:tr h="111573">
                <a:tc>
                  <a:txBody>
                    <a:bodyPr/>
                    <a:lstStyle/>
                    <a:p>
                      <a:pPr algn="l" fontAlgn="b"/>
                      <a:r>
                        <a:rPr lang="en-GB" sz="700" u="none" strike="noStrike">
                          <a:effectLst/>
                        </a:rPr>
                        <a:t>  },</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 </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484464445"/>
                  </a:ext>
                </a:extLst>
              </a:tr>
              <a:tr h="111573">
                <a:tc>
                  <a:txBody>
                    <a:bodyPr/>
                    <a:lstStyle/>
                    <a:p>
                      <a:pPr algn="l" fontAlgn="b"/>
                      <a:r>
                        <a:rPr lang="en-GB" sz="700" u="none" strike="noStrike">
                          <a:effectLst/>
                        </a:rPr>
                        <a:t>  "tenants": [</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 </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1119387764"/>
                  </a:ext>
                </a:extLst>
              </a:tr>
              <a:tr h="111573">
                <a:tc>
                  <a:txBody>
                    <a:bodyPr/>
                    <a:lstStyle/>
                    <a:p>
                      <a:pPr algn="l" fontAlgn="b"/>
                      <a:r>
                        <a:rPr lang="en-GB" sz="700" u="none" strike="noStrike" dirty="0">
                          <a:effectLst/>
                        </a:rPr>
                        <a:t>    {</a:t>
                      </a:r>
                      <a:endParaRPr lang="en-GB" sz="700" b="0" i="0" u="none" strike="noStrike" dirty="0">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 </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2760993253"/>
                  </a:ext>
                </a:extLst>
              </a:tr>
              <a:tr h="111573">
                <a:tc>
                  <a:txBody>
                    <a:bodyPr/>
                    <a:lstStyle/>
                    <a:p>
                      <a:pPr algn="l" fontAlgn="b"/>
                      <a:r>
                        <a:rPr lang="en-GB" sz="700" u="none" strike="noStrike">
                          <a:effectLst/>
                        </a:rPr>
                        <a:t>      "tenantTypeId": 1,</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tenantTypeId</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4006605777"/>
                  </a:ext>
                </a:extLst>
              </a:tr>
              <a:tr h="111573">
                <a:tc>
                  <a:txBody>
                    <a:bodyPr/>
                    <a:lstStyle/>
                    <a:p>
                      <a:pPr algn="l" fontAlgn="b"/>
                      <a:r>
                        <a:rPr lang="en-GB" sz="700" u="none" strike="noStrike">
                          <a:effectLst/>
                        </a:rPr>
                        <a:t>      "referenceType": 1,</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referenceType</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3989029494"/>
                  </a:ext>
                </a:extLst>
              </a:tr>
              <a:tr h="111573">
                <a:tc>
                  <a:txBody>
                    <a:bodyPr/>
                    <a:lstStyle/>
                    <a:p>
                      <a:pPr algn="l" fontAlgn="b"/>
                      <a:r>
                        <a:rPr lang="en-GB" sz="700" u="none" strike="noStrike">
                          <a:effectLst/>
                        </a:rPr>
                        <a:t>      "rightToRent": true,</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rightToRent</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3269793583"/>
                  </a:ext>
                </a:extLst>
              </a:tr>
              <a:tr h="111573">
                <a:tc>
                  <a:txBody>
                    <a:bodyPr/>
                    <a:lstStyle/>
                    <a:p>
                      <a:pPr algn="l" fontAlgn="b"/>
                      <a:r>
                        <a:rPr lang="en-GB" sz="700" u="none" strike="noStrike">
                          <a:effectLst/>
                        </a:rPr>
                        <a:t>      "title": 1,</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title</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3797422067"/>
                  </a:ext>
                </a:extLst>
              </a:tr>
              <a:tr h="111573">
                <a:tc>
                  <a:txBody>
                    <a:bodyPr/>
                    <a:lstStyle/>
                    <a:p>
                      <a:pPr algn="l" fontAlgn="b"/>
                      <a:r>
                        <a:rPr lang="en-GB" sz="700" u="none" strike="noStrike">
                          <a:effectLst/>
                        </a:rPr>
                        <a:t>      "otherTitle": "",</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otherTitle</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40612202"/>
                  </a:ext>
                </a:extLst>
              </a:tr>
              <a:tr h="111573">
                <a:tc>
                  <a:txBody>
                    <a:bodyPr/>
                    <a:lstStyle/>
                    <a:p>
                      <a:pPr algn="l" fontAlgn="b"/>
                      <a:r>
                        <a:rPr lang="en-GB" sz="700" u="none" strike="noStrike">
                          <a:effectLst/>
                        </a:rPr>
                        <a:t>      "firstName": "Berty",</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firstName</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60716893"/>
                  </a:ext>
                </a:extLst>
              </a:tr>
              <a:tr h="111573">
                <a:tc>
                  <a:txBody>
                    <a:bodyPr/>
                    <a:lstStyle/>
                    <a:p>
                      <a:pPr algn="l" fontAlgn="b"/>
                      <a:r>
                        <a:rPr lang="en-GB" sz="700" u="none" strike="noStrike">
                          <a:effectLst/>
                        </a:rPr>
                        <a:t>      "middleName": "Boo",</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middleName</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752430834"/>
                  </a:ext>
                </a:extLst>
              </a:tr>
              <a:tr h="111573">
                <a:tc>
                  <a:txBody>
                    <a:bodyPr/>
                    <a:lstStyle/>
                    <a:p>
                      <a:pPr algn="l" fontAlgn="b"/>
                      <a:r>
                        <a:rPr lang="en-GB" sz="700" u="none" strike="noStrike">
                          <a:effectLst/>
                        </a:rPr>
                        <a:t>      "surname": "Basset",</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surname</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3952672339"/>
                  </a:ext>
                </a:extLst>
              </a:tr>
              <a:tr h="111573">
                <a:tc>
                  <a:txBody>
                    <a:bodyPr/>
                    <a:lstStyle/>
                    <a:p>
                      <a:pPr algn="l" fontAlgn="b"/>
                      <a:r>
                        <a:rPr lang="en-GB" sz="700" u="none" strike="noStrike">
                          <a:effectLst/>
                        </a:rPr>
                        <a:t>      "shareOfRent": 600,</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shareOfRent</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3856555230"/>
                  </a:ext>
                </a:extLst>
              </a:tr>
              <a:tr h="111573">
                <a:tc>
                  <a:txBody>
                    <a:bodyPr/>
                    <a:lstStyle/>
                    <a:p>
                      <a:pPr algn="l" fontAlgn="b"/>
                      <a:r>
                        <a:rPr lang="en-GB" sz="700" u="none" strike="noStrike">
                          <a:effectLst/>
                        </a:rPr>
                        <a:t>      "telephoneCountryID": 2,</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telephoneCountryID</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1287456809"/>
                  </a:ext>
                </a:extLst>
              </a:tr>
              <a:tr h="111573">
                <a:tc>
                  <a:txBody>
                    <a:bodyPr/>
                    <a:lstStyle/>
                    <a:p>
                      <a:pPr algn="l" fontAlgn="b"/>
                      <a:r>
                        <a:rPr lang="en-GB" sz="700" u="none" strike="noStrike">
                          <a:effectLst/>
                        </a:rPr>
                        <a:t>      "contactTelephoneNo": "01234567891",</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contactTelephoneNo</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525095773"/>
                  </a:ext>
                </a:extLst>
              </a:tr>
              <a:tr h="111573">
                <a:tc>
                  <a:txBody>
                    <a:bodyPr/>
                    <a:lstStyle/>
                    <a:p>
                      <a:pPr algn="l" fontAlgn="b"/>
                      <a:r>
                        <a:rPr lang="en-GB" sz="700" u="none" strike="noStrike">
                          <a:effectLst/>
                        </a:rPr>
                        <a:t>      "emailAddress": "test@testtesttest.test"</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emailAddress</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523408226"/>
                  </a:ext>
                </a:extLst>
              </a:tr>
              <a:tr h="111573">
                <a:tc>
                  <a:txBody>
                    <a:bodyPr/>
                    <a:lstStyle/>
                    <a:p>
                      <a:pPr algn="l" fontAlgn="b"/>
                      <a:r>
                        <a:rPr lang="en-GB" sz="700" u="none" strike="noStrike">
                          <a:effectLst/>
                        </a:rPr>
                        <a:t>    }</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 </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1380483843"/>
                  </a:ext>
                </a:extLst>
              </a:tr>
              <a:tr h="111573">
                <a:tc>
                  <a:txBody>
                    <a:bodyPr/>
                    <a:lstStyle/>
                    <a:p>
                      <a:pPr algn="l" fontAlgn="b"/>
                      <a:r>
                        <a:rPr lang="en-GB" sz="700" u="none" strike="noStrike">
                          <a:effectLst/>
                        </a:rPr>
                        <a:t>  ]</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 </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3270225133"/>
                  </a:ext>
                </a:extLst>
              </a:tr>
              <a:tr h="111573">
                <a:tc>
                  <a:txBody>
                    <a:bodyPr/>
                    <a:lstStyle/>
                    <a:p>
                      <a:pPr algn="l" fontAlgn="b"/>
                      <a:r>
                        <a:rPr lang="en-GB" sz="700" u="none" strike="noStrike">
                          <a:effectLst/>
                        </a:rPr>
                        <a:t>}</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dirty="0">
                          <a:effectLst/>
                        </a:rPr>
                        <a:t> </a:t>
                      </a:r>
                      <a:endParaRPr lang="en-GB" sz="700" b="0" i="0" u="none" strike="noStrike" dirty="0">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1908599463"/>
                  </a:ext>
                </a:extLst>
              </a:tr>
            </a:tbl>
          </a:graphicData>
        </a:graphic>
      </p:graphicFrame>
      <p:sp>
        <p:nvSpPr>
          <p:cNvPr id="6" name="Rectangle 5">
            <a:extLst>
              <a:ext uri="{FF2B5EF4-FFF2-40B4-BE49-F238E27FC236}">
                <a16:creationId xmlns:a16="http://schemas.microsoft.com/office/drawing/2014/main" id="{891E98C1-FEDD-DA87-1F1A-497C7B79F44E}"/>
              </a:ext>
            </a:extLst>
          </p:cNvPr>
          <p:cNvSpPr/>
          <p:nvPr/>
        </p:nvSpPr>
        <p:spPr>
          <a:xfrm>
            <a:off x="8117707" y="352287"/>
            <a:ext cx="787399" cy="4616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t>Vision+ API</a:t>
            </a:r>
          </a:p>
        </p:txBody>
      </p:sp>
      <p:sp>
        <p:nvSpPr>
          <p:cNvPr id="7" name="Rectangle 6">
            <a:extLst>
              <a:ext uri="{FF2B5EF4-FFF2-40B4-BE49-F238E27FC236}">
                <a16:creationId xmlns:a16="http://schemas.microsoft.com/office/drawing/2014/main" id="{A6BE94CC-7C1A-58AE-4B18-13975E4EDF75}"/>
              </a:ext>
            </a:extLst>
          </p:cNvPr>
          <p:cNvSpPr/>
          <p:nvPr/>
        </p:nvSpPr>
        <p:spPr>
          <a:xfrm>
            <a:off x="6102641" y="352286"/>
            <a:ext cx="766474" cy="461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t>Grainger Systems</a:t>
            </a:r>
          </a:p>
        </p:txBody>
      </p:sp>
      <p:sp>
        <p:nvSpPr>
          <p:cNvPr id="10" name="TextBox 9">
            <a:extLst>
              <a:ext uri="{FF2B5EF4-FFF2-40B4-BE49-F238E27FC236}">
                <a16:creationId xmlns:a16="http://schemas.microsoft.com/office/drawing/2014/main" id="{1153242C-4DCE-DECB-1D73-C17E8F720BFC}"/>
              </a:ext>
            </a:extLst>
          </p:cNvPr>
          <p:cNvSpPr txBox="1"/>
          <p:nvPr/>
        </p:nvSpPr>
        <p:spPr>
          <a:xfrm>
            <a:off x="6852615" y="362807"/>
            <a:ext cx="1160895" cy="215444"/>
          </a:xfrm>
          <a:prstGeom prst="rect">
            <a:avLst/>
          </a:prstGeom>
          <a:noFill/>
        </p:spPr>
        <p:txBody>
          <a:bodyPr wrap="none" rtlCol="0">
            <a:spAutoFit/>
          </a:bodyPr>
          <a:lstStyle/>
          <a:p>
            <a:r>
              <a:rPr lang="en-GB" sz="800" b="1" dirty="0"/>
              <a:t>1. Reference instigated</a:t>
            </a:r>
          </a:p>
        </p:txBody>
      </p:sp>
      <p:cxnSp>
        <p:nvCxnSpPr>
          <p:cNvPr id="12" name="Straight Arrow Connector 11">
            <a:extLst>
              <a:ext uri="{FF2B5EF4-FFF2-40B4-BE49-F238E27FC236}">
                <a16:creationId xmlns:a16="http://schemas.microsoft.com/office/drawing/2014/main" id="{4263023F-7EAE-2204-2286-921790ED6C0E}"/>
              </a:ext>
            </a:extLst>
          </p:cNvPr>
          <p:cNvCxnSpPr>
            <a:cxnSpLocks/>
          </p:cNvCxnSpPr>
          <p:nvPr/>
        </p:nvCxnSpPr>
        <p:spPr>
          <a:xfrm>
            <a:off x="6869115" y="630439"/>
            <a:ext cx="1248592"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14" name="TextBox 13">
            <a:extLst>
              <a:ext uri="{FF2B5EF4-FFF2-40B4-BE49-F238E27FC236}">
                <a16:creationId xmlns:a16="http://schemas.microsoft.com/office/drawing/2014/main" id="{ABAA3F78-F077-B026-55C4-E6649D06EF6D}"/>
              </a:ext>
            </a:extLst>
          </p:cNvPr>
          <p:cNvSpPr txBox="1"/>
          <p:nvPr/>
        </p:nvSpPr>
        <p:spPr>
          <a:xfrm>
            <a:off x="121920" y="978832"/>
            <a:ext cx="5110480" cy="369332"/>
          </a:xfrm>
          <a:prstGeom prst="rect">
            <a:avLst/>
          </a:prstGeom>
          <a:noFill/>
        </p:spPr>
        <p:txBody>
          <a:bodyPr wrap="square">
            <a:spAutoFit/>
          </a:bodyPr>
          <a:lstStyle/>
          <a:p>
            <a:r>
              <a:rPr lang="en-GB" dirty="0"/>
              <a:t> </a:t>
            </a:r>
            <a:r>
              <a:rPr lang="en-GB" b="1" dirty="0"/>
              <a:t>Request: </a:t>
            </a:r>
            <a:r>
              <a:rPr lang="en-GB" dirty="0" err="1"/>
              <a:t>CreateReferenceWithApplicantIframe</a:t>
            </a:r>
            <a:endParaRPr lang="en-GB" dirty="0"/>
          </a:p>
        </p:txBody>
      </p:sp>
      <p:sp>
        <p:nvSpPr>
          <p:cNvPr id="22" name="TextBox 21">
            <a:extLst>
              <a:ext uri="{FF2B5EF4-FFF2-40B4-BE49-F238E27FC236}">
                <a16:creationId xmlns:a16="http://schemas.microsoft.com/office/drawing/2014/main" id="{DE8E22F2-8976-E428-EB50-62587630E78D}"/>
              </a:ext>
            </a:extLst>
          </p:cNvPr>
          <p:cNvSpPr txBox="1"/>
          <p:nvPr/>
        </p:nvSpPr>
        <p:spPr>
          <a:xfrm>
            <a:off x="5329331" y="1990938"/>
            <a:ext cx="1156547" cy="369332"/>
          </a:xfrm>
          <a:prstGeom prst="rect">
            <a:avLst/>
          </a:prstGeom>
          <a:noFill/>
        </p:spPr>
        <p:txBody>
          <a:bodyPr wrap="square">
            <a:spAutoFit/>
          </a:bodyPr>
          <a:lstStyle/>
          <a:p>
            <a:r>
              <a:rPr lang="en-GB" b="1" dirty="0"/>
              <a:t> Response</a:t>
            </a:r>
          </a:p>
        </p:txBody>
      </p:sp>
      <p:graphicFrame>
        <p:nvGraphicFramePr>
          <p:cNvPr id="29" name="Table 28">
            <a:extLst>
              <a:ext uri="{FF2B5EF4-FFF2-40B4-BE49-F238E27FC236}">
                <a16:creationId xmlns:a16="http://schemas.microsoft.com/office/drawing/2014/main" id="{7466D611-F097-64CB-64B0-3ECC08D39784}"/>
              </a:ext>
            </a:extLst>
          </p:cNvPr>
          <p:cNvGraphicFramePr>
            <a:graphicFrameLocks noGrp="1"/>
          </p:cNvGraphicFramePr>
          <p:nvPr>
            <p:extLst>
              <p:ext uri="{D42A27DB-BD31-4B8C-83A1-F6EECF244321}">
                <p14:modId xmlns:p14="http://schemas.microsoft.com/office/powerpoint/2010/main" val="2195147799"/>
              </p:ext>
            </p:extLst>
          </p:nvPr>
        </p:nvGraphicFramePr>
        <p:xfrm>
          <a:off x="5410354" y="2360270"/>
          <a:ext cx="2325900" cy="2616902"/>
        </p:xfrm>
        <a:graphic>
          <a:graphicData uri="http://schemas.openxmlformats.org/drawingml/2006/table">
            <a:tbl>
              <a:tblPr>
                <a:tableStyleId>{5C22544A-7EE6-4342-B048-85BDC9FD1C3A}</a:tableStyleId>
              </a:tblPr>
              <a:tblGrid>
                <a:gridCol w="2325900">
                  <a:extLst>
                    <a:ext uri="{9D8B030D-6E8A-4147-A177-3AD203B41FA5}">
                      <a16:colId xmlns:a16="http://schemas.microsoft.com/office/drawing/2014/main" val="3385810108"/>
                    </a:ext>
                  </a:extLst>
                </a:gridCol>
              </a:tblGrid>
              <a:tr h="174060">
                <a:tc>
                  <a:txBody>
                    <a:bodyPr/>
                    <a:lstStyle/>
                    <a:p>
                      <a:pPr algn="l" fontAlgn="b"/>
                      <a:r>
                        <a:rPr lang="en-GB" sz="700" u="none" strike="noStrike" dirty="0">
                          <a:effectLst/>
                        </a:rPr>
                        <a:t>{</a:t>
                      </a:r>
                      <a:endParaRPr lang="en-GB" sz="700" b="0" i="0" u="none" strike="noStrike" dirty="0">
                        <a:solidFill>
                          <a:srgbClr val="000000"/>
                        </a:solidFill>
                        <a:effectLst/>
                        <a:latin typeface="Courier New" panose="02070309020205020404" pitchFamily="49" charset="0"/>
                      </a:endParaRPr>
                    </a:p>
                  </a:txBody>
                  <a:tcPr marL="6002" marR="6002" marT="6002" marB="0" anchor="b"/>
                </a:tc>
                <a:extLst>
                  <a:ext uri="{0D108BD9-81ED-4DB2-BD59-A6C34878D82A}">
                    <a16:rowId xmlns:a16="http://schemas.microsoft.com/office/drawing/2014/main" val="3425658088"/>
                  </a:ext>
                </a:extLst>
              </a:tr>
              <a:tr h="174060">
                <a:tc>
                  <a:txBody>
                    <a:bodyPr/>
                    <a:lstStyle/>
                    <a:p>
                      <a:pPr algn="l" fontAlgn="b"/>
                      <a:r>
                        <a:rPr lang="en-GB" sz="700" u="none" strike="noStrike">
                          <a:effectLst/>
                        </a:rPr>
                        <a:t>  "success": true,</a:t>
                      </a:r>
                      <a:endParaRPr lang="en-GB" sz="700" b="0" i="0" u="none" strike="noStrike">
                        <a:solidFill>
                          <a:srgbClr val="000000"/>
                        </a:solidFill>
                        <a:effectLst/>
                        <a:latin typeface="Courier New" panose="02070309020205020404" pitchFamily="49" charset="0"/>
                      </a:endParaRPr>
                    </a:p>
                  </a:txBody>
                  <a:tcPr marL="6002" marR="6002" marT="6002" marB="0" anchor="b"/>
                </a:tc>
                <a:extLst>
                  <a:ext uri="{0D108BD9-81ED-4DB2-BD59-A6C34878D82A}">
                    <a16:rowId xmlns:a16="http://schemas.microsoft.com/office/drawing/2014/main" val="3535148649"/>
                  </a:ext>
                </a:extLst>
              </a:tr>
              <a:tr h="174060">
                <a:tc>
                  <a:txBody>
                    <a:bodyPr/>
                    <a:lstStyle/>
                    <a:p>
                      <a:pPr algn="l" fontAlgn="b"/>
                      <a:r>
                        <a:rPr lang="en-GB" sz="700" u="none" strike="noStrike">
                          <a:effectLst/>
                        </a:rPr>
                        <a:t>  "payload": {</a:t>
                      </a:r>
                      <a:endParaRPr lang="en-GB" sz="700" b="0" i="0" u="none" strike="noStrike">
                        <a:solidFill>
                          <a:srgbClr val="000000"/>
                        </a:solidFill>
                        <a:effectLst/>
                        <a:latin typeface="Courier New" panose="02070309020205020404" pitchFamily="49" charset="0"/>
                      </a:endParaRPr>
                    </a:p>
                  </a:txBody>
                  <a:tcPr marL="6002" marR="6002" marT="6002" marB="0" anchor="b"/>
                </a:tc>
                <a:extLst>
                  <a:ext uri="{0D108BD9-81ED-4DB2-BD59-A6C34878D82A}">
                    <a16:rowId xmlns:a16="http://schemas.microsoft.com/office/drawing/2014/main" val="1857089492"/>
                  </a:ext>
                </a:extLst>
              </a:tr>
              <a:tr h="174060">
                <a:tc>
                  <a:txBody>
                    <a:bodyPr/>
                    <a:lstStyle/>
                    <a:p>
                      <a:pPr algn="l" fontAlgn="b"/>
                      <a:r>
                        <a:rPr lang="en-GB" sz="700" u="none" strike="noStrike" dirty="0">
                          <a:effectLst/>
                        </a:rPr>
                        <a:t>    "</a:t>
                      </a:r>
                      <a:r>
                        <a:rPr lang="en-GB" sz="700" u="none" strike="noStrike" dirty="0" err="1">
                          <a:effectLst/>
                        </a:rPr>
                        <a:t>agentCode</a:t>
                      </a:r>
                      <a:r>
                        <a:rPr lang="en-GB" sz="700" u="none" strike="noStrike" dirty="0">
                          <a:effectLst/>
                        </a:rPr>
                        <a:t>": "9999",</a:t>
                      </a:r>
                      <a:endParaRPr lang="en-GB" sz="700" b="0" i="0" u="none" strike="noStrike" dirty="0">
                        <a:solidFill>
                          <a:srgbClr val="000000"/>
                        </a:solidFill>
                        <a:effectLst/>
                        <a:latin typeface="Courier New" panose="02070309020205020404" pitchFamily="49" charset="0"/>
                      </a:endParaRPr>
                    </a:p>
                  </a:txBody>
                  <a:tcPr marL="6002" marR="6002" marT="6002" marB="0" anchor="b"/>
                </a:tc>
                <a:extLst>
                  <a:ext uri="{0D108BD9-81ED-4DB2-BD59-A6C34878D82A}">
                    <a16:rowId xmlns:a16="http://schemas.microsoft.com/office/drawing/2014/main" val="1706543517"/>
                  </a:ext>
                </a:extLst>
              </a:tr>
              <a:tr h="174060">
                <a:tc>
                  <a:txBody>
                    <a:bodyPr/>
                    <a:lstStyle/>
                    <a:p>
                      <a:pPr algn="l" fontAlgn="b"/>
                      <a:r>
                        <a:rPr lang="en-GB" sz="700" u="none" strike="noStrike" dirty="0">
                          <a:effectLst/>
                        </a:rPr>
                        <a:t>    "</a:t>
                      </a:r>
                      <a:r>
                        <a:rPr lang="en-GB" sz="700" u="none" strike="noStrike" dirty="0" err="1">
                          <a:effectLst/>
                        </a:rPr>
                        <a:t>propertyTenancyId</a:t>
                      </a:r>
                      <a:r>
                        <a:rPr lang="en-GB" sz="700" u="none" strike="noStrike" dirty="0">
                          <a:effectLst/>
                        </a:rPr>
                        <a:t>": 85670,</a:t>
                      </a:r>
                      <a:endParaRPr lang="en-GB" sz="700" b="0" i="0" u="none" strike="noStrike" dirty="0">
                        <a:solidFill>
                          <a:srgbClr val="000000"/>
                        </a:solidFill>
                        <a:effectLst/>
                        <a:latin typeface="Courier New" panose="02070309020205020404" pitchFamily="49" charset="0"/>
                      </a:endParaRPr>
                    </a:p>
                  </a:txBody>
                  <a:tcPr marL="6002" marR="6002" marT="6002" marB="0" anchor="b"/>
                </a:tc>
                <a:extLst>
                  <a:ext uri="{0D108BD9-81ED-4DB2-BD59-A6C34878D82A}">
                    <a16:rowId xmlns:a16="http://schemas.microsoft.com/office/drawing/2014/main" val="212278021"/>
                  </a:ext>
                </a:extLst>
              </a:tr>
              <a:tr h="174060">
                <a:tc>
                  <a:txBody>
                    <a:bodyPr/>
                    <a:lstStyle/>
                    <a:p>
                      <a:pPr algn="l" fontAlgn="b"/>
                      <a:r>
                        <a:rPr lang="en-GB" sz="700" u="none" strike="noStrike" dirty="0">
                          <a:effectLst/>
                        </a:rPr>
                        <a:t>    "</a:t>
                      </a:r>
                      <a:r>
                        <a:rPr lang="en-GB" sz="700" u="none" strike="noStrike" dirty="0" err="1">
                          <a:effectLst/>
                        </a:rPr>
                        <a:t>ReferencingApplicantList</a:t>
                      </a:r>
                      <a:r>
                        <a:rPr lang="en-GB" sz="700" u="none" strike="noStrike" dirty="0">
                          <a:effectLst/>
                        </a:rPr>
                        <a:t>": [</a:t>
                      </a:r>
                      <a:endParaRPr lang="en-GB" sz="700" b="0" i="0" u="none" strike="noStrike" dirty="0">
                        <a:solidFill>
                          <a:srgbClr val="000000"/>
                        </a:solidFill>
                        <a:effectLst/>
                        <a:latin typeface="Courier New" panose="02070309020205020404" pitchFamily="49" charset="0"/>
                      </a:endParaRPr>
                    </a:p>
                  </a:txBody>
                  <a:tcPr marL="6002" marR="6002" marT="6002" marB="0" anchor="b"/>
                </a:tc>
                <a:extLst>
                  <a:ext uri="{0D108BD9-81ED-4DB2-BD59-A6C34878D82A}">
                    <a16:rowId xmlns:a16="http://schemas.microsoft.com/office/drawing/2014/main" val="137582816"/>
                  </a:ext>
                </a:extLst>
              </a:tr>
              <a:tr h="174060">
                <a:tc>
                  <a:txBody>
                    <a:bodyPr/>
                    <a:lstStyle/>
                    <a:p>
                      <a:pPr algn="l" fontAlgn="b"/>
                      <a:r>
                        <a:rPr lang="en-GB" sz="700" u="none" strike="noStrike">
                          <a:effectLst/>
                        </a:rPr>
                        <a:t>      {</a:t>
                      </a:r>
                      <a:endParaRPr lang="en-GB" sz="700" b="0" i="0" u="none" strike="noStrike">
                        <a:solidFill>
                          <a:srgbClr val="000000"/>
                        </a:solidFill>
                        <a:effectLst/>
                        <a:latin typeface="Courier New" panose="02070309020205020404" pitchFamily="49" charset="0"/>
                      </a:endParaRPr>
                    </a:p>
                  </a:txBody>
                  <a:tcPr marL="6002" marR="6002" marT="6002" marB="0" anchor="b"/>
                </a:tc>
                <a:extLst>
                  <a:ext uri="{0D108BD9-81ED-4DB2-BD59-A6C34878D82A}">
                    <a16:rowId xmlns:a16="http://schemas.microsoft.com/office/drawing/2014/main" val="3900002694"/>
                  </a:ext>
                </a:extLst>
              </a:tr>
              <a:tr h="174060">
                <a:tc>
                  <a:txBody>
                    <a:bodyPr/>
                    <a:lstStyle/>
                    <a:p>
                      <a:pPr algn="l" fontAlgn="b"/>
                      <a:r>
                        <a:rPr lang="en-GB" sz="700" u="none" strike="noStrike">
                          <a:effectLst/>
                        </a:rPr>
                        <a:t>        "applicantID": 678007,</a:t>
                      </a:r>
                      <a:endParaRPr lang="en-GB" sz="700" b="0" i="0" u="none" strike="noStrike">
                        <a:solidFill>
                          <a:srgbClr val="000000"/>
                        </a:solidFill>
                        <a:effectLst/>
                        <a:latin typeface="Courier New" panose="02070309020205020404" pitchFamily="49" charset="0"/>
                      </a:endParaRPr>
                    </a:p>
                  </a:txBody>
                  <a:tcPr marL="6002" marR="6002" marT="6002" marB="0" anchor="b"/>
                </a:tc>
                <a:extLst>
                  <a:ext uri="{0D108BD9-81ED-4DB2-BD59-A6C34878D82A}">
                    <a16:rowId xmlns:a16="http://schemas.microsoft.com/office/drawing/2014/main" val="1240618264"/>
                  </a:ext>
                </a:extLst>
              </a:tr>
              <a:tr h="174060">
                <a:tc>
                  <a:txBody>
                    <a:bodyPr/>
                    <a:lstStyle/>
                    <a:p>
                      <a:pPr algn="l" fontAlgn="b"/>
                      <a:r>
                        <a:rPr lang="en-GB" sz="700" u="none" strike="noStrike">
                          <a:effectLst/>
                        </a:rPr>
                        <a:t>        "applicantName": "Mr Berty Boo Basset"</a:t>
                      </a:r>
                      <a:endParaRPr lang="en-GB" sz="700" b="0" i="0" u="none" strike="noStrike">
                        <a:solidFill>
                          <a:srgbClr val="000000"/>
                        </a:solidFill>
                        <a:effectLst/>
                        <a:latin typeface="Courier New" panose="02070309020205020404" pitchFamily="49" charset="0"/>
                      </a:endParaRPr>
                    </a:p>
                  </a:txBody>
                  <a:tcPr marL="6002" marR="6002" marT="6002" marB="0" anchor="b"/>
                </a:tc>
                <a:extLst>
                  <a:ext uri="{0D108BD9-81ED-4DB2-BD59-A6C34878D82A}">
                    <a16:rowId xmlns:a16="http://schemas.microsoft.com/office/drawing/2014/main" val="2933189921"/>
                  </a:ext>
                </a:extLst>
              </a:tr>
              <a:tr h="180062">
                <a:tc>
                  <a:txBody>
                    <a:bodyPr/>
                    <a:lstStyle/>
                    <a:p>
                      <a:pPr algn="l" fontAlgn="b"/>
                      <a:r>
                        <a:rPr lang="en-GB" sz="700" u="none" strike="noStrike">
                          <a:effectLst/>
                        </a:rPr>
                        <a:t>        "applicantSecretKey: "0982109380193280918320918"</a:t>
                      </a:r>
                      <a:endParaRPr lang="en-GB" sz="700" b="1" i="0" u="none" strike="noStrike">
                        <a:solidFill>
                          <a:srgbClr val="FF0000"/>
                        </a:solidFill>
                        <a:effectLst/>
                        <a:latin typeface="Courier New" panose="02070309020205020404" pitchFamily="49" charset="0"/>
                      </a:endParaRPr>
                    </a:p>
                  </a:txBody>
                  <a:tcPr marL="6002" marR="6002" marT="6002" marB="0" anchor="b"/>
                </a:tc>
                <a:extLst>
                  <a:ext uri="{0D108BD9-81ED-4DB2-BD59-A6C34878D82A}">
                    <a16:rowId xmlns:a16="http://schemas.microsoft.com/office/drawing/2014/main" val="1652864416"/>
                  </a:ext>
                </a:extLst>
              </a:tr>
              <a:tr h="174060">
                <a:tc>
                  <a:txBody>
                    <a:bodyPr/>
                    <a:lstStyle/>
                    <a:p>
                      <a:pPr algn="l" fontAlgn="b"/>
                      <a:r>
                        <a:rPr lang="en-GB" sz="700" u="none" strike="noStrike">
                          <a:effectLst/>
                        </a:rPr>
                        <a:t>      }</a:t>
                      </a:r>
                      <a:endParaRPr lang="en-GB" sz="700" b="0" i="0" u="none" strike="noStrike">
                        <a:solidFill>
                          <a:srgbClr val="000000"/>
                        </a:solidFill>
                        <a:effectLst/>
                        <a:latin typeface="Courier New" panose="02070309020205020404" pitchFamily="49" charset="0"/>
                      </a:endParaRPr>
                    </a:p>
                  </a:txBody>
                  <a:tcPr marL="6002" marR="6002" marT="6002" marB="0" anchor="b"/>
                </a:tc>
                <a:extLst>
                  <a:ext uri="{0D108BD9-81ED-4DB2-BD59-A6C34878D82A}">
                    <a16:rowId xmlns:a16="http://schemas.microsoft.com/office/drawing/2014/main" val="1806322730"/>
                  </a:ext>
                </a:extLst>
              </a:tr>
              <a:tr h="174060">
                <a:tc>
                  <a:txBody>
                    <a:bodyPr/>
                    <a:lstStyle/>
                    <a:p>
                      <a:pPr algn="l" fontAlgn="b"/>
                      <a:r>
                        <a:rPr lang="en-GB" sz="700" u="none" strike="noStrike">
                          <a:effectLst/>
                        </a:rPr>
                        <a:t>    ]</a:t>
                      </a:r>
                      <a:endParaRPr lang="en-GB" sz="700" b="0" i="0" u="none" strike="noStrike">
                        <a:solidFill>
                          <a:srgbClr val="000000"/>
                        </a:solidFill>
                        <a:effectLst/>
                        <a:latin typeface="Courier New" panose="02070309020205020404" pitchFamily="49" charset="0"/>
                      </a:endParaRPr>
                    </a:p>
                  </a:txBody>
                  <a:tcPr marL="6002" marR="6002" marT="6002" marB="0" anchor="b"/>
                </a:tc>
                <a:extLst>
                  <a:ext uri="{0D108BD9-81ED-4DB2-BD59-A6C34878D82A}">
                    <a16:rowId xmlns:a16="http://schemas.microsoft.com/office/drawing/2014/main" val="16632504"/>
                  </a:ext>
                </a:extLst>
              </a:tr>
              <a:tr h="174060">
                <a:tc>
                  <a:txBody>
                    <a:bodyPr/>
                    <a:lstStyle/>
                    <a:p>
                      <a:pPr algn="l" fontAlgn="b"/>
                      <a:r>
                        <a:rPr lang="en-GB" sz="700" u="none" strike="noStrike">
                          <a:effectLst/>
                        </a:rPr>
                        <a:t>  },</a:t>
                      </a:r>
                      <a:endParaRPr lang="en-GB" sz="700" b="0" i="0" u="none" strike="noStrike">
                        <a:solidFill>
                          <a:srgbClr val="000000"/>
                        </a:solidFill>
                        <a:effectLst/>
                        <a:latin typeface="Courier New" panose="02070309020205020404" pitchFamily="49" charset="0"/>
                      </a:endParaRPr>
                    </a:p>
                  </a:txBody>
                  <a:tcPr marL="6002" marR="6002" marT="6002" marB="0" anchor="b"/>
                </a:tc>
                <a:extLst>
                  <a:ext uri="{0D108BD9-81ED-4DB2-BD59-A6C34878D82A}">
                    <a16:rowId xmlns:a16="http://schemas.microsoft.com/office/drawing/2014/main" val="2993787114"/>
                  </a:ext>
                </a:extLst>
              </a:tr>
              <a:tr h="174060">
                <a:tc>
                  <a:txBody>
                    <a:bodyPr/>
                    <a:lstStyle/>
                    <a:p>
                      <a:pPr algn="l" fontAlgn="b"/>
                      <a:r>
                        <a:rPr lang="en-GB" sz="700" u="none" strike="noStrike">
                          <a:effectLst/>
                        </a:rPr>
                        <a:t>  "message": "Applicant link sent successfully."</a:t>
                      </a:r>
                      <a:endParaRPr lang="en-GB" sz="700" b="0" i="0" u="none" strike="noStrike">
                        <a:solidFill>
                          <a:srgbClr val="000000"/>
                        </a:solidFill>
                        <a:effectLst/>
                        <a:latin typeface="Courier New" panose="02070309020205020404" pitchFamily="49" charset="0"/>
                      </a:endParaRPr>
                    </a:p>
                  </a:txBody>
                  <a:tcPr marL="6002" marR="6002" marT="6002" marB="0" anchor="b"/>
                </a:tc>
                <a:extLst>
                  <a:ext uri="{0D108BD9-81ED-4DB2-BD59-A6C34878D82A}">
                    <a16:rowId xmlns:a16="http://schemas.microsoft.com/office/drawing/2014/main" val="595842982"/>
                  </a:ext>
                </a:extLst>
              </a:tr>
              <a:tr h="174060">
                <a:tc>
                  <a:txBody>
                    <a:bodyPr/>
                    <a:lstStyle/>
                    <a:p>
                      <a:pPr algn="l" fontAlgn="b"/>
                      <a:r>
                        <a:rPr lang="en-GB" sz="700" u="none" strike="noStrike" dirty="0">
                          <a:effectLst/>
                        </a:rPr>
                        <a:t>}</a:t>
                      </a:r>
                      <a:endParaRPr lang="en-GB" sz="700" b="0" i="0" u="none" strike="noStrike" dirty="0">
                        <a:solidFill>
                          <a:srgbClr val="000000"/>
                        </a:solidFill>
                        <a:effectLst/>
                        <a:latin typeface="Courier New" panose="02070309020205020404" pitchFamily="49" charset="0"/>
                      </a:endParaRPr>
                    </a:p>
                  </a:txBody>
                  <a:tcPr marL="6002" marR="6002" marT="6002" marB="0" anchor="b"/>
                </a:tc>
                <a:extLst>
                  <a:ext uri="{0D108BD9-81ED-4DB2-BD59-A6C34878D82A}">
                    <a16:rowId xmlns:a16="http://schemas.microsoft.com/office/drawing/2014/main" val="2404404658"/>
                  </a:ext>
                </a:extLst>
              </a:tr>
            </a:tbl>
          </a:graphicData>
        </a:graphic>
      </p:graphicFrame>
    </p:spTree>
    <p:extLst>
      <p:ext uri="{BB962C8B-B14F-4D97-AF65-F5344CB8AC3E}">
        <p14:creationId xmlns:p14="http://schemas.microsoft.com/office/powerpoint/2010/main" val="19491601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F14FA80-2BA9-457A-FA25-B93C3A01FA28}"/>
              </a:ext>
            </a:extLst>
          </p:cNvPr>
          <p:cNvSpPr/>
          <p:nvPr/>
        </p:nvSpPr>
        <p:spPr>
          <a:xfrm>
            <a:off x="0" y="6698746"/>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50F25BA2-BB5D-4D3B-0601-2BB13AD968D4}"/>
              </a:ext>
            </a:extLst>
          </p:cNvPr>
          <p:cNvSpPr/>
          <p:nvPr/>
        </p:nvSpPr>
        <p:spPr>
          <a:xfrm>
            <a:off x="0" y="-2862"/>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5BE7F990-D417-5CB5-0847-7A9E4F860586}"/>
              </a:ext>
            </a:extLst>
          </p:cNvPr>
          <p:cNvSpPr txBox="1"/>
          <p:nvPr/>
        </p:nvSpPr>
        <p:spPr>
          <a:xfrm>
            <a:off x="121920" y="262537"/>
            <a:ext cx="6888480" cy="461665"/>
          </a:xfrm>
          <a:prstGeom prst="rect">
            <a:avLst/>
          </a:prstGeom>
          <a:noFill/>
        </p:spPr>
        <p:txBody>
          <a:bodyPr wrap="square" rtlCol="0">
            <a:spAutoFit/>
          </a:bodyPr>
          <a:lstStyle/>
          <a:p>
            <a:r>
              <a:rPr lang="en-GB" sz="2400" b="1" dirty="0"/>
              <a:t>4 Additional Applicants added</a:t>
            </a:r>
          </a:p>
        </p:txBody>
      </p:sp>
      <p:sp>
        <p:nvSpPr>
          <p:cNvPr id="6" name="Rectangle 5">
            <a:extLst>
              <a:ext uri="{FF2B5EF4-FFF2-40B4-BE49-F238E27FC236}">
                <a16:creationId xmlns:a16="http://schemas.microsoft.com/office/drawing/2014/main" id="{891E98C1-FEDD-DA87-1F1A-497C7B79F44E}"/>
              </a:ext>
            </a:extLst>
          </p:cNvPr>
          <p:cNvSpPr/>
          <p:nvPr/>
        </p:nvSpPr>
        <p:spPr>
          <a:xfrm>
            <a:off x="8117707" y="352287"/>
            <a:ext cx="787399" cy="4616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t>Vision+ API</a:t>
            </a:r>
          </a:p>
        </p:txBody>
      </p:sp>
      <p:sp>
        <p:nvSpPr>
          <p:cNvPr id="7" name="Rectangle 6">
            <a:extLst>
              <a:ext uri="{FF2B5EF4-FFF2-40B4-BE49-F238E27FC236}">
                <a16:creationId xmlns:a16="http://schemas.microsoft.com/office/drawing/2014/main" id="{A6BE94CC-7C1A-58AE-4B18-13975E4EDF75}"/>
              </a:ext>
            </a:extLst>
          </p:cNvPr>
          <p:cNvSpPr/>
          <p:nvPr/>
        </p:nvSpPr>
        <p:spPr>
          <a:xfrm>
            <a:off x="5932225" y="352286"/>
            <a:ext cx="766474" cy="461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t>Grainger Systems</a:t>
            </a:r>
          </a:p>
        </p:txBody>
      </p:sp>
      <p:sp>
        <p:nvSpPr>
          <p:cNvPr id="10" name="TextBox 9">
            <a:extLst>
              <a:ext uri="{FF2B5EF4-FFF2-40B4-BE49-F238E27FC236}">
                <a16:creationId xmlns:a16="http://schemas.microsoft.com/office/drawing/2014/main" id="{1153242C-4DCE-DECB-1D73-C17E8F720BFC}"/>
              </a:ext>
            </a:extLst>
          </p:cNvPr>
          <p:cNvSpPr txBox="1"/>
          <p:nvPr/>
        </p:nvSpPr>
        <p:spPr>
          <a:xfrm>
            <a:off x="6637800" y="379741"/>
            <a:ext cx="1540806" cy="215444"/>
          </a:xfrm>
          <a:prstGeom prst="rect">
            <a:avLst/>
          </a:prstGeom>
          <a:noFill/>
        </p:spPr>
        <p:txBody>
          <a:bodyPr wrap="none" rtlCol="0">
            <a:spAutoFit/>
          </a:bodyPr>
          <a:lstStyle/>
          <a:p>
            <a:r>
              <a:rPr lang="en-GB" sz="800" b="1" dirty="0"/>
              <a:t>1.a Additional Applicants added</a:t>
            </a:r>
          </a:p>
        </p:txBody>
      </p:sp>
      <p:cxnSp>
        <p:nvCxnSpPr>
          <p:cNvPr id="12" name="Straight Arrow Connector 11">
            <a:extLst>
              <a:ext uri="{FF2B5EF4-FFF2-40B4-BE49-F238E27FC236}">
                <a16:creationId xmlns:a16="http://schemas.microsoft.com/office/drawing/2014/main" id="{4263023F-7EAE-2204-2286-921790ED6C0E}"/>
              </a:ext>
            </a:extLst>
          </p:cNvPr>
          <p:cNvCxnSpPr>
            <a:cxnSpLocks/>
          </p:cNvCxnSpPr>
          <p:nvPr/>
        </p:nvCxnSpPr>
        <p:spPr>
          <a:xfrm>
            <a:off x="6698699" y="630439"/>
            <a:ext cx="1419008"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14" name="TextBox 13">
            <a:extLst>
              <a:ext uri="{FF2B5EF4-FFF2-40B4-BE49-F238E27FC236}">
                <a16:creationId xmlns:a16="http://schemas.microsoft.com/office/drawing/2014/main" id="{ABAA3F78-F077-B026-55C4-E6649D06EF6D}"/>
              </a:ext>
            </a:extLst>
          </p:cNvPr>
          <p:cNvSpPr txBox="1"/>
          <p:nvPr/>
        </p:nvSpPr>
        <p:spPr>
          <a:xfrm>
            <a:off x="121920" y="978832"/>
            <a:ext cx="5110480" cy="369332"/>
          </a:xfrm>
          <a:prstGeom prst="rect">
            <a:avLst/>
          </a:prstGeom>
          <a:noFill/>
        </p:spPr>
        <p:txBody>
          <a:bodyPr wrap="square">
            <a:spAutoFit/>
          </a:bodyPr>
          <a:lstStyle/>
          <a:p>
            <a:r>
              <a:rPr lang="en-GB" dirty="0"/>
              <a:t> </a:t>
            </a:r>
            <a:r>
              <a:rPr lang="en-GB" b="1" dirty="0"/>
              <a:t>Request: </a:t>
            </a:r>
            <a:r>
              <a:rPr lang="en-GB" dirty="0" err="1"/>
              <a:t>AddApplicantToTenancyWithIframe</a:t>
            </a:r>
            <a:endParaRPr lang="en-GB" dirty="0"/>
          </a:p>
        </p:txBody>
      </p:sp>
      <p:sp>
        <p:nvSpPr>
          <p:cNvPr id="22" name="TextBox 21">
            <a:extLst>
              <a:ext uri="{FF2B5EF4-FFF2-40B4-BE49-F238E27FC236}">
                <a16:creationId xmlns:a16="http://schemas.microsoft.com/office/drawing/2014/main" id="{DE8E22F2-8976-E428-EB50-62587630E78D}"/>
              </a:ext>
            </a:extLst>
          </p:cNvPr>
          <p:cNvSpPr txBox="1"/>
          <p:nvPr/>
        </p:nvSpPr>
        <p:spPr>
          <a:xfrm>
            <a:off x="5232400" y="1734135"/>
            <a:ext cx="1156547" cy="369332"/>
          </a:xfrm>
          <a:prstGeom prst="rect">
            <a:avLst/>
          </a:prstGeom>
          <a:noFill/>
        </p:spPr>
        <p:txBody>
          <a:bodyPr wrap="square">
            <a:spAutoFit/>
          </a:bodyPr>
          <a:lstStyle/>
          <a:p>
            <a:r>
              <a:rPr lang="en-GB" b="1" dirty="0"/>
              <a:t> Response</a:t>
            </a:r>
          </a:p>
        </p:txBody>
      </p:sp>
      <p:graphicFrame>
        <p:nvGraphicFramePr>
          <p:cNvPr id="2" name="Table 1">
            <a:extLst>
              <a:ext uri="{FF2B5EF4-FFF2-40B4-BE49-F238E27FC236}">
                <a16:creationId xmlns:a16="http://schemas.microsoft.com/office/drawing/2014/main" id="{5436AEDD-B3EC-66CE-4FCE-EBB965FA34A7}"/>
              </a:ext>
            </a:extLst>
          </p:cNvPr>
          <p:cNvGraphicFramePr>
            <a:graphicFrameLocks noGrp="1"/>
          </p:cNvGraphicFramePr>
          <p:nvPr>
            <p:extLst>
              <p:ext uri="{D42A27DB-BD31-4B8C-83A1-F6EECF244321}">
                <p14:modId xmlns:p14="http://schemas.microsoft.com/office/powerpoint/2010/main" val="2901398088"/>
              </p:ext>
            </p:extLst>
          </p:nvPr>
        </p:nvGraphicFramePr>
        <p:xfrm>
          <a:off x="622300" y="1562594"/>
          <a:ext cx="3949700" cy="3498850"/>
        </p:xfrm>
        <a:graphic>
          <a:graphicData uri="http://schemas.openxmlformats.org/drawingml/2006/table">
            <a:tbl>
              <a:tblPr>
                <a:tableStyleId>{5C22544A-7EE6-4342-B048-85BDC9FD1C3A}</a:tableStyleId>
              </a:tblPr>
              <a:tblGrid>
                <a:gridCol w="3949700">
                  <a:extLst>
                    <a:ext uri="{9D8B030D-6E8A-4147-A177-3AD203B41FA5}">
                      <a16:colId xmlns:a16="http://schemas.microsoft.com/office/drawing/2014/main" val="3683002648"/>
                    </a:ext>
                  </a:extLst>
                </a:gridCol>
              </a:tblGrid>
              <a:tr h="184150">
                <a:tc>
                  <a:txBody>
                    <a:bodyPr/>
                    <a:lstStyle/>
                    <a:p>
                      <a:pPr algn="l" fontAlgn="b"/>
                      <a:r>
                        <a:rPr lang="en-GB" sz="1100" u="none" strike="noStrike">
                          <a:effectLst/>
                        </a:rPr>
                        <a:t>{</a:t>
                      </a:r>
                      <a:endParaRPr lang="en-GB" sz="11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3544559520"/>
                  </a:ext>
                </a:extLst>
              </a:tr>
              <a:tr h="184150">
                <a:tc>
                  <a:txBody>
                    <a:bodyPr/>
                    <a:lstStyle/>
                    <a:p>
                      <a:pPr algn="l" fontAlgn="b"/>
                      <a:r>
                        <a:rPr lang="en-GB" sz="1100" u="none" strike="noStrike">
                          <a:effectLst/>
                        </a:rPr>
                        <a:t>  "agentCode": "string",</a:t>
                      </a:r>
                      <a:endParaRPr lang="en-GB" sz="11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3373837813"/>
                  </a:ext>
                </a:extLst>
              </a:tr>
              <a:tr h="184150">
                <a:tc>
                  <a:txBody>
                    <a:bodyPr/>
                    <a:lstStyle/>
                    <a:p>
                      <a:pPr algn="l" fontAlgn="b"/>
                      <a:r>
                        <a:rPr lang="en-GB" sz="1100" u="none" strike="noStrike">
                          <a:effectLst/>
                        </a:rPr>
                        <a:t>  "propertyTenancyId": 989898,</a:t>
                      </a:r>
                      <a:endParaRPr lang="en-GB" sz="11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1090775249"/>
                  </a:ext>
                </a:extLst>
              </a:tr>
              <a:tr h="184150">
                <a:tc>
                  <a:txBody>
                    <a:bodyPr/>
                    <a:lstStyle/>
                    <a:p>
                      <a:pPr algn="l" fontAlgn="b"/>
                      <a:r>
                        <a:rPr lang="en-GB" sz="1100" u="none" strike="noStrike">
                          <a:effectLst/>
                        </a:rPr>
                        <a:t>  "isSentTenantLink": true,</a:t>
                      </a:r>
                      <a:endParaRPr lang="en-GB" sz="11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389165463"/>
                  </a:ext>
                </a:extLst>
              </a:tr>
              <a:tr h="184150">
                <a:tc>
                  <a:txBody>
                    <a:bodyPr/>
                    <a:lstStyle/>
                    <a:p>
                      <a:pPr algn="l" fontAlgn="b"/>
                      <a:r>
                        <a:rPr lang="en-GB" sz="1100" u="none" strike="noStrike" dirty="0">
                          <a:effectLst/>
                        </a:rPr>
                        <a:t>  "</a:t>
                      </a:r>
                      <a:r>
                        <a:rPr lang="en-GB" sz="1100" u="none" strike="noStrike" dirty="0" err="1">
                          <a:effectLst/>
                        </a:rPr>
                        <a:t>linkedApplicantID</a:t>
                      </a:r>
                      <a:r>
                        <a:rPr lang="en-GB" sz="1100" u="none" strike="noStrike" dirty="0">
                          <a:effectLst/>
                        </a:rPr>
                        <a:t>": [9999],</a:t>
                      </a:r>
                      <a:endParaRPr lang="en-GB" sz="1100" b="0" i="0" u="none" strike="noStrike" dirty="0">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1363448068"/>
                  </a:ext>
                </a:extLst>
              </a:tr>
              <a:tr h="184150">
                <a:tc>
                  <a:txBody>
                    <a:bodyPr/>
                    <a:lstStyle/>
                    <a:p>
                      <a:pPr algn="l" fontAlgn="b"/>
                      <a:r>
                        <a:rPr lang="en-GB" sz="1100" u="none" strike="noStrike">
                          <a:effectLst/>
                        </a:rPr>
                        <a:t>      "tenantTypeId": 1,</a:t>
                      </a:r>
                      <a:endParaRPr lang="en-GB" sz="11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3991959792"/>
                  </a:ext>
                </a:extLst>
              </a:tr>
              <a:tr h="184150">
                <a:tc>
                  <a:txBody>
                    <a:bodyPr/>
                    <a:lstStyle/>
                    <a:p>
                      <a:pPr algn="l" fontAlgn="b"/>
                      <a:r>
                        <a:rPr lang="en-GB" sz="1100" u="none" strike="noStrike" dirty="0">
                          <a:effectLst/>
                        </a:rPr>
                        <a:t>      "</a:t>
                      </a:r>
                      <a:r>
                        <a:rPr lang="en-GB" sz="1100" u="none" strike="noStrike" dirty="0" err="1">
                          <a:effectLst/>
                        </a:rPr>
                        <a:t>referenceType</a:t>
                      </a:r>
                      <a:r>
                        <a:rPr lang="en-GB" sz="1100" u="none" strike="noStrike" dirty="0">
                          <a:effectLst/>
                        </a:rPr>
                        <a:t>": 1,</a:t>
                      </a:r>
                      <a:endParaRPr lang="en-GB" sz="1100" b="0" i="0" u="none" strike="noStrike" dirty="0">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1577889019"/>
                  </a:ext>
                </a:extLst>
              </a:tr>
              <a:tr h="184150">
                <a:tc>
                  <a:txBody>
                    <a:bodyPr/>
                    <a:lstStyle/>
                    <a:p>
                      <a:pPr algn="l" fontAlgn="b"/>
                      <a:r>
                        <a:rPr lang="en-GB" sz="1100" u="none" strike="noStrike">
                          <a:effectLst/>
                        </a:rPr>
                        <a:t>      "rightToRent": true,</a:t>
                      </a:r>
                      <a:endParaRPr lang="en-GB" sz="11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1789300478"/>
                  </a:ext>
                </a:extLst>
              </a:tr>
              <a:tr h="184150">
                <a:tc>
                  <a:txBody>
                    <a:bodyPr/>
                    <a:lstStyle/>
                    <a:p>
                      <a:pPr algn="l" fontAlgn="b"/>
                      <a:r>
                        <a:rPr lang="en-GB" sz="1100" u="none" strike="noStrike">
                          <a:effectLst/>
                        </a:rPr>
                        <a:t>      "title": 1,</a:t>
                      </a:r>
                      <a:endParaRPr lang="en-GB" sz="11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568909646"/>
                  </a:ext>
                </a:extLst>
              </a:tr>
              <a:tr h="184150">
                <a:tc>
                  <a:txBody>
                    <a:bodyPr/>
                    <a:lstStyle/>
                    <a:p>
                      <a:pPr algn="l" fontAlgn="b"/>
                      <a:r>
                        <a:rPr lang="en-GB" sz="1100" u="none" strike="noStrike">
                          <a:effectLst/>
                        </a:rPr>
                        <a:t>      "otherTitle": "string",</a:t>
                      </a:r>
                      <a:endParaRPr lang="en-GB" sz="11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1411511179"/>
                  </a:ext>
                </a:extLst>
              </a:tr>
              <a:tr h="184150">
                <a:tc>
                  <a:txBody>
                    <a:bodyPr/>
                    <a:lstStyle/>
                    <a:p>
                      <a:pPr algn="l" fontAlgn="b"/>
                      <a:r>
                        <a:rPr lang="en-GB" sz="1100" u="none" strike="noStrike">
                          <a:effectLst/>
                        </a:rPr>
                        <a:t>      "firstName": "string",</a:t>
                      </a:r>
                      <a:endParaRPr lang="en-GB" sz="11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504932301"/>
                  </a:ext>
                </a:extLst>
              </a:tr>
              <a:tr h="184150">
                <a:tc>
                  <a:txBody>
                    <a:bodyPr/>
                    <a:lstStyle/>
                    <a:p>
                      <a:pPr algn="l" fontAlgn="b"/>
                      <a:r>
                        <a:rPr lang="en-GB" sz="1100" u="none" strike="noStrike">
                          <a:effectLst/>
                        </a:rPr>
                        <a:t>      "middleName": "string",</a:t>
                      </a:r>
                      <a:endParaRPr lang="en-GB" sz="11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3290255169"/>
                  </a:ext>
                </a:extLst>
              </a:tr>
              <a:tr h="184150">
                <a:tc>
                  <a:txBody>
                    <a:bodyPr/>
                    <a:lstStyle/>
                    <a:p>
                      <a:pPr algn="l" fontAlgn="b"/>
                      <a:r>
                        <a:rPr lang="en-GB" sz="1100" u="none" strike="noStrike">
                          <a:effectLst/>
                        </a:rPr>
                        <a:t>      "surname": "string",</a:t>
                      </a:r>
                      <a:endParaRPr lang="en-GB" sz="11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1836008747"/>
                  </a:ext>
                </a:extLst>
              </a:tr>
              <a:tr h="184150">
                <a:tc>
                  <a:txBody>
                    <a:bodyPr/>
                    <a:lstStyle/>
                    <a:p>
                      <a:pPr algn="l" fontAlgn="b"/>
                      <a:r>
                        <a:rPr lang="en-GB" sz="1100" u="none" strike="noStrike" dirty="0">
                          <a:effectLst/>
                        </a:rPr>
                        <a:t>      "</a:t>
                      </a:r>
                      <a:r>
                        <a:rPr lang="en-GB" sz="1100" u="none" strike="noStrike" dirty="0" err="1">
                          <a:effectLst/>
                        </a:rPr>
                        <a:t>shareOfRent</a:t>
                      </a:r>
                      <a:r>
                        <a:rPr lang="en-GB" sz="1100" u="none" strike="noStrike" dirty="0">
                          <a:effectLst/>
                        </a:rPr>
                        <a:t>": 0,</a:t>
                      </a:r>
                      <a:endParaRPr lang="en-GB" sz="1100" b="0" i="0" u="none" strike="noStrike" dirty="0">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4118066154"/>
                  </a:ext>
                </a:extLst>
              </a:tr>
              <a:tr h="184150">
                <a:tc>
                  <a:txBody>
                    <a:bodyPr/>
                    <a:lstStyle/>
                    <a:p>
                      <a:pPr algn="l" fontAlgn="b"/>
                      <a:r>
                        <a:rPr lang="en-GB" sz="1100" u="none" strike="noStrike">
                          <a:effectLst/>
                        </a:rPr>
                        <a:t>      "telephoneCountryID": 1,</a:t>
                      </a:r>
                      <a:endParaRPr lang="en-GB" sz="11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4119586467"/>
                  </a:ext>
                </a:extLst>
              </a:tr>
              <a:tr h="184150">
                <a:tc>
                  <a:txBody>
                    <a:bodyPr/>
                    <a:lstStyle/>
                    <a:p>
                      <a:pPr algn="l" fontAlgn="b"/>
                      <a:r>
                        <a:rPr lang="en-GB" sz="1100" u="none" strike="noStrike">
                          <a:effectLst/>
                        </a:rPr>
                        <a:t>      "contactTelephoneNo": "string",</a:t>
                      </a:r>
                      <a:endParaRPr lang="en-GB" sz="11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2014723389"/>
                  </a:ext>
                </a:extLst>
              </a:tr>
              <a:tr h="184150">
                <a:tc>
                  <a:txBody>
                    <a:bodyPr/>
                    <a:lstStyle/>
                    <a:p>
                      <a:pPr algn="l" fontAlgn="b"/>
                      <a:r>
                        <a:rPr lang="en-GB" sz="1100" u="none" strike="noStrike">
                          <a:effectLst/>
                        </a:rPr>
                        <a:t>      "emailAddress": "string"    </a:t>
                      </a:r>
                      <a:endParaRPr lang="en-GB" sz="11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3859083488"/>
                  </a:ext>
                </a:extLst>
              </a:tr>
              <a:tr h="184150">
                <a:tc>
                  <a:txBody>
                    <a:bodyPr/>
                    <a:lstStyle/>
                    <a:p>
                      <a:pPr algn="l" fontAlgn="b"/>
                      <a:r>
                        <a:rPr lang="en-GB" sz="1100" u="none" strike="noStrike" dirty="0">
                          <a:effectLst/>
                        </a:rPr>
                        <a:t>     }</a:t>
                      </a:r>
                      <a:endParaRPr lang="en-GB" sz="1100" b="0" i="0" u="none" strike="noStrike" dirty="0">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2203990641"/>
                  </a:ext>
                </a:extLst>
              </a:tr>
              <a:tr h="184150">
                <a:tc>
                  <a:txBody>
                    <a:bodyPr/>
                    <a:lstStyle/>
                    <a:p>
                      <a:pPr algn="l" fontAlgn="b"/>
                      <a:r>
                        <a:rPr lang="en-GB" sz="1100" u="none" strike="noStrike" dirty="0">
                          <a:effectLst/>
                        </a:rPr>
                        <a:t>}</a:t>
                      </a:r>
                      <a:endParaRPr lang="en-GB" sz="1100" b="0" i="0" u="none" strike="noStrike" dirty="0">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2787319375"/>
                  </a:ext>
                </a:extLst>
              </a:tr>
            </a:tbl>
          </a:graphicData>
        </a:graphic>
      </p:graphicFrame>
      <p:graphicFrame>
        <p:nvGraphicFramePr>
          <p:cNvPr id="9" name="Table 8">
            <a:extLst>
              <a:ext uri="{FF2B5EF4-FFF2-40B4-BE49-F238E27FC236}">
                <a16:creationId xmlns:a16="http://schemas.microsoft.com/office/drawing/2014/main" id="{D817624A-6FBB-6715-205E-7028C96DE747}"/>
              </a:ext>
            </a:extLst>
          </p:cNvPr>
          <p:cNvGraphicFramePr>
            <a:graphicFrameLocks noGrp="1"/>
          </p:cNvGraphicFramePr>
          <p:nvPr>
            <p:extLst>
              <p:ext uri="{D42A27DB-BD31-4B8C-83A1-F6EECF244321}">
                <p14:modId xmlns:p14="http://schemas.microsoft.com/office/powerpoint/2010/main" val="521989089"/>
              </p:ext>
            </p:extLst>
          </p:nvPr>
        </p:nvGraphicFramePr>
        <p:xfrm>
          <a:off x="4877355" y="2111811"/>
          <a:ext cx="3396446" cy="2762250"/>
        </p:xfrm>
        <a:graphic>
          <a:graphicData uri="http://schemas.openxmlformats.org/drawingml/2006/table">
            <a:tbl>
              <a:tblPr>
                <a:tableStyleId>{5C22544A-7EE6-4342-B048-85BDC9FD1C3A}</a:tableStyleId>
              </a:tblPr>
              <a:tblGrid>
                <a:gridCol w="3396446">
                  <a:extLst>
                    <a:ext uri="{9D8B030D-6E8A-4147-A177-3AD203B41FA5}">
                      <a16:colId xmlns:a16="http://schemas.microsoft.com/office/drawing/2014/main" val="1169511394"/>
                    </a:ext>
                  </a:extLst>
                </a:gridCol>
              </a:tblGrid>
              <a:tr h="184150">
                <a:tc>
                  <a:txBody>
                    <a:bodyPr/>
                    <a:lstStyle/>
                    <a:p>
                      <a:pPr algn="l" fontAlgn="b"/>
                      <a:r>
                        <a:rPr lang="en-GB" sz="1000" u="none" strike="noStrike">
                          <a:effectLst/>
                        </a:rPr>
                        <a:t>{</a:t>
                      </a:r>
                      <a:endParaRPr lang="en-GB" sz="10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3169939078"/>
                  </a:ext>
                </a:extLst>
              </a:tr>
              <a:tr h="184150">
                <a:tc>
                  <a:txBody>
                    <a:bodyPr/>
                    <a:lstStyle/>
                    <a:p>
                      <a:pPr algn="l" fontAlgn="b"/>
                      <a:r>
                        <a:rPr lang="en-GB" sz="1000" u="none" strike="noStrike">
                          <a:effectLst/>
                        </a:rPr>
                        <a:t>  "success": true,</a:t>
                      </a:r>
                      <a:endParaRPr lang="en-GB" sz="10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2956194419"/>
                  </a:ext>
                </a:extLst>
              </a:tr>
              <a:tr h="184150">
                <a:tc>
                  <a:txBody>
                    <a:bodyPr/>
                    <a:lstStyle/>
                    <a:p>
                      <a:pPr algn="l" fontAlgn="b"/>
                      <a:r>
                        <a:rPr lang="en-GB" sz="1000" u="none" strike="noStrike">
                          <a:effectLst/>
                        </a:rPr>
                        <a:t>  "payload": {</a:t>
                      </a:r>
                      <a:endParaRPr lang="en-GB" sz="10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3543920537"/>
                  </a:ext>
                </a:extLst>
              </a:tr>
              <a:tr h="184150">
                <a:tc>
                  <a:txBody>
                    <a:bodyPr/>
                    <a:lstStyle/>
                    <a:p>
                      <a:pPr algn="l" fontAlgn="b"/>
                      <a:r>
                        <a:rPr lang="en-GB" sz="1000" u="none" strike="noStrike">
                          <a:effectLst/>
                        </a:rPr>
                        <a:t>    "agentCode": "99999",</a:t>
                      </a:r>
                      <a:endParaRPr lang="en-GB" sz="10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3855229881"/>
                  </a:ext>
                </a:extLst>
              </a:tr>
              <a:tr h="184150">
                <a:tc>
                  <a:txBody>
                    <a:bodyPr/>
                    <a:lstStyle/>
                    <a:p>
                      <a:pPr algn="l" fontAlgn="b"/>
                      <a:r>
                        <a:rPr lang="en-GB" sz="1000" u="none" strike="noStrike">
                          <a:effectLst/>
                        </a:rPr>
                        <a:t>    "propertyTenancyId": 87812,</a:t>
                      </a:r>
                      <a:endParaRPr lang="en-GB" sz="10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137506241"/>
                  </a:ext>
                </a:extLst>
              </a:tr>
              <a:tr h="184150">
                <a:tc>
                  <a:txBody>
                    <a:bodyPr/>
                    <a:lstStyle/>
                    <a:p>
                      <a:pPr algn="l" fontAlgn="b"/>
                      <a:r>
                        <a:rPr lang="en-GB" sz="1000" u="none" strike="noStrike">
                          <a:effectLst/>
                        </a:rPr>
                        <a:t>    "ReferencingApplicantList": [</a:t>
                      </a:r>
                      <a:endParaRPr lang="en-GB" sz="10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3973032372"/>
                  </a:ext>
                </a:extLst>
              </a:tr>
              <a:tr h="184150">
                <a:tc>
                  <a:txBody>
                    <a:bodyPr/>
                    <a:lstStyle/>
                    <a:p>
                      <a:pPr algn="l" fontAlgn="b"/>
                      <a:r>
                        <a:rPr lang="en-GB" sz="1000" u="none" strike="noStrike">
                          <a:effectLst/>
                        </a:rPr>
                        <a:t>      {</a:t>
                      </a:r>
                      <a:endParaRPr lang="en-GB" sz="10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2831234743"/>
                  </a:ext>
                </a:extLst>
              </a:tr>
              <a:tr h="184150">
                <a:tc>
                  <a:txBody>
                    <a:bodyPr/>
                    <a:lstStyle/>
                    <a:p>
                      <a:pPr algn="l" fontAlgn="b"/>
                      <a:r>
                        <a:rPr lang="en-GB" sz="1000" u="none" strike="noStrike">
                          <a:effectLst/>
                        </a:rPr>
                        <a:t>        "applicantID": 679755,</a:t>
                      </a:r>
                      <a:endParaRPr lang="en-GB" sz="10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3932764397"/>
                  </a:ext>
                </a:extLst>
              </a:tr>
              <a:tr h="184150">
                <a:tc>
                  <a:txBody>
                    <a:bodyPr/>
                    <a:lstStyle/>
                    <a:p>
                      <a:pPr algn="l" fontAlgn="b"/>
                      <a:r>
                        <a:rPr lang="en-GB" sz="1000" u="none" strike="noStrike">
                          <a:effectLst/>
                        </a:rPr>
                        <a:t>        "applicantName": "Mr Billy Bob"</a:t>
                      </a:r>
                      <a:endParaRPr lang="en-GB" sz="10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2713469859"/>
                  </a:ext>
                </a:extLst>
              </a:tr>
              <a:tr h="184150">
                <a:tc>
                  <a:txBody>
                    <a:bodyPr/>
                    <a:lstStyle/>
                    <a:p>
                      <a:pPr algn="l" fontAlgn="b"/>
                      <a:r>
                        <a:rPr lang="en-GB" sz="1000" u="none" strike="noStrike" dirty="0">
                          <a:effectLst/>
                        </a:rPr>
                        <a:t>        "</a:t>
                      </a:r>
                      <a:r>
                        <a:rPr lang="en-GB" sz="1000" u="none" strike="noStrike" dirty="0" err="1">
                          <a:effectLst/>
                        </a:rPr>
                        <a:t>applicantSecretKey</a:t>
                      </a:r>
                      <a:r>
                        <a:rPr lang="en-GB" sz="1000" u="none" strike="noStrike" dirty="0">
                          <a:effectLst/>
                        </a:rPr>
                        <a:t>: "0982109380193280918320918"</a:t>
                      </a:r>
                      <a:endParaRPr lang="en-GB" sz="1000" b="0" i="0" u="none" strike="noStrike" dirty="0">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3413593054"/>
                  </a:ext>
                </a:extLst>
              </a:tr>
              <a:tr h="184150">
                <a:tc>
                  <a:txBody>
                    <a:bodyPr/>
                    <a:lstStyle/>
                    <a:p>
                      <a:pPr algn="l" fontAlgn="b"/>
                      <a:r>
                        <a:rPr lang="en-GB" sz="1000" u="none" strike="noStrike">
                          <a:effectLst/>
                        </a:rPr>
                        <a:t>      }</a:t>
                      </a:r>
                      <a:endParaRPr lang="en-GB" sz="10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1935289914"/>
                  </a:ext>
                </a:extLst>
              </a:tr>
              <a:tr h="184150">
                <a:tc>
                  <a:txBody>
                    <a:bodyPr/>
                    <a:lstStyle/>
                    <a:p>
                      <a:pPr algn="l" fontAlgn="b"/>
                      <a:r>
                        <a:rPr lang="en-GB" sz="1000" u="none" strike="noStrike">
                          <a:effectLst/>
                        </a:rPr>
                        <a:t>    ]</a:t>
                      </a:r>
                      <a:endParaRPr lang="en-GB" sz="10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2328700952"/>
                  </a:ext>
                </a:extLst>
              </a:tr>
              <a:tr h="184150">
                <a:tc>
                  <a:txBody>
                    <a:bodyPr/>
                    <a:lstStyle/>
                    <a:p>
                      <a:pPr algn="l" fontAlgn="b"/>
                      <a:r>
                        <a:rPr lang="en-GB" sz="1000" u="none" strike="noStrike">
                          <a:effectLst/>
                        </a:rPr>
                        <a:t>  },</a:t>
                      </a:r>
                      <a:endParaRPr lang="en-GB" sz="10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251064618"/>
                  </a:ext>
                </a:extLst>
              </a:tr>
              <a:tr h="184150">
                <a:tc>
                  <a:txBody>
                    <a:bodyPr/>
                    <a:lstStyle/>
                    <a:p>
                      <a:pPr algn="l" fontAlgn="b"/>
                      <a:r>
                        <a:rPr lang="en-GB" sz="1000" u="none" strike="noStrike">
                          <a:effectLst/>
                        </a:rPr>
                        <a:t>  "message": "Applicant link sent successfully."</a:t>
                      </a:r>
                      <a:endParaRPr lang="en-GB" sz="10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388661294"/>
                  </a:ext>
                </a:extLst>
              </a:tr>
              <a:tr h="184150">
                <a:tc>
                  <a:txBody>
                    <a:bodyPr/>
                    <a:lstStyle/>
                    <a:p>
                      <a:pPr algn="l" fontAlgn="b"/>
                      <a:r>
                        <a:rPr lang="en-GB" sz="1000" u="none" strike="noStrike" dirty="0">
                          <a:effectLst/>
                        </a:rPr>
                        <a:t>}</a:t>
                      </a:r>
                      <a:endParaRPr lang="en-GB" sz="1000" b="0" i="0" u="none" strike="noStrike" dirty="0">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2100067920"/>
                  </a:ext>
                </a:extLst>
              </a:tr>
            </a:tbl>
          </a:graphicData>
        </a:graphic>
      </p:graphicFrame>
    </p:spTree>
    <p:extLst>
      <p:ext uri="{BB962C8B-B14F-4D97-AF65-F5344CB8AC3E}">
        <p14:creationId xmlns:p14="http://schemas.microsoft.com/office/powerpoint/2010/main" val="2997056302"/>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F14FA80-2BA9-457A-FA25-B93C3A01FA28}"/>
              </a:ext>
            </a:extLst>
          </p:cNvPr>
          <p:cNvSpPr/>
          <p:nvPr/>
        </p:nvSpPr>
        <p:spPr>
          <a:xfrm>
            <a:off x="0" y="6698746"/>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50F25BA2-BB5D-4D3B-0601-2BB13AD968D4}"/>
              </a:ext>
            </a:extLst>
          </p:cNvPr>
          <p:cNvSpPr/>
          <p:nvPr/>
        </p:nvSpPr>
        <p:spPr>
          <a:xfrm>
            <a:off x="0" y="-2862"/>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5BE7F990-D417-5CB5-0847-7A9E4F860586}"/>
              </a:ext>
            </a:extLst>
          </p:cNvPr>
          <p:cNvSpPr txBox="1"/>
          <p:nvPr/>
        </p:nvSpPr>
        <p:spPr>
          <a:xfrm>
            <a:off x="121920" y="261303"/>
            <a:ext cx="6888480" cy="461665"/>
          </a:xfrm>
          <a:prstGeom prst="rect">
            <a:avLst/>
          </a:prstGeom>
          <a:noFill/>
        </p:spPr>
        <p:txBody>
          <a:bodyPr wrap="square" rtlCol="0">
            <a:spAutoFit/>
          </a:bodyPr>
          <a:lstStyle/>
          <a:p>
            <a:r>
              <a:rPr lang="en-GB" sz="2400" b="1" dirty="0"/>
              <a:t>8-10. Applicant(s) access portal via </a:t>
            </a:r>
            <a:r>
              <a:rPr lang="en-GB" sz="2400" b="1" dirty="0" err="1"/>
              <a:t>iframe</a:t>
            </a:r>
            <a:endParaRPr lang="en-GB" sz="2400" b="1" dirty="0"/>
          </a:p>
        </p:txBody>
      </p:sp>
      <p:sp>
        <p:nvSpPr>
          <p:cNvPr id="6" name="Rectangle 5">
            <a:extLst>
              <a:ext uri="{FF2B5EF4-FFF2-40B4-BE49-F238E27FC236}">
                <a16:creationId xmlns:a16="http://schemas.microsoft.com/office/drawing/2014/main" id="{891E98C1-FEDD-DA87-1F1A-497C7B79F44E}"/>
              </a:ext>
            </a:extLst>
          </p:cNvPr>
          <p:cNvSpPr/>
          <p:nvPr/>
        </p:nvSpPr>
        <p:spPr>
          <a:xfrm>
            <a:off x="8117707" y="352287"/>
            <a:ext cx="787399" cy="4616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t>Vision+ Portal</a:t>
            </a:r>
          </a:p>
        </p:txBody>
      </p:sp>
      <p:sp>
        <p:nvSpPr>
          <p:cNvPr id="7" name="Rectangle 6">
            <a:extLst>
              <a:ext uri="{FF2B5EF4-FFF2-40B4-BE49-F238E27FC236}">
                <a16:creationId xmlns:a16="http://schemas.microsoft.com/office/drawing/2014/main" id="{A6BE94CC-7C1A-58AE-4B18-13975E4EDF75}"/>
              </a:ext>
            </a:extLst>
          </p:cNvPr>
          <p:cNvSpPr/>
          <p:nvPr/>
        </p:nvSpPr>
        <p:spPr>
          <a:xfrm>
            <a:off x="5932225" y="352286"/>
            <a:ext cx="766474" cy="461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t>Grainger Systems</a:t>
            </a:r>
          </a:p>
        </p:txBody>
      </p:sp>
      <p:sp>
        <p:nvSpPr>
          <p:cNvPr id="10" name="TextBox 9">
            <a:extLst>
              <a:ext uri="{FF2B5EF4-FFF2-40B4-BE49-F238E27FC236}">
                <a16:creationId xmlns:a16="http://schemas.microsoft.com/office/drawing/2014/main" id="{1153242C-4DCE-DECB-1D73-C17E8F720BFC}"/>
              </a:ext>
            </a:extLst>
          </p:cNvPr>
          <p:cNvSpPr txBox="1"/>
          <p:nvPr/>
        </p:nvSpPr>
        <p:spPr>
          <a:xfrm>
            <a:off x="6840904" y="305634"/>
            <a:ext cx="1236200" cy="338554"/>
          </a:xfrm>
          <a:prstGeom prst="rect">
            <a:avLst/>
          </a:prstGeom>
          <a:noFill/>
        </p:spPr>
        <p:txBody>
          <a:bodyPr wrap="square" rtlCol="0">
            <a:spAutoFit/>
          </a:bodyPr>
          <a:lstStyle/>
          <a:p>
            <a:r>
              <a:rPr lang="en-GB" sz="800" b="1" dirty="0"/>
              <a:t>2. Applicant(s) access portal via </a:t>
            </a:r>
            <a:r>
              <a:rPr lang="en-GB" sz="800" b="1" dirty="0" err="1"/>
              <a:t>iframe</a:t>
            </a:r>
            <a:endParaRPr lang="en-GB" sz="800" b="1" dirty="0"/>
          </a:p>
        </p:txBody>
      </p:sp>
      <p:cxnSp>
        <p:nvCxnSpPr>
          <p:cNvPr id="12" name="Straight Arrow Connector 11">
            <a:extLst>
              <a:ext uri="{FF2B5EF4-FFF2-40B4-BE49-F238E27FC236}">
                <a16:creationId xmlns:a16="http://schemas.microsoft.com/office/drawing/2014/main" id="{4263023F-7EAE-2204-2286-921790ED6C0E}"/>
              </a:ext>
            </a:extLst>
          </p:cNvPr>
          <p:cNvCxnSpPr>
            <a:cxnSpLocks/>
          </p:cNvCxnSpPr>
          <p:nvPr/>
        </p:nvCxnSpPr>
        <p:spPr>
          <a:xfrm>
            <a:off x="6698699" y="630439"/>
            <a:ext cx="1419008"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3" name="Rectangle 2">
            <a:extLst>
              <a:ext uri="{FF2B5EF4-FFF2-40B4-BE49-F238E27FC236}">
                <a16:creationId xmlns:a16="http://schemas.microsoft.com/office/drawing/2014/main" id="{6285BAF2-87D9-479C-8140-C37E40853E95}"/>
              </a:ext>
            </a:extLst>
          </p:cNvPr>
          <p:cNvSpPr/>
          <p:nvPr/>
        </p:nvSpPr>
        <p:spPr>
          <a:xfrm>
            <a:off x="0" y="6698746"/>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2CE86A43-BA2C-927B-EF10-3764FD549CC5}"/>
              </a:ext>
            </a:extLst>
          </p:cNvPr>
          <p:cNvSpPr txBox="1"/>
          <p:nvPr/>
        </p:nvSpPr>
        <p:spPr>
          <a:xfrm>
            <a:off x="792480" y="990720"/>
            <a:ext cx="6888480" cy="1107996"/>
          </a:xfrm>
          <a:prstGeom prst="rect">
            <a:avLst/>
          </a:prstGeom>
          <a:noFill/>
        </p:spPr>
        <p:txBody>
          <a:bodyPr wrap="square" rtlCol="0">
            <a:spAutoFit/>
          </a:bodyPr>
          <a:lstStyle/>
          <a:p>
            <a:r>
              <a:rPr lang="en-GB" sz="1100" dirty="0"/>
              <a:t>Vision+ API called from Grainger Salesforce to create tenancy with input from applicant</a:t>
            </a:r>
          </a:p>
          <a:p>
            <a:endParaRPr lang="en-GB" sz="1100" dirty="0"/>
          </a:p>
          <a:p>
            <a:r>
              <a:rPr lang="en-GB" sz="1100" dirty="0"/>
              <a:t>Or </a:t>
            </a:r>
          </a:p>
          <a:p>
            <a:endParaRPr lang="en-GB" sz="1100" dirty="0"/>
          </a:p>
          <a:p>
            <a:r>
              <a:rPr lang="en-GB" sz="1100" dirty="0"/>
              <a:t>Vision+ API called from Grainger Salesforce to add applicant to tenancy with input from applicant</a:t>
            </a:r>
          </a:p>
          <a:p>
            <a:pPr lvl="1"/>
            <a:endParaRPr lang="en-GB" sz="1100" dirty="0"/>
          </a:p>
        </p:txBody>
      </p:sp>
      <p:sp>
        <p:nvSpPr>
          <p:cNvPr id="9" name="TextBox 8">
            <a:extLst>
              <a:ext uri="{FF2B5EF4-FFF2-40B4-BE49-F238E27FC236}">
                <a16:creationId xmlns:a16="http://schemas.microsoft.com/office/drawing/2014/main" id="{5D54F846-FF00-7C44-C728-ADF2CD0C4389}"/>
              </a:ext>
            </a:extLst>
          </p:cNvPr>
          <p:cNvSpPr txBox="1"/>
          <p:nvPr/>
        </p:nvSpPr>
        <p:spPr>
          <a:xfrm>
            <a:off x="792480" y="2343016"/>
            <a:ext cx="6583680" cy="592470"/>
          </a:xfrm>
          <a:prstGeom prst="rect">
            <a:avLst/>
          </a:prstGeom>
          <a:noFill/>
        </p:spPr>
        <p:txBody>
          <a:bodyPr wrap="square" rtlCol="0">
            <a:spAutoFit/>
          </a:bodyPr>
          <a:lstStyle/>
          <a:p>
            <a:r>
              <a:rPr lang="en-GB" sz="1100" dirty="0"/>
              <a:t>Vision+ API responds with </a:t>
            </a:r>
            <a:r>
              <a:rPr lang="en-GB" sz="1100" b="1" dirty="0">
                <a:solidFill>
                  <a:schemeClr val="tx2">
                    <a:lumMod val="75000"/>
                  </a:schemeClr>
                </a:solidFill>
              </a:rPr>
              <a:t>Applicant Secret Key</a:t>
            </a:r>
            <a:r>
              <a:rPr lang="en-GB" sz="1100" dirty="0"/>
              <a:t>, </a:t>
            </a:r>
            <a:r>
              <a:rPr lang="en-GB" sz="1100" b="1" dirty="0" err="1">
                <a:solidFill>
                  <a:schemeClr val="tx2"/>
                </a:solidFill>
              </a:rPr>
              <a:t>PropertyTenancyId</a:t>
            </a:r>
            <a:r>
              <a:rPr lang="en-GB" sz="1100" dirty="0"/>
              <a:t> &amp; </a:t>
            </a:r>
            <a:r>
              <a:rPr lang="en-GB" sz="1100" b="1" dirty="0" err="1">
                <a:solidFill>
                  <a:schemeClr val="tx2"/>
                </a:solidFill>
              </a:rPr>
              <a:t>ApplicantID</a:t>
            </a:r>
            <a:r>
              <a:rPr lang="en-GB" sz="1100" b="1" dirty="0">
                <a:solidFill>
                  <a:schemeClr val="tx2"/>
                </a:solidFill>
              </a:rPr>
              <a:t>, </a:t>
            </a:r>
            <a:r>
              <a:rPr lang="en-GB" sz="1100" dirty="0"/>
              <a:t>stored in salesforce.</a:t>
            </a:r>
            <a:r>
              <a:rPr lang="en-GB" sz="1100" b="1" dirty="0">
                <a:solidFill>
                  <a:schemeClr val="tx2"/>
                </a:solidFill>
              </a:rPr>
              <a:t> </a:t>
            </a:r>
            <a:r>
              <a:rPr lang="en-GB" sz="1100" dirty="0"/>
              <a:t>Agent setting in Vision+ supresses email send</a:t>
            </a:r>
          </a:p>
          <a:p>
            <a:pPr lvl="1"/>
            <a:endParaRPr lang="en-GB" sz="1050" dirty="0"/>
          </a:p>
        </p:txBody>
      </p:sp>
      <p:sp>
        <p:nvSpPr>
          <p:cNvPr id="11" name="TextBox 10">
            <a:extLst>
              <a:ext uri="{FF2B5EF4-FFF2-40B4-BE49-F238E27FC236}">
                <a16:creationId xmlns:a16="http://schemas.microsoft.com/office/drawing/2014/main" id="{9A32F80F-EFCB-84D0-953A-954AE495DD24}"/>
              </a:ext>
            </a:extLst>
          </p:cNvPr>
          <p:cNvSpPr txBox="1"/>
          <p:nvPr/>
        </p:nvSpPr>
        <p:spPr>
          <a:xfrm>
            <a:off x="792480" y="3021318"/>
            <a:ext cx="6690985" cy="600164"/>
          </a:xfrm>
          <a:prstGeom prst="rect">
            <a:avLst/>
          </a:prstGeom>
          <a:noFill/>
        </p:spPr>
        <p:txBody>
          <a:bodyPr wrap="square" rtlCol="0">
            <a:spAutoFit/>
          </a:bodyPr>
          <a:lstStyle/>
          <a:p>
            <a:r>
              <a:rPr lang="en-GB" sz="1100" dirty="0"/>
              <a:t>Grainger Portal (Codification) will call Vision+ auth server to generate token with client id and application secret key.  </a:t>
            </a:r>
            <a:r>
              <a:rPr lang="en-IN" sz="1100" dirty="0"/>
              <a:t>(</a:t>
            </a:r>
            <a:r>
              <a:rPr lang="en-GB" sz="1100" dirty="0">
                <a:hlinkClick r:id="rId3">
                  <a:extLst>
                    <a:ext uri="{A12FA001-AC4F-418D-AE19-62706E023703}">
                      <ahyp:hlinkClr xmlns:ahyp="http://schemas.microsoft.com/office/drawing/2018/hyperlinkcolor" val="tx"/>
                    </a:ext>
                  </a:extLst>
                </a:hlinkClick>
              </a:rPr>
              <a:t>https://preprod-auth-service.letalliance.dev</a:t>
            </a:r>
            <a:r>
              <a:rPr lang="en-IN" sz="1100" dirty="0"/>
              <a:t>)</a:t>
            </a:r>
            <a:endParaRPr lang="en-GB" sz="1100" dirty="0"/>
          </a:p>
          <a:p>
            <a:endParaRPr lang="en-GB" sz="1100" b="1" dirty="0"/>
          </a:p>
        </p:txBody>
      </p:sp>
      <p:sp>
        <p:nvSpPr>
          <p:cNvPr id="16" name="TextBox 15">
            <a:extLst>
              <a:ext uri="{FF2B5EF4-FFF2-40B4-BE49-F238E27FC236}">
                <a16:creationId xmlns:a16="http://schemas.microsoft.com/office/drawing/2014/main" id="{8043603B-7ECD-746D-5CF9-EBE5B9767298}"/>
              </a:ext>
            </a:extLst>
          </p:cNvPr>
          <p:cNvSpPr txBox="1"/>
          <p:nvPr/>
        </p:nvSpPr>
        <p:spPr>
          <a:xfrm>
            <a:off x="792479" y="4485713"/>
            <a:ext cx="6971453" cy="423193"/>
          </a:xfrm>
          <a:prstGeom prst="rect">
            <a:avLst/>
          </a:prstGeom>
          <a:noFill/>
        </p:spPr>
        <p:txBody>
          <a:bodyPr wrap="square" rtlCol="0">
            <a:spAutoFit/>
          </a:bodyPr>
          <a:lstStyle/>
          <a:p>
            <a:r>
              <a:rPr lang="en-GB" sz="1100" dirty="0"/>
              <a:t>Vision+ will use the token and extract user data with client id as Grainger.</a:t>
            </a:r>
          </a:p>
          <a:p>
            <a:pPr lvl="1"/>
            <a:endParaRPr lang="en-GB" sz="1050" dirty="0"/>
          </a:p>
        </p:txBody>
      </p:sp>
      <p:sp>
        <p:nvSpPr>
          <p:cNvPr id="17" name="TextBox 16">
            <a:extLst>
              <a:ext uri="{FF2B5EF4-FFF2-40B4-BE49-F238E27FC236}">
                <a16:creationId xmlns:a16="http://schemas.microsoft.com/office/drawing/2014/main" id="{340C628A-2E1D-4362-4CED-3B071693297C}"/>
              </a:ext>
            </a:extLst>
          </p:cNvPr>
          <p:cNvSpPr txBox="1"/>
          <p:nvPr/>
        </p:nvSpPr>
        <p:spPr>
          <a:xfrm>
            <a:off x="304817" y="376112"/>
            <a:ext cx="416560" cy="4801314"/>
          </a:xfrm>
          <a:prstGeom prst="rect">
            <a:avLst/>
          </a:prstGeom>
          <a:noFill/>
        </p:spPr>
        <p:txBody>
          <a:bodyPr wrap="square" rtlCol="0">
            <a:spAutoFit/>
          </a:bodyPr>
          <a:lstStyle/>
          <a:p>
            <a:endParaRPr lang="en-GB" dirty="0"/>
          </a:p>
          <a:p>
            <a:endParaRPr lang="en-GB" dirty="0"/>
          </a:p>
          <a:p>
            <a:r>
              <a:rPr lang="en-GB" dirty="0"/>
              <a:t>1</a:t>
            </a:r>
          </a:p>
          <a:p>
            <a:endParaRPr lang="en-GB" dirty="0"/>
          </a:p>
          <a:p>
            <a:endParaRPr lang="en-GB" dirty="0"/>
          </a:p>
          <a:p>
            <a:endParaRPr lang="en-GB" dirty="0"/>
          </a:p>
          <a:p>
            <a:endParaRPr lang="en-GB" dirty="0"/>
          </a:p>
          <a:p>
            <a:r>
              <a:rPr lang="en-GB" dirty="0"/>
              <a:t>2</a:t>
            </a:r>
          </a:p>
          <a:p>
            <a:endParaRPr lang="en-GB" dirty="0"/>
          </a:p>
          <a:p>
            <a:endParaRPr lang="en-GB" dirty="0"/>
          </a:p>
          <a:p>
            <a:r>
              <a:rPr lang="en-GB" dirty="0"/>
              <a:t>3</a:t>
            </a:r>
          </a:p>
          <a:p>
            <a:endParaRPr lang="en-GB" dirty="0"/>
          </a:p>
          <a:p>
            <a:r>
              <a:rPr lang="en-GB" dirty="0"/>
              <a:t>4</a:t>
            </a:r>
          </a:p>
          <a:p>
            <a:endParaRPr lang="en-GB" dirty="0"/>
          </a:p>
          <a:p>
            <a:endParaRPr lang="en-GB" dirty="0"/>
          </a:p>
          <a:p>
            <a:r>
              <a:rPr lang="en-GB" dirty="0"/>
              <a:t>5</a:t>
            </a:r>
          </a:p>
          <a:p>
            <a:endParaRPr lang="en-GB" dirty="0"/>
          </a:p>
        </p:txBody>
      </p:sp>
      <p:sp>
        <p:nvSpPr>
          <p:cNvPr id="2" name="TextBox 1">
            <a:extLst>
              <a:ext uri="{FF2B5EF4-FFF2-40B4-BE49-F238E27FC236}">
                <a16:creationId xmlns:a16="http://schemas.microsoft.com/office/drawing/2014/main" id="{854C19C3-02FC-7F80-CA70-DDC3FFCC2BE4}"/>
              </a:ext>
            </a:extLst>
          </p:cNvPr>
          <p:cNvSpPr txBox="1"/>
          <p:nvPr/>
        </p:nvSpPr>
        <p:spPr>
          <a:xfrm>
            <a:off x="717218" y="3685600"/>
            <a:ext cx="6690985" cy="600164"/>
          </a:xfrm>
          <a:prstGeom prst="rect">
            <a:avLst/>
          </a:prstGeom>
          <a:noFill/>
        </p:spPr>
        <p:txBody>
          <a:bodyPr wrap="square" rtlCol="0">
            <a:spAutoFit/>
          </a:bodyPr>
          <a:lstStyle/>
          <a:p>
            <a:r>
              <a:rPr lang="en-GB" sz="1100" dirty="0"/>
              <a:t>Grainger Portal (Codification) will </a:t>
            </a:r>
            <a:r>
              <a:rPr lang="en-IN" sz="1100" dirty="0"/>
              <a:t>load tenant portal in </a:t>
            </a:r>
            <a:r>
              <a:rPr lang="en-IN" sz="1100" dirty="0" err="1"/>
              <a:t>iframe</a:t>
            </a:r>
            <a:r>
              <a:rPr lang="en-IN" sz="1100" dirty="0"/>
              <a:t> using token return by auth server.</a:t>
            </a:r>
          </a:p>
          <a:p>
            <a:r>
              <a:rPr lang="en-IN" sz="1100" dirty="0"/>
              <a:t>(</a:t>
            </a:r>
            <a:r>
              <a:rPr lang="en-IN" sz="1100" dirty="0">
                <a:hlinkClick r:id="rId4" tooltip="https://preprod-tenant.letalliance.dev/externalreference">
                  <a:extLst>
                    <a:ext uri="{A12FA001-AC4F-418D-AE19-62706E023703}">
                      <ahyp:hlinkClr xmlns:ahyp="http://schemas.microsoft.com/office/drawing/2018/hyperlinkcolor" val="tx"/>
                    </a:ext>
                  </a:extLst>
                </a:hlinkClick>
              </a:rPr>
              <a:t>https://preprod-tenant.letalliance.dev/externalreference</a:t>
            </a:r>
            <a:r>
              <a:rPr lang="en-IN" sz="1100" dirty="0"/>
              <a:t>)</a:t>
            </a:r>
            <a:endParaRPr lang="en-GB" sz="1100" dirty="0"/>
          </a:p>
          <a:p>
            <a:endParaRPr lang="en-GB" sz="1100" b="1" dirty="0"/>
          </a:p>
        </p:txBody>
      </p:sp>
    </p:spTree>
    <p:extLst>
      <p:ext uri="{BB962C8B-B14F-4D97-AF65-F5344CB8AC3E}">
        <p14:creationId xmlns:p14="http://schemas.microsoft.com/office/powerpoint/2010/main" val="26022880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F14FA80-2BA9-457A-FA25-B93C3A01FA28}"/>
              </a:ext>
            </a:extLst>
          </p:cNvPr>
          <p:cNvSpPr/>
          <p:nvPr/>
        </p:nvSpPr>
        <p:spPr>
          <a:xfrm>
            <a:off x="0" y="6698746"/>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50F25BA2-BB5D-4D3B-0601-2BB13AD968D4}"/>
              </a:ext>
            </a:extLst>
          </p:cNvPr>
          <p:cNvSpPr/>
          <p:nvPr/>
        </p:nvSpPr>
        <p:spPr>
          <a:xfrm>
            <a:off x="0" y="-2862"/>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5BE7F990-D417-5CB5-0847-7A9E4F860586}"/>
              </a:ext>
            </a:extLst>
          </p:cNvPr>
          <p:cNvSpPr txBox="1"/>
          <p:nvPr/>
        </p:nvSpPr>
        <p:spPr>
          <a:xfrm>
            <a:off x="121920" y="262537"/>
            <a:ext cx="4179147" cy="1200329"/>
          </a:xfrm>
          <a:prstGeom prst="rect">
            <a:avLst/>
          </a:prstGeom>
          <a:noFill/>
        </p:spPr>
        <p:txBody>
          <a:bodyPr wrap="square" rtlCol="0">
            <a:spAutoFit/>
          </a:bodyPr>
          <a:lstStyle/>
          <a:p>
            <a:r>
              <a:rPr lang="en-GB" sz="2400" b="1" dirty="0"/>
              <a:t>12. Vision+ updates Grainger on reference Status change</a:t>
            </a:r>
          </a:p>
          <a:p>
            <a:endParaRPr lang="en-GB" sz="2400" b="1" dirty="0"/>
          </a:p>
        </p:txBody>
      </p:sp>
      <p:sp>
        <p:nvSpPr>
          <p:cNvPr id="6" name="Rectangle 5">
            <a:extLst>
              <a:ext uri="{FF2B5EF4-FFF2-40B4-BE49-F238E27FC236}">
                <a16:creationId xmlns:a16="http://schemas.microsoft.com/office/drawing/2014/main" id="{891E98C1-FEDD-DA87-1F1A-497C7B79F44E}"/>
              </a:ext>
            </a:extLst>
          </p:cNvPr>
          <p:cNvSpPr/>
          <p:nvPr/>
        </p:nvSpPr>
        <p:spPr>
          <a:xfrm>
            <a:off x="8213749" y="449239"/>
            <a:ext cx="787399" cy="4616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t>Vision+ API</a:t>
            </a:r>
          </a:p>
        </p:txBody>
      </p:sp>
      <p:sp>
        <p:nvSpPr>
          <p:cNvPr id="7" name="Rectangle 6">
            <a:extLst>
              <a:ext uri="{FF2B5EF4-FFF2-40B4-BE49-F238E27FC236}">
                <a16:creationId xmlns:a16="http://schemas.microsoft.com/office/drawing/2014/main" id="{A6BE94CC-7C1A-58AE-4B18-13975E4EDF75}"/>
              </a:ext>
            </a:extLst>
          </p:cNvPr>
          <p:cNvSpPr/>
          <p:nvPr/>
        </p:nvSpPr>
        <p:spPr>
          <a:xfrm>
            <a:off x="6102641" y="445004"/>
            <a:ext cx="766474" cy="461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t>Grainger Salesforce</a:t>
            </a:r>
          </a:p>
        </p:txBody>
      </p:sp>
      <p:sp>
        <p:nvSpPr>
          <p:cNvPr id="10" name="TextBox 9">
            <a:extLst>
              <a:ext uri="{FF2B5EF4-FFF2-40B4-BE49-F238E27FC236}">
                <a16:creationId xmlns:a16="http://schemas.microsoft.com/office/drawing/2014/main" id="{1153242C-4DCE-DECB-1D73-C17E8F720BFC}"/>
              </a:ext>
            </a:extLst>
          </p:cNvPr>
          <p:cNvSpPr txBox="1"/>
          <p:nvPr/>
        </p:nvSpPr>
        <p:spPr>
          <a:xfrm>
            <a:off x="7062216" y="258090"/>
            <a:ext cx="1151533" cy="584775"/>
          </a:xfrm>
          <a:prstGeom prst="rect">
            <a:avLst/>
          </a:prstGeom>
          <a:noFill/>
        </p:spPr>
        <p:txBody>
          <a:bodyPr wrap="square" rtlCol="0">
            <a:spAutoFit/>
          </a:bodyPr>
          <a:lstStyle/>
          <a:p>
            <a:r>
              <a:rPr lang="en-GB" sz="800" b="1" dirty="0"/>
              <a:t>3. Vision+ updates Grainger on reference Status change</a:t>
            </a:r>
          </a:p>
          <a:p>
            <a:endParaRPr lang="en-GB" sz="800" b="1" dirty="0"/>
          </a:p>
        </p:txBody>
      </p:sp>
      <p:cxnSp>
        <p:nvCxnSpPr>
          <p:cNvPr id="12" name="Straight Arrow Connector 11">
            <a:extLst>
              <a:ext uri="{FF2B5EF4-FFF2-40B4-BE49-F238E27FC236}">
                <a16:creationId xmlns:a16="http://schemas.microsoft.com/office/drawing/2014/main" id="{4263023F-7EAE-2204-2286-921790ED6C0E}"/>
              </a:ext>
            </a:extLst>
          </p:cNvPr>
          <p:cNvCxnSpPr>
            <a:cxnSpLocks/>
          </p:cNvCxnSpPr>
          <p:nvPr/>
        </p:nvCxnSpPr>
        <p:spPr>
          <a:xfrm flipH="1">
            <a:off x="6869115" y="709199"/>
            <a:ext cx="1344634"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pic>
        <p:nvPicPr>
          <p:cNvPr id="27" name="Picture 26">
            <a:extLst>
              <a:ext uri="{FF2B5EF4-FFF2-40B4-BE49-F238E27FC236}">
                <a16:creationId xmlns:a16="http://schemas.microsoft.com/office/drawing/2014/main" id="{15C8991A-64FA-1224-D056-77A61992F359}"/>
              </a:ext>
            </a:extLst>
          </p:cNvPr>
          <p:cNvPicPr>
            <a:picLocks noChangeAspect="1"/>
          </p:cNvPicPr>
          <p:nvPr/>
        </p:nvPicPr>
        <p:blipFill>
          <a:blip r:embed="rId3"/>
          <a:stretch>
            <a:fillRect/>
          </a:stretch>
        </p:blipFill>
        <p:spPr>
          <a:xfrm>
            <a:off x="6883942" y="8091882"/>
            <a:ext cx="2706220" cy="1338941"/>
          </a:xfrm>
          <a:prstGeom prst="rect">
            <a:avLst/>
          </a:prstGeom>
        </p:spPr>
      </p:pic>
      <p:pic>
        <p:nvPicPr>
          <p:cNvPr id="1026" name="Picture 2">
            <a:extLst>
              <a:ext uri="{FF2B5EF4-FFF2-40B4-BE49-F238E27FC236}">
                <a16:creationId xmlns:a16="http://schemas.microsoft.com/office/drawing/2014/main" id="{9EFB5BC1-1BC8-5A4E-504D-D670571C92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8033" y="3634340"/>
            <a:ext cx="4998516" cy="3034689"/>
          </a:xfrm>
          <a:prstGeom prst="rect">
            <a:avLst/>
          </a:prstGeom>
          <a:noFill/>
          <a:extLst>
            <a:ext uri="{909E8E84-426E-40DD-AFC4-6F175D3DCCD1}">
              <a14:hiddenFill xmlns:a14="http://schemas.microsoft.com/office/drawing/2010/main">
                <a:solidFill>
                  <a:srgbClr val="FFFFFF"/>
                </a:solidFill>
              </a14:hiddenFill>
            </a:ext>
          </a:extLst>
        </p:spPr>
      </p:pic>
      <p:sp>
        <p:nvSpPr>
          <p:cNvPr id="52" name="TextBox 51">
            <a:extLst>
              <a:ext uri="{FF2B5EF4-FFF2-40B4-BE49-F238E27FC236}">
                <a16:creationId xmlns:a16="http://schemas.microsoft.com/office/drawing/2014/main" id="{DEABDC38-B40C-D6A9-AC0E-5426C97632BC}"/>
              </a:ext>
            </a:extLst>
          </p:cNvPr>
          <p:cNvSpPr txBox="1"/>
          <p:nvPr/>
        </p:nvSpPr>
        <p:spPr>
          <a:xfrm>
            <a:off x="398033" y="1355464"/>
            <a:ext cx="8477026" cy="2492990"/>
          </a:xfrm>
          <a:prstGeom prst="rect">
            <a:avLst/>
          </a:prstGeom>
          <a:noFill/>
        </p:spPr>
        <p:txBody>
          <a:bodyPr wrap="square" rtlCol="0">
            <a:spAutoFit/>
          </a:bodyPr>
          <a:lstStyle/>
          <a:p>
            <a:r>
              <a:rPr lang="en-US" sz="1200" dirty="0" err="1">
                <a:solidFill>
                  <a:schemeClr val="accent6"/>
                </a:solidFill>
              </a:rPr>
              <a:t>HomeLet</a:t>
            </a:r>
            <a:r>
              <a:rPr lang="en-US" sz="1200" dirty="0">
                <a:solidFill>
                  <a:schemeClr val="accent6"/>
                </a:solidFill>
              </a:rPr>
              <a:t> to call in to Salesforce using the composite API, using </a:t>
            </a:r>
            <a:r>
              <a:rPr lang="en-US" sz="1200" dirty="0" err="1">
                <a:solidFill>
                  <a:schemeClr val="accent6"/>
                </a:solidFill>
              </a:rPr>
              <a:t>propertyTenancyId</a:t>
            </a:r>
            <a:r>
              <a:rPr lang="en-US" sz="1200" dirty="0">
                <a:solidFill>
                  <a:schemeClr val="accent6"/>
                </a:solidFill>
              </a:rPr>
              <a:t> and </a:t>
            </a:r>
            <a:r>
              <a:rPr lang="en-US" sz="1200" dirty="0" err="1">
                <a:solidFill>
                  <a:schemeClr val="accent6"/>
                </a:solidFill>
              </a:rPr>
              <a:t>applicantId</a:t>
            </a:r>
            <a:r>
              <a:rPr lang="en-US" sz="1200" dirty="0">
                <a:solidFill>
                  <a:schemeClr val="accent6"/>
                </a:solidFill>
              </a:rPr>
              <a:t> to identify the record in Salesforce.  </a:t>
            </a:r>
          </a:p>
          <a:p>
            <a:endParaRPr lang="en-US" sz="1200" dirty="0">
              <a:solidFill>
                <a:schemeClr val="accent6"/>
              </a:solidFill>
            </a:endParaRPr>
          </a:p>
          <a:p>
            <a:r>
              <a:rPr lang="en-US" sz="1200" dirty="0">
                <a:solidFill>
                  <a:schemeClr val="accent6"/>
                </a:solidFill>
              </a:rPr>
              <a:t>Open Box to support integration delivery by providing details with Postman collection covering:</a:t>
            </a:r>
          </a:p>
          <a:p>
            <a:pPr marL="171450" indent="-171450">
              <a:buFont typeface="Arial" panose="020B0604020202020204" pitchFamily="34" charset="0"/>
              <a:buChar char="•"/>
            </a:pPr>
            <a:r>
              <a:rPr lang="en-US" sz="1200" dirty="0">
                <a:solidFill>
                  <a:schemeClr val="accent6"/>
                </a:solidFill>
              </a:rPr>
              <a:t>authorize -&gt; Bearer token</a:t>
            </a:r>
          </a:p>
          <a:p>
            <a:pPr marL="171450" indent="-171450">
              <a:buFont typeface="Arial" panose="020B0604020202020204" pitchFamily="34" charset="0"/>
              <a:buChar char="•"/>
            </a:pPr>
            <a:r>
              <a:rPr lang="en-US" sz="1200" dirty="0">
                <a:solidFill>
                  <a:schemeClr val="accent6"/>
                </a:solidFill>
              </a:rPr>
              <a:t>POST -&gt; </a:t>
            </a:r>
            <a:r>
              <a:rPr lang="en-US" sz="1200" dirty="0" err="1">
                <a:solidFill>
                  <a:schemeClr val="accent6"/>
                </a:solidFill>
              </a:rPr>
              <a:t>OpportunityContactRole</a:t>
            </a:r>
            <a:r>
              <a:rPr lang="en-US" sz="1200" dirty="0">
                <a:solidFill>
                  <a:schemeClr val="accent6"/>
                </a:solidFill>
              </a:rPr>
              <a:t> &amp; Contact</a:t>
            </a:r>
          </a:p>
          <a:p>
            <a:pPr marL="628650" lvl="1" indent="-171450">
              <a:buFont typeface="Arial" panose="020B0604020202020204" pitchFamily="34" charset="0"/>
              <a:buChar char="•"/>
            </a:pPr>
            <a:r>
              <a:rPr lang="en-US" sz="1200" dirty="0">
                <a:solidFill>
                  <a:schemeClr val="accent6"/>
                </a:solidFill>
              </a:rPr>
              <a:t>Applicant’s ‘Current Address’ to be returned (on Contact / Person Account) </a:t>
            </a:r>
          </a:p>
          <a:p>
            <a:pPr marL="1085850" lvl="2" indent="-171450">
              <a:buFont typeface="Arial" panose="020B0604020202020204" pitchFamily="34" charset="0"/>
              <a:buChar char="•"/>
            </a:pPr>
            <a:r>
              <a:rPr lang="en-US" sz="1200" dirty="0" err="1">
                <a:solidFill>
                  <a:schemeClr val="accent6"/>
                </a:solidFill>
              </a:rPr>
              <a:t>Contact.MailingStreet</a:t>
            </a:r>
            <a:r>
              <a:rPr lang="en-US" sz="1200" dirty="0">
                <a:solidFill>
                  <a:schemeClr val="accent6"/>
                </a:solidFill>
              </a:rPr>
              <a:t>, </a:t>
            </a:r>
            <a:r>
              <a:rPr lang="en-US" sz="1200" dirty="0" err="1">
                <a:solidFill>
                  <a:schemeClr val="accent6"/>
                </a:solidFill>
              </a:rPr>
              <a:t>Contact.MailingCity</a:t>
            </a:r>
            <a:r>
              <a:rPr lang="en-US" sz="1200" dirty="0">
                <a:solidFill>
                  <a:schemeClr val="accent6"/>
                </a:solidFill>
              </a:rPr>
              <a:t>, </a:t>
            </a:r>
            <a:r>
              <a:rPr lang="en-US" sz="1200" dirty="0" err="1">
                <a:solidFill>
                  <a:schemeClr val="accent6"/>
                </a:solidFill>
              </a:rPr>
              <a:t>Contact.MailingState</a:t>
            </a:r>
            <a:r>
              <a:rPr lang="en-US" sz="1200" dirty="0">
                <a:solidFill>
                  <a:schemeClr val="accent6"/>
                </a:solidFill>
              </a:rPr>
              <a:t>, </a:t>
            </a:r>
            <a:r>
              <a:rPr lang="en-US" sz="1200" dirty="0" err="1">
                <a:solidFill>
                  <a:schemeClr val="accent6"/>
                </a:solidFill>
              </a:rPr>
              <a:t>Contact.MailingPostalCode</a:t>
            </a:r>
            <a:r>
              <a:rPr lang="en-US" sz="1200" dirty="0">
                <a:solidFill>
                  <a:schemeClr val="accent6"/>
                </a:solidFill>
              </a:rPr>
              <a:t>, </a:t>
            </a:r>
            <a:r>
              <a:rPr lang="en-US" sz="1200" dirty="0" err="1">
                <a:solidFill>
                  <a:schemeClr val="accent6"/>
                </a:solidFill>
              </a:rPr>
              <a:t>Contact.MailingCountry</a:t>
            </a:r>
            <a:endParaRPr lang="en-US" sz="1200" dirty="0">
              <a:solidFill>
                <a:schemeClr val="accent6"/>
              </a:solidFill>
            </a:endParaRPr>
          </a:p>
          <a:p>
            <a:pPr marL="628650" lvl="1" indent="-171450">
              <a:buFont typeface="Arial" panose="020B0604020202020204" pitchFamily="34" charset="0"/>
              <a:buChar char="•"/>
            </a:pPr>
            <a:r>
              <a:rPr lang="en-US" sz="1200" dirty="0">
                <a:solidFill>
                  <a:schemeClr val="accent6"/>
                </a:solidFill>
              </a:rPr>
              <a:t>Applicant’s ‘Outcome Status’ and ‘Referencing Status’ to be returned (near real time)</a:t>
            </a:r>
          </a:p>
          <a:p>
            <a:pPr marL="1085850" lvl="2" indent="-171450">
              <a:buFont typeface="Arial" panose="020B0604020202020204" pitchFamily="34" charset="0"/>
              <a:buChar char="•"/>
            </a:pPr>
            <a:r>
              <a:rPr lang="en-US" sz="1200" dirty="0" err="1">
                <a:solidFill>
                  <a:schemeClr val="accent6"/>
                </a:solidFill>
              </a:rPr>
              <a:t>OpportunityContactRole.Reference_Check_Status__c</a:t>
            </a:r>
            <a:r>
              <a:rPr lang="en-US" sz="1200" dirty="0">
                <a:solidFill>
                  <a:schemeClr val="accent6"/>
                </a:solidFill>
              </a:rPr>
              <a:t>​ (Picklist):</a:t>
            </a:r>
          </a:p>
          <a:p>
            <a:pPr marL="1543050" lvl="3" indent="-171450">
              <a:buFont typeface="Arial" panose="020B0604020202020204" pitchFamily="34" charset="0"/>
              <a:buChar char="•"/>
            </a:pPr>
            <a:r>
              <a:rPr lang="en-US" sz="1200" dirty="0">
                <a:solidFill>
                  <a:schemeClr val="accent6"/>
                </a:solidFill>
              </a:rPr>
              <a:t>Incomplete / Awaiting Details / In Progress / Complete / Approve / Awaiting Review / Deleted</a:t>
            </a:r>
          </a:p>
          <a:p>
            <a:pPr marL="1085850" lvl="2" indent="-171450">
              <a:buFont typeface="Arial" panose="020B0604020202020204" pitchFamily="34" charset="0"/>
              <a:buChar char="•"/>
            </a:pPr>
            <a:r>
              <a:rPr lang="en-US" sz="1200" dirty="0" err="1">
                <a:solidFill>
                  <a:schemeClr val="accent6"/>
                </a:solidFill>
              </a:rPr>
              <a:t>OpportunityContactRole.Referencing_Outcome__c</a:t>
            </a:r>
            <a:r>
              <a:rPr lang="en-US" sz="1200" dirty="0">
                <a:solidFill>
                  <a:schemeClr val="accent6"/>
                </a:solidFill>
              </a:rPr>
              <a:t> (Picklist):</a:t>
            </a:r>
          </a:p>
          <a:p>
            <a:pPr marL="1543050" lvl="3" indent="-171450">
              <a:buFont typeface="Arial" panose="020B0604020202020204" pitchFamily="34" charset="0"/>
              <a:buChar char="•"/>
            </a:pPr>
            <a:r>
              <a:rPr lang="en-US" sz="1200" dirty="0">
                <a:solidFill>
                  <a:schemeClr val="accent6"/>
                </a:solidFill>
              </a:rPr>
              <a:t>Acceptable / Guarantor Required / Incomplete / Not Acceptable</a:t>
            </a:r>
          </a:p>
        </p:txBody>
      </p:sp>
    </p:spTree>
    <p:extLst>
      <p:ext uri="{BB962C8B-B14F-4D97-AF65-F5344CB8AC3E}">
        <p14:creationId xmlns:p14="http://schemas.microsoft.com/office/powerpoint/2010/main" val="4222780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F14FA80-2BA9-457A-FA25-B93C3A01FA28}"/>
              </a:ext>
            </a:extLst>
          </p:cNvPr>
          <p:cNvSpPr/>
          <p:nvPr/>
        </p:nvSpPr>
        <p:spPr>
          <a:xfrm>
            <a:off x="0" y="6698746"/>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50F25BA2-BB5D-4D3B-0601-2BB13AD968D4}"/>
              </a:ext>
            </a:extLst>
          </p:cNvPr>
          <p:cNvSpPr/>
          <p:nvPr/>
        </p:nvSpPr>
        <p:spPr>
          <a:xfrm>
            <a:off x="0" y="-2862"/>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5BE7F990-D417-5CB5-0847-7A9E4F860586}"/>
              </a:ext>
            </a:extLst>
          </p:cNvPr>
          <p:cNvSpPr txBox="1"/>
          <p:nvPr/>
        </p:nvSpPr>
        <p:spPr>
          <a:xfrm>
            <a:off x="121920" y="262537"/>
            <a:ext cx="4179147" cy="1200329"/>
          </a:xfrm>
          <a:prstGeom prst="rect">
            <a:avLst/>
          </a:prstGeom>
          <a:noFill/>
        </p:spPr>
        <p:txBody>
          <a:bodyPr wrap="square" rtlCol="0">
            <a:spAutoFit/>
          </a:bodyPr>
          <a:lstStyle/>
          <a:p>
            <a:r>
              <a:rPr lang="en-GB" sz="2400" b="1" dirty="0"/>
              <a:t>12. Vision+ updates Grainger on reference Status change</a:t>
            </a:r>
          </a:p>
          <a:p>
            <a:endParaRPr lang="en-GB" sz="2400" b="1" dirty="0"/>
          </a:p>
        </p:txBody>
      </p:sp>
      <p:sp>
        <p:nvSpPr>
          <p:cNvPr id="6" name="Rectangle 5">
            <a:extLst>
              <a:ext uri="{FF2B5EF4-FFF2-40B4-BE49-F238E27FC236}">
                <a16:creationId xmlns:a16="http://schemas.microsoft.com/office/drawing/2014/main" id="{891E98C1-FEDD-DA87-1F1A-497C7B79F44E}"/>
              </a:ext>
            </a:extLst>
          </p:cNvPr>
          <p:cNvSpPr/>
          <p:nvPr/>
        </p:nvSpPr>
        <p:spPr>
          <a:xfrm>
            <a:off x="8213749" y="449239"/>
            <a:ext cx="787399" cy="4616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t>Vision+ API</a:t>
            </a:r>
          </a:p>
        </p:txBody>
      </p:sp>
      <p:sp>
        <p:nvSpPr>
          <p:cNvPr id="7" name="Rectangle 6">
            <a:extLst>
              <a:ext uri="{FF2B5EF4-FFF2-40B4-BE49-F238E27FC236}">
                <a16:creationId xmlns:a16="http://schemas.microsoft.com/office/drawing/2014/main" id="{A6BE94CC-7C1A-58AE-4B18-13975E4EDF75}"/>
              </a:ext>
            </a:extLst>
          </p:cNvPr>
          <p:cNvSpPr/>
          <p:nvPr/>
        </p:nvSpPr>
        <p:spPr>
          <a:xfrm>
            <a:off x="6102641" y="445004"/>
            <a:ext cx="766474" cy="461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t>Grainger Salesforce</a:t>
            </a:r>
          </a:p>
        </p:txBody>
      </p:sp>
      <p:sp>
        <p:nvSpPr>
          <p:cNvPr id="10" name="TextBox 9">
            <a:extLst>
              <a:ext uri="{FF2B5EF4-FFF2-40B4-BE49-F238E27FC236}">
                <a16:creationId xmlns:a16="http://schemas.microsoft.com/office/drawing/2014/main" id="{1153242C-4DCE-DECB-1D73-C17E8F720BFC}"/>
              </a:ext>
            </a:extLst>
          </p:cNvPr>
          <p:cNvSpPr txBox="1"/>
          <p:nvPr/>
        </p:nvSpPr>
        <p:spPr>
          <a:xfrm>
            <a:off x="7062216" y="258090"/>
            <a:ext cx="1151533" cy="584775"/>
          </a:xfrm>
          <a:prstGeom prst="rect">
            <a:avLst/>
          </a:prstGeom>
          <a:noFill/>
        </p:spPr>
        <p:txBody>
          <a:bodyPr wrap="square" rtlCol="0">
            <a:spAutoFit/>
          </a:bodyPr>
          <a:lstStyle/>
          <a:p>
            <a:r>
              <a:rPr lang="en-GB" sz="800" b="1" dirty="0"/>
              <a:t>3. Vision+ updates Grainger on reference Status change</a:t>
            </a:r>
          </a:p>
          <a:p>
            <a:endParaRPr lang="en-GB" sz="800" b="1" dirty="0"/>
          </a:p>
        </p:txBody>
      </p:sp>
      <p:cxnSp>
        <p:nvCxnSpPr>
          <p:cNvPr id="12" name="Straight Arrow Connector 11">
            <a:extLst>
              <a:ext uri="{FF2B5EF4-FFF2-40B4-BE49-F238E27FC236}">
                <a16:creationId xmlns:a16="http://schemas.microsoft.com/office/drawing/2014/main" id="{4263023F-7EAE-2204-2286-921790ED6C0E}"/>
              </a:ext>
            </a:extLst>
          </p:cNvPr>
          <p:cNvCxnSpPr>
            <a:cxnSpLocks/>
          </p:cNvCxnSpPr>
          <p:nvPr/>
        </p:nvCxnSpPr>
        <p:spPr>
          <a:xfrm flipH="1">
            <a:off x="6869115" y="709199"/>
            <a:ext cx="1344634"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pic>
        <p:nvPicPr>
          <p:cNvPr id="27" name="Picture 26">
            <a:extLst>
              <a:ext uri="{FF2B5EF4-FFF2-40B4-BE49-F238E27FC236}">
                <a16:creationId xmlns:a16="http://schemas.microsoft.com/office/drawing/2014/main" id="{15C8991A-64FA-1224-D056-77A61992F359}"/>
              </a:ext>
            </a:extLst>
          </p:cNvPr>
          <p:cNvPicPr>
            <a:picLocks noChangeAspect="1"/>
          </p:cNvPicPr>
          <p:nvPr/>
        </p:nvPicPr>
        <p:blipFill>
          <a:blip r:embed="rId3"/>
          <a:stretch>
            <a:fillRect/>
          </a:stretch>
        </p:blipFill>
        <p:spPr>
          <a:xfrm>
            <a:off x="6883942" y="8091882"/>
            <a:ext cx="2706220" cy="1338941"/>
          </a:xfrm>
          <a:prstGeom prst="rect">
            <a:avLst/>
          </a:prstGeom>
        </p:spPr>
      </p:pic>
      <p:pic>
        <p:nvPicPr>
          <p:cNvPr id="11" name="Picture 10">
            <a:extLst>
              <a:ext uri="{FF2B5EF4-FFF2-40B4-BE49-F238E27FC236}">
                <a16:creationId xmlns:a16="http://schemas.microsoft.com/office/drawing/2014/main" id="{13DD439C-9788-4AE1-740A-80F50AD4D9CD}"/>
              </a:ext>
            </a:extLst>
          </p:cNvPr>
          <p:cNvPicPr>
            <a:picLocks noChangeAspect="1"/>
          </p:cNvPicPr>
          <p:nvPr/>
        </p:nvPicPr>
        <p:blipFill>
          <a:blip r:embed="rId4"/>
          <a:stretch>
            <a:fillRect/>
          </a:stretch>
        </p:blipFill>
        <p:spPr>
          <a:xfrm>
            <a:off x="5252115" y="3274977"/>
            <a:ext cx="3730787" cy="2960001"/>
          </a:xfrm>
          <a:prstGeom prst="rect">
            <a:avLst/>
          </a:prstGeom>
          <a:effectLst>
            <a:outerShdw blurRad="50800" dist="38100" dir="2700000" algn="tl" rotWithShape="0">
              <a:prstClr val="black">
                <a:alpha val="40000"/>
              </a:prstClr>
            </a:outerShdw>
          </a:effectLst>
        </p:spPr>
      </p:pic>
      <p:sp>
        <p:nvSpPr>
          <p:cNvPr id="33" name="TextBox 32">
            <a:extLst>
              <a:ext uri="{FF2B5EF4-FFF2-40B4-BE49-F238E27FC236}">
                <a16:creationId xmlns:a16="http://schemas.microsoft.com/office/drawing/2014/main" id="{01B64827-934E-5FAC-056F-4A22F1C56AF4}"/>
              </a:ext>
            </a:extLst>
          </p:cNvPr>
          <p:cNvSpPr txBox="1"/>
          <p:nvPr/>
        </p:nvSpPr>
        <p:spPr>
          <a:xfrm>
            <a:off x="268308" y="3013024"/>
            <a:ext cx="4313382" cy="246221"/>
          </a:xfrm>
          <a:prstGeom prst="rect">
            <a:avLst/>
          </a:prstGeom>
          <a:noFill/>
        </p:spPr>
        <p:txBody>
          <a:bodyPr wrap="square" rtlCol="0">
            <a:spAutoFit/>
          </a:bodyPr>
          <a:lstStyle/>
          <a:p>
            <a:r>
              <a:rPr lang="en-US" sz="1000" dirty="0">
                <a:solidFill>
                  <a:schemeClr val="accent6"/>
                </a:solidFill>
              </a:rPr>
              <a:t>Update </a:t>
            </a:r>
            <a:r>
              <a:rPr lang="en-US" sz="1000" dirty="0" err="1">
                <a:solidFill>
                  <a:schemeClr val="accent6"/>
                </a:solidFill>
              </a:rPr>
              <a:t>OpportunityContactRole</a:t>
            </a:r>
            <a:r>
              <a:rPr lang="en-US" sz="1000" dirty="0">
                <a:solidFill>
                  <a:schemeClr val="accent6"/>
                </a:solidFill>
              </a:rPr>
              <a:t> status and Contact address </a:t>
            </a:r>
          </a:p>
        </p:txBody>
      </p:sp>
      <p:sp>
        <p:nvSpPr>
          <p:cNvPr id="34" name="TextBox 33">
            <a:extLst>
              <a:ext uri="{FF2B5EF4-FFF2-40B4-BE49-F238E27FC236}">
                <a16:creationId xmlns:a16="http://schemas.microsoft.com/office/drawing/2014/main" id="{8908EF66-6CFE-C216-4500-F7AFE3937FEC}"/>
              </a:ext>
            </a:extLst>
          </p:cNvPr>
          <p:cNvSpPr txBox="1"/>
          <p:nvPr/>
        </p:nvSpPr>
        <p:spPr>
          <a:xfrm>
            <a:off x="4696375" y="4634699"/>
            <a:ext cx="657590" cy="246221"/>
          </a:xfrm>
          <a:prstGeom prst="rect">
            <a:avLst/>
          </a:prstGeom>
          <a:noFill/>
        </p:spPr>
        <p:txBody>
          <a:bodyPr wrap="square" rtlCol="0">
            <a:spAutoFit/>
          </a:bodyPr>
          <a:lstStyle/>
          <a:p>
            <a:r>
              <a:rPr lang="en-US" sz="1000" dirty="0">
                <a:solidFill>
                  <a:schemeClr val="accent6"/>
                </a:solidFill>
              </a:rPr>
              <a:t>Returns</a:t>
            </a:r>
          </a:p>
        </p:txBody>
      </p:sp>
      <p:sp>
        <p:nvSpPr>
          <p:cNvPr id="35" name="Right Arrow 34">
            <a:extLst>
              <a:ext uri="{FF2B5EF4-FFF2-40B4-BE49-F238E27FC236}">
                <a16:creationId xmlns:a16="http://schemas.microsoft.com/office/drawing/2014/main" id="{DE4B521D-7A1F-697A-9C31-B70E5CDFACBC}"/>
              </a:ext>
            </a:extLst>
          </p:cNvPr>
          <p:cNvSpPr/>
          <p:nvPr/>
        </p:nvSpPr>
        <p:spPr>
          <a:xfrm>
            <a:off x="4904509" y="4315392"/>
            <a:ext cx="221673" cy="33973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9" name="Group 38">
            <a:extLst>
              <a:ext uri="{FF2B5EF4-FFF2-40B4-BE49-F238E27FC236}">
                <a16:creationId xmlns:a16="http://schemas.microsoft.com/office/drawing/2014/main" id="{B2AC5690-F5E6-1504-2233-990DCAF92282}"/>
              </a:ext>
            </a:extLst>
          </p:cNvPr>
          <p:cNvGrpSpPr/>
          <p:nvPr/>
        </p:nvGrpSpPr>
        <p:grpSpPr>
          <a:xfrm>
            <a:off x="341789" y="3194166"/>
            <a:ext cx="4304987" cy="3341184"/>
            <a:chOff x="341789" y="3194166"/>
            <a:chExt cx="4304987" cy="3341184"/>
          </a:xfrm>
          <a:effectLst>
            <a:outerShdw blurRad="50800" dist="38100" dir="2700000" algn="tl" rotWithShape="0">
              <a:prstClr val="black">
                <a:alpha val="40000"/>
              </a:prstClr>
            </a:outerShdw>
          </a:effectLst>
        </p:grpSpPr>
        <p:pic>
          <p:nvPicPr>
            <p:cNvPr id="3" name="Picture 2">
              <a:extLst>
                <a:ext uri="{FF2B5EF4-FFF2-40B4-BE49-F238E27FC236}">
                  <a16:creationId xmlns:a16="http://schemas.microsoft.com/office/drawing/2014/main" id="{62792899-9D26-8467-3C88-EE7EC2359F52}"/>
                </a:ext>
              </a:extLst>
            </p:cNvPr>
            <p:cNvPicPr>
              <a:picLocks noChangeAspect="1"/>
            </p:cNvPicPr>
            <p:nvPr/>
          </p:nvPicPr>
          <p:blipFill>
            <a:blip r:embed="rId5"/>
            <a:stretch>
              <a:fillRect/>
            </a:stretch>
          </p:blipFill>
          <p:spPr>
            <a:xfrm>
              <a:off x="341789" y="3194166"/>
              <a:ext cx="4304987" cy="3341184"/>
            </a:xfrm>
            <a:prstGeom prst="rect">
              <a:avLst/>
            </a:prstGeom>
          </p:spPr>
        </p:pic>
        <p:sp>
          <p:nvSpPr>
            <p:cNvPr id="8" name="Rectangle 7">
              <a:extLst>
                <a:ext uri="{FF2B5EF4-FFF2-40B4-BE49-F238E27FC236}">
                  <a16:creationId xmlns:a16="http://schemas.microsoft.com/office/drawing/2014/main" id="{48E43F3B-D3B9-A837-3615-4D2E73ACA305}"/>
                </a:ext>
              </a:extLst>
            </p:cNvPr>
            <p:cNvSpPr/>
            <p:nvPr/>
          </p:nvSpPr>
          <p:spPr>
            <a:xfrm>
              <a:off x="2114210" y="4315392"/>
              <a:ext cx="233491" cy="102577"/>
            </a:xfrm>
            <a:prstGeom prst="rect">
              <a:avLst/>
            </a:prstGeom>
            <a:solidFill>
              <a:srgbClr val="FFFF00">
                <a:alpha val="32941"/>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76FE372-D3C9-2CC3-50B7-2B1924CA3FBF}"/>
                </a:ext>
              </a:extLst>
            </p:cNvPr>
            <p:cNvSpPr/>
            <p:nvPr/>
          </p:nvSpPr>
          <p:spPr>
            <a:xfrm>
              <a:off x="2294498" y="4417969"/>
              <a:ext cx="261002" cy="102577"/>
            </a:xfrm>
            <a:prstGeom prst="rect">
              <a:avLst/>
            </a:prstGeom>
            <a:solidFill>
              <a:srgbClr val="FFFF00">
                <a:alpha val="32941"/>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F4E0F61-CABA-9BB0-8DEB-34AFD5A96EE3}"/>
                </a:ext>
              </a:extLst>
            </p:cNvPr>
            <p:cNvSpPr/>
            <p:nvPr/>
          </p:nvSpPr>
          <p:spPr>
            <a:xfrm>
              <a:off x="2079819" y="5021220"/>
              <a:ext cx="298159" cy="102577"/>
            </a:xfrm>
            <a:prstGeom prst="rect">
              <a:avLst/>
            </a:prstGeom>
            <a:solidFill>
              <a:srgbClr val="FFFF00">
                <a:alpha val="32941"/>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9D2E25A-1DCA-B45E-25BD-AD65C2B7AEEC}"/>
                </a:ext>
              </a:extLst>
            </p:cNvPr>
            <p:cNvSpPr/>
            <p:nvPr/>
          </p:nvSpPr>
          <p:spPr>
            <a:xfrm>
              <a:off x="1967895" y="5134264"/>
              <a:ext cx="507217" cy="102577"/>
            </a:xfrm>
            <a:prstGeom prst="rect">
              <a:avLst/>
            </a:prstGeom>
            <a:solidFill>
              <a:srgbClr val="FFFF00">
                <a:alpha val="32941"/>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BED96AFD-46F0-31A6-E98B-5B529102D999}"/>
                </a:ext>
              </a:extLst>
            </p:cNvPr>
            <p:cNvSpPr/>
            <p:nvPr/>
          </p:nvSpPr>
          <p:spPr>
            <a:xfrm>
              <a:off x="1564398" y="5743199"/>
              <a:ext cx="261002" cy="102577"/>
            </a:xfrm>
            <a:prstGeom prst="rect">
              <a:avLst/>
            </a:prstGeom>
            <a:solidFill>
              <a:srgbClr val="FFFF00">
                <a:alpha val="32941"/>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F0F5584-8EA3-4DE2-B44A-73B165407144}"/>
                </a:ext>
              </a:extLst>
            </p:cNvPr>
            <p:cNvSpPr/>
            <p:nvPr/>
          </p:nvSpPr>
          <p:spPr>
            <a:xfrm>
              <a:off x="1627941" y="5845776"/>
              <a:ext cx="261002" cy="102577"/>
            </a:xfrm>
            <a:prstGeom prst="rect">
              <a:avLst/>
            </a:prstGeom>
            <a:solidFill>
              <a:srgbClr val="FFFF00">
                <a:alpha val="32941"/>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59CFDAB-40CE-0595-D375-D9421141AD4B}"/>
                </a:ext>
              </a:extLst>
            </p:cNvPr>
            <p:cNvSpPr/>
            <p:nvPr/>
          </p:nvSpPr>
          <p:spPr>
            <a:xfrm>
              <a:off x="1721206" y="5948353"/>
              <a:ext cx="261002" cy="77353"/>
            </a:xfrm>
            <a:prstGeom prst="rect">
              <a:avLst/>
            </a:prstGeom>
            <a:solidFill>
              <a:srgbClr val="FFFF00">
                <a:alpha val="32941"/>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039FF07-4ED3-6FC4-1FD3-9AE4CDCF6B62}"/>
                </a:ext>
              </a:extLst>
            </p:cNvPr>
            <p:cNvSpPr/>
            <p:nvPr/>
          </p:nvSpPr>
          <p:spPr>
            <a:xfrm>
              <a:off x="1627941" y="6025706"/>
              <a:ext cx="602662" cy="98017"/>
            </a:xfrm>
            <a:prstGeom prst="rect">
              <a:avLst/>
            </a:prstGeom>
            <a:solidFill>
              <a:srgbClr val="FFFF00">
                <a:alpha val="32941"/>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B4B4B311-7E17-BD0A-3785-E2AB57DC9C53}"/>
                </a:ext>
              </a:extLst>
            </p:cNvPr>
            <p:cNvSpPr/>
            <p:nvPr/>
          </p:nvSpPr>
          <p:spPr>
            <a:xfrm>
              <a:off x="1627941" y="6123916"/>
              <a:ext cx="602662" cy="98017"/>
            </a:xfrm>
            <a:prstGeom prst="rect">
              <a:avLst/>
            </a:prstGeom>
            <a:solidFill>
              <a:srgbClr val="FFFF00">
                <a:alpha val="32941"/>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ular Callout 8">
              <a:extLst>
                <a:ext uri="{FF2B5EF4-FFF2-40B4-BE49-F238E27FC236}">
                  <a16:creationId xmlns:a16="http://schemas.microsoft.com/office/drawing/2014/main" id="{57307248-2727-4D04-7F3A-E680541C7B5F}"/>
                </a:ext>
              </a:extLst>
            </p:cNvPr>
            <p:cNvSpPr/>
            <p:nvPr/>
          </p:nvSpPr>
          <p:spPr>
            <a:xfrm>
              <a:off x="2319360" y="3955585"/>
              <a:ext cx="798848" cy="153020"/>
            </a:xfrm>
            <a:prstGeom prst="wedgeRoundRectCallout">
              <a:avLst>
                <a:gd name="adj1" fmla="val -44409"/>
                <a:gd name="adj2" fmla="val 174134"/>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a:t>ApplicantId</a:t>
              </a:r>
              <a:endParaRPr lang="en-US" sz="800" dirty="0"/>
            </a:p>
          </p:txBody>
        </p:sp>
        <p:sp>
          <p:nvSpPr>
            <p:cNvPr id="29" name="Rounded Rectangular Callout 28">
              <a:extLst>
                <a:ext uri="{FF2B5EF4-FFF2-40B4-BE49-F238E27FC236}">
                  <a16:creationId xmlns:a16="http://schemas.microsoft.com/office/drawing/2014/main" id="{01BC4C46-8005-2CF5-4297-50686ED221B0}"/>
                </a:ext>
              </a:extLst>
            </p:cNvPr>
            <p:cNvSpPr/>
            <p:nvPr/>
          </p:nvSpPr>
          <p:spPr>
            <a:xfrm>
              <a:off x="2864399" y="4419972"/>
              <a:ext cx="1057880" cy="153020"/>
            </a:xfrm>
            <a:prstGeom prst="wedgeRoundRectCallout">
              <a:avLst>
                <a:gd name="adj1" fmla="val -77952"/>
                <a:gd name="adj2" fmla="val -14111"/>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a:t>PropertyTenancyId</a:t>
              </a:r>
              <a:endParaRPr lang="en-US" sz="800" dirty="0"/>
            </a:p>
          </p:txBody>
        </p:sp>
        <p:sp>
          <p:nvSpPr>
            <p:cNvPr id="30" name="Rounded Rectangular Callout 29">
              <a:extLst>
                <a:ext uri="{FF2B5EF4-FFF2-40B4-BE49-F238E27FC236}">
                  <a16:creationId xmlns:a16="http://schemas.microsoft.com/office/drawing/2014/main" id="{49699CF1-0122-2518-62BE-279F1C73FE47}"/>
                </a:ext>
              </a:extLst>
            </p:cNvPr>
            <p:cNvSpPr/>
            <p:nvPr/>
          </p:nvSpPr>
          <p:spPr>
            <a:xfrm>
              <a:off x="2685203" y="5003770"/>
              <a:ext cx="1057880" cy="153020"/>
            </a:xfrm>
            <a:prstGeom prst="wedgeRoundRectCallout">
              <a:avLst>
                <a:gd name="adj1" fmla="val -77952"/>
                <a:gd name="adj2" fmla="val -14111"/>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a:t>ReferenceStatus</a:t>
              </a:r>
              <a:endParaRPr lang="en-US" sz="800" dirty="0"/>
            </a:p>
          </p:txBody>
        </p:sp>
        <p:sp>
          <p:nvSpPr>
            <p:cNvPr id="31" name="Rounded Rectangular Callout 30">
              <a:extLst>
                <a:ext uri="{FF2B5EF4-FFF2-40B4-BE49-F238E27FC236}">
                  <a16:creationId xmlns:a16="http://schemas.microsoft.com/office/drawing/2014/main" id="{522764AA-505D-3B47-FDC6-4D5A32B01D6B}"/>
                </a:ext>
              </a:extLst>
            </p:cNvPr>
            <p:cNvSpPr/>
            <p:nvPr/>
          </p:nvSpPr>
          <p:spPr>
            <a:xfrm>
              <a:off x="2685203" y="5238968"/>
              <a:ext cx="1057880" cy="153020"/>
            </a:xfrm>
            <a:prstGeom prst="wedgeRoundRectCallout">
              <a:avLst>
                <a:gd name="adj1" fmla="val -70670"/>
                <a:gd name="adj2" fmla="val -51322"/>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a:t>OutcomeStatus</a:t>
              </a:r>
              <a:endParaRPr lang="en-US" sz="800" dirty="0"/>
            </a:p>
          </p:txBody>
        </p:sp>
        <p:sp>
          <p:nvSpPr>
            <p:cNvPr id="32" name="Rounded Rectangular Callout 31">
              <a:extLst>
                <a:ext uri="{FF2B5EF4-FFF2-40B4-BE49-F238E27FC236}">
                  <a16:creationId xmlns:a16="http://schemas.microsoft.com/office/drawing/2014/main" id="{750E8893-7E36-4E29-3BFA-EE7998BF302C}"/>
                </a:ext>
              </a:extLst>
            </p:cNvPr>
            <p:cNvSpPr/>
            <p:nvPr/>
          </p:nvSpPr>
          <p:spPr>
            <a:xfrm>
              <a:off x="2494282" y="5884314"/>
              <a:ext cx="1057880" cy="226626"/>
            </a:xfrm>
            <a:prstGeom prst="wedgeRoundRectCallout">
              <a:avLst>
                <a:gd name="adj1" fmla="val -70037"/>
                <a:gd name="adj2" fmla="val -698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Contact address details</a:t>
              </a:r>
            </a:p>
          </p:txBody>
        </p:sp>
        <p:sp>
          <p:nvSpPr>
            <p:cNvPr id="37" name="Rectangle 36">
              <a:extLst>
                <a:ext uri="{FF2B5EF4-FFF2-40B4-BE49-F238E27FC236}">
                  <a16:creationId xmlns:a16="http://schemas.microsoft.com/office/drawing/2014/main" id="{CA87DE74-087B-8768-5582-6777EEC20F11}"/>
                </a:ext>
              </a:extLst>
            </p:cNvPr>
            <p:cNvSpPr/>
            <p:nvPr/>
          </p:nvSpPr>
          <p:spPr>
            <a:xfrm>
              <a:off x="1215062" y="3302019"/>
              <a:ext cx="899147" cy="115092"/>
            </a:xfrm>
            <a:prstGeom prst="rect">
              <a:avLst/>
            </a:prstGeom>
            <a:solidFill>
              <a:srgbClr val="FFFF00">
                <a:alpha val="32941"/>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ounded Rectangular Callout 37">
              <a:extLst>
                <a:ext uri="{FF2B5EF4-FFF2-40B4-BE49-F238E27FC236}">
                  <a16:creationId xmlns:a16="http://schemas.microsoft.com/office/drawing/2014/main" id="{49A29C6A-3631-63A6-4C1D-87FADD5A0507}"/>
                </a:ext>
              </a:extLst>
            </p:cNvPr>
            <p:cNvSpPr/>
            <p:nvPr/>
          </p:nvSpPr>
          <p:spPr>
            <a:xfrm>
              <a:off x="2494282" y="3477297"/>
              <a:ext cx="1057880" cy="153020"/>
            </a:xfrm>
            <a:prstGeom prst="wedgeRoundRectCallout">
              <a:avLst>
                <a:gd name="adj1" fmla="val -86013"/>
                <a:gd name="adj2" fmla="val -9151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Instance URL</a:t>
              </a:r>
            </a:p>
          </p:txBody>
        </p:sp>
      </p:grpSp>
      <p:grpSp>
        <p:nvGrpSpPr>
          <p:cNvPr id="2" name="Group 1">
            <a:extLst>
              <a:ext uri="{FF2B5EF4-FFF2-40B4-BE49-F238E27FC236}">
                <a16:creationId xmlns:a16="http://schemas.microsoft.com/office/drawing/2014/main" id="{F1E3702D-1781-81C8-34F2-D36F788E6BE5}"/>
              </a:ext>
            </a:extLst>
          </p:cNvPr>
          <p:cNvGrpSpPr/>
          <p:nvPr/>
        </p:nvGrpSpPr>
        <p:grpSpPr>
          <a:xfrm>
            <a:off x="296733" y="1336215"/>
            <a:ext cx="3899747" cy="1483425"/>
            <a:chOff x="296733" y="1336215"/>
            <a:chExt cx="3899747" cy="1483425"/>
          </a:xfrm>
        </p:grpSpPr>
        <p:pic>
          <p:nvPicPr>
            <p:cNvPr id="36" name="Picture 35">
              <a:extLst>
                <a:ext uri="{FF2B5EF4-FFF2-40B4-BE49-F238E27FC236}">
                  <a16:creationId xmlns:a16="http://schemas.microsoft.com/office/drawing/2014/main" id="{D6EBF34C-3B57-0C17-9D4A-CF85CFD86022}"/>
                </a:ext>
              </a:extLst>
            </p:cNvPr>
            <p:cNvPicPr>
              <a:picLocks noChangeAspect="1"/>
            </p:cNvPicPr>
            <p:nvPr/>
          </p:nvPicPr>
          <p:blipFill>
            <a:blip r:embed="rId6"/>
            <a:stretch>
              <a:fillRect/>
            </a:stretch>
          </p:blipFill>
          <p:spPr>
            <a:xfrm>
              <a:off x="296733" y="1336215"/>
              <a:ext cx="3899747" cy="1467178"/>
            </a:xfrm>
            <a:prstGeom prst="rect">
              <a:avLst/>
            </a:prstGeom>
            <a:effectLst>
              <a:outerShdw blurRad="50800" dist="38100" dir="2700000" algn="tl" rotWithShape="0">
                <a:prstClr val="black">
                  <a:alpha val="40000"/>
                </a:prstClr>
              </a:outerShdw>
            </a:effectLst>
          </p:spPr>
        </p:pic>
        <p:sp>
          <p:nvSpPr>
            <p:cNvPr id="40" name="Rounded Rectangular Callout 39">
              <a:extLst>
                <a:ext uri="{FF2B5EF4-FFF2-40B4-BE49-F238E27FC236}">
                  <a16:creationId xmlns:a16="http://schemas.microsoft.com/office/drawing/2014/main" id="{3B697035-54F5-D8B2-533B-CBADC7C3B18F}"/>
                </a:ext>
              </a:extLst>
            </p:cNvPr>
            <p:cNvSpPr/>
            <p:nvPr/>
          </p:nvSpPr>
          <p:spPr>
            <a:xfrm>
              <a:off x="2691553" y="1649012"/>
              <a:ext cx="1057880" cy="153020"/>
            </a:xfrm>
            <a:prstGeom prst="wedgeRoundRectCallout">
              <a:avLst>
                <a:gd name="adj1" fmla="val -87556"/>
                <a:gd name="adj2" fmla="val -8999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Instance URL</a:t>
              </a:r>
            </a:p>
          </p:txBody>
        </p:sp>
        <p:sp>
          <p:nvSpPr>
            <p:cNvPr id="41" name="Rectangle 40">
              <a:extLst>
                <a:ext uri="{FF2B5EF4-FFF2-40B4-BE49-F238E27FC236}">
                  <a16:creationId xmlns:a16="http://schemas.microsoft.com/office/drawing/2014/main" id="{0F94EFE4-1BA9-1383-C047-13B004C004D5}"/>
                </a:ext>
              </a:extLst>
            </p:cNvPr>
            <p:cNvSpPr/>
            <p:nvPr/>
          </p:nvSpPr>
          <p:spPr>
            <a:xfrm>
              <a:off x="1305828" y="1456164"/>
              <a:ext cx="988669" cy="109279"/>
            </a:xfrm>
            <a:prstGeom prst="rect">
              <a:avLst/>
            </a:prstGeom>
            <a:solidFill>
              <a:srgbClr val="FFFF00">
                <a:alpha val="32941"/>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34FB3315-6265-EB23-E5C1-DAB69BD2F63C}"/>
                </a:ext>
              </a:extLst>
            </p:cNvPr>
            <p:cNvSpPr/>
            <p:nvPr/>
          </p:nvSpPr>
          <p:spPr>
            <a:xfrm>
              <a:off x="2453099" y="2431126"/>
              <a:ext cx="1743381" cy="149322"/>
            </a:xfrm>
            <a:prstGeom prst="rect">
              <a:avLst/>
            </a:prstGeom>
            <a:solidFill>
              <a:srgbClr val="FFFF00">
                <a:alpha val="32941"/>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AA947729-E849-A5D3-806B-948B63620D70}"/>
                </a:ext>
              </a:extLst>
            </p:cNvPr>
            <p:cNvSpPr/>
            <p:nvPr/>
          </p:nvSpPr>
          <p:spPr>
            <a:xfrm>
              <a:off x="2446901" y="2612268"/>
              <a:ext cx="1743381" cy="149322"/>
            </a:xfrm>
            <a:prstGeom prst="rect">
              <a:avLst/>
            </a:prstGeom>
            <a:solidFill>
              <a:srgbClr val="FFFF00">
                <a:alpha val="32941"/>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ounded Rectangular Callout 44">
              <a:extLst>
                <a:ext uri="{FF2B5EF4-FFF2-40B4-BE49-F238E27FC236}">
                  <a16:creationId xmlns:a16="http://schemas.microsoft.com/office/drawing/2014/main" id="{54B62353-5D7E-80A0-203D-84F7BE5B380C}"/>
                </a:ext>
              </a:extLst>
            </p:cNvPr>
            <p:cNvSpPr/>
            <p:nvPr/>
          </p:nvSpPr>
          <p:spPr>
            <a:xfrm>
              <a:off x="1227651" y="2426714"/>
              <a:ext cx="1057880" cy="153020"/>
            </a:xfrm>
            <a:prstGeom prst="wedgeRoundRectCallout">
              <a:avLst>
                <a:gd name="adj1" fmla="val 65423"/>
                <a:gd name="adj2" fmla="val 960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Client ID</a:t>
              </a:r>
            </a:p>
          </p:txBody>
        </p:sp>
        <p:sp>
          <p:nvSpPr>
            <p:cNvPr id="46" name="Rounded Rectangular Callout 45">
              <a:extLst>
                <a:ext uri="{FF2B5EF4-FFF2-40B4-BE49-F238E27FC236}">
                  <a16:creationId xmlns:a16="http://schemas.microsoft.com/office/drawing/2014/main" id="{A222C37A-8AA8-2ADB-DEC1-C019FD65258C}"/>
                </a:ext>
              </a:extLst>
            </p:cNvPr>
            <p:cNvSpPr/>
            <p:nvPr/>
          </p:nvSpPr>
          <p:spPr>
            <a:xfrm>
              <a:off x="1220318" y="2666620"/>
              <a:ext cx="1057880" cy="153020"/>
            </a:xfrm>
            <a:prstGeom prst="wedgeRoundRectCallout">
              <a:avLst>
                <a:gd name="adj1" fmla="val 65423"/>
                <a:gd name="adj2" fmla="val 960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Client Secret</a:t>
              </a:r>
            </a:p>
          </p:txBody>
        </p:sp>
      </p:grpSp>
      <p:sp>
        <p:nvSpPr>
          <p:cNvPr id="47" name="TextBox 46">
            <a:extLst>
              <a:ext uri="{FF2B5EF4-FFF2-40B4-BE49-F238E27FC236}">
                <a16:creationId xmlns:a16="http://schemas.microsoft.com/office/drawing/2014/main" id="{D2684136-0365-E5AD-FEC4-F22977D850A1}"/>
              </a:ext>
            </a:extLst>
          </p:cNvPr>
          <p:cNvSpPr txBox="1"/>
          <p:nvPr/>
        </p:nvSpPr>
        <p:spPr>
          <a:xfrm>
            <a:off x="290210" y="1108697"/>
            <a:ext cx="4313382" cy="246221"/>
          </a:xfrm>
          <a:prstGeom prst="rect">
            <a:avLst/>
          </a:prstGeom>
          <a:noFill/>
        </p:spPr>
        <p:txBody>
          <a:bodyPr wrap="square" rtlCol="0">
            <a:spAutoFit/>
          </a:bodyPr>
          <a:lstStyle/>
          <a:p>
            <a:r>
              <a:rPr lang="en-US" sz="1000" dirty="0">
                <a:solidFill>
                  <a:schemeClr val="accent6"/>
                </a:solidFill>
              </a:rPr>
              <a:t>Access Token Request using </a:t>
            </a:r>
            <a:r>
              <a:rPr lang="en-US" sz="1000" dirty="0">
                <a:solidFill>
                  <a:schemeClr val="accent6"/>
                </a:solidFill>
                <a:hlinkClick r:id="rId7"/>
              </a:rPr>
              <a:t>Client Credentials Flow</a:t>
            </a:r>
            <a:endParaRPr lang="en-US" sz="1000" dirty="0">
              <a:solidFill>
                <a:schemeClr val="accent6"/>
              </a:solidFill>
            </a:endParaRPr>
          </a:p>
        </p:txBody>
      </p:sp>
      <p:sp>
        <p:nvSpPr>
          <p:cNvPr id="48" name="TextBox 47">
            <a:extLst>
              <a:ext uri="{FF2B5EF4-FFF2-40B4-BE49-F238E27FC236}">
                <a16:creationId xmlns:a16="http://schemas.microsoft.com/office/drawing/2014/main" id="{80DFA6EC-B8F8-2D96-6043-2FAD0FD46DC7}"/>
              </a:ext>
            </a:extLst>
          </p:cNvPr>
          <p:cNvSpPr txBox="1"/>
          <p:nvPr/>
        </p:nvSpPr>
        <p:spPr>
          <a:xfrm>
            <a:off x="4289932" y="2123439"/>
            <a:ext cx="657590" cy="246221"/>
          </a:xfrm>
          <a:prstGeom prst="rect">
            <a:avLst/>
          </a:prstGeom>
          <a:noFill/>
        </p:spPr>
        <p:txBody>
          <a:bodyPr wrap="square" rtlCol="0">
            <a:spAutoFit/>
          </a:bodyPr>
          <a:lstStyle/>
          <a:p>
            <a:r>
              <a:rPr lang="en-US" sz="1000" dirty="0">
                <a:solidFill>
                  <a:schemeClr val="accent6"/>
                </a:solidFill>
              </a:rPr>
              <a:t>Returns</a:t>
            </a:r>
          </a:p>
        </p:txBody>
      </p:sp>
      <p:sp>
        <p:nvSpPr>
          <p:cNvPr id="49" name="Right Arrow 48">
            <a:extLst>
              <a:ext uri="{FF2B5EF4-FFF2-40B4-BE49-F238E27FC236}">
                <a16:creationId xmlns:a16="http://schemas.microsoft.com/office/drawing/2014/main" id="{15CBE2D0-3D9B-51AF-200B-CAE7CC2BFE7A}"/>
              </a:ext>
            </a:extLst>
          </p:cNvPr>
          <p:cNvSpPr/>
          <p:nvPr/>
        </p:nvSpPr>
        <p:spPr>
          <a:xfrm>
            <a:off x="4498066" y="1804132"/>
            <a:ext cx="221673" cy="33973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 name="Picture 50">
            <a:extLst>
              <a:ext uri="{FF2B5EF4-FFF2-40B4-BE49-F238E27FC236}">
                <a16:creationId xmlns:a16="http://schemas.microsoft.com/office/drawing/2014/main" id="{BBD66249-AC47-AB0C-E424-4286A70A9B9D}"/>
              </a:ext>
            </a:extLst>
          </p:cNvPr>
          <p:cNvPicPr>
            <a:picLocks noChangeAspect="1"/>
          </p:cNvPicPr>
          <p:nvPr/>
        </p:nvPicPr>
        <p:blipFill>
          <a:blip r:embed="rId8"/>
          <a:stretch>
            <a:fillRect/>
          </a:stretch>
        </p:blipFill>
        <p:spPr>
          <a:xfrm>
            <a:off x="4947522" y="1592496"/>
            <a:ext cx="3932871" cy="115778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3269193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F14FA80-2BA9-457A-FA25-B93C3A01FA28}"/>
              </a:ext>
            </a:extLst>
          </p:cNvPr>
          <p:cNvSpPr/>
          <p:nvPr/>
        </p:nvSpPr>
        <p:spPr>
          <a:xfrm>
            <a:off x="0" y="6698746"/>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50F25BA2-BB5D-4D3B-0601-2BB13AD968D4}"/>
              </a:ext>
            </a:extLst>
          </p:cNvPr>
          <p:cNvSpPr/>
          <p:nvPr/>
        </p:nvSpPr>
        <p:spPr>
          <a:xfrm>
            <a:off x="0" y="-2862"/>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5BE7F990-D417-5CB5-0847-7A9E4F860586}"/>
              </a:ext>
            </a:extLst>
          </p:cNvPr>
          <p:cNvSpPr txBox="1"/>
          <p:nvPr/>
        </p:nvSpPr>
        <p:spPr>
          <a:xfrm>
            <a:off x="121920" y="262537"/>
            <a:ext cx="5474547" cy="1200329"/>
          </a:xfrm>
          <a:prstGeom prst="rect">
            <a:avLst/>
          </a:prstGeom>
          <a:noFill/>
        </p:spPr>
        <p:txBody>
          <a:bodyPr wrap="square" rtlCol="0">
            <a:spAutoFit/>
          </a:bodyPr>
          <a:lstStyle/>
          <a:p>
            <a:r>
              <a:rPr lang="en-GB" sz="2400" b="1" dirty="0"/>
              <a:t>13-15. Agent goes to Vision+ portal for review</a:t>
            </a:r>
          </a:p>
          <a:p>
            <a:endParaRPr lang="en-GB" sz="2400" b="1" dirty="0"/>
          </a:p>
        </p:txBody>
      </p:sp>
      <p:sp>
        <p:nvSpPr>
          <p:cNvPr id="6" name="Rectangle 5">
            <a:extLst>
              <a:ext uri="{FF2B5EF4-FFF2-40B4-BE49-F238E27FC236}">
                <a16:creationId xmlns:a16="http://schemas.microsoft.com/office/drawing/2014/main" id="{891E98C1-FEDD-DA87-1F1A-497C7B79F44E}"/>
              </a:ext>
            </a:extLst>
          </p:cNvPr>
          <p:cNvSpPr/>
          <p:nvPr/>
        </p:nvSpPr>
        <p:spPr>
          <a:xfrm>
            <a:off x="8213749" y="449239"/>
            <a:ext cx="787399" cy="4616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t>Vision+ Portal</a:t>
            </a:r>
          </a:p>
        </p:txBody>
      </p:sp>
      <p:sp>
        <p:nvSpPr>
          <p:cNvPr id="7" name="Rectangle 6">
            <a:extLst>
              <a:ext uri="{FF2B5EF4-FFF2-40B4-BE49-F238E27FC236}">
                <a16:creationId xmlns:a16="http://schemas.microsoft.com/office/drawing/2014/main" id="{A6BE94CC-7C1A-58AE-4B18-13975E4EDF75}"/>
              </a:ext>
            </a:extLst>
          </p:cNvPr>
          <p:cNvSpPr/>
          <p:nvPr/>
        </p:nvSpPr>
        <p:spPr>
          <a:xfrm>
            <a:off x="6102641" y="445004"/>
            <a:ext cx="766474" cy="461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t>Grainger Systems</a:t>
            </a:r>
          </a:p>
        </p:txBody>
      </p:sp>
      <p:sp>
        <p:nvSpPr>
          <p:cNvPr id="10" name="TextBox 9">
            <a:extLst>
              <a:ext uri="{FF2B5EF4-FFF2-40B4-BE49-F238E27FC236}">
                <a16:creationId xmlns:a16="http://schemas.microsoft.com/office/drawing/2014/main" id="{1153242C-4DCE-DECB-1D73-C17E8F720BFC}"/>
              </a:ext>
            </a:extLst>
          </p:cNvPr>
          <p:cNvSpPr txBox="1"/>
          <p:nvPr/>
        </p:nvSpPr>
        <p:spPr>
          <a:xfrm>
            <a:off x="6962714" y="321894"/>
            <a:ext cx="1235117" cy="584775"/>
          </a:xfrm>
          <a:prstGeom prst="rect">
            <a:avLst/>
          </a:prstGeom>
          <a:noFill/>
        </p:spPr>
        <p:txBody>
          <a:bodyPr wrap="square" rtlCol="0">
            <a:spAutoFit/>
          </a:bodyPr>
          <a:lstStyle/>
          <a:p>
            <a:r>
              <a:rPr lang="en-GB" sz="800" b="1" dirty="0"/>
              <a:t>4. Agent goes to Vision+ portal for review</a:t>
            </a:r>
          </a:p>
          <a:p>
            <a:endParaRPr lang="en-GB" sz="800" b="1" dirty="0"/>
          </a:p>
          <a:p>
            <a:endParaRPr lang="en-GB" sz="800" b="1" dirty="0"/>
          </a:p>
        </p:txBody>
      </p:sp>
      <p:cxnSp>
        <p:nvCxnSpPr>
          <p:cNvPr id="12" name="Straight Arrow Connector 11">
            <a:extLst>
              <a:ext uri="{FF2B5EF4-FFF2-40B4-BE49-F238E27FC236}">
                <a16:creationId xmlns:a16="http://schemas.microsoft.com/office/drawing/2014/main" id="{4263023F-7EAE-2204-2286-921790ED6C0E}"/>
              </a:ext>
            </a:extLst>
          </p:cNvPr>
          <p:cNvCxnSpPr>
            <a:cxnSpLocks/>
            <a:stCxn id="7" idx="3"/>
            <a:endCxn id="6" idx="1"/>
          </p:cNvCxnSpPr>
          <p:nvPr/>
        </p:nvCxnSpPr>
        <p:spPr>
          <a:xfrm>
            <a:off x="6869115" y="675837"/>
            <a:ext cx="1344634" cy="4234"/>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11" name="TextBox 10">
            <a:extLst>
              <a:ext uri="{FF2B5EF4-FFF2-40B4-BE49-F238E27FC236}">
                <a16:creationId xmlns:a16="http://schemas.microsoft.com/office/drawing/2014/main" id="{2B630A0C-7150-C34D-C9BC-732333677882}"/>
              </a:ext>
            </a:extLst>
          </p:cNvPr>
          <p:cNvSpPr txBox="1"/>
          <p:nvPr/>
        </p:nvSpPr>
        <p:spPr>
          <a:xfrm>
            <a:off x="856827" y="1541154"/>
            <a:ext cx="6888480" cy="261610"/>
          </a:xfrm>
          <a:prstGeom prst="rect">
            <a:avLst/>
          </a:prstGeom>
          <a:noFill/>
        </p:spPr>
        <p:txBody>
          <a:bodyPr wrap="square" rtlCol="0">
            <a:spAutoFit/>
          </a:bodyPr>
          <a:lstStyle/>
          <a:p>
            <a:r>
              <a:rPr lang="en-GB" sz="1100" dirty="0"/>
              <a:t>Agent has a Salesforce user and is authenticated in Salesforce</a:t>
            </a:r>
          </a:p>
        </p:txBody>
      </p:sp>
      <p:sp>
        <p:nvSpPr>
          <p:cNvPr id="13" name="TextBox 12">
            <a:extLst>
              <a:ext uri="{FF2B5EF4-FFF2-40B4-BE49-F238E27FC236}">
                <a16:creationId xmlns:a16="http://schemas.microsoft.com/office/drawing/2014/main" id="{C302F5C7-8B81-4A7B-4128-B2689BD2253E}"/>
              </a:ext>
            </a:extLst>
          </p:cNvPr>
          <p:cNvSpPr txBox="1"/>
          <p:nvPr/>
        </p:nvSpPr>
        <p:spPr>
          <a:xfrm>
            <a:off x="856827" y="2112517"/>
            <a:ext cx="3972560" cy="2462213"/>
          </a:xfrm>
          <a:prstGeom prst="rect">
            <a:avLst/>
          </a:prstGeom>
          <a:noFill/>
        </p:spPr>
        <p:txBody>
          <a:bodyPr wrap="square" rtlCol="0">
            <a:spAutoFit/>
          </a:bodyPr>
          <a:lstStyle/>
          <a:p>
            <a:r>
              <a:rPr lang="en-GB" sz="1100" dirty="0"/>
              <a:t>Salesforce user clicks Vision+ button to open a new tab with Vision+ Portal URL</a:t>
            </a:r>
          </a:p>
          <a:p>
            <a:endParaRPr lang="en-GB" sz="1100" dirty="0"/>
          </a:p>
          <a:p>
            <a:endParaRPr lang="en-GB" sz="1100" dirty="0"/>
          </a:p>
          <a:p>
            <a:r>
              <a:rPr lang="en-GB" sz="1100" dirty="0"/>
              <a:t>Vision+ makes SAML request to Salesforce identity provider</a:t>
            </a:r>
          </a:p>
          <a:p>
            <a:endParaRPr lang="en-GB" sz="1100" dirty="0"/>
          </a:p>
          <a:p>
            <a:endParaRPr lang="en-GB" sz="1100" dirty="0"/>
          </a:p>
          <a:p>
            <a:r>
              <a:rPr lang="en-GB" sz="1100" dirty="0"/>
              <a:t>Salesforce responds SAML assertion confirming identity of Salesforce user (Salesforce username to be used as unique identifier)</a:t>
            </a:r>
          </a:p>
          <a:p>
            <a:endParaRPr lang="en-GB" sz="1100" dirty="0"/>
          </a:p>
          <a:p>
            <a:endParaRPr lang="en-GB" sz="1100" dirty="0"/>
          </a:p>
          <a:p>
            <a:r>
              <a:rPr lang="en-GB" sz="1100" dirty="0"/>
              <a:t>Vision+ Agent facing Portal logs user in (Vision+ portal user must already exist and is identified by Grainger Salesforce username)</a:t>
            </a:r>
          </a:p>
        </p:txBody>
      </p:sp>
      <p:sp>
        <p:nvSpPr>
          <p:cNvPr id="14" name="TextBox 13">
            <a:extLst>
              <a:ext uri="{FF2B5EF4-FFF2-40B4-BE49-F238E27FC236}">
                <a16:creationId xmlns:a16="http://schemas.microsoft.com/office/drawing/2014/main" id="{830C4AE1-6304-C916-5E9B-E1D5EE0D21D2}"/>
              </a:ext>
            </a:extLst>
          </p:cNvPr>
          <p:cNvSpPr txBox="1"/>
          <p:nvPr/>
        </p:nvSpPr>
        <p:spPr>
          <a:xfrm>
            <a:off x="856827" y="6662433"/>
            <a:ext cx="6583680" cy="423193"/>
          </a:xfrm>
          <a:prstGeom prst="rect">
            <a:avLst/>
          </a:prstGeom>
          <a:noFill/>
        </p:spPr>
        <p:txBody>
          <a:bodyPr wrap="square" rtlCol="0">
            <a:spAutoFit/>
          </a:bodyPr>
          <a:lstStyle/>
          <a:p>
            <a:r>
              <a:rPr lang="en-GB" sz="1100" dirty="0"/>
              <a:t>Vision+ decrypts and decodes JWT Token, validates applicant and starts tenant facing journey in </a:t>
            </a:r>
            <a:r>
              <a:rPr lang="en-GB" sz="1100" dirty="0" err="1"/>
              <a:t>iframe</a:t>
            </a:r>
            <a:endParaRPr lang="en-GB" sz="1100" b="1" dirty="0">
              <a:solidFill>
                <a:schemeClr val="tx2"/>
              </a:solidFill>
            </a:endParaRPr>
          </a:p>
          <a:p>
            <a:pPr lvl="1"/>
            <a:endParaRPr lang="en-GB" sz="1050" dirty="0"/>
          </a:p>
        </p:txBody>
      </p:sp>
      <p:sp>
        <p:nvSpPr>
          <p:cNvPr id="16" name="TextBox 15">
            <a:extLst>
              <a:ext uri="{FF2B5EF4-FFF2-40B4-BE49-F238E27FC236}">
                <a16:creationId xmlns:a16="http://schemas.microsoft.com/office/drawing/2014/main" id="{D8802F85-67E3-ADC3-AA65-2DD90AF2B36A}"/>
              </a:ext>
            </a:extLst>
          </p:cNvPr>
          <p:cNvSpPr txBox="1"/>
          <p:nvPr/>
        </p:nvSpPr>
        <p:spPr>
          <a:xfrm>
            <a:off x="332962" y="899317"/>
            <a:ext cx="416560" cy="3416320"/>
          </a:xfrm>
          <a:prstGeom prst="rect">
            <a:avLst/>
          </a:prstGeom>
          <a:noFill/>
        </p:spPr>
        <p:txBody>
          <a:bodyPr wrap="square" rtlCol="0">
            <a:spAutoFit/>
          </a:bodyPr>
          <a:lstStyle/>
          <a:p>
            <a:endParaRPr lang="en-GB" dirty="0"/>
          </a:p>
          <a:p>
            <a:endParaRPr lang="en-GB" dirty="0"/>
          </a:p>
          <a:p>
            <a:r>
              <a:rPr lang="en-GB" dirty="0"/>
              <a:t>1</a:t>
            </a:r>
          </a:p>
          <a:p>
            <a:endParaRPr lang="en-GB" dirty="0"/>
          </a:p>
          <a:p>
            <a:r>
              <a:rPr lang="en-GB" dirty="0"/>
              <a:t>2</a:t>
            </a:r>
          </a:p>
          <a:p>
            <a:endParaRPr lang="en-GB" dirty="0"/>
          </a:p>
          <a:p>
            <a:r>
              <a:rPr lang="en-GB" dirty="0"/>
              <a:t>3</a:t>
            </a:r>
          </a:p>
          <a:p>
            <a:endParaRPr lang="en-GB" dirty="0"/>
          </a:p>
          <a:p>
            <a:r>
              <a:rPr lang="en-GB" dirty="0"/>
              <a:t>4</a:t>
            </a:r>
          </a:p>
          <a:p>
            <a:endParaRPr lang="en-GB" dirty="0"/>
          </a:p>
          <a:p>
            <a:r>
              <a:rPr lang="en-GB" dirty="0"/>
              <a:t>5</a:t>
            </a:r>
          </a:p>
          <a:p>
            <a:endParaRPr lang="en-GB" dirty="0"/>
          </a:p>
        </p:txBody>
      </p:sp>
      <p:pic>
        <p:nvPicPr>
          <p:cNvPr id="17" name="Picture 2">
            <a:extLst>
              <a:ext uri="{FF2B5EF4-FFF2-40B4-BE49-F238E27FC236}">
                <a16:creationId xmlns:a16="http://schemas.microsoft.com/office/drawing/2014/main" id="{6344EE71-034F-10B4-6CFF-7929B87BA6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45069" y="2114001"/>
            <a:ext cx="3190875" cy="1428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5583091"/>
      </p:ext>
    </p:extLst>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F14FA80-2BA9-457A-FA25-B93C3A01FA28}"/>
              </a:ext>
            </a:extLst>
          </p:cNvPr>
          <p:cNvSpPr/>
          <p:nvPr/>
        </p:nvSpPr>
        <p:spPr>
          <a:xfrm>
            <a:off x="0" y="6698746"/>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50F25BA2-BB5D-4D3B-0601-2BB13AD968D4}"/>
              </a:ext>
            </a:extLst>
          </p:cNvPr>
          <p:cNvSpPr/>
          <p:nvPr/>
        </p:nvSpPr>
        <p:spPr>
          <a:xfrm>
            <a:off x="0" y="-2862"/>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81EBFAA3-FF8D-65C4-0788-5826D719A8D4}"/>
              </a:ext>
            </a:extLst>
          </p:cNvPr>
          <p:cNvSpPr txBox="1"/>
          <p:nvPr/>
        </p:nvSpPr>
        <p:spPr>
          <a:xfrm>
            <a:off x="121920" y="262537"/>
            <a:ext cx="5474547" cy="830997"/>
          </a:xfrm>
          <a:prstGeom prst="rect">
            <a:avLst/>
          </a:prstGeom>
          <a:noFill/>
        </p:spPr>
        <p:txBody>
          <a:bodyPr wrap="square" rtlCol="0">
            <a:spAutoFit/>
          </a:bodyPr>
          <a:lstStyle/>
          <a:p>
            <a:r>
              <a:rPr lang="en-GB" sz="2400" b="1" dirty="0"/>
              <a:t>Vision+ Mandatory Fields in discussion </a:t>
            </a:r>
          </a:p>
          <a:p>
            <a:endParaRPr lang="en-GB" sz="2400" b="1" dirty="0"/>
          </a:p>
        </p:txBody>
      </p:sp>
      <p:graphicFrame>
        <p:nvGraphicFramePr>
          <p:cNvPr id="9" name="Table 8">
            <a:extLst>
              <a:ext uri="{FF2B5EF4-FFF2-40B4-BE49-F238E27FC236}">
                <a16:creationId xmlns:a16="http://schemas.microsoft.com/office/drawing/2014/main" id="{133A0941-CF37-534F-1EF5-3FA898724BD1}"/>
              </a:ext>
            </a:extLst>
          </p:cNvPr>
          <p:cNvGraphicFramePr>
            <a:graphicFrameLocks noGrp="1"/>
          </p:cNvGraphicFramePr>
          <p:nvPr>
            <p:extLst>
              <p:ext uri="{D42A27DB-BD31-4B8C-83A1-F6EECF244321}">
                <p14:modId xmlns:p14="http://schemas.microsoft.com/office/powerpoint/2010/main" val="3181281596"/>
              </p:ext>
            </p:extLst>
          </p:nvPr>
        </p:nvGraphicFramePr>
        <p:xfrm>
          <a:off x="569384" y="862054"/>
          <a:ext cx="8185151" cy="5610860"/>
        </p:xfrm>
        <a:graphic>
          <a:graphicData uri="http://schemas.openxmlformats.org/drawingml/2006/table">
            <a:tbl>
              <a:tblPr>
                <a:tableStyleId>{5C22544A-7EE6-4342-B048-85BDC9FD1C3A}</a:tableStyleId>
              </a:tblPr>
              <a:tblGrid>
                <a:gridCol w="1577637">
                  <a:extLst>
                    <a:ext uri="{9D8B030D-6E8A-4147-A177-3AD203B41FA5}">
                      <a16:colId xmlns:a16="http://schemas.microsoft.com/office/drawing/2014/main" val="3157686054"/>
                    </a:ext>
                  </a:extLst>
                </a:gridCol>
                <a:gridCol w="1651878">
                  <a:extLst>
                    <a:ext uri="{9D8B030D-6E8A-4147-A177-3AD203B41FA5}">
                      <a16:colId xmlns:a16="http://schemas.microsoft.com/office/drawing/2014/main" val="1700370211"/>
                    </a:ext>
                  </a:extLst>
                </a:gridCol>
                <a:gridCol w="1837483">
                  <a:extLst>
                    <a:ext uri="{9D8B030D-6E8A-4147-A177-3AD203B41FA5}">
                      <a16:colId xmlns:a16="http://schemas.microsoft.com/office/drawing/2014/main" val="910276494"/>
                    </a:ext>
                  </a:extLst>
                </a:gridCol>
                <a:gridCol w="1721152">
                  <a:extLst>
                    <a:ext uri="{9D8B030D-6E8A-4147-A177-3AD203B41FA5}">
                      <a16:colId xmlns:a16="http://schemas.microsoft.com/office/drawing/2014/main" val="3243437898"/>
                    </a:ext>
                  </a:extLst>
                </a:gridCol>
                <a:gridCol w="1397001">
                  <a:extLst>
                    <a:ext uri="{9D8B030D-6E8A-4147-A177-3AD203B41FA5}">
                      <a16:colId xmlns:a16="http://schemas.microsoft.com/office/drawing/2014/main" val="1449977148"/>
                    </a:ext>
                  </a:extLst>
                </a:gridCol>
              </a:tblGrid>
              <a:tr h="558800">
                <a:tc>
                  <a:txBody>
                    <a:bodyPr/>
                    <a:lstStyle/>
                    <a:p>
                      <a:pPr algn="l" rtl="0" fontAlgn="b"/>
                      <a:r>
                        <a:rPr lang="en-GB" sz="1600" b="1" u="none" strike="noStrike" dirty="0">
                          <a:effectLst/>
                        </a:rPr>
                        <a:t>Property</a:t>
                      </a:r>
                      <a:endParaRPr lang="en-GB" sz="1600" b="1" i="0" u="none" strike="noStrike" dirty="0">
                        <a:solidFill>
                          <a:srgbClr val="E3B900"/>
                        </a:solidFill>
                        <a:effectLst/>
                        <a:latin typeface="Calibri" panose="020F0502020204030204" pitchFamily="34" charset="0"/>
                      </a:endParaRPr>
                    </a:p>
                  </a:txBody>
                  <a:tcPr marL="6350" marR="6350" marT="6350" marB="0" anchor="b"/>
                </a:tc>
                <a:tc>
                  <a:txBody>
                    <a:bodyPr/>
                    <a:lstStyle/>
                    <a:p>
                      <a:pPr algn="l" rtl="0" fontAlgn="b"/>
                      <a:r>
                        <a:rPr lang="en-GB" sz="1600" b="1" u="none" strike="noStrike" dirty="0">
                          <a:effectLst/>
                        </a:rPr>
                        <a:t>Mandatory in Vision+</a:t>
                      </a:r>
                      <a:endParaRPr lang="en-GB" sz="1600" b="1" i="0" u="none" strike="noStrike" dirty="0">
                        <a:solidFill>
                          <a:srgbClr val="E3B900"/>
                        </a:solidFill>
                        <a:effectLst/>
                        <a:latin typeface="Calibri" panose="020F0502020204030204" pitchFamily="34" charset="0"/>
                      </a:endParaRPr>
                    </a:p>
                  </a:txBody>
                  <a:tcPr marL="6350" marR="6350" marT="6350" marB="0" anchor="b"/>
                </a:tc>
                <a:tc>
                  <a:txBody>
                    <a:bodyPr/>
                    <a:lstStyle/>
                    <a:p>
                      <a:pPr algn="l" rtl="0" fontAlgn="b"/>
                      <a:r>
                        <a:rPr lang="en-GB" sz="1600" b="1" u="none" strike="noStrike" dirty="0">
                          <a:effectLst/>
                        </a:rPr>
                        <a:t>Impact of incorrect/default data</a:t>
                      </a:r>
                      <a:endParaRPr lang="en-GB" sz="1600" b="1" i="0" u="none" strike="noStrike" dirty="0">
                        <a:solidFill>
                          <a:srgbClr val="E3B900"/>
                        </a:solidFill>
                        <a:effectLst/>
                        <a:latin typeface="Calibri" panose="020F0502020204030204" pitchFamily="34" charset="0"/>
                      </a:endParaRPr>
                    </a:p>
                  </a:txBody>
                  <a:tcPr marL="6350" marR="6350" marT="6350" marB="0" anchor="b"/>
                </a:tc>
                <a:tc>
                  <a:txBody>
                    <a:bodyPr/>
                    <a:lstStyle/>
                    <a:p>
                      <a:pPr algn="l" rtl="0" fontAlgn="b"/>
                      <a:r>
                        <a:rPr lang="en-GB" sz="1600" b="1" u="none" strike="noStrike" dirty="0">
                          <a:effectLst/>
                        </a:rPr>
                        <a:t>Issue</a:t>
                      </a:r>
                      <a:endParaRPr lang="en-GB" sz="1600" b="1" i="0" u="none" strike="noStrike" dirty="0">
                        <a:solidFill>
                          <a:srgbClr val="E3B900"/>
                        </a:solidFill>
                        <a:effectLst/>
                        <a:latin typeface="Calibri" panose="020F0502020204030204" pitchFamily="34" charset="0"/>
                      </a:endParaRPr>
                    </a:p>
                  </a:txBody>
                  <a:tcPr marL="6350" marR="6350" marT="6350" marB="0" anchor="b"/>
                </a:tc>
                <a:tc>
                  <a:txBody>
                    <a:bodyPr/>
                    <a:lstStyle/>
                    <a:p>
                      <a:pPr algn="l" rtl="0" fontAlgn="b"/>
                      <a:r>
                        <a:rPr lang="en-GB" sz="1600" b="1" u="none" strike="noStrike" dirty="0">
                          <a:effectLst/>
                        </a:rPr>
                        <a:t>Agreed Action</a:t>
                      </a:r>
                      <a:endParaRPr lang="en-GB" sz="1600" b="1" i="0" u="none" strike="noStrike" dirty="0">
                        <a:solidFill>
                          <a:srgbClr val="E3B9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4289572273"/>
                  </a:ext>
                </a:extLst>
              </a:tr>
              <a:tr h="260350">
                <a:tc>
                  <a:txBody>
                    <a:bodyPr/>
                    <a:lstStyle/>
                    <a:p>
                      <a:pPr algn="l" rtl="0" fontAlgn="b"/>
                      <a:r>
                        <a:rPr lang="en-GB" sz="1000" u="none" strike="noStrike" dirty="0" err="1">
                          <a:effectLst/>
                        </a:rPr>
                        <a:t>propertyType</a:t>
                      </a:r>
                      <a:endParaRPr lang="en-GB" sz="1000" b="0" i="0" u="none" strike="noStrike" dirty="0">
                        <a:solidFill>
                          <a:srgbClr val="E3B900"/>
                        </a:solidFill>
                        <a:effectLst/>
                        <a:latin typeface="Calibri" panose="020F0502020204030204" pitchFamily="34" charset="0"/>
                      </a:endParaRPr>
                    </a:p>
                  </a:txBody>
                  <a:tcPr marL="6350" marR="6350" marT="6350" marB="0" anchor="b"/>
                </a:tc>
                <a:tc>
                  <a:txBody>
                    <a:bodyPr/>
                    <a:lstStyle/>
                    <a:p>
                      <a:pPr algn="l" rtl="0" fontAlgn="b"/>
                      <a:r>
                        <a:rPr lang="en-GB" sz="1000" u="none" strike="noStrike" dirty="0">
                          <a:effectLst/>
                        </a:rPr>
                        <a:t>Yes, </a:t>
                      </a:r>
                      <a:r>
                        <a:rPr lang="en-GB" sz="1000" u="none" strike="noStrike" dirty="0" err="1">
                          <a:effectLst/>
                        </a:rPr>
                        <a:t>enum</a:t>
                      </a:r>
                      <a:r>
                        <a:rPr lang="en-GB" sz="1000" u="none" strike="noStrike" dirty="0">
                          <a:effectLst/>
                        </a:rPr>
                        <a:t> lookup</a:t>
                      </a:r>
                      <a:endParaRPr lang="en-GB" sz="1000" b="0" i="0" u="none" strike="noStrike" dirty="0">
                        <a:solidFill>
                          <a:srgbClr val="E3B900"/>
                        </a:solidFill>
                        <a:effectLst/>
                        <a:latin typeface="Calibri" panose="020F0502020204030204" pitchFamily="34" charset="0"/>
                      </a:endParaRPr>
                    </a:p>
                  </a:txBody>
                  <a:tcPr marL="6350" marR="6350" marT="6350" marB="0" anchor="b"/>
                </a:tc>
                <a:tc>
                  <a:txBody>
                    <a:bodyPr/>
                    <a:lstStyle/>
                    <a:p>
                      <a:pPr algn="l" rtl="0" fontAlgn="b"/>
                      <a:r>
                        <a:rPr lang="en-GB" sz="1000" u="none" strike="noStrike" dirty="0">
                          <a:effectLst/>
                        </a:rPr>
                        <a:t>Lower, impacts reporting </a:t>
                      </a:r>
                      <a:endParaRPr lang="en-GB" sz="1000" b="0" i="0" u="none" strike="noStrike" dirty="0">
                        <a:solidFill>
                          <a:srgbClr val="E3B900"/>
                        </a:solidFill>
                        <a:effectLst/>
                        <a:latin typeface="Calibri" panose="020F0502020204030204" pitchFamily="34" charset="0"/>
                      </a:endParaRPr>
                    </a:p>
                  </a:txBody>
                  <a:tcPr marL="6350" marR="6350" marT="6350" marB="0" anchor="b"/>
                </a:tc>
                <a:tc>
                  <a:txBody>
                    <a:bodyPr/>
                    <a:lstStyle/>
                    <a:p>
                      <a:pPr algn="l" rtl="0" fontAlgn="b"/>
                      <a:r>
                        <a:rPr lang="en-GB" sz="1000" u="none" strike="noStrike" kern="1200" dirty="0">
                          <a:solidFill>
                            <a:schemeClr val="dk1"/>
                          </a:solidFill>
                          <a:effectLst/>
                          <a:latin typeface="+mn-lt"/>
                          <a:ea typeface="+mn-ea"/>
                          <a:cs typeface="+mn-cs"/>
                        </a:rPr>
                        <a:t>Data not currently available in Grainger Salesforce</a:t>
                      </a:r>
                    </a:p>
                  </a:txBody>
                  <a:tcPr marL="6350" marR="6350" marT="6350" marB="0" anchor="b"/>
                </a:tc>
                <a:tc>
                  <a:txBody>
                    <a:bodyPr/>
                    <a:lstStyle/>
                    <a:p>
                      <a:pPr algn="l" rtl="0" fontAlgn="b"/>
                      <a:r>
                        <a:rPr lang="en-GB" sz="1000" u="none" strike="noStrike" kern="1200" dirty="0">
                          <a:solidFill>
                            <a:schemeClr val="dk1"/>
                          </a:solidFill>
                          <a:effectLst/>
                          <a:latin typeface="+mn-lt"/>
                          <a:ea typeface="+mn-ea"/>
                          <a:cs typeface="+mn-cs"/>
                        </a:rPr>
                        <a:t> Grainger will map between systems but use “other” in the meantime. No impact to dev work on Vision+.</a:t>
                      </a:r>
                    </a:p>
                  </a:txBody>
                  <a:tcPr marL="6350" marR="6350" marT="6350" marB="0" anchor="b"/>
                </a:tc>
                <a:extLst>
                  <a:ext uri="{0D108BD9-81ED-4DB2-BD59-A6C34878D82A}">
                    <a16:rowId xmlns:a16="http://schemas.microsoft.com/office/drawing/2014/main" val="3559168806"/>
                  </a:ext>
                </a:extLst>
              </a:tr>
              <a:tr h="292100">
                <a:tc>
                  <a:txBody>
                    <a:bodyPr/>
                    <a:lstStyle/>
                    <a:p>
                      <a:pPr algn="l" rtl="0" fontAlgn="b"/>
                      <a:r>
                        <a:rPr lang="en-GB" sz="1000" u="none" strike="noStrike" kern="1200" dirty="0" err="1">
                          <a:solidFill>
                            <a:schemeClr val="dk1"/>
                          </a:solidFill>
                          <a:effectLst/>
                          <a:latin typeface="+mn-lt"/>
                          <a:ea typeface="+mn-ea"/>
                          <a:cs typeface="+mn-cs"/>
                        </a:rPr>
                        <a:t>propertyConstructionPeriod</a:t>
                      </a:r>
                      <a:endParaRPr lang="en-GB" sz="1000" u="none" strike="noStrike" kern="1200" dirty="0">
                        <a:solidFill>
                          <a:schemeClr val="dk1"/>
                        </a:solidFill>
                        <a:effectLst/>
                        <a:latin typeface="+mn-lt"/>
                        <a:ea typeface="+mn-ea"/>
                        <a:cs typeface="+mn-cs"/>
                      </a:endParaRPr>
                    </a:p>
                  </a:txBody>
                  <a:tcPr marL="6350" marR="6350" marT="6350" marB="0" anchor="b"/>
                </a:tc>
                <a:tc>
                  <a:txBody>
                    <a:bodyPr/>
                    <a:lstStyle/>
                    <a:p>
                      <a:pPr algn="l" rtl="0" fontAlgn="b"/>
                      <a:r>
                        <a:rPr lang="en-GB" sz="1000" u="none" strike="noStrike" kern="1200" dirty="0">
                          <a:solidFill>
                            <a:schemeClr val="dk1"/>
                          </a:solidFill>
                          <a:effectLst/>
                          <a:latin typeface="+mn-lt"/>
                          <a:ea typeface="+mn-ea"/>
                          <a:cs typeface="+mn-cs"/>
                        </a:rPr>
                        <a:t>Yes, </a:t>
                      </a:r>
                      <a:r>
                        <a:rPr lang="en-GB" sz="1000" u="none" strike="noStrike" kern="1200" dirty="0" err="1">
                          <a:solidFill>
                            <a:schemeClr val="dk1"/>
                          </a:solidFill>
                          <a:effectLst/>
                          <a:latin typeface="+mn-lt"/>
                          <a:ea typeface="+mn-ea"/>
                          <a:cs typeface="+mn-cs"/>
                        </a:rPr>
                        <a:t>enum</a:t>
                      </a:r>
                      <a:r>
                        <a:rPr lang="en-GB" sz="1000" u="none" strike="noStrike" kern="1200" dirty="0">
                          <a:solidFill>
                            <a:schemeClr val="dk1"/>
                          </a:solidFill>
                          <a:effectLst/>
                          <a:latin typeface="+mn-lt"/>
                          <a:ea typeface="+mn-ea"/>
                          <a:cs typeface="+mn-cs"/>
                        </a:rPr>
                        <a:t> lookup</a:t>
                      </a:r>
                    </a:p>
                  </a:txBody>
                  <a:tcPr marL="6350" marR="6350" marT="6350" marB="0" anchor="b"/>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GB" sz="1000" u="none" strike="noStrike" kern="1200" dirty="0">
                          <a:solidFill>
                            <a:schemeClr val="dk1"/>
                          </a:solidFill>
                          <a:effectLst/>
                          <a:latin typeface="+mn-lt"/>
                          <a:ea typeface="+mn-ea"/>
                          <a:cs typeface="+mn-cs"/>
                        </a:rPr>
                        <a:t>Lower, impacts reporting </a:t>
                      </a:r>
                    </a:p>
                    <a:p>
                      <a:pPr marL="0" algn="l" defTabSz="914400" rtl="0" eaLnBrk="1" fontAlgn="b" latinLnBrk="0" hangingPunct="1"/>
                      <a:endParaRPr lang="en-GB" sz="1000" u="none" strike="noStrike" kern="1200" dirty="0">
                        <a:solidFill>
                          <a:schemeClr val="dk1"/>
                        </a:solidFill>
                        <a:effectLst/>
                        <a:latin typeface="+mn-lt"/>
                        <a:ea typeface="+mn-ea"/>
                        <a:cs typeface="+mn-cs"/>
                      </a:endParaRPr>
                    </a:p>
                  </a:txBody>
                  <a:tcPr marL="6350" marR="6350" marT="6350" marB="0" anchor="b"/>
                </a:tc>
                <a:tc>
                  <a:txBody>
                    <a:bodyPr/>
                    <a:lstStyle/>
                    <a:p>
                      <a:pPr algn="l" rtl="0" fontAlgn="b"/>
                      <a:r>
                        <a:rPr lang="en-GB" sz="1000" u="none" strike="noStrike" kern="1200" dirty="0">
                          <a:solidFill>
                            <a:schemeClr val="dk1"/>
                          </a:solidFill>
                          <a:effectLst/>
                          <a:latin typeface="+mn-lt"/>
                          <a:ea typeface="+mn-ea"/>
                          <a:cs typeface="+mn-cs"/>
                        </a:rPr>
                        <a:t>Data not currently available in Grainger Salesforce</a:t>
                      </a:r>
                    </a:p>
                  </a:txBody>
                  <a:tcPr marL="6350" marR="6350" marT="6350" marB="0" anchor="b"/>
                </a:tc>
                <a:tc>
                  <a:txBody>
                    <a:bodyPr/>
                    <a:lstStyle/>
                    <a:p>
                      <a:pPr algn="l" rtl="0" fontAlgn="b"/>
                      <a:r>
                        <a:rPr lang="en-GB" sz="1000" u="none" strike="noStrike" kern="1200" dirty="0">
                          <a:solidFill>
                            <a:schemeClr val="dk1"/>
                          </a:solidFill>
                          <a:effectLst/>
                          <a:latin typeface="+mn-lt"/>
                          <a:ea typeface="+mn-ea"/>
                          <a:cs typeface="+mn-cs"/>
                        </a:rPr>
                        <a:t>Set to Non mandatory in new API call</a:t>
                      </a:r>
                    </a:p>
                  </a:txBody>
                  <a:tcPr marL="6350" marR="6350" marT="6350" marB="0" anchor="b"/>
                </a:tc>
                <a:extLst>
                  <a:ext uri="{0D108BD9-81ED-4DB2-BD59-A6C34878D82A}">
                    <a16:rowId xmlns:a16="http://schemas.microsoft.com/office/drawing/2014/main" val="4276615543"/>
                  </a:ext>
                </a:extLst>
              </a:tr>
              <a:tr h="387626">
                <a:tc>
                  <a:txBody>
                    <a:bodyPr/>
                    <a:lstStyle/>
                    <a:p>
                      <a:pPr algn="l" rtl="0" fontAlgn="b"/>
                      <a:r>
                        <a:rPr lang="en-GB" sz="1000" u="none" strike="noStrike" kern="1200">
                          <a:solidFill>
                            <a:schemeClr val="dk1"/>
                          </a:solidFill>
                          <a:effectLst/>
                          <a:latin typeface="+mn-lt"/>
                          <a:ea typeface="+mn-ea"/>
                          <a:cs typeface="+mn-cs"/>
                        </a:rPr>
                        <a:t>numberOfBedrooms</a:t>
                      </a:r>
                    </a:p>
                  </a:txBody>
                  <a:tcPr marL="6350" marR="6350" marT="6350" marB="0" anchor="b"/>
                </a:tc>
                <a:tc>
                  <a:txBody>
                    <a:bodyPr/>
                    <a:lstStyle/>
                    <a:p>
                      <a:pPr algn="l" rtl="0" fontAlgn="b"/>
                      <a:r>
                        <a:rPr lang="en-GB" sz="1000" u="none" strike="noStrike" kern="1200">
                          <a:solidFill>
                            <a:schemeClr val="dk1"/>
                          </a:solidFill>
                          <a:effectLst/>
                          <a:latin typeface="+mn-lt"/>
                          <a:ea typeface="+mn-ea"/>
                          <a:cs typeface="+mn-cs"/>
                        </a:rPr>
                        <a:t>Yes, integer</a:t>
                      </a:r>
                    </a:p>
                  </a:txBody>
                  <a:tcPr marL="6350" marR="6350" marT="6350" marB="0" anchor="b"/>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GB" sz="1000" u="none" strike="noStrike" kern="1200" dirty="0">
                          <a:solidFill>
                            <a:schemeClr val="dk1"/>
                          </a:solidFill>
                          <a:effectLst/>
                          <a:latin typeface="+mn-lt"/>
                          <a:ea typeface="+mn-ea"/>
                          <a:cs typeface="+mn-cs"/>
                        </a:rPr>
                        <a:t>Lower, impacts reporting </a:t>
                      </a:r>
                    </a:p>
                    <a:p>
                      <a:pPr marL="0" algn="l" defTabSz="914400" rtl="0" eaLnBrk="1" fontAlgn="b" latinLnBrk="0" hangingPunct="1"/>
                      <a:endParaRPr lang="en-GB" sz="1000" u="none" strike="noStrike" kern="1200" dirty="0">
                        <a:solidFill>
                          <a:schemeClr val="dk1"/>
                        </a:solidFill>
                        <a:effectLst/>
                        <a:latin typeface="+mn-lt"/>
                        <a:ea typeface="+mn-ea"/>
                        <a:cs typeface="+mn-cs"/>
                      </a:endParaRPr>
                    </a:p>
                  </a:txBody>
                  <a:tcPr marL="6350" marR="6350" marT="6350" marB="0" anchor="b"/>
                </a:tc>
                <a:tc>
                  <a:txBody>
                    <a:bodyPr/>
                    <a:lstStyle/>
                    <a:p>
                      <a:pPr algn="l" rtl="0" fontAlgn="b"/>
                      <a:r>
                        <a:rPr lang="en-GB" sz="1000" u="none" strike="noStrike" kern="1200" dirty="0">
                          <a:solidFill>
                            <a:schemeClr val="dk1"/>
                          </a:solidFill>
                          <a:effectLst/>
                          <a:latin typeface="+mn-lt"/>
                          <a:ea typeface="+mn-ea"/>
                          <a:cs typeface="+mn-cs"/>
                        </a:rPr>
                        <a:t>Data not currently recorded in Grainger</a:t>
                      </a:r>
                    </a:p>
                  </a:txBody>
                  <a:tcPr marL="6350" marR="6350" marT="6350" marB="0" anchor="b"/>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GB" sz="1000" u="none" strike="noStrike" kern="1200" dirty="0">
                          <a:solidFill>
                            <a:schemeClr val="dk1"/>
                          </a:solidFill>
                          <a:effectLst/>
                          <a:latin typeface="+mn-lt"/>
                          <a:ea typeface="+mn-ea"/>
                          <a:cs typeface="+mn-cs"/>
                        </a:rPr>
                        <a:t>Set to Non mandatory in new API call</a:t>
                      </a:r>
                    </a:p>
                    <a:p>
                      <a:pPr algn="l" rtl="0" fontAlgn="b"/>
                      <a:r>
                        <a:rPr lang="en-GB" sz="1000" u="none" strike="noStrike" kern="1200" dirty="0">
                          <a:solidFill>
                            <a:schemeClr val="dk1"/>
                          </a:solidFill>
                          <a:effectLst/>
                          <a:latin typeface="+mn-lt"/>
                          <a:ea typeface="+mn-ea"/>
                          <a:cs typeface="+mn-cs"/>
                        </a:rPr>
                        <a:t> </a:t>
                      </a:r>
                    </a:p>
                  </a:txBody>
                  <a:tcPr marL="6350" marR="6350" marT="6350" marB="0" anchor="b"/>
                </a:tc>
                <a:extLst>
                  <a:ext uri="{0D108BD9-81ED-4DB2-BD59-A6C34878D82A}">
                    <a16:rowId xmlns:a16="http://schemas.microsoft.com/office/drawing/2014/main" val="1109797487"/>
                  </a:ext>
                </a:extLst>
              </a:tr>
              <a:tr h="463826">
                <a:tc>
                  <a:txBody>
                    <a:bodyPr/>
                    <a:lstStyle/>
                    <a:p>
                      <a:pPr algn="l" rtl="0" fontAlgn="b"/>
                      <a:r>
                        <a:rPr lang="en-GB" sz="1000" u="none" strike="noStrike" kern="1200" dirty="0" err="1">
                          <a:solidFill>
                            <a:schemeClr val="dk1"/>
                          </a:solidFill>
                          <a:effectLst/>
                          <a:latin typeface="+mn-lt"/>
                          <a:ea typeface="+mn-ea"/>
                          <a:cs typeface="+mn-cs"/>
                        </a:rPr>
                        <a:t>noOfAdultOccupants</a:t>
                      </a:r>
                      <a:endParaRPr lang="en-GB" sz="1000" u="none" strike="noStrike" kern="1200" dirty="0">
                        <a:solidFill>
                          <a:schemeClr val="dk1"/>
                        </a:solidFill>
                        <a:effectLst/>
                        <a:latin typeface="+mn-lt"/>
                        <a:ea typeface="+mn-ea"/>
                        <a:cs typeface="+mn-cs"/>
                      </a:endParaRPr>
                    </a:p>
                  </a:txBody>
                  <a:tcPr marL="6350" marR="6350" marT="6350" marB="0" anchor="b"/>
                </a:tc>
                <a:tc>
                  <a:txBody>
                    <a:bodyPr/>
                    <a:lstStyle/>
                    <a:p>
                      <a:pPr algn="l" rtl="0" fontAlgn="b"/>
                      <a:r>
                        <a:rPr lang="en-GB" sz="1000" u="none" strike="noStrike" kern="1200" dirty="0">
                          <a:solidFill>
                            <a:schemeClr val="dk1"/>
                          </a:solidFill>
                          <a:effectLst/>
                          <a:latin typeface="+mn-lt"/>
                          <a:ea typeface="+mn-ea"/>
                          <a:cs typeface="+mn-cs"/>
                        </a:rPr>
                        <a:t>Yes, integer</a:t>
                      </a:r>
                    </a:p>
                  </a:txBody>
                  <a:tcPr marL="6350" marR="6350" marT="6350" marB="0" anchor="b"/>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GB" sz="1000" u="none" strike="noStrike" kern="1200" dirty="0">
                          <a:solidFill>
                            <a:schemeClr val="dk1"/>
                          </a:solidFill>
                          <a:effectLst/>
                          <a:latin typeface="+mn-lt"/>
                          <a:ea typeface="+mn-ea"/>
                          <a:cs typeface="+mn-cs"/>
                        </a:rPr>
                        <a:t>High, impacts referencing chance</a:t>
                      </a:r>
                    </a:p>
                    <a:p>
                      <a:pPr algn="l" fontAlgn="b"/>
                      <a:endParaRPr lang="en-GB" sz="1000" u="none" strike="noStrike" kern="1200" dirty="0">
                        <a:solidFill>
                          <a:schemeClr val="dk1"/>
                        </a:solidFill>
                        <a:effectLst/>
                        <a:latin typeface="+mn-lt"/>
                        <a:ea typeface="+mn-ea"/>
                        <a:cs typeface="+mn-cs"/>
                      </a:endParaRPr>
                    </a:p>
                  </a:txBody>
                  <a:tcPr marL="6350" marR="6350" marT="6350" marB="0" anchor="b"/>
                </a:tc>
                <a:tc>
                  <a:txBody>
                    <a:bodyPr/>
                    <a:lstStyle/>
                    <a:p>
                      <a:pPr algn="l" rtl="0" fontAlgn="b"/>
                      <a:r>
                        <a:rPr lang="en-GB" sz="1000" u="none" strike="noStrike" kern="1200" dirty="0">
                          <a:solidFill>
                            <a:schemeClr val="dk1"/>
                          </a:solidFill>
                          <a:effectLst/>
                          <a:latin typeface="+mn-lt"/>
                          <a:ea typeface="+mn-ea"/>
                          <a:cs typeface="+mn-cs"/>
                        </a:rPr>
                        <a:t>Data not currently recorded in Grainger</a:t>
                      </a:r>
                    </a:p>
                  </a:txBody>
                  <a:tcPr marL="6350" marR="6350" marT="6350" marB="0" anchor="b"/>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GB" sz="1000" u="none" strike="noStrike" kern="1200" dirty="0">
                          <a:solidFill>
                            <a:schemeClr val="dk1"/>
                          </a:solidFill>
                          <a:effectLst/>
                          <a:latin typeface="+mn-lt"/>
                          <a:ea typeface="+mn-ea"/>
                          <a:cs typeface="+mn-cs"/>
                        </a:rPr>
                        <a:t>Recommend using tenant count,  </a:t>
                      </a:r>
                    </a:p>
                    <a:p>
                      <a:pPr marL="0" marR="0" lvl="0" indent="0" algn="l" defTabSz="914400" rtl="0" eaLnBrk="1" fontAlgn="b" latinLnBrk="0" hangingPunct="1">
                        <a:lnSpc>
                          <a:spcPct val="100000"/>
                        </a:lnSpc>
                        <a:spcBef>
                          <a:spcPts val="0"/>
                        </a:spcBef>
                        <a:spcAft>
                          <a:spcPts val="0"/>
                        </a:spcAft>
                        <a:buClrTx/>
                        <a:buSzTx/>
                        <a:buFontTx/>
                        <a:buNone/>
                        <a:tabLst/>
                        <a:defRPr/>
                      </a:pPr>
                      <a:r>
                        <a:rPr lang="en-GB" sz="1000" u="none" strike="noStrike" kern="1200" dirty="0">
                          <a:solidFill>
                            <a:schemeClr val="dk1"/>
                          </a:solidFill>
                          <a:effectLst/>
                          <a:latin typeface="+mn-lt"/>
                          <a:ea typeface="+mn-ea"/>
                          <a:cs typeface="+mn-cs"/>
                        </a:rPr>
                        <a:t>Set to Non mandatory in new API call.</a:t>
                      </a:r>
                    </a:p>
                  </a:txBody>
                  <a:tcPr marL="6350" marR="6350" marT="6350" marB="0" anchor="b"/>
                </a:tc>
                <a:extLst>
                  <a:ext uri="{0D108BD9-81ED-4DB2-BD59-A6C34878D82A}">
                    <a16:rowId xmlns:a16="http://schemas.microsoft.com/office/drawing/2014/main" val="1922089198"/>
                  </a:ext>
                </a:extLst>
              </a:tr>
              <a:tr h="292100">
                <a:tc>
                  <a:txBody>
                    <a:bodyPr/>
                    <a:lstStyle/>
                    <a:p>
                      <a:pPr algn="l" rtl="0" fontAlgn="b"/>
                      <a:r>
                        <a:rPr lang="en-GB" sz="1000" u="none" strike="noStrike" kern="1200" dirty="0" err="1">
                          <a:solidFill>
                            <a:schemeClr val="dk1"/>
                          </a:solidFill>
                          <a:effectLst/>
                          <a:latin typeface="+mn-lt"/>
                          <a:ea typeface="+mn-ea"/>
                          <a:cs typeface="+mn-cs"/>
                        </a:rPr>
                        <a:t>noOfChildOccupants</a:t>
                      </a:r>
                      <a:endParaRPr lang="en-GB" sz="1000" u="none" strike="noStrike" kern="1200" dirty="0">
                        <a:solidFill>
                          <a:schemeClr val="dk1"/>
                        </a:solidFill>
                        <a:effectLst/>
                        <a:latin typeface="+mn-lt"/>
                        <a:ea typeface="+mn-ea"/>
                        <a:cs typeface="+mn-cs"/>
                      </a:endParaRPr>
                    </a:p>
                  </a:txBody>
                  <a:tcPr marL="6350" marR="6350" marT="6350" marB="0" anchor="b"/>
                </a:tc>
                <a:tc>
                  <a:txBody>
                    <a:bodyPr/>
                    <a:lstStyle/>
                    <a:p>
                      <a:pPr algn="l" rtl="0" fontAlgn="b"/>
                      <a:r>
                        <a:rPr lang="en-GB" sz="1000" u="none" strike="noStrike" kern="1200" dirty="0">
                          <a:solidFill>
                            <a:schemeClr val="dk1"/>
                          </a:solidFill>
                          <a:effectLst/>
                          <a:latin typeface="+mn-lt"/>
                          <a:ea typeface="+mn-ea"/>
                          <a:cs typeface="+mn-cs"/>
                        </a:rPr>
                        <a:t>Yes, integer</a:t>
                      </a:r>
                    </a:p>
                  </a:txBody>
                  <a:tcPr marL="6350" marR="6350" marT="6350" marB="0" anchor="b"/>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GB" sz="1000" u="none" strike="noStrike" kern="1200" dirty="0">
                          <a:solidFill>
                            <a:schemeClr val="dk1"/>
                          </a:solidFill>
                          <a:effectLst/>
                          <a:latin typeface="+mn-lt"/>
                          <a:ea typeface="+mn-ea"/>
                          <a:cs typeface="+mn-cs"/>
                        </a:rPr>
                        <a:t>Lower, impacts reporting </a:t>
                      </a:r>
                    </a:p>
                    <a:p>
                      <a:pPr algn="l" fontAlgn="b"/>
                      <a:endParaRPr lang="en-GB" sz="1000" u="none" strike="noStrike" kern="1200" dirty="0">
                        <a:solidFill>
                          <a:schemeClr val="dk1"/>
                        </a:solidFill>
                        <a:effectLst/>
                        <a:latin typeface="+mn-lt"/>
                        <a:ea typeface="+mn-ea"/>
                        <a:cs typeface="+mn-cs"/>
                      </a:endParaRPr>
                    </a:p>
                  </a:txBody>
                  <a:tcPr marL="6350" marR="6350" marT="6350" marB="0" anchor="b"/>
                </a:tc>
                <a:tc>
                  <a:txBody>
                    <a:bodyPr/>
                    <a:lstStyle/>
                    <a:p>
                      <a:pPr algn="l" rtl="0" fontAlgn="b"/>
                      <a:r>
                        <a:rPr lang="en-GB" sz="1000" u="none" strike="noStrike" kern="1200" dirty="0">
                          <a:solidFill>
                            <a:schemeClr val="dk1"/>
                          </a:solidFill>
                          <a:effectLst/>
                          <a:latin typeface="+mn-lt"/>
                          <a:ea typeface="+mn-ea"/>
                          <a:cs typeface="+mn-cs"/>
                        </a:rPr>
                        <a:t>Data not currently recorded in Grainger</a:t>
                      </a:r>
                    </a:p>
                  </a:txBody>
                  <a:tcPr marL="6350" marR="6350" marT="6350" marB="0" anchor="b"/>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GB" sz="1000" u="none" strike="noStrike" kern="1200" dirty="0">
                          <a:solidFill>
                            <a:schemeClr val="dk1"/>
                          </a:solidFill>
                          <a:effectLst/>
                          <a:latin typeface="+mn-lt"/>
                          <a:ea typeface="+mn-ea"/>
                          <a:cs typeface="+mn-cs"/>
                        </a:rPr>
                        <a:t>Set to Non mandatory in new API call</a:t>
                      </a:r>
                    </a:p>
                    <a:p>
                      <a:pPr algn="l" rtl="0" fontAlgn="b"/>
                      <a:r>
                        <a:rPr lang="en-GB" sz="1000" u="none" strike="noStrike" kern="1200" dirty="0">
                          <a:solidFill>
                            <a:schemeClr val="dk1"/>
                          </a:solidFill>
                          <a:effectLst/>
                          <a:latin typeface="+mn-lt"/>
                          <a:ea typeface="+mn-ea"/>
                          <a:cs typeface="+mn-cs"/>
                        </a:rPr>
                        <a:t> </a:t>
                      </a:r>
                    </a:p>
                  </a:txBody>
                  <a:tcPr marL="6350" marR="6350" marT="6350" marB="0" anchor="b"/>
                </a:tc>
                <a:extLst>
                  <a:ext uri="{0D108BD9-81ED-4DB2-BD59-A6C34878D82A}">
                    <a16:rowId xmlns:a16="http://schemas.microsoft.com/office/drawing/2014/main" val="4036439326"/>
                  </a:ext>
                </a:extLst>
              </a:tr>
              <a:tr h="292100">
                <a:tc>
                  <a:txBody>
                    <a:bodyPr/>
                    <a:lstStyle/>
                    <a:p>
                      <a:pPr algn="l" fontAlgn="b"/>
                      <a:r>
                        <a:rPr lang="en-GB" sz="2800" u="none" strike="noStrike">
                          <a:effectLst/>
                        </a:rPr>
                        <a:t> </a:t>
                      </a:r>
                      <a:endParaRPr lang="en-GB" sz="2800" b="0" i="0" u="none" strike="noStrike">
                        <a:solidFill>
                          <a:srgbClr val="000000"/>
                        </a:solidFill>
                        <a:effectLst/>
                        <a:latin typeface="Arial" panose="020B0604020202020204" pitchFamily="34" charset="0"/>
                      </a:endParaRPr>
                    </a:p>
                  </a:txBody>
                  <a:tcPr marL="6350" marR="6350" marT="6350" marB="0" anchor="b"/>
                </a:tc>
                <a:tc>
                  <a:txBody>
                    <a:bodyPr/>
                    <a:lstStyle/>
                    <a:p>
                      <a:pPr algn="l" fontAlgn="b"/>
                      <a:r>
                        <a:rPr lang="en-GB" sz="2800" u="none" strike="noStrike" dirty="0">
                          <a:effectLst/>
                        </a:rPr>
                        <a:t> </a:t>
                      </a:r>
                      <a:endParaRPr lang="en-GB" sz="2800" b="0" i="0" u="none" strike="noStrike" dirty="0">
                        <a:solidFill>
                          <a:srgbClr val="000000"/>
                        </a:solidFill>
                        <a:effectLst/>
                        <a:latin typeface="Arial" panose="020B0604020202020204" pitchFamily="34" charset="0"/>
                      </a:endParaRPr>
                    </a:p>
                  </a:txBody>
                  <a:tcPr marL="6350" marR="6350" marT="6350" marB="0" anchor="b"/>
                </a:tc>
                <a:tc>
                  <a:txBody>
                    <a:bodyPr/>
                    <a:lstStyle/>
                    <a:p>
                      <a:pPr algn="l" fontAlgn="b"/>
                      <a:r>
                        <a:rPr lang="en-GB" sz="2800" u="none" strike="noStrike" dirty="0">
                          <a:effectLst/>
                        </a:rPr>
                        <a:t> </a:t>
                      </a:r>
                      <a:endParaRPr lang="en-GB" sz="2800" b="0" i="0" u="none" strike="noStrike" dirty="0">
                        <a:solidFill>
                          <a:srgbClr val="000000"/>
                        </a:solidFill>
                        <a:effectLst/>
                        <a:latin typeface="Arial" panose="020B0604020202020204" pitchFamily="34" charset="0"/>
                      </a:endParaRPr>
                    </a:p>
                  </a:txBody>
                  <a:tcPr marL="6350" marR="6350" marT="6350" marB="0" anchor="b"/>
                </a:tc>
                <a:tc>
                  <a:txBody>
                    <a:bodyPr/>
                    <a:lstStyle/>
                    <a:p>
                      <a:pPr algn="l" fontAlgn="b"/>
                      <a:r>
                        <a:rPr lang="en-GB" sz="2800" u="none" strike="noStrike" dirty="0">
                          <a:effectLst/>
                        </a:rPr>
                        <a:t> </a:t>
                      </a:r>
                      <a:endParaRPr lang="en-GB" sz="2800" b="0" i="0" u="none" strike="noStrike" dirty="0">
                        <a:solidFill>
                          <a:srgbClr val="000000"/>
                        </a:solidFill>
                        <a:effectLst/>
                        <a:latin typeface="Arial" panose="020B0604020202020204" pitchFamily="34" charset="0"/>
                      </a:endParaRPr>
                    </a:p>
                  </a:txBody>
                  <a:tcPr marL="6350" marR="6350" marT="6350" marB="0" anchor="b"/>
                </a:tc>
                <a:tc>
                  <a:txBody>
                    <a:bodyPr/>
                    <a:lstStyle/>
                    <a:p>
                      <a:pPr algn="l" rtl="0" fontAlgn="b"/>
                      <a:r>
                        <a:rPr lang="en-GB" sz="1000" u="none" strike="noStrike" dirty="0">
                          <a:effectLst/>
                        </a:rPr>
                        <a:t> </a:t>
                      </a:r>
                      <a:endParaRPr lang="en-GB" sz="1000" b="0" i="0" u="none" strike="noStrike" dirty="0">
                        <a:solidFill>
                          <a:srgbClr val="E3B9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702743145"/>
                  </a:ext>
                </a:extLst>
              </a:tr>
              <a:tr h="292100">
                <a:tc>
                  <a:txBody>
                    <a:bodyPr/>
                    <a:lstStyle/>
                    <a:p>
                      <a:pPr algn="l" rtl="0" fontAlgn="b"/>
                      <a:r>
                        <a:rPr lang="en-GB" sz="1600" b="1" u="none" strike="noStrike" dirty="0">
                          <a:effectLst/>
                        </a:rPr>
                        <a:t>Applicant </a:t>
                      </a:r>
                      <a:endParaRPr lang="en-GB" sz="1600" b="1" i="0" u="none" strike="noStrike" dirty="0">
                        <a:solidFill>
                          <a:srgbClr val="E3B900"/>
                        </a:solidFill>
                        <a:effectLst/>
                        <a:latin typeface="Calibri" panose="020F0502020204030204" pitchFamily="34" charset="0"/>
                      </a:endParaRPr>
                    </a:p>
                  </a:txBody>
                  <a:tcPr marL="6350" marR="6350" marT="6350" marB="0" anchor="b"/>
                </a:tc>
                <a:tc>
                  <a:txBody>
                    <a:bodyPr/>
                    <a:lstStyle/>
                    <a:p>
                      <a:pPr algn="l" fontAlgn="b"/>
                      <a:r>
                        <a:rPr lang="en-GB" sz="2800" u="none" strike="noStrike">
                          <a:effectLst/>
                        </a:rPr>
                        <a:t> </a:t>
                      </a:r>
                      <a:endParaRPr lang="en-GB" sz="2800" b="0" i="0" u="none" strike="noStrike">
                        <a:solidFill>
                          <a:srgbClr val="000000"/>
                        </a:solidFill>
                        <a:effectLst/>
                        <a:latin typeface="Arial" panose="020B0604020202020204" pitchFamily="34" charset="0"/>
                      </a:endParaRPr>
                    </a:p>
                  </a:txBody>
                  <a:tcPr marL="6350" marR="6350" marT="6350" marB="0" anchor="b"/>
                </a:tc>
                <a:tc>
                  <a:txBody>
                    <a:bodyPr/>
                    <a:lstStyle/>
                    <a:p>
                      <a:pPr algn="l" fontAlgn="b"/>
                      <a:r>
                        <a:rPr lang="en-GB" sz="2800" u="none" strike="noStrike" dirty="0">
                          <a:effectLst/>
                        </a:rPr>
                        <a:t> </a:t>
                      </a:r>
                      <a:endParaRPr lang="en-GB" sz="2800" b="0" i="0" u="none" strike="noStrike" dirty="0">
                        <a:solidFill>
                          <a:srgbClr val="000000"/>
                        </a:solidFill>
                        <a:effectLst/>
                        <a:latin typeface="Arial" panose="020B0604020202020204" pitchFamily="34" charset="0"/>
                      </a:endParaRPr>
                    </a:p>
                  </a:txBody>
                  <a:tcPr marL="6350" marR="6350" marT="6350" marB="0" anchor="b"/>
                </a:tc>
                <a:tc>
                  <a:txBody>
                    <a:bodyPr/>
                    <a:lstStyle/>
                    <a:p>
                      <a:pPr algn="l" fontAlgn="b"/>
                      <a:r>
                        <a:rPr lang="en-GB" sz="2800" u="none" strike="noStrike" dirty="0">
                          <a:effectLst/>
                        </a:rPr>
                        <a:t> </a:t>
                      </a:r>
                      <a:endParaRPr lang="en-GB" sz="2800" b="0" i="0" u="none" strike="noStrike" dirty="0">
                        <a:solidFill>
                          <a:srgbClr val="000000"/>
                        </a:solidFill>
                        <a:effectLst/>
                        <a:latin typeface="Arial" panose="020B0604020202020204" pitchFamily="34" charset="0"/>
                      </a:endParaRPr>
                    </a:p>
                  </a:txBody>
                  <a:tcPr marL="6350" marR="6350" marT="6350" marB="0" anchor="b"/>
                </a:tc>
                <a:tc>
                  <a:txBody>
                    <a:bodyPr/>
                    <a:lstStyle/>
                    <a:p>
                      <a:pPr algn="l" rtl="0" fontAlgn="b"/>
                      <a:r>
                        <a:rPr lang="en-GB" sz="1000" u="none" strike="noStrike">
                          <a:effectLst/>
                        </a:rPr>
                        <a:t> </a:t>
                      </a:r>
                      <a:endParaRPr lang="en-GB" sz="1000" b="0" i="0" u="none" strike="noStrike">
                        <a:solidFill>
                          <a:srgbClr val="E3B9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043935339"/>
                  </a:ext>
                </a:extLst>
              </a:tr>
              <a:tr h="260350">
                <a:tc>
                  <a:txBody>
                    <a:bodyPr/>
                    <a:lstStyle/>
                    <a:p>
                      <a:pPr algn="l" rtl="0" fontAlgn="b"/>
                      <a:r>
                        <a:rPr lang="en-GB" sz="1000" u="none" strike="noStrike" dirty="0">
                          <a:effectLst/>
                        </a:rPr>
                        <a:t>title</a:t>
                      </a:r>
                      <a:endParaRPr lang="en-GB" sz="1000" b="0" i="0" u="none" strike="noStrike" dirty="0">
                        <a:solidFill>
                          <a:srgbClr val="E3B900"/>
                        </a:solidFill>
                        <a:effectLst/>
                        <a:latin typeface="Calibri" panose="020F0502020204030204" pitchFamily="34" charset="0"/>
                      </a:endParaRPr>
                    </a:p>
                  </a:txBody>
                  <a:tcPr marL="6350" marR="6350" marT="6350" marB="0" anchor="b"/>
                </a:tc>
                <a:tc>
                  <a:txBody>
                    <a:bodyPr/>
                    <a:lstStyle/>
                    <a:p>
                      <a:pPr algn="l" rtl="0" fontAlgn="b"/>
                      <a:r>
                        <a:rPr lang="en-GB" sz="1000" u="none" strike="noStrike" dirty="0">
                          <a:effectLst/>
                        </a:rPr>
                        <a:t>Yes, </a:t>
                      </a:r>
                      <a:r>
                        <a:rPr lang="en-GB" sz="1000" u="none" strike="noStrike" dirty="0" err="1">
                          <a:effectLst/>
                        </a:rPr>
                        <a:t>enum</a:t>
                      </a:r>
                      <a:r>
                        <a:rPr lang="en-GB" sz="1000" u="none" strike="noStrike" dirty="0">
                          <a:effectLst/>
                        </a:rPr>
                        <a:t> lookup</a:t>
                      </a:r>
                      <a:endParaRPr lang="en-GB" sz="1000" b="0" i="0" u="none" strike="noStrike" dirty="0">
                        <a:solidFill>
                          <a:srgbClr val="E3B900"/>
                        </a:solidFill>
                        <a:effectLst/>
                        <a:latin typeface="Calibri" panose="020F0502020204030204" pitchFamily="34" charset="0"/>
                      </a:endParaRPr>
                    </a:p>
                  </a:txBody>
                  <a:tcPr marL="6350" marR="6350" marT="6350" marB="0" anchor="b"/>
                </a:tc>
                <a:tc>
                  <a:txBody>
                    <a:bodyPr/>
                    <a:lstStyle/>
                    <a:p>
                      <a:pPr algn="l" rtl="0" fontAlgn="b"/>
                      <a:r>
                        <a:rPr lang="en-GB" sz="1000" u="none" strike="noStrike" dirty="0">
                          <a:effectLst/>
                        </a:rPr>
                        <a:t>High, impacts referencing chance</a:t>
                      </a:r>
                      <a:endParaRPr lang="en-GB" sz="1000" b="0" i="0" u="none" strike="noStrike" dirty="0">
                        <a:solidFill>
                          <a:srgbClr val="E3B900"/>
                        </a:solidFill>
                        <a:effectLst/>
                        <a:latin typeface="Calibri" panose="020F0502020204030204" pitchFamily="34" charset="0"/>
                      </a:endParaRPr>
                    </a:p>
                  </a:txBody>
                  <a:tcPr marL="6350" marR="6350" marT="6350" marB="0" anchor="b"/>
                </a:tc>
                <a:tc>
                  <a:txBody>
                    <a:bodyPr/>
                    <a:lstStyle/>
                    <a:p>
                      <a:pPr algn="l" rtl="0" fontAlgn="b"/>
                      <a:r>
                        <a:rPr lang="en-GB" sz="1000" u="none" strike="noStrike" dirty="0">
                          <a:effectLst/>
                        </a:rPr>
                        <a:t>Data not currently mandatory in Grainger, not always recorded</a:t>
                      </a:r>
                      <a:endParaRPr lang="en-GB" sz="1000" b="0" i="0" u="none" strike="noStrike" dirty="0">
                        <a:solidFill>
                          <a:srgbClr val="E3B900"/>
                        </a:solidFill>
                        <a:effectLst/>
                        <a:latin typeface="Calibri" panose="020F0502020204030204" pitchFamily="34" charset="0"/>
                      </a:endParaRPr>
                    </a:p>
                  </a:txBody>
                  <a:tcPr marL="6350" marR="6350" marT="6350" marB="0" anchor="b"/>
                </a:tc>
                <a:tc>
                  <a:txBody>
                    <a:bodyPr/>
                    <a:lstStyle/>
                    <a:p>
                      <a:pPr algn="l" rtl="0" fontAlgn="b"/>
                      <a:r>
                        <a:rPr lang="en-GB" sz="1000" u="none" strike="noStrike" dirty="0">
                          <a:effectLst/>
                        </a:rPr>
                        <a:t>Grainger to amend system to provide title. </a:t>
                      </a:r>
                      <a:r>
                        <a:rPr lang="en-GB" sz="1000" b="1" u="none" strike="noStrike" dirty="0">
                          <a:effectLst/>
                        </a:rPr>
                        <a:t>Confirmed that Tenant has the ability to amend details in first screen of </a:t>
                      </a:r>
                      <a:r>
                        <a:rPr lang="en-GB" sz="1000" b="1" u="none" strike="noStrike" dirty="0" err="1">
                          <a:effectLst/>
                        </a:rPr>
                        <a:t>iframe</a:t>
                      </a:r>
                      <a:endParaRPr lang="en-GB" sz="1000" b="1" i="0" u="none" strike="noStrike" dirty="0">
                        <a:solidFill>
                          <a:srgbClr val="E3B9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702464774"/>
                  </a:ext>
                </a:extLst>
              </a:tr>
              <a:tr h="514350">
                <a:tc>
                  <a:txBody>
                    <a:bodyPr/>
                    <a:lstStyle/>
                    <a:p>
                      <a:pPr algn="l" rtl="0" fontAlgn="b"/>
                      <a:r>
                        <a:rPr lang="en-GB" sz="1000" u="none" strike="noStrike">
                          <a:effectLst/>
                        </a:rPr>
                        <a:t>telephoneCountryID</a:t>
                      </a:r>
                      <a:endParaRPr lang="en-GB" sz="1000" b="0" i="0" u="none" strike="noStrike">
                        <a:solidFill>
                          <a:srgbClr val="E3B900"/>
                        </a:solidFill>
                        <a:effectLst/>
                        <a:latin typeface="Calibri" panose="020F0502020204030204" pitchFamily="34" charset="0"/>
                      </a:endParaRPr>
                    </a:p>
                  </a:txBody>
                  <a:tcPr marL="6350" marR="6350" marT="6350" marB="0" anchor="b"/>
                </a:tc>
                <a:tc>
                  <a:txBody>
                    <a:bodyPr/>
                    <a:lstStyle/>
                    <a:p>
                      <a:pPr algn="l" rtl="0" fontAlgn="b"/>
                      <a:r>
                        <a:rPr lang="en-GB" sz="1000" u="none" strike="noStrike" kern="1200" dirty="0">
                          <a:solidFill>
                            <a:schemeClr val="dk1"/>
                          </a:solidFill>
                          <a:effectLst/>
                          <a:latin typeface="+mn-lt"/>
                          <a:ea typeface="+mn-ea"/>
                          <a:cs typeface="+mn-cs"/>
                        </a:rPr>
                        <a:t>Yes, </a:t>
                      </a:r>
                      <a:r>
                        <a:rPr lang="en-GB" sz="1000" u="none" strike="noStrike" kern="1200" dirty="0" err="1">
                          <a:solidFill>
                            <a:schemeClr val="dk1"/>
                          </a:solidFill>
                          <a:effectLst/>
                          <a:latin typeface="+mn-lt"/>
                          <a:ea typeface="+mn-ea"/>
                          <a:cs typeface="+mn-cs"/>
                        </a:rPr>
                        <a:t>enum</a:t>
                      </a:r>
                      <a:r>
                        <a:rPr lang="en-GB" sz="1000" u="none" strike="noStrike" kern="1200" dirty="0">
                          <a:solidFill>
                            <a:schemeClr val="dk1"/>
                          </a:solidFill>
                          <a:effectLst/>
                          <a:latin typeface="+mn-lt"/>
                          <a:ea typeface="+mn-ea"/>
                          <a:cs typeface="+mn-cs"/>
                        </a:rPr>
                        <a:t> lookup</a:t>
                      </a:r>
                    </a:p>
                  </a:txBody>
                  <a:tcPr marL="6350" marR="6350" marT="6350" marB="0" anchor="b"/>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GB" sz="1000" u="none" strike="noStrike" kern="1200" dirty="0">
                          <a:solidFill>
                            <a:schemeClr val="dk1"/>
                          </a:solidFill>
                          <a:effectLst/>
                          <a:latin typeface="+mn-lt"/>
                          <a:ea typeface="+mn-ea"/>
                          <a:cs typeface="+mn-cs"/>
                        </a:rPr>
                        <a:t> High, impacts referencing chance</a:t>
                      </a:r>
                    </a:p>
                  </a:txBody>
                  <a:tcPr marL="6350" marR="6350" marT="6350" marB="0" anchor="b"/>
                </a:tc>
                <a:tc>
                  <a:txBody>
                    <a:bodyPr/>
                    <a:lstStyle/>
                    <a:p>
                      <a:pPr algn="l" rtl="0" fontAlgn="b"/>
                      <a:r>
                        <a:rPr lang="en-GB" sz="1000" u="none" strike="noStrike" dirty="0">
                          <a:effectLst/>
                        </a:rPr>
                        <a:t>Data not currently recorded in Grainger, Telephone number is free text and can have country code or not</a:t>
                      </a:r>
                      <a:endParaRPr lang="en-GB" sz="1000" b="0" i="0" u="none" strike="noStrike" dirty="0">
                        <a:solidFill>
                          <a:srgbClr val="E3B900"/>
                        </a:solidFill>
                        <a:effectLst/>
                        <a:latin typeface="Calibri" panose="020F0502020204030204" pitchFamily="34" charset="0"/>
                      </a:endParaRPr>
                    </a:p>
                  </a:txBody>
                  <a:tcPr marL="6350" marR="6350" marT="6350" marB="0" anchor="b"/>
                </a:tc>
                <a:tc>
                  <a:txBody>
                    <a:bodyPr/>
                    <a:lstStyle/>
                    <a:p>
                      <a:pPr algn="l" rtl="0" fontAlgn="b"/>
                      <a:r>
                        <a:rPr lang="en-GB" sz="1000" b="1" u="none" strike="noStrike" dirty="0">
                          <a:effectLst/>
                        </a:rPr>
                        <a:t>Confirmed that Tenant has the ability to amend details in first screen of </a:t>
                      </a:r>
                      <a:r>
                        <a:rPr lang="en-GB" sz="1000" b="1" u="none" strike="noStrike" dirty="0" err="1">
                          <a:effectLst/>
                        </a:rPr>
                        <a:t>iframe</a:t>
                      </a:r>
                      <a:r>
                        <a:rPr lang="en-GB" sz="1000" u="none" strike="noStrike" dirty="0">
                          <a:effectLst/>
                        </a:rPr>
                        <a:t> </a:t>
                      </a:r>
                      <a:endParaRPr lang="en-GB" sz="1000" b="0" i="0" u="none" strike="noStrike" dirty="0">
                        <a:solidFill>
                          <a:srgbClr val="E3B9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362065040"/>
                  </a:ext>
                </a:extLst>
              </a:tr>
            </a:tbl>
          </a:graphicData>
        </a:graphic>
      </p:graphicFrame>
    </p:spTree>
    <p:extLst>
      <p:ext uri="{BB962C8B-B14F-4D97-AF65-F5344CB8AC3E}">
        <p14:creationId xmlns:p14="http://schemas.microsoft.com/office/powerpoint/2010/main" val="41030545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762FFB6-9E17-33AF-EAFD-E57FA722F514}"/>
              </a:ext>
            </a:extLst>
          </p:cNvPr>
          <p:cNvSpPr>
            <a:spLocks noGrp="1"/>
          </p:cNvSpPr>
          <p:nvPr>
            <p:ph type="sldNum" sz="quarter" idx="12"/>
          </p:nvPr>
        </p:nvSpPr>
        <p:spPr/>
        <p:txBody>
          <a:bodyPr/>
          <a:lstStyle/>
          <a:p>
            <a:r>
              <a:rPr lang="en-IN" dirty="0"/>
              <a:t>“</a:t>
            </a:r>
          </a:p>
        </p:txBody>
      </p:sp>
      <p:pic>
        <p:nvPicPr>
          <p:cNvPr id="6" name="Picture 5">
            <a:extLst>
              <a:ext uri="{FF2B5EF4-FFF2-40B4-BE49-F238E27FC236}">
                <a16:creationId xmlns:a16="http://schemas.microsoft.com/office/drawing/2014/main" id="{960317E0-97C8-7FD3-F734-9512DB59C892}"/>
              </a:ext>
            </a:extLst>
          </p:cNvPr>
          <p:cNvPicPr>
            <a:picLocks noChangeAspect="1"/>
          </p:cNvPicPr>
          <p:nvPr/>
        </p:nvPicPr>
        <p:blipFill>
          <a:blip r:embed="rId2"/>
          <a:stretch>
            <a:fillRect/>
          </a:stretch>
        </p:blipFill>
        <p:spPr>
          <a:xfrm>
            <a:off x="0" y="779363"/>
            <a:ext cx="9144000" cy="5299274"/>
          </a:xfrm>
          <a:prstGeom prst="rect">
            <a:avLst/>
          </a:prstGeom>
        </p:spPr>
      </p:pic>
      <p:sp>
        <p:nvSpPr>
          <p:cNvPr id="7" name="Rectangle 6">
            <a:extLst>
              <a:ext uri="{FF2B5EF4-FFF2-40B4-BE49-F238E27FC236}">
                <a16:creationId xmlns:a16="http://schemas.microsoft.com/office/drawing/2014/main" id="{EBC5AD71-DDB4-3F5A-813F-8E739BEEF289}"/>
              </a:ext>
            </a:extLst>
          </p:cNvPr>
          <p:cNvSpPr/>
          <p:nvPr/>
        </p:nvSpPr>
        <p:spPr>
          <a:xfrm>
            <a:off x="0" y="6698746"/>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A70FD34B-65AB-3498-7EEE-F3416C329482}"/>
              </a:ext>
            </a:extLst>
          </p:cNvPr>
          <p:cNvSpPr/>
          <p:nvPr/>
        </p:nvSpPr>
        <p:spPr>
          <a:xfrm>
            <a:off x="0" y="-2862"/>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8A0A77DC-BEB4-1EB4-23A0-82190098AD98}"/>
              </a:ext>
            </a:extLst>
          </p:cNvPr>
          <p:cNvSpPr txBox="1"/>
          <p:nvPr/>
        </p:nvSpPr>
        <p:spPr>
          <a:xfrm>
            <a:off x="121920" y="262538"/>
            <a:ext cx="6099976" cy="830997"/>
          </a:xfrm>
          <a:prstGeom prst="rect">
            <a:avLst/>
          </a:prstGeom>
          <a:noFill/>
        </p:spPr>
        <p:txBody>
          <a:bodyPr wrap="square" rtlCol="0">
            <a:spAutoFit/>
          </a:bodyPr>
          <a:lstStyle/>
          <a:p>
            <a:r>
              <a:rPr lang="en-GB" sz="2400" b="1" dirty="0"/>
              <a:t>Additional Portal Validation</a:t>
            </a:r>
          </a:p>
          <a:p>
            <a:endParaRPr lang="en-GB" sz="2400" b="1" dirty="0"/>
          </a:p>
        </p:txBody>
      </p:sp>
    </p:spTree>
    <p:extLst>
      <p:ext uri="{BB962C8B-B14F-4D97-AF65-F5344CB8AC3E}">
        <p14:creationId xmlns:p14="http://schemas.microsoft.com/office/powerpoint/2010/main" val="36636591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F14FA80-2BA9-457A-FA25-B93C3A01FA28}"/>
              </a:ext>
            </a:extLst>
          </p:cNvPr>
          <p:cNvSpPr/>
          <p:nvPr/>
        </p:nvSpPr>
        <p:spPr>
          <a:xfrm>
            <a:off x="0" y="6698746"/>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50F25BA2-BB5D-4D3B-0601-2BB13AD968D4}"/>
              </a:ext>
            </a:extLst>
          </p:cNvPr>
          <p:cNvSpPr/>
          <p:nvPr/>
        </p:nvSpPr>
        <p:spPr>
          <a:xfrm>
            <a:off x="0" y="-2862"/>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81EBFAA3-FF8D-65C4-0788-5826D719A8D4}"/>
              </a:ext>
            </a:extLst>
          </p:cNvPr>
          <p:cNvSpPr txBox="1"/>
          <p:nvPr/>
        </p:nvSpPr>
        <p:spPr>
          <a:xfrm>
            <a:off x="121920" y="262537"/>
            <a:ext cx="5474547" cy="830997"/>
          </a:xfrm>
          <a:prstGeom prst="rect">
            <a:avLst/>
          </a:prstGeom>
          <a:noFill/>
        </p:spPr>
        <p:txBody>
          <a:bodyPr wrap="square" rtlCol="0">
            <a:spAutoFit/>
          </a:bodyPr>
          <a:lstStyle/>
          <a:p>
            <a:r>
              <a:rPr lang="en-GB" sz="2400" b="1" dirty="0"/>
              <a:t>Vision+ /Grainger Identity mapping</a:t>
            </a:r>
          </a:p>
          <a:p>
            <a:endParaRPr lang="en-GB" sz="2400" b="1" dirty="0"/>
          </a:p>
        </p:txBody>
      </p:sp>
      <p:pic>
        <p:nvPicPr>
          <p:cNvPr id="3" name="Picture 2" descr="A picture containing graphical user interface&#10;&#10;Description automatically generated">
            <a:extLst>
              <a:ext uri="{FF2B5EF4-FFF2-40B4-BE49-F238E27FC236}">
                <a16:creationId xmlns:a16="http://schemas.microsoft.com/office/drawing/2014/main" id="{5DF9AF62-1CEF-F85B-59CE-A6C91F539DA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91795" y="1002215"/>
            <a:ext cx="2364105" cy="2857566"/>
          </a:xfrm>
          <a:prstGeom prst="rect">
            <a:avLst/>
          </a:prstGeom>
          <a:noFill/>
          <a:ln>
            <a:noFill/>
          </a:ln>
        </p:spPr>
      </p:pic>
      <p:sp>
        <p:nvSpPr>
          <p:cNvPr id="6" name="Rectangle 5">
            <a:extLst>
              <a:ext uri="{FF2B5EF4-FFF2-40B4-BE49-F238E27FC236}">
                <a16:creationId xmlns:a16="http://schemas.microsoft.com/office/drawing/2014/main" id="{9E8DC496-B666-83C7-83F4-0A85A5BC7A78}"/>
              </a:ext>
            </a:extLst>
          </p:cNvPr>
          <p:cNvSpPr/>
          <p:nvPr/>
        </p:nvSpPr>
        <p:spPr>
          <a:xfrm>
            <a:off x="3114202" y="2203184"/>
            <a:ext cx="2614610" cy="3238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dirty="0" err="1"/>
              <a:t>propertyTenancyId</a:t>
            </a:r>
            <a:endParaRPr lang="en-GB" dirty="0"/>
          </a:p>
        </p:txBody>
      </p:sp>
      <p:sp>
        <p:nvSpPr>
          <p:cNvPr id="7" name="Rectangle 6">
            <a:extLst>
              <a:ext uri="{FF2B5EF4-FFF2-40B4-BE49-F238E27FC236}">
                <a16:creationId xmlns:a16="http://schemas.microsoft.com/office/drawing/2014/main" id="{5D5E0EA8-FBF1-1A70-C3C0-FBAE42618A80}"/>
              </a:ext>
            </a:extLst>
          </p:cNvPr>
          <p:cNvSpPr/>
          <p:nvPr/>
        </p:nvSpPr>
        <p:spPr>
          <a:xfrm>
            <a:off x="3483758" y="3083909"/>
            <a:ext cx="1352550" cy="3238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Applicant ID</a:t>
            </a:r>
          </a:p>
        </p:txBody>
      </p:sp>
      <p:sp>
        <p:nvSpPr>
          <p:cNvPr id="11" name="Rectangle 10">
            <a:extLst>
              <a:ext uri="{FF2B5EF4-FFF2-40B4-BE49-F238E27FC236}">
                <a16:creationId xmlns:a16="http://schemas.microsoft.com/office/drawing/2014/main" id="{976EF2CA-1DCC-7EA5-EA7E-6E750C368703}"/>
              </a:ext>
            </a:extLst>
          </p:cNvPr>
          <p:cNvSpPr/>
          <p:nvPr/>
        </p:nvSpPr>
        <p:spPr>
          <a:xfrm>
            <a:off x="3504479" y="3807337"/>
            <a:ext cx="1352550" cy="3238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Applicant ID</a:t>
            </a:r>
          </a:p>
        </p:txBody>
      </p:sp>
      <p:sp>
        <p:nvSpPr>
          <p:cNvPr id="12" name="Rectangle 11">
            <a:extLst>
              <a:ext uri="{FF2B5EF4-FFF2-40B4-BE49-F238E27FC236}">
                <a16:creationId xmlns:a16="http://schemas.microsoft.com/office/drawing/2014/main" id="{B2681430-8D89-915B-B8F1-C2E6B22E06BC}"/>
              </a:ext>
            </a:extLst>
          </p:cNvPr>
          <p:cNvSpPr/>
          <p:nvPr/>
        </p:nvSpPr>
        <p:spPr>
          <a:xfrm>
            <a:off x="3504479" y="4619755"/>
            <a:ext cx="1352550" cy="3238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Applicant ID</a:t>
            </a:r>
          </a:p>
        </p:txBody>
      </p:sp>
      <p:sp>
        <p:nvSpPr>
          <p:cNvPr id="13" name="Left Brace 12">
            <a:extLst>
              <a:ext uri="{FF2B5EF4-FFF2-40B4-BE49-F238E27FC236}">
                <a16:creationId xmlns:a16="http://schemas.microsoft.com/office/drawing/2014/main" id="{344D5109-A31E-AC09-7BC4-BBA7B330113E}"/>
              </a:ext>
            </a:extLst>
          </p:cNvPr>
          <p:cNvSpPr/>
          <p:nvPr/>
        </p:nvSpPr>
        <p:spPr>
          <a:xfrm>
            <a:off x="3114202" y="3205753"/>
            <a:ext cx="242184" cy="173785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1" name="Rectangle 20">
            <a:extLst>
              <a:ext uri="{FF2B5EF4-FFF2-40B4-BE49-F238E27FC236}">
                <a16:creationId xmlns:a16="http://schemas.microsoft.com/office/drawing/2014/main" id="{CC6E229A-0057-72FE-FDA0-113700C62B34}"/>
              </a:ext>
            </a:extLst>
          </p:cNvPr>
          <p:cNvSpPr/>
          <p:nvPr/>
        </p:nvSpPr>
        <p:spPr>
          <a:xfrm>
            <a:off x="3100704" y="1466112"/>
            <a:ext cx="2614610" cy="3238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dirty="0" err="1"/>
              <a:t>agentID</a:t>
            </a:r>
            <a:endParaRPr lang="en-GB" dirty="0"/>
          </a:p>
        </p:txBody>
      </p:sp>
      <p:sp>
        <p:nvSpPr>
          <p:cNvPr id="22" name="Rectangle 21">
            <a:extLst>
              <a:ext uri="{FF2B5EF4-FFF2-40B4-BE49-F238E27FC236}">
                <a16:creationId xmlns:a16="http://schemas.microsoft.com/office/drawing/2014/main" id="{3268CFFC-2CBC-0BD9-7859-BCD8853AAC73}"/>
              </a:ext>
            </a:extLst>
          </p:cNvPr>
          <p:cNvSpPr/>
          <p:nvPr/>
        </p:nvSpPr>
        <p:spPr>
          <a:xfrm>
            <a:off x="7044055" y="1414662"/>
            <a:ext cx="1708150" cy="5349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dirty="0"/>
              <a:t>264020 </a:t>
            </a:r>
            <a:r>
              <a:rPr lang="en-GB" altLang="en-US" dirty="0"/>
              <a:t> (Grainger)</a:t>
            </a:r>
            <a:endParaRPr lang="en-US" altLang="en-US" dirty="0"/>
          </a:p>
        </p:txBody>
      </p:sp>
      <p:sp>
        <p:nvSpPr>
          <p:cNvPr id="26" name="Rectangle 25">
            <a:extLst>
              <a:ext uri="{FF2B5EF4-FFF2-40B4-BE49-F238E27FC236}">
                <a16:creationId xmlns:a16="http://schemas.microsoft.com/office/drawing/2014/main" id="{048AE293-7A3D-8031-013D-6B68212315AC}"/>
              </a:ext>
            </a:extLst>
          </p:cNvPr>
          <p:cNvSpPr/>
          <p:nvPr/>
        </p:nvSpPr>
        <p:spPr>
          <a:xfrm>
            <a:off x="6656543" y="2154187"/>
            <a:ext cx="2366884" cy="6428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ltLang="en-US" sz="1400" b="1" dirty="0"/>
              <a:t>Opportunity</a:t>
            </a:r>
          </a:p>
          <a:p>
            <a:pPr algn="ctr"/>
            <a:r>
              <a:rPr lang="en-GB" altLang="en-US" sz="1000" dirty="0" err="1"/>
              <a:t>Referencing_Property_Tenancy_Id__c</a:t>
            </a:r>
            <a:endParaRPr lang="en-US" altLang="en-US" sz="1000" dirty="0"/>
          </a:p>
        </p:txBody>
      </p:sp>
      <p:sp>
        <p:nvSpPr>
          <p:cNvPr id="29" name="TextBox 28">
            <a:extLst>
              <a:ext uri="{FF2B5EF4-FFF2-40B4-BE49-F238E27FC236}">
                <a16:creationId xmlns:a16="http://schemas.microsoft.com/office/drawing/2014/main" id="{2C6021FF-5FB5-956A-77AB-0A13E1A0F42E}"/>
              </a:ext>
            </a:extLst>
          </p:cNvPr>
          <p:cNvSpPr txBox="1"/>
          <p:nvPr/>
        </p:nvSpPr>
        <p:spPr>
          <a:xfrm>
            <a:off x="3100704" y="1020580"/>
            <a:ext cx="5300346" cy="369332"/>
          </a:xfrm>
          <a:prstGeom prst="rect">
            <a:avLst/>
          </a:prstGeom>
          <a:noFill/>
        </p:spPr>
        <p:txBody>
          <a:bodyPr wrap="square">
            <a:spAutoFit/>
          </a:bodyPr>
          <a:lstStyle/>
          <a:p>
            <a:r>
              <a:rPr lang="en-GB" sz="1800" b="1" dirty="0"/>
              <a:t>Vision+                                                             Grainger </a:t>
            </a:r>
            <a:endParaRPr lang="en-GB" dirty="0"/>
          </a:p>
        </p:txBody>
      </p:sp>
      <p:sp>
        <p:nvSpPr>
          <p:cNvPr id="30" name="TextBox 29">
            <a:extLst>
              <a:ext uri="{FF2B5EF4-FFF2-40B4-BE49-F238E27FC236}">
                <a16:creationId xmlns:a16="http://schemas.microsoft.com/office/drawing/2014/main" id="{727F1ABC-F29F-C967-7D55-4AFB3E74A05D}"/>
              </a:ext>
            </a:extLst>
          </p:cNvPr>
          <p:cNvSpPr txBox="1"/>
          <p:nvPr/>
        </p:nvSpPr>
        <p:spPr>
          <a:xfrm>
            <a:off x="2946294" y="5478108"/>
            <a:ext cx="5300346" cy="1200329"/>
          </a:xfrm>
          <a:prstGeom prst="rect">
            <a:avLst/>
          </a:prstGeom>
          <a:noFill/>
        </p:spPr>
        <p:txBody>
          <a:bodyPr wrap="square">
            <a:spAutoFit/>
          </a:bodyPr>
          <a:lstStyle/>
          <a:p>
            <a:r>
              <a:rPr lang="en-GB" sz="1800" dirty="0"/>
              <a:t>On create reference call or add applicant, the IDs are returned from Vision+ and stored in salesforce. These are synonymous data points with their equivalent in salesforce and other  Grainger systems</a:t>
            </a:r>
            <a:endParaRPr lang="en-GB" dirty="0"/>
          </a:p>
        </p:txBody>
      </p:sp>
      <p:sp>
        <p:nvSpPr>
          <p:cNvPr id="31" name="Arrow: Left-Right 30">
            <a:extLst>
              <a:ext uri="{FF2B5EF4-FFF2-40B4-BE49-F238E27FC236}">
                <a16:creationId xmlns:a16="http://schemas.microsoft.com/office/drawing/2014/main" id="{49484E97-ACD6-FA9B-5D09-4F4863BBE5BB}"/>
              </a:ext>
            </a:extLst>
          </p:cNvPr>
          <p:cNvSpPr/>
          <p:nvPr/>
        </p:nvSpPr>
        <p:spPr>
          <a:xfrm>
            <a:off x="5975822" y="1044390"/>
            <a:ext cx="680720" cy="373507"/>
          </a:xfrm>
          <a:prstGeom prst="leftRightArrow">
            <a:avLst>
              <a:gd name="adj1" fmla="val 28239"/>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Rectangle 27">
            <a:extLst>
              <a:ext uri="{FF2B5EF4-FFF2-40B4-BE49-F238E27FC236}">
                <a16:creationId xmlns:a16="http://schemas.microsoft.com/office/drawing/2014/main" id="{E414C0F9-A693-FD03-4F9F-6777D5E88A9A}"/>
              </a:ext>
            </a:extLst>
          </p:cNvPr>
          <p:cNvSpPr/>
          <p:nvPr/>
        </p:nvSpPr>
        <p:spPr>
          <a:xfrm>
            <a:off x="6772833" y="2941770"/>
            <a:ext cx="2069953" cy="6428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ltLang="en-US" sz="1400" b="1" dirty="0" err="1"/>
              <a:t>OpportunityContactRole</a:t>
            </a:r>
            <a:endParaRPr lang="en-GB" altLang="en-US" sz="1400" b="1" dirty="0"/>
          </a:p>
          <a:p>
            <a:pPr algn="ctr"/>
            <a:r>
              <a:rPr lang="en-GB" altLang="en-US" sz="1000" dirty="0" err="1"/>
              <a:t>Referencing_Applicant_Id__c</a:t>
            </a:r>
            <a:endParaRPr lang="en-US" altLang="en-US" sz="1000" dirty="0"/>
          </a:p>
        </p:txBody>
      </p:sp>
      <p:sp>
        <p:nvSpPr>
          <p:cNvPr id="34" name="Rectangle 33">
            <a:extLst>
              <a:ext uri="{FF2B5EF4-FFF2-40B4-BE49-F238E27FC236}">
                <a16:creationId xmlns:a16="http://schemas.microsoft.com/office/drawing/2014/main" id="{50E2F77D-E5D1-3E28-C68D-5DAA9AD584C1}"/>
              </a:ext>
            </a:extLst>
          </p:cNvPr>
          <p:cNvSpPr/>
          <p:nvPr/>
        </p:nvSpPr>
        <p:spPr>
          <a:xfrm>
            <a:off x="6772832" y="3696597"/>
            <a:ext cx="2069953" cy="6428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ltLang="en-US" sz="1400" b="1" dirty="0" err="1"/>
              <a:t>OpportunityContactRole</a:t>
            </a:r>
            <a:endParaRPr lang="en-GB" altLang="en-US" sz="1400" b="1" dirty="0"/>
          </a:p>
          <a:p>
            <a:pPr algn="ctr"/>
            <a:r>
              <a:rPr lang="en-GB" altLang="en-US" sz="1000" dirty="0" err="1"/>
              <a:t>Referencing_Applicant_Id__c</a:t>
            </a:r>
            <a:endParaRPr lang="en-US" altLang="en-US" sz="1000" dirty="0"/>
          </a:p>
        </p:txBody>
      </p:sp>
      <p:sp>
        <p:nvSpPr>
          <p:cNvPr id="35" name="Rectangle 34">
            <a:extLst>
              <a:ext uri="{FF2B5EF4-FFF2-40B4-BE49-F238E27FC236}">
                <a16:creationId xmlns:a16="http://schemas.microsoft.com/office/drawing/2014/main" id="{3473BDA7-0FCF-3F0B-4D65-C7F5C6F9D6B3}"/>
              </a:ext>
            </a:extLst>
          </p:cNvPr>
          <p:cNvSpPr/>
          <p:nvPr/>
        </p:nvSpPr>
        <p:spPr>
          <a:xfrm>
            <a:off x="6772832" y="4463112"/>
            <a:ext cx="2069953" cy="6428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ltLang="en-US" sz="1400" b="1" dirty="0" err="1"/>
              <a:t>OpportunityContactRole</a:t>
            </a:r>
            <a:endParaRPr lang="en-GB" altLang="en-US" sz="1400" b="1" dirty="0"/>
          </a:p>
          <a:p>
            <a:pPr algn="ctr"/>
            <a:r>
              <a:rPr lang="en-GB" altLang="en-US" sz="1000" dirty="0" err="1"/>
              <a:t>Referencing_Applicant_Id__c</a:t>
            </a:r>
            <a:endParaRPr lang="en-US" altLang="en-US" sz="1000" dirty="0"/>
          </a:p>
        </p:txBody>
      </p:sp>
    </p:spTree>
    <p:extLst>
      <p:ext uri="{BB962C8B-B14F-4D97-AF65-F5344CB8AC3E}">
        <p14:creationId xmlns:p14="http://schemas.microsoft.com/office/powerpoint/2010/main" val="4252667282"/>
      </p:ext>
    </p:extLst>
  </p:cSld>
  <p:clrMapOvr>
    <a:masterClrMapping/>
  </p:clrMapOvr>
  <p:extLst>
    <p:ext uri="{6950BFC3-D8DA-4A85-94F7-54DA5524770B}">
      <p188:commentRel xmlns:p188="http://schemas.microsoft.com/office/powerpoint/2018/8/main" r:id="rId3"/>
    </p:ext>
  </p:extLst>
</p:sld>
</file>

<file path=ppt/theme/theme1.xml><?xml version="1.0" encoding="utf-8"?>
<a:theme xmlns:a="http://schemas.openxmlformats.org/drawingml/2006/main" name="Office Theme">
  <a:themeElements>
    <a:clrScheme name="Custom 8">
      <a:dk1>
        <a:srgbClr val="E3B900"/>
      </a:dk1>
      <a:lt1>
        <a:srgbClr val="FFFFFF"/>
      </a:lt1>
      <a:dk2>
        <a:srgbClr val="35393B"/>
      </a:dk2>
      <a:lt2>
        <a:srgbClr val="FEFFFE"/>
      </a:lt2>
      <a:accent1>
        <a:srgbClr val="E3B900"/>
      </a:accent1>
      <a:accent2>
        <a:srgbClr val="D4D5D4"/>
      </a:accent2>
      <a:accent3>
        <a:srgbClr val="35393A"/>
      </a:accent3>
      <a:accent4>
        <a:srgbClr val="FEFFFE"/>
      </a:accent4>
      <a:accent5>
        <a:srgbClr val="FFD600"/>
      </a:accent5>
      <a:accent6>
        <a:srgbClr val="A38500"/>
      </a:accent6>
      <a:hlink>
        <a:srgbClr val="A38500"/>
      </a:hlink>
      <a:folHlink>
        <a:srgbClr val="E3B900"/>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haredContentType xmlns="Microsoft.SharePoint.Taxonomy.ContentTypeSync" SourceId="5676dd91-060c-4b71-810a-dbdca5582071" ContentTypeId="0x010100B16301FA1C2D5E4DB9305F31D037531D020703" PreviousValue="false"/>
</file>

<file path=customXml/item2.xml><?xml version="1.0" encoding="utf-8"?>
<p:properties xmlns:p="http://schemas.microsoft.com/office/2006/metadata/properties" xmlns:xsi="http://www.w3.org/2001/XMLSchema-instance" xmlns:pc="http://schemas.microsoft.com/office/infopath/2007/PartnerControls">
  <documentManagement>
    <nae5750f31d8428b9a1182bd8e59d390 xmlns="1ffbd5dc-7a64-4097-8396-87f6c90b212f">
      <Terms xmlns="http://schemas.microsoft.com/office/infopath/2007/PartnerControls">
        <TermInfo xmlns="http://schemas.microsoft.com/office/infopath/2007/PartnerControls">
          <TermName xmlns="http://schemas.microsoft.com/office/infopath/2007/PartnerControls">Enterprise Solutions</TermName>
          <TermId xmlns="http://schemas.microsoft.com/office/infopath/2007/PartnerControls">08c57b01-67e8-4a4f-abc6-ffb3392ace7f</TermId>
        </TermInfo>
      </Terms>
    </nae5750f31d8428b9a1182bd8e59d390>
    <k6ebf865df8440b3a55c1aa81c9bae7c xmlns="1ffbd5dc-7a64-4097-8396-87f6c90b212f">
      <Terms xmlns="http://schemas.microsoft.com/office/infopath/2007/PartnerControls"/>
    </k6ebf865df8440b3a55c1aa81c9bae7c>
    <f0dc22cb723843c1bfbb2e8bcc9db6e4 xmlns="1ffbd5dc-7a64-4097-8396-87f6c90b212f">
      <Terms xmlns="http://schemas.microsoft.com/office/infopath/2007/PartnerControls"/>
    </f0dc22cb723843c1bfbb2e8bcc9db6e4>
    <TaxCatchAll xmlns="1ffbd5dc-7a64-4097-8396-87f6c90b212f">
      <Value>5</Value>
      <Value>6</Value>
    </TaxCatchAll>
    <ica44df5449d49f98766f83f0bd254a7 xmlns="1ffbd5dc-7a64-4097-8396-87f6c90b212f">
      <Terms xmlns="http://schemas.microsoft.com/office/infopath/2007/PartnerControls">
        <TermInfo xmlns="http://schemas.microsoft.com/office/infopath/2007/PartnerControls">
          <TermName xmlns="http://schemas.microsoft.com/office/infopath/2007/PartnerControls">Grainger PLC</TermName>
          <TermId xmlns="http://schemas.microsoft.com/office/infopath/2007/PartnerControls">a74f1cb5-e995-4f9e-8521-6d52e2c6bf08</TermId>
        </TermInfo>
      </Terms>
    </ica44df5449d49f98766f83f0bd254a7>
  </documentManagement>
</p:properties>
</file>

<file path=customXml/item3.xml><?xml version="1.0" encoding="utf-8"?>
<ct:contentTypeSchema xmlns:ct="http://schemas.microsoft.com/office/2006/metadata/contentType" xmlns:ma="http://schemas.microsoft.com/office/2006/metadata/properties/metaAttributes" ct:_="" ma:_="" ma:contentTypeName="Client Project Document" ma:contentTypeID="0x010100B16301FA1C2D5E4DB9305F31D037531D02070300B4E123A7400DE24C83BA9D1BFCD12C10" ma:contentTypeVersion="3" ma:contentTypeDescription="A document associated with a project for a client." ma:contentTypeScope="" ma:versionID="9d6581bc5c99e8ea3938d4fa8ba888f5">
  <xsd:schema xmlns:xsd="http://www.w3.org/2001/XMLSchema" xmlns:xs="http://www.w3.org/2001/XMLSchema" xmlns:p="http://schemas.microsoft.com/office/2006/metadata/properties" xmlns:ns2="1ffbd5dc-7a64-4097-8396-87f6c90b212f" targetNamespace="http://schemas.microsoft.com/office/2006/metadata/properties" ma:root="true" ma:fieldsID="a0c1b2c62e26289b034b466cfffa7cd3" ns2:_="">
    <xsd:import namespace="1ffbd5dc-7a64-4097-8396-87f6c90b212f"/>
    <xsd:element name="properties">
      <xsd:complexType>
        <xsd:sequence>
          <xsd:element name="documentManagement">
            <xsd:complexType>
              <xsd:all>
                <xsd:element ref="ns2:TaxCatchAll" minOccurs="0"/>
                <xsd:element ref="ns2:TaxCatchAllLabel" minOccurs="0"/>
                <xsd:element ref="ns2:nae5750f31d8428b9a1182bd8e59d390" minOccurs="0"/>
                <xsd:element ref="ns2:ica44df5449d49f98766f83f0bd254a7" minOccurs="0"/>
                <xsd:element ref="ns2:f0dc22cb723843c1bfbb2e8bcc9db6e4" minOccurs="0"/>
                <xsd:element ref="ns2:k6ebf865df8440b3a55c1aa81c9bae7c"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ffbd5dc-7a64-4097-8396-87f6c90b212f" elementFormDefault="qualified">
    <xsd:import namespace="http://schemas.microsoft.com/office/2006/documentManagement/types"/>
    <xsd:import namespace="http://schemas.microsoft.com/office/infopath/2007/PartnerControls"/>
    <xsd:element name="TaxCatchAll" ma:index="8" nillable="true" ma:displayName="Taxonomy Catch All Column" ma:hidden="true" ma:list="{45250ea2-cfef-416b-9e22-46de40794d29}" ma:internalName="TaxCatchAll" ma:showField="CatchAllData" ma:web="025eec05-af72-44fb-9d53-267083c6e741">
      <xsd:complexType>
        <xsd:complexContent>
          <xsd:extension base="dms:MultiChoiceLookup">
            <xsd:sequence>
              <xsd:element name="Value" type="dms:Lookup" maxOccurs="unbounded" minOccurs="0" nillable="true"/>
            </xsd:sequence>
          </xsd:extension>
        </xsd:complexContent>
      </xsd:complexType>
    </xsd:element>
    <xsd:element name="TaxCatchAllLabel" ma:index="9" nillable="true" ma:displayName="Taxonomy Catch All Column1" ma:hidden="true" ma:list="{45250ea2-cfef-416b-9e22-46de40794d29}" ma:internalName="TaxCatchAllLabel" ma:readOnly="true" ma:showField="CatchAllDataLabel" ma:web="025eec05-af72-44fb-9d53-267083c6e741">
      <xsd:complexType>
        <xsd:complexContent>
          <xsd:extension base="dms:MultiChoiceLookup">
            <xsd:sequence>
              <xsd:element name="Value" type="dms:Lookup" maxOccurs="unbounded" minOccurs="0" nillable="true"/>
            </xsd:sequence>
          </xsd:extension>
        </xsd:complexContent>
      </xsd:complexType>
    </xsd:element>
    <xsd:element name="nae5750f31d8428b9a1182bd8e59d390" ma:index="10" ma:taxonomy="true" ma:internalName="nae5750f31d8428b9a1182bd8e59d390" ma:taxonomyFieldName="Division" ma:displayName="Division" ma:readOnly="false" ma:default="1;#Custom Software|cecfb662-fc63-4c9e-b6e4-2e3797fe6f4f" ma:fieldId="{7ae5750f-31d8-428b-9a11-82bd8e59d390}" ma:sspId="5676dd91-060c-4b71-810a-dbdca5582071" ma:termSetId="32b39d25-b397-4982-8e8d-74d5df186044" ma:anchorId="00000000-0000-0000-0000-000000000000" ma:open="false" ma:isKeyword="false">
      <xsd:complexType>
        <xsd:sequence>
          <xsd:element ref="pc:Terms" minOccurs="0" maxOccurs="1"/>
        </xsd:sequence>
      </xsd:complexType>
    </xsd:element>
    <xsd:element name="ica44df5449d49f98766f83f0bd254a7" ma:index="12" ma:taxonomy="true" ma:internalName="ica44df5449d49f98766f83f0bd254a7" ma:taxonomyFieldName="Client" ma:displayName="Client" ma:default="6;#Grainger PLC|a74f1cb5-e995-4f9e-8521-6d52e2c6bf08" ma:fieldId="{2ca44df5-449d-49f9-8766-f83f0bd254a7}" ma:sspId="5676dd91-060c-4b71-810a-dbdca5582071" ma:termSetId="26f19758-7225-4257-8796-285d454d16a6" ma:anchorId="00000000-0000-0000-0000-000000000000" ma:open="false" ma:isKeyword="false">
      <xsd:complexType>
        <xsd:sequence>
          <xsd:element ref="pc:Terms" minOccurs="0" maxOccurs="1"/>
        </xsd:sequence>
      </xsd:complexType>
    </xsd:element>
    <xsd:element name="f0dc22cb723843c1bfbb2e8bcc9db6e4" ma:index="14" nillable="true" ma:taxonomy="true" ma:internalName="f0dc22cb723843c1bfbb2e8bcc9db6e4" ma:taxonomyFieldName="Client_x0020_Project" ma:displayName="Client Application" ma:default="" ma:fieldId="{f0dc22cb-7238-43c1-bfbb-2e8bcc9db6e4}" ma:sspId="5676dd91-060c-4b71-810a-dbdca5582071" ma:termSetId="503923a6-a4d2-4c0f-8ec0-fee4966b50a0" ma:anchorId="00000000-0000-0000-0000-000000000000" ma:open="false" ma:isKeyword="false">
      <xsd:complexType>
        <xsd:sequence>
          <xsd:element ref="pc:Terms" minOccurs="0" maxOccurs="1"/>
        </xsd:sequence>
      </xsd:complexType>
    </xsd:element>
    <xsd:element name="k6ebf865df8440b3a55c1aa81c9bae7c" ma:index="16" nillable="true" ma:taxonomy="true" ma:internalName="k6ebf865df8440b3a55c1aa81c9bae7c" ma:taxonomyFieldName="Project_x0020_Document_x0020_Type" ma:displayName="Project Document Type" ma:default="4;#Generic Project Document|258c2ed6-b93b-4ffe-8901-a23f2dc98ec9" ma:fieldId="{46ebf865-df84-40b3-a55c-1aa81c9bae7c}" ma:sspId="5676dd91-060c-4b71-810a-dbdca5582071" ma:termSetId="79e5d870-6e8b-4a88-8554-c2a1e06e1585" ma:anchorId="00000000-0000-0000-0000-000000000000" ma:open="fals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3A93AF6-26A7-42B3-8A52-087468ECFDD2}">
  <ds:schemaRefs>
    <ds:schemaRef ds:uri="Microsoft.SharePoint.Taxonomy.ContentTypeSync"/>
  </ds:schemaRefs>
</ds:datastoreItem>
</file>

<file path=customXml/itemProps2.xml><?xml version="1.0" encoding="utf-8"?>
<ds:datastoreItem xmlns:ds="http://schemas.openxmlformats.org/officeDocument/2006/customXml" ds:itemID="{8AE041E5-2483-43B0-8D4B-CEC76562B093}">
  <ds:schemaRefs>
    <ds:schemaRef ds:uri="http://schemas.microsoft.com/office/2006/metadata/properties"/>
    <ds:schemaRef ds:uri="http://schemas.microsoft.com/office/infopath/2007/PartnerControls"/>
    <ds:schemaRef ds:uri="http://www.w3.org/XML/1998/namespace"/>
    <ds:schemaRef ds:uri="http://schemas.openxmlformats.org/package/2006/metadata/core-properties"/>
    <ds:schemaRef ds:uri="http://purl.org/dc/elements/1.1/"/>
    <ds:schemaRef ds:uri="http://schemas.microsoft.com/office/2006/documentManagement/types"/>
    <ds:schemaRef ds:uri="http://purl.org/dc/terms/"/>
    <ds:schemaRef ds:uri="466da36c-0690-49eb-9dfa-9c83c46bb09b"/>
    <ds:schemaRef ds:uri="http://purl.org/dc/dcmitype/"/>
    <ds:schemaRef ds:uri="1ffbd5dc-7a64-4097-8396-87f6c90b212f"/>
  </ds:schemaRefs>
</ds:datastoreItem>
</file>

<file path=customXml/itemProps3.xml><?xml version="1.0" encoding="utf-8"?>
<ds:datastoreItem xmlns:ds="http://schemas.openxmlformats.org/officeDocument/2006/customXml" ds:itemID="{F430ECBF-1828-4406-867A-11D62A49CFDE}"/>
</file>

<file path=customXml/itemProps4.xml><?xml version="1.0" encoding="utf-8"?>
<ds:datastoreItem xmlns:ds="http://schemas.openxmlformats.org/officeDocument/2006/customXml" ds:itemID="{DCBBABD8-3555-48AA-8719-AB43048C5B5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89753</TotalTime>
  <Words>1560</Words>
  <Application>Microsoft Office PowerPoint</Application>
  <PresentationFormat>On-screen Show (4:3)</PresentationFormat>
  <Paragraphs>328</Paragraphs>
  <Slides>11</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.AppleSystemUIFont</vt:lpstr>
      <vt:lpstr>Arial</vt:lpstr>
      <vt:lpstr>Calibri</vt:lpstr>
      <vt:lpstr>Courier New</vt:lpstr>
      <vt:lpstr>Roboto Thin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Donnelly, Craig (Fish)</dc:creator>
  <cp:lastModifiedBy>Lee Williams</cp:lastModifiedBy>
  <cp:revision>980</cp:revision>
  <cp:lastPrinted>2019-07-17T11:00:11Z</cp:lastPrinted>
  <dcterms:created xsi:type="dcterms:W3CDTF">2017-07-18T10:38:07Z</dcterms:created>
  <dcterms:modified xsi:type="dcterms:W3CDTF">2023-06-15T15:01:54Z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0x010100B16301FA1C2D5E4DB9305F31D037531D02070300B4E123A7400DE24C83BA9D1BFCD12C10</vt:lpwstr>
  </property>
  <property fmtid="{D5CDD505-2E9C-101B-9397-08002B2CF9AE}" pid="3" name="Project Document Type">
    <vt:lpwstr/>
  </property>
  <property fmtid="{D5CDD505-2E9C-101B-9397-08002B2CF9AE}" pid="4" name="Client">
    <vt:lpwstr>6;#Grainger PLC|a74f1cb5-e995-4f9e-8521-6d52e2c6bf08</vt:lpwstr>
  </property>
  <property fmtid="{D5CDD505-2E9C-101B-9397-08002B2CF9AE}" pid="5" name="Client Project">
    <vt:lpwstr/>
  </property>
  <property fmtid="{D5CDD505-2E9C-101B-9397-08002B2CF9AE}" pid="6" name="Division">
    <vt:lpwstr>5;#Enterprise Solutions|08c57b01-67e8-4a4f-abc6-ffb3392ace7f</vt:lpwstr>
  </property>
</Properties>
</file>