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A_9A843705.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C_B2A3732E.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F_2DA1DEF3.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11_FD7A8D92.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5"/>
  </p:sldMasterIdLst>
  <p:notesMasterIdLst>
    <p:notesMasterId r:id="rId17"/>
  </p:notesMasterIdLst>
  <p:sldIdLst>
    <p:sldId id="256" r:id="rId6"/>
    <p:sldId id="266" r:id="rId7"/>
    <p:sldId id="267" r:id="rId8"/>
    <p:sldId id="268" r:id="rId9"/>
    <p:sldId id="269" r:id="rId10"/>
    <p:sldId id="270" r:id="rId11"/>
    <p:sldId id="274" r:id="rId12"/>
    <p:sldId id="271" r:id="rId13"/>
    <p:sldId id="265" r:id="rId14"/>
    <p:sldId id="272" r:id="rId15"/>
    <p:sldId id="273" r:id="rId16"/>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6AD4CBCC-6522-4E06-8B7A-F7EC80724FCF}">
          <p14:sldIdLst>
            <p14:sldId id="256"/>
            <p14:sldId id="266"/>
            <p14:sldId id="267"/>
            <p14:sldId id="268"/>
            <p14:sldId id="269"/>
            <p14:sldId id="270"/>
            <p14:sldId id="274"/>
            <p14:sldId id="271"/>
            <p14:sldId id="265"/>
            <p14:sldId id="272"/>
            <p14:sldId id="27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24326F-B7E2-C596-FB18-CB4C38568A76}" name="Tam Cummings" initials="TC" userId="S::tam.cummings@pib-insurance.com::c810b178-a0ee-4a80-9640-f27720cf7b67" providerId="AD"/>
  <p188:author id="{411D59CB-E194-D74B-FCF5-28A77AEB51E7}" name="Sam Duncan" initials="SD" userId="S::sduncan@openboxsoftware.com::c1d0992b-0ec5-443a-8c6c-87e1361e2b1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57A2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68E401-8214-0845-9D58-51D3EA95B57C}" v="24" dt="2023-08-03T10:29:00.9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8/10/relationships/authors" Target="author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e Williams" userId="afba6219-dd27-4823-92d5-5fdddd313e60" providerId="ADAL" clId="{E169E63E-A1B9-49A4-B8A9-9E25D1D23650}"/>
    <pc:docChg chg="modSld">
      <pc:chgData name="Lee Williams" userId="afba6219-dd27-4823-92d5-5fdddd313e60" providerId="ADAL" clId="{E169E63E-A1B9-49A4-B8A9-9E25D1D23650}" dt="2023-07-31T09:05:34.001" v="45" actId="20577"/>
      <pc:docMkLst>
        <pc:docMk/>
      </pc:docMkLst>
      <pc:sldChg chg="modSp mod">
        <pc:chgData name="Lee Williams" userId="afba6219-dd27-4823-92d5-5fdddd313e60" providerId="ADAL" clId="{E169E63E-A1B9-49A4-B8A9-9E25D1D23650}" dt="2023-07-31T08:59:13.179" v="0" actId="20577"/>
        <pc:sldMkLst>
          <pc:docMk/>
          <pc:sldMk cId="3384894804" sldId="256"/>
        </pc:sldMkLst>
        <pc:spChg chg="mod">
          <ac:chgData name="Lee Williams" userId="afba6219-dd27-4823-92d5-5fdddd313e60" providerId="ADAL" clId="{E169E63E-A1B9-49A4-B8A9-9E25D1D23650}" dt="2023-07-31T08:59:13.179" v="0" actId="20577"/>
          <ac:spMkLst>
            <pc:docMk/>
            <pc:sldMk cId="3384894804" sldId="256"/>
            <ac:spMk id="2" creationId="{C86110A0-033B-E7DE-F1E9-95ABF3009ACB}"/>
          </ac:spMkLst>
        </pc:spChg>
      </pc:sldChg>
      <pc:sldChg chg="modSp mod">
        <pc:chgData name="Lee Williams" userId="afba6219-dd27-4823-92d5-5fdddd313e60" providerId="ADAL" clId="{E169E63E-A1B9-49A4-B8A9-9E25D1D23650}" dt="2023-07-31T09:05:34.001" v="45" actId="20577"/>
        <pc:sldMkLst>
          <pc:docMk/>
          <pc:sldMk cId="2592356101" sldId="266"/>
        </pc:sldMkLst>
        <pc:spChg chg="mod">
          <ac:chgData name="Lee Williams" userId="afba6219-dd27-4823-92d5-5fdddd313e60" providerId="ADAL" clId="{E169E63E-A1B9-49A4-B8A9-9E25D1D23650}" dt="2023-07-31T09:05:20.906" v="44" actId="20577"/>
          <ac:spMkLst>
            <pc:docMk/>
            <pc:sldMk cId="2592356101" sldId="266"/>
            <ac:spMk id="52" creationId="{E1B6FCBA-DB2F-713F-FC32-8839CBABCD4F}"/>
          </ac:spMkLst>
        </pc:spChg>
        <pc:spChg chg="mod">
          <ac:chgData name="Lee Williams" userId="afba6219-dd27-4823-92d5-5fdddd313e60" providerId="ADAL" clId="{E169E63E-A1B9-49A4-B8A9-9E25D1D23650}" dt="2023-07-31T09:05:34.001" v="45" actId="20577"/>
          <ac:spMkLst>
            <pc:docMk/>
            <pc:sldMk cId="2592356101" sldId="266"/>
            <ac:spMk id="56" creationId="{64DEB0FD-2A82-958A-08EA-89A604CB363E}"/>
          </ac:spMkLst>
        </pc:spChg>
        <pc:spChg chg="mod">
          <ac:chgData name="Lee Williams" userId="afba6219-dd27-4823-92d5-5fdddd313e60" providerId="ADAL" clId="{E169E63E-A1B9-49A4-B8A9-9E25D1D23650}" dt="2023-07-31T09:04:29.240" v="26" actId="20577"/>
          <ac:spMkLst>
            <pc:docMk/>
            <pc:sldMk cId="2592356101" sldId="266"/>
            <ac:spMk id="70" creationId="{829B7027-D599-1793-01E5-A8B8E82330D6}"/>
          </ac:spMkLst>
        </pc:spChg>
        <pc:spChg chg="mod">
          <ac:chgData name="Lee Williams" userId="afba6219-dd27-4823-92d5-5fdddd313e60" providerId="ADAL" clId="{E169E63E-A1B9-49A4-B8A9-9E25D1D23650}" dt="2023-07-31T09:04:09.172" v="19" actId="20577"/>
          <ac:spMkLst>
            <pc:docMk/>
            <pc:sldMk cId="2592356101" sldId="266"/>
            <ac:spMk id="74" creationId="{08C2910F-9693-D5BD-1307-1D15FCBD2E75}"/>
          </ac:spMkLst>
        </pc:spChg>
      </pc:sldChg>
    </pc:docChg>
  </pc:docChgLst>
  <pc:docChgLst>
    <pc:chgData name="Sam Duncan" userId="c1d0992b-0ec5-443a-8c6c-87e1361e2b1d" providerId="ADAL" clId="{C168E401-8214-0845-9D58-51D3EA95B57C}"/>
    <pc:docChg chg="undo custSel modSld">
      <pc:chgData name="Sam Duncan" userId="c1d0992b-0ec5-443a-8c6c-87e1361e2b1d" providerId="ADAL" clId="{C168E401-8214-0845-9D58-51D3EA95B57C}" dt="2023-08-03T10:29:00.940" v="23" actId="20577"/>
      <pc:docMkLst>
        <pc:docMk/>
      </pc:docMkLst>
      <pc:sldChg chg="modSp mod">
        <pc:chgData name="Sam Duncan" userId="c1d0992b-0ec5-443a-8c6c-87e1361e2b1d" providerId="ADAL" clId="{C168E401-8214-0845-9D58-51D3EA95B57C}" dt="2023-08-03T10:29:00.940" v="23" actId="20577"/>
        <pc:sldMkLst>
          <pc:docMk/>
          <pc:sldMk cId="2592356101" sldId="266"/>
        </pc:sldMkLst>
        <pc:spChg chg="mod">
          <ac:chgData name="Sam Duncan" userId="c1d0992b-0ec5-443a-8c6c-87e1361e2b1d" providerId="ADAL" clId="{C168E401-8214-0845-9D58-51D3EA95B57C}" dt="2023-08-03T10:29:00.940" v="23" actId="20577"/>
          <ac:spMkLst>
            <pc:docMk/>
            <pc:sldMk cId="2592356101" sldId="266"/>
            <ac:spMk id="70" creationId="{829B7027-D599-1793-01E5-A8B8E82330D6}"/>
          </ac:spMkLst>
        </pc:spChg>
      </pc:sldChg>
    </pc:docChg>
  </pc:docChgLst>
</pc:chgInfo>
</file>

<file path=ppt/comments/modernComment_10A_9A843705.xml><?xml version="1.0" encoding="utf-8"?>
<p188:cmLst xmlns:a="http://schemas.openxmlformats.org/drawingml/2006/main" xmlns:r="http://schemas.openxmlformats.org/officeDocument/2006/relationships" xmlns:p188="http://schemas.microsoft.com/office/powerpoint/2018/8/main">
  <p188:cm id="{6B90B600-682E-E746-B030-7867F95B8DC8}" authorId="{411D59CB-E194-D74B-FCF5-28A77AEB51E7}" created="2023-06-09T14:05:07.609">
    <pc:sldMkLst xmlns:pc="http://schemas.microsoft.com/office/powerpoint/2013/main/command">
      <pc:docMk/>
      <pc:sldMk cId="2592356101" sldId="266"/>
    </pc:sldMkLst>
    <p188:txBody>
      <a:bodyPr/>
      <a:lstStyle/>
      <a:p>
        <a:r>
          <a:rPr lang="en-US"/>
          <a:t>I have updated here to provide better granularity on the various callouts and split out Grainger portal and Grainger Salesforce</a:t>
        </a:r>
      </a:p>
    </p188:txBody>
  </p188:cm>
</p188:cmLst>
</file>

<file path=ppt/comments/modernComment_10C_B2A3732E.xml><?xml version="1.0" encoding="utf-8"?>
<p188:cmLst xmlns:a="http://schemas.openxmlformats.org/drawingml/2006/main" xmlns:r="http://schemas.openxmlformats.org/officeDocument/2006/relationships" xmlns:p188="http://schemas.microsoft.com/office/powerpoint/2018/8/main">
  <p188:cm id="{A60915FC-B3A0-BF4E-B95A-5236C2FEC7AE}" authorId="{411D59CB-E194-D74B-FCF5-28A77AEB51E7}" created="2023-06-09T11:16:31.456">
    <ac:deMkLst xmlns:ac="http://schemas.microsoft.com/office/drawing/2013/main/command">
      <pc:docMk xmlns:pc="http://schemas.microsoft.com/office/powerpoint/2013/main/command"/>
      <pc:sldMk xmlns:pc="http://schemas.microsoft.com/office/powerpoint/2013/main/command" cId="2997056302" sldId="268"/>
      <ac:spMk id="14" creationId="{ABAA3F78-F077-B026-55C4-E6649D06EF6D}"/>
    </ac:deMkLst>
    <p188:txBody>
      <a:bodyPr/>
      <a:lstStyle/>
      <a:p>
        <a:r>
          <a:rPr lang="en-US"/>
          <a:t>@jaic @lee 
Please confirm my understanding of the process is correct:
Additional applicants will be added via the Grainger Portal. The Grainger portal will create new Contact + OpportunityContactRole records in Salesforce.
Salesforce will then call AddApplicantToTenancyWithIframe. 
Salesforce will then email a link to the applicant which takes them to the Grainger Portal to complete the referencing. i.e. HomeLet does not email the applicant.
The Flow diagram below shows how additional tenants are added and then emailed a link to the Grainger portal.</a:t>
        </a:r>
      </a:p>
    </p188:txBody>
  </p188:cm>
</p188:cmLst>
</file>

<file path=ppt/comments/modernComment_10F_2DA1DEF3.xml><?xml version="1.0" encoding="utf-8"?>
<p188:cmLst xmlns:a="http://schemas.openxmlformats.org/drawingml/2006/main" xmlns:r="http://schemas.openxmlformats.org/officeDocument/2006/relationships" xmlns:p188="http://schemas.microsoft.com/office/powerpoint/2018/8/main">
  <p188:cm id="{0597A2CD-DFD5-3A4A-A2D8-47C7F4AA60F4}" authorId="{411D59CB-E194-D74B-FCF5-28A77AEB51E7}" created="2023-06-09T14:03:52.292">
    <pc:sldMkLst xmlns:pc="http://schemas.microsoft.com/office/powerpoint/2013/main/command">
      <pc:docMk/>
      <pc:sldMk cId="765583091" sldId="271"/>
    </pc:sldMkLst>
    <p188:txBody>
      <a:bodyPr/>
      <a:lstStyle/>
      <a:p>
        <a:r>
          <a:rPr lang="en-US"/>
          <a:t>I have updated here to provide more specific terminology</a:t>
        </a:r>
      </a:p>
    </p188:txBody>
  </p188:cm>
</p188:cmLst>
</file>

<file path=ppt/comments/modernComment_111_FD7A8D92.xml><?xml version="1.0" encoding="utf-8"?>
<p188:cmLst xmlns:a="http://schemas.openxmlformats.org/drawingml/2006/main" xmlns:r="http://schemas.openxmlformats.org/officeDocument/2006/relationships" xmlns:p188="http://schemas.microsoft.com/office/powerpoint/2018/8/main">
  <p188:cm id="{F2EF924A-224F-6044-AE8F-5FD0693AEB44}" authorId="{411D59CB-E194-D74B-FCF5-28A77AEB51E7}" created="2023-06-09T14:03:32.689">
    <pc:sldMkLst xmlns:pc="http://schemas.microsoft.com/office/powerpoint/2013/main/command">
      <pc:docMk/>
      <pc:sldMk cId="4252667282" sldId="273"/>
    </pc:sldMkLst>
    <p188:txBody>
      <a:bodyPr/>
      <a:lstStyle/>
      <a:p>
        <a:r>
          <a:rPr lang="en-US"/>
          <a:t>I have updated here to show the mapping of Vision+ to Salesforce objects.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CA6FC849-81BE-4462-9973-4774E92E1743}" type="datetimeFigureOut">
              <a:rPr lang="en-GB" smtClean="0"/>
              <a:t>03/08/2023</a:t>
            </a:fld>
            <a:endParaRPr lang="en-GB"/>
          </a:p>
        </p:txBody>
      </p:sp>
      <p:sp>
        <p:nvSpPr>
          <p:cNvPr id="4" name="Slide Image Placeholder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DB027A43-381B-44EA-836A-45D025530142}" type="slidenum">
              <a:rPr lang="en-GB" smtClean="0"/>
              <a:t>‹#›</a:t>
            </a:fld>
            <a:endParaRPr lang="en-GB"/>
          </a:p>
        </p:txBody>
      </p:sp>
    </p:spTree>
    <p:extLst>
      <p:ext uri="{BB962C8B-B14F-4D97-AF65-F5344CB8AC3E}">
        <p14:creationId xmlns:p14="http://schemas.microsoft.com/office/powerpoint/2010/main" val="3625187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B027A43-381B-44EA-836A-45D025530142}" type="slidenum">
              <a:rPr lang="en-GB" smtClean="0"/>
              <a:t>2</a:t>
            </a:fld>
            <a:endParaRPr lang="en-GB"/>
          </a:p>
        </p:txBody>
      </p:sp>
    </p:spTree>
    <p:extLst>
      <p:ext uri="{BB962C8B-B14F-4D97-AF65-F5344CB8AC3E}">
        <p14:creationId xmlns:p14="http://schemas.microsoft.com/office/powerpoint/2010/main" val="3437070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B027A43-381B-44EA-836A-45D025530142}" type="slidenum">
              <a:rPr lang="en-GB" smtClean="0"/>
              <a:t>3</a:t>
            </a:fld>
            <a:endParaRPr lang="en-GB"/>
          </a:p>
        </p:txBody>
      </p:sp>
    </p:spTree>
    <p:extLst>
      <p:ext uri="{BB962C8B-B14F-4D97-AF65-F5344CB8AC3E}">
        <p14:creationId xmlns:p14="http://schemas.microsoft.com/office/powerpoint/2010/main" val="3665756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B027A43-381B-44EA-836A-45D025530142}" type="slidenum">
              <a:rPr lang="en-GB" smtClean="0"/>
              <a:t>4</a:t>
            </a:fld>
            <a:endParaRPr lang="en-GB"/>
          </a:p>
        </p:txBody>
      </p:sp>
    </p:spTree>
    <p:extLst>
      <p:ext uri="{BB962C8B-B14F-4D97-AF65-F5344CB8AC3E}">
        <p14:creationId xmlns:p14="http://schemas.microsoft.com/office/powerpoint/2010/main" val="792241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B027A43-381B-44EA-836A-45D025530142}" type="slidenum">
              <a:rPr lang="en-GB" smtClean="0"/>
              <a:t>5</a:t>
            </a:fld>
            <a:endParaRPr lang="en-GB"/>
          </a:p>
        </p:txBody>
      </p:sp>
    </p:spTree>
    <p:extLst>
      <p:ext uri="{BB962C8B-B14F-4D97-AF65-F5344CB8AC3E}">
        <p14:creationId xmlns:p14="http://schemas.microsoft.com/office/powerpoint/2010/main" val="1040903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B027A43-381B-44EA-836A-45D025530142}" type="slidenum">
              <a:rPr lang="en-GB" smtClean="0"/>
              <a:t>6</a:t>
            </a:fld>
            <a:endParaRPr lang="en-GB"/>
          </a:p>
        </p:txBody>
      </p:sp>
    </p:spTree>
    <p:extLst>
      <p:ext uri="{BB962C8B-B14F-4D97-AF65-F5344CB8AC3E}">
        <p14:creationId xmlns:p14="http://schemas.microsoft.com/office/powerpoint/2010/main" val="988780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B027A43-381B-44EA-836A-45D025530142}" type="slidenum">
              <a:rPr lang="en-GB" smtClean="0"/>
              <a:t>7</a:t>
            </a:fld>
            <a:endParaRPr lang="en-GB"/>
          </a:p>
        </p:txBody>
      </p:sp>
    </p:spTree>
    <p:extLst>
      <p:ext uri="{BB962C8B-B14F-4D97-AF65-F5344CB8AC3E}">
        <p14:creationId xmlns:p14="http://schemas.microsoft.com/office/powerpoint/2010/main" val="1716980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B027A43-381B-44EA-836A-45D025530142}" type="slidenum">
              <a:rPr lang="en-GB" smtClean="0"/>
              <a:t>8</a:t>
            </a:fld>
            <a:endParaRPr lang="en-GB"/>
          </a:p>
        </p:txBody>
      </p:sp>
    </p:spTree>
    <p:extLst>
      <p:ext uri="{BB962C8B-B14F-4D97-AF65-F5344CB8AC3E}">
        <p14:creationId xmlns:p14="http://schemas.microsoft.com/office/powerpoint/2010/main" val="2703313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B027A43-381B-44EA-836A-45D025530142}" type="slidenum">
              <a:rPr lang="en-GB" smtClean="0"/>
              <a:t>9</a:t>
            </a:fld>
            <a:endParaRPr lang="en-GB"/>
          </a:p>
        </p:txBody>
      </p:sp>
    </p:spTree>
    <p:extLst>
      <p:ext uri="{BB962C8B-B14F-4D97-AF65-F5344CB8AC3E}">
        <p14:creationId xmlns:p14="http://schemas.microsoft.com/office/powerpoint/2010/main" val="2144640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B027A43-381B-44EA-836A-45D025530142}" type="slidenum">
              <a:rPr lang="en-GB" smtClean="0"/>
              <a:t>11</a:t>
            </a:fld>
            <a:endParaRPr lang="en-GB"/>
          </a:p>
        </p:txBody>
      </p:sp>
    </p:spTree>
    <p:extLst>
      <p:ext uri="{BB962C8B-B14F-4D97-AF65-F5344CB8AC3E}">
        <p14:creationId xmlns:p14="http://schemas.microsoft.com/office/powerpoint/2010/main" val="6035973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jpeg"/><Relationship Id="rId4" Type="http://schemas.microsoft.com/office/2007/relationships/hdphoto" Target="../media/hdphoto2.wdp"/></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CFB4D18-094C-4203-AB24-11DFADEA59E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7692"/>
          <a:stretch/>
        </p:blipFill>
        <p:spPr>
          <a:xfrm>
            <a:off x="0" y="0"/>
            <a:ext cx="9144000" cy="3543300"/>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14960" y="3079548"/>
            <a:ext cx="5081016" cy="1045128"/>
          </a:xfrm>
          <a:prstGeom prst="rect">
            <a:avLst/>
          </a:prstGeom>
        </p:spPr>
      </p:pic>
      <p:sp>
        <p:nvSpPr>
          <p:cNvPr id="2" name="Title 1"/>
          <p:cNvSpPr>
            <a:spLocks noGrp="1"/>
          </p:cNvSpPr>
          <p:nvPr>
            <p:ph type="ctrTitle" hasCustomPrompt="1"/>
          </p:nvPr>
        </p:nvSpPr>
        <p:spPr>
          <a:xfrm>
            <a:off x="685800" y="3938955"/>
            <a:ext cx="6502791" cy="1554479"/>
          </a:xfrm>
        </p:spPr>
        <p:txBody>
          <a:bodyPr anchor="b">
            <a:normAutofit/>
          </a:bodyPr>
          <a:lstStyle>
            <a:lvl1pPr algn="l">
              <a:defRPr sz="4500"/>
            </a:lvl1pPr>
          </a:lstStyle>
          <a:p>
            <a:r>
              <a:rPr lang="en-US"/>
              <a:t>Click to edit Master title </a:t>
            </a:r>
            <a:br>
              <a:rPr lang="en-US"/>
            </a:br>
            <a:r>
              <a:rPr lang="en-US"/>
              <a:t>style one or two lines</a:t>
            </a:r>
          </a:p>
        </p:txBody>
      </p:sp>
      <p:sp>
        <p:nvSpPr>
          <p:cNvPr id="3" name="Subtitle 2"/>
          <p:cNvSpPr>
            <a:spLocks noGrp="1"/>
          </p:cNvSpPr>
          <p:nvPr>
            <p:ph type="subTitle" idx="1"/>
          </p:nvPr>
        </p:nvSpPr>
        <p:spPr>
          <a:xfrm>
            <a:off x="685800" y="5669281"/>
            <a:ext cx="5721875" cy="443132"/>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Rectangle 13"/>
          <p:cNvSpPr/>
          <p:nvPr userDrawn="1"/>
        </p:nvSpPr>
        <p:spPr>
          <a:xfrm>
            <a:off x="0" y="590330"/>
            <a:ext cx="273304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4E97BE"/>
              </a:solidFill>
            </a:endParaRPr>
          </a:p>
        </p:txBody>
      </p:sp>
      <p:pic>
        <p:nvPicPr>
          <p:cNvPr id="15" name="Picture 14"/>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71944" y="472311"/>
            <a:ext cx="661392" cy="622118"/>
          </a:xfrm>
          <a:prstGeom prst="rect">
            <a:avLst/>
          </a:prstGeom>
        </p:spPr>
      </p:pic>
      <p:sp>
        <p:nvSpPr>
          <p:cNvPr id="16" name="TextBox 15"/>
          <p:cNvSpPr txBox="1"/>
          <p:nvPr userDrawn="1"/>
        </p:nvSpPr>
        <p:spPr>
          <a:xfrm>
            <a:off x="985520" y="633858"/>
            <a:ext cx="1666240" cy="276999"/>
          </a:xfrm>
          <a:prstGeom prst="rect">
            <a:avLst/>
          </a:prstGeom>
          <a:noFill/>
        </p:spPr>
        <p:txBody>
          <a:bodyPr wrap="square" rtlCol="0">
            <a:spAutoFit/>
          </a:bodyPr>
          <a:lstStyle/>
          <a:p>
            <a:r>
              <a:rPr lang="en-US" sz="1200" err="1">
                <a:solidFill>
                  <a:schemeClr val="bg1"/>
                </a:solidFill>
                <a:latin typeface="Roboto Thin" charset="0"/>
                <a:ea typeface="Roboto Thin" charset="0"/>
                <a:cs typeface="Roboto Thin" charset="0"/>
              </a:rPr>
              <a:t>pibgroup.co.uk</a:t>
            </a:r>
            <a:endParaRPr lang="en-US" sz="1200">
              <a:solidFill>
                <a:schemeClr val="bg1"/>
              </a:solidFill>
              <a:latin typeface="Roboto Thin" charset="0"/>
              <a:ea typeface="Roboto Thin" charset="0"/>
              <a:cs typeface="Roboto Thin" charset="0"/>
            </a:endParaRPr>
          </a:p>
        </p:txBody>
      </p:sp>
      <p:pic>
        <p:nvPicPr>
          <p:cNvPr id="12" name="Picture 11"/>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6485550" y="5816261"/>
            <a:ext cx="2447238" cy="79794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head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55133"/>
            <a:ext cx="5642448" cy="1580442"/>
          </a:xfrm>
        </p:spPr>
        <p:txBody>
          <a:bodyPr/>
          <a:lstStyle>
            <a:lvl1pPr algn="r">
              <a:defRPr/>
            </a:lvl1pPr>
          </a:lstStyle>
          <a:p>
            <a:r>
              <a:rPr lang="en-US"/>
              <a:t>Place sub-heading title here one or two lines to fit</a:t>
            </a:r>
          </a:p>
        </p:txBody>
      </p:sp>
      <p:pic>
        <p:nvPicPr>
          <p:cNvPr id="10" name="Picture 9"/>
          <p:cNvPicPr>
            <a:picLocks noChangeAspect="1"/>
          </p:cNvPicPr>
          <p:nvPr userDrawn="1"/>
        </p:nvPicPr>
        <p:blipFill rotWithShape="1">
          <a:blip r:embed="rId2">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a:stretch/>
        </p:blipFill>
        <p:spPr>
          <a:xfrm>
            <a:off x="-312342" y="3911569"/>
            <a:ext cx="3697568" cy="279334"/>
          </a:xfrm>
          <a:prstGeom prst="rect">
            <a:avLst/>
          </a:prstGeom>
          <a:noFill/>
        </p:spPr>
      </p:pic>
      <p:pic>
        <p:nvPicPr>
          <p:cNvPr id="11" name="Picture 10"/>
          <p:cNvPicPr>
            <a:picLocks noChangeAspect="1"/>
          </p:cNvPicPr>
          <p:nvPr userDrawn="1"/>
        </p:nvPicPr>
        <p:blipFill rotWithShape="1">
          <a:blip r:embed="rId2">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rcRect/>
          <a:stretch/>
        </p:blipFill>
        <p:spPr>
          <a:xfrm>
            <a:off x="2930211" y="3911569"/>
            <a:ext cx="3697568" cy="279334"/>
          </a:xfrm>
          <a:prstGeom prst="rect">
            <a:avLst/>
          </a:prstGeom>
          <a:noFill/>
        </p:spPr>
      </p:pic>
      <p:sp>
        <p:nvSpPr>
          <p:cNvPr id="12" name="Rectangle 11"/>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TextBox 12"/>
          <p:cNvSpPr txBox="1"/>
          <p:nvPr userDrawn="1"/>
        </p:nvSpPr>
        <p:spPr>
          <a:xfrm>
            <a:off x="628650" y="50013"/>
            <a:ext cx="6148070" cy="276999"/>
          </a:xfrm>
          <a:prstGeom prst="rect">
            <a:avLst/>
          </a:prstGeom>
          <a:noFill/>
        </p:spPr>
        <p:txBody>
          <a:bodyPr wrap="square" rtlCol="0">
            <a:spAutoFit/>
          </a:bodyPr>
          <a:lstStyle/>
          <a:p>
            <a:r>
              <a:rPr lang="en-US" sz="1200" err="1">
                <a:solidFill>
                  <a:schemeClr val="bg1"/>
                </a:solidFill>
                <a:latin typeface="Roboto Thin" charset="0"/>
                <a:ea typeface="Roboto Thin" charset="0"/>
                <a:cs typeface="Roboto Thin" charset="0"/>
              </a:rPr>
              <a:t>pibgroup.co.uk</a:t>
            </a:r>
            <a:endParaRPr lang="en-US" sz="1200">
              <a:solidFill>
                <a:schemeClr val="bg1"/>
              </a:solidFill>
              <a:latin typeface="Roboto Thin" charset="0"/>
              <a:ea typeface="Roboto Thin" charset="0"/>
              <a:cs typeface="Roboto Thin" charset="0"/>
            </a:endParaRPr>
          </a:p>
        </p:txBody>
      </p:sp>
      <p:sp>
        <p:nvSpPr>
          <p:cNvPr id="14"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a:p>
        </p:txBody>
      </p:sp>
      <p:pic>
        <p:nvPicPr>
          <p:cNvPr id="15" name="Picture 14"/>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6485550" y="5816261"/>
            <a:ext cx="2447238" cy="7979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ner Page Bullets">
    <p:spTree>
      <p:nvGrpSpPr>
        <p:cNvPr id="1" name=""/>
        <p:cNvGrpSpPr/>
        <p:nvPr/>
      </p:nvGrpSpPr>
      <p:grpSpPr>
        <a:xfrm>
          <a:off x="0" y="0"/>
          <a:ext cx="0" cy="0"/>
          <a:chOff x="0" y="0"/>
          <a:chExt cx="0" cy="0"/>
        </a:xfrm>
      </p:grpSpPr>
      <p:sp>
        <p:nvSpPr>
          <p:cNvPr id="2" name="Title 1"/>
          <p:cNvSpPr>
            <a:spLocks noGrp="1"/>
          </p:cNvSpPr>
          <p:nvPr>
            <p:ph type="title"/>
          </p:nvPr>
        </p:nvSpPr>
        <p:spPr>
          <a:xfrm>
            <a:off x="623888" y="853707"/>
            <a:ext cx="7886700" cy="592474"/>
          </a:xfrm>
        </p:spPr>
        <p:txBody>
          <a:bodyPr anchor="b">
            <a:normAutofit/>
          </a:bodyPr>
          <a:lstStyle>
            <a:lvl1pPr>
              <a:defRPr sz="3300"/>
            </a:lvl1pPr>
          </a:lstStyle>
          <a:p>
            <a:r>
              <a:rPr lang="en-US"/>
              <a:t>Click to edit Master title style</a:t>
            </a:r>
          </a:p>
        </p:txBody>
      </p:sp>
      <p:sp>
        <p:nvSpPr>
          <p:cNvPr id="10" name="Content Placeholder 2"/>
          <p:cNvSpPr>
            <a:spLocks noGrp="1"/>
          </p:cNvSpPr>
          <p:nvPr>
            <p:ph idx="13" hasCustomPrompt="1"/>
          </p:nvPr>
        </p:nvSpPr>
        <p:spPr>
          <a:xfrm>
            <a:off x="623888" y="1593391"/>
            <a:ext cx="7886700" cy="4632312"/>
          </a:xfrm>
        </p:spPr>
        <p:txBody>
          <a:bodyPr/>
          <a:lstStyle>
            <a:lvl5pPr marL="0" marR="0" indent="-171450" algn="l" defTabSz="685800" rtl="0" eaLnBrk="1" fontAlgn="auto" latinLnBrk="0" hangingPunct="1">
              <a:lnSpc>
                <a:spcPct val="90000"/>
              </a:lnSpc>
              <a:spcBef>
                <a:spcPts val="375"/>
              </a:spcBef>
              <a:spcAft>
                <a:spcPts val="0"/>
              </a:spcAft>
              <a:buClr>
                <a:schemeClr val="accent1"/>
              </a:buClr>
              <a:buSzTx/>
              <a:buFont typeface=".AppleSystemUIFont" charset="-120"/>
              <a:buChar char="›"/>
              <a:tabLst/>
              <a:defRPr>
                <a:solidFill>
                  <a:schemeClr val="accent2">
                    <a:lumMod val="10000"/>
                  </a:schemeClr>
                </a:solidFill>
              </a:defRPr>
            </a:lvl5pPr>
          </a:lstStyle>
          <a:p>
            <a:pPr lvl="4"/>
            <a:r>
              <a:rPr lang="en-US"/>
              <a:t>Bullet style</a:t>
            </a:r>
          </a:p>
          <a:p>
            <a:pPr lvl="4"/>
            <a:r>
              <a:rPr lang="en-US"/>
              <a:t>Bullet style</a:t>
            </a:r>
          </a:p>
          <a:p>
            <a:pPr lvl="4"/>
            <a:r>
              <a:rPr lang="en-US"/>
              <a:t>Bullet style</a:t>
            </a:r>
          </a:p>
          <a:p>
            <a:pPr lvl="4"/>
            <a:r>
              <a:rPr lang="en-US"/>
              <a:t>Bullet style</a:t>
            </a:r>
          </a:p>
        </p:txBody>
      </p:sp>
      <p:cxnSp>
        <p:nvCxnSpPr>
          <p:cNvPr id="11" name="Straight Connector 10"/>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extBox 13"/>
          <p:cNvSpPr txBox="1"/>
          <p:nvPr userDrawn="1"/>
        </p:nvSpPr>
        <p:spPr>
          <a:xfrm>
            <a:off x="628650" y="50013"/>
            <a:ext cx="6148070" cy="276999"/>
          </a:xfrm>
          <a:prstGeom prst="rect">
            <a:avLst/>
          </a:prstGeom>
          <a:noFill/>
        </p:spPr>
        <p:txBody>
          <a:bodyPr wrap="square" rtlCol="0">
            <a:spAutoFit/>
          </a:bodyPr>
          <a:lstStyle/>
          <a:p>
            <a:r>
              <a:rPr lang="en-US" sz="1200" err="1">
                <a:solidFill>
                  <a:schemeClr val="bg1"/>
                </a:solidFill>
                <a:latin typeface="Roboto Thin" charset="0"/>
                <a:ea typeface="Roboto Thin" charset="0"/>
                <a:cs typeface="Roboto Thin" charset="0"/>
              </a:rPr>
              <a:t>pibgroup.co.uk</a:t>
            </a:r>
            <a:endParaRPr lang="en-US" sz="1200">
              <a:solidFill>
                <a:schemeClr val="bg1"/>
              </a:solidFill>
              <a:latin typeface="Roboto Thin" charset="0"/>
              <a:ea typeface="Roboto Thin" charset="0"/>
              <a:cs typeface="Roboto Thin" charset="0"/>
            </a:endParaRPr>
          </a:p>
        </p:txBody>
      </p:sp>
      <p:sp>
        <p:nvSpPr>
          <p:cNvPr id="15"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a:p>
        </p:txBody>
      </p:sp>
      <p:pic>
        <p:nvPicPr>
          <p:cNvPr id="16" name="Picture 1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3" name="TextBox 2"/>
          <p:cNvSpPr txBox="1"/>
          <p:nvPr userDrawn="1"/>
        </p:nvSpPr>
        <p:spPr>
          <a:xfrm>
            <a:off x="532015" y="6484599"/>
            <a:ext cx="7037473" cy="338554"/>
          </a:xfrm>
          <a:prstGeom prst="rect">
            <a:avLst/>
          </a:prstGeom>
          <a:noFill/>
        </p:spPr>
        <p:txBody>
          <a:bodyPr wrap="square" rtlCol="0">
            <a:spAutoFit/>
          </a:bodyPr>
          <a:lstStyle/>
          <a:p>
            <a:r>
              <a:rPr lang="en-GB" sz="80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err="1">
                <a:solidFill>
                  <a:schemeClr val="tx2"/>
                </a:solidFill>
                <a:latin typeface="Arial" panose="020B0604020202020204" pitchFamily="34" charset="0"/>
                <a:cs typeface="Arial" panose="020B0604020202020204" pitchFamily="34" charset="0"/>
              </a:rPr>
              <a:t>Carr</a:t>
            </a:r>
            <a:r>
              <a:rPr lang="en-GB" sz="80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picture and text">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614014" y="1602848"/>
            <a:ext cx="3416300" cy="4632325"/>
          </a:xfrm>
        </p:spPr>
        <p:txBody>
          <a:bodyPr/>
          <a:lstStyle/>
          <a:p>
            <a:endParaRPr lang="en-US"/>
          </a:p>
        </p:txBody>
      </p:sp>
      <p:sp>
        <p:nvSpPr>
          <p:cNvPr id="19" name="Text Placeholder 18"/>
          <p:cNvSpPr>
            <a:spLocks noGrp="1"/>
          </p:cNvSpPr>
          <p:nvPr>
            <p:ph type="body" sz="quarter" idx="15" hasCustomPrompt="1"/>
          </p:nvPr>
        </p:nvSpPr>
        <p:spPr>
          <a:xfrm>
            <a:off x="4214813" y="1593850"/>
            <a:ext cx="4314825" cy="4632325"/>
          </a:xfrm>
        </p:spPr>
        <p:txBody>
          <a:bodyPr/>
          <a:lstStyle>
            <a:lvl1pPr marL="0" indent="0">
              <a:buNone/>
              <a:defRPr/>
            </a:lvl1pPr>
          </a:lstStyle>
          <a:p>
            <a:pPr lvl="0"/>
            <a:r>
              <a:rPr lang="en-US"/>
              <a:t>Text to go in here</a:t>
            </a:r>
          </a:p>
        </p:txBody>
      </p:sp>
      <p:sp>
        <p:nvSpPr>
          <p:cNvPr id="97" name="Title 96"/>
          <p:cNvSpPr>
            <a:spLocks noGrp="1"/>
          </p:cNvSpPr>
          <p:nvPr>
            <p:ph type="title"/>
          </p:nvPr>
        </p:nvSpPr>
        <p:spPr/>
        <p:txBody>
          <a:bodyPr/>
          <a:lstStyle/>
          <a:p>
            <a:r>
              <a:rPr lang="en-US"/>
              <a:t>Click to edit Master title style</a:t>
            </a:r>
          </a:p>
        </p:txBody>
      </p:sp>
      <p:sp>
        <p:nvSpPr>
          <p:cNvPr id="99" name="Picture Placeholder 98"/>
          <p:cNvSpPr>
            <a:spLocks noGrp="1"/>
          </p:cNvSpPr>
          <p:nvPr>
            <p:ph type="pic" sz="quarter" idx="16"/>
          </p:nvPr>
        </p:nvSpPr>
        <p:spPr>
          <a:xfrm>
            <a:off x="607488" y="5824000"/>
            <a:ext cx="2651125" cy="415925"/>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a:p>
        </p:txBody>
      </p:sp>
      <p:cxnSp>
        <p:nvCxnSpPr>
          <p:cNvPr id="16" name="Straight Connector 15"/>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TextBox 19"/>
          <p:cNvSpPr txBox="1"/>
          <p:nvPr userDrawn="1"/>
        </p:nvSpPr>
        <p:spPr>
          <a:xfrm>
            <a:off x="628650" y="50013"/>
            <a:ext cx="6148070" cy="276999"/>
          </a:xfrm>
          <a:prstGeom prst="rect">
            <a:avLst/>
          </a:prstGeom>
          <a:noFill/>
        </p:spPr>
        <p:txBody>
          <a:bodyPr wrap="square" rtlCol="0">
            <a:spAutoFit/>
          </a:bodyPr>
          <a:lstStyle/>
          <a:p>
            <a:r>
              <a:rPr lang="en-US" sz="1200" err="1">
                <a:solidFill>
                  <a:schemeClr val="bg1"/>
                </a:solidFill>
                <a:latin typeface="Roboto Thin" charset="0"/>
                <a:ea typeface="Roboto Thin" charset="0"/>
                <a:cs typeface="Roboto Thin" charset="0"/>
              </a:rPr>
              <a:t>pibgroup.co.uk</a:t>
            </a:r>
            <a:endParaRPr lang="en-US" sz="1200">
              <a:solidFill>
                <a:schemeClr val="bg1"/>
              </a:solidFill>
              <a:latin typeface="Roboto Thin" charset="0"/>
              <a:ea typeface="Roboto Thin" charset="0"/>
              <a:cs typeface="Roboto Thin" charset="0"/>
            </a:endParaRPr>
          </a:p>
        </p:txBody>
      </p:sp>
      <p:sp>
        <p:nvSpPr>
          <p:cNvPr id="21"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a:p>
        </p:txBody>
      </p:sp>
      <p:pic>
        <p:nvPicPr>
          <p:cNvPr id="22" name="Picture 21"/>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2" name="TextBox 11">
            <a:extLst>
              <a:ext uri="{FF2B5EF4-FFF2-40B4-BE49-F238E27FC236}">
                <a16:creationId xmlns:a16="http://schemas.microsoft.com/office/drawing/2014/main" id="{A84DBE27-B260-4AC1-90CA-F84C54FEF09C}"/>
              </a:ext>
            </a:extLst>
          </p:cNvPr>
          <p:cNvSpPr txBox="1"/>
          <p:nvPr userDrawn="1"/>
        </p:nvSpPr>
        <p:spPr>
          <a:xfrm>
            <a:off x="532015" y="6484599"/>
            <a:ext cx="7037473" cy="338554"/>
          </a:xfrm>
          <a:prstGeom prst="rect">
            <a:avLst/>
          </a:prstGeom>
          <a:noFill/>
        </p:spPr>
        <p:txBody>
          <a:bodyPr wrap="square" rtlCol="0">
            <a:spAutoFit/>
          </a:bodyPr>
          <a:lstStyle/>
          <a:p>
            <a:r>
              <a:rPr lang="en-GB" sz="80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err="1">
                <a:solidFill>
                  <a:schemeClr val="tx2"/>
                </a:solidFill>
                <a:latin typeface="Arial" panose="020B0604020202020204" pitchFamily="34" charset="0"/>
                <a:cs typeface="Arial" panose="020B0604020202020204" pitchFamily="34" charset="0"/>
              </a:rPr>
              <a:t>Carr</a:t>
            </a:r>
            <a:r>
              <a:rPr lang="en-GB" sz="80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mall images with text">
    <p:spTree>
      <p:nvGrpSpPr>
        <p:cNvPr id="1" name=""/>
        <p:cNvGrpSpPr/>
        <p:nvPr/>
      </p:nvGrpSpPr>
      <p:grpSpPr>
        <a:xfrm>
          <a:off x="0" y="0"/>
          <a:ext cx="0" cy="0"/>
          <a:chOff x="0" y="0"/>
          <a:chExt cx="0" cy="0"/>
        </a:xfrm>
      </p:grpSpPr>
      <p:sp>
        <p:nvSpPr>
          <p:cNvPr id="10" name="Title 1"/>
          <p:cNvSpPr>
            <a:spLocks noGrp="1"/>
          </p:cNvSpPr>
          <p:nvPr>
            <p:ph type="title"/>
          </p:nvPr>
        </p:nvSpPr>
        <p:spPr>
          <a:xfrm>
            <a:off x="623888" y="826321"/>
            <a:ext cx="7886700" cy="592474"/>
          </a:xfrm>
        </p:spPr>
        <p:txBody>
          <a:bodyPr anchor="b">
            <a:normAutofit/>
          </a:bodyPr>
          <a:lstStyle>
            <a:lvl1pPr>
              <a:defRPr sz="3300"/>
            </a:lvl1pPr>
          </a:lstStyle>
          <a:p>
            <a:r>
              <a:rPr lang="en-US"/>
              <a:t>Click to edit Master title style</a:t>
            </a:r>
          </a:p>
        </p:txBody>
      </p:sp>
      <p:sp>
        <p:nvSpPr>
          <p:cNvPr id="19" name="Picture Placeholder 18"/>
          <p:cNvSpPr>
            <a:spLocks noGrp="1"/>
          </p:cNvSpPr>
          <p:nvPr>
            <p:ph type="pic" sz="quarter" idx="15"/>
          </p:nvPr>
        </p:nvSpPr>
        <p:spPr>
          <a:xfrm>
            <a:off x="623888" y="1582738"/>
            <a:ext cx="1413382" cy="1413382"/>
          </a:xfrm>
        </p:spPr>
        <p:txBody>
          <a:bodyPr/>
          <a:lstStyle/>
          <a:p>
            <a:endParaRPr lang="en-US"/>
          </a:p>
        </p:txBody>
      </p:sp>
      <p:sp>
        <p:nvSpPr>
          <p:cNvPr id="21" name="Picture Placeholder 18"/>
          <p:cNvSpPr>
            <a:spLocks noGrp="1"/>
          </p:cNvSpPr>
          <p:nvPr>
            <p:ph type="pic" sz="quarter" idx="17"/>
          </p:nvPr>
        </p:nvSpPr>
        <p:spPr>
          <a:xfrm>
            <a:off x="623888" y="3191043"/>
            <a:ext cx="1413382" cy="1413382"/>
          </a:xfrm>
        </p:spPr>
        <p:txBody>
          <a:bodyPr/>
          <a:lstStyle/>
          <a:p>
            <a:endParaRPr lang="en-US"/>
          </a:p>
        </p:txBody>
      </p:sp>
      <p:sp>
        <p:nvSpPr>
          <p:cNvPr id="24" name="Picture Placeholder 18"/>
          <p:cNvSpPr>
            <a:spLocks noGrp="1"/>
          </p:cNvSpPr>
          <p:nvPr>
            <p:ph type="pic" sz="quarter" idx="18"/>
          </p:nvPr>
        </p:nvSpPr>
        <p:spPr>
          <a:xfrm>
            <a:off x="623888" y="4805832"/>
            <a:ext cx="1413382" cy="1413382"/>
          </a:xfrm>
        </p:spPr>
        <p:txBody>
          <a:bodyPr/>
          <a:lstStyle/>
          <a:p>
            <a:endParaRPr lang="en-US"/>
          </a:p>
        </p:txBody>
      </p:sp>
      <p:sp>
        <p:nvSpPr>
          <p:cNvPr id="26" name="Text Placeholder 25"/>
          <p:cNvSpPr>
            <a:spLocks noGrp="1"/>
          </p:cNvSpPr>
          <p:nvPr>
            <p:ph type="body" sz="quarter" idx="19" hasCustomPrompt="1"/>
          </p:nvPr>
        </p:nvSpPr>
        <p:spPr>
          <a:xfrm>
            <a:off x="2270125" y="1582738"/>
            <a:ext cx="6240463" cy="4636476"/>
          </a:xfrm>
        </p:spPr>
        <p:txBody>
          <a:bodyPr/>
          <a:lstStyle>
            <a:lvl1pPr marL="0" indent="0">
              <a:buNone/>
              <a:defRPr/>
            </a:lvl1pPr>
          </a:lstStyle>
          <a:p>
            <a:pPr lvl="0"/>
            <a:r>
              <a:rPr lang="en-US"/>
              <a:t>Text to go in here</a:t>
            </a:r>
          </a:p>
        </p:txBody>
      </p:sp>
      <p:sp>
        <p:nvSpPr>
          <p:cNvPr id="28" name="Picture Placeholder 98"/>
          <p:cNvSpPr>
            <a:spLocks noGrp="1"/>
          </p:cNvSpPr>
          <p:nvPr>
            <p:ph type="pic" sz="quarter" idx="16"/>
          </p:nvPr>
        </p:nvSpPr>
        <p:spPr>
          <a:xfrm>
            <a:off x="607489" y="5967663"/>
            <a:ext cx="1735410" cy="272262"/>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a:p>
        </p:txBody>
      </p:sp>
      <p:cxnSp>
        <p:nvCxnSpPr>
          <p:cNvPr id="18" name="Straight Connector 17"/>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TextBox 21"/>
          <p:cNvSpPr txBox="1"/>
          <p:nvPr userDrawn="1"/>
        </p:nvSpPr>
        <p:spPr>
          <a:xfrm>
            <a:off x="628650" y="50013"/>
            <a:ext cx="6148070" cy="276999"/>
          </a:xfrm>
          <a:prstGeom prst="rect">
            <a:avLst/>
          </a:prstGeom>
          <a:noFill/>
        </p:spPr>
        <p:txBody>
          <a:bodyPr wrap="square" rtlCol="0">
            <a:spAutoFit/>
          </a:bodyPr>
          <a:lstStyle/>
          <a:p>
            <a:r>
              <a:rPr lang="en-US" sz="1200" err="1">
                <a:solidFill>
                  <a:schemeClr val="bg1"/>
                </a:solidFill>
                <a:latin typeface="Roboto Thin" charset="0"/>
                <a:ea typeface="Roboto Thin" charset="0"/>
                <a:cs typeface="Roboto Thin" charset="0"/>
              </a:rPr>
              <a:t>pibgroup.co.uk</a:t>
            </a:r>
            <a:endParaRPr lang="en-US" sz="1200">
              <a:solidFill>
                <a:schemeClr val="bg1"/>
              </a:solidFill>
              <a:latin typeface="Roboto Thin" charset="0"/>
              <a:ea typeface="Roboto Thin" charset="0"/>
              <a:cs typeface="Roboto Thin" charset="0"/>
            </a:endParaRPr>
          </a:p>
        </p:txBody>
      </p:sp>
      <p:sp>
        <p:nvSpPr>
          <p:cNvPr id="23"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a:p>
        </p:txBody>
      </p:sp>
      <p:pic>
        <p:nvPicPr>
          <p:cNvPr id="25" name="Picture 2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4" name="TextBox 13">
            <a:extLst>
              <a:ext uri="{FF2B5EF4-FFF2-40B4-BE49-F238E27FC236}">
                <a16:creationId xmlns:a16="http://schemas.microsoft.com/office/drawing/2014/main" id="{42F73E74-6B88-4765-832E-AF1C5439CA37}"/>
              </a:ext>
            </a:extLst>
          </p:cNvPr>
          <p:cNvSpPr txBox="1"/>
          <p:nvPr userDrawn="1"/>
        </p:nvSpPr>
        <p:spPr>
          <a:xfrm>
            <a:off x="532015" y="6484599"/>
            <a:ext cx="7037473" cy="338554"/>
          </a:xfrm>
          <a:prstGeom prst="rect">
            <a:avLst/>
          </a:prstGeom>
          <a:noFill/>
        </p:spPr>
        <p:txBody>
          <a:bodyPr wrap="square" rtlCol="0">
            <a:spAutoFit/>
          </a:bodyPr>
          <a:lstStyle/>
          <a:p>
            <a:r>
              <a:rPr lang="en-GB" sz="80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err="1">
                <a:solidFill>
                  <a:schemeClr val="tx2"/>
                </a:solidFill>
                <a:latin typeface="Arial" panose="020B0604020202020204" pitchFamily="34" charset="0"/>
                <a:cs typeface="Arial" panose="020B0604020202020204" pitchFamily="34" charset="0"/>
              </a:rPr>
              <a:t>Carr</a:t>
            </a:r>
            <a:r>
              <a:rPr lang="en-GB" sz="80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ll Images and text">
    <p:spTree>
      <p:nvGrpSpPr>
        <p:cNvPr id="1" name=""/>
        <p:cNvGrpSpPr/>
        <p:nvPr/>
      </p:nvGrpSpPr>
      <p:grpSpPr>
        <a:xfrm>
          <a:off x="0" y="0"/>
          <a:ext cx="0" cy="0"/>
          <a:chOff x="0" y="0"/>
          <a:chExt cx="0" cy="0"/>
        </a:xfrm>
      </p:grpSpPr>
      <p:sp>
        <p:nvSpPr>
          <p:cNvPr id="10" name="Title 1"/>
          <p:cNvSpPr>
            <a:spLocks noGrp="1"/>
          </p:cNvSpPr>
          <p:nvPr>
            <p:ph type="title"/>
          </p:nvPr>
        </p:nvSpPr>
        <p:spPr>
          <a:xfrm>
            <a:off x="623888" y="826321"/>
            <a:ext cx="7886700" cy="592474"/>
          </a:xfrm>
        </p:spPr>
        <p:txBody>
          <a:bodyPr anchor="b">
            <a:normAutofit/>
          </a:bodyPr>
          <a:lstStyle>
            <a:lvl1pPr>
              <a:defRPr sz="3300"/>
            </a:lvl1pPr>
          </a:lstStyle>
          <a:p>
            <a:r>
              <a:rPr lang="en-US"/>
              <a:t>Click to edit Master title style</a:t>
            </a:r>
          </a:p>
        </p:txBody>
      </p:sp>
      <p:sp>
        <p:nvSpPr>
          <p:cNvPr id="21" name="Picture Placeholder 18"/>
          <p:cNvSpPr>
            <a:spLocks noGrp="1"/>
          </p:cNvSpPr>
          <p:nvPr>
            <p:ph type="pic" sz="quarter" idx="17"/>
          </p:nvPr>
        </p:nvSpPr>
        <p:spPr>
          <a:xfrm>
            <a:off x="623888" y="3902297"/>
            <a:ext cx="1111157" cy="1111157"/>
          </a:xfrm>
        </p:spPr>
        <p:txBody>
          <a:bodyPr/>
          <a:lstStyle/>
          <a:p>
            <a:endParaRPr lang="en-US"/>
          </a:p>
        </p:txBody>
      </p:sp>
      <p:sp>
        <p:nvSpPr>
          <p:cNvPr id="24" name="Picture Placeholder 18"/>
          <p:cNvSpPr>
            <a:spLocks noGrp="1"/>
          </p:cNvSpPr>
          <p:nvPr>
            <p:ph type="pic" sz="quarter" idx="18"/>
          </p:nvPr>
        </p:nvSpPr>
        <p:spPr>
          <a:xfrm>
            <a:off x="623888" y="5118073"/>
            <a:ext cx="1111157" cy="1111157"/>
          </a:xfrm>
        </p:spPr>
        <p:txBody>
          <a:bodyPr/>
          <a:lstStyle/>
          <a:p>
            <a:endParaRPr lang="en-US"/>
          </a:p>
        </p:txBody>
      </p:sp>
      <p:sp>
        <p:nvSpPr>
          <p:cNvPr id="26" name="Text Placeholder 25"/>
          <p:cNvSpPr>
            <a:spLocks noGrp="1"/>
          </p:cNvSpPr>
          <p:nvPr>
            <p:ph type="body" sz="quarter" idx="19" hasCustomPrompt="1"/>
          </p:nvPr>
        </p:nvSpPr>
        <p:spPr>
          <a:xfrm>
            <a:off x="623889" y="1582738"/>
            <a:ext cx="7886700" cy="221494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Text to go in here</a:t>
            </a:r>
          </a:p>
        </p:txBody>
      </p:sp>
      <p:sp>
        <p:nvSpPr>
          <p:cNvPr id="17" name="Picture Placeholder 18"/>
          <p:cNvSpPr>
            <a:spLocks noGrp="1"/>
          </p:cNvSpPr>
          <p:nvPr>
            <p:ph type="pic" sz="quarter" idx="20"/>
          </p:nvPr>
        </p:nvSpPr>
        <p:spPr>
          <a:xfrm>
            <a:off x="1836605" y="3902297"/>
            <a:ext cx="2326933" cy="2326933"/>
          </a:xfrm>
        </p:spPr>
        <p:txBody>
          <a:bodyPr/>
          <a:lstStyle/>
          <a:p>
            <a:endParaRPr lang="en-US"/>
          </a:p>
        </p:txBody>
      </p:sp>
      <p:sp>
        <p:nvSpPr>
          <p:cNvPr id="18" name="Text Placeholder 25"/>
          <p:cNvSpPr>
            <a:spLocks noGrp="1"/>
          </p:cNvSpPr>
          <p:nvPr>
            <p:ph type="body" sz="quarter" idx="21" hasCustomPrompt="1"/>
          </p:nvPr>
        </p:nvSpPr>
        <p:spPr>
          <a:xfrm>
            <a:off x="4281489" y="3902297"/>
            <a:ext cx="4229099" cy="2326933"/>
          </a:xfrm>
        </p:spPr>
        <p:txBody>
          <a:bodyPr/>
          <a:lstStyle>
            <a:lvl1pPr marL="0" indent="0">
              <a:buNone/>
              <a:defRPr/>
            </a:lvl1pPr>
          </a:lstStyle>
          <a:p>
            <a:pPr lvl="0"/>
            <a:r>
              <a:rPr lang="en-US"/>
              <a:t>Text to go in here</a:t>
            </a:r>
          </a:p>
          <a:p>
            <a:pPr lvl="1"/>
            <a:r>
              <a:rPr lang="en-US"/>
              <a:t>Second level</a:t>
            </a:r>
          </a:p>
          <a:p>
            <a:pPr lvl="2"/>
            <a:r>
              <a:rPr lang="en-US"/>
              <a:t>Third level</a:t>
            </a:r>
          </a:p>
          <a:p>
            <a:pPr lvl="3"/>
            <a:r>
              <a:rPr lang="en-US"/>
              <a:t>Fourth level</a:t>
            </a:r>
          </a:p>
          <a:p>
            <a:pPr lvl="4"/>
            <a:r>
              <a:rPr lang="en-US"/>
              <a:t>Fifth level</a:t>
            </a:r>
          </a:p>
        </p:txBody>
      </p:sp>
      <p:sp>
        <p:nvSpPr>
          <p:cNvPr id="20" name="Picture Placeholder 98"/>
          <p:cNvSpPr>
            <a:spLocks noGrp="1"/>
          </p:cNvSpPr>
          <p:nvPr>
            <p:ph type="pic" sz="quarter" idx="16"/>
          </p:nvPr>
        </p:nvSpPr>
        <p:spPr>
          <a:xfrm>
            <a:off x="1829730" y="5906500"/>
            <a:ext cx="2651125" cy="415925"/>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a:p>
        </p:txBody>
      </p:sp>
      <p:cxnSp>
        <p:nvCxnSpPr>
          <p:cNvPr id="22" name="Straight Connector 21"/>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Rectangle 22"/>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extBox 24"/>
          <p:cNvSpPr txBox="1"/>
          <p:nvPr userDrawn="1"/>
        </p:nvSpPr>
        <p:spPr>
          <a:xfrm>
            <a:off x="628650" y="50013"/>
            <a:ext cx="6148070" cy="276999"/>
          </a:xfrm>
          <a:prstGeom prst="rect">
            <a:avLst/>
          </a:prstGeom>
          <a:noFill/>
        </p:spPr>
        <p:txBody>
          <a:bodyPr wrap="square" rtlCol="0">
            <a:spAutoFit/>
          </a:bodyPr>
          <a:lstStyle/>
          <a:p>
            <a:r>
              <a:rPr lang="en-US" sz="1200" err="1">
                <a:solidFill>
                  <a:schemeClr val="bg1"/>
                </a:solidFill>
                <a:latin typeface="Roboto Thin" charset="0"/>
                <a:ea typeface="Roboto Thin" charset="0"/>
                <a:cs typeface="Roboto Thin" charset="0"/>
              </a:rPr>
              <a:t>pibgroup.co.uk</a:t>
            </a:r>
            <a:endParaRPr lang="en-US" sz="1200">
              <a:solidFill>
                <a:schemeClr val="bg1"/>
              </a:solidFill>
              <a:latin typeface="Roboto Thin" charset="0"/>
              <a:ea typeface="Roboto Thin" charset="0"/>
              <a:cs typeface="Roboto Thin" charset="0"/>
            </a:endParaRPr>
          </a:p>
        </p:txBody>
      </p:sp>
      <p:sp>
        <p:nvSpPr>
          <p:cNvPr id="27"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a:p>
        </p:txBody>
      </p:sp>
      <p:pic>
        <p:nvPicPr>
          <p:cNvPr id="28" name="Picture 27"/>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5" name="TextBox 14">
            <a:extLst>
              <a:ext uri="{FF2B5EF4-FFF2-40B4-BE49-F238E27FC236}">
                <a16:creationId xmlns:a16="http://schemas.microsoft.com/office/drawing/2014/main" id="{4A8FFEE4-E621-44C8-B423-099E46456753}"/>
              </a:ext>
            </a:extLst>
          </p:cNvPr>
          <p:cNvSpPr txBox="1"/>
          <p:nvPr userDrawn="1"/>
        </p:nvSpPr>
        <p:spPr>
          <a:xfrm>
            <a:off x="532015" y="6484599"/>
            <a:ext cx="7037473" cy="338554"/>
          </a:xfrm>
          <a:prstGeom prst="rect">
            <a:avLst/>
          </a:prstGeom>
          <a:noFill/>
        </p:spPr>
        <p:txBody>
          <a:bodyPr wrap="square" rtlCol="0">
            <a:spAutoFit/>
          </a:bodyPr>
          <a:lstStyle/>
          <a:p>
            <a:r>
              <a:rPr lang="en-GB" sz="80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err="1">
                <a:solidFill>
                  <a:schemeClr val="tx2"/>
                </a:solidFill>
                <a:latin typeface="Arial" panose="020B0604020202020204" pitchFamily="34" charset="0"/>
                <a:cs typeface="Arial" panose="020B0604020202020204" pitchFamily="34" charset="0"/>
              </a:rPr>
              <a:t>Carr</a:t>
            </a:r>
            <a:r>
              <a:rPr lang="en-GB" sz="80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6" name="Title 1"/>
          <p:cNvSpPr>
            <a:spLocks noGrp="1"/>
          </p:cNvSpPr>
          <p:nvPr>
            <p:ph type="title"/>
          </p:nvPr>
        </p:nvSpPr>
        <p:spPr>
          <a:xfrm>
            <a:off x="623888" y="826321"/>
            <a:ext cx="7886700" cy="592474"/>
          </a:xfrm>
        </p:spPr>
        <p:txBody>
          <a:bodyPr anchor="b">
            <a:normAutofit/>
          </a:bodyPr>
          <a:lstStyle>
            <a:lvl1pPr>
              <a:defRPr sz="3300"/>
            </a:lvl1pPr>
          </a:lstStyle>
          <a:p>
            <a:r>
              <a:rPr lang="en-US"/>
              <a:t>Click to edit Master title style</a:t>
            </a:r>
          </a:p>
        </p:txBody>
      </p:sp>
      <p:sp>
        <p:nvSpPr>
          <p:cNvPr id="7" name="Text Placeholder 25"/>
          <p:cNvSpPr>
            <a:spLocks noGrp="1"/>
          </p:cNvSpPr>
          <p:nvPr>
            <p:ph type="body" sz="quarter" idx="19"/>
          </p:nvPr>
        </p:nvSpPr>
        <p:spPr>
          <a:xfrm>
            <a:off x="623889" y="1582737"/>
            <a:ext cx="5385926" cy="472718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Rectangle 13"/>
          <p:cNvSpPr/>
          <p:nvPr userDrawn="1"/>
        </p:nvSpPr>
        <p:spPr>
          <a:xfrm>
            <a:off x="6140870" y="1582737"/>
            <a:ext cx="2389173" cy="4727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a:ext>
            </a:extLst>
          </a:blip>
          <a:srcRect t="-295"/>
          <a:stretch/>
        </p:blipFill>
        <p:spPr>
          <a:xfrm>
            <a:off x="6133581" y="6035196"/>
            <a:ext cx="1748536" cy="345440"/>
          </a:xfrm>
          <a:prstGeom prst="rect">
            <a:avLst/>
          </a:prstGeom>
        </p:spPr>
      </p:pic>
      <p:sp>
        <p:nvSpPr>
          <p:cNvPr id="16" name="Text Placeholder 25"/>
          <p:cNvSpPr>
            <a:spLocks noGrp="1"/>
          </p:cNvSpPr>
          <p:nvPr>
            <p:ph type="body" sz="quarter" idx="20"/>
          </p:nvPr>
        </p:nvSpPr>
        <p:spPr>
          <a:xfrm>
            <a:off x="6186389" y="1645920"/>
            <a:ext cx="2245010" cy="2062130"/>
          </a:xfrm>
        </p:spPr>
        <p:txBody>
          <a:bodyPr/>
          <a:lstStyle>
            <a:lvl1pPr marL="0" indent="0">
              <a:buNone/>
              <a:defRPr>
                <a:solidFill>
                  <a:schemeClr val="bg1"/>
                </a:solidFill>
              </a:defRPr>
            </a:lvl1pPr>
          </a:lstStyle>
          <a:p>
            <a:pPr lvl="0"/>
            <a:r>
              <a:rPr lang="en-US"/>
              <a:t>Click to edit Master text styles</a:t>
            </a:r>
          </a:p>
        </p:txBody>
      </p:sp>
      <p:sp>
        <p:nvSpPr>
          <p:cNvPr id="18" name="Text Placeholder 17"/>
          <p:cNvSpPr>
            <a:spLocks noGrp="1"/>
          </p:cNvSpPr>
          <p:nvPr>
            <p:ph type="body" sz="quarter" idx="21" hasCustomPrompt="1"/>
          </p:nvPr>
        </p:nvSpPr>
        <p:spPr>
          <a:xfrm>
            <a:off x="6186488" y="3759200"/>
            <a:ext cx="2244725" cy="2276475"/>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White bullet points if needed</a:t>
            </a:r>
          </a:p>
        </p:txBody>
      </p:sp>
      <p:cxnSp>
        <p:nvCxnSpPr>
          <p:cNvPr id="19" name="Straight Connector 18"/>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TextBox 20"/>
          <p:cNvSpPr txBox="1"/>
          <p:nvPr userDrawn="1"/>
        </p:nvSpPr>
        <p:spPr>
          <a:xfrm>
            <a:off x="628650" y="50013"/>
            <a:ext cx="6148070" cy="276999"/>
          </a:xfrm>
          <a:prstGeom prst="rect">
            <a:avLst/>
          </a:prstGeom>
          <a:noFill/>
        </p:spPr>
        <p:txBody>
          <a:bodyPr wrap="square" rtlCol="0">
            <a:spAutoFit/>
          </a:bodyPr>
          <a:lstStyle/>
          <a:p>
            <a:r>
              <a:rPr lang="en-US" sz="1200" err="1">
                <a:solidFill>
                  <a:schemeClr val="bg1"/>
                </a:solidFill>
                <a:latin typeface="Roboto Thin" charset="0"/>
                <a:ea typeface="Roboto Thin" charset="0"/>
                <a:cs typeface="Roboto Thin" charset="0"/>
              </a:rPr>
              <a:t>pibgroup.co.uk</a:t>
            </a:r>
            <a:endParaRPr lang="en-US" sz="1200">
              <a:solidFill>
                <a:schemeClr val="bg1"/>
              </a:solidFill>
              <a:latin typeface="Roboto Thin" charset="0"/>
              <a:ea typeface="Roboto Thin" charset="0"/>
              <a:cs typeface="Roboto Thin" charset="0"/>
            </a:endParaRPr>
          </a:p>
        </p:txBody>
      </p:sp>
      <p:sp>
        <p:nvSpPr>
          <p:cNvPr id="22"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a:p>
        </p:txBody>
      </p:sp>
      <p:pic>
        <p:nvPicPr>
          <p:cNvPr id="23" name="Picture 22"/>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7" name="TextBox 16">
            <a:extLst>
              <a:ext uri="{FF2B5EF4-FFF2-40B4-BE49-F238E27FC236}">
                <a16:creationId xmlns:a16="http://schemas.microsoft.com/office/drawing/2014/main" id="{18920CF7-5FB2-4C5A-9B78-05455F17369A}"/>
              </a:ext>
            </a:extLst>
          </p:cNvPr>
          <p:cNvSpPr txBox="1"/>
          <p:nvPr userDrawn="1"/>
        </p:nvSpPr>
        <p:spPr>
          <a:xfrm>
            <a:off x="532015" y="6484599"/>
            <a:ext cx="7037473" cy="338554"/>
          </a:xfrm>
          <a:prstGeom prst="rect">
            <a:avLst/>
          </a:prstGeom>
          <a:noFill/>
        </p:spPr>
        <p:txBody>
          <a:bodyPr wrap="square" rtlCol="0">
            <a:spAutoFit/>
          </a:bodyPr>
          <a:lstStyle/>
          <a:p>
            <a:r>
              <a:rPr lang="en-GB" sz="80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err="1">
                <a:solidFill>
                  <a:schemeClr val="tx2"/>
                </a:solidFill>
                <a:latin typeface="Arial" panose="020B0604020202020204" pitchFamily="34" charset="0"/>
                <a:cs typeface="Arial" panose="020B0604020202020204" pitchFamily="34" charset="0"/>
              </a:rPr>
              <a:t>Carr</a:t>
            </a:r>
            <a:r>
              <a:rPr lang="en-GB" sz="80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5" name="Title 1"/>
          <p:cNvSpPr>
            <a:spLocks noGrp="1"/>
          </p:cNvSpPr>
          <p:nvPr>
            <p:ph type="title"/>
          </p:nvPr>
        </p:nvSpPr>
        <p:spPr>
          <a:xfrm>
            <a:off x="623888" y="826321"/>
            <a:ext cx="7886700" cy="592474"/>
          </a:xfrm>
        </p:spPr>
        <p:txBody>
          <a:bodyPr anchor="b">
            <a:normAutofit/>
          </a:bodyPr>
          <a:lstStyle>
            <a:lvl1pPr>
              <a:defRPr sz="3300"/>
            </a:lvl1pPr>
          </a:lstStyle>
          <a:p>
            <a:r>
              <a:rPr lang="en-US"/>
              <a:t>Click to edit Master title style</a:t>
            </a:r>
          </a:p>
        </p:txBody>
      </p:sp>
      <p:sp>
        <p:nvSpPr>
          <p:cNvPr id="14" name="Content Placeholder 13"/>
          <p:cNvSpPr>
            <a:spLocks noGrp="1"/>
          </p:cNvSpPr>
          <p:nvPr>
            <p:ph sz="quarter" idx="20" hasCustomPrompt="1"/>
          </p:nvPr>
        </p:nvSpPr>
        <p:spPr>
          <a:xfrm>
            <a:off x="623888" y="1582738"/>
            <a:ext cx="3784600" cy="4727575"/>
          </a:xfrm>
        </p:spPr>
        <p:txBody>
          <a:bodyPr/>
          <a:lstStyle>
            <a:lvl1pPr marL="0" indent="0">
              <a:buNone/>
              <a:defRPr baseline="0"/>
            </a:lvl1pPr>
            <a:lvl2pPr marL="457200" indent="0">
              <a:buNone/>
              <a:defRPr/>
            </a:lvl2pPr>
            <a:lvl3pPr marL="914400" indent="0">
              <a:buNone/>
              <a:defRPr/>
            </a:lvl3pPr>
            <a:lvl4pPr marL="1371600" indent="0">
              <a:buNone/>
              <a:defRPr/>
            </a:lvl4pPr>
            <a:lvl5pPr marL="1828800" indent="0">
              <a:buNone/>
              <a:defRPr/>
            </a:lvl5pPr>
          </a:lstStyle>
          <a:p>
            <a:pPr lvl="0"/>
            <a:r>
              <a:rPr lang="en-US"/>
              <a:t>Text to go in here</a:t>
            </a:r>
          </a:p>
        </p:txBody>
      </p:sp>
      <p:sp>
        <p:nvSpPr>
          <p:cNvPr id="15" name="Content Placeholder 13"/>
          <p:cNvSpPr>
            <a:spLocks noGrp="1"/>
          </p:cNvSpPr>
          <p:nvPr>
            <p:ph sz="quarter" idx="21"/>
          </p:nvPr>
        </p:nvSpPr>
        <p:spPr>
          <a:xfrm>
            <a:off x="4725988" y="1582738"/>
            <a:ext cx="3784600" cy="472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TextBox 17"/>
          <p:cNvSpPr txBox="1"/>
          <p:nvPr userDrawn="1"/>
        </p:nvSpPr>
        <p:spPr>
          <a:xfrm>
            <a:off x="628650" y="50013"/>
            <a:ext cx="6148070" cy="276999"/>
          </a:xfrm>
          <a:prstGeom prst="rect">
            <a:avLst/>
          </a:prstGeom>
          <a:noFill/>
        </p:spPr>
        <p:txBody>
          <a:bodyPr wrap="square" rtlCol="0">
            <a:spAutoFit/>
          </a:bodyPr>
          <a:lstStyle/>
          <a:p>
            <a:r>
              <a:rPr lang="en-US" sz="1200" err="1">
                <a:solidFill>
                  <a:schemeClr val="bg1"/>
                </a:solidFill>
                <a:latin typeface="Roboto Thin" charset="0"/>
                <a:ea typeface="Roboto Thin" charset="0"/>
                <a:cs typeface="Roboto Thin" charset="0"/>
              </a:rPr>
              <a:t>pibgroup.co.uk</a:t>
            </a:r>
            <a:endParaRPr lang="en-US" sz="1200">
              <a:solidFill>
                <a:schemeClr val="bg1"/>
              </a:solidFill>
              <a:latin typeface="Roboto Thin" charset="0"/>
              <a:ea typeface="Roboto Thin" charset="0"/>
              <a:cs typeface="Roboto Thin" charset="0"/>
            </a:endParaRPr>
          </a:p>
        </p:txBody>
      </p:sp>
      <p:sp>
        <p:nvSpPr>
          <p:cNvPr id="19"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a:p>
        </p:txBody>
      </p:sp>
      <p:pic>
        <p:nvPicPr>
          <p:cNvPr id="20" name="Picture 19"/>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1" name="TextBox 10">
            <a:extLst>
              <a:ext uri="{FF2B5EF4-FFF2-40B4-BE49-F238E27FC236}">
                <a16:creationId xmlns:a16="http://schemas.microsoft.com/office/drawing/2014/main" id="{74277C0F-D476-411C-BC81-97DF6ED2C2D1}"/>
              </a:ext>
            </a:extLst>
          </p:cNvPr>
          <p:cNvSpPr txBox="1"/>
          <p:nvPr userDrawn="1"/>
        </p:nvSpPr>
        <p:spPr>
          <a:xfrm>
            <a:off x="532015" y="6484599"/>
            <a:ext cx="7037473" cy="338554"/>
          </a:xfrm>
          <a:prstGeom prst="rect">
            <a:avLst/>
          </a:prstGeom>
          <a:noFill/>
        </p:spPr>
        <p:txBody>
          <a:bodyPr wrap="square" rtlCol="0">
            <a:spAutoFit/>
          </a:bodyPr>
          <a:lstStyle/>
          <a:p>
            <a:r>
              <a:rPr lang="en-GB" sz="80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err="1">
                <a:solidFill>
                  <a:schemeClr val="tx2"/>
                </a:solidFill>
                <a:latin typeface="Arial" panose="020B0604020202020204" pitchFamily="34" charset="0"/>
                <a:cs typeface="Arial" panose="020B0604020202020204" pitchFamily="34" charset="0"/>
              </a:rPr>
              <a:t>Carr</a:t>
            </a:r>
            <a:r>
              <a:rPr lang="en-GB" sz="80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head style text and image content">
    <p:spTree>
      <p:nvGrpSpPr>
        <p:cNvPr id="1" name=""/>
        <p:cNvGrpSpPr/>
        <p:nvPr/>
      </p:nvGrpSpPr>
      <p:grpSpPr>
        <a:xfrm>
          <a:off x="0" y="0"/>
          <a:ext cx="0" cy="0"/>
          <a:chOff x="0" y="0"/>
          <a:chExt cx="0" cy="0"/>
        </a:xfrm>
      </p:grpSpPr>
      <p:sp>
        <p:nvSpPr>
          <p:cNvPr id="19" name="Picture Placeholder 18"/>
          <p:cNvSpPr>
            <a:spLocks noGrp="1"/>
          </p:cNvSpPr>
          <p:nvPr>
            <p:ph type="pic" sz="quarter" idx="22"/>
          </p:nvPr>
        </p:nvSpPr>
        <p:spPr>
          <a:xfrm>
            <a:off x="6140870" y="4010025"/>
            <a:ext cx="2369718" cy="2300288"/>
          </a:xfrm>
        </p:spPr>
        <p:txBody>
          <a:bodyPr/>
          <a:lstStyle/>
          <a:p>
            <a:endParaRPr lang="en-US"/>
          </a:p>
        </p:txBody>
      </p:sp>
      <p:sp>
        <p:nvSpPr>
          <p:cNvPr id="8" name="Title 1"/>
          <p:cNvSpPr>
            <a:spLocks noGrp="1"/>
          </p:cNvSpPr>
          <p:nvPr>
            <p:ph type="title"/>
          </p:nvPr>
        </p:nvSpPr>
        <p:spPr>
          <a:xfrm>
            <a:off x="623888" y="826321"/>
            <a:ext cx="7886700" cy="592474"/>
          </a:xfrm>
        </p:spPr>
        <p:txBody>
          <a:bodyPr anchor="b">
            <a:normAutofit/>
          </a:bodyPr>
          <a:lstStyle>
            <a:lvl1pPr>
              <a:defRPr sz="3300"/>
            </a:lvl1pPr>
          </a:lstStyle>
          <a:p>
            <a:r>
              <a:rPr lang="en-US"/>
              <a:t>Click to edit Master title style</a:t>
            </a:r>
          </a:p>
        </p:txBody>
      </p:sp>
      <p:sp>
        <p:nvSpPr>
          <p:cNvPr id="15" name="Content Placeholder 13"/>
          <p:cNvSpPr>
            <a:spLocks noGrp="1"/>
          </p:cNvSpPr>
          <p:nvPr>
            <p:ph sz="quarter" idx="20" hasCustomPrompt="1"/>
          </p:nvPr>
        </p:nvSpPr>
        <p:spPr>
          <a:xfrm>
            <a:off x="623888" y="1967537"/>
            <a:ext cx="5348090" cy="4342776"/>
          </a:xfrm>
        </p:spPr>
        <p:txBody>
          <a:bodyPr/>
          <a:lstStyle>
            <a:lvl1pPr marL="0" indent="0">
              <a:buNone/>
              <a:defRPr baseline="0"/>
            </a:lvl1pPr>
            <a:lvl2pPr marL="457200" indent="0">
              <a:buNone/>
              <a:defRPr/>
            </a:lvl2pPr>
            <a:lvl3pPr marL="914400" indent="0">
              <a:buNone/>
              <a:defRPr/>
            </a:lvl3pPr>
            <a:lvl4pPr marL="1371600" indent="0">
              <a:buNone/>
              <a:defRPr/>
            </a:lvl4pPr>
            <a:lvl5pPr marL="1828800" indent="0">
              <a:buNone/>
              <a:defRPr/>
            </a:lvl5pPr>
          </a:lstStyle>
          <a:p>
            <a:pPr lvl="0"/>
            <a:r>
              <a:rPr lang="en-US"/>
              <a:t>Text to go in here</a:t>
            </a:r>
          </a:p>
        </p:txBody>
      </p:sp>
      <p:sp>
        <p:nvSpPr>
          <p:cNvPr id="16" name="Content Placeholder 13"/>
          <p:cNvSpPr>
            <a:spLocks noGrp="1"/>
          </p:cNvSpPr>
          <p:nvPr>
            <p:ph sz="quarter" idx="21"/>
          </p:nvPr>
        </p:nvSpPr>
        <p:spPr>
          <a:xfrm>
            <a:off x="6140870" y="1582738"/>
            <a:ext cx="2369718" cy="2358641"/>
          </a:xfrm>
        </p:spPr>
        <p:txBody>
          <a:bodyPr/>
          <a:lstStyle/>
          <a:p>
            <a:pPr lvl="0"/>
            <a:r>
              <a:rPr lang="en-US"/>
              <a:t>Click to edit Master text styles</a:t>
            </a:r>
          </a:p>
        </p:txBody>
      </p:sp>
      <p:sp>
        <p:nvSpPr>
          <p:cNvPr id="22" name="Text Placeholder 21"/>
          <p:cNvSpPr>
            <a:spLocks noGrp="1"/>
          </p:cNvSpPr>
          <p:nvPr>
            <p:ph type="body" sz="quarter" idx="23" hasCustomPrompt="1"/>
          </p:nvPr>
        </p:nvSpPr>
        <p:spPr>
          <a:xfrm>
            <a:off x="623888" y="1582738"/>
            <a:ext cx="5348287" cy="303212"/>
          </a:xfrm>
        </p:spPr>
        <p:txBody>
          <a:bodyPr/>
          <a:lstStyle>
            <a:lvl1pPr marL="0" indent="0">
              <a:buNone/>
              <a:defRPr b="1" i="0">
                <a:solidFill>
                  <a:schemeClr val="accent1"/>
                </a:solidFill>
                <a:latin typeface="Arial" charset="0"/>
                <a:ea typeface="Arial" charset="0"/>
                <a:cs typeface="Arial" charset="0"/>
              </a:defRPr>
            </a:lvl1pPr>
          </a:lstStyle>
          <a:p>
            <a:pPr lvl="0"/>
            <a:r>
              <a:rPr lang="en-US"/>
              <a:t>Subheading style text</a:t>
            </a:r>
          </a:p>
        </p:txBody>
      </p:sp>
      <p:sp>
        <p:nvSpPr>
          <p:cNvPr id="23" name="Picture Placeholder 98"/>
          <p:cNvSpPr>
            <a:spLocks noGrp="1"/>
          </p:cNvSpPr>
          <p:nvPr>
            <p:ph type="pic" sz="quarter" idx="16"/>
          </p:nvPr>
        </p:nvSpPr>
        <p:spPr>
          <a:xfrm>
            <a:off x="6133995" y="5901038"/>
            <a:ext cx="2651125" cy="415925"/>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a:p>
        </p:txBody>
      </p:sp>
      <p:cxnSp>
        <p:nvCxnSpPr>
          <p:cNvPr id="18" name="Straight Connector 17"/>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TextBox 20"/>
          <p:cNvSpPr txBox="1"/>
          <p:nvPr userDrawn="1"/>
        </p:nvSpPr>
        <p:spPr>
          <a:xfrm>
            <a:off x="628650" y="50013"/>
            <a:ext cx="6148070" cy="276999"/>
          </a:xfrm>
          <a:prstGeom prst="rect">
            <a:avLst/>
          </a:prstGeom>
          <a:noFill/>
        </p:spPr>
        <p:txBody>
          <a:bodyPr wrap="square" rtlCol="0">
            <a:spAutoFit/>
          </a:bodyPr>
          <a:lstStyle/>
          <a:p>
            <a:r>
              <a:rPr lang="en-US" sz="1200" err="1">
                <a:solidFill>
                  <a:schemeClr val="bg1"/>
                </a:solidFill>
                <a:latin typeface="Roboto Thin" charset="0"/>
                <a:ea typeface="Roboto Thin" charset="0"/>
                <a:cs typeface="Roboto Thin" charset="0"/>
              </a:rPr>
              <a:t>pibgroup.co.uk</a:t>
            </a:r>
            <a:endParaRPr lang="en-US" sz="1200">
              <a:solidFill>
                <a:schemeClr val="bg1"/>
              </a:solidFill>
              <a:latin typeface="Roboto Thin" charset="0"/>
              <a:ea typeface="Roboto Thin" charset="0"/>
              <a:cs typeface="Roboto Thin" charset="0"/>
            </a:endParaRPr>
          </a:p>
        </p:txBody>
      </p:sp>
      <p:sp>
        <p:nvSpPr>
          <p:cNvPr id="24"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a:p>
        </p:txBody>
      </p:sp>
      <p:pic>
        <p:nvPicPr>
          <p:cNvPr id="25" name="Picture 2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4" name="TextBox 13">
            <a:extLst>
              <a:ext uri="{FF2B5EF4-FFF2-40B4-BE49-F238E27FC236}">
                <a16:creationId xmlns:a16="http://schemas.microsoft.com/office/drawing/2014/main" id="{133433DE-E606-459A-9E54-6220D7BD8F3E}"/>
              </a:ext>
            </a:extLst>
          </p:cNvPr>
          <p:cNvSpPr txBox="1"/>
          <p:nvPr userDrawn="1"/>
        </p:nvSpPr>
        <p:spPr>
          <a:xfrm>
            <a:off x="532015" y="6484599"/>
            <a:ext cx="7037473" cy="338554"/>
          </a:xfrm>
          <a:prstGeom prst="rect">
            <a:avLst/>
          </a:prstGeom>
          <a:noFill/>
        </p:spPr>
        <p:txBody>
          <a:bodyPr wrap="square" rtlCol="0">
            <a:spAutoFit/>
          </a:bodyPr>
          <a:lstStyle/>
          <a:p>
            <a:r>
              <a:rPr lang="en-GB" sz="80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err="1">
                <a:solidFill>
                  <a:schemeClr val="tx2"/>
                </a:solidFill>
                <a:latin typeface="Arial" panose="020B0604020202020204" pitchFamily="34" charset="0"/>
                <a:cs typeface="Arial" panose="020B0604020202020204" pitchFamily="34" charset="0"/>
              </a:rPr>
              <a:t>Carr</a:t>
            </a:r>
            <a:r>
              <a:rPr lang="en-GB" sz="80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47C51-2566-D7F0-AF73-F11C384195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F5044E-5601-E3AE-431C-916E8AA84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3341E0-0A08-AA95-CBC2-3D8A6F01D97E}"/>
              </a:ext>
            </a:extLst>
          </p:cNvPr>
          <p:cNvSpPr>
            <a:spLocks noGrp="1"/>
          </p:cNvSpPr>
          <p:nvPr>
            <p:ph type="dt" sz="half" idx="10"/>
          </p:nvPr>
        </p:nvSpPr>
        <p:spPr/>
        <p:txBody>
          <a:bodyPr/>
          <a:lstStyle/>
          <a:p>
            <a:fld id="{B7752319-28EE-46A6-B991-C4832524CFB8}" type="datetimeFigureOut">
              <a:rPr lang="en-IN" smtClean="0"/>
              <a:t>03-08-2023</a:t>
            </a:fld>
            <a:endParaRPr lang="en-IN"/>
          </a:p>
        </p:txBody>
      </p:sp>
      <p:sp>
        <p:nvSpPr>
          <p:cNvPr id="5" name="Footer Placeholder 4">
            <a:extLst>
              <a:ext uri="{FF2B5EF4-FFF2-40B4-BE49-F238E27FC236}">
                <a16:creationId xmlns:a16="http://schemas.microsoft.com/office/drawing/2014/main" id="{FB43CA64-91DE-2BB4-6CB6-B540FC3B09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E18AB6-8933-7EB9-50FE-6401A8032C69}"/>
              </a:ext>
            </a:extLst>
          </p:cNvPr>
          <p:cNvSpPr>
            <a:spLocks noGrp="1"/>
          </p:cNvSpPr>
          <p:nvPr>
            <p:ph type="sldNum" sz="quarter" idx="12"/>
          </p:nvPr>
        </p:nvSpPr>
        <p:spPr/>
        <p:txBody>
          <a:bodyPr/>
          <a:lstStyle/>
          <a:p>
            <a:fld id="{8882252F-572C-48DE-82B3-BEB6935BA7BE}" type="slidenum">
              <a:rPr lang="en-IN" smtClean="0"/>
              <a:t>‹#›</a:t>
            </a:fld>
            <a:endParaRPr lang="en-IN"/>
          </a:p>
        </p:txBody>
      </p:sp>
    </p:spTree>
    <p:extLst>
      <p:ext uri="{BB962C8B-B14F-4D97-AF65-F5344CB8AC3E}">
        <p14:creationId xmlns:p14="http://schemas.microsoft.com/office/powerpoint/2010/main" val="2696974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90238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2" r:id="rId6"/>
    <p:sldLayoutId id="2147483666" r:id="rId7"/>
    <p:sldLayoutId id="2147483667" r:id="rId8"/>
    <p:sldLayoutId id="2147483668" r:id="rId9"/>
    <p:sldLayoutId id="2147483673" r:id="rId10"/>
  </p:sldLayoutIdLst>
  <p:hf hdr="0" ftr="0" dt="0"/>
  <p:txStyles>
    <p:titleStyle>
      <a:lvl1pPr algn="l" defTabSz="914400" rtl="0" eaLnBrk="1" latinLnBrk="0" hangingPunct="1">
        <a:lnSpc>
          <a:spcPct val="90000"/>
        </a:lnSpc>
        <a:spcBef>
          <a:spcPct val="0"/>
        </a:spcBef>
        <a:buNone/>
        <a:defRPr sz="3300" b="0" i="0" kern="1200">
          <a:solidFill>
            <a:schemeClr val="accent1"/>
          </a:solidFill>
          <a:latin typeface="Roboto Thin" charset="0"/>
          <a:ea typeface="Roboto Thin" charset="0"/>
          <a:cs typeface="Roboto Thin" charset="0"/>
        </a:defRPr>
      </a:lvl1pPr>
    </p:titleStyle>
    <p:bodyStyle>
      <a:lvl1pPr marL="228600" indent="-228600" algn="l" defTabSz="914400" rtl="0" eaLnBrk="1" latinLnBrk="0" hangingPunct="1">
        <a:lnSpc>
          <a:spcPct val="90000"/>
        </a:lnSpc>
        <a:spcBef>
          <a:spcPts val="10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1pPr>
      <a:lvl2pPr marL="6858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2pPr>
      <a:lvl3pPr marL="11430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3pPr>
      <a:lvl4pPr marL="16002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4pPr>
      <a:lvl5pPr marL="20574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0A_9A843705.xml"/><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C_B2A3732E.xml"/><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hyperlink" Target="https://preprod-auth-service.letalliance.dev/"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hyperlink" Target="https://preprod-tenant.letalliance.dev/externalreferenc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hyperlink" Target="https://help.salesforce.com/s/articleView?id=sf.remoteaccess_oauth_client_credentials_flow.htm&amp;language=en_US&amp;type=5" TargetMode="External"/><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F_2DA1DEF3.xml"/><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7.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11_FD7A8D92.xml"/><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7B83A5C-20B4-E204-CADE-D33E536706E2}"/>
              </a:ext>
            </a:extLst>
          </p:cNvPr>
          <p:cNvSpPr/>
          <p:nvPr/>
        </p:nvSpPr>
        <p:spPr>
          <a:xfrm>
            <a:off x="0" y="668847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F3E8D81A-AFCC-9A60-8531-8A04DB6F850C}"/>
              </a:ext>
            </a:extLst>
          </p:cNvPr>
          <p:cNvSpPr/>
          <p:nvPr/>
        </p:nvSpPr>
        <p:spPr>
          <a:xfrm rot="10800000" flipV="1">
            <a:off x="107593" y="618540"/>
            <a:ext cx="2456380" cy="2962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bg1"/>
              </a:solidFill>
            </a:endParaRPr>
          </a:p>
        </p:txBody>
      </p:sp>
      <p:sp>
        <p:nvSpPr>
          <p:cNvPr id="2" name="TextBox 1">
            <a:extLst>
              <a:ext uri="{FF2B5EF4-FFF2-40B4-BE49-F238E27FC236}">
                <a16:creationId xmlns:a16="http://schemas.microsoft.com/office/drawing/2014/main" id="{C86110A0-033B-E7DE-F1E9-95ABF3009ACB}"/>
              </a:ext>
            </a:extLst>
          </p:cNvPr>
          <p:cNvSpPr txBox="1"/>
          <p:nvPr/>
        </p:nvSpPr>
        <p:spPr>
          <a:xfrm>
            <a:off x="474980" y="4060804"/>
            <a:ext cx="8194039" cy="1446550"/>
          </a:xfrm>
          <a:prstGeom prst="rect">
            <a:avLst/>
          </a:prstGeom>
          <a:noFill/>
        </p:spPr>
        <p:txBody>
          <a:bodyPr wrap="square" rtlCol="0">
            <a:spAutoFit/>
          </a:bodyPr>
          <a:lstStyle/>
          <a:p>
            <a:r>
              <a:rPr lang="en-GB" sz="4400"/>
              <a:t>Grainger – Vision+  </a:t>
            </a:r>
            <a:br>
              <a:rPr lang="en-GB" sz="4400"/>
            </a:br>
            <a:r>
              <a:rPr lang="en-GB" sz="4400"/>
              <a:t>Tenant &amp; Agent Journey V1.5</a:t>
            </a:r>
          </a:p>
        </p:txBody>
      </p:sp>
      <p:pic>
        <p:nvPicPr>
          <p:cNvPr id="3" name="Picture 2" descr="New-HomeLet-logo - Atkinson McLeod website">
            <a:extLst>
              <a:ext uri="{FF2B5EF4-FFF2-40B4-BE49-F238E27FC236}">
                <a16:creationId xmlns:a16="http://schemas.microsoft.com/office/drawing/2014/main" id="{19BCA89B-E764-B8C0-BEDC-16003BA75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4557" y="5961839"/>
            <a:ext cx="1236133" cy="53887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eet the Let Alliance Team - Home">
            <a:extLst>
              <a:ext uri="{FF2B5EF4-FFF2-40B4-BE49-F238E27FC236}">
                <a16:creationId xmlns:a16="http://schemas.microsoft.com/office/drawing/2014/main" id="{6E215B32-F4C0-F671-B951-5CB2EE4376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980" y="5904450"/>
            <a:ext cx="1867590" cy="65365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arbon Insurance Group - Living and Working in Lincolnshire">
            <a:extLst>
              <a:ext uri="{FF2B5EF4-FFF2-40B4-BE49-F238E27FC236}">
                <a16:creationId xmlns:a16="http://schemas.microsoft.com/office/drawing/2014/main" id="{6276F35F-F489-D6A7-C48C-1FA1E30BEC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8530" y="6078399"/>
            <a:ext cx="1303868" cy="369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894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2723" y="6709247"/>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01765"/>
            <a:ext cx="6888480" cy="461665"/>
          </a:xfrm>
          <a:prstGeom prst="rect">
            <a:avLst/>
          </a:prstGeom>
          <a:noFill/>
        </p:spPr>
        <p:txBody>
          <a:bodyPr wrap="square" rtlCol="0">
            <a:spAutoFit/>
          </a:bodyPr>
          <a:lstStyle/>
          <a:p>
            <a:r>
              <a:rPr lang="en-GB" sz="2400" b="1"/>
              <a:t>Tenant and Agent Journey Overview</a:t>
            </a:r>
          </a:p>
        </p:txBody>
      </p:sp>
      <p:sp>
        <p:nvSpPr>
          <p:cNvPr id="2" name="Rectangle 1">
            <a:extLst>
              <a:ext uri="{FF2B5EF4-FFF2-40B4-BE49-F238E27FC236}">
                <a16:creationId xmlns:a16="http://schemas.microsoft.com/office/drawing/2014/main" id="{2F109531-1981-0CFF-762F-814946B6B868}"/>
              </a:ext>
            </a:extLst>
          </p:cNvPr>
          <p:cNvSpPr/>
          <p:nvPr/>
        </p:nvSpPr>
        <p:spPr>
          <a:xfrm>
            <a:off x="3528683" y="702949"/>
            <a:ext cx="1181888" cy="47959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Vision+ API</a:t>
            </a:r>
          </a:p>
        </p:txBody>
      </p:sp>
      <p:cxnSp>
        <p:nvCxnSpPr>
          <p:cNvPr id="17" name="Straight Arrow Connector 16">
            <a:extLst>
              <a:ext uri="{FF2B5EF4-FFF2-40B4-BE49-F238E27FC236}">
                <a16:creationId xmlns:a16="http://schemas.microsoft.com/office/drawing/2014/main" id="{04319FAD-EAA1-B00F-AEB8-0996E986D672}"/>
              </a:ext>
            </a:extLst>
          </p:cNvPr>
          <p:cNvCxnSpPr>
            <a:cxnSpLocks/>
          </p:cNvCxnSpPr>
          <p:nvPr/>
        </p:nvCxnSpPr>
        <p:spPr>
          <a:xfrm>
            <a:off x="719288" y="1597339"/>
            <a:ext cx="1433103"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8" name="Rectangle 17">
            <a:extLst>
              <a:ext uri="{FF2B5EF4-FFF2-40B4-BE49-F238E27FC236}">
                <a16:creationId xmlns:a16="http://schemas.microsoft.com/office/drawing/2014/main" id="{64CEB71D-5BCF-7340-D36A-5D536ADB606C}"/>
              </a:ext>
            </a:extLst>
          </p:cNvPr>
          <p:cNvSpPr/>
          <p:nvPr/>
        </p:nvSpPr>
        <p:spPr>
          <a:xfrm>
            <a:off x="508937" y="1160139"/>
            <a:ext cx="193899" cy="1179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7BAE3413-8758-8644-6583-84E8A0EFF810}"/>
              </a:ext>
            </a:extLst>
          </p:cNvPr>
          <p:cNvSpPr/>
          <p:nvPr/>
        </p:nvSpPr>
        <p:spPr>
          <a:xfrm>
            <a:off x="3977191" y="1190533"/>
            <a:ext cx="220134" cy="2441326"/>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3E10B814-1850-8FE7-0E65-2A7D2C1AF56D}"/>
              </a:ext>
            </a:extLst>
          </p:cNvPr>
          <p:cNvSpPr txBox="1"/>
          <p:nvPr/>
        </p:nvSpPr>
        <p:spPr>
          <a:xfrm>
            <a:off x="2398074" y="1805306"/>
            <a:ext cx="1534394" cy="261610"/>
          </a:xfrm>
          <a:prstGeom prst="rect">
            <a:avLst/>
          </a:prstGeom>
          <a:noFill/>
        </p:spPr>
        <p:txBody>
          <a:bodyPr wrap="square" rtlCol="0">
            <a:spAutoFit/>
          </a:bodyPr>
          <a:lstStyle/>
          <a:p>
            <a:r>
              <a:rPr lang="en-GB" sz="1100">
                <a:solidFill>
                  <a:schemeClr val="accent3"/>
                </a:solidFill>
              </a:rPr>
              <a:t>2. Reference instigated</a:t>
            </a:r>
          </a:p>
        </p:txBody>
      </p:sp>
      <p:cxnSp>
        <p:nvCxnSpPr>
          <p:cNvPr id="26" name="Straight Arrow Connector 25">
            <a:extLst>
              <a:ext uri="{FF2B5EF4-FFF2-40B4-BE49-F238E27FC236}">
                <a16:creationId xmlns:a16="http://schemas.microsoft.com/office/drawing/2014/main" id="{4A51FAFD-09FE-2DA9-E9C4-16D8ABF0778B}"/>
              </a:ext>
            </a:extLst>
          </p:cNvPr>
          <p:cNvCxnSpPr>
            <a:cxnSpLocks/>
          </p:cNvCxnSpPr>
          <p:nvPr/>
        </p:nvCxnSpPr>
        <p:spPr>
          <a:xfrm>
            <a:off x="737393" y="2011680"/>
            <a:ext cx="1387769"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27" name="TextBox 26">
            <a:extLst>
              <a:ext uri="{FF2B5EF4-FFF2-40B4-BE49-F238E27FC236}">
                <a16:creationId xmlns:a16="http://schemas.microsoft.com/office/drawing/2014/main" id="{2218AFBB-32AC-A41F-5E8E-1A43578F9DDD}"/>
              </a:ext>
            </a:extLst>
          </p:cNvPr>
          <p:cNvSpPr txBox="1"/>
          <p:nvPr/>
        </p:nvSpPr>
        <p:spPr>
          <a:xfrm>
            <a:off x="690378" y="1609049"/>
            <a:ext cx="1373426" cy="430887"/>
          </a:xfrm>
          <a:prstGeom prst="rect">
            <a:avLst/>
          </a:prstGeom>
          <a:noFill/>
        </p:spPr>
        <p:txBody>
          <a:bodyPr wrap="square" rtlCol="0">
            <a:spAutoFit/>
          </a:bodyPr>
          <a:lstStyle/>
          <a:p>
            <a:r>
              <a:rPr lang="en-GB" sz="1100">
                <a:solidFill>
                  <a:schemeClr val="accent3"/>
                </a:solidFill>
              </a:rPr>
              <a:t>1.b Tenant makes advance payment</a:t>
            </a:r>
          </a:p>
        </p:txBody>
      </p:sp>
      <p:sp>
        <p:nvSpPr>
          <p:cNvPr id="30" name="TextBox 29">
            <a:extLst>
              <a:ext uri="{FF2B5EF4-FFF2-40B4-BE49-F238E27FC236}">
                <a16:creationId xmlns:a16="http://schemas.microsoft.com/office/drawing/2014/main" id="{FC5A1E7E-5B52-C2E1-05E5-32B3532D4F7C}"/>
              </a:ext>
            </a:extLst>
          </p:cNvPr>
          <p:cNvSpPr txBox="1"/>
          <p:nvPr/>
        </p:nvSpPr>
        <p:spPr>
          <a:xfrm>
            <a:off x="732431" y="4435180"/>
            <a:ext cx="3610496" cy="261610"/>
          </a:xfrm>
          <a:prstGeom prst="rect">
            <a:avLst/>
          </a:prstGeom>
          <a:noFill/>
        </p:spPr>
        <p:txBody>
          <a:bodyPr wrap="square" rtlCol="0">
            <a:spAutoFit/>
          </a:bodyPr>
          <a:lstStyle/>
          <a:p>
            <a:r>
              <a:rPr lang="en-GB" sz="1100">
                <a:solidFill>
                  <a:schemeClr val="accent3"/>
                </a:solidFill>
              </a:rPr>
              <a:t>10. Applicant(s) access portal via </a:t>
            </a:r>
            <a:r>
              <a:rPr lang="en-GB" sz="1100" err="1">
                <a:solidFill>
                  <a:schemeClr val="accent3"/>
                </a:solidFill>
              </a:rPr>
              <a:t>iFrame</a:t>
            </a:r>
            <a:r>
              <a:rPr lang="en-GB" sz="1100">
                <a:solidFill>
                  <a:schemeClr val="accent3"/>
                </a:solidFill>
              </a:rPr>
              <a:t> and JWT Token</a:t>
            </a:r>
          </a:p>
        </p:txBody>
      </p:sp>
      <p:sp>
        <p:nvSpPr>
          <p:cNvPr id="31" name="Rectangle 30">
            <a:extLst>
              <a:ext uri="{FF2B5EF4-FFF2-40B4-BE49-F238E27FC236}">
                <a16:creationId xmlns:a16="http://schemas.microsoft.com/office/drawing/2014/main" id="{8D102639-3787-0EF9-429A-C2A1584D935E}"/>
              </a:ext>
            </a:extLst>
          </p:cNvPr>
          <p:cNvSpPr/>
          <p:nvPr/>
        </p:nvSpPr>
        <p:spPr>
          <a:xfrm>
            <a:off x="6522693" y="702949"/>
            <a:ext cx="1181888" cy="47959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Vision+ Tenant Portal</a:t>
            </a:r>
          </a:p>
        </p:txBody>
      </p:sp>
      <p:sp>
        <p:nvSpPr>
          <p:cNvPr id="33" name="Rectangle 32">
            <a:extLst>
              <a:ext uri="{FF2B5EF4-FFF2-40B4-BE49-F238E27FC236}">
                <a16:creationId xmlns:a16="http://schemas.microsoft.com/office/drawing/2014/main" id="{A4B3A15F-1BB7-612B-8CE0-38200ABB3E7E}"/>
              </a:ext>
            </a:extLst>
          </p:cNvPr>
          <p:cNvSpPr/>
          <p:nvPr/>
        </p:nvSpPr>
        <p:spPr>
          <a:xfrm>
            <a:off x="7045236" y="1189681"/>
            <a:ext cx="175844" cy="357764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5" name="Straight Arrow Connector 34">
            <a:extLst>
              <a:ext uri="{FF2B5EF4-FFF2-40B4-BE49-F238E27FC236}">
                <a16:creationId xmlns:a16="http://schemas.microsoft.com/office/drawing/2014/main" id="{6F5EB479-BE84-E4CF-6C58-E5F5935E9862}"/>
              </a:ext>
            </a:extLst>
          </p:cNvPr>
          <p:cNvCxnSpPr>
            <a:cxnSpLocks/>
          </p:cNvCxnSpPr>
          <p:nvPr/>
        </p:nvCxnSpPr>
        <p:spPr>
          <a:xfrm flipH="1" flipV="1">
            <a:off x="2386704" y="5640646"/>
            <a:ext cx="1404969" cy="268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40" name="TextBox 39">
            <a:extLst>
              <a:ext uri="{FF2B5EF4-FFF2-40B4-BE49-F238E27FC236}">
                <a16:creationId xmlns:a16="http://schemas.microsoft.com/office/drawing/2014/main" id="{0912EE4D-C800-7FD9-FE89-D18BBBFE3B1C}"/>
              </a:ext>
            </a:extLst>
          </p:cNvPr>
          <p:cNvSpPr txBox="1"/>
          <p:nvPr/>
        </p:nvSpPr>
        <p:spPr>
          <a:xfrm>
            <a:off x="2311417" y="4990374"/>
            <a:ext cx="1678027" cy="600164"/>
          </a:xfrm>
          <a:prstGeom prst="rect">
            <a:avLst/>
          </a:prstGeom>
          <a:noFill/>
        </p:spPr>
        <p:txBody>
          <a:bodyPr wrap="square" rtlCol="0">
            <a:spAutoFit/>
          </a:bodyPr>
          <a:lstStyle/>
          <a:p>
            <a:r>
              <a:rPr lang="en-GB" sz="1100">
                <a:solidFill>
                  <a:schemeClr val="accent3"/>
                </a:solidFill>
              </a:rPr>
              <a:t>12. Vision+ updates Salesforce  on reference Status change</a:t>
            </a:r>
          </a:p>
        </p:txBody>
      </p:sp>
      <p:cxnSp>
        <p:nvCxnSpPr>
          <p:cNvPr id="32" name="Straight Arrow Connector 31">
            <a:extLst>
              <a:ext uri="{FF2B5EF4-FFF2-40B4-BE49-F238E27FC236}">
                <a16:creationId xmlns:a16="http://schemas.microsoft.com/office/drawing/2014/main" id="{51FC68F0-8CF8-065C-CF9C-B3248C8C570E}"/>
              </a:ext>
            </a:extLst>
          </p:cNvPr>
          <p:cNvCxnSpPr>
            <a:cxnSpLocks/>
          </p:cNvCxnSpPr>
          <p:nvPr/>
        </p:nvCxnSpPr>
        <p:spPr>
          <a:xfrm flipV="1">
            <a:off x="2365160" y="5965958"/>
            <a:ext cx="5982183" cy="2780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41" name="Rectangle 40">
            <a:extLst>
              <a:ext uri="{FF2B5EF4-FFF2-40B4-BE49-F238E27FC236}">
                <a16:creationId xmlns:a16="http://schemas.microsoft.com/office/drawing/2014/main" id="{01BCB24E-C56F-F0BD-DF7E-320E03A15E32}"/>
              </a:ext>
            </a:extLst>
          </p:cNvPr>
          <p:cNvSpPr/>
          <p:nvPr/>
        </p:nvSpPr>
        <p:spPr>
          <a:xfrm>
            <a:off x="7875362" y="702949"/>
            <a:ext cx="1181888" cy="47959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Vision+ Agent Portal</a:t>
            </a:r>
          </a:p>
        </p:txBody>
      </p:sp>
      <p:sp>
        <p:nvSpPr>
          <p:cNvPr id="42" name="Rectangle 41">
            <a:extLst>
              <a:ext uri="{FF2B5EF4-FFF2-40B4-BE49-F238E27FC236}">
                <a16:creationId xmlns:a16="http://schemas.microsoft.com/office/drawing/2014/main" id="{8D77D8EF-07AA-A849-1354-3CF0C5390100}"/>
              </a:ext>
            </a:extLst>
          </p:cNvPr>
          <p:cNvSpPr/>
          <p:nvPr/>
        </p:nvSpPr>
        <p:spPr>
          <a:xfrm>
            <a:off x="8322860" y="1163262"/>
            <a:ext cx="162974" cy="5415529"/>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624B5AAF-5EAC-1326-B9CC-06E24A68D0DB}"/>
              </a:ext>
            </a:extLst>
          </p:cNvPr>
          <p:cNvSpPr txBox="1"/>
          <p:nvPr/>
        </p:nvSpPr>
        <p:spPr>
          <a:xfrm>
            <a:off x="3689383" y="5732148"/>
            <a:ext cx="2923495" cy="261610"/>
          </a:xfrm>
          <a:prstGeom prst="rect">
            <a:avLst/>
          </a:prstGeom>
          <a:noFill/>
        </p:spPr>
        <p:txBody>
          <a:bodyPr wrap="square" rtlCol="0">
            <a:spAutoFit/>
          </a:bodyPr>
          <a:lstStyle/>
          <a:p>
            <a:r>
              <a:rPr lang="en-GB" sz="1100">
                <a:solidFill>
                  <a:schemeClr val="accent3"/>
                </a:solidFill>
              </a:rPr>
              <a:t>13. Agent goes to Vision+ portal for review</a:t>
            </a:r>
          </a:p>
        </p:txBody>
      </p:sp>
      <p:cxnSp>
        <p:nvCxnSpPr>
          <p:cNvPr id="45" name="Straight Arrow Connector 44">
            <a:extLst>
              <a:ext uri="{FF2B5EF4-FFF2-40B4-BE49-F238E27FC236}">
                <a16:creationId xmlns:a16="http://schemas.microsoft.com/office/drawing/2014/main" id="{70875111-62EE-3DCB-4354-38AE13885B61}"/>
              </a:ext>
            </a:extLst>
          </p:cNvPr>
          <p:cNvCxnSpPr>
            <a:cxnSpLocks/>
          </p:cNvCxnSpPr>
          <p:nvPr/>
        </p:nvCxnSpPr>
        <p:spPr>
          <a:xfrm>
            <a:off x="761466" y="4698723"/>
            <a:ext cx="6217402"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23" name="Rectangle 22">
            <a:extLst>
              <a:ext uri="{FF2B5EF4-FFF2-40B4-BE49-F238E27FC236}">
                <a16:creationId xmlns:a16="http://schemas.microsoft.com/office/drawing/2014/main" id="{B032B5F4-770B-75DF-4A1A-B12B7137D9DF}"/>
              </a:ext>
            </a:extLst>
          </p:cNvPr>
          <p:cNvSpPr/>
          <p:nvPr/>
        </p:nvSpPr>
        <p:spPr>
          <a:xfrm>
            <a:off x="1707970" y="702949"/>
            <a:ext cx="1181888" cy="4795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Grainger Salesforce</a:t>
            </a:r>
          </a:p>
        </p:txBody>
      </p:sp>
      <p:sp>
        <p:nvSpPr>
          <p:cNvPr id="24" name="Rectangle 23">
            <a:extLst>
              <a:ext uri="{FF2B5EF4-FFF2-40B4-BE49-F238E27FC236}">
                <a16:creationId xmlns:a16="http://schemas.microsoft.com/office/drawing/2014/main" id="{6B1A7A95-B65A-1827-9DEA-658D2DCC72FC}"/>
              </a:ext>
            </a:extLst>
          </p:cNvPr>
          <p:cNvSpPr/>
          <p:nvPr/>
        </p:nvSpPr>
        <p:spPr>
          <a:xfrm>
            <a:off x="2157997" y="1172965"/>
            <a:ext cx="159107" cy="2678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81DFCEC5-930C-79EE-8F37-ED32DD82CA1A}"/>
              </a:ext>
            </a:extLst>
          </p:cNvPr>
          <p:cNvSpPr txBox="1"/>
          <p:nvPr/>
        </p:nvSpPr>
        <p:spPr>
          <a:xfrm>
            <a:off x="698815" y="1199318"/>
            <a:ext cx="1409712" cy="430887"/>
          </a:xfrm>
          <a:prstGeom prst="rect">
            <a:avLst/>
          </a:prstGeom>
          <a:noFill/>
        </p:spPr>
        <p:txBody>
          <a:bodyPr wrap="square" rtlCol="0">
            <a:spAutoFit/>
          </a:bodyPr>
          <a:lstStyle/>
          <a:p>
            <a:r>
              <a:rPr lang="en-GB" sz="1100">
                <a:solidFill>
                  <a:schemeClr val="accent3"/>
                </a:solidFill>
              </a:rPr>
              <a:t>1a. Additional Applicants added</a:t>
            </a:r>
          </a:p>
        </p:txBody>
      </p:sp>
      <p:cxnSp>
        <p:nvCxnSpPr>
          <p:cNvPr id="28" name="Straight Arrow Connector 27">
            <a:extLst>
              <a:ext uri="{FF2B5EF4-FFF2-40B4-BE49-F238E27FC236}">
                <a16:creationId xmlns:a16="http://schemas.microsoft.com/office/drawing/2014/main" id="{787CA269-CAB0-A88C-89F5-9D7D0DC144D8}"/>
              </a:ext>
            </a:extLst>
          </p:cNvPr>
          <p:cNvCxnSpPr>
            <a:cxnSpLocks/>
          </p:cNvCxnSpPr>
          <p:nvPr/>
        </p:nvCxnSpPr>
        <p:spPr>
          <a:xfrm>
            <a:off x="2345467" y="2109396"/>
            <a:ext cx="161323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9" name="Straight Arrow Connector 28">
            <a:extLst>
              <a:ext uri="{FF2B5EF4-FFF2-40B4-BE49-F238E27FC236}">
                <a16:creationId xmlns:a16="http://schemas.microsoft.com/office/drawing/2014/main" id="{72F4A23F-6D88-5496-7F6F-B25D441D66C0}"/>
              </a:ext>
            </a:extLst>
          </p:cNvPr>
          <p:cNvCxnSpPr>
            <a:cxnSpLocks/>
          </p:cNvCxnSpPr>
          <p:nvPr/>
        </p:nvCxnSpPr>
        <p:spPr>
          <a:xfrm flipH="1">
            <a:off x="2345467" y="2664887"/>
            <a:ext cx="1587001"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4" name="TextBox 33">
            <a:extLst>
              <a:ext uri="{FF2B5EF4-FFF2-40B4-BE49-F238E27FC236}">
                <a16:creationId xmlns:a16="http://schemas.microsoft.com/office/drawing/2014/main" id="{6009AA16-E5C4-1812-B8E4-BF461FBC6649}"/>
              </a:ext>
            </a:extLst>
          </p:cNvPr>
          <p:cNvSpPr txBox="1"/>
          <p:nvPr/>
        </p:nvSpPr>
        <p:spPr>
          <a:xfrm>
            <a:off x="2398074" y="2084879"/>
            <a:ext cx="1534394" cy="600164"/>
          </a:xfrm>
          <a:prstGeom prst="rect">
            <a:avLst/>
          </a:prstGeom>
          <a:noFill/>
        </p:spPr>
        <p:txBody>
          <a:bodyPr wrap="square" rtlCol="0">
            <a:spAutoFit/>
          </a:bodyPr>
          <a:lstStyle/>
          <a:p>
            <a:r>
              <a:rPr lang="en-GB" sz="1100">
                <a:solidFill>
                  <a:schemeClr val="accent3"/>
                </a:solidFill>
              </a:rPr>
              <a:t>3. </a:t>
            </a:r>
            <a:r>
              <a:rPr lang="en-GB" sz="1100" err="1">
                <a:solidFill>
                  <a:schemeClr val="accent3"/>
                </a:solidFill>
              </a:rPr>
              <a:t>TenancyID</a:t>
            </a:r>
            <a:r>
              <a:rPr lang="en-GB" sz="1100">
                <a:solidFill>
                  <a:schemeClr val="accent3"/>
                </a:solidFill>
              </a:rPr>
              <a:t> and </a:t>
            </a:r>
            <a:r>
              <a:rPr lang="en-GB" sz="1100" err="1">
                <a:solidFill>
                  <a:schemeClr val="accent3"/>
                </a:solidFill>
              </a:rPr>
              <a:t>ApplicantID</a:t>
            </a:r>
            <a:r>
              <a:rPr lang="en-GB" sz="1100">
                <a:solidFill>
                  <a:schemeClr val="accent3"/>
                </a:solidFill>
              </a:rPr>
              <a:t> returned to Salesforce</a:t>
            </a:r>
          </a:p>
        </p:txBody>
      </p:sp>
      <p:sp>
        <p:nvSpPr>
          <p:cNvPr id="36" name="Rectangle 35">
            <a:extLst>
              <a:ext uri="{FF2B5EF4-FFF2-40B4-BE49-F238E27FC236}">
                <a16:creationId xmlns:a16="http://schemas.microsoft.com/office/drawing/2014/main" id="{F0C1E8F1-B6D2-AC9A-8513-44444A03FB55}"/>
              </a:ext>
            </a:extLst>
          </p:cNvPr>
          <p:cNvSpPr/>
          <p:nvPr/>
        </p:nvSpPr>
        <p:spPr>
          <a:xfrm>
            <a:off x="2148370" y="4871072"/>
            <a:ext cx="176842" cy="1782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Box 36">
            <a:extLst>
              <a:ext uri="{FF2B5EF4-FFF2-40B4-BE49-F238E27FC236}">
                <a16:creationId xmlns:a16="http://schemas.microsoft.com/office/drawing/2014/main" id="{EB6519AE-0073-9835-7A8A-335186E86795}"/>
              </a:ext>
            </a:extLst>
          </p:cNvPr>
          <p:cNvSpPr txBox="1"/>
          <p:nvPr/>
        </p:nvSpPr>
        <p:spPr>
          <a:xfrm>
            <a:off x="2423563" y="2703941"/>
            <a:ext cx="1565881" cy="430887"/>
          </a:xfrm>
          <a:prstGeom prst="rect">
            <a:avLst/>
          </a:prstGeom>
          <a:noFill/>
        </p:spPr>
        <p:txBody>
          <a:bodyPr wrap="square" rtlCol="0">
            <a:spAutoFit/>
          </a:bodyPr>
          <a:lstStyle/>
          <a:p>
            <a:r>
              <a:rPr lang="en-GB" sz="1100">
                <a:solidFill>
                  <a:schemeClr val="accent3"/>
                </a:solidFill>
              </a:rPr>
              <a:t>4. Additional applicants added to reference</a:t>
            </a:r>
          </a:p>
        </p:txBody>
      </p:sp>
      <p:cxnSp>
        <p:nvCxnSpPr>
          <p:cNvPr id="38" name="Straight Arrow Connector 37">
            <a:extLst>
              <a:ext uri="{FF2B5EF4-FFF2-40B4-BE49-F238E27FC236}">
                <a16:creationId xmlns:a16="http://schemas.microsoft.com/office/drawing/2014/main" id="{CB5C83F1-A296-972C-14E2-87F6D9AAD01D}"/>
              </a:ext>
            </a:extLst>
          </p:cNvPr>
          <p:cNvCxnSpPr>
            <a:cxnSpLocks/>
          </p:cNvCxnSpPr>
          <p:nvPr/>
        </p:nvCxnSpPr>
        <p:spPr>
          <a:xfrm flipV="1">
            <a:off x="2386704" y="3134828"/>
            <a:ext cx="1571999" cy="123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39" name="Straight Arrow Connector 38">
            <a:extLst>
              <a:ext uri="{FF2B5EF4-FFF2-40B4-BE49-F238E27FC236}">
                <a16:creationId xmlns:a16="http://schemas.microsoft.com/office/drawing/2014/main" id="{2988964F-D7F5-3493-0D02-C82AC6EDC334}"/>
              </a:ext>
            </a:extLst>
          </p:cNvPr>
          <p:cNvCxnSpPr>
            <a:cxnSpLocks/>
          </p:cNvCxnSpPr>
          <p:nvPr/>
        </p:nvCxnSpPr>
        <p:spPr>
          <a:xfrm flipH="1">
            <a:off x="2401345" y="3531941"/>
            <a:ext cx="144480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43" name="TextBox 42">
            <a:extLst>
              <a:ext uri="{FF2B5EF4-FFF2-40B4-BE49-F238E27FC236}">
                <a16:creationId xmlns:a16="http://schemas.microsoft.com/office/drawing/2014/main" id="{AF0D9085-0BC7-1E2D-0D7E-5A02051399D0}"/>
              </a:ext>
            </a:extLst>
          </p:cNvPr>
          <p:cNvSpPr txBox="1"/>
          <p:nvPr/>
        </p:nvSpPr>
        <p:spPr>
          <a:xfrm>
            <a:off x="2424636" y="3153877"/>
            <a:ext cx="1583233" cy="430887"/>
          </a:xfrm>
          <a:prstGeom prst="rect">
            <a:avLst/>
          </a:prstGeom>
          <a:noFill/>
        </p:spPr>
        <p:txBody>
          <a:bodyPr wrap="square" rtlCol="0">
            <a:spAutoFit/>
          </a:bodyPr>
          <a:lstStyle/>
          <a:p>
            <a:r>
              <a:rPr lang="en-GB" sz="1100">
                <a:solidFill>
                  <a:schemeClr val="accent3"/>
                </a:solidFill>
              </a:rPr>
              <a:t>5. Applicant IDs returned to Salesforce</a:t>
            </a:r>
          </a:p>
        </p:txBody>
      </p:sp>
      <p:sp>
        <p:nvSpPr>
          <p:cNvPr id="47" name="Rectangle 46">
            <a:extLst>
              <a:ext uri="{FF2B5EF4-FFF2-40B4-BE49-F238E27FC236}">
                <a16:creationId xmlns:a16="http://schemas.microsoft.com/office/drawing/2014/main" id="{589AB42D-FB67-1BB8-26C6-BFC9CE64BA6D}"/>
              </a:ext>
            </a:extLst>
          </p:cNvPr>
          <p:cNvSpPr/>
          <p:nvPr/>
        </p:nvSpPr>
        <p:spPr>
          <a:xfrm>
            <a:off x="508695" y="2889292"/>
            <a:ext cx="199706" cy="2213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8" name="Straight Arrow Connector 47">
            <a:extLst>
              <a:ext uri="{FF2B5EF4-FFF2-40B4-BE49-F238E27FC236}">
                <a16:creationId xmlns:a16="http://schemas.microsoft.com/office/drawing/2014/main" id="{378F51D7-F01B-CF57-C379-536E1C6A3ACE}"/>
              </a:ext>
            </a:extLst>
          </p:cNvPr>
          <p:cNvCxnSpPr>
            <a:cxnSpLocks/>
            <a:stCxn id="18" idx="2"/>
            <a:endCxn id="47" idx="0"/>
          </p:cNvCxnSpPr>
          <p:nvPr/>
        </p:nvCxnSpPr>
        <p:spPr>
          <a:xfrm>
            <a:off x="605887" y="2339729"/>
            <a:ext cx="2661" cy="549563"/>
          </a:xfrm>
          <a:prstGeom prst="straightConnector1">
            <a:avLst/>
          </a:prstGeom>
          <a:ln>
            <a:prstDash val="sysDash"/>
            <a:tailEnd type="triangle"/>
          </a:ln>
        </p:spPr>
        <p:style>
          <a:lnRef idx="3">
            <a:schemeClr val="accent3"/>
          </a:lnRef>
          <a:fillRef idx="0">
            <a:schemeClr val="accent3"/>
          </a:fillRef>
          <a:effectRef idx="2">
            <a:schemeClr val="accent3"/>
          </a:effectRef>
          <a:fontRef idx="minor">
            <a:schemeClr val="tx1"/>
          </a:fontRef>
        </p:style>
      </p:cxnSp>
      <p:sp>
        <p:nvSpPr>
          <p:cNvPr id="51" name="TextBox 50">
            <a:extLst>
              <a:ext uri="{FF2B5EF4-FFF2-40B4-BE49-F238E27FC236}">
                <a16:creationId xmlns:a16="http://schemas.microsoft.com/office/drawing/2014/main" id="{D98146C1-4B82-D8FA-D6C1-5C2102D110C6}"/>
              </a:ext>
            </a:extLst>
          </p:cNvPr>
          <p:cNvSpPr txBox="1"/>
          <p:nvPr/>
        </p:nvSpPr>
        <p:spPr>
          <a:xfrm>
            <a:off x="800490" y="2214179"/>
            <a:ext cx="880819" cy="276999"/>
          </a:xfrm>
          <a:prstGeom prst="rect">
            <a:avLst/>
          </a:prstGeom>
          <a:noFill/>
        </p:spPr>
        <p:txBody>
          <a:bodyPr wrap="none" rtlCol="0">
            <a:spAutoFit/>
          </a:bodyPr>
          <a:lstStyle/>
          <a:p>
            <a:r>
              <a:rPr lang="en-US" sz="1200" b="1"/>
              <a:t>Time delay</a:t>
            </a:r>
          </a:p>
        </p:txBody>
      </p:sp>
      <p:sp>
        <p:nvSpPr>
          <p:cNvPr id="54" name="Rectangle 53">
            <a:extLst>
              <a:ext uri="{FF2B5EF4-FFF2-40B4-BE49-F238E27FC236}">
                <a16:creationId xmlns:a16="http://schemas.microsoft.com/office/drawing/2014/main" id="{3137F939-60D7-11FE-7BDB-9D057E85CA17}"/>
              </a:ext>
            </a:extLst>
          </p:cNvPr>
          <p:cNvSpPr/>
          <p:nvPr/>
        </p:nvSpPr>
        <p:spPr>
          <a:xfrm>
            <a:off x="3967314" y="5021592"/>
            <a:ext cx="220134" cy="664805"/>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FFC631EA-10CE-49AD-693E-29793683D8FC}"/>
              </a:ext>
            </a:extLst>
          </p:cNvPr>
          <p:cNvSpPr txBox="1"/>
          <p:nvPr/>
        </p:nvSpPr>
        <p:spPr>
          <a:xfrm>
            <a:off x="5629170" y="4826009"/>
            <a:ext cx="3751313" cy="276999"/>
          </a:xfrm>
          <a:prstGeom prst="rect">
            <a:avLst/>
          </a:prstGeom>
          <a:noFill/>
        </p:spPr>
        <p:txBody>
          <a:bodyPr wrap="square" rtlCol="0">
            <a:spAutoFit/>
          </a:bodyPr>
          <a:lstStyle/>
          <a:p>
            <a:r>
              <a:rPr lang="en-US" sz="1200">
                <a:solidFill>
                  <a:schemeClr val="accent3"/>
                </a:solidFill>
              </a:rPr>
              <a:t>11. Referencing process In progress</a:t>
            </a:r>
          </a:p>
        </p:txBody>
      </p:sp>
      <p:cxnSp>
        <p:nvCxnSpPr>
          <p:cNvPr id="63" name="Straight Arrow Connector 62">
            <a:extLst>
              <a:ext uri="{FF2B5EF4-FFF2-40B4-BE49-F238E27FC236}">
                <a16:creationId xmlns:a16="http://schemas.microsoft.com/office/drawing/2014/main" id="{667DD318-4E85-22F3-E2A8-FAAEDCB2C6C4}"/>
              </a:ext>
            </a:extLst>
          </p:cNvPr>
          <p:cNvCxnSpPr>
            <a:cxnSpLocks/>
          </p:cNvCxnSpPr>
          <p:nvPr/>
        </p:nvCxnSpPr>
        <p:spPr>
          <a:xfrm flipH="1">
            <a:off x="2365160" y="6209651"/>
            <a:ext cx="5984378" cy="3829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8" name="Straight Arrow Connector 67">
            <a:extLst>
              <a:ext uri="{FF2B5EF4-FFF2-40B4-BE49-F238E27FC236}">
                <a16:creationId xmlns:a16="http://schemas.microsoft.com/office/drawing/2014/main" id="{E13F69EE-2907-2D98-7E9B-DB8B48F85912}"/>
              </a:ext>
            </a:extLst>
          </p:cNvPr>
          <p:cNvCxnSpPr>
            <a:cxnSpLocks/>
          </p:cNvCxnSpPr>
          <p:nvPr/>
        </p:nvCxnSpPr>
        <p:spPr>
          <a:xfrm flipV="1">
            <a:off x="748527" y="4094093"/>
            <a:ext cx="4771305" cy="2107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0" name="TextBox 69">
            <a:extLst>
              <a:ext uri="{FF2B5EF4-FFF2-40B4-BE49-F238E27FC236}">
                <a16:creationId xmlns:a16="http://schemas.microsoft.com/office/drawing/2014/main" id="{829B7027-D599-1793-01E5-A8B8E82330D6}"/>
              </a:ext>
            </a:extLst>
          </p:cNvPr>
          <p:cNvSpPr txBox="1"/>
          <p:nvPr/>
        </p:nvSpPr>
        <p:spPr>
          <a:xfrm>
            <a:off x="741756" y="3850803"/>
            <a:ext cx="3667611" cy="261610"/>
          </a:xfrm>
          <a:prstGeom prst="rect">
            <a:avLst/>
          </a:prstGeom>
          <a:noFill/>
        </p:spPr>
        <p:txBody>
          <a:bodyPr wrap="square" rtlCol="0">
            <a:spAutoFit/>
          </a:bodyPr>
          <a:lstStyle/>
          <a:p>
            <a:r>
              <a:rPr lang="en-GB" sz="1100">
                <a:solidFill>
                  <a:schemeClr val="accent3"/>
                </a:solidFill>
              </a:rPr>
              <a:t>8. send JWT signed/encrypted with shared secret</a:t>
            </a:r>
          </a:p>
        </p:txBody>
      </p:sp>
      <p:cxnSp>
        <p:nvCxnSpPr>
          <p:cNvPr id="71" name="Straight Arrow Connector 70">
            <a:extLst>
              <a:ext uri="{FF2B5EF4-FFF2-40B4-BE49-F238E27FC236}">
                <a16:creationId xmlns:a16="http://schemas.microsoft.com/office/drawing/2014/main" id="{3517459E-E6F3-1524-1785-DC154D741577}"/>
              </a:ext>
            </a:extLst>
          </p:cNvPr>
          <p:cNvCxnSpPr>
            <a:cxnSpLocks/>
          </p:cNvCxnSpPr>
          <p:nvPr/>
        </p:nvCxnSpPr>
        <p:spPr>
          <a:xfrm flipH="1">
            <a:off x="730422" y="4354102"/>
            <a:ext cx="4789410" cy="2494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4" name="TextBox 73">
            <a:extLst>
              <a:ext uri="{FF2B5EF4-FFF2-40B4-BE49-F238E27FC236}">
                <a16:creationId xmlns:a16="http://schemas.microsoft.com/office/drawing/2014/main" id="{08C2910F-9693-D5BD-1307-1D15FCBD2E75}"/>
              </a:ext>
            </a:extLst>
          </p:cNvPr>
          <p:cNvSpPr txBox="1"/>
          <p:nvPr/>
        </p:nvSpPr>
        <p:spPr>
          <a:xfrm>
            <a:off x="761879" y="4121932"/>
            <a:ext cx="1563525" cy="261610"/>
          </a:xfrm>
          <a:prstGeom prst="rect">
            <a:avLst/>
          </a:prstGeom>
          <a:noFill/>
        </p:spPr>
        <p:txBody>
          <a:bodyPr wrap="square" rtlCol="0">
            <a:spAutoFit/>
          </a:bodyPr>
          <a:lstStyle/>
          <a:p>
            <a:r>
              <a:rPr lang="en-GB" sz="1100">
                <a:solidFill>
                  <a:schemeClr val="accent3"/>
                </a:solidFill>
              </a:rPr>
              <a:t>9. access Token return</a:t>
            </a:r>
          </a:p>
        </p:txBody>
      </p:sp>
      <p:sp>
        <p:nvSpPr>
          <p:cNvPr id="76" name="TextBox 75">
            <a:extLst>
              <a:ext uri="{FF2B5EF4-FFF2-40B4-BE49-F238E27FC236}">
                <a16:creationId xmlns:a16="http://schemas.microsoft.com/office/drawing/2014/main" id="{B109648D-FC70-4195-0D78-D06614F2CDCD}"/>
              </a:ext>
            </a:extLst>
          </p:cNvPr>
          <p:cNvSpPr txBox="1"/>
          <p:nvPr/>
        </p:nvSpPr>
        <p:spPr>
          <a:xfrm>
            <a:off x="3674845" y="5986333"/>
            <a:ext cx="3995165" cy="261610"/>
          </a:xfrm>
          <a:prstGeom prst="rect">
            <a:avLst/>
          </a:prstGeom>
          <a:noFill/>
        </p:spPr>
        <p:txBody>
          <a:bodyPr wrap="square" rtlCol="0">
            <a:spAutoFit/>
          </a:bodyPr>
          <a:lstStyle/>
          <a:p>
            <a:r>
              <a:rPr lang="en-GB" sz="1100">
                <a:solidFill>
                  <a:schemeClr val="accent3"/>
                </a:solidFill>
              </a:rPr>
              <a:t>14. SAML request sent to Salesforce Identity Provider</a:t>
            </a:r>
          </a:p>
        </p:txBody>
      </p:sp>
      <p:cxnSp>
        <p:nvCxnSpPr>
          <p:cNvPr id="77" name="Straight Arrow Connector 76">
            <a:extLst>
              <a:ext uri="{FF2B5EF4-FFF2-40B4-BE49-F238E27FC236}">
                <a16:creationId xmlns:a16="http://schemas.microsoft.com/office/drawing/2014/main" id="{4C01C136-6D7B-EC17-F99C-EAF1B0AF42C3}"/>
              </a:ext>
            </a:extLst>
          </p:cNvPr>
          <p:cNvCxnSpPr>
            <a:cxnSpLocks/>
          </p:cNvCxnSpPr>
          <p:nvPr/>
        </p:nvCxnSpPr>
        <p:spPr>
          <a:xfrm>
            <a:off x="2398074" y="6486220"/>
            <a:ext cx="5949269"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9" name="TextBox 78">
            <a:extLst>
              <a:ext uri="{FF2B5EF4-FFF2-40B4-BE49-F238E27FC236}">
                <a16:creationId xmlns:a16="http://schemas.microsoft.com/office/drawing/2014/main" id="{218F201B-7588-2B82-66FE-597748A20D14}"/>
              </a:ext>
            </a:extLst>
          </p:cNvPr>
          <p:cNvSpPr txBox="1"/>
          <p:nvPr/>
        </p:nvSpPr>
        <p:spPr>
          <a:xfrm>
            <a:off x="3647936" y="6264065"/>
            <a:ext cx="4551017" cy="261610"/>
          </a:xfrm>
          <a:prstGeom prst="rect">
            <a:avLst/>
          </a:prstGeom>
          <a:noFill/>
        </p:spPr>
        <p:txBody>
          <a:bodyPr wrap="square" rtlCol="0">
            <a:spAutoFit/>
          </a:bodyPr>
          <a:lstStyle/>
          <a:p>
            <a:r>
              <a:rPr lang="en-GB" sz="1100">
                <a:solidFill>
                  <a:schemeClr val="accent3"/>
                </a:solidFill>
              </a:rPr>
              <a:t>15. SAML assertion sent to Vision+ Agent Portal to allow user access</a:t>
            </a:r>
          </a:p>
        </p:txBody>
      </p:sp>
      <p:cxnSp>
        <p:nvCxnSpPr>
          <p:cNvPr id="50" name="Straight Arrow Connector 49">
            <a:extLst>
              <a:ext uri="{FF2B5EF4-FFF2-40B4-BE49-F238E27FC236}">
                <a16:creationId xmlns:a16="http://schemas.microsoft.com/office/drawing/2014/main" id="{7E1D33CA-8FB4-7BCD-E5EB-7BF689F220AD}"/>
              </a:ext>
            </a:extLst>
          </p:cNvPr>
          <p:cNvCxnSpPr>
            <a:cxnSpLocks/>
          </p:cNvCxnSpPr>
          <p:nvPr/>
        </p:nvCxnSpPr>
        <p:spPr>
          <a:xfrm>
            <a:off x="726845" y="2998982"/>
            <a:ext cx="142554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2" name="TextBox 51">
            <a:extLst>
              <a:ext uri="{FF2B5EF4-FFF2-40B4-BE49-F238E27FC236}">
                <a16:creationId xmlns:a16="http://schemas.microsoft.com/office/drawing/2014/main" id="{E1B6FCBA-DB2F-713F-FC32-8839CBABCD4F}"/>
              </a:ext>
            </a:extLst>
          </p:cNvPr>
          <p:cNvSpPr txBox="1"/>
          <p:nvPr/>
        </p:nvSpPr>
        <p:spPr>
          <a:xfrm>
            <a:off x="778965" y="2602196"/>
            <a:ext cx="1373426" cy="430887"/>
          </a:xfrm>
          <a:prstGeom prst="rect">
            <a:avLst/>
          </a:prstGeom>
          <a:noFill/>
        </p:spPr>
        <p:txBody>
          <a:bodyPr wrap="square" rtlCol="0">
            <a:spAutoFit/>
          </a:bodyPr>
          <a:lstStyle/>
          <a:p>
            <a:r>
              <a:rPr lang="en-GB" sz="1100">
                <a:solidFill>
                  <a:schemeClr val="accent3"/>
                </a:solidFill>
              </a:rPr>
              <a:t>6. Query applicant ID </a:t>
            </a:r>
          </a:p>
        </p:txBody>
      </p:sp>
      <p:cxnSp>
        <p:nvCxnSpPr>
          <p:cNvPr id="53" name="Straight Arrow Connector 52">
            <a:extLst>
              <a:ext uri="{FF2B5EF4-FFF2-40B4-BE49-F238E27FC236}">
                <a16:creationId xmlns:a16="http://schemas.microsoft.com/office/drawing/2014/main" id="{21DF41E5-477C-13FB-6940-2F050E118085}"/>
              </a:ext>
            </a:extLst>
          </p:cNvPr>
          <p:cNvCxnSpPr>
            <a:cxnSpLocks/>
          </p:cNvCxnSpPr>
          <p:nvPr/>
        </p:nvCxnSpPr>
        <p:spPr>
          <a:xfrm flipH="1">
            <a:off x="720737" y="3613185"/>
            <a:ext cx="1362945" cy="6729"/>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6" name="TextBox 55">
            <a:extLst>
              <a:ext uri="{FF2B5EF4-FFF2-40B4-BE49-F238E27FC236}">
                <a16:creationId xmlns:a16="http://schemas.microsoft.com/office/drawing/2014/main" id="{64DEB0FD-2A82-958A-08EA-89A604CB363E}"/>
              </a:ext>
            </a:extLst>
          </p:cNvPr>
          <p:cNvSpPr txBox="1"/>
          <p:nvPr/>
        </p:nvSpPr>
        <p:spPr>
          <a:xfrm>
            <a:off x="761803" y="3153715"/>
            <a:ext cx="1493859" cy="430887"/>
          </a:xfrm>
          <a:prstGeom prst="rect">
            <a:avLst/>
          </a:prstGeom>
          <a:noFill/>
        </p:spPr>
        <p:txBody>
          <a:bodyPr wrap="square" rtlCol="0">
            <a:spAutoFit/>
          </a:bodyPr>
          <a:lstStyle/>
          <a:p>
            <a:r>
              <a:rPr lang="en-GB" sz="1100">
                <a:solidFill>
                  <a:schemeClr val="accent3"/>
                </a:solidFill>
              </a:rPr>
              <a:t>7. Applicant ID  returned</a:t>
            </a:r>
          </a:p>
        </p:txBody>
      </p:sp>
      <p:sp>
        <p:nvSpPr>
          <p:cNvPr id="11" name="Rectangle 10">
            <a:extLst>
              <a:ext uri="{FF2B5EF4-FFF2-40B4-BE49-F238E27FC236}">
                <a16:creationId xmlns:a16="http://schemas.microsoft.com/office/drawing/2014/main" id="{866FAA60-6A28-40C0-899F-D8D4E1BBA8D5}"/>
              </a:ext>
            </a:extLst>
          </p:cNvPr>
          <p:cNvSpPr/>
          <p:nvPr/>
        </p:nvSpPr>
        <p:spPr>
          <a:xfrm>
            <a:off x="5030824" y="702949"/>
            <a:ext cx="1181888" cy="47959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Vision+ Auth Server</a:t>
            </a:r>
          </a:p>
        </p:txBody>
      </p:sp>
      <p:sp>
        <p:nvSpPr>
          <p:cNvPr id="75" name="Rectangle 74">
            <a:extLst>
              <a:ext uri="{FF2B5EF4-FFF2-40B4-BE49-F238E27FC236}">
                <a16:creationId xmlns:a16="http://schemas.microsoft.com/office/drawing/2014/main" id="{43D8F7E2-9870-7C88-3446-968FC211C7A3}"/>
              </a:ext>
            </a:extLst>
          </p:cNvPr>
          <p:cNvSpPr/>
          <p:nvPr/>
        </p:nvSpPr>
        <p:spPr>
          <a:xfrm>
            <a:off x="5522841" y="1181267"/>
            <a:ext cx="184029" cy="3383169"/>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748879A7-FC1D-83CA-A540-11185E1160A3}"/>
              </a:ext>
            </a:extLst>
          </p:cNvPr>
          <p:cNvSpPr/>
          <p:nvPr/>
        </p:nvSpPr>
        <p:spPr>
          <a:xfrm>
            <a:off x="102042" y="702949"/>
            <a:ext cx="1181888" cy="4795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Grainger Portal</a:t>
            </a:r>
          </a:p>
        </p:txBody>
      </p:sp>
    </p:spTree>
    <p:extLst>
      <p:ext uri="{BB962C8B-B14F-4D97-AF65-F5344CB8AC3E}">
        <p14:creationId xmlns:p14="http://schemas.microsoft.com/office/powerpoint/2010/main" val="2592356101"/>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1303"/>
            <a:ext cx="6888480" cy="461665"/>
          </a:xfrm>
          <a:prstGeom prst="rect">
            <a:avLst/>
          </a:prstGeom>
          <a:noFill/>
        </p:spPr>
        <p:txBody>
          <a:bodyPr wrap="square" rtlCol="0">
            <a:spAutoFit/>
          </a:bodyPr>
          <a:lstStyle/>
          <a:p>
            <a:r>
              <a:rPr lang="en-GB" sz="2400" b="1"/>
              <a:t>2. Reference instigated</a:t>
            </a:r>
          </a:p>
        </p:txBody>
      </p:sp>
      <p:graphicFrame>
        <p:nvGraphicFramePr>
          <p:cNvPr id="25" name="Table 24">
            <a:extLst>
              <a:ext uri="{FF2B5EF4-FFF2-40B4-BE49-F238E27FC236}">
                <a16:creationId xmlns:a16="http://schemas.microsoft.com/office/drawing/2014/main" id="{A4C66454-83F4-3E38-7EC6-F41FAB45FFC8}"/>
              </a:ext>
            </a:extLst>
          </p:cNvPr>
          <p:cNvGraphicFramePr>
            <a:graphicFrameLocks noGrp="1"/>
          </p:cNvGraphicFramePr>
          <p:nvPr>
            <p:extLst>
              <p:ext uri="{D42A27DB-BD31-4B8C-83A1-F6EECF244321}">
                <p14:modId xmlns:p14="http://schemas.microsoft.com/office/powerpoint/2010/main" val="3447945830"/>
              </p:ext>
            </p:extLst>
          </p:nvPr>
        </p:nvGraphicFramePr>
        <p:xfrm>
          <a:off x="215710" y="1411178"/>
          <a:ext cx="4470400" cy="3902963"/>
        </p:xfrm>
        <a:graphic>
          <a:graphicData uri="http://schemas.openxmlformats.org/drawingml/2006/table">
            <a:tbl>
              <a:tblPr>
                <a:tableStyleId>{5C22544A-7EE6-4342-B048-85BDC9FD1C3A}</a:tableStyleId>
              </a:tblPr>
              <a:tblGrid>
                <a:gridCol w="3251200">
                  <a:extLst>
                    <a:ext uri="{9D8B030D-6E8A-4147-A177-3AD203B41FA5}">
                      <a16:colId xmlns:a16="http://schemas.microsoft.com/office/drawing/2014/main" val="3509169429"/>
                    </a:ext>
                  </a:extLst>
                </a:gridCol>
                <a:gridCol w="1219200">
                  <a:extLst>
                    <a:ext uri="{9D8B030D-6E8A-4147-A177-3AD203B41FA5}">
                      <a16:colId xmlns:a16="http://schemas.microsoft.com/office/drawing/2014/main" val="3082326189"/>
                    </a:ext>
                  </a:extLst>
                </a:gridCol>
              </a:tblGrid>
              <a:tr h="111573">
                <a:tc>
                  <a:txBody>
                    <a:bodyPr/>
                    <a:lstStyle/>
                    <a:p>
                      <a:pPr algn="l" fontAlgn="b"/>
                      <a:r>
                        <a:rPr lang="en-GB" sz="700" u="none" strike="noStrike">
                          <a:effectLst/>
                        </a:rPr>
                        <a: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892746207"/>
                  </a:ext>
                </a:extLst>
              </a:tr>
              <a:tr h="111573">
                <a:tc>
                  <a:txBody>
                    <a:bodyPr/>
                    <a:lstStyle/>
                    <a:p>
                      <a:pPr algn="l" fontAlgn="b"/>
                      <a:r>
                        <a:rPr lang="en-GB" sz="700" u="none" strike="noStrike">
                          <a:effectLst/>
                        </a:rPr>
                        <a:t>  "agentCode": "9999",</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err="1">
                          <a:effectLst/>
                        </a:rPr>
                        <a:t>agentCode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121293903"/>
                  </a:ext>
                </a:extLst>
              </a:tr>
              <a:tr h="111573">
                <a:tc>
                  <a:txBody>
                    <a:bodyPr/>
                    <a:lstStyle/>
                    <a:p>
                      <a:pPr algn="l" fontAlgn="b"/>
                      <a:r>
                        <a:rPr lang="en-GB" sz="700" u="none" strike="noStrike">
                          <a:effectLst/>
                        </a:rPr>
                        <a:t>  "rentGuarantee":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rentGuarantee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43254747"/>
                  </a:ext>
                </a:extLst>
              </a:tr>
              <a:tr h="111573">
                <a:tc>
                  <a:txBody>
                    <a:bodyPr/>
                    <a:lstStyle/>
                    <a:p>
                      <a:pPr algn="l" fontAlgn="b"/>
                      <a:r>
                        <a:rPr lang="en-GB" sz="700" u="none" strike="noStrike">
                          <a:effectLst/>
                        </a:rPr>
                        <a:t>  "tenancyTermMonths": 12,</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tenancyTermMonths</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95092635"/>
                  </a:ext>
                </a:extLst>
              </a:tr>
              <a:tr h="111573">
                <a:tc>
                  <a:txBody>
                    <a:bodyPr/>
                    <a:lstStyle/>
                    <a:p>
                      <a:pPr algn="l" fontAlgn="b"/>
                      <a:r>
                        <a:rPr lang="en-GB" sz="700" u="none" strike="noStrike">
                          <a:effectLst/>
                        </a:rPr>
                        <a:t>  "monthlyRental": 2000,</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monthlyRental</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259940693"/>
                  </a:ext>
                </a:extLst>
              </a:tr>
              <a:tr h="59143">
                <a:tc>
                  <a:txBody>
                    <a:bodyPr/>
                    <a:lstStyle/>
                    <a:p>
                      <a:pPr algn="l" fontAlgn="b"/>
                      <a:r>
                        <a:rPr lang="en-GB" sz="700" u="none" strike="noStrike">
                          <a:effectLst/>
                        </a:rPr>
                        <a:t>  "lettingType":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lettingType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003640339"/>
                  </a:ext>
                </a:extLst>
              </a:tr>
              <a:tr h="111573">
                <a:tc>
                  <a:txBody>
                    <a:bodyPr/>
                    <a:lstStyle/>
                    <a:p>
                      <a:pPr algn="l" fontAlgn="b"/>
                      <a:r>
                        <a:rPr lang="en-GB" sz="700" u="none" strike="noStrike">
                          <a:effectLst/>
                        </a:rPr>
                        <a:t>  "estimatedMoveInDate": "2023-04-01T10:55:02.383Z",</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estimatedMoveInDate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34121821"/>
                  </a:ext>
                </a:extLst>
              </a:tr>
              <a:tr h="85074">
                <a:tc>
                  <a:txBody>
                    <a:bodyPr/>
                    <a:lstStyle/>
                    <a:p>
                      <a:pPr algn="l" fontAlgn="b"/>
                      <a:r>
                        <a:rPr lang="en-GB" sz="700" u="none" strike="noStrike">
                          <a:effectLst/>
                        </a:rPr>
                        <a:t>  "</a:t>
                      </a:r>
                      <a:r>
                        <a:rPr lang="en-GB" sz="700" u="none" strike="noStrike" err="1">
                          <a:effectLst/>
                        </a:rPr>
                        <a:t>propertyType</a:t>
                      </a:r>
                      <a:r>
                        <a:rPr lang="en-GB" sz="700" u="none" strike="noStrike">
                          <a:effectLst/>
                        </a:rPr>
                        <a:t>":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propertyType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693936013"/>
                  </a:ext>
                </a:extLst>
              </a:tr>
              <a:tr h="111573">
                <a:tc>
                  <a:txBody>
                    <a:bodyPr/>
                    <a:lstStyle/>
                    <a:p>
                      <a:pPr algn="l" fontAlgn="b"/>
                      <a:r>
                        <a:rPr lang="en-GB" sz="700" u="none" strike="noStrike">
                          <a:effectLst/>
                        </a:rPr>
                        <a:t>  "isAdvanceRent": false,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err="1">
                          <a:effectLst/>
                        </a:rPr>
                        <a:t>isAdvanceRent</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979922706"/>
                  </a:ext>
                </a:extLst>
              </a:tr>
              <a:tr h="111573">
                <a:tc>
                  <a:txBody>
                    <a:bodyPr/>
                    <a:lstStyle/>
                    <a:p>
                      <a:pPr algn="l" fontAlgn="b"/>
                      <a:r>
                        <a:rPr lang="en-GB" sz="700" u="none" strike="noStrike">
                          <a:effectLst/>
                        </a:rPr>
                        <a:t>  "propertyAddress":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99862955"/>
                  </a:ext>
                </a:extLst>
              </a:tr>
              <a:tr h="111573">
                <a:tc>
                  <a:txBody>
                    <a:bodyPr/>
                    <a:lstStyle/>
                    <a:p>
                      <a:pPr algn="l" fontAlgn="b"/>
                      <a:r>
                        <a:rPr lang="en-GB" sz="700" u="none" strike="noStrike">
                          <a:effectLst/>
                        </a:rPr>
                        <a:t>    "houseNumber": "65000",</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houseNumber</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52553893"/>
                  </a:ext>
                </a:extLst>
              </a:tr>
              <a:tr h="111573">
                <a:tc>
                  <a:txBody>
                    <a:bodyPr/>
                    <a:lstStyle/>
                    <a:p>
                      <a:pPr algn="l" fontAlgn="b"/>
                      <a:r>
                        <a:rPr lang="en-GB" sz="700" u="none" strike="noStrike">
                          <a:effectLst/>
                        </a:rPr>
                        <a:t>    "houseName": "Oxford Street",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err="1">
                          <a:effectLst/>
                        </a:rPr>
                        <a:t>houseName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155780326"/>
                  </a:ext>
                </a:extLst>
              </a:tr>
              <a:tr h="111573">
                <a:tc>
                  <a:txBody>
                    <a:bodyPr/>
                    <a:lstStyle/>
                    <a:p>
                      <a:pPr algn="l" fontAlgn="b"/>
                      <a:r>
                        <a:rPr lang="en-GB" sz="700" u="none" strike="noStrike">
                          <a:effectLst/>
                        </a:rPr>
                        <a:t>    "addressLine1": "Gadlys",</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addressLine1</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876428709"/>
                  </a:ext>
                </a:extLst>
              </a:tr>
              <a:tr h="111573">
                <a:tc>
                  <a:txBody>
                    <a:bodyPr/>
                    <a:lstStyle/>
                    <a:p>
                      <a:pPr algn="l" fontAlgn="b"/>
                      <a:r>
                        <a:rPr lang="en-GB" sz="700" u="none" strike="noStrike">
                          <a:effectLst/>
                        </a:rPr>
                        <a:t>    "addressLine2": "Parkway",</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addressLine2</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790465473"/>
                  </a:ext>
                </a:extLst>
              </a:tr>
              <a:tr h="111573">
                <a:tc>
                  <a:txBody>
                    <a:bodyPr/>
                    <a:lstStyle/>
                    <a:p>
                      <a:pPr algn="l" fontAlgn="b"/>
                      <a:r>
                        <a:rPr lang="en-GB" sz="700" u="none" strike="noStrike">
                          <a:effectLst/>
                        </a:rPr>
                        <a:t>    "town": "Aberdare",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town</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323630948"/>
                  </a:ext>
                </a:extLst>
              </a:tr>
              <a:tr h="111573">
                <a:tc>
                  <a:txBody>
                    <a:bodyPr/>
                    <a:lstStyle/>
                    <a:p>
                      <a:pPr algn="l" fontAlgn="b"/>
                      <a:r>
                        <a:rPr lang="en-GB" sz="700" u="none" strike="noStrike">
                          <a:effectLst/>
                        </a:rPr>
                        <a:t>    "postcode": "CF44 8BE",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postcode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853896795"/>
                  </a:ext>
                </a:extLst>
              </a:tr>
              <a:tr h="111573">
                <a:tc>
                  <a:txBody>
                    <a:bodyPr/>
                    <a:lstStyle/>
                    <a:p>
                      <a:pPr algn="l" fontAlgn="b"/>
                      <a:r>
                        <a:rPr lang="en-GB" sz="700" u="none" strike="noStrike">
                          <a:effectLst/>
                        </a:rPr>
                        <a:t>    "ukCountryCode": 3</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ukCountryCode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335047132"/>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84464445"/>
                  </a:ext>
                </a:extLst>
              </a:tr>
              <a:tr h="111573">
                <a:tc>
                  <a:txBody>
                    <a:bodyPr/>
                    <a:lstStyle/>
                    <a:p>
                      <a:pPr algn="l" fontAlgn="b"/>
                      <a:r>
                        <a:rPr lang="en-GB" sz="700" u="none" strike="noStrike">
                          <a:effectLst/>
                        </a:rPr>
                        <a:t>  "tenants":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119387764"/>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760993253"/>
                  </a:ext>
                </a:extLst>
              </a:tr>
              <a:tr h="111573">
                <a:tc>
                  <a:txBody>
                    <a:bodyPr/>
                    <a:lstStyle/>
                    <a:p>
                      <a:pPr algn="l" fontAlgn="b"/>
                      <a:r>
                        <a:rPr lang="en-GB" sz="700" u="none" strike="noStrike">
                          <a:effectLst/>
                        </a:rPr>
                        <a:t>      "tenantTypeId":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tenantTypeId</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006605777"/>
                  </a:ext>
                </a:extLst>
              </a:tr>
              <a:tr h="111573">
                <a:tc>
                  <a:txBody>
                    <a:bodyPr/>
                    <a:lstStyle/>
                    <a:p>
                      <a:pPr algn="l" fontAlgn="b"/>
                      <a:r>
                        <a:rPr lang="en-GB" sz="700" u="none" strike="noStrike">
                          <a:effectLst/>
                        </a:rPr>
                        <a:t>      "referenceType":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referenceType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989029494"/>
                  </a:ext>
                </a:extLst>
              </a:tr>
              <a:tr h="111573">
                <a:tc>
                  <a:txBody>
                    <a:bodyPr/>
                    <a:lstStyle/>
                    <a:p>
                      <a:pPr algn="l" fontAlgn="b"/>
                      <a:r>
                        <a:rPr lang="en-GB" sz="700" u="none" strike="noStrike">
                          <a:effectLst/>
                        </a:rPr>
                        <a:t>      "rightToRent": true,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rightToRent</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269793583"/>
                  </a:ext>
                </a:extLst>
              </a:tr>
              <a:tr h="111573">
                <a:tc>
                  <a:txBody>
                    <a:bodyPr/>
                    <a:lstStyle/>
                    <a:p>
                      <a:pPr algn="l" fontAlgn="b"/>
                      <a:r>
                        <a:rPr lang="en-GB" sz="700" u="none" strike="noStrike">
                          <a:effectLst/>
                        </a:rPr>
                        <a:t>      "title":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title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797422067"/>
                  </a:ext>
                </a:extLst>
              </a:tr>
              <a:tr h="111573">
                <a:tc>
                  <a:txBody>
                    <a:bodyPr/>
                    <a:lstStyle/>
                    <a:p>
                      <a:pPr algn="l" fontAlgn="b"/>
                      <a:r>
                        <a:rPr lang="en-GB" sz="700" u="none" strike="noStrike">
                          <a:effectLst/>
                        </a:rPr>
                        <a:t>      "otherTitle":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otherTitle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0612202"/>
                  </a:ext>
                </a:extLst>
              </a:tr>
              <a:tr h="111573">
                <a:tc>
                  <a:txBody>
                    <a:bodyPr/>
                    <a:lstStyle/>
                    <a:p>
                      <a:pPr algn="l" fontAlgn="b"/>
                      <a:r>
                        <a:rPr lang="en-GB" sz="700" u="none" strike="noStrike">
                          <a:effectLst/>
                        </a:rPr>
                        <a:t>      "firstName": "Berty",</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firstName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60716893"/>
                  </a:ext>
                </a:extLst>
              </a:tr>
              <a:tr h="111573">
                <a:tc>
                  <a:txBody>
                    <a:bodyPr/>
                    <a:lstStyle/>
                    <a:p>
                      <a:pPr algn="l" fontAlgn="b"/>
                      <a:r>
                        <a:rPr lang="en-GB" sz="700" u="none" strike="noStrike">
                          <a:effectLst/>
                        </a:rPr>
                        <a:t>      "middleName": "Boo",</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middleName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752430834"/>
                  </a:ext>
                </a:extLst>
              </a:tr>
              <a:tr h="111573">
                <a:tc>
                  <a:txBody>
                    <a:bodyPr/>
                    <a:lstStyle/>
                    <a:p>
                      <a:pPr algn="l" fontAlgn="b"/>
                      <a:r>
                        <a:rPr lang="en-GB" sz="700" u="none" strike="noStrike">
                          <a:effectLst/>
                        </a:rPr>
                        <a:t>      "surname": "Basset",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surname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952672339"/>
                  </a:ext>
                </a:extLst>
              </a:tr>
              <a:tr h="111573">
                <a:tc>
                  <a:txBody>
                    <a:bodyPr/>
                    <a:lstStyle/>
                    <a:p>
                      <a:pPr algn="l" fontAlgn="b"/>
                      <a:r>
                        <a:rPr lang="en-GB" sz="700" u="none" strike="noStrike">
                          <a:effectLst/>
                        </a:rPr>
                        <a:t>      "shareOfRent": 600,</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shareOfRent</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856555230"/>
                  </a:ext>
                </a:extLst>
              </a:tr>
              <a:tr h="111573">
                <a:tc>
                  <a:txBody>
                    <a:bodyPr/>
                    <a:lstStyle/>
                    <a:p>
                      <a:pPr algn="l" fontAlgn="b"/>
                      <a:r>
                        <a:rPr lang="en-GB" sz="700" u="none" strike="noStrike">
                          <a:effectLst/>
                        </a:rPr>
                        <a:t>      "telephoneCountryID": 2,</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telephoneCountryID</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287456809"/>
                  </a:ext>
                </a:extLst>
              </a:tr>
              <a:tr h="111573">
                <a:tc>
                  <a:txBody>
                    <a:bodyPr/>
                    <a:lstStyle/>
                    <a:p>
                      <a:pPr algn="l" fontAlgn="b"/>
                      <a:r>
                        <a:rPr lang="en-GB" sz="700" u="none" strike="noStrike">
                          <a:effectLst/>
                        </a:rPr>
                        <a:t>      "contactTelephoneNo": "01234567891",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contactTelephoneNo</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525095773"/>
                  </a:ext>
                </a:extLst>
              </a:tr>
              <a:tr h="111573">
                <a:tc>
                  <a:txBody>
                    <a:bodyPr/>
                    <a:lstStyle/>
                    <a:p>
                      <a:pPr algn="l" fontAlgn="b"/>
                      <a:r>
                        <a:rPr lang="en-GB" sz="700" u="none" strike="noStrike">
                          <a:effectLst/>
                        </a:rPr>
                        <a:t>      "emailAddress": "test@testtesttest.test"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emailAddress</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523408226"/>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380483843"/>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270225133"/>
                  </a:ext>
                </a:extLst>
              </a:tr>
              <a:tr h="111573">
                <a:tc>
                  <a:txBody>
                    <a:bodyPr/>
                    <a:lstStyle/>
                    <a:p>
                      <a:pPr algn="l" fontAlgn="b"/>
                      <a:r>
                        <a:rPr lang="en-GB" sz="700" u="none" strike="noStrike">
                          <a:effectLst/>
                        </a:rPr>
                        <a: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908599463"/>
                  </a:ext>
                </a:extLst>
              </a:tr>
            </a:tbl>
          </a:graphicData>
        </a:graphic>
      </p:graphicFrame>
      <p:sp>
        <p:nvSpPr>
          <p:cNvPr id="6" name="Rectangle 5">
            <a:extLst>
              <a:ext uri="{FF2B5EF4-FFF2-40B4-BE49-F238E27FC236}">
                <a16:creationId xmlns:a16="http://schemas.microsoft.com/office/drawing/2014/main" id="{891E98C1-FEDD-DA87-1F1A-497C7B79F44E}"/>
              </a:ext>
            </a:extLst>
          </p:cNvPr>
          <p:cNvSpPr/>
          <p:nvPr/>
        </p:nvSpPr>
        <p:spPr>
          <a:xfrm>
            <a:off x="8117707" y="352287"/>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352286"/>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852615" y="362807"/>
            <a:ext cx="1160895" cy="215444"/>
          </a:xfrm>
          <a:prstGeom prst="rect">
            <a:avLst/>
          </a:prstGeom>
          <a:noFill/>
        </p:spPr>
        <p:txBody>
          <a:bodyPr wrap="none" rtlCol="0">
            <a:spAutoFit/>
          </a:bodyPr>
          <a:lstStyle/>
          <a:p>
            <a:r>
              <a:rPr lang="en-GB" sz="800" b="1"/>
              <a:t>1. Reference instigated</a:t>
            </a:r>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a:off x="6869115" y="630439"/>
            <a:ext cx="1248592"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4" name="TextBox 13">
            <a:extLst>
              <a:ext uri="{FF2B5EF4-FFF2-40B4-BE49-F238E27FC236}">
                <a16:creationId xmlns:a16="http://schemas.microsoft.com/office/drawing/2014/main" id="{ABAA3F78-F077-B026-55C4-E6649D06EF6D}"/>
              </a:ext>
            </a:extLst>
          </p:cNvPr>
          <p:cNvSpPr txBox="1"/>
          <p:nvPr/>
        </p:nvSpPr>
        <p:spPr>
          <a:xfrm>
            <a:off x="121920" y="978832"/>
            <a:ext cx="5110480" cy="369332"/>
          </a:xfrm>
          <a:prstGeom prst="rect">
            <a:avLst/>
          </a:prstGeom>
          <a:noFill/>
        </p:spPr>
        <p:txBody>
          <a:bodyPr wrap="square">
            <a:spAutoFit/>
          </a:bodyPr>
          <a:lstStyle/>
          <a:p>
            <a:r>
              <a:rPr lang="en-GB"/>
              <a:t> </a:t>
            </a:r>
            <a:r>
              <a:rPr lang="en-GB" b="1"/>
              <a:t>Request: </a:t>
            </a:r>
            <a:r>
              <a:rPr lang="en-GB" err="1"/>
              <a:t>CreateReferenceWithApplicantIframe</a:t>
            </a:r>
            <a:endParaRPr lang="en-GB"/>
          </a:p>
        </p:txBody>
      </p:sp>
      <p:sp>
        <p:nvSpPr>
          <p:cNvPr id="22" name="TextBox 21">
            <a:extLst>
              <a:ext uri="{FF2B5EF4-FFF2-40B4-BE49-F238E27FC236}">
                <a16:creationId xmlns:a16="http://schemas.microsoft.com/office/drawing/2014/main" id="{DE8E22F2-8976-E428-EB50-62587630E78D}"/>
              </a:ext>
            </a:extLst>
          </p:cNvPr>
          <p:cNvSpPr txBox="1"/>
          <p:nvPr/>
        </p:nvSpPr>
        <p:spPr>
          <a:xfrm>
            <a:off x="5329331" y="1990938"/>
            <a:ext cx="1156547" cy="369332"/>
          </a:xfrm>
          <a:prstGeom prst="rect">
            <a:avLst/>
          </a:prstGeom>
          <a:noFill/>
        </p:spPr>
        <p:txBody>
          <a:bodyPr wrap="square">
            <a:spAutoFit/>
          </a:bodyPr>
          <a:lstStyle/>
          <a:p>
            <a:r>
              <a:rPr lang="en-GB" b="1"/>
              <a:t> Response</a:t>
            </a:r>
          </a:p>
        </p:txBody>
      </p:sp>
      <p:graphicFrame>
        <p:nvGraphicFramePr>
          <p:cNvPr id="29" name="Table 28">
            <a:extLst>
              <a:ext uri="{FF2B5EF4-FFF2-40B4-BE49-F238E27FC236}">
                <a16:creationId xmlns:a16="http://schemas.microsoft.com/office/drawing/2014/main" id="{7466D611-F097-64CB-64B0-3ECC08D39784}"/>
              </a:ext>
            </a:extLst>
          </p:cNvPr>
          <p:cNvGraphicFramePr>
            <a:graphicFrameLocks noGrp="1"/>
          </p:cNvGraphicFramePr>
          <p:nvPr>
            <p:extLst>
              <p:ext uri="{D42A27DB-BD31-4B8C-83A1-F6EECF244321}">
                <p14:modId xmlns:p14="http://schemas.microsoft.com/office/powerpoint/2010/main" val="2195147799"/>
              </p:ext>
            </p:extLst>
          </p:nvPr>
        </p:nvGraphicFramePr>
        <p:xfrm>
          <a:off x="5410354" y="2360270"/>
          <a:ext cx="2325900" cy="2616902"/>
        </p:xfrm>
        <a:graphic>
          <a:graphicData uri="http://schemas.openxmlformats.org/drawingml/2006/table">
            <a:tbl>
              <a:tblPr>
                <a:tableStyleId>{5C22544A-7EE6-4342-B048-85BDC9FD1C3A}</a:tableStyleId>
              </a:tblPr>
              <a:tblGrid>
                <a:gridCol w="2325900">
                  <a:extLst>
                    <a:ext uri="{9D8B030D-6E8A-4147-A177-3AD203B41FA5}">
                      <a16:colId xmlns:a16="http://schemas.microsoft.com/office/drawing/2014/main" val="3385810108"/>
                    </a:ext>
                  </a:extLst>
                </a:gridCol>
              </a:tblGrid>
              <a:tr h="174060">
                <a:tc>
                  <a:txBody>
                    <a:bodyPr/>
                    <a:lstStyle/>
                    <a:p>
                      <a:pPr algn="l" fontAlgn="b"/>
                      <a:r>
                        <a:rPr lang="en-GB" sz="700" u="none" strike="noStrike">
                          <a:effectLst/>
                        </a:rPr>
                        <a:t>{</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3425658088"/>
                  </a:ext>
                </a:extLst>
              </a:tr>
              <a:tr h="174060">
                <a:tc>
                  <a:txBody>
                    <a:bodyPr/>
                    <a:lstStyle/>
                    <a:p>
                      <a:pPr algn="l" fontAlgn="b"/>
                      <a:r>
                        <a:rPr lang="en-GB" sz="700" u="none" strike="noStrike">
                          <a:effectLst/>
                        </a:rPr>
                        <a:t>  "success": true,</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3535148649"/>
                  </a:ext>
                </a:extLst>
              </a:tr>
              <a:tr h="174060">
                <a:tc>
                  <a:txBody>
                    <a:bodyPr/>
                    <a:lstStyle/>
                    <a:p>
                      <a:pPr algn="l" fontAlgn="b"/>
                      <a:r>
                        <a:rPr lang="en-GB" sz="700" u="none" strike="noStrike">
                          <a:effectLst/>
                        </a:rPr>
                        <a:t>  "payload":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857089492"/>
                  </a:ext>
                </a:extLst>
              </a:tr>
              <a:tr h="174060">
                <a:tc>
                  <a:txBody>
                    <a:bodyPr/>
                    <a:lstStyle/>
                    <a:p>
                      <a:pPr algn="l" fontAlgn="b"/>
                      <a:r>
                        <a:rPr lang="en-GB" sz="700" u="none" strike="noStrike">
                          <a:effectLst/>
                        </a:rPr>
                        <a:t>    "</a:t>
                      </a:r>
                      <a:r>
                        <a:rPr lang="en-GB" sz="700" u="none" strike="noStrike" err="1">
                          <a:effectLst/>
                        </a:rPr>
                        <a:t>agentCode</a:t>
                      </a:r>
                      <a:r>
                        <a:rPr lang="en-GB" sz="700" u="none" strike="noStrike">
                          <a:effectLst/>
                        </a:rPr>
                        <a:t>": "9999",</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706543517"/>
                  </a:ext>
                </a:extLst>
              </a:tr>
              <a:tr h="174060">
                <a:tc>
                  <a:txBody>
                    <a:bodyPr/>
                    <a:lstStyle/>
                    <a:p>
                      <a:pPr algn="l" fontAlgn="b"/>
                      <a:r>
                        <a:rPr lang="en-GB" sz="700" u="none" strike="noStrike">
                          <a:effectLst/>
                        </a:rPr>
                        <a:t>    "</a:t>
                      </a:r>
                      <a:r>
                        <a:rPr lang="en-GB" sz="700" u="none" strike="noStrike" err="1">
                          <a:effectLst/>
                        </a:rPr>
                        <a:t>propertyTenancyId</a:t>
                      </a:r>
                      <a:r>
                        <a:rPr lang="en-GB" sz="700" u="none" strike="noStrike">
                          <a:effectLst/>
                        </a:rPr>
                        <a:t>": 85670,</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12278021"/>
                  </a:ext>
                </a:extLst>
              </a:tr>
              <a:tr h="174060">
                <a:tc>
                  <a:txBody>
                    <a:bodyPr/>
                    <a:lstStyle/>
                    <a:p>
                      <a:pPr algn="l" fontAlgn="b"/>
                      <a:r>
                        <a:rPr lang="en-GB" sz="700" u="none" strike="noStrike">
                          <a:effectLst/>
                        </a:rPr>
                        <a:t>    "</a:t>
                      </a:r>
                      <a:r>
                        <a:rPr lang="en-GB" sz="700" u="none" strike="noStrike" err="1">
                          <a:effectLst/>
                        </a:rPr>
                        <a:t>ReferencingApplicantList</a:t>
                      </a:r>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37582816"/>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3900002694"/>
                  </a:ext>
                </a:extLst>
              </a:tr>
              <a:tr h="174060">
                <a:tc>
                  <a:txBody>
                    <a:bodyPr/>
                    <a:lstStyle/>
                    <a:p>
                      <a:pPr algn="l" fontAlgn="b"/>
                      <a:r>
                        <a:rPr lang="en-GB" sz="700" u="none" strike="noStrike">
                          <a:effectLst/>
                        </a:rPr>
                        <a:t>        "applicantID": 678007,</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240618264"/>
                  </a:ext>
                </a:extLst>
              </a:tr>
              <a:tr h="174060">
                <a:tc>
                  <a:txBody>
                    <a:bodyPr/>
                    <a:lstStyle/>
                    <a:p>
                      <a:pPr algn="l" fontAlgn="b"/>
                      <a:r>
                        <a:rPr lang="en-GB" sz="700" u="none" strike="noStrike">
                          <a:effectLst/>
                        </a:rPr>
                        <a:t>        "applicantName": "Mr Berty Boo Basset"</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933189921"/>
                  </a:ext>
                </a:extLst>
              </a:tr>
              <a:tr h="180062">
                <a:tc>
                  <a:txBody>
                    <a:bodyPr/>
                    <a:lstStyle/>
                    <a:p>
                      <a:pPr algn="l" fontAlgn="b"/>
                      <a:r>
                        <a:rPr lang="en-GB" sz="700" u="none" strike="noStrike">
                          <a:effectLst/>
                        </a:rPr>
                        <a:t>        "applicantSecretKey: "0982109380193280918320918"</a:t>
                      </a:r>
                      <a:endParaRPr lang="en-GB" sz="700" b="1" i="0" u="none" strike="noStrike">
                        <a:solidFill>
                          <a:srgbClr val="FF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652864416"/>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806322730"/>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6632504"/>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993787114"/>
                  </a:ext>
                </a:extLst>
              </a:tr>
              <a:tr h="174060">
                <a:tc>
                  <a:txBody>
                    <a:bodyPr/>
                    <a:lstStyle/>
                    <a:p>
                      <a:pPr algn="l" fontAlgn="b"/>
                      <a:r>
                        <a:rPr lang="en-GB" sz="700" u="none" strike="noStrike">
                          <a:effectLst/>
                        </a:rPr>
                        <a:t>  "message": "Applicant link sent successfully."</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595842982"/>
                  </a:ext>
                </a:extLst>
              </a:tr>
              <a:tr h="174060">
                <a:tc>
                  <a:txBody>
                    <a:bodyPr/>
                    <a:lstStyle/>
                    <a:p>
                      <a:pPr algn="l" fontAlgn="b"/>
                      <a:r>
                        <a:rPr lang="en-GB" sz="700" u="none" strike="noStrike">
                          <a:effectLst/>
                        </a:rPr>
                        <a:t>}</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404404658"/>
                  </a:ext>
                </a:extLst>
              </a:tr>
            </a:tbl>
          </a:graphicData>
        </a:graphic>
      </p:graphicFrame>
    </p:spTree>
    <p:extLst>
      <p:ext uri="{BB962C8B-B14F-4D97-AF65-F5344CB8AC3E}">
        <p14:creationId xmlns:p14="http://schemas.microsoft.com/office/powerpoint/2010/main" val="1949160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6888480" cy="461665"/>
          </a:xfrm>
          <a:prstGeom prst="rect">
            <a:avLst/>
          </a:prstGeom>
          <a:noFill/>
        </p:spPr>
        <p:txBody>
          <a:bodyPr wrap="square" rtlCol="0">
            <a:spAutoFit/>
          </a:bodyPr>
          <a:lstStyle/>
          <a:p>
            <a:r>
              <a:rPr lang="en-GB" sz="2400" b="1"/>
              <a:t>4 Additional Applicants added</a:t>
            </a:r>
          </a:p>
        </p:txBody>
      </p:sp>
      <p:sp>
        <p:nvSpPr>
          <p:cNvPr id="6" name="Rectangle 5">
            <a:extLst>
              <a:ext uri="{FF2B5EF4-FFF2-40B4-BE49-F238E27FC236}">
                <a16:creationId xmlns:a16="http://schemas.microsoft.com/office/drawing/2014/main" id="{891E98C1-FEDD-DA87-1F1A-497C7B79F44E}"/>
              </a:ext>
            </a:extLst>
          </p:cNvPr>
          <p:cNvSpPr/>
          <p:nvPr/>
        </p:nvSpPr>
        <p:spPr>
          <a:xfrm>
            <a:off x="8117707" y="352287"/>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5932225" y="352286"/>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637800" y="379741"/>
            <a:ext cx="1540806" cy="215444"/>
          </a:xfrm>
          <a:prstGeom prst="rect">
            <a:avLst/>
          </a:prstGeom>
          <a:noFill/>
        </p:spPr>
        <p:txBody>
          <a:bodyPr wrap="none" rtlCol="0">
            <a:spAutoFit/>
          </a:bodyPr>
          <a:lstStyle/>
          <a:p>
            <a:r>
              <a:rPr lang="en-GB" sz="800" b="1"/>
              <a:t>1.a Additional Applicants added</a:t>
            </a:r>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a:off x="6698699" y="630439"/>
            <a:ext cx="1419008"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4" name="TextBox 13">
            <a:extLst>
              <a:ext uri="{FF2B5EF4-FFF2-40B4-BE49-F238E27FC236}">
                <a16:creationId xmlns:a16="http://schemas.microsoft.com/office/drawing/2014/main" id="{ABAA3F78-F077-B026-55C4-E6649D06EF6D}"/>
              </a:ext>
            </a:extLst>
          </p:cNvPr>
          <p:cNvSpPr txBox="1"/>
          <p:nvPr/>
        </p:nvSpPr>
        <p:spPr>
          <a:xfrm>
            <a:off x="121920" y="978832"/>
            <a:ext cx="5110480" cy="369332"/>
          </a:xfrm>
          <a:prstGeom prst="rect">
            <a:avLst/>
          </a:prstGeom>
          <a:noFill/>
        </p:spPr>
        <p:txBody>
          <a:bodyPr wrap="square">
            <a:spAutoFit/>
          </a:bodyPr>
          <a:lstStyle/>
          <a:p>
            <a:r>
              <a:rPr lang="en-GB"/>
              <a:t> </a:t>
            </a:r>
            <a:r>
              <a:rPr lang="en-GB" b="1"/>
              <a:t>Request: </a:t>
            </a:r>
            <a:r>
              <a:rPr lang="en-GB" err="1"/>
              <a:t>AddApplicantToTenancyWithIframe</a:t>
            </a:r>
            <a:endParaRPr lang="en-GB"/>
          </a:p>
        </p:txBody>
      </p:sp>
      <p:sp>
        <p:nvSpPr>
          <p:cNvPr id="22" name="TextBox 21">
            <a:extLst>
              <a:ext uri="{FF2B5EF4-FFF2-40B4-BE49-F238E27FC236}">
                <a16:creationId xmlns:a16="http://schemas.microsoft.com/office/drawing/2014/main" id="{DE8E22F2-8976-E428-EB50-62587630E78D}"/>
              </a:ext>
            </a:extLst>
          </p:cNvPr>
          <p:cNvSpPr txBox="1"/>
          <p:nvPr/>
        </p:nvSpPr>
        <p:spPr>
          <a:xfrm>
            <a:off x="5232400" y="1734135"/>
            <a:ext cx="1156547" cy="369332"/>
          </a:xfrm>
          <a:prstGeom prst="rect">
            <a:avLst/>
          </a:prstGeom>
          <a:noFill/>
        </p:spPr>
        <p:txBody>
          <a:bodyPr wrap="square">
            <a:spAutoFit/>
          </a:bodyPr>
          <a:lstStyle/>
          <a:p>
            <a:r>
              <a:rPr lang="en-GB" b="1"/>
              <a:t> Response</a:t>
            </a:r>
          </a:p>
        </p:txBody>
      </p:sp>
      <p:graphicFrame>
        <p:nvGraphicFramePr>
          <p:cNvPr id="2" name="Table 1">
            <a:extLst>
              <a:ext uri="{FF2B5EF4-FFF2-40B4-BE49-F238E27FC236}">
                <a16:creationId xmlns:a16="http://schemas.microsoft.com/office/drawing/2014/main" id="{5436AEDD-B3EC-66CE-4FCE-EBB965FA34A7}"/>
              </a:ext>
            </a:extLst>
          </p:cNvPr>
          <p:cNvGraphicFramePr>
            <a:graphicFrameLocks noGrp="1"/>
          </p:cNvGraphicFramePr>
          <p:nvPr>
            <p:extLst>
              <p:ext uri="{D42A27DB-BD31-4B8C-83A1-F6EECF244321}">
                <p14:modId xmlns:p14="http://schemas.microsoft.com/office/powerpoint/2010/main" val="2901398088"/>
              </p:ext>
            </p:extLst>
          </p:nvPr>
        </p:nvGraphicFramePr>
        <p:xfrm>
          <a:off x="622300" y="1562594"/>
          <a:ext cx="3949700" cy="3498850"/>
        </p:xfrm>
        <a:graphic>
          <a:graphicData uri="http://schemas.openxmlformats.org/drawingml/2006/table">
            <a:tbl>
              <a:tblPr>
                <a:tableStyleId>{5C22544A-7EE6-4342-B048-85BDC9FD1C3A}</a:tableStyleId>
              </a:tblPr>
              <a:tblGrid>
                <a:gridCol w="3949700">
                  <a:extLst>
                    <a:ext uri="{9D8B030D-6E8A-4147-A177-3AD203B41FA5}">
                      <a16:colId xmlns:a16="http://schemas.microsoft.com/office/drawing/2014/main" val="3683002648"/>
                    </a:ext>
                  </a:extLst>
                </a:gridCol>
              </a:tblGrid>
              <a:tr h="184150">
                <a:tc>
                  <a:txBody>
                    <a:bodyPr/>
                    <a:lstStyle/>
                    <a:p>
                      <a:pPr algn="l" fontAlgn="b"/>
                      <a:r>
                        <a:rPr lang="en-GB" sz="1100" u="none" strike="noStrike">
                          <a:effectLst/>
                        </a:rPr>
                        <a:t>{</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544559520"/>
                  </a:ext>
                </a:extLst>
              </a:tr>
              <a:tr h="184150">
                <a:tc>
                  <a:txBody>
                    <a:bodyPr/>
                    <a:lstStyle/>
                    <a:p>
                      <a:pPr algn="l" fontAlgn="b"/>
                      <a:r>
                        <a:rPr lang="en-GB" sz="1100" u="none" strike="noStrike">
                          <a:effectLst/>
                        </a:rPr>
                        <a:t>  "agentCode":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373837813"/>
                  </a:ext>
                </a:extLst>
              </a:tr>
              <a:tr h="184150">
                <a:tc>
                  <a:txBody>
                    <a:bodyPr/>
                    <a:lstStyle/>
                    <a:p>
                      <a:pPr algn="l" fontAlgn="b"/>
                      <a:r>
                        <a:rPr lang="en-GB" sz="1100" u="none" strike="noStrike">
                          <a:effectLst/>
                        </a:rPr>
                        <a:t>  "propertyTenancyId": 989898,</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090775249"/>
                  </a:ext>
                </a:extLst>
              </a:tr>
              <a:tr h="184150">
                <a:tc>
                  <a:txBody>
                    <a:bodyPr/>
                    <a:lstStyle/>
                    <a:p>
                      <a:pPr algn="l" fontAlgn="b"/>
                      <a:r>
                        <a:rPr lang="en-GB" sz="1100" u="none" strike="noStrike">
                          <a:effectLst/>
                        </a:rPr>
                        <a:t>  "isSentTenantLink": true,</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9165463"/>
                  </a:ext>
                </a:extLst>
              </a:tr>
              <a:tr h="184150">
                <a:tc>
                  <a:txBody>
                    <a:bodyPr/>
                    <a:lstStyle/>
                    <a:p>
                      <a:pPr algn="l" fontAlgn="b"/>
                      <a:r>
                        <a:rPr lang="en-GB" sz="1100" u="none" strike="noStrike">
                          <a:effectLst/>
                        </a:rPr>
                        <a:t>  "</a:t>
                      </a:r>
                      <a:r>
                        <a:rPr lang="en-GB" sz="1100" u="none" strike="noStrike" err="1">
                          <a:effectLst/>
                        </a:rPr>
                        <a:t>linkedApplicantID</a:t>
                      </a:r>
                      <a:r>
                        <a:rPr lang="en-GB" sz="1100" u="none" strike="noStrike">
                          <a:effectLst/>
                        </a:rPr>
                        <a:t>": [9999],</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363448068"/>
                  </a:ext>
                </a:extLst>
              </a:tr>
              <a:tr h="184150">
                <a:tc>
                  <a:txBody>
                    <a:bodyPr/>
                    <a:lstStyle/>
                    <a:p>
                      <a:pPr algn="l" fontAlgn="b"/>
                      <a:r>
                        <a:rPr lang="en-GB" sz="1100" u="none" strike="noStrike">
                          <a:effectLst/>
                        </a:rPr>
                        <a:t>      "tenantTypeId":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991959792"/>
                  </a:ext>
                </a:extLst>
              </a:tr>
              <a:tr h="184150">
                <a:tc>
                  <a:txBody>
                    <a:bodyPr/>
                    <a:lstStyle/>
                    <a:p>
                      <a:pPr algn="l" fontAlgn="b"/>
                      <a:r>
                        <a:rPr lang="en-GB" sz="1100" u="none" strike="noStrike">
                          <a:effectLst/>
                        </a:rPr>
                        <a:t>      "</a:t>
                      </a:r>
                      <a:r>
                        <a:rPr lang="en-GB" sz="1100" u="none" strike="noStrike" err="1">
                          <a:effectLst/>
                        </a:rPr>
                        <a:t>referenceType</a:t>
                      </a:r>
                      <a:r>
                        <a:rPr lang="en-GB" sz="1100" u="none" strike="noStrike">
                          <a:effectLst/>
                        </a:rPr>
                        <a:t>":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577889019"/>
                  </a:ext>
                </a:extLst>
              </a:tr>
              <a:tr h="184150">
                <a:tc>
                  <a:txBody>
                    <a:bodyPr/>
                    <a:lstStyle/>
                    <a:p>
                      <a:pPr algn="l" fontAlgn="b"/>
                      <a:r>
                        <a:rPr lang="en-GB" sz="1100" u="none" strike="noStrike">
                          <a:effectLst/>
                        </a:rPr>
                        <a:t>      "rightToRent": true,</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789300478"/>
                  </a:ext>
                </a:extLst>
              </a:tr>
              <a:tr h="184150">
                <a:tc>
                  <a:txBody>
                    <a:bodyPr/>
                    <a:lstStyle/>
                    <a:p>
                      <a:pPr algn="l" fontAlgn="b"/>
                      <a:r>
                        <a:rPr lang="en-GB" sz="1100" u="none" strike="noStrike">
                          <a:effectLst/>
                        </a:rPr>
                        <a:t>      "title":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568909646"/>
                  </a:ext>
                </a:extLst>
              </a:tr>
              <a:tr h="184150">
                <a:tc>
                  <a:txBody>
                    <a:bodyPr/>
                    <a:lstStyle/>
                    <a:p>
                      <a:pPr algn="l" fontAlgn="b"/>
                      <a:r>
                        <a:rPr lang="en-GB" sz="1100" u="none" strike="noStrike">
                          <a:effectLst/>
                        </a:rPr>
                        <a:t>      "otherTitle":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411511179"/>
                  </a:ext>
                </a:extLst>
              </a:tr>
              <a:tr h="184150">
                <a:tc>
                  <a:txBody>
                    <a:bodyPr/>
                    <a:lstStyle/>
                    <a:p>
                      <a:pPr algn="l" fontAlgn="b"/>
                      <a:r>
                        <a:rPr lang="en-GB" sz="1100" u="none" strike="noStrike">
                          <a:effectLst/>
                        </a:rPr>
                        <a:t>      "firstName":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504932301"/>
                  </a:ext>
                </a:extLst>
              </a:tr>
              <a:tr h="184150">
                <a:tc>
                  <a:txBody>
                    <a:bodyPr/>
                    <a:lstStyle/>
                    <a:p>
                      <a:pPr algn="l" fontAlgn="b"/>
                      <a:r>
                        <a:rPr lang="en-GB" sz="1100" u="none" strike="noStrike">
                          <a:effectLst/>
                        </a:rPr>
                        <a:t>      "middleName":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290255169"/>
                  </a:ext>
                </a:extLst>
              </a:tr>
              <a:tr h="184150">
                <a:tc>
                  <a:txBody>
                    <a:bodyPr/>
                    <a:lstStyle/>
                    <a:p>
                      <a:pPr algn="l" fontAlgn="b"/>
                      <a:r>
                        <a:rPr lang="en-GB" sz="1100" u="none" strike="noStrike">
                          <a:effectLst/>
                        </a:rPr>
                        <a:t>      "surname":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836008747"/>
                  </a:ext>
                </a:extLst>
              </a:tr>
              <a:tr h="184150">
                <a:tc>
                  <a:txBody>
                    <a:bodyPr/>
                    <a:lstStyle/>
                    <a:p>
                      <a:pPr algn="l" fontAlgn="b"/>
                      <a:r>
                        <a:rPr lang="en-GB" sz="1100" u="none" strike="noStrike">
                          <a:effectLst/>
                        </a:rPr>
                        <a:t>      "</a:t>
                      </a:r>
                      <a:r>
                        <a:rPr lang="en-GB" sz="1100" u="none" strike="noStrike" err="1">
                          <a:effectLst/>
                        </a:rPr>
                        <a:t>shareOfRent</a:t>
                      </a:r>
                      <a:r>
                        <a:rPr lang="en-GB" sz="1100" u="none" strike="noStrike">
                          <a:effectLst/>
                        </a:rPr>
                        <a:t>": 0,</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4118066154"/>
                  </a:ext>
                </a:extLst>
              </a:tr>
              <a:tr h="184150">
                <a:tc>
                  <a:txBody>
                    <a:bodyPr/>
                    <a:lstStyle/>
                    <a:p>
                      <a:pPr algn="l" fontAlgn="b"/>
                      <a:r>
                        <a:rPr lang="en-GB" sz="1100" u="none" strike="noStrike">
                          <a:effectLst/>
                        </a:rPr>
                        <a:t>      "telephoneCountryID":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4119586467"/>
                  </a:ext>
                </a:extLst>
              </a:tr>
              <a:tr h="184150">
                <a:tc>
                  <a:txBody>
                    <a:bodyPr/>
                    <a:lstStyle/>
                    <a:p>
                      <a:pPr algn="l" fontAlgn="b"/>
                      <a:r>
                        <a:rPr lang="en-GB" sz="1100" u="none" strike="noStrike">
                          <a:effectLst/>
                        </a:rPr>
                        <a:t>      "contactTelephoneNo":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014723389"/>
                  </a:ext>
                </a:extLst>
              </a:tr>
              <a:tr h="184150">
                <a:tc>
                  <a:txBody>
                    <a:bodyPr/>
                    <a:lstStyle/>
                    <a:p>
                      <a:pPr algn="l" fontAlgn="b"/>
                      <a:r>
                        <a:rPr lang="en-GB" sz="1100" u="none" strike="noStrike">
                          <a:effectLst/>
                        </a:rPr>
                        <a:t>      "emailAddress": "string"    </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59083488"/>
                  </a:ext>
                </a:extLst>
              </a:tr>
              <a:tr h="184150">
                <a:tc>
                  <a:txBody>
                    <a:bodyPr/>
                    <a:lstStyle/>
                    <a:p>
                      <a:pPr algn="l" fontAlgn="b"/>
                      <a:r>
                        <a:rPr lang="en-GB" sz="1100" u="none" strike="noStrike">
                          <a:effectLst/>
                        </a:rPr>
                        <a:t>     }</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203990641"/>
                  </a:ext>
                </a:extLst>
              </a:tr>
              <a:tr h="184150">
                <a:tc>
                  <a:txBody>
                    <a:bodyPr/>
                    <a:lstStyle/>
                    <a:p>
                      <a:pPr algn="l" fontAlgn="b"/>
                      <a:r>
                        <a:rPr lang="en-GB" sz="1100" u="none" strike="noStrike">
                          <a:effectLst/>
                        </a:rPr>
                        <a:t>}</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787319375"/>
                  </a:ext>
                </a:extLst>
              </a:tr>
            </a:tbl>
          </a:graphicData>
        </a:graphic>
      </p:graphicFrame>
      <p:graphicFrame>
        <p:nvGraphicFramePr>
          <p:cNvPr id="9" name="Table 8">
            <a:extLst>
              <a:ext uri="{FF2B5EF4-FFF2-40B4-BE49-F238E27FC236}">
                <a16:creationId xmlns:a16="http://schemas.microsoft.com/office/drawing/2014/main" id="{D817624A-6FBB-6715-205E-7028C96DE747}"/>
              </a:ext>
            </a:extLst>
          </p:cNvPr>
          <p:cNvGraphicFramePr>
            <a:graphicFrameLocks noGrp="1"/>
          </p:cNvGraphicFramePr>
          <p:nvPr>
            <p:extLst>
              <p:ext uri="{D42A27DB-BD31-4B8C-83A1-F6EECF244321}">
                <p14:modId xmlns:p14="http://schemas.microsoft.com/office/powerpoint/2010/main" val="521989089"/>
              </p:ext>
            </p:extLst>
          </p:nvPr>
        </p:nvGraphicFramePr>
        <p:xfrm>
          <a:off x="4877355" y="2111811"/>
          <a:ext cx="3396446" cy="2762250"/>
        </p:xfrm>
        <a:graphic>
          <a:graphicData uri="http://schemas.openxmlformats.org/drawingml/2006/table">
            <a:tbl>
              <a:tblPr>
                <a:tableStyleId>{5C22544A-7EE6-4342-B048-85BDC9FD1C3A}</a:tableStyleId>
              </a:tblPr>
              <a:tblGrid>
                <a:gridCol w="3396446">
                  <a:extLst>
                    <a:ext uri="{9D8B030D-6E8A-4147-A177-3AD203B41FA5}">
                      <a16:colId xmlns:a16="http://schemas.microsoft.com/office/drawing/2014/main" val="1169511394"/>
                    </a:ext>
                  </a:extLst>
                </a:gridCol>
              </a:tblGrid>
              <a:tr h="184150">
                <a:tc>
                  <a:txBody>
                    <a:bodyPr/>
                    <a:lstStyle/>
                    <a:p>
                      <a:pPr algn="l" fontAlgn="b"/>
                      <a:r>
                        <a:rPr lang="en-GB" sz="1000" u="none" strike="noStrike">
                          <a:effectLst/>
                        </a:rPr>
                        <a:t>{</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169939078"/>
                  </a:ext>
                </a:extLst>
              </a:tr>
              <a:tr h="184150">
                <a:tc>
                  <a:txBody>
                    <a:bodyPr/>
                    <a:lstStyle/>
                    <a:p>
                      <a:pPr algn="l" fontAlgn="b"/>
                      <a:r>
                        <a:rPr lang="en-GB" sz="1000" u="none" strike="noStrike">
                          <a:effectLst/>
                        </a:rPr>
                        <a:t>  "success": true,</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956194419"/>
                  </a:ext>
                </a:extLst>
              </a:tr>
              <a:tr h="184150">
                <a:tc>
                  <a:txBody>
                    <a:bodyPr/>
                    <a:lstStyle/>
                    <a:p>
                      <a:pPr algn="l" fontAlgn="b"/>
                      <a:r>
                        <a:rPr lang="en-GB" sz="1000" u="none" strike="noStrike">
                          <a:effectLst/>
                        </a:rPr>
                        <a:t>  "payload":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543920537"/>
                  </a:ext>
                </a:extLst>
              </a:tr>
              <a:tr h="184150">
                <a:tc>
                  <a:txBody>
                    <a:bodyPr/>
                    <a:lstStyle/>
                    <a:p>
                      <a:pPr algn="l" fontAlgn="b"/>
                      <a:r>
                        <a:rPr lang="en-GB" sz="1000" u="none" strike="noStrike">
                          <a:effectLst/>
                        </a:rPr>
                        <a:t>    "agentCode": "99999",</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55229881"/>
                  </a:ext>
                </a:extLst>
              </a:tr>
              <a:tr h="184150">
                <a:tc>
                  <a:txBody>
                    <a:bodyPr/>
                    <a:lstStyle/>
                    <a:p>
                      <a:pPr algn="l" fontAlgn="b"/>
                      <a:r>
                        <a:rPr lang="en-GB" sz="1000" u="none" strike="noStrike">
                          <a:effectLst/>
                        </a:rPr>
                        <a:t>    "propertyTenancyId": 87812,</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37506241"/>
                  </a:ext>
                </a:extLst>
              </a:tr>
              <a:tr h="184150">
                <a:tc>
                  <a:txBody>
                    <a:bodyPr/>
                    <a:lstStyle/>
                    <a:p>
                      <a:pPr algn="l" fontAlgn="b"/>
                      <a:r>
                        <a:rPr lang="en-GB" sz="1000" u="none" strike="noStrike">
                          <a:effectLst/>
                        </a:rPr>
                        <a:t>    "ReferencingApplicantList":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973032372"/>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831234743"/>
                  </a:ext>
                </a:extLst>
              </a:tr>
              <a:tr h="184150">
                <a:tc>
                  <a:txBody>
                    <a:bodyPr/>
                    <a:lstStyle/>
                    <a:p>
                      <a:pPr algn="l" fontAlgn="b"/>
                      <a:r>
                        <a:rPr lang="en-GB" sz="1000" u="none" strike="noStrike">
                          <a:effectLst/>
                        </a:rPr>
                        <a:t>        "applicantID": 679755,</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932764397"/>
                  </a:ext>
                </a:extLst>
              </a:tr>
              <a:tr h="184150">
                <a:tc>
                  <a:txBody>
                    <a:bodyPr/>
                    <a:lstStyle/>
                    <a:p>
                      <a:pPr algn="l" fontAlgn="b"/>
                      <a:r>
                        <a:rPr lang="en-GB" sz="1000" u="none" strike="noStrike">
                          <a:effectLst/>
                        </a:rPr>
                        <a:t>        "applicantName": "Mr Billy Bob"</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713469859"/>
                  </a:ext>
                </a:extLst>
              </a:tr>
              <a:tr h="184150">
                <a:tc>
                  <a:txBody>
                    <a:bodyPr/>
                    <a:lstStyle/>
                    <a:p>
                      <a:pPr algn="l" fontAlgn="b"/>
                      <a:r>
                        <a:rPr lang="en-GB" sz="1000" u="none" strike="noStrike">
                          <a:effectLst/>
                        </a:rPr>
                        <a:t>        "</a:t>
                      </a:r>
                      <a:r>
                        <a:rPr lang="en-GB" sz="1000" u="none" strike="noStrike" err="1">
                          <a:effectLst/>
                        </a:rPr>
                        <a:t>applicantSecretKey</a:t>
                      </a:r>
                      <a:r>
                        <a:rPr lang="en-GB" sz="1000" u="none" strike="noStrike">
                          <a:effectLst/>
                        </a:rPr>
                        <a:t>: "0982109380193280918320918"</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413593054"/>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935289914"/>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328700952"/>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51064618"/>
                  </a:ext>
                </a:extLst>
              </a:tr>
              <a:tr h="184150">
                <a:tc>
                  <a:txBody>
                    <a:bodyPr/>
                    <a:lstStyle/>
                    <a:p>
                      <a:pPr algn="l" fontAlgn="b"/>
                      <a:r>
                        <a:rPr lang="en-GB" sz="1000" u="none" strike="noStrike">
                          <a:effectLst/>
                        </a:rPr>
                        <a:t>  "message": "Applicant link sent successfully."</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8661294"/>
                  </a:ext>
                </a:extLst>
              </a:tr>
              <a:tr h="184150">
                <a:tc>
                  <a:txBody>
                    <a:bodyPr/>
                    <a:lstStyle/>
                    <a:p>
                      <a:pPr algn="l" fontAlgn="b"/>
                      <a:r>
                        <a:rPr lang="en-GB" sz="1000" u="none" strike="noStrike">
                          <a:effectLst/>
                        </a:rPr>
                        <a:t>}</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100067920"/>
                  </a:ext>
                </a:extLst>
              </a:tr>
            </a:tbl>
          </a:graphicData>
        </a:graphic>
      </p:graphicFrame>
    </p:spTree>
    <p:extLst>
      <p:ext uri="{BB962C8B-B14F-4D97-AF65-F5344CB8AC3E}">
        <p14:creationId xmlns:p14="http://schemas.microsoft.com/office/powerpoint/2010/main" val="299705630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1303"/>
            <a:ext cx="6888480" cy="461665"/>
          </a:xfrm>
          <a:prstGeom prst="rect">
            <a:avLst/>
          </a:prstGeom>
          <a:noFill/>
        </p:spPr>
        <p:txBody>
          <a:bodyPr wrap="square" rtlCol="0">
            <a:spAutoFit/>
          </a:bodyPr>
          <a:lstStyle/>
          <a:p>
            <a:r>
              <a:rPr lang="en-GB" sz="2400" b="1"/>
              <a:t>8-10. Applicant(s) access portal via </a:t>
            </a:r>
            <a:r>
              <a:rPr lang="en-GB" sz="2400" b="1" err="1"/>
              <a:t>iframe</a:t>
            </a:r>
            <a:endParaRPr lang="en-GB" sz="2400" b="1"/>
          </a:p>
        </p:txBody>
      </p:sp>
      <p:sp>
        <p:nvSpPr>
          <p:cNvPr id="6" name="Rectangle 5">
            <a:extLst>
              <a:ext uri="{FF2B5EF4-FFF2-40B4-BE49-F238E27FC236}">
                <a16:creationId xmlns:a16="http://schemas.microsoft.com/office/drawing/2014/main" id="{891E98C1-FEDD-DA87-1F1A-497C7B79F44E}"/>
              </a:ext>
            </a:extLst>
          </p:cNvPr>
          <p:cNvSpPr/>
          <p:nvPr/>
        </p:nvSpPr>
        <p:spPr>
          <a:xfrm>
            <a:off x="8117707" y="352287"/>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t>Vision+ Portal</a:t>
            </a:r>
          </a:p>
        </p:txBody>
      </p:sp>
      <p:sp>
        <p:nvSpPr>
          <p:cNvPr id="7" name="Rectangle 6">
            <a:extLst>
              <a:ext uri="{FF2B5EF4-FFF2-40B4-BE49-F238E27FC236}">
                <a16:creationId xmlns:a16="http://schemas.microsoft.com/office/drawing/2014/main" id="{A6BE94CC-7C1A-58AE-4B18-13975E4EDF75}"/>
              </a:ext>
            </a:extLst>
          </p:cNvPr>
          <p:cNvSpPr/>
          <p:nvPr/>
        </p:nvSpPr>
        <p:spPr>
          <a:xfrm>
            <a:off x="5932225" y="352286"/>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840904" y="305634"/>
            <a:ext cx="1236200" cy="338554"/>
          </a:xfrm>
          <a:prstGeom prst="rect">
            <a:avLst/>
          </a:prstGeom>
          <a:noFill/>
        </p:spPr>
        <p:txBody>
          <a:bodyPr wrap="square" rtlCol="0">
            <a:spAutoFit/>
          </a:bodyPr>
          <a:lstStyle/>
          <a:p>
            <a:r>
              <a:rPr lang="en-GB" sz="800" b="1"/>
              <a:t>2. Applicant(s) access portal via </a:t>
            </a:r>
            <a:r>
              <a:rPr lang="en-GB" sz="800" b="1" err="1"/>
              <a:t>iframe</a:t>
            </a:r>
            <a:endParaRPr lang="en-GB" sz="800" b="1"/>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a:off x="6698699" y="630439"/>
            <a:ext cx="1419008"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 name="Rectangle 2">
            <a:extLst>
              <a:ext uri="{FF2B5EF4-FFF2-40B4-BE49-F238E27FC236}">
                <a16:creationId xmlns:a16="http://schemas.microsoft.com/office/drawing/2014/main" id="{6285BAF2-87D9-479C-8140-C37E40853E95}"/>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2CE86A43-BA2C-927B-EF10-3764FD549CC5}"/>
              </a:ext>
            </a:extLst>
          </p:cNvPr>
          <p:cNvSpPr txBox="1"/>
          <p:nvPr/>
        </p:nvSpPr>
        <p:spPr>
          <a:xfrm>
            <a:off x="792480" y="990720"/>
            <a:ext cx="6888480" cy="1107996"/>
          </a:xfrm>
          <a:prstGeom prst="rect">
            <a:avLst/>
          </a:prstGeom>
          <a:noFill/>
        </p:spPr>
        <p:txBody>
          <a:bodyPr wrap="square" rtlCol="0">
            <a:spAutoFit/>
          </a:bodyPr>
          <a:lstStyle/>
          <a:p>
            <a:r>
              <a:rPr lang="en-GB" sz="1100"/>
              <a:t>Vision+ API called from Grainger Salesforce to create tenancy with input from applicant</a:t>
            </a:r>
          </a:p>
          <a:p>
            <a:endParaRPr lang="en-GB" sz="1100"/>
          </a:p>
          <a:p>
            <a:r>
              <a:rPr lang="en-GB" sz="1100"/>
              <a:t>Or </a:t>
            </a:r>
          </a:p>
          <a:p>
            <a:endParaRPr lang="en-GB" sz="1100"/>
          </a:p>
          <a:p>
            <a:r>
              <a:rPr lang="en-GB" sz="1100"/>
              <a:t>Vision+ API called from Grainger Salesforce to add applicant to tenancy with input from applicant</a:t>
            </a:r>
          </a:p>
          <a:p>
            <a:pPr lvl="1"/>
            <a:endParaRPr lang="en-GB" sz="1100"/>
          </a:p>
        </p:txBody>
      </p:sp>
      <p:sp>
        <p:nvSpPr>
          <p:cNvPr id="9" name="TextBox 8">
            <a:extLst>
              <a:ext uri="{FF2B5EF4-FFF2-40B4-BE49-F238E27FC236}">
                <a16:creationId xmlns:a16="http://schemas.microsoft.com/office/drawing/2014/main" id="{5D54F846-FF00-7C44-C728-ADF2CD0C4389}"/>
              </a:ext>
            </a:extLst>
          </p:cNvPr>
          <p:cNvSpPr txBox="1"/>
          <p:nvPr/>
        </p:nvSpPr>
        <p:spPr>
          <a:xfrm>
            <a:off x="792480" y="2343016"/>
            <a:ext cx="6583680" cy="592470"/>
          </a:xfrm>
          <a:prstGeom prst="rect">
            <a:avLst/>
          </a:prstGeom>
          <a:noFill/>
        </p:spPr>
        <p:txBody>
          <a:bodyPr wrap="square" rtlCol="0">
            <a:spAutoFit/>
          </a:bodyPr>
          <a:lstStyle/>
          <a:p>
            <a:r>
              <a:rPr lang="en-GB" sz="1100"/>
              <a:t>Vision+ API responds with </a:t>
            </a:r>
            <a:r>
              <a:rPr lang="en-GB" sz="1100" b="1">
                <a:solidFill>
                  <a:schemeClr val="tx2">
                    <a:lumMod val="75000"/>
                  </a:schemeClr>
                </a:solidFill>
              </a:rPr>
              <a:t>Applicant Secret Key</a:t>
            </a:r>
            <a:r>
              <a:rPr lang="en-GB" sz="1100"/>
              <a:t>, </a:t>
            </a:r>
            <a:r>
              <a:rPr lang="en-GB" sz="1100" b="1" err="1">
                <a:solidFill>
                  <a:schemeClr val="tx2"/>
                </a:solidFill>
              </a:rPr>
              <a:t>PropertyTenancyId</a:t>
            </a:r>
            <a:r>
              <a:rPr lang="en-GB" sz="1100"/>
              <a:t> &amp; </a:t>
            </a:r>
            <a:r>
              <a:rPr lang="en-GB" sz="1100" b="1" err="1">
                <a:solidFill>
                  <a:schemeClr val="tx2"/>
                </a:solidFill>
              </a:rPr>
              <a:t>ApplicantID</a:t>
            </a:r>
            <a:r>
              <a:rPr lang="en-GB" sz="1100" b="1">
                <a:solidFill>
                  <a:schemeClr val="tx2"/>
                </a:solidFill>
              </a:rPr>
              <a:t>, </a:t>
            </a:r>
            <a:r>
              <a:rPr lang="en-GB" sz="1100"/>
              <a:t>stored in salesforce.</a:t>
            </a:r>
            <a:r>
              <a:rPr lang="en-GB" sz="1100" b="1">
                <a:solidFill>
                  <a:schemeClr val="tx2"/>
                </a:solidFill>
              </a:rPr>
              <a:t> </a:t>
            </a:r>
            <a:r>
              <a:rPr lang="en-GB" sz="1100"/>
              <a:t>Agent setting in Vision+ supresses email send</a:t>
            </a:r>
          </a:p>
          <a:p>
            <a:pPr lvl="1"/>
            <a:endParaRPr lang="en-GB" sz="1050"/>
          </a:p>
        </p:txBody>
      </p:sp>
      <p:sp>
        <p:nvSpPr>
          <p:cNvPr id="11" name="TextBox 10">
            <a:extLst>
              <a:ext uri="{FF2B5EF4-FFF2-40B4-BE49-F238E27FC236}">
                <a16:creationId xmlns:a16="http://schemas.microsoft.com/office/drawing/2014/main" id="{9A32F80F-EFCB-84D0-953A-954AE495DD24}"/>
              </a:ext>
            </a:extLst>
          </p:cNvPr>
          <p:cNvSpPr txBox="1"/>
          <p:nvPr/>
        </p:nvSpPr>
        <p:spPr>
          <a:xfrm>
            <a:off x="792480" y="3021318"/>
            <a:ext cx="6690985" cy="600164"/>
          </a:xfrm>
          <a:prstGeom prst="rect">
            <a:avLst/>
          </a:prstGeom>
          <a:noFill/>
        </p:spPr>
        <p:txBody>
          <a:bodyPr wrap="square" rtlCol="0">
            <a:spAutoFit/>
          </a:bodyPr>
          <a:lstStyle/>
          <a:p>
            <a:r>
              <a:rPr lang="en-GB" sz="1100"/>
              <a:t>Grainger Portal (Codification) will call Vision+ auth server to generate token with client id and application secret key.  </a:t>
            </a:r>
            <a:r>
              <a:rPr lang="en-IN" sz="1100"/>
              <a:t>(</a:t>
            </a:r>
            <a:r>
              <a:rPr lang="en-GB" sz="1100">
                <a:hlinkClick r:id="rId3">
                  <a:extLst>
                    <a:ext uri="{A12FA001-AC4F-418D-AE19-62706E023703}">
                      <ahyp:hlinkClr xmlns:ahyp="http://schemas.microsoft.com/office/drawing/2018/hyperlinkcolor" val="tx"/>
                    </a:ext>
                  </a:extLst>
                </a:hlinkClick>
              </a:rPr>
              <a:t>https://preprod-auth-service.letalliance.dev</a:t>
            </a:r>
            <a:r>
              <a:rPr lang="en-IN" sz="1100"/>
              <a:t>)</a:t>
            </a:r>
            <a:endParaRPr lang="en-GB" sz="1100"/>
          </a:p>
          <a:p>
            <a:endParaRPr lang="en-GB" sz="1100" b="1"/>
          </a:p>
        </p:txBody>
      </p:sp>
      <p:sp>
        <p:nvSpPr>
          <p:cNvPr id="16" name="TextBox 15">
            <a:extLst>
              <a:ext uri="{FF2B5EF4-FFF2-40B4-BE49-F238E27FC236}">
                <a16:creationId xmlns:a16="http://schemas.microsoft.com/office/drawing/2014/main" id="{8043603B-7ECD-746D-5CF9-EBE5B9767298}"/>
              </a:ext>
            </a:extLst>
          </p:cNvPr>
          <p:cNvSpPr txBox="1"/>
          <p:nvPr/>
        </p:nvSpPr>
        <p:spPr>
          <a:xfrm>
            <a:off x="792479" y="4485713"/>
            <a:ext cx="6971453" cy="423193"/>
          </a:xfrm>
          <a:prstGeom prst="rect">
            <a:avLst/>
          </a:prstGeom>
          <a:noFill/>
        </p:spPr>
        <p:txBody>
          <a:bodyPr wrap="square" rtlCol="0">
            <a:spAutoFit/>
          </a:bodyPr>
          <a:lstStyle/>
          <a:p>
            <a:r>
              <a:rPr lang="en-GB" sz="1100"/>
              <a:t>Vision+ will use the token and extract user data with client id as Grainger.</a:t>
            </a:r>
          </a:p>
          <a:p>
            <a:pPr lvl="1"/>
            <a:endParaRPr lang="en-GB" sz="1050"/>
          </a:p>
        </p:txBody>
      </p:sp>
      <p:sp>
        <p:nvSpPr>
          <p:cNvPr id="17" name="TextBox 16">
            <a:extLst>
              <a:ext uri="{FF2B5EF4-FFF2-40B4-BE49-F238E27FC236}">
                <a16:creationId xmlns:a16="http://schemas.microsoft.com/office/drawing/2014/main" id="{340C628A-2E1D-4362-4CED-3B071693297C}"/>
              </a:ext>
            </a:extLst>
          </p:cNvPr>
          <p:cNvSpPr txBox="1"/>
          <p:nvPr/>
        </p:nvSpPr>
        <p:spPr>
          <a:xfrm>
            <a:off x="304817" y="376112"/>
            <a:ext cx="416560" cy="4801314"/>
          </a:xfrm>
          <a:prstGeom prst="rect">
            <a:avLst/>
          </a:prstGeom>
          <a:noFill/>
        </p:spPr>
        <p:txBody>
          <a:bodyPr wrap="square" rtlCol="0">
            <a:spAutoFit/>
          </a:bodyPr>
          <a:lstStyle/>
          <a:p>
            <a:endParaRPr lang="en-GB"/>
          </a:p>
          <a:p>
            <a:endParaRPr lang="en-GB"/>
          </a:p>
          <a:p>
            <a:r>
              <a:rPr lang="en-GB"/>
              <a:t>1</a:t>
            </a:r>
          </a:p>
          <a:p>
            <a:endParaRPr lang="en-GB"/>
          </a:p>
          <a:p>
            <a:endParaRPr lang="en-GB"/>
          </a:p>
          <a:p>
            <a:endParaRPr lang="en-GB"/>
          </a:p>
          <a:p>
            <a:endParaRPr lang="en-GB"/>
          </a:p>
          <a:p>
            <a:r>
              <a:rPr lang="en-GB"/>
              <a:t>2</a:t>
            </a:r>
          </a:p>
          <a:p>
            <a:endParaRPr lang="en-GB"/>
          </a:p>
          <a:p>
            <a:endParaRPr lang="en-GB"/>
          </a:p>
          <a:p>
            <a:r>
              <a:rPr lang="en-GB"/>
              <a:t>3</a:t>
            </a:r>
          </a:p>
          <a:p>
            <a:endParaRPr lang="en-GB"/>
          </a:p>
          <a:p>
            <a:r>
              <a:rPr lang="en-GB"/>
              <a:t>4</a:t>
            </a:r>
          </a:p>
          <a:p>
            <a:endParaRPr lang="en-GB"/>
          </a:p>
          <a:p>
            <a:endParaRPr lang="en-GB"/>
          </a:p>
          <a:p>
            <a:r>
              <a:rPr lang="en-GB"/>
              <a:t>5</a:t>
            </a:r>
          </a:p>
          <a:p>
            <a:endParaRPr lang="en-GB"/>
          </a:p>
        </p:txBody>
      </p:sp>
      <p:sp>
        <p:nvSpPr>
          <p:cNvPr id="2" name="TextBox 1">
            <a:extLst>
              <a:ext uri="{FF2B5EF4-FFF2-40B4-BE49-F238E27FC236}">
                <a16:creationId xmlns:a16="http://schemas.microsoft.com/office/drawing/2014/main" id="{854C19C3-02FC-7F80-CA70-DDC3FFCC2BE4}"/>
              </a:ext>
            </a:extLst>
          </p:cNvPr>
          <p:cNvSpPr txBox="1"/>
          <p:nvPr/>
        </p:nvSpPr>
        <p:spPr>
          <a:xfrm>
            <a:off x="717218" y="3685600"/>
            <a:ext cx="6690985" cy="600164"/>
          </a:xfrm>
          <a:prstGeom prst="rect">
            <a:avLst/>
          </a:prstGeom>
          <a:noFill/>
        </p:spPr>
        <p:txBody>
          <a:bodyPr wrap="square" rtlCol="0">
            <a:spAutoFit/>
          </a:bodyPr>
          <a:lstStyle/>
          <a:p>
            <a:r>
              <a:rPr lang="en-GB" sz="1100"/>
              <a:t>Grainger Portal (Codification) will </a:t>
            </a:r>
            <a:r>
              <a:rPr lang="en-IN" sz="1100"/>
              <a:t>load tenant portal in </a:t>
            </a:r>
            <a:r>
              <a:rPr lang="en-IN" sz="1100" err="1"/>
              <a:t>iframe</a:t>
            </a:r>
            <a:r>
              <a:rPr lang="en-IN" sz="1100"/>
              <a:t> using token return by auth server.</a:t>
            </a:r>
          </a:p>
          <a:p>
            <a:r>
              <a:rPr lang="en-IN" sz="1100"/>
              <a:t>(</a:t>
            </a:r>
            <a:r>
              <a:rPr lang="en-IN" sz="1100">
                <a:hlinkClick r:id="rId4" tooltip="https://preprod-tenant.letalliance.dev/externalreference">
                  <a:extLst>
                    <a:ext uri="{A12FA001-AC4F-418D-AE19-62706E023703}">
                      <ahyp:hlinkClr xmlns:ahyp="http://schemas.microsoft.com/office/drawing/2018/hyperlinkcolor" val="tx"/>
                    </a:ext>
                  </a:extLst>
                </a:hlinkClick>
              </a:rPr>
              <a:t>https://preprod-tenant.letalliance.dev/externalreference</a:t>
            </a:r>
            <a:r>
              <a:rPr lang="en-IN" sz="1100"/>
              <a:t>)</a:t>
            </a:r>
            <a:endParaRPr lang="en-GB" sz="1100"/>
          </a:p>
          <a:p>
            <a:endParaRPr lang="en-GB" sz="1100" b="1"/>
          </a:p>
        </p:txBody>
      </p:sp>
    </p:spTree>
    <p:extLst>
      <p:ext uri="{BB962C8B-B14F-4D97-AF65-F5344CB8AC3E}">
        <p14:creationId xmlns:p14="http://schemas.microsoft.com/office/powerpoint/2010/main" val="2602288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4179147" cy="1200329"/>
          </a:xfrm>
          <a:prstGeom prst="rect">
            <a:avLst/>
          </a:prstGeom>
          <a:noFill/>
        </p:spPr>
        <p:txBody>
          <a:bodyPr wrap="square" rtlCol="0">
            <a:spAutoFit/>
          </a:bodyPr>
          <a:lstStyle/>
          <a:p>
            <a:r>
              <a:rPr lang="en-GB" sz="2400" b="1"/>
              <a:t>12. Vision+ updates Grainger on reference Status change</a:t>
            </a:r>
          </a:p>
          <a:p>
            <a:endParaRPr lang="en-GB" sz="2400" b="1"/>
          </a:p>
        </p:txBody>
      </p:sp>
      <p:sp>
        <p:nvSpPr>
          <p:cNvPr id="6" name="Rectangle 5">
            <a:extLst>
              <a:ext uri="{FF2B5EF4-FFF2-40B4-BE49-F238E27FC236}">
                <a16:creationId xmlns:a16="http://schemas.microsoft.com/office/drawing/2014/main" id="{891E98C1-FEDD-DA87-1F1A-497C7B79F44E}"/>
              </a:ext>
            </a:extLst>
          </p:cNvPr>
          <p:cNvSpPr/>
          <p:nvPr/>
        </p:nvSpPr>
        <p:spPr>
          <a:xfrm>
            <a:off x="8213749" y="449239"/>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445004"/>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t>Grainger Salesforce</a:t>
            </a:r>
          </a:p>
        </p:txBody>
      </p:sp>
      <p:sp>
        <p:nvSpPr>
          <p:cNvPr id="10" name="TextBox 9">
            <a:extLst>
              <a:ext uri="{FF2B5EF4-FFF2-40B4-BE49-F238E27FC236}">
                <a16:creationId xmlns:a16="http://schemas.microsoft.com/office/drawing/2014/main" id="{1153242C-4DCE-DECB-1D73-C17E8F720BFC}"/>
              </a:ext>
            </a:extLst>
          </p:cNvPr>
          <p:cNvSpPr txBox="1"/>
          <p:nvPr/>
        </p:nvSpPr>
        <p:spPr>
          <a:xfrm>
            <a:off x="7062216" y="258090"/>
            <a:ext cx="1151533" cy="584775"/>
          </a:xfrm>
          <a:prstGeom prst="rect">
            <a:avLst/>
          </a:prstGeom>
          <a:noFill/>
        </p:spPr>
        <p:txBody>
          <a:bodyPr wrap="square" rtlCol="0">
            <a:spAutoFit/>
          </a:bodyPr>
          <a:lstStyle/>
          <a:p>
            <a:r>
              <a:rPr lang="en-GB" sz="800" b="1"/>
              <a:t>3. Vision+ updates Grainger on reference Status change</a:t>
            </a:r>
          </a:p>
          <a:p>
            <a:endParaRPr lang="en-GB" sz="800" b="1"/>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flipH="1">
            <a:off x="6869115" y="709199"/>
            <a:ext cx="134463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pic>
        <p:nvPicPr>
          <p:cNvPr id="27" name="Picture 26">
            <a:extLst>
              <a:ext uri="{FF2B5EF4-FFF2-40B4-BE49-F238E27FC236}">
                <a16:creationId xmlns:a16="http://schemas.microsoft.com/office/drawing/2014/main" id="{15C8991A-64FA-1224-D056-77A61992F359}"/>
              </a:ext>
            </a:extLst>
          </p:cNvPr>
          <p:cNvPicPr>
            <a:picLocks noChangeAspect="1"/>
          </p:cNvPicPr>
          <p:nvPr/>
        </p:nvPicPr>
        <p:blipFill>
          <a:blip r:embed="rId3"/>
          <a:stretch>
            <a:fillRect/>
          </a:stretch>
        </p:blipFill>
        <p:spPr>
          <a:xfrm>
            <a:off x="6883942" y="8091882"/>
            <a:ext cx="2706220" cy="1338941"/>
          </a:xfrm>
          <a:prstGeom prst="rect">
            <a:avLst/>
          </a:prstGeom>
        </p:spPr>
      </p:pic>
      <p:pic>
        <p:nvPicPr>
          <p:cNvPr id="1026" name="Picture 2">
            <a:extLst>
              <a:ext uri="{FF2B5EF4-FFF2-40B4-BE49-F238E27FC236}">
                <a16:creationId xmlns:a16="http://schemas.microsoft.com/office/drawing/2014/main" id="{9EFB5BC1-1BC8-5A4E-504D-D670571C92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033" y="3634340"/>
            <a:ext cx="4998516" cy="3034689"/>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DEABDC38-B40C-D6A9-AC0E-5426C97632BC}"/>
              </a:ext>
            </a:extLst>
          </p:cNvPr>
          <p:cNvSpPr txBox="1"/>
          <p:nvPr/>
        </p:nvSpPr>
        <p:spPr>
          <a:xfrm>
            <a:off x="398033" y="1355464"/>
            <a:ext cx="8477026" cy="2492990"/>
          </a:xfrm>
          <a:prstGeom prst="rect">
            <a:avLst/>
          </a:prstGeom>
          <a:noFill/>
        </p:spPr>
        <p:txBody>
          <a:bodyPr wrap="square" rtlCol="0">
            <a:spAutoFit/>
          </a:bodyPr>
          <a:lstStyle/>
          <a:p>
            <a:r>
              <a:rPr lang="en-US" sz="1200" err="1">
                <a:solidFill>
                  <a:schemeClr val="accent6"/>
                </a:solidFill>
              </a:rPr>
              <a:t>HomeLet</a:t>
            </a:r>
            <a:r>
              <a:rPr lang="en-US" sz="1200">
                <a:solidFill>
                  <a:schemeClr val="accent6"/>
                </a:solidFill>
              </a:rPr>
              <a:t> to call in to Salesforce using the composite API, using </a:t>
            </a:r>
            <a:r>
              <a:rPr lang="en-US" sz="1200" err="1">
                <a:solidFill>
                  <a:schemeClr val="accent6"/>
                </a:solidFill>
              </a:rPr>
              <a:t>propertyTenancyId</a:t>
            </a:r>
            <a:r>
              <a:rPr lang="en-US" sz="1200">
                <a:solidFill>
                  <a:schemeClr val="accent6"/>
                </a:solidFill>
              </a:rPr>
              <a:t> and </a:t>
            </a:r>
            <a:r>
              <a:rPr lang="en-US" sz="1200" err="1">
                <a:solidFill>
                  <a:schemeClr val="accent6"/>
                </a:solidFill>
              </a:rPr>
              <a:t>applicantId</a:t>
            </a:r>
            <a:r>
              <a:rPr lang="en-US" sz="1200">
                <a:solidFill>
                  <a:schemeClr val="accent6"/>
                </a:solidFill>
              </a:rPr>
              <a:t> to identify the record in Salesforce.  </a:t>
            </a:r>
          </a:p>
          <a:p>
            <a:endParaRPr lang="en-US" sz="1200">
              <a:solidFill>
                <a:schemeClr val="accent6"/>
              </a:solidFill>
            </a:endParaRPr>
          </a:p>
          <a:p>
            <a:r>
              <a:rPr lang="en-US" sz="1200">
                <a:solidFill>
                  <a:schemeClr val="accent6"/>
                </a:solidFill>
              </a:rPr>
              <a:t>Open Box to support integration delivery by providing details with Postman collection covering:</a:t>
            </a:r>
          </a:p>
          <a:p>
            <a:pPr marL="171450" indent="-171450">
              <a:buFont typeface="Arial" panose="020B0604020202020204" pitchFamily="34" charset="0"/>
              <a:buChar char="•"/>
            </a:pPr>
            <a:r>
              <a:rPr lang="en-US" sz="1200">
                <a:solidFill>
                  <a:schemeClr val="accent6"/>
                </a:solidFill>
              </a:rPr>
              <a:t>authorize -&gt; Bearer token</a:t>
            </a:r>
          </a:p>
          <a:p>
            <a:pPr marL="171450" indent="-171450">
              <a:buFont typeface="Arial" panose="020B0604020202020204" pitchFamily="34" charset="0"/>
              <a:buChar char="•"/>
            </a:pPr>
            <a:r>
              <a:rPr lang="en-US" sz="1200">
                <a:solidFill>
                  <a:schemeClr val="accent6"/>
                </a:solidFill>
              </a:rPr>
              <a:t>POST -&gt; </a:t>
            </a:r>
            <a:r>
              <a:rPr lang="en-US" sz="1200" err="1">
                <a:solidFill>
                  <a:schemeClr val="accent6"/>
                </a:solidFill>
              </a:rPr>
              <a:t>OpportunityContactRole</a:t>
            </a:r>
            <a:r>
              <a:rPr lang="en-US" sz="1200">
                <a:solidFill>
                  <a:schemeClr val="accent6"/>
                </a:solidFill>
              </a:rPr>
              <a:t> &amp; Contact</a:t>
            </a:r>
          </a:p>
          <a:p>
            <a:pPr marL="628650" lvl="1" indent="-171450">
              <a:buFont typeface="Arial" panose="020B0604020202020204" pitchFamily="34" charset="0"/>
              <a:buChar char="•"/>
            </a:pPr>
            <a:r>
              <a:rPr lang="en-US" sz="1200">
                <a:solidFill>
                  <a:schemeClr val="accent6"/>
                </a:solidFill>
              </a:rPr>
              <a:t>Applicant’s ‘Current Address’ to be returned (on Contact / Person Account) </a:t>
            </a:r>
          </a:p>
          <a:p>
            <a:pPr marL="1085850" lvl="2" indent="-171450">
              <a:buFont typeface="Arial" panose="020B0604020202020204" pitchFamily="34" charset="0"/>
              <a:buChar char="•"/>
            </a:pPr>
            <a:r>
              <a:rPr lang="en-US" sz="1200" err="1">
                <a:solidFill>
                  <a:schemeClr val="accent6"/>
                </a:solidFill>
              </a:rPr>
              <a:t>Contact.MailingStreet</a:t>
            </a:r>
            <a:r>
              <a:rPr lang="en-US" sz="1200">
                <a:solidFill>
                  <a:schemeClr val="accent6"/>
                </a:solidFill>
              </a:rPr>
              <a:t>, </a:t>
            </a:r>
            <a:r>
              <a:rPr lang="en-US" sz="1200" err="1">
                <a:solidFill>
                  <a:schemeClr val="accent6"/>
                </a:solidFill>
              </a:rPr>
              <a:t>Contact.MailingCity</a:t>
            </a:r>
            <a:r>
              <a:rPr lang="en-US" sz="1200">
                <a:solidFill>
                  <a:schemeClr val="accent6"/>
                </a:solidFill>
              </a:rPr>
              <a:t>, </a:t>
            </a:r>
            <a:r>
              <a:rPr lang="en-US" sz="1200" err="1">
                <a:solidFill>
                  <a:schemeClr val="accent6"/>
                </a:solidFill>
              </a:rPr>
              <a:t>Contact.MailingState</a:t>
            </a:r>
            <a:r>
              <a:rPr lang="en-US" sz="1200">
                <a:solidFill>
                  <a:schemeClr val="accent6"/>
                </a:solidFill>
              </a:rPr>
              <a:t>, </a:t>
            </a:r>
            <a:r>
              <a:rPr lang="en-US" sz="1200" err="1">
                <a:solidFill>
                  <a:schemeClr val="accent6"/>
                </a:solidFill>
              </a:rPr>
              <a:t>Contact.MailingPostalCode</a:t>
            </a:r>
            <a:r>
              <a:rPr lang="en-US" sz="1200">
                <a:solidFill>
                  <a:schemeClr val="accent6"/>
                </a:solidFill>
              </a:rPr>
              <a:t>, </a:t>
            </a:r>
            <a:r>
              <a:rPr lang="en-US" sz="1200" err="1">
                <a:solidFill>
                  <a:schemeClr val="accent6"/>
                </a:solidFill>
              </a:rPr>
              <a:t>Contact.MailingCountry</a:t>
            </a:r>
            <a:endParaRPr lang="en-US" sz="1200">
              <a:solidFill>
                <a:schemeClr val="accent6"/>
              </a:solidFill>
            </a:endParaRPr>
          </a:p>
          <a:p>
            <a:pPr marL="628650" lvl="1" indent="-171450">
              <a:buFont typeface="Arial" panose="020B0604020202020204" pitchFamily="34" charset="0"/>
              <a:buChar char="•"/>
            </a:pPr>
            <a:r>
              <a:rPr lang="en-US" sz="1200">
                <a:solidFill>
                  <a:schemeClr val="accent6"/>
                </a:solidFill>
              </a:rPr>
              <a:t>Applicant’s ‘Outcome Status’ and ‘Referencing Status’ to be returned (near real time)</a:t>
            </a:r>
          </a:p>
          <a:p>
            <a:pPr marL="1085850" lvl="2" indent="-171450">
              <a:buFont typeface="Arial" panose="020B0604020202020204" pitchFamily="34" charset="0"/>
              <a:buChar char="•"/>
            </a:pPr>
            <a:r>
              <a:rPr lang="en-US" sz="1200" err="1">
                <a:solidFill>
                  <a:schemeClr val="accent6"/>
                </a:solidFill>
              </a:rPr>
              <a:t>OpportunityContactRole.Reference_Check_Status__c</a:t>
            </a:r>
            <a:r>
              <a:rPr lang="en-US" sz="1200">
                <a:solidFill>
                  <a:schemeClr val="accent6"/>
                </a:solidFill>
              </a:rPr>
              <a:t>​ (Picklist):</a:t>
            </a:r>
          </a:p>
          <a:p>
            <a:pPr marL="1543050" lvl="3" indent="-171450">
              <a:buFont typeface="Arial" panose="020B0604020202020204" pitchFamily="34" charset="0"/>
              <a:buChar char="•"/>
            </a:pPr>
            <a:r>
              <a:rPr lang="en-US" sz="1200">
                <a:solidFill>
                  <a:schemeClr val="accent6"/>
                </a:solidFill>
              </a:rPr>
              <a:t>Incomplete / Awaiting Details / In Progress / Complete / Approve / Awaiting Review / Deleted</a:t>
            </a:r>
          </a:p>
          <a:p>
            <a:pPr marL="1085850" lvl="2" indent="-171450">
              <a:buFont typeface="Arial" panose="020B0604020202020204" pitchFamily="34" charset="0"/>
              <a:buChar char="•"/>
            </a:pPr>
            <a:r>
              <a:rPr lang="en-US" sz="1200" err="1">
                <a:solidFill>
                  <a:schemeClr val="accent6"/>
                </a:solidFill>
              </a:rPr>
              <a:t>OpportunityContactRole.Referencing_Outcome__c</a:t>
            </a:r>
            <a:r>
              <a:rPr lang="en-US" sz="1200">
                <a:solidFill>
                  <a:schemeClr val="accent6"/>
                </a:solidFill>
              </a:rPr>
              <a:t> (Picklist):</a:t>
            </a:r>
          </a:p>
          <a:p>
            <a:pPr marL="1543050" lvl="3" indent="-171450">
              <a:buFont typeface="Arial" panose="020B0604020202020204" pitchFamily="34" charset="0"/>
              <a:buChar char="•"/>
            </a:pPr>
            <a:r>
              <a:rPr lang="en-US" sz="1200">
                <a:solidFill>
                  <a:schemeClr val="accent6"/>
                </a:solidFill>
              </a:rPr>
              <a:t>Acceptable / Guarantor Required / Incomplete / Not Acceptable</a:t>
            </a:r>
          </a:p>
        </p:txBody>
      </p:sp>
    </p:spTree>
    <p:extLst>
      <p:ext uri="{BB962C8B-B14F-4D97-AF65-F5344CB8AC3E}">
        <p14:creationId xmlns:p14="http://schemas.microsoft.com/office/powerpoint/2010/main" val="422278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4179147" cy="1200329"/>
          </a:xfrm>
          <a:prstGeom prst="rect">
            <a:avLst/>
          </a:prstGeom>
          <a:noFill/>
        </p:spPr>
        <p:txBody>
          <a:bodyPr wrap="square" rtlCol="0">
            <a:spAutoFit/>
          </a:bodyPr>
          <a:lstStyle/>
          <a:p>
            <a:r>
              <a:rPr lang="en-GB" sz="2400" b="1"/>
              <a:t>12. Vision+ updates Grainger on reference Status change</a:t>
            </a:r>
          </a:p>
          <a:p>
            <a:endParaRPr lang="en-GB" sz="2400" b="1"/>
          </a:p>
        </p:txBody>
      </p:sp>
      <p:sp>
        <p:nvSpPr>
          <p:cNvPr id="6" name="Rectangle 5">
            <a:extLst>
              <a:ext uri="{FF2B5EF4-FFF2-40B4-BE49-F238E27FC236}">
                <a16:creationId xmlns:a16="http://schemas.microsoft.com/office/drawing/2014/main" id="{891E98C1-FEDD-DA87-1F1A-497C7B79F44E}"/>
              </a:ext>
            </a:extLst>
          </p:cNvPr>
          <p:cNvSpPr/>
          <p:nvPr/>
        </p:nvSpPr>
        <p:spPr>
          <a:xfrm>
            <a:off x="8213749" y="449239"/>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445004"/>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t>Grainger Salesforce</a:t>
            </a:r>
          </a:p>
        </p:txBody>
      </p:sp>
      <p:sp>
        <p:nvSpPr>
          <p:cNvPr id="10" name="TextBox 9">
            <a:extLst>
              <a:ext uri="{FF2B5EF4-FFF2-40B4-BE49-F238E27FC236}">
                <a16:creationId xmlns:a16="http://schemas.microsoft.com/office/drawing/2014/main" id="{1153242C-4DCE-DECB-1D73-C17E8F720BFC}"/>
              </a:ext>
            </a:extLst>
          </p:cNvPr>
          <p:cNvSpPr txBox="1"/>
          <p:nvPr/>
        </p:nvSpPr>
        <p:spPr>
          <a:xfrm>
            <a:off x="7062216" y="258090"/>
            <a:ext cx="1151533" cy="584775"/>
          </a:xfrm>
          <a:prstGeom prst="rect">
            <a:avLst/>
          </a:prstGeom>
          <a:noFill/>
        </p:spPr>
        <p:txBody>
          <a:bodyPr wrap="square" rtlCol="0">
            <a:spAutoFit/>
          </a:bodyPr>
          <a:lstStyle/>
          <a:p>
            <a:r>
              <a:rPr lang="en-GB" sz="800" b="1"/>
              <a:t>3. Vision+ updates Grainger on reference Status change</a:t>
            </a:r>
          </a:p>
          <a:p>
            <a:endParaRPr lang="en-GB" sz="800" b="1"/>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flipH="1">
            <a:off x="6869115" y="709199"/>
            <a:ext cx="134463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pic>
        <p:nvPicPr>
          <p:cNvPr id="27" name="Picture 26">
            <a:extLst>
              <a:ext uri="{FF2B5EF4-FFF2-40B4-BE49-F238E27FC236}">
                <a16:creationId xmlns:a16="http://schemas.microsoft.com/office/drawing/2014/main" id="{15C8991A-64FA-1224-D056-77A61992F359}"/>
              </a:ext>
            </a:extLst>
          </p:cNvPr>
          <p:cNvPicPr>
            <a:picLocks noChangeAspect="1"/>
          </p:cNvPicPr>
          <p:nvPr/>
        </p:nvPicPr>
        <p:blipFill>
          <a:blip r:embed="rId3"/>
          <a:stretch>
            <a:fillRect/>
          </a:stretch>
        </p:blipFill>
        <p:spPr>
          <a:xfrm>
            <a:off x="6883942" y="8091882"/>
            <a:ext cx="2706220" cy="1338941"/>
          </a:xfrm>
          <a:prstGeom prst="rect">
            <a:avLst/>
          </a:prstGeom>
        </p:spPr>
      </p:pic>
      <p:pic>
        <p:nvPicPr>
          <p:cNvPr id="11" name="Picture 10">
            <a:extLst>
              <a:ext uri="{FF2B5EF4-FFF2-40B4-BE49-F238E27FC236}">
                <a16:creationId xmlns:a16="http://schemas.microsoft.com/office/drawing/2014/main" id="{13DD439C-9788-4AE1-740A-80F50AD4D9CD}"/>
              </a:ext>
            </a:extLst>
          </p:cNvPr>
          <p:cNvPicPr>
            <a:picLocks noChangeAspect="1"/>
          </p:cNvPicPr>
          <p:nvPr/>
        </p:nvPicPr>
        <p:blipFill>
          <a:blip r:embed="rId4"/>
          <a:stretch>
            <a:fillRect/>
          </a:stretch>
        </p:blipFill>
        <p:spPr>
          <a:xfrm>
            <a:off x="5252115" y="3274977"/>
            <a:ext cx="3730787" cy="2960001"/>
          </a:xfrm>
          <a:prstGeom prst="rect">
            <a:avLst/>
          </a:prstGeom>
          <a:effectLst>
            <a:outerShdw blurRad="50800" dist="38100" dir="2700000" algn="tl" rotWithShape="0">
              <a:prstClr val="black">
                <a:alpha val="40000"/>
              </a:prstClr>
            </a:outerShdw>
          </a:effectLst>
        </p:spPr>
      </p:pic>
      <p:sp>
        <p:nvSpPr>
          <p:cNvPr id="33" name="TextBox 32">
            <a:extLst>
              <a:ext uri="{FF2B5EF4-FFF2-40B4-BE49-F238E27FC236}">
                <a16:creationId xmlns:a16="http://schemas.microsoft.com/office/drawing/2014/main" id="{01B64827-934E-5FAC-056F-4A22F1C56AF4}"/>
              </a:ext>
            </a:extLst>
          </p:cNvPr>
          <p:cNvSpPr txBox="1"/>
          <p:nvPr/>
        </p:nvSpPr>
        <p:spPr>
          <a:xfrm>
            <a:off x="268308" y="3013024"/>
            <a:ext cx="4313382" cy="246221"/>
          </a:xfrm>
          <a:prstGeom prst="rect">
            <a:avLst/>
          </a:prstGeom>
          <a:noFill/>
        </p:spPr>
        <p:txBody>
          <a:bodyPr wrap="square" rtlCol="0">
            <a:spAutoFit/>
          </a:bodyPr>
          <a:lstStyle/>
          <a:p>
            <a:r>
              <a:rPr lang="en-US" sz="1000">
                <a:solidFill>
                  <a:schemeClr val="accent6"/>
                </a:solidFill>
              </a:rPr>
              <a:t>Update </a:t>
            </a:r>
            <a:r>
              <a:rPr lang="en-US" sz="1000" err="1">
                <a:solidFill>
                  <a:schemeClr val="accent6"/>
                </a:solidFill>
              </a:rPr>
              <a:t>OpportunityContactRole</a:t>
            </a:r>
            <a:r>
              <a:rPr lang="en-US" sz="1000">
                <a:solidFill>
                  <a:schemeClr val="accent6"/>
                </a:solidFill>
              </a:rPr>
              <a:t> status and Contact address </a:t>
            </a:r>
          </a:p>
        </p:txBody>
      </p:sp>
      <p:sp>
        <p:nvSpPr>
          <p:cNvPr id="34" name="TextBox 33">
            <a:extLst>
              <a:ext uri="{FF2B5EF4-FFF2-40B4-BE49-F238E27FC236}">
                <a16:creationId xmlns:a16="http://schemas.microsoft.com/office/drawing/2014/main" id="{8908EF66-6CFE-C216-4500-F7AFE3937FEC}"/>
              </a:ext>
            </a:extLst>
          </p:cNvPr>
          <p:cNvSpPr txBox="1"/>
          <p:nvPr/>
        </p:nvSpPr>
        <p:spPr>
          <a:xfrm>
            <a:off x="4696375" y="4634699"/>
            <a:ext cx="657590" cy="246221"/>
          </a:xfrm>
          <a:prstGeom prst="rect">
            <a:avLst/>
          </a:prstGeom>
          <a:noFill/>
        </p:spPr>
        <p:txBody>
          <a:bodyPr wrap="square" rtlCol="0">
            <a:spAutoFit/>
          </a:bodyPr>
          <a:lstStyle/>
          <a:p>
            <a:r>
              <a:rPr lang="en-US" sz="1000">
                <a:solidFill>
                  <a:schemeClr val="accent6"/>
                </a:solidFill>
              </a:rPr>
              <a:t>Returns</a:t>
            </a:r>
          </a:p>
        </p:txBody>
      </p:sp>
      <p:sp>
        <p:nvSpPr>
          <p:cNvPr id="35" name="Right Arrow 34">
            <a:extLst>
              <a:ext uri="{FF2B5EF4-FFF2-40B4-BE49-F238E27FC236}">
                <a16:creationId xmlns:a16="http://schemas.microsoft.com/office/drawing/2014/main" id="{DE4B521D-7A1F-697A-9C31-B70E5CDFACBC}"/>
              </a:ext>
            </a:extLst>
          </p:cNvPr>
          <p:cNvSpPr/>
          <p:nvPr/>
        </p:nvSpPr>
        <p:spPr>
          <a:xfrm>
            <a:off x="4904509" y="4315392"/>
            <a:ext cx="221673" cy="33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B2AC5690-F5E6-1504-2233-990DCAF92282}"/>
              </a:ext>
            </a:extLst>
          </p:cNvPr>
          <p:cNvGrpSpPr/>
          <p:nvPr/>
        </p:nvGrpSpPr>
        <p:grpSpPr>
          <a:xfrm>
            <a:off x="341789" y="3194166"/>
            <a:ext cx="4304987" cy="3341184"/>
            <a:chOff x="341789" y="3194166"/>
            <a:chExt cx="4304987" cy="3341184"/>
          </a:xfrm>
          <a:effectLst>
            <a:outerShdw blurRad="50800" dist="38100" dir="2700000" algn="tl" rotWithShape="0">
              <a:prstClr val="black">
                <a:alpha val="40000"/>
              </a:prstClr>
            </a:outerShdw>
          </a:effectLst>
        </p:grpSpPr>
        <p:pic>
          <p:nvPicPr>
            <p:cNvPr id="3" name="Picture 2">
              <a:extLst>
                <a:ext uri="{FF2B5EF4-FFF2-40B4-BE49-F238E27FC236}">
                  <a16:creationId xmlns:a16="http://schemas.microsoft.com/office/drawing/2014/main" id="{62792899-9D26-8467-3C88-EE7EC2359F52}"/>
                </a:ext>
              </a:extLst>
            </p:cNvPr>
            <p:cNvPicPr>
              <a:picLocks noChangeAspect="1"/>
            </p:cNvPicPr>
            <p:nvPr/>
          </p:nvPicPr>
          <p:blipFill>
            <a:blip r:embed="rId5"/>
            <a:stretch>
              <a:fillRect/>
            </a:stretch>
          </p:blipFill>
          <p:spPr>
            <a:xfrm>
              <a:off x="341789" y="3194166"/>
              <a:ext cx="4304987" cy="3341184"/>
            </a:xfrm>
            <a:prstGeom prst="rect">
              <a:avLst/>
            </a:prstGeom>
          </p:spPr>
        </p:pic>
        <p:sp>
          <p:nvSpPr>
            <p:cNvPr id="8" name="Rectangle 7">
              <a:extLst>
                <a:ext uri="{FF2B5EF4-FFF2-40B4-BE49-F238E27FC236}">
                  <a16:creationId xmlns:a16="http://schemas.microsoft.com/office/drawing/2014/main" id="{48E43F3B-D3B9-A837-3615-4D2E73ACA305}"/>
                </a:ext>
              </a:extLst>
            </p:cNvPr>
            <p:cNvSpPr/>
            <p:nvPr/>
          </p:nvSpPr>
          <p:spPr>
            <a:xfrm>
              <a:off x="2114210" y="4315392"/>
              <a:ext cx="233491"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6FE372-D3C9-2CC3-50B7-2B1924CA3FBF}"/>
                </a:ext>
              </a:extLst>
            </p:cNvPr>
            <p:cNvSpPr/>
            <p:nvPr/>
          </p:nvSpPr>
          <p:spPr>
            <a:xfrm>
              <a:off x="2294498" y="4417969"/>
              <a:ext cx="261002"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F4E0F61-CABA-9BB0-8DEB-34AFD5A96EE3}"/>
                </a:ext>
              </a:extLst>
            </p:cNvPr>
            <p:cNvSpPr/>
            <p:nvPr/>
          </p:nvSpPr>
          <p:spPr>
            <a:xfrm>
              <a:off x="2079819" y="5021220"/>
              <a:ext cx="298159"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9D2E25A-1DCA-B45E-25BD-AD65C2B7AEEC}"/>
                </a:ext>
              </a:extLst>
            </p:cNvPr>
            <p:cNvSpPr/>
            <p:nvPr/>
          </p:nvSpPr>
          <p:spPr>
            <a:xfrm>
              <a:off x="1967895" y="5134264"/>
              <a:ext cx="507217"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ED96AFD-46F0-31A6-E98B-5B529102D999}"/>
                </a:ext>
              </a:extLst>
            </p:cNvPr>
            <p:cNvSpPr/>
            <p:nvPr/>
          </p:nvSpPr>
          <p:spPr>
            <a:xfrm>
              <a:off x="1564398" y="5743199"/>
              <a:ext cx="261002"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0F5584-8EA3-4DE2-B44A-73B165407144}"/>
                </a:ext>
              </a:extLst>
            </p:cNvPr>
            <p:cNvSpPr/>
            <p:nvPr/>
          </p:nvSpPr>
          <p:spPr>
            <a:xfrm>
              <a:off x="1627941" y="5845776"/>
              <a:ext cx="261002"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59CFDAB-40CE-0595-D375-D9421141AD4B}"/>
                </a:ext>
              </a:extLst>
            </p:cNvPr>
            <p:cNvSpPr/>
            <p:nvPr/>
          </p:nvSpPr>
          <p:spPr>
            <a:xfrm>
              <a:off x="1721206" y="5948353"/>
              <a:ext cx="261002" cy="77353"/>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39FF07-4ED3-6FC4-1FD3-9AE4CDCF6B62}"/>
                </a:ext>
              </a:extLst>
            </p:cNvPr>
            <p:cNvSpPr/>
            <p:nvPr/>
          </p:nvSpPr>
          <p:spPr>
            <a:xfrm>
              <a:off x="1627941" y="6025706"/>
              <a:ext cx="602662" cy="9801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4B4B311-7E17-BD0A-3785-E2AB57DC9C53}"/>
                </a:ext>
              </a:extLst>
            </p:cNvPr>
            <p:cNvSpPr/>
            <p:nvPr/>
          </p:nvSpPr>
          <p:spPr>
            <a:xfrm>
              <a:off x="1627941" y="6123916"/>
              <a:ext cx="602662" cy="9801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ular Callout 8">
              <a:extLst>
                <a:ext uri="{FF2B5EF4-FFF2-40B4-BE49-F238E27FC236}">
                  <a16:creationId xmlns:a16="http://schemas.microsoft.com/office/drawing/2014/main" id="{57307248-2727-4D04-7F3A-E680541C7B5F}"/>
                </a:ext>
              </a:extLst>
            </p:cNvPr>
            <p:cNvSpPr/>
            <p:nvPr/>
          </p:nvSpPr>
          <p:spPr>
            <a:xfrm>
              <a:off x="2319360" y="3955585"/>
              <a:ext cx="798848" cy="153020"/>
            </a:xfrm>
            <a:prstGeom prst="wedgeRoundRectCallout">
              <a:avLst>
                <a:gd name="adj1" fmla="val -44409"/>
                <a:gd name="adj2" fmla="val 1741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err="1"/>
                <a:t>ApplicantId</a:t>
              </a:r>
              <a:endParaRPr lang="en-US" sz="800"/>
            </a:p>
          </p:txBody>
        </p:sp>
        <p:sp>
          <p:nvSpPr>
            <p:cNvPr id="29" name="Rounded Rectangular Callout 28">
              <a:extLst>
                <a:ext uri="{FF2B5EF4-FFF2-40B4-BE49-F238E27FC236}">
                  <a16:creationId xmlns:a16="http://schemas.microsoft.com/office/drawing/2014/main" id="{01BC4C46-8005-2CF5-4297-50686ED221B0}"/>
                </a:ext>
              </a:extLst>
            </p:cNvPr>
            <p:cNvSpPr/>
            <p:nvPr/>
          </p:nvSpPr>
          <p:spPr>
            <a:xfrm>
              <a:off x="2864399" y="4419972"/>
              <a:ext cx="1057880" cy="153020"/>
            </a:xfrm>
            <a:prstGeom prst="wedgeRoundRectCallout">
              <a:avLst>
                <a:gd name="adj1" fmla="val -77952"/>
                <a:gd name="adj2" fmla="val -1411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err="1"/>
                <a:t>PropertyTenancyId</a:t>
              </a:r>
              <a:endParaRPr lang="en-US" sz="800"/>
            </a:p>
          </p:txBody>
        </p:sp>
        <p:sp>
          <p:nvSpPr>
            <p:cNvPr id="30" name="Rounded Rectangular Callout 29">
              <a:extLst>
                <a:ext uri="{FF2B5EF4-FFF2-40B4-BE49-F238E27FC236}">
                  <a16:creationId xmlns:a16="http://schemas.microsoft.com/office/drawing/2014/main" id="{49699CF1-0122-2518-62BE-279F1C73FE47}"/>
                </a:ext>
              </a:extLst>
            </p:cNvPr>
            <p:cNvSpPr/>
            <p:nvPr/>
          </p:nvSpPr>
          <p:spPr>
            <a:xfrm>
              <a:off x="2685203" y="5003770"/>
              <a:ext cx="1057880" cy="153020"/>
            </a:xfrm>
            <a:prstGeom prst="wedgeRoundRectCallout">
              <a:avLst>
                <a:gd name="adj1" fmla="val -77952"/>
                <a:gd name="adj2" fmla="val -1411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err="1"/>
                <a:t>ReferenceStatus</a:t>
              </a:r>
              <a:endParaRPr lang="en-US" sz="800"/>
            </a:p>
          </p:txBody>
        </p:sp>
        <p:sp>
          <p:nvSpPr>
            <p:cNvPr id="31" name="Rounded Rectangular Callout 30">
              <a:extLst>
                <a:ext uri="{FF2B5EF4-FFF2-40B4-BE49-F238E27FC236}">
                  <a16:creationId xmlns:a16="http://schemas.microsoft.com/office/drawing/2014/main" id="{522764AA-505D-3B47-FDC6-4D5A32B01D6B}"/>
                </a:ext>
              </a:extLst>
            </p:cNvPr>
            <p:cNvSpPr/>
            <p:nvPr/>
          </p:nvSpPr>
          <p:spPr>
            <a:xfrm>
              <a:off x="2685203" y="5238968"/>
              <a:ext cx="1057880" cy="153020"/>
            </a:xfrm>
            <a:prstGeom prst="wedgeRoundRectCallout">
              <a:avLst>
                <a:gd name="adj1" fmla="val -70670"/>
                <a:gd name="adj2" fmla="val -5132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err="1"/>
                <a:t>OutcomeStatus</a:t>
              </a:r>
              <a:endParaRPr lang="en-US" sz="800"/>
            </a:p>
          </p:txBody>
        </p:sp>
        <p:sp>
          <p:nvSpPr>
            <p:cNvPr id="32" name="Rounded Rectangular Callout 31">
              <a:extLst>
                <a:ext uri="{FF2B5EF4-FFF2-40B4-BE49-F238E27FC236}">
                  <a16:creationId xmlns:a16="http://schemas.microsoft.com/office/drawing/2014/main" id="{750E8893-7E36-4E29-3BFA-EE7998BF302C}"/>
                </a:ext>
              </a:extLst>
            </p:cNvPr>
            <p:cNvSpPr/>
            <p:nvPr/>
          </p:nvSpPr>
          <p:spPr>
            <a:xfrm>
              <a:off x="2494282" y="5884314"/>
              <a:ext cx="1057880" cy="226626"/>
            </a:xfrm>
            <a:prstGeom prst="wedgeRoundRectCallout">
              <a:avLst>
                <a:gd name="adj1" fmla="val -70037"/>
                <a:gd name="adj2" fmla="val -698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Contact address details</a:t>
              </a:r>
            </a:p>
          </p:txBody>
        </p:sp>
        <p:sp>
          <p:nvSpPr>
            <p:cNvPr id="37" name="Rectangle 36">
              <a:extLst>
                <a:ext uri="{FF2B5EF4-FFF2-40B4-BE49-F238E27FC236}">
                  <a16:creationId xmlns:a16="http://schemas.microsoft.com/office/drawing/2014/main" id="{CA87DE74-087B-8768-5582-6777EEC20F11}"/>
                </a:ext>
              </a:extLst>
            </p:cNvPr>
            <p:cNvSpPr/>
            <p:nvPr/>
          </p:nvSpPr>
          <p:spPr>
            <a:xfrm>
              <a:off x="1215062" y="3302019"/>
              <a:ext cx="899147" cy="115092"/>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ular Callout 37">
              <a:extLst>
                <a:ext uri="{FF2B5EF4-FFF2-40B4-BE49-F238E27FC236}">
                  <a16:creationId xmlns:a16="http://schemas.microsoft.com/office/drawing/2014/main" id="{49A29C6A-3631-63A6-4C1D-87FADD5A0507}"/>
                </a:ext>
              </a:extLst>
            </p:cNvPr>
            <p:cNvSpPr/>
            <p:nvPr/>
          </p:nvSpPr>
          <p:spPr>
            <a:xfrm>
              <a:off x="2494282" y="3477297"/>
              <a:ext cx="1057880" cy="153020"/>
            </a:xfrm>
            <a:prstGeom prst="wedgeRoundRectCallout">
              <a:avLst>
                <a:gd name="adj1" fmla="val -86013"/>
                <a:gd name="adj2" fmla="val -915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Instance URL</a:t>
              </a:r>
            </a:p>
          </p:txBody>
        </p:sp>
      </p:grpSp>
      <p:grpSp>
        <p:nvGrpSpPr>
          <p:cNvPr id="2" name="Group 1">
            <a:extLst>
              <a:ext uri="{FF2B5EF4-FFF2-40B4-BE49-F238E27FC236}">
                <a16:creationId xmlns:a16="http://schemas.microsoft.com/office/drawing/2014/main" id="{F1E3702D-1781-81C8-34F2-D36F788E6BE5}"/>
              </a:ext>
            </a:extLst>
          </p:cNvPr>
          <p:cNvGrpSpPr/>
          <p:nvPr/>
        </p:nvGrpSpPr>
        <p:grpSpPr>
          <a:xfrm>
            <a:off x="296733" y="1336215"/>
            <a:ext cx="3899747" cy="1483425"/>
            <a:chOff x="296733" y="1336215"/>
            <a:chExt cx="3899747" cy="1483425"/>
          </a:xfrm>
        </p:grpSpPr>
        <p:pic>
          <p:nvPicPr>
            <p:cNvPr id="36" name="Picture 35">
              <a:extLst>
                <a:ext uri="{FF2B5EF4-FFF2-40B4-BE49-F238E27FC236}">
                  <a16:creationId xmlns:a16="http://schemas.microsoft.com/office/drawing/2014/main" id="{D6EBF34C-3B57-0C17-9D4A-CF85CFD86022}"/>
                </a:ext>
              </a:extLst>
            </p:cNvPr>
            <p:cNvPicPr>
              <a:picLocks noChangeAspect="1"/>
            </p:cNvPicPr>
            <p:nvPr/>
          </p:nvPicPr>
          <p:blipFill>
            <a:blip r:embed="rId6"/>
            <a:stretch>
              <a:fillRect/>
            </a:stretch>
          </p:blipFill>
          <p:spPr>
            <a:xfrm>
              <a:off x="296733" y="1336215"/>
              <a:ext cx="3899747" cy="1467178"/>
            </a:xfrm>
            <a:prstGeom prst="rect">
              <a:avLst/>
            </a:prstGeom>
            <a:effectLst>
              <a:outerShdw blurRad="50800" dist="38100" dir="2700000" algn="tl" rotWithShape="0">
                <a:prstClr val="black">
                  <a:alpha val="40000"/>
                </a:prstClr>
              </a:outerShdw>
            </a:effectLst>
          </p:spPr>
        </p:pic>
        <p:sp>
          <p:nvSpPr>
            <p:cNvPr id="40" name="Rounded Rectangular Callout 39">
              <a:extLst>
                <a:ext uri="{FF2B5EF4-FFF2-40B4-BE49-F238E27FC236}">
                  <a16:creationId xmlns:a16="http://schemas.microsoft.com/office/drawing/2014/main" id="{3B697035-54F5-D8B2-533B-CBADC7C3B18F}"/>
                </a:ext>
              </a:extLst>
            </p:cNvPr>
            <p:cNvSpPr/>
            <p:nvPr/>
          </p:nvSpPr>
          <p:spPr>
            <a:xfrm>
              <a:off x="2691553" y="1649012"/>
              <a:ext cx="1057880" cy="153020"/>
            </a:xfrm>
            <a:prstGeom prst="wedgeRoundRectCallout">
              <a:avLst>
                <a:gd name="adj1" fmla="val -87556"/>
                <a:gd name="adj2" fmla="val -8999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Instance URL</a:t>
              </a:r>
            </a:p>
          </p:txBody>
        </p:sp>
        <p:sp>
          <p:nvSpPr>
            <p:cNvPr id="41" name="Rectangle 40">
              <a:extLst>
                <a:ext uri="{FF2B5EF4-FFF2-40B4-BE49-F238E27FC236}">
                  <a16:creationId xmlns:a16="http://schemas.microsoft.com/office/drawing/2014/main" id="{0F94EFE4-1BA9-1383-C047-13B004C004D5}"/>
                </a:ext>
              </a:extLst>
            </p:cNvPr>
            <p:cNvSpPr/>
            <p:nvPr/>
          </p:nvSpPr>
          <p:spPr>
            <a:xfrm>
              <a:off x="1305828" y="1456164"/>
              <a:ext cx="988669" cy="109279"/>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4FB3315-6265-EB23-E5C1-DAB69BD2F63C}"/>
                </a:ext>
              </a:extLst>
            </p:cNvPr>
            <p:cNvSpPr/>
            <p:nvPr/>
          </p:nvSpPr>
          <p:spPr>
            <a:xfrm>
              <a:off x="2453099" y="2431126"/>
              <a:ext cx="1743381" cy="149322"/>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A947729-E849-A5D3-806B-948B63620D70}"/>
                </a:ext>
              </a:extLst>
            </p:cNvPr>
            <p:cNvSpPr/>
            <p:nvPr/>
          </p:nvSpPr>
          <p:spPr>
            <a:xfrm>
              <a:off x="2446901" y="2612268"/>
              <a:ext cx="1743381" cy="149322"/>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ular Callout 44">
              <a:extLst>
                <a:ext uri="{FF2B5EF4-FFF2-40B4-BE49-F238E27FC236}">
                  <a16:creationId xmlns:a16="http://schemas.microsoft.com/office/drawing/2014/main" id="{54B62353-5D7E-80A0-203D-84F7BE5B380C}"/>
                </a:ext>
              </a:extLst>
            </p:cNvPr>
            <p:cNvSpPr/>
            <p:nvPr/>
          </p:nvSpPr>
          <p:spPr>
            <a:xfrm>
              <a:off x="1227651" y="2426714"/>
              <a:ext cx="1057880" cy="153020"/>
            </a:xfrm>
            <a:prstGeom prst="wedgeRoundRectCallout">
              <a:avLst>
                <a:gd name="adj1" fmla="val 65423"/>
                <a:gd name="adj2" fmla="val 96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Client ID</a:t>
              </a:r>
            </a:p>
          </p:txBody>
        </p:sp>
        <p:sp>
          <p:nvSpPr>
            <p:cNvPr id="46" name="Rounded Rectangular Callout 45">
              <a:extLst>
                <a:ext uri="{FF2B5EF4-FFF2-40B4-BE49-F238E27FC236}">
                  <a16:creationId xmlns:a16="http://schemas.microsoft.com/office/drawing/2014/main" id="{A222C37A-8AA8-2ADB-DEC1-C019FD65258C}"/>
                </a:ext>
              </a:extLst>
            </p:cNvPr>
            <p:cNvSpPr/>
            <p:nvPr/>
          </p:nvSpPr>
          <p:spPr>
            <a:xfrm>
              <a:off x="1220318" y="2666620"/>
              <a:ext cx="1057880" cy="153020"/>
            </a:xfrm>
            <a:prstGeom prst="wedgeRoundRectCallout">
              <a:avLst>
                <a:gd name="adj1" fmla="val 65423"/>
                <a:gd name="adj2" fmla="val 96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Client Secret</a:t>
              </a:r>
            </a:p>
          </p:txBody>
        </p:sp>
      </p:grpSp>
      <p:sp>
        <p:nvSpPr>
          <p:cNvPr id="47" name="TextBox 46">
            <a:extLst>
              <a:ext uri="{FF2B5EF4-FFF2-40B4-BE49-F238E27FC236}">
                <a16:creationId xmlns:a16="http://schemas.microsoft.com/office/drawing/2014/main" id="{D2684136-0365-E5AD-FEC4-F22977D850A1}"/>
              </a:ext>
            </a:extLst>
          </p:cNvPr>
          <p:cNvSpPr txBox="1"/>
          <p:nvPr/>
        </p:nvSpPr>
        <p:spPr>
          <a:xfrm>
            <a:off x="290210" y="1108697"/>
            <a:ext cx="4313382" cy="246221"/>
          </a:xfrm>
          <a:prstGeom prst="rect">
            <a:avLst/>
          </a:prstGeom>
          <a:noFill/>
        </p:spPr>
        <p:txBody>
          <a:bodyPr wrap="square" rtlCol="0">
            <a:spAutoFit/>
          </a:bodyPr>
          <a:lstStyle/>
          <a:p>
            <a:r>
              <a:rPr lang="en-US" sz="1000">
                <a:solidFill>
                  <a:schemeClr val="accent6"/>
                </a:solidFill>
              </a:rPr>
              <a:t>Access Token Request using </a:t>
            </a:r>
            <a:r>
              <a:rPr lang="en-US" sz="1000">
                <a:solidFill>
                  <a:schemeClr val="accent6"/>
                </a:solidFill>
                <a:hlinkClick r:id="rId7"/>
              </a:rPr>
              <a:t>Client Credentials Flow</a:t>
            </a:r>
            <a:endParaRPr lang="en-US" sz="1000">
              <a:solidFill>
                <a:schemeClr val="accent6"/>
              </a:solidFill>
            </a:endParaRPr>
          </a:p>
        </p:txBody>
      </p:sp>
      <p:sp>
        <p:nvSpPr>
          <p:cNvPr id="48" name="TextBox 47">
            <a:extLst>
              <a:ext uri="{FF2B5EF4-FFF2-40B4-BE49-F238E27FC236}">
                <a16:creationId xmlns:a16="http://schemas.microsoft.com/office/drawing/2014/main" id="{80DFA6EC-B8F8-2D96-6043-2FAD0FD46DC7}"/>
              </a:ext>
            </a:extLst>
          </p:cNvPr>
          <p:cNvSpPr txBox="1"/>
          <p:nvPr/>
        </p:nvSpPr>
        <p:spPr>
          <a:xfrm>
            <a:off x="4289932" y="2123439"/>
            <a:ext cx="657590" cy="246221"/>
          </a:xfrm>
          <a:prstGeom prst="rect">
            <a:avLst/>
          </a:prstGeom>
          <a:noFill/>
        </p:spPr>
        <p:txBody>
          <a:bodyPr wrap="square" rtlCol="0">
            <a:spAutoFit/>
          </a:bodyPr>
          <a:lstStyle/>
          <a:p>
            <a:r>
              <a:rPr lang="en-US" sz="1000">
                <a:solidFill>
                  <a:schemeClr val="accent6"/>
                </a:solidFill>
              </a:rPr>
              <a:t>Returns</a:t>
            </a:r>
          </a:p>
        </p:txBody>
      </p:sp>
      <p:sp>
        <p:nvSpPr>
          <p:cNvPr id="49" name="Right Arrow 48">
            <a:extLst>
              <a:ext uri="{FF2B5EF4-FFF2-40B4-BE49-F238E27FC236}">
                <a16:creationId xmlns:a16="http://schemas.microsoft.com/office/drawing/2014/main" id="{15CBE2D0-3D9B-51AF-200B-CAE7CC2BFE7A}"/>
              </a:ext>
            </a:extLst>
          </p:cNvPr>
          <p:cNvSpPr/>
          <p:nvPr/>
        </p:nvSpPr>
        <p:spPr>
          <a:xfrm>
            <a:off x="4498066" y="1804132"/>
            <a:ext cx="221673" cy="33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BBD66249-AC47-AB0C-E424-4286A70A9B9D}"/>
              </a:ext>
            </a:extLst>
          </p:cNvPr>
          <p:cNvPicPr>
            <a:picLocks noChangeAspect="1"/>
          </p:cNvPicPr>
          <p:nvPr/>
        </p:nvPicPr>
        <p:blipFill>
          <a:blip r:embed="rId8"/>
          <a:stretch>
            <a:fillRect/>
          </a:stretch>
        </p:blipFill>
        <p:spPr>
          <a:xfrm>
            <a:off x="4947522" y="1592496"/>
            <a:ext cx="3932871" cy="1157780"/>
          </a:xfrm>
          <a:prstGeom prst="rect">
            <a:avLst/>
          </a:prstGeom>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3B24B02F-73CF-5218-5E16-4EC1BCB6A49B}"/>
              </a:ext>
            </a:extLst>
          </p:cNvPr>
          <p:cNvSpPr txBox="1"/>
          <p:nvPr/>
        </p:nvSpPr>
        <p:spPr>
          <a:xfrm>
            <a:off x="909765" y="6172924"/>
            <a:ext cx="915635" cy="169277"/>
          </a:xfrm>
          <a:prstGeom prst="rect">
            <a:avLst/>
          </a:prstGeom>
          <a:noFill/>
        </p:spPr>
        <p:txBody>
          <a:bodyPr wrap="none" rtlCol="0">
            <a:spAutoFit/>
          </a:bodyPr>
          <a:lstStyle/>
          <a:p>
            <a:r>
              <a:rPr lang="en-GB" sz="500" b="1">
                <a:solidFill>
                  <a:srgbClr val="C00000"/>
                </a:solidFill>
                <a:latin typeface="Courier New" panose="02070309020205020404" pitchFamily="49" charset="0"/>
                <a:cs typeface="Courier New" panose="02070309020205020404" pitchFamily="49" charset="0"/>
              </a:rPr>
              <a:t>“Salutation”</a:t>
            </a:r>
            <a:r>
              <a:rPr lang="en-GB" sz="500" b="1">
                <a:solidFill>
                  <a:schemeClr val="tx2"/>
                </a:solidFill>
                <a:latin typeface="Courier New" panose="02070309020205020404" pitchFamily="49" charset="0"/>
                <a:cs typeface="Courier New" panose="02070309020205020404" pitchFamily="49" charset="0"/>
              </a:rPr>
              <a:t>:</a:t>
            </a:r>
            <a:r>
              <a:rPr lang="en-GB" sz="500" b="1">
                <a:solidFill>
                  <a:srgbClr val="C00000"/>
                </a:solidFill>
                <a:latin typeface="Courier New" panose="02070309020205020404" pitchFamily="49" charset="0"/>
                <a:cs typeface="Courier New" panose="02070309020205020404" pitchFamily="49" charset="0"/>
              </a:rPr>
              <a:t> </a:t>
            </a:r>
            <a:r>
              <a:rPr lang="en-GB" sz="500" b="1">
                <a:solidFill>
                  <a:srgbClr val="0070C0"/>
                </a:solidFill>
                <a:latin typeface="Courier New" panose="02070309020205020404" pitchFamily="49" charset="0"/>
                <a:cs typeface="Courier New" panose="02070309020205020404" pitchFamily="49" charset="0"/>
              </a:rPr>
              <a:t>“MR” </a:t>
            </a:r>
            <a:endParaRPr lang="en-GB" sz="300" b="1">
              <a:solidFill>
                <a:srgbClr val="0070C0"/>
              </a:solidFill>
              <a:latin typeface="Courier New" panose="02070309020205020404" pitchFamily="49" charset="0"/>
              <a:cs typeface="Courier New" panose="02070309020205020404" pitchFamily="49" charset="0"/>
            </a:endParaRPr>
          </a:p>
        </p:txBody>
      </p:sp>
      <p:sp>
        <p:nvSpPr>
          <p:cNvPr id="23" name="TextBox 22">
            <a:extLst>
              <a:ext uri="{FF2B5EF4-FFF2-40B4-BE49-F238E27FC236}">
                <a16:creationId xmlns:a16="http://schemas.microsoft.com/office/drawing/2014/main" id="{5ECF5525-A83E-2637-1D46-8AD6304A45A8}"/>
              </a:ext>
            </a:extLst>
          </p:cNvPr>
          <p:cNvSpPr txBox="1"/>
          <p:nvPr/>
        </p:nvSpPr>
        <p:spPr>
          <a:xfrm>
            <a:off x="2080946" y="6086008"/>
            <a:ext cx="223138" cy="169277"/>
          </a:xfrm>
          <a:prstGeom prst="rect">
            <a:avLst/>
          </a:prstGeom>
          <a:noFill/>
        </p:spPr>
        <p:txBody>
          <a:bodyPr wrap="none" rtlCol="0">
            <a:spAutoFit/>
          </a:bodyPr>
          <a:lstStyle/>
          <a:p>
            <a:r>
              <a:rPr lang="en-GB" sz="500" b="1">
                <a:solidFill>
                  <a:schemeClr val="tx2"/>
                </a:solidFill>
                <a:latin typeface="Courier New" panose="02070309020205020404" pitchFamily="49" charset="0"/>
                <a:cs typeface="Courier New" panose="02070309020205020404" pitchFamily="49" charset="0"/>
              </a:rPr>
              <a:t>,</a:t>
            </a:r>
            <a:endParaRPr lang="en-GB" sz="300" b="1">
              <a:solidFill>
                <a:schemeClr val="tx2"/>
              </a:solidFill>
              <a:latin typeface="Courier New" panose="02070309020205020404" pitchFamily="49" charset="0"/>
              <a:cs typeface="Courier New" panose="02070309020205020404" pitchFamily="49" charset="0"/>
            </a:endParaRPr>
          </a:p>
        </p:txBody>
      </p:sp>
      <p:sp>
        <p:nvSpPr>
          <p:cNvPr id="24" name="Rectangle 23">
            <a:extLst>
              <a:ext uri="{FF2B5EF4-FFF2-40B4-BE49-F238E27FC236}">
                <a16:creationId xmlns:a16="http://schemas.microsoft.com/office/drawing/2014/main" id="{8CFE757D-F1AD-03AC-9B1E-8D7D462C0E95}"/>
              </a:ext>
            </a:extLst>
          </p:cNvPr>
          <p:cNvSpPr/>
          <p:nvPr/>
        </p:nvSpPr>
        <p:spPr>
          <a:xfrm>
            <a:off x="1521883" y="6221933"/>
            <a:ext cx="165100" cy="81500"/>
          </a:xfrm>
          <a:prstGeom prst="rect">
            <a:avLst/>
          </a:prstGeom>
          <a:solidFill>
            <a:schemeClr val="tx1">
              <a:lumMod val="60000"/>
              <a:lumOff val="40000"/>
              <a:alpha val="58000"/>
            </a:schemeClr>
          </a:solidFill>
          <a:ln>
            <a:solidFill>
              <a:schemeClr val="accent6"/>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26919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5474547" cy="1200329"/>
          </a:xfrm>
          <a:prstGeom prst="rect">
            <a:avLst/>
          </a:prstGeom>
          <a:noFill/>
        </p:spPr>
        <p:txBody>
          <a:bodyPr wrap="square" rtlCol="0">
            <a:spAutoFit/>
          </a:bodyPr>
          <a:lstStyle/>
          <a:p>
            <a:r>
              <a:rPr lang="en-GB" sz="2400" b="1"/>
              <a:t>13-15. Agent goes to Vision+ portal for review</a:t>
            </a:r>
          </a:p>
          <a:p>
            <a:endParaRPr lang="en-GB" sz="2400" b="1"/>
          </a:p>
        </p:txBody>
      </p:sp>
      <p:sp>
        <p:nvSpPr>
          <p:cNvPr id="6" name="Rectangle 5">
            <a:extLst>
              <a:ext uri="{FF2B5EF4-FFF2-40B4-BE49-F238E27FC236}">
                <a16:creationId xmlns:a16="http://schemas.microsoft.com/office/drawing/2014/main" id="{891E98C1-FEDD-DA87-1F1A-497C7B79F44E}"/>
              </a:ext>
            </a:extLst>
          </p:cNvPr>
          <p:cNvSpPr/>
          <p:nvPr/>
        </p:nvSpPr>
        <p:spPr>
          <a:xfrm>
            <a:off x="8213749" y="449239"/>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t>Vision+ Portal</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445004"/>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962714" y="321894"/>
            <a:ext cx="1235117" cy="584775"/>
          </a:xfrm>
          <a:prstGeom prst="rect">
            <a:avLst/>
          </a:prstGeom>
          <a:noFill/>
        </p:spPr>
        <p:txBody>
          <a:bodyPr wrap="square" rtlCol="0">
            <a:spAutoFit/>
          </a:bodyPr>
          <a:lstStyle/>
          <a:p>
            <a:r>
              <a:rPr lang="en-GB" sz="800" b="1"/>
              <a:t>4. Agent goes to Vision+ portal for review</a:t>
            </a:r>
          </a:p>
          <a:p>
            <a:endParaRPr lang="en-GB" sz="800" b="1"/>
          </a:p>
          <a:p>
            <a:endParaRPr lang="en-GB" sz="800" b="1"/>
          </a:p>
        </p:txBody>
      </p:sp>
      <p:cxnSp>
        <p:nvCxnSpPr>
          <p:cNvPr id="12" name="Straight Arrow Connector 11">
            <a:extLst>
              <a:ext uri="{FF2B5EF4-FFF2-40B4-BE49-F238E27FC236}">
                <a16:creationId xmlns:a16="http://schemas.microsoft.com/office/drawing/2014/main" id="{4263023F-7EAE-2204-2286-921790ED6C0E}"/>
              </a:ext>
            </a:extLst>
          </p:cNvPr>
          <p:cNvCxnSpPr>
            <a:cxnSpLocks/>
            <a:stCxn id="7" idx="3"/>
            <a:endCxn id="6" idx="1"/>
          </p:cNvCxnSpPr>
          <p:nvPr/>
        </p:nvCxnSpPr>
        <p:spPr>
          <a:xfrm>
            <a:off x="6869115" y="675837"/>
            <a:ext cx="1344634" cy="423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1" name="TextBox 10">
            <a:extLst>
              <a:ext uri="{FF2B5EF4-FFF2-40B4-BE49-F238E27FC236}">
                <a16:creationId xmlns:a16="http://schemas.microsoft.com/office/drawing/2014/main" id="{2B630A0C-7150-C34D-C9BC-732333677882}"/>
              </a:ext>
            </a:extLst>
          </p:cNvPr>
          <p:cNvSpPr txBox="1"/>
          <p:nvPr/>
        </p:nvSpPr>
        <p:spPr>
          <a:xfrm>
            <a:off x="856827" y="1541154"/>
            <a:ext cx="6888480" cy="261610"/>
          </a:xfrm>
          <a:prstGeom prst="rect">
            <a:avLst/>
          </a:prstGeom>
          <a:noFill/>
        </p:spPr>
        <p:txBody>
          <a:bodyPr wrap="square" rtlCol="0">
            <a:spAutoFit/>
          </a:bodyPr>
          <a:lstStyle/>
          <a:p>
            <a:r>
              <a:rPr lang="en-GB" sz="1100"/>
              <a:t>Agent has a Salesforce user and is authenticated in Salesforce</a:t>
            </a:r>
          </a:p>
        </p:txBody>
      </p:sp>
      <p:sp>
        <p:nvSpPr>
          <p:cNvPr id="13" name="TextBox 12">
            <a:extLst>
              <a:ext uri="{FF2B5EF4-FFF2-40B4-BE49-F238E27FC236}">
                <a16:creationId xmlns:a16="http://schemas.microsoft.com/office/drawing/2014/main" id="{C302F5C7-8B81-4A7B-4128-B2689BD2253E}"/>
              </a:ext>
            </a:extLst>
          </p:cNvPr>
          <p:cNvSpPr txBox="1"/>
          <p:nvPr/>
        </p:nvSpPr>
        <p:spPr>
          <a:xfrm>
            <a:off x="856827" y="2112517"/>
            <a:ext cx="3972560" cy="2462213"/>
          </a:xfrm>
          <a:prstGeom prst="rect">
            <a:avLst/>
          </a:prstGeom>
          <a:noFill/>
        </p:spPr>
        <p:txBody>
          <a:bodyPr wrap="square" rtlCol="0">
            <a:spAutoFit/>
          </a:bodyPr>
          <a:lstStyle/>
          <a:p>
            <a:r>
              <a:rPr lang="en-GB" sz="1100"/>
              <a:t>Salesforce user clicks Vision+ button to open a new tab with Vision+ Portal URL</a:t>
            </a:r>
          </a:p>
          <a:p>
            <a:endParaRPr lang="en-GB" sz="1100"/>
          </a:p>
          <a:p>
            <a:endParaRPr lang="en-GB" sz="1100"/>
          </a:p>
          <a:p>
            <a:r>
              <a:rPr lang="en-GB" sz="1100"/>
              <a:t>Vision+ makes SAML request to Salesforce identity provider</a:t>
            </a:r>
          </a:p>
          <a:p>
            <a:endParaRPr lang="en-GB" sz="1100"/>
          </a:p>
          <a:p>
            <a:endParaRPr lang="en-GB" sz="1100"/>
          </a:p>
          <a:p>
            <a:r>
              <a:rPr lang="en-GB" sz="1100"/>
              <a:t>Salesforce responds SAML assertion confirming identity of Salesforce user (Salesforce username to be used as unique identifier)</a:t>
            </a:r>
          </a:p>
          <a:p>
            <a:endParaRPr lang="en-GB" sz="1100"/>
          </a:p>
          <a:p>
            <a:endParaRPr lang="en-GB" sz="1100"/>
          </a:p>
          <a:p>
            <a:r>
              <a:rPr lang="en-GB" sz="1100"/>
              <a:t>Vision+ Agent facing Portal logs user in (Vision+ portal user must already exist and is identified by Grainger Salesforce username)</a:t>
            </a:r>
          </a:p>
        </p:txBody>
      </p:sp>
      <p:sp>
        <p:nvSpPr>
          <p:cNvPr id="14" name="TextBox 13">
            <a:extLst>
              <a:ext uri="{FF2B5EF4-FFF2-40B4-BE49-F238E27FC236}">
                <a16:creationId xmlns:a16="http://schemas.microsoft.com/office/drawing/2014/main" id="{830C4AE1-6304-C916-5E9B-E1D5EE0D21D2}"/>
              </a:ext>
            </a:extLst>
          </p:cNvPr>
          <p:cNvSpPr txBox="1"/>
          <p:nvPr/>
        </p:nvSpPr>
        <p:spPr>
          <a:xfrm>
            <a:off x="856827" y="6662433"/>
            <a:ext cx="6583680" cy="423193"/>
          </a:xfrm>
          <a:prstGeom prst="rect">
            <a:avLst/>
          </a:prstGeom>
          <a:noFill/>
        </p:spPr>
        <p:txBody>
          <a:bodyPr wrap="square" rtlCol="0">
            <a:spAutoFit/>
          </a:bodyPr>
          <a:lstStyle/>
          <a:p>
            <a:r>
              <a:rPr lang="en-GB" sz="1100"/>
              <a:t>Vision+ decrypts and decodes JWT Token, validates applicant and starts tenant facing journey in </a:t>
            </a:r>
            <a:r>
              <a:rPr lang="en-GB" sz="1100" err="1"/>
              <a:t>iframe</a:t>
            </a:r>
            <a:endParaRPr lang="en-GB" sz="1100" b="1">
              <a:solidFill>
                <a:schemeClr val="tx2"/>
              </a:solidFill>
            </a:endParaRPr>
          </a:p>
          <a:p>
            <a:pPr lvl="1"/>
            <a:endParaRPr lang="en-GB" sz="1050"/>
          </a:p>
        </p:txBody>
      </p:sp>
      <p:sp>
        <p:nvSpPr>
          <p:cNvPr id="16" name="TextBox 15">
            <a:extLst>
              <a:ext uri="{FF2B5EF4-FFF2-40B4-BE49-F238E27FC236}">
                <a16:creationId xmlns:a16="http://schemas.microsoft.com/office/drawing/2014/main" id="{D8802F85-67E3-ADC3-AA65-2DD90AF2B36A}"/>
              </a:ext>
            </a:extLst>
          </p:cNvPr>
          <p:cNvSpPr txBox="1"/>
          <p:nvPr/>
        </p:nvSpPr>
        <p:spPr>
          <a:xfrm>
            <a:off x="332962" y="899317"/>
            <a:ext cx="416560" cy="3416320"/>
          </a:xfrm>
          <a:prstGeom prst="rect">
            <a:avLst/>
          </a:prstGeom>
          <a:noFill/>
        </p:spPr>
        <p:txBody>
          <a:bodyPr wrap="square" rtlCol="0">
            <a:spAutoFit/>
          </a:bodyPr>
          <a:lstStyle/>
          <a:p>
            <a:endParaRPr lang="en-GB"/>
          </a:p>
          <a:p>
            <a:endParaRPr lang="en-GB"/>
          </a:p>
          <a:p>
            <a:r>
              <a:rPr lang="en-GB"/>
              <a:t>1</a:t>
            </a:r>
          </a:p>
          <a:p>
            <a:endParaRPr lang="en-GB"/>
          </a:p>
          <a:p>
            <a:r>
              <a:rPr lang="en-GB"/>
              <a:t>2</a:t>
            </a:r>
          </a:p>
          <a:p>
            <a:endParaRPr lang="en-GB"/>
          </a:p>
          <a:p>
            <a:r>
              <a:rPr lang="en-GB"/>
              <a:t>3</a:t>
            </a:r>
          </a:p>
          <a:p>
            <a:endParaRPr lang="en-GB"/>
          </a:p>
          <a:p>
            <a:r>
              <a:rPr lang="en-GB"/>
              <a:t>4</a:t>
            </a:r>
          </a:p>
          <a:p>
            <a:endParaRPr lang="en-GB"/>
          </a:p>
          <a:p>
            <a:r>
              <a:rPr lang="en-GB"/>
              <a:t>5</a:t>
            </a:r>
          </a:p>
          <a:p>
            <a:endParaRPr lang="en-GB"/>
          </a:p>
        </p:txBody>
      </p:sp>
      <p:pic>
        <p:nvPicPr>
          <p:cNvPr id="17" name="Picture 2">
            <a:extLst>
              <a:ext uri="{FF2B5EF4-FFF2-40B4-BE49-F238E27FC236}">
                <a16:creationId xmlns:a16="http://schemas.microsoft.com/office/drawing/2014/main" id="{6344EE71-034F-10B4-6CFF-7929B87BA6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5069" y="2114001"/>
            <a:ext cx="3190875"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5583091"/>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1EBFAA3-FF8D-65C4-0788-5826D719A8D4}"/>
              </a:ext>
            </a:extLst>
          </p:cNvPr>
          <p:cNvSpPr txBox="1"/>
          <p:nvPr/>
        </p:nvSpPr>
        <p:spPr>
          <a:xfrm>
            <a:off x="121920" y="262537"/>
            <a:ext cx="5474547" cy="830997"/>
          </a:xfrm>
          <a:prstGeom prst="rect">
            <a:avLst/>
          </a:prstGeom>
          <a:noFill/>
        </p:spPr>
        <p:txBody>
          <a:bodyPr wrap="square" rtlCol="0">
            <a:spAutoFit/>
          </a:bodyPr>
          <a:lstStyle/>
          <a:p>
            <a:r>
              <a:rPr lang="en-GB" sz="2400" b="1"/>
              <a:t>Vision+ Mandatory Fields in discussion </a:t>
            </a:r>
          </a:p>
          <a:p>
            <a:endParaRPr lang="en-GB" sz="2400" b="1"/>
          </a:p>
        </p:txBody>
      </p:sp>
      <p:graphicFrame>
        <p:nvGraphicFramePr>
          <p:cNvPr id="9" name="Table 8">
            <a:extLst>
              <a:ext uri="{FF2B5EF4-FFF2-40B4-BE49-F238E27FC236}">
                <a16:creationId xmlns:a16="http://schemas.microsoft.com/office/drawing/2014/main" id="{133A0941-CF37-534F-1EF5-3FA898724BD1}"/>
              </a:ext>
            </a:extLst>
          </p:cNvPr>
          <p:cNvGraphicFramePr>
            <a:graphicFrameLocks noGrp="1"/>
          </p:cNvGraphicFramePr>
          <p:nvPr>
            <p:extLst>
              <p:ext uri="{D42A27DB-BD31-4B8C-83A1-F6EECF244321}">
                <p14:modId xmlns:p14="http://schemas.microsoft.com/office/powerpoint/2010/main" val="3181281596"/>
              </p:ext>
            </p:extLst>
          </p:nvPr>
        </p:nvGraphicFramePr>
        <p:xfrm>
          <a:off x="569384" y="862054"/>
          <a:ext cx="8185151" cy="5610860"/>
        </p:xfrm>
        <a:graphic>
          <a:graphicData uri="http://schemas.openxmlformats.org/drawingml/2006/table">
            <a:tbl>
              <a:tblPr>
                <a:tableStyleId>{5C22544A-7EE6-4342-B048-85BDC9FD1C3A}</a:tableStyleId>
              </a:tblPr>
              <a:tblGrid>
                <a:gridCol w="1577637">
                  <a:extLst>
                    <a:ext uri="{9D8B030D-6E8A-4147-A177-3AD203B41FA5}">
                      <a16:colId xmlns:a16="http://schemas.microsoft.com/office/drawing/2014/main" val="3157686054"/>
                    </a:ext>
                  </a:extLst>
                </a:gridCol>
                <a:gridCol w="1651878">
                  <a:extLst>
                    <a:ext uri="{9D8B030D-6E8A-4147-A177-3AD203B41FA5}">
                      <a16:colId xmlns:a16="http://schemas.microsoft.com/office/drawing/2014/main" val="1700370211"/>
                    </a:ext>
                  </a:extLst>
                </a:gridCol>
                <a:gridCol w="1837483">
                  <a:extLst>
                    <a:ext uri="{9D8B030D-6E8A-4147-A177-3AD203B41FA5}">
                      <a16:colId xmlns:a16="http://schemas.microsoft.com/office/drawing/2014/main" val="910276494"/>
                    </a:ext>
                  </a:extLst>
                </a:gridCol>
                <a:gridCol w="1721152">
                  <a:extLst>
                    <a:ext uri="{9D8B030D-6E8A-4147-A177-3AD203B41FA5}">
                      <a16:colId xmlns:a16="http://schemas.microsoft.com/office/drawing/2014/main" val="3243437898"/>
                    </a:ext>
                  </a:extLst>
                </a:gridCol>
                <a:gridCol w="1397001">
                  <a:extLst>
                    <a:ext uri="{9D8B030D-6E8A-4147-A177-3AD203B41FA5}">
                      <a16:colId xmlns:a16="http://schemas.microsoft.com/office/drawing/2014/main" val="1449977148"/>
                    </a:ext>
                  </a:extLst>
                </a:gridCol>
              </a:tblGrid>
              <a:tr h="558800">
                <a:tc>
                  <a:txBody>
                    <a:bodyPr/>
                    <a:lstStyle/>
                    <a:p>
                      <a:pPr algn="l" rtl="0" fontAlgn="b"/>
                      <a:r>
                        <a:rPr lang="en-GB" sz="1600" b="1" u="none" strike="noStrike">
                          <a:effectLst/>
                        </a:rPr>
                        <a:t>Property</a:t>
                      </a:r>
                      <a:endParaRPr lang="en-GB" sz="1600" b="1"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a:effectLst/>
                        </a:rPr>
                        <a:t>Mandatory in Vision+</a:t>
                      </a:r>
                      <a:endParaRPr lang="en-GB" sz="1600" b="1"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a:effectLst/>
                        </a:rPr>
                        <a:t>Impact of incorrect/default data</a:t>
                      </a:r>
                      <a:endParaRPr lang="en-GB" sz="1600" b="1"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a:effectLst/>
                        </a:rPr>
                        <a:t>Issue</a:t>
                      </a:r>
                      <a:endParaRPr lang="en-GB" sz="1600" b="1"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a:effectLst/>
                        </a:rPr>
                        <a:t>Agreed Action</a:t>
                      </a:r>
                      <a:endParaRPr lang="en-GB" sz="1600" b="1" i="0" u="none" strike="noStrike">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289572273"/>
                  </a:ext>
                </a:extLst>
              </a:tr>
              <a:tr h="260350">
                <a:tc>
                  <a:txBody>
                    <a:bodyPr/>
                    <a:lstStyle/>
                    <a:p>
                      <a:pPr algn="l" rtl="0" fontAlgn="b"/>
                      <a:r>
                        <a:rPr lang="en-GB" sz="1000" u="none" strike="noStrike" err="1">
                          <a:effectLst/>
                        </a:rPr>
                        <a:t>propertyType</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a:effectLst/>
                        </a:rPr>
                        <a:t>Yes, </a:t>
                      </a:r>
                      <a:r>
                        <a:rPr lang="en-GB" sz="1000" u="none" strike="noStrike" err="1">
                          <a:effectLst/>
                        </a:rPr>
                        <a:t>enum</a:t>
                      </a:r>
                      <a:r>
                        <a:rPr lang="en-GB" sz="1000" u="none" strike="noStrike">
                          <a:effectLst/>
                        </a:rPr>
                        <a:t> lookup</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a:effectLst/>
                        </a:rPr>
                        <a:t>Lower, impacts reporting </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Data not currently available in Grainger Salesforce</a:t>
                      </a: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 Grainger will map between systems but use “other” in the meantime. No impact to dev work on Vision+.</a:t>
                      </a:r>
                    </a:p>
                  </a:txBody>
                  <a:tcPr marL="6350" marR="6350" marT="6350" marB="0" anchor="b"/>
                </a:tc>
                <a:extLst>
                  <a:ext uri="{0D108BD9-81ED-4DB2-BD59-A6C34878D82A}">
                    <a16:rowId xmlns:a16="http://schemas.microsoft.com/office/drawing/2014/main" val="3559168806"/>
                  </a:ext>
                </a:extLst>
              </a:tr>
              <a:tr h="292100">
                <a:tc>
                  <a:txBody>
                    <a:bodyPr/>
                    <a:lstStyle/>
                    <a:p>
                      <a:pPr algn="l" rtl="0" fontAlgn="b"/>
                      <a:r>
                        <a:rPr lang="en-GB" sz="1000" u="none" strike="noStrike" kern="1200" err="1">
                          <a:solidFill>
                            <a:schemeClr val="dk1"/>
                          </a:solidFill>
                          <a:effectLst/>
                          <a:latin typeface="+mn-lt"/>
                          <a:ea typeface="+mn-ea"/>
                          <a:cs typeface="+mn-cs"/>
                        </a:rPr>
                        <a:t>propertyConstructionPeriod</a:t>
                      </a:r>
                      <a:endParaRPr lang="en-GB" sz="1000" u="none" strike="noStrike" kern="120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Yes, </a:t>
                      </a:r>
                      <a:r>
                        <a:rPr lang="en-GB" sz="1000" u="none" strike="noStrike" kern="1200" err="1">
                          <a:solidFill>
                            <a:schemeClr val="dk1"/>
                          </a:solidFill>
                          <a:effectLst/>
                          <a:latin typeface="+mn-lt"/>
                          <a:ea typeface="+mn-ea"/>
                          <a:cs typeface="+mn-cs"/>
                        </a:rPr>
                        <a:t>enum</a:t>
                      </a:r>
                      <a:r>
                        <a:rPr lang="en-GB" sz="1000" u="none" strike="noStrike" kern="1200">
                          <a:solidFill>
                            <a:schemeClr val="dk1"/>
                          </a:solidFill>
                          <a:effectLst/>
                          <a:latin typeface="+mn-lt"/>
                          <a:ea typeface="+mn-ea"/>
                          <a:cs typeface="+mn-cs"/>
                        </a:rPr>
                        <a:t> lookup</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a:solidFill>
                            <a:schemeClr val="dk1"/>
                          </a:solidFill>
                          <a:effectLst/>
                          <a:latin typeface="+mn-lt"/>
                          <a:ea typeface="+mn-ea"/>
                          <a:cs typeface="+mn-cs"/>
                        </a:rPr>
                        <a:t>Lower, impacts reporting </a:t>
                      </a:r>
                    </a:p>
                    <a:p>
                      <a:pPr marL="0" algn="l" defTabSz="914400" rtl="0" eaLnBrk="1" fontAlgn="b" latinLnBrk="0" hangingPunct="1"/>
                      <a:endParaRPr lang="en-GB" sz="1000" u="none" strike="noStrike" kern="120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Data not currently available in Grainger Salesforce</a:t>
                      </a: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Set to Non mandatory in new API call</a:t>
                      </a:r>
                    </a:p>
                  </a:txBody>
                  <a:tcPr marL="6350" marR="6350" marT="6350" marB="0" anchor="b"/>
                </a:tc>
                <a:extLst>
                  <a:ext uri="{0D108BD9-81ED-4DB2-BD59-A6C34878D82A}">
                    <a16:rowId xmlns:a16="http://schemas.microsoft.com/office/drawing/2014/main" val="4276615543"/>
                  </a:ext>
                </a:extLst>
              </a:tr>
              <a:tr h="387626">
                <a:tc>
                  <a:txBody>
                    <a:bodyPr/>
                    <a:lstStyle/>
                    <a:p>
                      <a:pPr algn="l" rtl="0" fontAlgn="b"/>
                      <a:r>
                        <a:rPr lang="en-GB" sz="1000" u="none" strike="noStrike" kern="1200">
                          <a:solidFill>
                            <a:schemeClr val="dk1"/>
                          </a:solidFill>
                          <a:effectLst/>
                          <a:latin typeface="+mn-lt"/>
                          <a:ea typeface="+mn-ea"/>
                          <a:cs typeface="+mn-cs"/>
                        </a:rPr>
                        <a:t>numberOfBedrooms</a:t>
                      </a: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Yes, integer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a:solidFill>
                            <a:schemeClr val="dk1"/>
                          </a:solidFill>
                          <a:effectLst/>
                          <a:latin typeface="+mn-lt"/>
                          <a:ea typeface="+mn-ea"/>
                          <a:cs typeface="+mn-cs"/>
                        </a:rPr>
                        <a:t>Lower, impacts reporting </a:t>
                      </a:r>
                    </a:p>
                    <a:p>
                      <a:pPr marL="0" algn="l" defTabSz="914400" rtl="0" eaLnBrk="1" fontAlgn="b" latinLnBrk="0" hangingPunct="1"/>
                      <a:endParaRPr lang="en-GB" sz="1000" u="none" strike="noStrike" kern="120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Data not currently recorded in Grainger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a:solidFill>
                            <a:schemeClr val="dk1"/>
                          </a:solidFill>
                          <a:effectLst/>
                          <a:latin typeface="+mn-lt"/>
                          <a:ea typeface="+mn-ea"/>
                          <a:cs typeface="+mn-cs"/>
                        </a:rPr>
                        <a:t>Set to Non mandatory in new API call</a:t>
                      </a:r>
                    </a:p>
                    <a:p>
                      <a:pPr algn="l" rtl="0" fontAlgn="b"/>
                      <a:r>
                        <a:rPr lang="en-GB" sz="1000" u="none" strike="noStrike" kern="1200">
                          <a:solidFill>
                            <a:schemeClr val="dk1"/>
                          </a:solidFill>
                          <a:effectLst/>
                          <a:latin typeface="+mn-lt"/>
                          <a:ea typeface="+mn-ea"/>
                          <a:cs typeface="+mn-cs"/>
                        </a:rPr>
                        <a:t> </a:t>
                      </a:r>
                    </a:p>
                  </a:txBody>
                  <a:tcPr marL="6350" marR="6350" marT="6350" marB="0" anchor="b"/>
                </a:tc>
                <a:extLst>
                  <a:ext uri="{0D108BD9-81ED-4DB2-BD59-A6C34878D82A}">
                    <a16:rowId xmlns:a16="http://schemas.microsoft.com/office/drawing/2014/main" val="1109797487"/>
                  </a:ext>
                </a:extLst>
              </a:tr>
              <a:tr h="463826">
                <a:tc>
                  <a:txBody>
                    <a:bodyPr/>
                    <a:lstStyle/>
                    <a:p>
                      <a:pPr algn="l" rtl="0" fontAlgn="b"/>
                      <a:r>
                        <a:rPr lang="en-GB" sz="1000" u="none" strike="noStrike" kern="1200" err="1">
                          <a:solidFill>
                            <a:schemeClr val="dk1"/>
                          </a:solidFill>
                          <a:effectLst/>
                          <a:latin typeface="+mn-lt"/>
                          <a:ea typeface="+mn-ea"/>
                          <a:cs typeface="+mn-cs"/>
                        </a:rPr>
                        <a:t>noOfAdultOccupants</a:t>
                      </a:r>
                      <a:endParaRPr lang="en-GB" sz="1000" u="none" strike="noStrike" kern="120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Yes, integer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a:solidFill>
                            <a:schemeClr val="dk1"/>
                          </a:solidFill>
                          <a:effectLst/>
                          <a:latin typeface="+mn-lt"/>
                          <a:ea typeface="+mn-ea"/>
                          <a:cs typeface="+mn-cs"/>
                        </a:rPr>
                        <a:t>High, impacts referencing chance</a:t>
                      </a:r>
                    </a:p>
                    <a:p>
                      <a:pPr algn="l" fontAlgn="b"/>
                      <a:endParaRPr lang="en-GB" sz="1000" u="none" strike="noStrike" kern="120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Data not currently recorded in Grainger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a:solidFill>
                            <a:schemeClr val="dk1"/>
                          </a:solidFill>
                          <a:effectLst/>
                          <a:latin typeface="+mn-lt"/>
                          <a:ea typeface="+mn-ea"/>
                          <a:cs typeface="+mn-cs"/>
                        </a:rPr>
                        <a:t>Recommend using tenant count,  </a:t>
                      </a:r>
                    </a:p>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a:solidFill>
                            <a:schemeClr val="dk1"/>
                          </a:solidFill>
                          <a:effectLst/>
                          <a:latin typeface="+mn-lt"/>
                          <a:ea typeface="+mn-ea"/>
                          <a:cs typeface="+mn-cs"/>
                        </a:rPr>
                        <a:t>Set to Non mandatory in new API call.</a:t>
                      </a:r>
                    </a:p>
                  </a:txBody>
                  <a:tcPr marL="6350" marR="6350" marT="6350" marB="0" anchor="b"/>
                </a:tc>
                <a:extLst>
                  <a:ext uri="{0D108BD9-81ED-4DB2-BD59-A6C34878D82A}">
                    <a16:rowId xmlns:a16="http://schemas.microsoft.com/office/drawing/2014/main" val="1922089198"/>
                  </a:ext>
                </a:extLst>
              </a:tr>
              <a:tr h="292100">
                <a:tc>
                  <a:txBody>
                    <a:bodyPr/>
                    <a:lstStyle/>
                    <a:p>
                      <a:pPr algn="l" rtl="0" fontAlgn="b"/>
                      <a:r>
                        <a:rPr lang="en-GB" sz="1000" u="none" strike="noStrike" kern="1200" err="1">
                          <a:solidFill>
                            <a:schemeClr val="dk1"/>
                          </a:solidFill>
                          <a:effectLst/>
                          <a:latin typeface="+mn-lt"/>
                          <a:ea typeface="+mn-ea"/>
                          <a:cs typeface="+mn-cs"/>
                        </a:rPr>
                        <a:t>noOfChildOccupants</a:t>
                      </a:r>
                      <a:endParaRPr lang="en-GB" sz="1000" u="none" strike="noStrike" kern="120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Yes, integer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a:solidFill>
                            <a:schemeClr val="dk1"/>
                          </a:solidFill>
                          <a:effectLst/>
                          <a:latin typeface="+mn-lt"/>
                          <a:ea typeface="+mn-ea"/>
                          <a:cs typeface="+mn-cs"/>
                        </a:rPr>
                        <a:t>Lower, impacts reporting </a:t>
                      </a:r>
                    </a:p>
                    <a:p>
                      <a:pPr algn="l" fontAlgn="b"/>
                      <a:endParaRPr lang="en-GB" sz="1000" u="none" strike="noStrike" kern="120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Data not currently recorded in Grainger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a:solidFill>
                            <a:schemeClr val="dk1"/>
                          </a:solidFill>
                          <a:effectLst/>
                          <a:latin typeface="+mn-lt"/>
                          <a:ea typeface="+mn-ea"/>
                          <a:cs typeface="+mn-cs"/>
                        </a:rPr>
                        <a:t>Set to Non mandatory in new API call</a:t>
                      </a:r>
                    </a:p>
                    <a:p>
                      <a:pPr algn="l" rtl="0" fontAlgn="b"/>
                      <a:r>
                        <a:rPr lang="en-GB" sz="1000" u="none" strike="noStrike" kern="1200">
                          <a:solidFill>
                            <a:schemeClr val="dk1"/>
                          </a:solidFill>
                          <a:effectLst/>
                          <a:latin typeface="+mn-lt"/>
                          <a:ea typeface="+mn-ea"/>
                          <a:cs typeface="+mn-cs"/>
                        </a:rPr>
                        <a:t> </a:t>
                      </a:r>
                    </a:p>
                  </a:txBody>
                  <a:tcPr marL="6350" marR="6350" marT="6350" marB="0" anchor="b"/>
                </a:tc>
                <a:extLst>
                  <a:ext uri="{0D108BD9-81ED-4DB2-BD59-A6C34878D82A}">
                    <a16:rowId xmlns:a16="http://schemas.microsoft.com/office/drawing/2014/main" val="4036439326"/>
                  </a:ext>
                </a:extLst>
              </a:tr>
              <a:tr h="292100">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rtl="0" fontAlgn="b"/>
                      <a:r>
                        <a:rPr lang="en-GB" sz="1000" u="none" strike="noStrike">
                          <a:effectLst/>
                        </a:rPr>
                        <a:t> </a:t>
                      </a:r>
                      <a:endParaRPr lang="en-GB" sz="1000" b="0" i="0" u="none" strike="noStrike">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702743145"/>
                  </a:ext>
                </a:extLst>
              </a:tr>
              <a:tr h="292100">
                <a:tc>
                  <a:txBody>
                    <a:bodyPr/>
                    <a:lstStyle/>
                    <a:p>
                      <a:pPr algn="l" rtl="0" fontAlgn="b"/>
                      <a:r>
                        <a:rPr lang="en-GB" sz="1600" b="1" u="none" strike="noStrike">
                          <a:effectLst/>
                        </a:rPr>
                        <a:t>Applicant </a:t>
                      </a:r>
                      <a:endParaRPr lang="en-GB" sz="1600" b="1" i="0" u="none" strike="noStrike">
                        <a:solidFill>
                          <a:srgbClr val="E3B900"/>
                        </a:solidFill>
                        <a:effectLst/>
                        <a:latin typeface="Calibri" panose="020F0502020204030204" pitchFamily="34" charset="0"/>
                      </a:endParaRPr>
                    </a:p>
                  </a:txBody>
                  <a:tcPr marL="6350" marR="6350" marT="6350" marB="0" anchor="b"/>
                </a:tc>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rtl="0" fontAlgn="b"/>
                      <a:r>
                        <a:rPr lang="en-GB" sz="1000" u="none" strike="noStrike">
                          <a:effectLst/>
                        </a:rPr>
                        <a:t> </a:t>
                      </a:r>
                      <a:endParaRPr lang="en-GB" sz="1000" b="0" i="0" u="none" strike="noStrike">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043935339"/>
                  </a:ext>
                </a:extLst>
              </a:tr>
              <a:tr h="260350">
                <a:tc>
                  <a:txBody>
                    <a:bodyPr/>
                    <a:lstStyle/>
                    <a:p>
                      <a:pPr algn="l" rtl="0" fontAlgn="b"/>
                      <a:r>
                        <a:rPr lang="en-GB" sz="1000" u="none" strike="noStrike">
                          <a:effectLst/>
                        </a:rPr>
                        <a:t>title</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a:effectLst/>
                        </a:rPr>
                        <a:t>Yes, </a:t>
                      </a:r>
                      <a:r>
                        <a:rPr lang="en-GB" sz="1000" u="none" strike="noStrike" err="1">
                          <a:effectLst/>
                        </a:rPr>
                        <a:t>enum</a:t>
                      </a:r>
                      <a:r>
                        <a:rPr lang="en-GB" sz="1000" u="none" strike="noStrike">
                          <a:effectLst/>
                        </a:rPr>
                        <a:t> lookup</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a:effectLst/>
                        </a:rPr>
                        <a:t>High, impacts referencing chance</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a:effectLst/>
                        </a:rPr>
                        <a:t>Data not currently mandatory in Grainger, not always recorded</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a:effectLst/>
                        </a:rPr>
                        <a:t>Grainger to amend system to provide title. </a:t>
                      </a:r>
                      <a:r>
                        <a:rPr lang="en-GB" sz="1000" b="1" u="none" strike="noStrike">
                          <a:effectLst/>
                        </a:rPr>
                        <a:t>Confirmed that Tenant has the ability to amend details in first screen of </a:t>
                      </a:r>
                      <a:r>
                        <a:rPr lang="en-GB" sz="1000" b="1" u="none" strike="noStrike" err="1">
                          <a:effectLst/>
                        </a:rPr>
                        <a:t>iframe</a:t>
                      </a:r>
                      <a:endParaRPr lang="en-GB" sz="1000" b="1" i="0" u="none" strike="noStrike">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702464774"/>
                  </a:ext>
                </a:extLst>
              </a:tr>
              <a:tr h="514350">
                <a:tc>
                  <a:txBody>
                    <a:bodyPr/>
                    <a:lstStyle/>
                    <a:p>
                      <a:pPr algn="l" rtl="0" fontAlgn="b"/>
                      <a:r>
                        <a:rPr lang="en-GB" sz="1000" u="none" strike="noStrike">
                          <a:effectLst/>
                        </a:rPr>
                        <a:t>telephoneCountryID</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Yes, </a:t>
                      </a:r>
                      <a:r>
                        <a:rPr lang="en-GB" sz="1000" u="none" strike="noStrike" kern="1200" err="1">
                          <a:solidFill>
                            <a:schemeClr val="dk1"/>
                          </a:solidFill>
                          <a:effectLst/>
                          <a:latin typeface="+mn-lt"/>
                          <a:ea typeface="+mn-ea"/>
                          <a:cs typeface="+mn-cs"/>
                        </a:rPr>
                        <a:t>enum</a:t>
                      </a:r>
                      <a:r>
                        <a:rPr lang="en-GB" sz="1000" u="none" strike="noStrike" kern="1200">
                          <a:solidFill>
                            <a:schemeClr val="dk1"/>
                          </a:solidFill>
                          <a:effectLst/>
                          <a:latin typeface="+mn-lt"/>
                          <a:ea typeface="+mn-ea"/>
                          <a:cs typeface="+mn-cs"/>
                        </a:rPr>
                        <a:t> lookup</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a:solidFill>
                            <a:schemeClr val="dk1"/>
                          </a:solidFill>
                          <a:effectLst/>
                          <a:latin typeface="+mn-lt"/>
                          <a:ea typeface="+mn-ea"/>
                          <a:cs typeface="+mn-cs"/>
                        </a:rPr>
                        <a:t> High, impacts referencing chance</a:t>
                      </a:r>
                    </a:p>
                  </a:txBody>
                  <a:tcPr marL="6350" marR="6350" marT="6350" marB="0" anchor="b"/>
                </a:tc>
                <a:tc>
                  <a:txBody>
                    <a:bodyPr/>
                    <a:lstStyle/>
                    <a:p>
                      <a:pPr algn="l" rtl="0" fontAlgn="b"/>
                      <a:r>
                        <a:rPr lang="en-GB" sz="1000" u="none" strike="noStrike">
                          <a:effectLst/>
                        </a:rPr>
                        <a:t>Data not currently recorded in Grainger, Telephone number is free text and can have country code or not</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b="1" u="none" strike="noStrike">
                          <a:effectLst/>
                        </a:rPr>
                        <a:t>Confirmed that Tenant has the ability to amend details in first screen of </a:t>
                      </a:r>
                      <a:r>
                        <a:rPr lang="en-GB" sz="1000" b="1" u="none" strike="noStrike" err="1">
                          <a:effectLst/>
                        </a:rPr>
                        <a:t>iframe</a:t>
                      </a:r>
                      <a:r>
                        <a:rPr lang="en-GB" sz="1000" u="none" strike="noStrike">
                          <a:effectLst/>
                        </a:rPr>
                        <a:t> </a:t>
                      </a:r>
                      <a:endParaRPr lang="en-GB" sz="1000" b="0" i="0" u="none" strike="noStrike">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62065040"/>
                  </a:ext>
                </a:extLst>
              </a:tr>
            </a:tbl>
          </a:graphicData>
        </a:graphic>
      </p:graphicFrame>
    </p:spTree>
    <p:extLst>
      <p:ext uri="{BB962C8B-B14F-4D97-AF65-F5344CB8AC3E}">
        <p14:creationId xmlns:p14="http://schemas.microsoft.com/office/powerpoint/2010/main" val="4103054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62FFB6-9E17-33AF-EAFD-E57FA722F514}"/>
              </a:ext>
            </a:extLst>
          </p:cNvPr>
          <p:cNvSpPr>
            <a:spLocks noGrp="1"/>
          </p:cNvSpPr>
          <p:nvPr>
            <p:ph type="sldNum" sz="quarter" idx="12"/>
          </p:nvPr>
        </p:nvSpPr>
        <p:spPr/>
        <p:txBody>
          <a:bodyPr/>
          <a:lstStyle/>
          <a:p>
            <a:r>
              <a:rPr lang="en-IN"/>
              <a:t>“</a:t>
            </a:r>
          </a:p>
        </p:txBody>
      </p:sp>
      <p:pic>
        <p:nvPicPr>
          <p:cNvPr id="6" name="Picture 5">
            <a:extLst>
              <a:ext uri="{FF2B5EF4-FFF2-40B4-BE49-F238E27FC236}">
                <a16:creationId xmlns:a16="http://schemas.microsoft.com/office/drawing/2014/main" id="{960317E0-97C8-7FD3-F734-9512DB59C892}"/>
              </a:ext>
            </a:extLst>
          </p:cNvPr>
          <p:cNvPicPr>
            <a:picLocks noChangeAspect="1"/>
          </p:cNvPicPr>
          <p:nvPr/>
        </p:nvPicPr>
        <p:blipFill>
          <a:blip r:embed="rId2"/>
          <a:stretch>
            <a:fillRect/>
          </a:stretch>
        </p:blipFill>
        <p:spPr>
          <a:xfrm>
            <a:off x="0" y="779363"/>
            <a:ext cx="9144000" cy="5299274"/>
          </a:xfrm>
          <a:prstGeom prst="rect">
            <a:avLst/>
          </a:prstGeom>
        </p:spPr>
      </p:pic>
      <p:sp>
        <p:nvSpPr>
          <p:cNvPr id="7" name="Rectangle 6">
            <a:extLst>
              <a:ext uri="{FF2B5EF4-FFF2-40B4-BE49-F238E27FC236}">
                <a16:creationId xmlns:a16="http://schemas.microsoft.com/office/drawing/2014/main" id="{EBC5AD71-DDB4-3F5A-813F-8E739BEEF289}"/>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A70FD34B-65AB-3498-7EEE-F3416C329482}"/>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A0A77DC-BEB4-1EB4-23A0-82190098AD98}"/>
              </a:ext>
            </a:extLst>
          </p:cNvPr>
          <p:cNvSpPr txBox="1"/>
          <p:nvPr/>
        </p:nvSpPr>
        <p:spPr>
          <a:xfrm>
            <a:off x="121920" y="262538"/>
            <a:ext cx="6099976" cy="830997"/>
          </a:xfrm>
          <a:prstGeom prst="rect">
            <a:avLst/>
          </a:prstGeom>
          <a:noFill/>
        </p:spPr>
        <p:txBody>
          <a:bodyPr wrap="square" rtlCol="0">
            <a:spAutoFit/>
          </a:bodyPr>
          <a:lstStyle/>
          <a:p>
            <a:r>
              <a:rPr lang="en-GB" sz="2400" b="1"/>
              <a:t>Additional Portal Validation</a:t>
            </a:r>
          </a:p>
          <a:p>
            <a:endParaRPr lang="en-GB" sz="2400" b="1"/>
          </a:p>
        </p:txBody>
      </p:sp>
    </p:spTree>
    <p:extLst>
      <p:ext uri="{BB962C8B-B14F-4D97-AF65-F5344CB8AC3E}">
        <p14:creationId xmlns:p14="http://schemas.microsoft.com/office/powerpoint/2010/main" val="3663659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1EBFAA3-FF8D-65C4-0788-5826D719A8D4}"/>
              </a:ext>
            </a:extLst>
          </p:cNvPr>
          <p:cNvSpPr txBox="1"/>
          <p:nvPr/>
        </p:nvSpPr>
        <p:spPr>
          <a:xfrm>
            <a:off x="121920" y="262537"/>
            <a:ext cx="5474547" cy="830997"/>
          </a:xfrm>
          <a:prstGeom prst="rect">
            <a:avLst/>
          </a:prstGeom>
          <a:noFill/>
        </p:spPr>
        <p:txBody>
          <a:bodyPr wrap="square" rtlCol="0">
            <a:spAutoFit/>
          </a:bodyPr>
          <a:lstStyle/>
          <a:p>
            <a:r>
              <a:rPr lang="en-GB" sz="2400" b="1"/>
              <a:t>Vision+ /Grainger Identity mapping</a:t>
            </a:r>
          </a:p>
          <a:p>
            <a:endParaRPr lang="en-GB" sz="2400" b="1"/>
          </a:p>
        </p:txBody>
      </p:sp>
      <p:pic>
        <p:nvPicPr>
          <p:cNvPr id="3" name="Picture 2" descr="A picture containing graphical user interface&#10;&#10;Description automatically generated">
            <a:extLst>
              <a:ext uri="{FF2B5EF4-FFF2-40B4-BE49-F238E27FC236}">
                <a16:creationId xmlns:a16="http://schemas.microsoft.com/office/drawing/2014/main" id="{5DF9AF62-1CEF-F85B-59CE-A6C91F539DA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1795" y="1002215"/>
            <a:ext cx="2364105" cy="2857566"/>
          </a:xfrm>
          <a:prstGeom prst="rect">
            <a:avLst/>
          </a:prstGeom>
          <a:noFill/>
          <a:ln>
            <a:noFill/>
          </a:ln>
        </p:spPr>
      </p:pic>
      <p:sp>
        <p:nvSpPr>
          <p:cNvPr id="6" name="Rectangle 5">
            <a:extLst>
              <a:ext uri="{FF2B5EF4-FFF2-40B4-BE49-F238E27FC236}">
                <a16:creationId xmlns:a16="http://schemas.microsoft.com/office/drawing/2014/main" id="{9E8DC496-B666-83C7-83F4-0A85A5BC7A78}"/>
              </a:ext>
            </a:extLst>
          </p:cNvPr>
          <p:cNvSpPr/>
          <p:nvPr/>
        </p:nvSpPr>
        <p:spPr>
          <a:xfrm>
            <a:off x="3114202" y="2203184"/>
            <a:ext cx="261461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err="1"/>
              <a:t>propertyTenancyId</a:t>
            </a:r>
            <a:endParaRPr lang="en-GB"/>
          </a:p>
        </p:txBody>
      </p:sp>
      <p:sp>
        <p:nvSpPr>
          <p:cNvPr id="7" name="Rectangle 6">
            <a:extLst>
              <a:ext uri="{FF2B5EF4-FFF2-40B4-BE49-F238E27FC236}">
                <a16:creationId xmlns:a16="http://schemas.microsoft.com/office/drawing/2014/main" id="{5D5E0EA8-FBF1-1A70-C3C0-FBAE42618A80}"/>
              </a:ext>
            </a:extLst>
          </p:cNvPr>
          <p:cNvSpPr/>
          <p:nvPr/>
        </p:nvSpPr>
        <p:spPr>
          <a:xfrm>
            <a:off x="3483758" y="3083909"/>
            <a:ext cx="135255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Applicant ID</a:t>
            </a:r>
          </a:p>
        </p:txBody>
      </p:sp>
      <p:sp>
        <p:nvSpPr>
          <p:cNvPr id="11" name="Rectangle 10">
            <a:extLst>
              <a:ext uri="{FF2B5EF4-FFF2-40B4-BE49-F238E27FC236}">
                <a16:creationId xmlns:a16="http://schemas.microsoft.com/office/drawing/2014/main" id="{976EF2CA-1DCC-7EA5-EA7E-6E750C368703}"/>
              </a:ext>
            </a:extLst>
          </p:cNvPr>
          <p:cNvSpPr/>
          <p:nvPr/>
        </p:nvSpPr>
        <p:spPr>
          <a:xfrm>
            <a:off x="3504479" y="3807337"/>
            <a:ext cx="135255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Applicant ID</a:t>
            </a:r>
          </a:p>
        </p:txBody>
      </p:sp>
      <p:sp>
        <p:nvSpPr>
          <p:cNvPr id="12" name="Rectangle 11">
            <a:extLst>
              <a:ext uri="{FF2B5EF4-FFF2-40B4-BE49-F238E27FC236}">
                <a16:creationId xmlns:a16="http://schemas.microsoft.com/office/drawing/2014/main" id="{B2681430-8D89-915B-B8F1-C2E6B22E06BC}"/>
              </a:ext>
            </a:extLst>
          </p:cNvPr>
          <p:cNvSpPr/>
          <p:nvPr/>
        </p:nvSpPr>
        <p:spPr>
          <a:xfrm>
            <a:off x="3504479" y="4619755"/>
            <a:ext cx="135255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Applicant ID</a:t>
            </a:r>
          </a:p>
        </p:txBody>
      </p:sp>
      <p:sp>
        <p:nvSpPr>
          <p:cNvPr id="13" name="Left Brace 12">
            <a:extLst>
              <a:ext uri="{FF2B5EF4-FFF2-40B4-BE49-F238E27FC236}">
                <a16:creationId xmlns:a16="http://schemas.microsoft.com/office/drawing/2014/main" id="{344D5109-A31E-AC09-7BC4-BBA7B330113E}"/>
              </a:ext>
            </a:extLst>
          </p:cNvPr>
          <p:cNvSpPr/>
          <p:nvPr/>
        </p:nvSpPr>
        <p:spPr>
          <a:xfrm>
            <a:off x="3114202" y="3205753"/>
            <a:ext cx="242184" cy="173785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1" name="Rectangle 20">
            <a:extLst>
              <a:ext uri="{FF2B5EF4-FFF2-40B4-BE49-F238E27FC236}">
                <a16:creationId xmlns:a16="http://schemas.microsoft.com/office/drawing/2014/main" id="{CC6E229A-0057-72FE-FDA0-113700C62B34}"/>
              </a:ext>
            </a:extLst>
          </p:cNvPr>
          <p:cNvSpPr/>
          <p:nvPr/>
        </p:nvSpPr>
        <p:spPr>
          <a:xfrm>
            <a:off x="3100704" y="1466112"/>
            <a:ext cx="261461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err="1"/>
              <a:t>agentID</a:t>
            </a:r>
            <a:endParaRPr lang="en-GB"/>
          </a:p>
        </p:txBody>
      </p:sp>
      <p:sp>
        <p:nvSpPr>
          <p:cNvPr id="22" name="Rectangle 21">
            <a:extLst>
              <a:ext uri="{FF2B5EF4-FFF2-40B4-BE49-F238E27FC236}">
                <a16:creationId xmlns:a16="http://schemas.microsoft.com/office/drawing/2014/main" id="{3268CFFC-2CBC-0BD9-7859-BCD8853AAC73}"/>
              </a:ext>
            </a:extLst>
          </p:cNvPr>
          <p:cNvSpPr/>
          <p:nvPr/>
        </p:nvSpPr>
        <p:spPr>
          <a:xfrm>
            <a:off x="7044055" y="1414662"/>
            <a:ext cx="1708150" cy="5349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a:t>264020 </a:t>
            </a:r>
            <a:r>
              <a:rPr lang="en-GB" altLang="en-US"/>
              <a:t> (Grainger)</a:t>
            </a:r>
            <a:endParaRPr lang="en-US" altLang="en-US"/>
          </a:p>
        </p:txBody>
      </p:sp>
      <p:sp>
        <p:nvSpPr>
          <p:cNvPr id="26" name="Rectangle 25">
            <a:extLst>
              <a:ext uri="{FF2B5EF4-FFF2-40B4-BE49-F238E27FC236}">
                <a16:creationId xmlns:a16="http://schemas.microsoft.com/office/drawing/2014/main" id="{048AE293-7A3D-8031-013D-6B68212315AC}"/>
              </a:ext>
            </a:extLst>
          </p:cNvPr>
          <p:cNvSpPr/>
          <p:nvPr/>
        </p:nvSpPr>
        <p:spPr>
          <a:xfrm>
            <a:off x="6656543" y="2154187"/>
            <a:ext cx="2366884"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a:t>Opportunity</a:t>
            </a:r>
          </a:p>
          <a:p>
            <a:pPr algn="ctr"/>
            <a:r>
              <a:rPr lang="en-GB" altLang="en-US" sz="1000" err="1"/>
              <a:t>Referencing_Property_Tenancy_Id__c</a:t>
            </a:r>
            <a:endParaRPr lang="en-US" altLang="en-US" sz="1000"/>
          </a:p>
        </p:txBody>
      </p:sp>
      <p:sp>
        <p:nvSpPr>
          <p:cNvPr id="29" name="TextBox 28">
            <a:extLst>
              <a:ext uri="{FF2B5EF4-FFF2-40B4-BE49-F238E27FC236}">
                <a16:creationId xmlns:a16="http://schemas.microsoft.com/office/drawing/2014/main" id="{2C6021FF-5FB5-956A-77AB-0A13E1A0F42E}"/>
              </a:ext>
            </a:extLst>
          </p:cNvPr>
          <p:cNvSpPr txBox="1"/>
          <p:nvPr/>
        </p:nvSpPr>
        <p:spPr>
          <a:xfrm>
            <a:off x="3100704" y="1020580"/>
            <a:ext cx="5300346" cy="369332"/>
          </a:xfrm>
          <a:prstGeom prst="rect">
            <a:avLst/>
          </a:prstGeom>
          <a:noFill/>
        </p:spPr>
        <p:txBody>
          <a:bodyPr wrap="square">
            <a:spAutoFit/>
          </a:bodyPr>
          <a:lstStyle/>
          <a:p>
            <a:r>
              <a:rPr lang="en-GB" sz="1800" b="1"/>
              <a:t>Vision+                                                             Grainger </a:t>
            </a:r>
            <a:endParaRPr lang="en-GB"/>
          </a:p>
        </p:txBody>
      </p:sp>
      <p:sp>
        <p:nvSpPr>
          <p:cNvPr id="30" name="TextBox 29">
            <a:extLst>
              <a:ext uri="{FF2B5EF4-FFF2-40B4-BE49-F238E27FC236}">
                <a16:creationId xmlns:a16="http://schemas.microsoft.com/office/drawing/2014/main" id="{727F1ABC-F29F-C967-7D55-4AFB3E74A05D}"/>
              </a:ext>
            </a:extLst>
          </p:cNvPr>
          <p:cNvSpPr txBox="1"/>
          <p:nvPr/>
        </p:nvSpPr>
        <p:spPr>
          <a:xfrm>
            <a:off x="2946294" y="5478108"/>
            <a:ext cx="5300346" cy="1200329"/>
          </a:xfrm>
          <a:prstGeom prst="rect">
            <a:avLst/>
          </a:prstGeom>
          <a:noFill/>
        </p:spPr>
        <p:txBody>
          <a:bodyPr wrap="square">
            <a:spAutoFit/>
          </a:bodyPr>
          <a:lstStyle/>
          <a:p>
            <a:r>
              <a:rPr lang="en-GB" sz="1800"/>
              <a:t>On create reference call or add applicant, the IDs are returned from Vision+ and stored in salesforce. These are synonymous data points with their equivalent in salesforce and other  Grainger systems</a:t>
            </a:r>
            <a:endParaRPr lang="en-GB"/>
          </a:p>
        </p:txBody>
      </p:sp>
      <p:sp>
        <p:nvSpPr>
          <p:cNvPr id="31" name="Arrow: Left-Right 30">
            <a:extLst>
              <a:ext uri="{FF2B5EF4-FFF2-40B4-BE49-F238E27FC236}">
                <a16:creationId xmlns:a16="http://schemas.microsoft.com/office/drawing/2014/main" id="{49484E97-ACD6-FA9B-5D09-4F4863BBE5BB}"/>
              </a:ext>
            </a:extLst>
          </p:cNvPr>
          <p:cNvSpPr/>
          <p:nvPr/>
        </p:nvSpPr>
        <p:spPr>
          <a:xfrm>
            <a:off x="5975822" y="1044390"/>
            <a:ext cx="680720" cy="373507"/>
          </a:xfrm>
          <a:prstGeom prst="leftRightArrow">
            <a:avLst>
              <a:gd name="adj1" fmla="val 28239"/>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E414C0F9-A693-FD03-4F9F-6777D5E88A9A}"/>
              </a:ext>
            </a:extLst>
          </p:cNvPr>
          <p:cNvSpPr/>
          <p:nvPr/>
        </p:nvSpPr>
        <p:spPr>
          <a:xfrm>
            <a:off x="6772833" y="2941770"/>
            <a:ext cx="2069953"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err="1"/>
              <a:t>OpportunityContactRole</a:t>
            </a:r>
            <a:endParaRPr lang="en-GB" altLang="en-US" sz="1400" b="1"/>
          </a:p>
          <a:p>
            <a:pPr algn="ctr"/>
            <a:r>
              <a:rPr lang="en-GB" altLang="en-US" sz="1000" err="1"/>
              <a:t>Referencing_Applicant_Id__c</a:t>
            </a:r>
            <a:endParaRPr lang="en-US" altLang="en-US" sz="1000"/>
          </a:p>
        </p:txBody>
      </p:sp>
      <p:sp>
        <p:nvSpPr>
          <p:cNvPr id="34" name="Rectangle 33">
            <a:extLst>
              <a:ext uri="{FF2B5EF4-FFF2-40B4-BE49-F238E27FC236}">
                <a16:creationId xmlns:a16="http://schemas.microsoft.com/office/drawing/2014/main" id="{50E2F77D-E5D1-3E28-C68D-5DAA9AD584C1}"/>
              </a:ext>
            </a:extLst>
          </p:cNvPr>
          <p:cNvSpPr/>
          <p:nvPr/>
        </p:nvSpPr>
        <p:spPr>
          <a:xfrm>
            <a:off x="6772832" y="3696597"/>
            <a:ext cx="2069953"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err="1"/>
              <a:t>OpportunityContactRole</a:t>
            </a:r>
            <a:endParaRPr lang="en-GB" altLang="en-US" sz="1400" b="1"/>
          </a:p>
          <a:p>
            <a:pPr algn="ctr"/>
            <a:r>
              <a:rPr lang="en-GB" altLang="en-US" sz="1000" err="1"/>
              <a:t>Referencing_Applicant_Id__c</a:t>
            </a:r>
            <a:endParaRPr lang="en-US" altLang="en-US" sz="1000"/>
          </a:p>
        </p:txBody>
      </p:sp>
      <p:sp>
        <p:nvSpPr>
          <p:cNvPr id="35" name="Rectangle 34">
            <a:extLst>
              <a:ext uri="{FF2B5EF4-FFF2-40B4-BE49-F238E27FC236}">
                <a16:creationId xmlns:a16="http://schemas.microsoft.com/office/drawing/2014/main" id="{3473BDA7-0FCF-3F0B-4D65-C7F5C6F9D6B3}"/>
              </a:ext>
            </a:extLst>
          </p:cNvPr>
          <p:cNvSpPr/>
          <p:nvPr/>
        </p:nvSpPr>
        <p:spPr>
          <a:xfrm>
            <a:off x="6772832" y="4463112"/>
            <a:ext cx="2069953"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err="1"/>
              <a:t>OpportunityContactRole</a:t>
            </a:r>
            <a:endParaRPr lang="en-GB" altLang="en-US" sz="1400" b="1"/>
          </a:p>
          <a:p>
            <a:pPr algn="ctr"/>
            <a:r>
              <a:rPr lang="en-GB" altLang="en-US" sz="1000" err="1"/>
              <a:t>Referencing_Applicant_Id__c</a:t>
            </a:r>
            <a:endParaRPr lang="en-US" altLang="en-US" sz="1000"/>
          </a:p>
        </p:txBody>
      </p:sp>
    </p:spTree>
    <p:extLst>
      <p:ext uri="{BB962C8B-B14F-4D97-AF65-F5344CB8AC3E}">
        <p14:creationId xmlns:p14="http://schemas.microsoft.com/office/powerpoint/2010/main" val="4252667282"/>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Custom 8">
      <a:dk1>
        <a:srgbClr val="E3B900"/>
      </a:dk1>
      <a:lt1>
        <a:srgbClr val="FFFFFF"/>
      </a:lt1>
      <a:dk2>
        <a:srgbClr val="35393B"/>
      </a:dk2>
      <a:lt2>
        <a:srgbClr val="FEFFFE"/>
      </a:lt2>
      <a:accent1>
        <a:srgbClr val="E3B900"/>
      </a:accent1>
      <a:accent2>
        <a:srgbClr val="D4D5D4"/>
      </a:accent2>
      <a:accent3>
        <a:srgbClr val="35393A"/>
      </a:accent3>
      <a:accent4>
        <a:srgbClr val="FEFFFE"/>
      </a:accent4>
      <a:accent5>
        <a:srgbClr val="FFD600"/>
      </a:accent5>
      <a:accent6>
        <a:srgbClr val="A38500"/>
      </a:accent6>
      <a:hlink>
        <a:srgbClr val="A38500"/>
      </a:hlink>
      <a:folHlink>
        <a:srgbClr val="E3B90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B4E123A7400DE24C83BA9D1BFCD12C10" ma:contentTypeVersion="3" ma:contentTypeDescription="A document associated with a project for a client." ma:contentTypeScope="" ma:versionID="9d6581bc5c99e8ea3938d4fa8ba888f5">
  <xsd:schema xmlns:xsd="http://www.w3.org/2001/XMLSchema" xmlns:xs="http://www.w3.org/2001/XMLSchema" xmlns:p="http://schemas.microsoft.com/office/2006/metadata/properties" xmlns:ns2="1ffbd5dc-7a64-4097-8396-87f6c90b212f" targetNamespace="http://schemas.microsoft.com/office/2006/metadata/properties" ma:root="true" ma:fieldsID="a0c1b2c62e26289b034b466cfffa7cd3"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Custom Software</TermName>
          <TermId xmlns="http://schemas.microsoft.com/office/infopath/2007/PartnerControls">cecfb662-fc63-4c9e-b6e4-2e3797fe6f4f</TermId>
        </TermInfo>
      </Terms>
    </nae5750f31d8428b9a1182bd8e59d390>
    <k6ebf865df8440b3a55c1aa81c9bae7c xmlns="1ffbd5dc-7a64-4097-8396-87f6c90b212f">
      <Terms xmlns="http://schemas.microsoft.com/office/infopath/2007/PartnerControls"/>
    </k6ebf865df8440b3a55c1aa81c9bae7c>
    <f0dc22cb723843c1bfbb2e8bcc9db6e4 xmlns="1ffbd5dc-7a64-4097-8396-87f6c90b212f">
      <Terms xmlns="http://schemas.microsoft.com/office/infopath/2007/PartnerControls"/>
    </f0dc22cb723843c1bfbb2e8bcc9db6e4>
    <TaxCatchAll xmlns="1ffbd5dc-7a64-4097-8396-87f6c90b212f">
      <Value>1</Value>
      <Value>6</Value>
    </TaxCatchAll>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Grainger PLC</TermName>
          <TermId xmlns="http://schemas.microsoft.com/office/infopath/2007/PartnerControls">a74f1cb5-e995-4f9e-8521-6d52e2c6bf08</TermId>
        </TermInfo>
      </Terms>
    </ica44df5449d49f98766f83f0bd254a7>
  </documentManagement>
</p:properties>
</file>

<file path=customXml/item3.xml><?xml version="1.0" encoding="utf-8"?>
<?mso-contentType ?>
<SharedContentType xmlns="Microsoft.SharePoint.Taxonomy.ContentTypeSync" SourceId="5676dd91-060c-4b71-810a-dbdca5582071" ContentTypeId="0x010100B16301FA1C2D5E4DB9305F31D037531D020703" PreviousValue="false"/>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CB10696-FB2A-4076-88C5-AFBA40A3EFCB}"/>
</file>

<file path=customXml/itemProps2.xml><?xml version="1.0" encoding="utf-8"?>
<ds:datastoreItem xmlns:ds="http://schemas.openxmlformats.org/officeDocument/2006/customXml" ds:itemID="{8AE041E5-2483-43B0-8D4B-CEC76562B093}">
  <ds:schemaRefs>
    <ds:schemaRef ds:uri="1ffbd5dc-7a64-4097-8396-87f6c90b212f"/>
    <ds:schemaRef ds:uri="9a9a1022-8e65-437d-ba5c-7a44561f7dcd"/>
    <ds:schemaRef ds:uri="c8cf1308-b726-4ff4-8251-588490a0b52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0E7D23D-A4DD-4999-BB32-663C4E8ED494}">
  <ds:schemaRefs>
    <ds:schemaRef ds:uri="Microsoft.SharePoint.Taxonomy.ContentTypeSync"/>
  </ds:schemaRefs>
</ds:datastoreItem>
</file>

<file path=customXml/itemProps4.xml><?xml version="1.0" encoding="utf-8"?>
<ds:datastoreItem xmlns:ds="http://schemas.openxmlformats.org/officeDocument/2006/customXml" ds:itemID="{DCBBABD8-3555-48AA-8719-AB43048C5B5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11</Slides>
  <Notes>9</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Donnelly, Craig (Fish)</dc:creator>
  <cp:revision>1</cp:revision>
  <cp:lastPrinted>2019-07-17T11:00:11Z</cp:lastPrinted>
  <dcterms:created xsi:type="dcterms:W3CDTF">2017-07-18T10:38:07Z</dcterms:created>
  <dcterms:modified xsi:type="dcterms:W3CDTF">2023-08-03T10:29:10Z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0x010100B16301FA1C2D5E4DB9305F31D037531D02070300B4E123A7400DE24C83BA9D1BFCD12C10</vt:lpwstr>
  </property>
  <property fmtid="{D5CDD505-2E9C-101B-9397-08002B2CF9AE}" pid="3" name="Project_x0020_Document_x0020_Type">
    <vt:lpwstr/>
  </property>
  <property fmtid="{D5CDD505-2E9C-101B-9397-08002B2CF9AE}" pid="4" name="Client_x0020_Project">
    <vt:lpwstr/>
  </property>
  <property fmtid="{D5CDD505-2E9C-101B-9397-08002B2CF9AE}" pid="5" name="SharedWithUsers">
    <vt:lpwstr>29;#Anjali Salecha</vt:lpwstr>
  </property>
  <property fmtid="{D5CDD505-2E9C-101B-9397-08002B2CF9AE}" pid="6" name="Project Document Type">
    <vt:lpwstr/>
  </property>
  <property fmtid="{D5CDD505-2E9C-101B-9397-08002B2CF9AE}" pid="7" name="Client Project">
    <vt:lpwstr/>
  </property>
  <property fmtid="{D5CDD505-2E9C-101B-9397-08002B2CF9AE}" pid="8" name="Client">
    <vt:lpwstr>6;#Grainger PLC|a74f1cb5-e995-4f9e-8521-6d52e2c6bf08</vt:lpwstr>
  </property>
  <property fmtid="{D5CDD505-2E9C-101B-9397-08002B2CF9AE}" pid="9" name="Division">
    <vt:lpwstr>1;#Custom Software|cecfb662-fc63-4c9e-b6e4-2e3797fe6f4f</vt:lpwstr>
  </property>
</Properties>
</file>