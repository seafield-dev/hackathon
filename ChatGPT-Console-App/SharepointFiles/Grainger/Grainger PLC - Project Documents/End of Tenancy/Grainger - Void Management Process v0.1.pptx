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slideLayouts/slideLayout6.xml" ContentType="application/vnd.openxmlformats-officedocument.presentationml.slideLayout+xml"/>
  <Override PartName="/ppt/theme/theme3.xml" ContentType="application/vnd.openxmlformats-officedocument.them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4.xml" ContentType="application/vnd.openxmlformats-officedocument.theme+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5.xml" ContentType="application/vnd.openxmlformats-officedocument.theme+xml"/>
  <Override PartName="/ppt/slideLayouts/slideLayout11.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5"/>
    <p:sldMasterId id="2147483684" r:id="rId6"/>
    <p:sldMasterId id="2147483677" r:id="rId7"/>
    <p:sldMasterId id="2147483663" r:id="rId8"/>
    <p:sldMasterId id="2147483653" r:id="rId9"/>
    <p:sldMasterId id="2147483682" r:id="rId10"/>
  </p:sldMasterIdLst>
  <p:notesMasterIdLst>
    <p:notesMasterId r:id="rId26"/>
  </p:notesMasterIdLst>
  <p:sldIdLst>
    <p:sldId id="310" r:id="rId11"/>
    <p:sldId id="470" r:id="rId12"/>
    <p:sldId id="476" r:id="rId13"/>
    <p:sldId id="477" r:id="rId14"/>
    <p:sldId id="478" r:id="rId15"/>
    <p:sldId id="479" r:id="rId16"/>
    <p:sldId id="480" r:id="rId17"/>
    <p:sldId id="481" r:id="rId18"/>
    <p:sldId id="472" r:id="rId19"/>
    <p:sldId id="482" r:id="rId20"/>
    <p:sldId id="473" r:id="rId21"/>
    <p:sldId id="474" r:id="rId22"/>
    <p:sldId id="475" r:id="rId23"/>
    <p:sldId id="461" r:id="rId24"/>
    <p:sldId id="471"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355633-B58B-FA2B-F94C-72D860131590}" name="Craig Mackintosh" initials="CM" userId="S::cmackintosh@openboxsoftware.com::60563cfe-5481-48be-93e8-059b7c3b7ecd" providerId="AD"/>
  <p188:author id="{B27D6C62-A87E-9EA8-949E-BE3DB87D866D}" name="Shaun Barrett" initials="SB" userId="S::sbarrett@openboxsoftware.com::2e21295b-21c9-4734-b4c8-23b29a1a1ba3" providerId="AD"/>
  <p188:author id="{F676EB76-A351-5D1A-90C7-82F15A7D79D3}" name="Handre Van Der Merwe" initials="HVDM" userId="S::hvandermerwe@openboxsoftware.com::cff7518e-6e24-4c87-9d41-565d39f45972" providerId="AD"/>
  <p188:author id="{411D59CB-E194-D74B-FCF5-28A77AEB51E7}" name="Sam Duncan" initials="SD" userId="S::sduncan@openboxsoftware.com::c1d0992b-0ec5-443a-8c6c-87e1361e2b1d"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BCD727"/>
    <a:srgbClr val="999999"/>
    <a:srgbClr val="B4B8B8"/>
    <a:srgbClr val="7F7F7F"/>
    <a:srgbClr val="D9D9D9"/>
    <a:srgbClr val="DDEB91"/>
    <a:srgbClr val="B7DDE8"/>
    <a:srgbClr val="F0B968"/>
    <a:srgbClr val="D8D8D8"/>
    <a:srgbClr val="ADADA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15B638-D57F-624F-A790-22E46C63E479}" v="4" dt="2023-03-29T12:55:31.1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547"/>
    <p:restoredTop sz="94719"/>
  </p:normalViewPr>
  <p:slideViewPr>
    <p:cSldViewPr snapToGrid="0" showGuides="1">
      <p:cViewPr varScale="1">
        <p:scale>
          <a:sx n="133" d="100"/>
          <a:sy n="133" d="100"/>
        </p:scale>
        <p:origin x="216" y="520"/>
      </p:cViewPr>
      <p:guideLst>
        <p:guide orient="horz" pos="2160"/>
        <p:guide pos="3840"/>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1.xml"/><Relationship Id="rId7" Type="http://schemas.openxmlformats.org/officeDocument/2006/relationships/slideMaster" Target="slideMasters/slideMaster3.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1.xml"/><Relationship Id="rId24" Type="http://schemas.openxmlformats.org/officeDocument/2006/relationships/slide" Target="slides/slide14.xml"/><Relationship Id="rId32" Type="http://schemas.microsoft.com/office/2015/10/relationships/revisionInfo" Target="revisionInfo.xml"/><Relationship Id="rId5" Type="http://schemas.openxmlformats.org/officeDocument/2006/relationships/slideMaster" Target="slideMasters/slideMaster1.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viewProps" Target="viewProps.xml"/><Relationship Id="rId10" Type="http://schemas.openxmlformats.org/officeDocument/2006/relationships/slideMaster" Target="slideMasters/slideMaster6.xml"/><Relationship Id="rId19" Type="http://schemas.openxmlformats.org/officeDocument/2006/relationships/slide" Target="slides/slide9.xml"/><Relationship Id="rId3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Master" Target="slideMasters/slideMaster5.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presProps" Target="presProps.xml"/><Relationship Id="rId30" Type="http://schemas.openxmlformats.org/officeDocument/2006/relationships/tableStyles" Target="tableStyles.xml"/><Relationship Id="rId8" Type="http://schemas.openxmlformats.org/officeDocument/2006/relationships/slideMaster" Target="slideMasters/slideMaster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 Duncan" userId="c1d0992b-0ec5-443a-8c6c-87e1361e2b1d" providerId="ADAL" clId="{F415B638-D57F-624F-A790-22E46C63E479}"/>
    <pc:docChg chg="custSel modSld modMainMaster">
      <pc:chgData name="Sam Duncan" userId="c1d0992b-0ec5-443a-8c6c-87e1361e2b1d" providerId="ADAL" clId="{F415B638-D57F-624F-A790-22E46C63E479}" dt="2023-03-29T12:55:51.748" v="7"/>
      <pc:docMkLst>
        <pc:docMk/>
      </pc:docMkLst>
      <pc:sldChg chg="addSp delSp modSp mod delCm">
        <pc:chgData name="Sam Duncan" userId="c1d0992b-0ec5-443a-8c6c-87e1361e2b1d" providerId="ADAL" clId="{F415B638-D57F-624F-A790-22E46C63E479}" dt="2023-03-29T12:55:51.748" v="7"/>
        <pc:sldMkLst>
          <pc:docMk/>
          <pc:sldMk cId="1027954244" sldId="310"/>
        </pc:sldMkLst>
        <pc:spChg chg="add del mod">
          <ac:chgData name="Sam Duncan" userId="c1d0992b-0ec5-443a-8c6c-87e1361e2b1d" providerId="ADAL" clId="{F415B638-D57F-624F-A790-22E46C63E479}" dt="2023-03-29T12:54:38.943" v="2"/>
          <ac:spMkLst>
            <pc:docMk/>
            <pc:sldMk cId="1027954244" sldId="310"/>
            <ac:spMk id="3" creationId="{576BC89F-0B11-D5D5-11FB-A2455FFDAD31}"/>
          </ac:spMkLst>
        </pc:spChg>
      </pc:sldChg>
      <pc:sldChg chg="delCm">
        <pc:chgData name="Sam Duncan" userId="c1d0992b-0ec5-443a-8c6c-87e1361e2b1d" providerId="ADAL" clId="{F415B638-D57F-624F-A790-22E46C63E479}" dt="2023-03-29T12:55:51.748" v="7"/>
        <pc:sldMkLst>
          <pc:docMk/>
          <pc:sldMk cId="799829450" sldId="472"/>
        </pc:sldMkLst>
      </pc:sldChg>
      <pc:sldChg chg="delCm">
        <pc:chgData name="Sam Duncan" userId="c1d0992b-0ec5-443a-8c6c-87e1361e2b1d" providerId="ADAL" clId="{F415B638-D57F-624F-A790-22E46C63E479}" dt="2023-03-29T12:55:51.748" v="7"/>
        <pc:sldMkLst>
          <pc:docMk/>
          <pc:sldMk cId="1184611834" sldId="478"/>
        </pc:sldMkLst>
      </pc:sldChg>
      <pc:sldChg chg="delCm">
        <pc:chgData name="Sam Duncan" userId="c1d0992b-0ec5-443a-8c6c-87e1361e2b1d" providerId="ADAL" clId="{F415B638-D57F-624F-A790-22E46C63E479}" dt="2023-03-29T12:55:51.748" v="7"/>
        <pc:sldMkLst>
          <pc:docMk/>
          <pc:sldMk cId="1129017885" sldId="479"/>
        </pc:sldMkLst>
      </pc:sldChg>
      <pc:sldChg chg="delCm">
        <pc:chgData name="Sam Duncan" userId="c1d0992b-0ec5-443a-8c6c-87e1361e2b1d" providerId="ADAL" clId="{F415B638-D57F-624F-A790-22E46C63E479}" dt="2023-03-29T12:55:51.748" v="7"/>
        <pc:sldMkLst>
          <pc:docMk/>
          <pc:sldMk cId="2615786624" sldId="481"/>
        </pc:sldMkLst>
      </pc:sldChg>
      <pc:sldChg chg="delCm">
        <pc:chgData name="Sam Duncan" userId="c1d0992b-0ec5-443a-8c6c-87e1361e2b1d" providerId="ADAL" clId="{F415B638-D57F-624F-A790-22E46C63E479}" dt="2023-03-29T12:55:51.748" v="7"/>
        <pc:sldMkLst>
          <pc:docMk/>
          <pc:sldMk cId="3382783426" sldId="482"/>
        </pc:sldMkLst>
      </pc:sldChg>
      <pc:sldMasterChg chg="addSp delSp modSp mod">
        <pc:chgData name="Sam Duncan" userId="c1d0992b-0ec5-443a-8c6c-87e1361e2b1d" providerId="ADAL" clId="{F415B638-D57F-624F-A790-22E46C63E479}" dt="2023-03-29T12:55:31.119" v="6" actId="1076"/>
        <pc:sldMasterMkLst>
          <pc:docMk/>
          <pc:sldMasterMk cId="22503257" sldId="2147483684"/>
        </pc:sldMasterMkLst>
        <pc:picChg chg="del">
          <ac:chgData name="Sam Duncan" userId="c1d0992b-0ec5-443a-8c6c-87e1361e2b1d" providerId="ADAL" clId="{F415B638-D57F-624F-A790-22E46C63E479}" dt="2023-03-29T12:54:45.297" v="3" actId="478"/>
          <ac:picMkLst>
            <pc:docMk/>
            <pc:sldMasterMk cId="22503257" sldId="2147483684"/>
            <ac:picMk id="7" creationId="{695B26C6-8D33-7FD2-0826-C849A37EABBE}"/>
          </ac:picMkLst>
        </pc:picChg>
        <pc:picChg chg="add mod">
          <ac:chgData name="Sam Duncan" userId="c1d0992b-0ec5-443a-8c6c-87e1361e2b1d" providerId="ADAL" clId="{F415B638-D57F-624F-A790-22E46C63E479}" dt="2023-03-29T12:55:31.119" v="6" actId="1076"/>
          <ac:picMkLst>
            <pc:docMk/>
            <pc:sldMasterMk cId="22503257" sldId="2147483684"/>
            <ac:picMk id="1026" creationId="{3A07E050-8C54-7325-478B-2D9B8EAF54EC}"/>
          </ac:picMkLst>
        </pc:picChg>
      </pc:sldMasterChg>
    </pc:docChg>
  </pc:docChgLst>
  <pc:docChgLst>
    <pc:chgData name="Sam Duncan" userId="c1d0992b-0ec5-443a-8c6c-87e1361e2b1d" providerId="ADAL" clId="{6F346DA2-721A-0545-AF59-2579061D3D31}"/>
    <pc:docChg chg="">
      <pc:chgData name="Sam Duncan" userId="c1d0992b-0ec5-443a-8c6c-87e1361e2b1d" providerId="ADAL" clId="{6F346DA2-721A-0545-AF59-2579061D3D31}" dt="2023-03-07T18:58:28.675" v="0"/>
      <pc:docMkLst>
        <pc:docMk/>
      </pc:docMkLst>
      <pc:sldChg chg="modCm">
        <pc:chgData name="Sam Duncan" userId="c1d0992b-0ec5-443a-8c6c-87e1361e2b1d" providerId="ADAL" clId="{6F346DA2-721A-0545-AF59-2579061D3D31}" dt="2023-03-07T18:58:28.675" v="0"/>
        <pc:sldMkLst>
          <pc:docMk/>
          <pc:sldMk cId="1027954244" sldId="310"/>
        </pc:sldMkLst>
      </pc:sldChg>
    </pc:docChg>
  </pc:docChgLst>
  <pc:docChgLst>
    <pc:chgData name="Shaun Barrett" userId="2e21295b-21c9-4734-b4c8-23b29a1a1ba3" providerId="ADAL" clId="{75C4776D-FD04-4C98-8903-1E0B09EE6B50}"/>
    <pc:docChg chg="undo custSel modSld">
      <pc:chgData name="Shaun Barrett" userId="2e21295b-21c9-4734-b4c8-23b29a1a1ba3" providerId="ADAL" clId="{75C4776D-FD04-4C98-8903-1E0B09EE6B50}" dt="2023-03-07T13:03:04.428" v="23"/>
      <pc:docMkLst>
        <pc:docMk/>
      </pc:docMkLst>
      <pc:sldChg chg="addCm modCm">
        <pc:chgData name="Shaun Barrett" userId="2e21295b-21c9-4734-b4c8-23b29a1a1ba3" providerId="ADAL" clId="{75C4776D-FD04-4C98-8903-1E0B09EE6B50}" dt="2023-03-07T13:03:04.428" v="23"/>
        <pc:sldMkLst>
          <pc:docMk/>
          <pc:sldMk cId="1027954244" sldId="310"/>
        </pc:sldMkLst>
      </pc:sldChg>
      <pc:sldChg chg="addCm">
        <pc:chgData name="Shaun Barrett" userId="2e21295b-21c9-4734-b4c8-23b29a1a1ba3" providerId="ADAL" clId="{75C4776D-FD04-4C98-8903-1E0B09EE6B50}" dt="2023-03-07T12:55:09.061" v="18"/>
        <pc:sldMkLst>
          <pc:docMk/>
          <pc:sldMk cId="799829450" sldId="472"/>
        </pc:sldMkLst>
      </pc:sldChg>
      <pc:sldChg chg="modSp mod addCm modCm">
        <pc:chgData name="Shaun Barrett" userId="2e21295b-21c9-4734-b4c8-23b29a1a1ba3" providerId="ADAL" clId="{75C4776D-FD04-4C98-8903-1E0B09EE6B50}" dt="2023-03-07T13:02:29.125" v="22"/>
        <pc:sldMkLst>
          <pc:docMk/>
          <pc:sldMk cId="1184611834" sldId="478"/>
        </pc:sldMkLst>
        <pc:graphicFrameChg chg="modGraphic">
          <ac:chgData name="Shaun Barrett" userId="2e21295b-21c9-4734-b4c8-23b29a1a1ba3" providerId="ADAL" clId="{75C4776D-FD04-4C98-8903-1E0B09EE6B50}" dt="2023-03-07T12:45:45.565" v="12" actId="14734"/>
          <ac:graphicFrameMkLst>
            <pc:docMk/>
            <pc:sldMk cId="1184611834" sldId="478"/>
            <ac:graphicFrameMk id="5" creationId="{361E121A-CDE1-CC08-E5F8-BA86F8147FCF}"/>
          </ac:graphicFrameMkLst>
        </pc:graphicFrameChg>
      </pc:sldChg>
      <pc:sldChg chg="addCm">
        <pc:chgData name="Shaun Barrett" userId="2e21295b-21c9-4734-b4c8-23b29a1a1ba3" providerId="ADAL" clId="{75C4776D-FD04-4C98-8903-1E0B09EE6B50}" dt="2023-03-07T12:48:05.006" v="14"/>
        <pc:sldMkLst>
          <pc:docMk/>
          <pc:sldMk cId="1129017885" sldId="479"/>
        </pc:sldMkLst>
      </pc:sldChg>
      <pc:sldChg chg="addCm modCm">
        <pc:chgData name="Shaun Barrett" userId="2e21295b-21c9-4734-b4c8-23b29a1a1ba3" providerId="ADAL" clId="{75C4776D-FD04-4C98-8903-1E0B09EE6B50}" dt="2023-03-07T12:53:58.081" v="17"/>
        <pc:sldMkLst>
          <pc:docMk/>
          <pc:sldMk cId="2615786624" sldId="481"/>
        </pc:sldMkLst>
      </pc:sldChg>
      <pc:sldChg chg="addCm modCm">
        <pc:chgData name="Shaun Barrett" userId="2e21295b-21c9-4734-b4c8-23b29a1a1ba3" providerId="ADAL" clId="{75C4776D-FD04-4C98-8903-1E0B09EE6B50}" dt="2023-03-07T13:01:16.518" v="21"/>
        <pc:sldMkLst>
          <pc:docMk/>
          <pc:sldMk cId="3382783426" sldId="48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B5A83F-5EA6-A54A-842D-78D513FD3E7D}" type="doc">
      <dgm:prSet loTypeId="urn:microsoft.com/office/officeart/2005/8/layout/chevron1" loCatId="" qsTypeId="urn:microsoft.com/office/officeart/2005/8/quickstyle/simple1" qsCatId="simple" csTypeId="urn:microsoft.com/office/officeart/2005/8/colors/accent1_2" csCatId="accent1" phldr="1"/>
      <dgm:spPr/>
    </dgm:pt>
    <dgm:pt modelId="{154D86D0-6ABF-8F4E-94BA-98F2D356BF64}">
      <dgm:prSet phldrT="[Text]"/>
      <dgm:spPr/>
      <dgm:t>
        <a:bodyPr/>
        <a:lstStyle/>
        <a:p>
          <a:r>
            <a:rPr lang="en-GB" dirty="0"/>
            <a:t>Design</a:t>
          </a:r>
        </a:p>
      </dgm:t>
    </dgm:pt>
    <dgm:pt modelId="{BFF45610-8BB2-A84B-A9AE-B3FF7FF846F7}" type="parTrans" cxnId="{DB0D44E1-A689-8E4A-B0FA-2D25570D5E06}">
      <dgm:prSet/>
      <dgm:spPr/>
      <dgm:t>
        <a:bodyPr/>
        <a:lstStyle/>
        <a:p>
          <a:endParaRPr lang="en-GB"/>
        </a:p>
      </dgm:t>
    </dgm:pt>
    <dgm:pt modelId="{0E11D446-3C90-4A4E-9024-E5A2C4854ED9}" type="sibTrans" cxnId="{DB0D44E1-A689-8E4A-B0FA-2D25570D5E06}">
      <dgm:prSet/>
      <dgm:spPr/>
      <dgm:t>
        <a:bodyPr/>
        <a:lstStyle/>
        <a:p>
          <a:endParaRPr lang="en-GB"/>
        </a:p>
      </dgm:t>
    </dgm:pt>
    <dgm:pt modelId="{1FED44B4-0E06-5841-B98F-42C36F705920}">
      <dgm:prSet phldrT="[Text]"/>
      <dgm:spPr/>
      <dgm:t>
        <a:bodyPr/>
        <a:lstStyle/>
        <a:p>
          <a:r>
            <a:rPr lang="en-GB" dirty="0"/>
            <a:t>Build</a:t>
          </a:r>
        </a:p>
      </dgm:t>
    </dgm:pt>
    <dgm:pt modelId="{33A3B65E-1E3E-CA41-8C32-CEBBA3F5ECE4}" type="parTrans" cxnId="{7D88BF94-2478-DF4A-866C-B0BEF663618A}">
      <dgm:prSet/>
      <dgm:spPr/>
      <dgm:t>
        <a:bodyPr/>
        <a:lstStyle/>
        <a:p>
          <a:endParaRPr lang="en-GB"/>
        </a:p>
      </dgm:t>
    </dgm:pt>
    <dgm:pt modelId="{64C207CB-8945-084A-9244-A144A6D044AA}" type="sibTrans" cxnId="{7D88BF94-2478-DF4A-866C-B0BEF663618A}">
      <dgm:prSet/>
      <dgm:spPr/>
      <dgm:t>
        <a:bodyPr/>
        <a:lstStyle/>
        <a:p>
          <a:endParaRPr lang="en-GB"/>
        </a:p>
      </dgm:t>
    </dgm:pt>
    <dgm:pt modelId="{E36F6A82-C52D-D340-B182-703F461B1A57}">
      <dgm:prSet phldrT="[Text]"/>
      <dgm:spPr/>
      <dgm:t>
        <a:bodyPr/>
        <a:lstStyle/>
        <a:p>
          <a:r>
            <a:rPr lang="en-GB" dirty="0"/>
            <a:t>Rollout</a:t>
          </a:r>
        </a:p>
      </dgm:t>
    </dgm:pt>
    <dgm:pt modelId="{74391BF6-5B50-5B43-9CCF-28C013523B51}" type="parTrans" cxnId="{D217C80D-405E-0247-9856-F492C2B1CE1D}">
      <dgm:prSet/>
      <dgm:spPr/>
      <dgm:t>
        <a:bodyPr/>
        <a:lstStyle/>
        <a:p>
          <a:endParaRPr lang="en-GB"/>
        </a:p>
      </dgm:t>
    </dgm:pt>
    <dgm:pt modelId="{AB329F73-2736-2643-AEE7-3C9CA51C91D9}" type="sibTrans" cxnId="{D217C80D-405E-0247-9856-F492C2B1CE1D}">
      <dgm:prSet/>
      <dgm:spPr/>
      <dgm:t>
        <a:bodyPr/>
        <a:lstStyle/>
        <a:p>
          <a:endParaRPr lang="en-GB"/>
        </a:p>
      </dgm:t>
    </dgm:pt>
    <dgm:pt modelId="{C5B251C5-1239-6241-93AA-8EA00A35DE68}">
      <dgm:prSet/>
      <dgm:spPr>
        <a:solidFill>
          <a:schemeClr val="accent6"/>
        </a:solidFill>
      </dgm:spPr>
      <dgm:t>
        <a:bodyPr/>
        <a:lstStyle/>
        <a:p>
          <a:r>
            <a:rPr lang="en-GB" dirty="0"/>
            <a:t>Support &amp; Enhance</a:t>
          </a:r>
        </a:p>
      </dgm:t>
    </dgm:pt>
    <dgm:pt modelId="{F0C5CE1B-CF23-6940-9817-710D141AE2D9}" type="parTrans" cxnId="{AC87ADD5-BFB5-8148-AB60-04A296F303BD}">
      <dgm:prSet/>
      <dgm:spPr/>
      <dgm:t>
        <a:bodyPr/>
        <a:lstStyle/>
        <a:p>
          <a:endParaRPr lang="en-GB"/>
        </a:p>
      </dgm:t>
    </dgm:pt>
    <dgm:pt modelId="{DC98E611-FF44-A74C-A915-D84EADB6C887}" type="sibTrans" cxnId="{AC87ADD5-BFB5-8148-AB60-04A296F303BD}">
      <dgm:prSet/>
      <dgm:spPr/>
      <dgm:t>
        <a:bodyPr/>
        <a:lstStyle/>
        <a:p>
          <a:endParaRPr lang="en-GB"/>
        </a:p>
      </dgm:t>
    </dgm:pt>
    <dgm:pt modelId="{77A9512A-A380-4642-8ACD-B313783F5C47}" type="pres">
      <dgm:prSet presAssocID="{E3B5A83F-5EA6-A54A-842D-78D513FD3E7D}" presName="Name0" presStyleCnt="0">
        <dgm:presLayoutVars>
          <dgm:dir/>
          <dgm:animLvl val="lvl"/>
          <dgm:resizeHandles val="exact"/>
        </dgm:presLayoutVars>
      </dgm:prSet>
      <dgm:spPr/>
    </dgm:pt>
    <dgm:pt modelId="{00B80015-EFA9-8149-AF96-4165D4CCD2AE}" type="pres">
      <dgm:prSet presAssocID="{154D86D0-6ABF-8F4E-94BA-98F2D356BF64}" presName="parTxOnly" presStyleLbl="node1" presStyleIdx="0" presStyleCnt="4">
        <dgm:presLayoutVars>
          <dgm:chMax val="0"/>
          <dgm:chPref val="0"/>
          <dgm:bulletEnabled val="1"/>
        </dgm:presLayoutVars>
      </dgm:prSet>
      <dgm:spPr/>
    </dgm:pt>
    <dgm:pt modelId="{435D66FD-5BB4-9548-96AD-268A4211CF09}" type="pres">
      <dgm:prSet presAssocID="{0E11D446-3C90-4A4E-9024-E5A2C4854ED9}" presName="parTxOnlySpace" presStyleCnt="0"/>
      <dgm:spPr/>
    </dgm:pt>
    <dgm:pt modelId="{BF4DF4F4-EBE4-204C-A453-C4266E74EC66}" type="pres">
      <dgm:prSet presAssocID="{1FED44B4-0E06-5841-B98F-42C36F705920}" presName="parTxOnly" presStyleLbl="node1" presStyleIdx="1" presStyleCnt="4">
        <dgm:presLayoutVars>
          <dgm:chMax val="0"/>
          <dgm:chPref val="0"/>
          <dgm:bulletEnabled val="1"/>
        </dgm:presLayoutVars>
      </dgm:prSet>
      <dgm:spPr/>
    </dgm:pt>
    <dgm:pt modelId="{2CE0C1B6-9BA4-284A-B7A9-B15D50C54208}" type="pres">
      <dgm:prSet presAssocID="{64C207CB-8945-084A-9244-A144A6D044AA}" presName="parTxOnlySpace" presStyleCnt="0"/>
      <dgm:spPr/>
    </dgm:pt>
    <dgm:pt modelId="{507797F5-BC0A-7642-92D9-41ACE4EEE3F5}" type="pres">
      <dgm:prSet presAssocID="{E36F6A82-C52D-D340-B182-703F461B1A57}" presName="parTxOnly" presStyleLbl="node1" presStyleIdx="2" presStyleCnt="4">
        <dgm:presLayoutVars>
          <dgm:chMax val="0"/>
          <dgm:chPref val="0"/>
          <dgm:bulletEnabled val="1"/>
        </dgm:presLayoutVars>
      </dgm:prSet>
      <dgm:spPr/>
    </dgm:pt>
    <dgm:pt modelId="{0F8D1572-899A-CB49-AB4F-30468FAB32D4}" type="pres">
      <dgm:prSet presAssocID="{AB329F73-2736-2643-AEE7-3C9CA51C91D9}" presName="parTxOnlySpace" presStyleCnt="0"/>
      <dgm:spPr/>
    </dgm:pt>
    <dgm:pt modelId="{D8F01919-B4E7-1748-ACCA-8FA3088BD30A}" type="pres">
      <dgm:prSet presAssocID="{C5B251C5-1239-6241-93AA-8EA00A35DE68}" presName="parTxOnly" presStyleLbl="node1" presStyleIdx="3" presStyleCnt="4">
        <dgm:presLayoutVars>
          <dgm:chMax val="0"/>
          <dgm:chPref val="0"/>
          <dgm:bulletEnabled val="1"/>
        </dgm:presLayoutVars>
      </dgm:prSet>
      <dgm:spPr/>
    </dgm:pt>
  </dgm:ptLst>
  <dgm:cxnLst>
    <dgm:cxn modelId="{D217C80D-405E-0247-9856-F492C2B1CE1D}" srcId="{E3B5A83F-5EA6-A54A-842D-78D513FD3E7D}" destId="{E36F6A82-C52D-D340-B182-703F461B1A57}" srcOrd="2" destOrd="0" parTransId="{74391BF6-5B50-5B43-9CCF-28C013523B51}" sibTransId="{AB329F73-2736-2643-AEE7-3C9CA51C91D9}"/>
    <dgm:cxn modelId="{A3934926-2ADE-2D4F-8C0F-2AC0914C5922}" type="presOf" srcId="{E3B5A83F-5EA6-A54A-842D-78D513FD3E7D}" destId="{77A9512A-A380-4642-8ACD-B313783F5C47}" srcOrd="0" destOrd="0" presId="urn:microsoft.com/office/officeart/2005/8/layout/chevron1"/>
    <dgm:cxn modelId="{8217BD3F-4427-6D4B-985B-90519DA794C4}" type="presOf" srcId="{1FED44B4-0E06-5841-B98F-42C36F705920}" destId="{BF4DF4F4-EBE4-204C-A453-C4266E74EC66}" srcOrd="0" destOrd="0" presId="urn:microsoft.com/office/officeart/2005/8/layout/chevron1"/>
    <dgm:cxn modelId="{54240372-F33E-DE43-B5EE-BA3A1C608A89}" type="presOf" srcId="{C5B251C5-1239-6241-93AA-8EA00A35DE68}" destId="{D8F01919-B4E7-1748-ACCA-8FA3088BD30A}" srcOrd="0" destOrd="0" presId="urn:microsoft.com/office/officeart/2005/8/layout/chevron1"/>
    <dgm:cxn modelId="{7D88BF94-2478-DF4A-866C-B0BEF663618A}" srcId="{E3B5A83F-5EA6-A54A-842D-78D513FD3E7D}" destId="{1FED44B4-0E06-5841-B98F-42C36F705920}" srcOrd="1" destOrd="0" parTransId="{33A3B65E-1E3E-CA41-8C32-CEBBA3F5ECE4}" sibTransId="{64C207CB-8945-084A-9244-A144A6D044AA}"/>
    <dgm:cxn modelId="{584B1EB1-8667-A94A-BE67-9651FBD79068}" type="presOf" srcId="{E36F6A82-C52D-D340-B182-703F461B1A57}" destId="{507797F5-BC0A-7642-92D9-41ACE4EEE3F5}" srcOrd="0" destOrd="0" presId="urn:microsoft.com/office/officeart/2005/8/layout/chevron1"/>
    <dgm:cxn modelId="{AC87ADD5-BFB5-8148-AB60-04A296F303BD}" srcId="{E3B5A83F-5EA6-A54A-842D-78D513FD3E7D}" destId="{C5B251C5-1239-6241-93AA-8EA00A35DE68}" srcOrd="3" destOrd="0" parTransId="{F0C5CE1B-CF23-6940-9817-710D141AE2D9}" sibTransId="{DC98E611-FF44-A74C-A915-D84EADB6C887}"/>
    <dgm:cxn modelId="{DB0D44E1-A689-8E4A-B0FA-2D25570D5E06}" srcId="{E3B5A83F-5EA6-A54A-842D-78D513FD3E7D}" destId="{154D86D0-6ABF-8F4E-94BA-98F2D356BF64}" srcOrd="0" destOrd="0" parTransId="{BFF45610-8BB2-A84B-A9AE-B3FF7FF846F7}" sibTransId="{0E11D446-3C90-4A4E-9024-E5A2C4854ED9}"/>
    <dgm:cxn modelId="{2FBB23EA-1E9C-144C-9817-078AF7527F23}" type="presOf" srcId="{154D86D0-6ABF-8F4E-94BA-98F2D356BF64}" destId="{00B80015-EFA9-8149-AF96-4165D4CCD2AE}" srcOrd="0" destOrd="0" presId="urn:microsoft.com/office/officeart/2005/8/layout/chevron1"/>
    <dgm:cxn modelId="{3D0A7D03-ACE7-104B-BCEB-0F0AFC18D0BE}" type="presParOf" srcId="{77A9512A-A380-4642-8ACD-B313783F5C47}" destId="{00B80015-EFA9-8149-AF96-4165D4CCD2AE}" srcOrd="0" destOrd="0" presId="urn:microsoft.com/office/officeart/2005/8/layout/chevron1"/>
    <dgm:cxn modelId="{C1CDAD86-7731-9649-B88D-4E8BA6619ADA}" type="presParOf" srcId="{77A9512A-A380-4642-8ACD-B313783F5C47}" destId="{435D66FD-5BB4-9548-96AD-268A4211CF09}" srcOrd="1" destOrd="0" presId="urn:microsoft.com/office/officeart/2005/8/layout/chevron1"/>
    <dgm:cxn modelId="{9F06E111-BDA9-FA48-8726-1759C2B6E87B}" type="presParOf" srcId="{77A9512A-A380-4642-8ACD-B313783F5C47}" destId="{BF4DF4F4-EBE4-204C-A453-C4266E74EC66}" srcOrd="2" destOrd="0" presId="urn:microsoft.com/office/officeart/2005/8/layout/chevron1"/>
    <dgm:cxn modelId="{C298A529-5E94-8441-98EA-94DF5DA25802}" type="presParOf" srcId="{77A9512A-A380-4642-8ACD-B313783F5C47}" destId="{2CE0C1B6-9BA4-284A-B7A9-B15D50C54208}" srcOrd="3" destOrd="0" presId="urn:microsoft.com/office/officeart/2005/8/layout/chevron1"/>
    <dgm:cxn modelId="{48EF4F91-8A9B-BA49-AF5C-BDDDD1D5AECB}" type="presParOf" srcId="{77A9512A-A380-4642-8ACD-B313783F5C47}" destId="{507797F5-BC0A-7642-92D9-41ACE4EEE3F5}" srcOrd="4" destOrd="0" presId="urn:microsoft.com/office/officeart/2005/8/layout/chevron1"/>
    <dgm:cxn modelId="{FD52BEA5-B817-2B49-A9A1-72413804932A}" type="presParOf" srcId="{77A9512A-A380-4642-8ACD-B313783F5C47}" destId="{0F8D1572-899A-CB49-AB4F-30468FAB32D4}" srcOrd="5" destOrd="0" presId="urn:microsoft.com/office/officeart/2005/8/layout/chevron1"/>
    <dgm:cxn modelId="{C03B89B5-C7AD-8F47-8109-7A079FF171AE}" type="presParOf" srcId="{77A9512A-A380-4642-8ACD-B313783F5C47}" destId="{D8F01919-B4E7-1748-ACCA-8FA3088BD30A}" srcOrd="6" destOrd="0" presId="urn:microsoft.com/office/officeart/2005/8/layout/chevron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0B80015-EFA9-8149-AF96-4165D4CCD2AE}">
      <dsp:nvSpPr>
        <dsp:cNvPr id="0" name=""/>
        <dsp:cNvSpPr/>
      </dsp:nvSpPr>
      <dsp:spPr>
        <a:xfrm>
          <a:off x="3770" y="2270389"/>
          <a:ext cx="2194718" cy="87788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GB" sz="2100" kern="1200" dirty="0"/>
            <a:t>Design</a:t>
          </a:r>
        </a:p>
      </dsp:txBody>
      <dsp:txXfrm>
        <a:off x="442714" y="2270389"/>
        <a:ext cx="1316831" cy="877887"/>
      </dsp:txXfrm>
    </dsp:sp>
    <dsp:sp modelId="{BF4DF4F4-EBE4-204C-A453-C4266E74EC66}">
      <dsp:nvSpPr>
        <dsp:cNvPr id="0" name=""/>
        <dsp:cNvSpPr/>
      </dsp:nvSpPr>
      <dsp:spPr>
        <a:xfrm>
          <a:off x="1979017" y="2270389"/>
          <a:ext cx="2194718" cy="87788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GB" sz="2100" kern="1200" dirty="0"/>
            <a:t>Build</a:t>
          </a:r>
        </a:p>
      </dsp:txBody>
      <dsp:txXfrm>
        <a:off x="2417961" y="2270389"/>
        <a:ext cx="1316831" cy="877887"/>
      </dsp:txXfrm>
    </dsp:sp>
    <dsp:sp modelId="{507797F5-BC0A-7642-92D9-41ACE4EEE3F5}">
      <dsp:nvSpPr>
        <dsp:cNvPr id="0" name=""/>
        <dsp:cNvSpPr/>
      </dsp:nvSpPr>
      <dsp:spPr>
        <a:xfrm>
          <a:off x="3954264" y="2270389"/>
          <a:ext cx="2194718" cy="877887"/>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GB" sz="2100" kern="1200" dirty="0"/>
            <a:t>Rollout</a:t>
          </a:r>
        </a:p>
      </dsp:txBody>
      <dsp:txXfrm>
        <a:off x="4393208" y="2270389"/>
        <a:ext cx="1316831" cy="877887"/>
      </dsp:txXfrm>
    </dsp:sp>
    <dsp:sp modelId="{D8F01919-B4E7-1748-ACCA-8FA3088BD30A}">
      <dsp:nvSpPr>
        <dsp:cNvPr id="0" name=""/>
        <dsp:cNvSpPr/>
      </dsp:nvSpPr>
      <dsp:spPr>
        <a:xfrm>
          <a:off x="5929510" y="2270389"/>
          <a:ext cx="2194718" cy="877887"/>
        </a:xfrm>
        <a:prstGeom prst="chevron">
          <a:avLst/>
        </a:prstGeom>
        <a:solidFill>
          <a:schemeClr val="accent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4011" tIns="28004" rIns="28004" bIns="28004" numCol="1" spcCol="1270" anchor="ctr" anchorCtr="0">
          <a:noAutofit/>
        </a:bodyPr>
        <a:lstStyle/>
        <a:p>
          <a:pPr marL="0" lvl="0" indent="0" algn="ctr" defTabSz="933450">
            <a:lnSpc>
              <a:spcPct val="90000"/>
            </a:lnSpc>
            <a:spcBef>
              <a:spcPct val="0"/>
            </a:spcBef>
            <a:spcAft>
              <a:spcPct val="35000"/>
            </a:spcAft>
            <a:buNone/>
          </a:pPr>
          <a:r>
            <a:rPr lang="en-GB" sz="2100" kern="1200" dirty="0"/>
            <a:t>Support &amp; Enhance</a:t>
          </a:r>
        </a:p>
      </dsp:txBody>
      <dsp:txXfrm>
        <a:off x="6368454" y="2270389"/>
        <a:ext cx="1316831" cy="877887"/>
      </dsp:txXfrm>
    </dsp:sp>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C5F7D-AE2E-47C7-8BA2-CC4D7F4E80EF}" type="datetimeFigureOut">
              <a:rPr lang="en-GB" smtClean="0"/>
              <a:t>29/03/2023</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A9EF18-44DA-4CCF-A8F6-0B08C3010558}" type="slidenum">
              <a:rPr lang="en-GB" smtClean="0"/>
              <a:t>‹#›</a:t>
            </a:fld>
            <a:endParaRPr lang="en-GB"/>
          </a:p>
        </p:txBody>
      </p:sp>
    </p:spTree>
    <p:extLst>
      <p:ext uri="{BB962C8B-B14F-4D97-AF65-F5344CB8AC3E}">
        <p14:creationId xmlns:p14="http://schemas.microsoft.com/office/powerpoint/2010/main" val="23476017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CEA9EF18-44DA-4CCF-A8F6-0B08C3010558}" type="slidenum">
              <a:rPr lang="en-GB" smtClean="0"/>
              <a:t>1</a:t>
            </a:fld>
            <a:endParaRPr lang="en-GB"/>
          </a:p>
        </p:txBody>
      </p:sp>
    </p:spTree>
    <p:extLst>
      <p:ext uri="{BB962C8B-B14F-4D97-AF65-F5344CB8AC3E}">
        <p14:creationId xmlns:p14="http://schemas.microsoft.com/office/powerpoint/2010/main" val="2002165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ZA" sz="1800" b="1" dirty="0">
                <a:effectLst/>
                <a:latin typeface="Verdana" panose="020B0604030504040204" pitchFamily="34" charset="0"/>
                <a:ea typeface="Times New Roman" panose="02020603050405020304" pitchFamily="18" charset="0"/>
              </a:rPr>
              <a:t>Note</a:t>
            </a:r>
            <a:r>
              <a:rPr lang="en-ZA" sz="1800" dirty="0">
                <a:effectLst/>
                <a:latin typeface="Verdana" panose="020B0604030504040204" pitchFamily="34" charset="0"/>
                <a:ea typeface="Times New Roman" panose="02020603050405020304" pitchFamily="18" charset="0"/>
              </a:rPr>
              <a:t>: the above pricing is indicative only. Final pricing will be agreed contractually between Salesforce and Principals Academy Trust</a:t>
            </a:r>
            <a:endParaRPr lang="en-US" dirty="0"/>
          </a:p>
        </p:txBody>
      </p:sp>
      <p:sp>
        <p:nvSpPr>
          <p:cNvPr id="4" name="Slide Number Placeholder 3"/>
          <p:cNvSpPr>
            <a:spLocks noGrp="1"/>
          </p:cNvSpPr>
          <p:nvPr>
            <p:ph type="sldNum" sz="quarter" idx="5"/>
          </p:nvPr>
        </p:nvSpPr>
        <p:spPr/>
        <p:txBody>
          <a:bodyPr/>
          <a:lstStyle/>
          <a:p>
            <a:fld id="{CEA9EF18-44DA-4CCF-A8F6-0B08C3010558}" type="slidenum">
              <a:rPr lang="en-GB" smtClean="0"/>
              <a:t>5</a:t>
            </a:fld>
            <a:endParaRPr lang="en-GB"/>
          </a:p>
        </p:txBody>
      </p:sp>
    </p:spTree>
    <p:extLst>
      <p:ext uri="{BB962C8B-B14F-4D97-AF65-F5344CB8AC3E}">
        <p14:creationId xmlns:p14="http://schemas.microsoft.com/office/powerpoint/2010/main" val="3177163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Salesforce Architect hours are not being charged for (R126K)</a:t>
            </a:r>
          </a:p>
          <a:p>
            <a:r>
              <a:rPr lang="en-US" dirty="0"/>
              <a:t>Go live support to be handled under ongoing support</a:t>
            </a:r>
          </a:p>
        </p:txBody>
      </p:sp>
      <p:sp>
        <p:nvSpPr>
          <p:cNvPr id="4" name="Slide Number Placeholder 3"/>
          <p:cNvSpPr>
            <a:spLocks noGrp="1"/>
          </p:cNvSpPr>
          <p:nvPr>
            <p:ph type="sldNum" sz="quarter" idx="5"/>
          </p:nvPr>
        </p:nvSpPr>
        <p:spPr/>
        <p:txBody>
          <a:bodyPr/>
          <a:lstStyle/>
          <a:p>
            <a:fld id="{CEA9EF18-44DA-4CCF-A8F6-0B08C3010558}" type="slidenum">
              <a:rPr lang="en-GB" smtClean="0"/>
              <a:t>6</a:t>
            </a:fld>
            <a:endParaRPr lang="en-GB"/>
          </a:p>
        </p:txBody>
      </p:sp>
    </p:spTree>
    <p:extLst>
      <p:ext uri="{BB962C8B-B14F-4D97-AF65-F5344CB8AC3E}">
        <p14:creationId xmlns:p14="http://schemas.microsoft.com/office/powerpoint/2010/main" val="10303018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post-go live support would be included in this support plan as we haven’t charged for it separately in the implementation</a:t>
            </a:r>
          </a:p>
          <a:p>
            <a:r>
              <a:rPr lang="en-US" dirty="0"/>
              <a:t>These hours would also be used to assist PAT with data migration of historical performance data</a:t>
            </a:r>
          </a:p>
        </p:txBody>
      </p:sp>
      <p:sp>
        <p:nvSpPr>
          <p:cNvPr id="4" name="Slide Number Placeholder 3"/>
          <p:cNvSpPr>
            <a:spLocks noGrp="1"/>
          </p:cNvSpPr>
          <p:nvPr>
            <p:ph type="sldNum" sz="quarter" idx="5"/>
          </p:nvPr>
        </p:nvSpPr>
        <p:spPr/>
        <p:txBody>
          <a:bodyPr/>
          <a:lstStyle/>
          <a:p>
            <a:fld id="{CEA9EF18-44DA-4CCF-A8F6-0B08C3010558}" type="slidenum">
              <a:rPr lang="en-GB" smtClean="0"/>
              <a:t>7</a:t>
            </a:fld>
            <a:endParaRPr lang="en-GB"/>
          </a:p>
        </p:txBody>
      </p:sp>
    </p:spTree>
    <p:extLst>
      <p:ext uri="{BB962C8B-B14F-4D97-AF65-F5344CB8AC3E}">
        <p14:creationId xmlns:p14="http://schemas.microsoft.com/office/powerpoint/2010/main" val="21000815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Go live support to be handled under ongoing support</a:t>
            </a:r>
          </a:p>
          <a:p>
            <a:endParaRPr lang="en-US" dirty="0"/>
          </a:p>
        </p:txBody>
      </p:sp>
      <p:sp>
        <p:nvSpPr>
          <p:cNvPr id="4" name="Slide Number Placeholder 3"/>
          <p:cNvSpPr>
            <a:spLocks noGrp="1"/>
          </p:cNvSpPr>
          <p:nvPr>
            <p:ph type="sldNum" sz="quarter" idx="5"/>
          </p:nvPr>
        </p:nvSpPr>
        <p:spPr/>
        <p:txBody>
          <a:bodyPr/>
          <a:lstStyle/>
          <a:p>
            <a:fld id="{CEA9EF18-44DA-4CCF-A8F6-0B08C3010558}" type="slidenum">
              <a:rPr lang="en-GB" smtClean="0"/>
              <a:t>8</a:t>
            </a:fld>
            <a:endParaRPr lang="en-GB"/>
          </a:p>
        </p:txBody>
      </p:sp>
    </p:spTree>
    <p:extLst>
      <p:ext uri="{BB962C8B-B14F-4D97-AF65-F5344CB8AC3E}">
        <p14:creationId xmlns:p14="http://schemas.microsoft.com/office/powerpoint/2010/main" val="11695993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0A8EC68-FA28-440E-B08D-F8892DE0C69B}"/>
              </a:ext>
            </a:extLst>
          </p:cNvPr>
          <p:cNvSpPr>
            <a:spLocks noGrp="1"/>
          </p:cNvSpPr>
          <p:nvPr>
            <p:ph type="ctrTitle"/>
          </p:nvPr>
        </p:nvSpPr>
        <p:spPr>
          <a:xfrm>
            <a:off x="883920" y="2493819"/>
            <a:ext cx="10424160" cy="1032770"/>
          </a:xfrm>
        </p:spPr>
        <p:txBody>
          <a:bodyPr anchor="b"/>
          <a:lstStyle>
            <a:lvl1pPr algn="ctr">
              <a:defRPr sz="6000">
                <a:solidFill>
                  <a:schemeClr val="accent1"/>
                </a:solidFill>
                <a:latin typeface="Proxima Nova Lt" panose="02000506030000020004" pitchFamily="50" charset="0"/>
              </a:defRPr>
            </a:lvl1pPr>
          </a:lstStyle>
          <a:p>
            <a:r>
              <a:rPr lang="en-US"/>
              <a:t>Click to edit Master title</a:t>
            </a:r>
            <a:endParaRPr lang="en-ZA"/>
          </a:p>
        </p:txBody>
      </p:sp>
      <p:sp>
        <p:nvSpPr>
          <p:cNvPr id="4" name="Subtitle 2">
            <a:extLst>
              <a:ext uri="{FF2B5EF4-FFF2-40B4-BE49-F238E27FC236}">
                <a16:creationId xmlns:a16="http://schemas.microsoft.com/office/drawing/2014/main" id="{91A641CB-25B6-46DF-B429-231029DEF862}"/>
              </a:ext>
            </a:extLst>
          </p:cNvPr>
          <p:cNvSpPr>
            <a:spLocks noGrp="1"/>
          </p:cNvSpPr>
          <p:nvPr>
            <p:ph type="subTitle" idx="1"/>
          </p:nvPr>
        </p:nvSpPr>
        <p:spPr>
          <a:xfrm>
            <a:off x="1524000" y="3602037"/>
            <a:ext cx="9144000" cy="604203"/>
          </a:xfrm>
        </p:spPr>
        <p:txBody>
          <a:bodyPr/>
          <a:lstStyle>
            <a:lvl1pPr marL="0" indent="0" algn="ctr">
              <a:buNone/>
              <a:defRPr sz="2400">
                <a:solidFill>
                  <a:schemeClr val="accent1">
                    <a:lumMod val="75000"/>
                  </a:schemeClr>
                </a:solidFill>
                <a:latin typeface="Proxima Nova Lt" panose="02000506030000020004"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ZA"/>
          </a:p>
        </p:txBody>
      </p:sp>
    </p:spTree>
    <p:extLst>
      <p:ext uri="{BB962C8B-B14F-4D97-AF65-F5344CB8AC3E}">
        <p14:creationId xmlns:p14="http://schemas.microsoft.com/office/powerpoint/2010/main" val="31231038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460624" y="2939040"/>
            <a:ext cx="7270751" cy="489960"/>
          </a:xfrm>
          <a:prstGeom prst="rect">
            <a:avLst/>
          </a:prstGeom>
        </p:spPr>
        <p:txBody>
          <a:bodyPr/>
          <a:lstStyle>
            <a:lvl1pPr marL="0" indent="0" algn="ctr">
              <a:buNone/>
              <a:defRPr sz="2400">
                <a:solidFill>
                  <a:schemeClr val="bg2"/>
                </a:solidFill>
                <a:latin typeface="Proxima Nova Lt" panose="02000506030000020004" pitchFamily="50" charset="0"/>
              </a:defRPr>
            </a:lvl1pPr>
          </a:lstStyle>
          <a:p>
            <a:pPr lvl="0"/>
            <a:r>
              <a:rPr lang="en-US"/>
              <a:t>Edit Master text styles</a:t>
            </a:r>
          </a:p>
        </p:txBody>
      </p:sp>
    </p:spTree>
    <p:extLst>
      <p:ext uri="{BB962C8B-B14F-4D97-AF65-F5344CB8AC3E}">
        <p14:creationId xmlns:p14="http://schemas.microsoft.com/office/powerpoint/2010/main" val="9153595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External Content 2">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1845724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entation Title">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0A8EC68-FA28-440E-B08D-F8892DE0C69B}"/>
              </a:ext>
            </a:extLst>
          </p:cNvPr>
          <p:cNvSpPr>
            <a:spLocks noGrp="1"/>
          </p:cNvSpPr>
          <p:nvPr>
            <p:ph type="ctrTitle"/>
          </p:nvPr>
        </p:nvSpPr>
        <p:spPr>
          <a:xfrm>
            <a:off x="883920" y="2493819"/>
            <a:ext cx="10424160" cy="1032770"/>
          </a:xfrm>
        </p:spPr>
        <p:txBody>
          <a:bodyPr anchor="b"/>
          <a:lstStyle>
            <a:lvl1pPr algn="ctr">
              <a:defRPr sz="6000">
                <a:solidFill>
                  <a:schemeClr val="accent1"/>
                </a:solidFill>
                <a:latin typeface="Proxima Nova Lt" panose="02000506030000020004" pitchFamily="50" charset="0"/>
              </a:defRPr>
            </a:lvl1pPr>
          </a:lstStyle>
          <a:p>
            <a:r>
              <a:rPr lang="en-US"/>
              <a:t>Click to edit Master title</a:t>
            </a:r>
            <a:endParaRPr lang="en-ZA"/>
          </a:p>
        </p:txBody>
      </p:sp>
      <p:sp>
        <p:nvSpPr>
          <p:cNvPr id="4" name="Subtitle 2">
            <a:extLst>
              <a:ext uri="{FF2B5EF4-FFF2-40B4-BE49-F238E27FC236}">
                <a16:creationId xmlns:a16="http://schemas.microsoft.com/office/drawing/2014/main" id="{91A641CB-25B6-46DF-B429-231029DEF862}"/>
              </a:ext>
            </a:extLst>
          </p:cNvPr>
          <p:cNvSpPr>
            <a:spLocks noGrp="1"/>
          </p:cNvSpPr>
          <p:nvPr>
            <p:ph type="subTitle" idx="1"/>
          </p:nvPr>
        </p:nvSpPr>
        <p:spPr>
          <a:xfrm>
            <a:off x="1524000" y="3602037"/>
            <a:ext cx="9144000" cy="604203"/>
          </a:xfrm>
        </p:spPr>
        <p:txBody>
          <a:bodyPr/>
          <a:lstStyle>
            <a:lvl1pPr marL="0" indent="0" algn="ctr">
              <a:buNone/>
              <a:defRPr sz="2400">
                <a:solidFill>
                  <a:schemeClr val="accent1">
                    <a:lumMod val="75000"/>
                  </a:schemeClr>
                </a:solidFill>
                <a:latin typeface="Proxima Nova Lt" panose="02000506030000020004" pitchFamily="50"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a:t>
            </a:r>
            <a:endParaRPr lang="en-ZA"/>
          </a:p>
        </p:txBody>
      </p:sp>
    </p:spTree>
    <p:extLst>
      <p:ext uri="{BB962C8B-B14F-4D97-AF65-F5344CB8AC3E}">
        <p14:creationId xmlns:p14="http://schemas.microsoft.com/office/powerpoint/2010/main" val="609158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Title">
    <p:spTree>
      <p:nvGrpSpPr>
        <p:cNvPr id="1" name=""/>
        <p:cNvGrpSpPr/>
        <p:nvPr/>
      </p:nvGrpSpPr>
      <p:grpSpPr>
        <a:xfrm>
          <a:off x="0" y="0"/>
          <a:ext cx="0" cy="0"/>
          <a:chOff x="0" y="0"/>
          <a:chExt cx="0" cy="0"/>
        </a:xfrm>
      </p:grpSpPr>
      <p:sp>
        <p:nvSpPr>
          <p:cNvPr id="14" name="Text Placeholder 13"/>
          <p:cNvSpPr>
            <a:spLocks noGrp="1"/>
          </p:cNvSpPr>
          <p:nvPr>
            <p:ph type="body" sz="quarter" idx="13"/>
          </p:nvPr>
        </p:nvSpPr>
        <p:spPr>
          <a:xfrm>
            <a:off x="2460624" y="2939040"/>
            <a:ext cx="7270751" cy="489960"/>
          </a:xfrm>
          <a:prstGeom prst="rect">
            <a:avLst/>
          </a:prstGeom>
        </p:spPr>
        <p:txBody>
          <a:bodyPr/>
          <a:lstStyle>
            <a:lvl1pPr marL="0" indent="0" algn="ctr">
              <a:buNone/>
              <a:defRPr sz="2400">
                <a:solidFill>
                  <a:schemeClr val="bg2"/>
                </a:solidFill>
                <a:latin typeface="Proxima Nova Lt" panose="02000506030000020004" pitchFamily="50" charset="0"/>
              </a:defRPr>
            </a:lvl1pPr>
          </a:lstStyle>
          <a:p>
            <a:pPr lvl="0"/>
            <a:r>
              <a:rPr lang="en-US"/>
              <a:t>Edit Master text styles</a:t>
            </a:r>
          </a:p>
        </p:txBody>
      </p:sp>
    </p:spTree>
    <p:extLst>
      <p:ext uri="{BB962C8B-B14F-4D97-AF65-F5344CB8AC3E}">
        <p14:creationId xmlns:p14="http://schemas.microsoft.com/office/powerpoint/2010/main" val="1959288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FB7F015-2A57-4B5F-88D9-ACA26915962C}"/>
              </a:ext>
            </a:extLst>
          </p:cNvPr>
          <p:cNvSpPr txBox="1"/>
          <p:nvPr userDrawn="1"/>
        </p:nvSpPr>
        <p:spPr>
          <a:xfrm rot="16200000">
            <a:off x="1937041" y="2916497"/>
            <a:ext cx="3407872" cy="584775"/>
          </a:xfrm>
          <a:prstGeom prst="rect">
            <a:avLst/>
          </a:prstGeom>
          <a:noFill/>
        </p:spPr>
        <p:txBody>
          <a:bodyPr wrap="square" rtlCol="0">
            <a:spAutoFit/>
          </a:bodyPr>
          <a:lstStyle/>
          <a:p>
            <a:pPr algn="r"/>
            <a:r>
              <a:rPr lang="en-ZA" sz="3200">
                <a:solidFill>
                  <a:schemeClr val="bg2"/>
                </a:solidFill>
                <a:latin typeface="Proxima Nova Rg" panose="02000506030000020004" pitchFamily="50" charset="0"/>
              </a:rPr>
              <a:t>Agenda</a:t>
            </a:r>
            <a:endParaRPr lang="en-GB" sz="3200">
              <a:solidFill>
                <a:schemeClr val="bg2"/>
              </a:solidFill>
              <a:latin typeface="Proxima Nova Rg" panose="02000506030000020004" pitchFamily="50" charset="0"/>
            </a:endParaRPr>
          </a:p>
        </p:txBody>
      </p:sp>
      <p:sp>
        <p:nvSpPr>
          <p:cNvPr id="4" name="Text Placeholder 3">
            <a:extLst>
              <a:ext uri="{FF2B5EF4-FFF2-40B4-BE49-F238E27FC236}">
                <a16:creationId xmlns:a16="http://schemas.microsoft.com/office/drawing/2014/main" id="{15EE3339-B220-4E3D-AA10-3D4248C2727D}"/>
              </a:ext>
            </a:extLst>
          </p:cNvPr>
          <p:cNvSpPr>
            <a:spLocks noGrp="1"/>
          </p:cNvSpPr>
          <p:nvPr>
            <p:ph type="body" sz="quarter" idx="10" hasCustomPrompt="1"/>
          </p:nvPr>
        </p:nvSpPr>
        <p:spPr>
          <a:xfrm>
            <a:off x="4230688" y="1504950"/>
            <a:ext cx="5786437" cy="3965575"/>
          </a:xfrm>
          <a:prstGeom prst="rect">
            <a:avLst/>
          </a:prstGeom>
        </p:spPr>
        <p:txBody>
          <a:bodyPr/>
          <a:lstStyle>
            <a:lvl1pPr>
              <a:buClr>
                <a:srgbClr val="BCD727"/>
              </a:buClr>
              <a:defRPr sz="2000">
                <a:solidFill>
                  <a:schemeClr val="bg2"/>
                </a:solidFill>
                <a:latin typeface="Proxima Nova Lt" panose="02000506030000020004" pitchFamily="50" charset="0"/>
              </a:defRPr>
            </a:lvl1pPr>
            <a:lvl2pPr marL="457200" indent="0">
              <a:buNone/>
              <a:defRPr sz="2000">
                <a:solidFill>
                  <a:schemeClr val="bg2"/>
                </a:solidFill>
                <a:latin typeface="Proxima Nova Lt" panose="02000506030000020004" pitchFamily="50" charset="0"/>
              </a:defRPr>
            </a:lvl2pPr>
            <a:lvl3pPr>
              <a:defRPr>
                <a:solidFill>
                  <a:srgbClr val="7F7F7F"/>
                </a:solidFill>
                <a:latin typeface="Proxima Nova Lt" panose="02000506030000020004" pitchFamily="50" charset="0"/>
              </a:defRPr>
            </a:lvl3pPr>
            <a:lvl4pPr>
              <a:defRPr>
                <a:solidFill>
                  <a:srgbClr val="7F7F7F"/>
                </a:solidFill>
                <a:latin typeface="Proxima Nova Lt" panose="02000506030000020004" pitchFamily="50" charset="0"/>
              </a:defRPr>
            </a:lvl4pPr>
            <a:lvl5pPr>
              <a:defRPr>
                <a:solidFill>
                  <a:srgbClr val="7F7F7F"/>
                </a:solidFill>
                <a:latin typeface="Proxima Nova Lt" panose="02000506030000020004" pitchFamily="50" charset="0"/>
              </a:defRPr>
            </a:lvl5pPr>
          </a:lstStyle>
          <a:p>
            <a:pPr lvl="0"/>
            <a:r>
              <a:rPr lang="en-US"/>
              <a:t>Add agenda items here</a:t>
            </a:r>
          </a:p>
          <a:p>
            <a:pPr lvl="0"/>
            <a:r>
              <a:rPr lang="en-US"/>
              <a:t>Another one</a:t>
            </a:r>
          </a:p>
          <a:p>
            <a:pPr lvl="0"/>
            <a:r>
              <a:rPr lang="en-US"/>
              <a:t>And another</a:t>
            </a:r>
          </a:p>
          <a:p>
            <a:pPr lvl="1"/>
            <a:endParaRPr lang="en-GB"/>
          </a:p>
        </p:txBody>
      </p:sp>
    </p:spTree>
    <p:extLst>
      <p:ext uri="{BB962C8B-B14F-4D97-AF65-F5344CB8AC3E}">
        <p14:creationId xmlns:p14="http://schemas.microsoft.com/office/powerpoint/2010/main" val="22620449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ntent Pag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12511289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Pag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967268"/>
            <a:ext cx="1422400" cy="161925"/>
          </a:xfrm>
          <a:prstGeom prst="rect">
            <a:avLst/>
          </a:prstGeom>
        </p:spPr>
      </p:pic>
    </p:spTree>
    <p:extLst>
      <p:ext uri="{BB962C8B-B14F-4D97-AF65-F5344CB8AC3E}">
        <p14:creationId xmlns:p14="http://schemas.microsoft.com/office/powerpoint/2010/main" val="39193987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o Skyline">
    <p:spTree>
      <p:nvGrpSpPr>
        <p:cNvPr id="1" name=""/>
        <p:cNvGrpSpPr/>
        <p:nvPr/>
      </p:nvGrpSpPr>
      <p:grpSpPr>
        <a:xfrm>
          <a:off x="0" y="0"/>
          <a:ext cx="0" cy="0"/>
          <a:chOff x="0" y="0"/>
          <a:chExt cx="0" cy="0"/>
        </a:xfrm>
      </p:grpSpPr>
      <p:sp>
        <p:nvSpPr>
          <p:cNvPr id="21" name="Text Placeholder 4"/>
          <p:cNvSpPr>
            <a:spLocks noGrp="1"/>
          </p:cNvSpPr>
          <p:nvPr>
            <p:ph type="body" sz="quarter" idx="12"/>
          </p:nvPr>
        </p:nvSpPr>
        <p:spPr>
          <a:xfrm>
            <a:off x="940444" y="1012789"/>
            <a:ext cx="10872776" cy="395872"/>
          </a:xfrm>
          <a:prstGeom prst="rect">
            <a:avLst/>
          </a:prstGeom>
        </p:spPr>
        <p:txBody>
          <a:bodyPr anchor="ctr"/>
          <a:lstStyle>
            <a:lvl1pPr marL="0" indent="0">
              <a:buNone/>
              <a:defRPr sz="2000" b="0" i="0">
                <a:solidFill>
                  <a:schemeClr val="accent1"/>
                </a:solidFill>
                <a:latin typeface="Proxima Nova Lt" panose="02000506030000020004" pitchFamily="50" charset="0"/>
                <a:cs typeface="Proxima Nova Lt" panose="02000506030000020004" pitchFamily="50" charset="0"/>
              </a:defRPr>
            </a:lvl1pPr>
          </a:lstStyle>
          <a:p>
            <a:pPr lvl="0"/>
            <a:r>
              <a:rPr lang="en-US"/>
              <a:t>Edit Master text styles</a:t>
            </a:r>
          </a:p>
        </p:txBody>
      </p:sp>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4" y="1478256"/>
            <a:ext cx="1422400" cy="161925"/>
          </a:xfrm>
          <a:prstGeom prst="rect">
            <a:avLst/>
          </a:prstGeom>
        </p:spPr>
      </p:pic>
    </p:spTree>
    <p:extLst>
      <p:ext uri="{BB962C8B-B14F-4D97-AF65-F5344CB8AC3E}">
        <p14:creationId xmlns:p14="http://schemas.microsoft.com/office/powerpoint/2010/main" val="5703023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No Skyline No Subheading">
    <p:spTree>
      <p:nvGrpSpPr>
        <p:cNvPr id="1" name=""/>
        <p:cNvGrpSpPr/>
        <p:nvPr/>
      </p:nvGrpSpPr>
      <p:grpSpPr>
        <a:xfrm>
          <a:off x="0" y="0"/>
          <a:ext cx="0" cy="0"/>
          <a:chOff x="0" y="0"/>
          <a:chExt cx="0" cy="0"/>
        </a:xfrm>
      </p:grpSpPr>
      <p:sp>
        <p:nvSpPr>
          <p:cNvPr id="20" name="Text Placeholder 4"/>
          <p:cNvSpPr>
            <a:spLocks noGrp="1"/>
          </p:cNvSpPr>
          <p:nvPr>
            <p:ph type="body" sz="quarter" idx="11"/>
          </p:nvPr>
        </p:nvSpPr>
        <p:spPr>
          <a:xfrm>
            <a:off x="940445" y="366301"/>
            <a:ext cx="8621692" cy="575344"/>
          </a:xfrm>
          <a:prstGeom prst="rect">
            <a:avLst/>
          </a:prstGeom>
        </p:spPr>
        <p:txBody>
          <a:bodyPr anchor="ctr"/>
          <a:lstStyle>
            <a:lvl1pPr marL="0" indent="0">
              <a:buNone/>
              <a:defRPr sz="2800" b="0" i="0">
                <a:solidFill>
                  <a:schemeClr val="bg2"/>
                </a:solidFill>
                <a:latin typeface="Proxima Nova Lt" panose="02000506030000020004" pitchFamily="50" charset="0"/>
                <a:cs typeface="Proxima Nova Lt" panose="02000506030000020004" pitchFamily="50" charset="0"/>
              </a:defRPr>
            </a:lvl1pPr>
          </a:lstStyle>
          <a:p>
            <a:pPr lvl="0"/>
            <a:r>
              <a:rPr lang="en-US"/>
              <a:t>Edit Master text styles</a:t>
            </a:r>
          </a:p>
        </p:txBody>
      </p:sp>
      <p:pic>
        <p:nvPicPr>
          <p:cNvPr id="5" name="Picture 4"/>
          <p:cNvPicPr>
            <a:picLocks noChangeAspect="1"/>
          </p:cNvPicPr>
          <p:nvPr/>
        </p:nvPicPr>
        <p:blipFill>
          <a:blip r:embed="rId2"/>
          <a:stretch>
            <a:fillRect/>
          </a:stretch>
        </p:blipFill>
        <p:spPr>
          <a:xfrm>
            <a:off x="940445" y="975038"/>
            <a:ext cx="1422400" cy="161925"/>
          </a:xfrm>
          <a:prstGeom prst="rect">
            <a:avLst/>
          </a:prstGeom>
        </p:spPr>
      </p:pic>
    </p:spTree>
    <p:extLst>
      <p:ext uri="{BB962C8B-B14F-4D97-AF65-F5344CB8AC3E}">
        <p14:creationId xmlns:p14="http://schemas.microsoft.com/office/powerpoint/2010/main" val="2747165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741830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e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5.xml"/><Relationship Id="rId1" Type="http://schemas.openxmlformats.org/officeDocument/2006/relationships/slideLayout" Target="../slideLayouts/slideLayout4.xml"/><Relationship Id="rId6" Type="http://schemas.openxmlformats.org/officeDocument/2006/relationships/image" Target="../media/image4.png"/><Relationship Id="rId5" Type="http://schemas.openxmlformats.org/officeDocument/2006/relationships/image" Target="../media/image2.jpeg"/><Relationship Id="rId4"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theme" Target="../theme/theme3.xml"/><Relationship Id="rId1" Type="http://schemas.openxmlformats.org/officeDocument/2006/relationships/slideLayout" Target="../slideLayouts/slideLayout6.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8.xm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image" Target="../media/image2.jpeg"/></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0.xml"/><Relationship Id="rId1" Type="http://schemas.openxmlformats.org/officeDocument/2006/relationships/slideLayout" Target="../slideLayouts/slideLayout9.xml"/><Relationship Id="rId4" Type="http://schemas.openxmlformats.org/officeDocument/2006/relationships/image" Target="../media/image2.jpeg"/></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pic>
        <p:nvPicPr>
          <p:cNvPr id="3" name="Picture 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8930" y="1105593"/>
            <a:ext cx="3534140" cy="1150362"/>
          </a:xfrm>
          <a:prstGeom prst="rect">
            <a:avLst/>
          </a:prstGeom>
        </p:spPr>
      </p:pic>
    </p:spTree>
    <p:extLst>
      <p:ext uri="{BB962C8B-B14F-4D97-AF65-F5344CB8AC3E}">
        <p14:creationId xmlns:p14="http://schemas.microsoft.com/office/powerpoint/2010/main" val="470687262"/>
      </p:ext>
    </p:extLst>
  </p:cSld>
  <p:clrMap bg1="lt1" tx1="dk1" bg2="lt2" tx2="dk2" accent1="accent1" accent2="accent2" accent3="accent3" accent4="accent4" accent5="accent5" accent6="accent6" hlink="hlink" folHlink="folHlink"/>
  <p:sldLayoutIdLst>
    <p:sldLayoutId id="2147483670" r:id="rId1"/>
    <p:sldLayoutId id="2147483651" r:id="rId2"/>
    <p:sldLayoutId id="2147483687"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pic>
        <p:nvPicPr>
          <p:cNvPr id="3" name="Picture 2"/>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1085543" y="1105593"/>
            <a:ext cx="3534140" cy="1150362"/>
          </a:xfrm>
          <a:prstGeom prst="rect">
            <a:avLst/>
          </a:prstGeom>
        </p:spPr>
      </p:pic>
      <p:pic>
        <p:nvPicPr>
          <p:cNvPr id="1026" name="Picture 2">
            <a:extLst>
              <a:ext uri="{FF2B5EF4-FFF2-40B4-BE49-F238E27FC236}">
                <a16:creationId xmlns:a16="http://schemas.microsoft.com/office/drawing/2014/main" id="{3A07E050-8C54-7325-478B-2D9B8EAF54EC}"/>
              </a:ext>
            </a:extLst>
          </p:cNvPr>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6763057" y="1230543"/>
            <a:ext cx="4343400" cy="9004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03257"/>
      </p:ext>
    </p:extLst>
  </p:cSld>
  <p:clrMap bg1="lt1" tx1="dk1" bg2="lt2" tx2="dk2" accent1="accent1" accent2="accent2" accent3="accent3" accent4="accent4" accent5="accent5" accent6="accent6" hlink="hlink" folHlink="folHlink"/>
  <p:sldLayoutIdLst>
    <p:sldLayoutId id="2147483685" r:id="rId1"/>
    <p:sldLayoutId id="2147483686"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sp>
        <p:nvSpPr>
          <p:cNvPr id="2" name="Flowchart: Connector 1">
            <a:extLst>
              <a:ext uri="{FF2B5EF4-FFF2-40B4-BE49-F238E27FC236}">
                <a16:creationId xmlns:a16="http://schemas.microsoft.com/office/drawing/2014/main" id="{2F76AFB7-1003-4470-A486-9F16A6B0B005}"/>
              </a:ext>
            </a:extLst>
          </p:cNvPr>
          <p:cNvSpPr/>
          <p:nvPr userDrawn="1"/>
        </p:nvSpPr>
        <p:spPr>
          <a:xfrm>
            <a:off x="1310140" y="5533090"/>
            <a:ext cx="286164" cy="295650"/>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Flowchart: Connector 4">
            <a:extLst>
              <a:ext uri="{FF2B5EF4-FFF2-40B4-BE49-F238E27FC236}">
                <a16:creationId xmlns:a16="http://schemas.microsoft.com/office/drawing/2014/main" id="{12A3F5E3-7A1A-4052-9CA3-E02DE8D7065B}"/>
              </a:ext>
            </a:extLst>
          </p:cNvPr>
          <p:cNvSpPr/>
          <p:nvPr userDrawn="1"/>
        </p:nvSpPr>
        <p:spPr>
          <a:xfrm>
            <a:off x="348921" y="3395313"/>
            <a:ext cx="221860" cy="229214"/>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6" name="Flowchart: Connector 5">
            <a:extLst>
              <a:ext uri="{FF2B5EF4-FFF2-40B4-BE49-F238E27FC236}">
                <a16:creationId xmlns:a16="http://schemas.microsoft.com/office/drawing/2014/main" id="{60109550-75F1-4AF1-8BE0-73B319B04DE9}"/>
              </a:ext>
            </a:extLst>
          </p:cNvPr>
          <p:cNvSpPr/>
          <p:nvPr userDrawn="1"/>
        </p:nvSpPr>
        <p:spPr>
          <a:xfrm>
            <a:off x="2073244" y="5868434"/>
            <a:ext cx="183439" cy="189520"/>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Flowchart: Connector 7">
            <a:extLst>
              <a:ext uri="{FF2B5EF4-FFF2-40B4-BE49-F238E27FC236}">
                <a16:creationId xmlns:a16="http://schemas.microsoft.com/office/drawing/2014/main" id="{0407E0E1-7C84-44F8-84CD-928527462235}"/>
              </a:ext>
            </a:extLst>
          </p:cNvPr>
          <p:cNvSpPr/>
          <p:nvPr userDrawn="1"/>
        </p:nvSpPr>
        <p:spPr>
          <a:xfrm>
            <a:off x="1269783" y="4274682"/>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Flowchart: Connector 8">
            <a:extLst>
              <a:ext uri="{FF2B5EF4-FFF2-40B4-BE49-F238E27FC236}">
                <a16:creationId xmlns:a16="http://schemas.microsoft.com/office/drawing/2014/main" id="{CDE90955-8311-47A8-81B7-FFBE56AC216A}"/>
              </a:ext>
            </a:extLst>
          </p:cNvPr>
          <p:cNvSpPr/>
          <p:nvPr userDrawn="1"/>
        </p:nvSpPr>
        <p:spPr>
          <a:xfrm>
            <a:off x="348921" y="6251747"/>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Flowchart: Connector 9">
            <a:extLst>
              <a:ext uri="{FF2B5EF4-FFF2-40B4-BE49-F238E27FC236}">
                <a16:creationId xmlns:a16="http://schemas.microsoft.com/office/drawing/2014/main" id="{D921F102-C3FC-43DF-B0CD-D09171469D32}"/>
              </a:ext>
            </a:extLst>
          </p:cNvPr>
          <p:cNvSpPr/>
          <p:nvPr userDrawn="1"/>
        </p:nvSpPr>
        <p:spPr>
          <a:xfrm>
            <a:off x="712863" y="5245021"/>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Flowchart: Connector 10">
            <a:extLst>
              <a:ext uri="{FF2B5EF4-FFF2-40B4-BE49-F238E27FC236}">
                <a16:creationId xmlns:a16="http://schemas.microsoft.com/office/drawing/2014/main" id="{D7F1074A-ABA7-4C76-A743-3636552CF302}"/>
              </a:ext>
            </a:extLst>
          </p:cNvPr>
          <p:cNvSpPr/>
          <p:nvPr userDrawn="1"/>
        </p:nvSpPr>
        <p:spPr>
          <a:xfrm>
            <a:off x="3964862" y="6194444"/>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Flowchart: Connector 11">
            <a:extLst>
              <a:ext uri="{FF2B5EF4-FFF2-40B4-BE49-F238E27FC236}">
                <a16:creationId xmlns:a16="http://schemas.microsoft.com/office/drawing/2014/main" id="{4978C4DE-8EF1-43E3-8107-58EEA77969A2}"/>
              </a:ext>
            </a:extLst>
          </p:cNvPr>
          <p:cNvSpPr/>
          <p:nvPr userDrawn="1"/>
        </p:nvSpPr>
        <p:spPr>
          <a:xfrm>
            <a:off x="2784985" y="6503739"/>
            <a:ext cx="110930" cy="114607"/>
          </a:xfrm>
          <a:prstGeom prst="flowChartConnector">
            <a:avLst/>
          </a:prstGeom>
          <a:solidFill>
            <a:srgbClr val="BCD72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13" name="Straight Connector 12">
            <a:extLst>
              <a:ext uri="{FF2B5EF4-FFF2-40B4-BE49-F238E27FC236}">
                <a16:creationId xmlns:a16="http://schemas.microsoft.com/office/drawing/2014/main" id="{A5245853-5F6C-4373-A49F-3170CD94818E}"/>
              </a:ext>
            </a:extLst>
          </p:cNvPr>
          <p:cNvCxnSpPr>
            <a:cxnSpLocks/>
            <a:endCxn id="8" idx="5"/>
          </p:cNvCxnSpPr>
          <p:nvPr userDrawn="1"/>
        </p:nvCxnSpPr>
        <p:spPr>
          <a:xfrm>
            <a:off x="459851" y="3509920"/>
            <a:ext cx="904616" cy="862585"/>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467996C-5080-45B2-8D61-8B31A565D2F5}"/>
              </a:ext>
            </a:extLst>
          </p:cNvPr>
          <p:cNvCxnSpPr>
            <a:cxnSpLocks/>
          </p:cNvCxnSpPr>
          <p:nvPr userDrawn="1"/>
        </p:nvCxnSpPr>
        <p:spPr>
          <a:xfrm>
            <a:off x="10111" y="2017340"/>
            <a:ext cx="449740" cy="1492580"/>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12C77DD-91B1-4ED2-AA52-6C8C9954B5D4}"/>
              </a:ext>
            </a:extLst>
          </p:cNvPr>
          <p:cNvCxnSpPr>
            <a:cxnSpLocks/>
            <a:endCxn id="10" idx="4"/>
          </p:cNvCxnSpPr>
          <p:nvPr userDrawn="1"/>
        </p:nvCxnSpPr>
        <p:spPr>
          <a:xfrm>
            <a:off x="459851" y="3509920"/>
            <a:ext cx="308477" cy="1849708"/>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48E5930D-6A19-4036-9D4C-D258CF5625A0}"/>
              </a:ext>
            </a:extLst>
          </p:cNvPr>
          <p:cNvCxnSpPr>
            <a:cxnSpLocks/>
            <a:endCxn id="6" idx="5"/>
          </p:cNvCxnSpPr>
          <p:nvPr userDrawn="1"/>
        </p:nvCxnSpPr>
        <p:spPr>
          <a:xfrm>
            <a:off x="1310140" y="4320978"/>
            <a:ext cx="919679" cy="170922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B1C82D16-5DA9-4042-A21A-CF15A8791763}"/>
              </a:ext>
            </a:extLst>
          </p:cNvPr>
          <p:cNvCxnSpPr>
            <a:cxnSpLocks/>
            <a:stCxn id="6" idx="6"/>
            <a:endCxn id="11" idx="6"/>
          </p:cNvCxnSpPr>
          <p:nvPr userDrawn="1"/>
        </p:nvCxnSpPr>
        <p:spPr>
          <a:xfrm>
            <a:off x="2256683" y="5963194"/>
            <a:ext cx="1819109" cy="28855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174AC98E-9171-4C0D-8CCD-4697EE1E60DA}"/>
              </a:ext>
            </a:extLst>
          </p:cNvPr>
          <p:cNvCxnSpPr>
            <a:cxnSpLocks/>
          </p:cNvCxnSpPr>
          <p:nvPr userDrawn="1"/>
        </p:nvCxnSpPr>
        <p:spPr>
          <a:xfrm>
            <a:off x="4030752" y="6257930"/>
            <a:ext cx="1645226" cy="58196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CC8514B0-DA65-4698-AA65-F8FD3E2DD54F}"/>
              </a:ext>
            </a:extLst>
          </p:cNvPr>
          <p:cNvCxnSpPr>
            <a:cxnSpLocks/>
            <a:stCxn id="6" idx="5"/>
            <a:endCxn id="12" idx="5"/>
          </p:cNvCxnSpPr>
          <p:nvPr userDrawn="1"/>
        </p:nvCxnSpPr>
        <p:spPr>
          <a:xfrm>
            <a:off x="2229819" y="6030199"/>
            <a:ext cx="649851" cy="57136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06BFC29-6506-4A19-B7FC-E4D7B504DF92}"/>
              </a:ext>
            </a:extLst>
          </p:cNvPr>
          <p:cNvCxnSpPr>
            <a:cxnSpLocks/>
            <a:stCxn id="12" idx="2"/>
          </p:cNvCxnSpPr>
          <p:nvPr userDrawn="1"/>
        </p:nvCxnSpPr>
        <p:spPr>
          <a:xfrm>
            <a:off x="2784985" y="6561043"/>
            <a:ext cx="738647" cy="27885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8E8A5394-C8F8-416B-955F-23D0B7CE2DCB}"/>
              </a:ext>
            </a:extLst>
          </p:cNvPr>
          <p:cNvCxnSpPr>
            <a:cxnSpLocks/>
            <a:endCxn id="11" idx="6"/>
          </p:cNvCxnSpPr>
          <p:nvPr userDrawn="1"/>
        </p:nvCxnSpPr>
        <p:spPr>
          <a:xfrm flipV="1">
            <a:off x="2784985" y="6251747"/>
            <a:ext cx="1290807" cy="32116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87A2802-863D-4280-87D6-C2BC3ECB4C86}"/>
              </a:ext>
            </a:extLst>
          </p:cNvPr>
          <p:cNvCxnSpPr>
            <a:cxnSpLocks/>
            <a:stCxn id="8" idx="7"/>
            <a:endCxn id="10" idx="4"/>
          </p:cNvCxnSpPr>
          <p:nvPr userDrawn="1"/>
        </p:nvCxnSpPr>
        <p:spPr>
          <a:xfrm flipH="1">
            <a:off x="768328" y="4291465"/>
            <a:ext cx="596139" cy="106816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979BBAB-4A06-47BB-A0F6-D2C4AE9DC315}"/>
              </a:ext>
            </a:extLst>
          </p:cNvPr>
          <p:cNvCxnSpPr>
            <a:cxnSpLocks/>
          </p:cNvCxnSpPr>
          <p:nvPr userDrawn="1"/>
        </p:nvCxnSpPr>
        <p:spPr>
          <a:xfrm flipH="1" flipV="1">
            <a:off x="10111" y="4645600"/>
            <a:ext cx="757434" cy="649059"/>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6886BE85-506F-42E8-9B51-3F21D8AE86E2}"/>
              </a:ext>
            </a:extLst>
          </p:cNvPr>
          <p:cNvCxnSpPr>
            <a:cxnSpLocks/>
            <a:stCxn id="2" idx="5"/>
          </p:cNvCxnSpPr>
          <p:nvPr userDrawn="1"/>
        </p:nvCxnSpPr>
        <p:spPr>
          <a:xfrm flipH="1" flipV="1">
            <a:off x="768479" y="5303220"/>
            <a:ext cx="785917" cy="482223"/>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C8BC2169-009E-42C7-AC15-EA947E762538}"/>
              </a:ext>
            </a:extLst>
          </p:cNvPr>
          <p:cNvCxnSpPr>
            <a:cxnSpLocks/>
            <a:stCxn id="6" idx="6"/>
          </p:cNvCxnSpPr>
          <p:nvPr userDrawn="1"/>
        </p:nvCxnSpPr>
        <p:spPr>
          <a:xfrm flipH="1" flipV="1">
            <a:off x="1326982" y="5641678"/>
            <a:ext cx="929701" cy="321515"/>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B3504F00-A334-44C2-80B4-A028B3640367}"/>
              </a:ext>
            </a:extLst>
          </p:cNvPr>
          <p:cNvCxnSpPr>
            <a:cxnSpLocks/>
            <a:stCxn id="2" idx="7"/>
            <a:endCxn id="9" idx="7"/>
          </p:cNvCxnSpPr>
          <p:nvPr userDrawn="1"/>
        </p:nvCxnSpPr>
        <p:spPr>
          <a:xfrm flipH="1">
            <a:off x="443606" y="5576387"/>
            <a:ext cx="1110791" cy="692144"/>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3B5A8164-4D7D-4944-B2B6-B1EB90B3C236}"/>
              </a:ext>
            </a:extLst>
          </p:cNvPr>
          <p:cNvCxnSpPr>
            <a:cxnSpLocks/>
            <a:stCxn id="6" idx="6"/>
            <a:endCxn id="9" idx="2"/>
          </p:cNvCxnSpPr>
          <p:nvPr userDrawn="1"/>
        </p:nvCxnSpPr>
        <p:spPr>
          <a:xfrm flipH="1">
            <a:off x="348921" y="5963194"/>
            <a:ext cx="1907762" cy="345857"/>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02619A60-2C30-4672-9C9A-43DEFB15B38F}"/>
              </a:ext>
            </a:extLst>
          </p:cNvPr>
          <p:cNvCxnSpPr>
            <a:cxnSpLocks/>
            <a:stCxn id="10" idx="0"/>
            <a:endCxn id="9" idx="3"/>
          </p:cNvCxnSpPr>
          <p:nvPr userDrawn="1"/>
        </p:nvCxnSpPr>
        <p:spPr>
          <a:xfrm flipH="1">
            <a:off x="365166" y="5245021"/>
            <a:ext cx="403162" cy="1104550"/>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C6BE020-595A-4B89-9834-F8B9DD384458}"/>
              </a:ext>
            </a:extLst>
          </p:cNvPr>
          <p:cNvCxnSpPr>
            <a:cxnSpLocks/>
            <a:stCxn id="12" idx="6"/>
            <a:endCxn id="9" idx="2"/>
          </p:cNvCxnSpPr>
          <p:nvPr userDrawn="1"/>
        </p:nvCxnSpPr>
        <p:spPr>
          <a:xfrm flipH="1" flipV="1">
            <a:off x="348921" y="6309051"/>
            <a:ext cx="2546994" cy="25199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DBFC03B2-FEA4-4E25-A088-8EBA5A308E82}"/>
              </a:ext>
            </a:extLst>
          </p:cNvPr>
          <p:cNvCxnSpPr>
            <a:cxnSpLocks/>
            <a:endCxn id="12" idx="3"/>
          </p:cNvCxnSpPr>
          <p:nvPr userDrawn="1"/>
        </p:nvCxnSpPr>
        <p:spPr>
          <a:xfrm flipV="1">
            <a:off x="2229819" y="6601562"/>
            <a:ext cx="571412" cy="23833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6C56C630-6A73-48B0-84CF-2283B07B4E75}"/>
              </a:ext>
            </a:extLst>
          </p:cNvPr>
          <p:cNvCxnSpPr>
            <a:cxnSpLocks/>
            <a:stCxn id="9" idx="1"/>
          </p:cNvCxnSpPr>
          <p:nvPr userDrawn="1"/>
        </p:nvCxnSpPr>
        <p:spPr>
          <a:xfrm flipH="1" flipV="1">
            <a:off x="24501" y="5785443"/>
            <a:ext cx="340665" cy="483087"/>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BACA2B0-6BE0-4462-9C37-2633A2A395AB}"/>
              </a:ext>
            </a:extLst>
          </p:cNvPr>
          <p:cNvCxnSpPr>
            <a:cxnSpLocks/>
          </p:cNvCxnSpPr>
          <p:nvPr userDrawn="1"/>
        </p:nvCxnSpPr>
        <p:spPr>
          <a:xfrm flipH="1" flipV="1">
            <a:off x="418867" y="6362102"/>
            <a:ext cx="336744" cy="477792"/>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B0D48B3F-0FCA-4EEB-8190-A6B3D62DDC71}"/>
              </a:ext>
            </a:extLst>
          </p:cNvPr>
          <p:cNvCxnSpPr>
            <a:cxnSpLocks/>
          </p:cNvCxnSpPr>
          <p:nvPr userDrawn="1"/>
        </p:nvCxnSpPr>
        <p:spPr>
          <a:xfrm flipV="1">
            <a:off x="10111" y="6356253"/>
            <a:ext cx="354904" cy="28187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CAC1C4A6-0D79-445C-9C24-D75B843E6C29}"/>
              </a:ext>
            </a:extLst>
          </p:cNvPr>
          <p:cNvCxnSpPr>
            <a:cxnSpLocks/>
            <a:stCxn id="8" idx="4"/>
            <a:endCxn id="2" idx="4"/>
          </p:cNvCxnSpPr>
          <p:nvPr userDrawn="1"/>
        </p:nvCxnSpPr>
        <p:spPr>
          <a:xfrm>
            <a:off x="1325248" y="4389289"/>
            <a:ext cx="127974" cy="1439451"/>
          </a:xfrm>
          <a:prstGeom prst="line">
            <a:avLst/>
          </a:prstGeom>
          <a:ln w="12700">
            <a:solidFill>
              <a:srgbClr val="BCD727"/>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6300725"/>
      </p:ext>
    </p:extLst>
  </p:cSld>
  <p:clrMap bg1="lt1" tx1="dk1" bg2="lt2" tx2="dk2" accent1="accent1" accent2="accent2" accent3="accent3" accent4="accent4" accent5="accent5" accent6="accent6" hlink="hlink" folHlink="folHlink"/>
  <p:sldLayoutIdLst>
    <p:sldLayoutId id="2147483680"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pic>
        <p:nvPicPr>
          <p:cNvPr id="4" name="Picture 3">
            <a:extLst>
              <a:ext uri="{FF2B5EF4-FFF2-40B4-BE49-F238E27FC236}">
                <a16:creationId xmlns:a16="http://schemas.microsoft.com/office/drawing/2014/main" id="{C349DD86-B84C-42A5-8D81-9D0A1C1F941B}"/>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0" y="3732416"/>
            <a:ext cx="12192000" cy="3125585"/>
          </a:xfrm>
          <a:prstGeom prst="rect">
            <a:avLst/>
          </a:prstGeom>
        </p:spPr>
      </p:pic>
      <p:sp>
        <p:nvSpPr>
          <p:cNvPr id="5" name="Rectangle 4">
            <a:extLst>
              <a:ext uri="{FF2B5EF4-FFF2-40B4-BE49-F238E27FC236}">
                <a16:creationId xmlns:a16="http://schemas.microsoft.com/office/drawing/2014/main" id="{FF5568AF-2C93-464D-B6A5-A6987190E1DF}"/>
              </a:ext>
            </a:extLst>
          </p:cNvPr>
          <p:cNvSpPr/>
          <p:nvPr userDrawn="1"/>
        </p:nvSpPr>
        <p:spPr>
          <a:xfrm>
            <a:off x="0" y="831272"/>
            <a:ext cx="12192000" cy="6026728"/>
          </a:xfrm>
          <a:prstGeom prst="rect">
            <a:avLst/>
          </a:prstGeom>
          <a:gradFill flip="none" rotWithShape="1">
            <a:gsLst>
              <a:gs pos="0">
                <a:schemeClr val="bg1"/>
              </a:gs>
              <a:gs pos="65000">
                <a:srgbClr val="FFFFFF"/>
              </a:gs>
              <a:gs pos="83000">
                <a:srgbClr val="FFFFFF">
                  <a:alpha val="82000"/>
                </a:srgbClr>
              </a:gs>
              <a:gs pos="100000">
                <a:srgbClr val="C7D5ED">
                  <a:alpha val="0"/>
                </a:srgbClr>
              </a:gs>
            </a:gsLst>
            <a:lin ang="5400000" scaled="0"/>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70968056"/>
      </p:ext>
    </p:extLst>
  </p:cSld>
  <p:clrMap bg1="lt1" tx1="dk1" bg2="lt2" tx2="dk2" accent1="accent1" accent2="accent2" accent3="accent3" accent4="accent4" accent5="accent5" accent6="accent6" hlink="hlink" folHlink="folHlink"/>
  <p:sldLayoutIdLst>
    <p:sldLayoutId id="2147483664" r:id="rId1"/>
    <p:sldLayoutId id="2147483683"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135836" y="240458"/>
            <a:ext cx="1815096" cy="590814"/>
          </a:xfrm>
          <a:prstGeom prst="rect">
            <a:avLst/>
          </a:prstGeom>
        </p:spPr>
      </p:pic>
    </p:spTree>
    <p:extLst>
      <p:ext uri="{BB962C8B-B14F-4D97-AF65-F5344CB8AC3E}">
        <p14:creationId xmlns:p14="http://schemas.microsoft.com/office/powerpoint/2010/main" val="3148813084"/>
      </p:ext>
    </p:extLst>
  </p:cSld>
  <p:clrMap bg1="lt1" tx1="dk1" bg2="lt2" tx2="dk2" accent1="accent1" accent2="accent2" accent3="accent3" accent4="accent4" accent5="accent5" accent6="accent6" hlink="hlink" folHlink="folHlink"/>
  <p:sldLayoutIdLst>
    <p:sldLayoutId id="2147483654"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0647524"/>
      </p:ext>
    </p:extLst>
  </p:cSld>
  <p:clrMap bg1="lt1" tx1="dk1" bg2="lt2" tx2="dk2" accent1="accent1" accent2="accent2" accent3="accent3" accent4="accent4" accent5="accent5" accent6="accent6" hlink="hlink" folHlink="folHlink"/>
  <p:sldLayoutIdLst>
    <p:sldLayoutId id="214748364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www.salesforce.org/education/education-cloud/"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www.salesforce.org/education/education-cloud/" TargetMode="External"/><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hyperlink" Target="https://www.salesforce.com/eu/products/platform/overview/" TargetMode="External"/><Relationship Id="rId5" Type="http://schemas.openxmlformats.org/officeDocument/2006/relationships/hyperlink" Target="https://www.salesforce.com/products/experience-cloud/overview/" TargetMode="External"/><Relationship Id="rId4" Type="http://schemas.openxmlformats.org/officeDocument/2006/relationships/hyperlink" Target="https://www.salesforce.com/eu/campaign/sem/sales-cloud/" TargetMode="Externa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 Id="rId4"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268CD-6A91-46D5-9F2E-D63140C574C1}"/>
              </a:ext>
            </a:extLst>
          </p:cNvPr>
          <p:cNvSpPr>
            <a:spLocks noGrp="1"/>
          </p:cNvSpPr>
          <p:nvPr>
            <p:ph type="ctrTitle"/>
          </p:nvPr>
        </p:nvSpPr>
        <p:spPr>
          <a:xfrm>
            <a:off x="883920" y="2396230"/>
            <a:ext cx="10424160" cy="1032770"/>
          </a:xfrm>
        </p:spPr>
        <p:txBody>
          <a:bodyPr lIns="91440" tIns="45720" rIns="91440" bIns="45720" anchor="b"/>
          <a:lstStyle/>
          <a:p>
            <a:r>
              <a:rPr lang="en-ZA" sz="4800" dirty="0">
                <a:latin typeface="Proxima Nova Lt"/>
              </a:rPr>
              <a:t>Salesforce Implementation</a:t>
            </a:r>
            <a:endParaRPr lang="en-ZA" sz="4800" dirty="0"/>
          </a:p>
        </p:txBody>
      </p:sp>
      <p:pic>
        <p:nvPicPr>
          <p:cNvPr id="12290" name="Picture 2" descr="Image result for salesforce logo">
            <a:extLst>
              <a:ext uri="{FF2B5EF4-FFF2-40B4-BE49-F238E27FC236}">
                <a16:creationId xmlns:a16="http://schemas.microsoft.com/office/drawing/2014/main" id="{7CDFABAC-7B06-AB34-C319-D18E7B6F99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38725" y="3632200"/>
            <a:ext cx="1743075" cy="8679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279542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endParaRPr lang="en-ZA" dirty="0"/>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Background</a:t>
            </a:r>
          </a:p>
        </p:txBody>
      </p:sp>
      <p:sp>
        <p:nvSpPr>
          <p:cNvPr id="5" name="Rectangle 4">
            <a:extLst>
              <a:ext uri="{FF2B5EF4-FFF2-40B4-BE49-F238E27FC236}">
                <a16:creationId xmlns:a16="http://schemas.microsoft.com/office/drawing/2014/main" id="{F0AE3268-71B1-4555-AA1B-38DB7FD6C51F}"/>
              </a:ext>
            </a:extLst>
          </p:cNvPr>
          <p:cNvSpPr/>
          <p:nvPr/>
        </p:nvSpPr>
        <p:spPr>
          <a:xfrm>
            <a:off x="743942" y="1776860"/>
            <a:ext cx="10186817" cy="3960058"/>
          </a:xfrm>
          <a:prstGeom prst="rect">
            <a:avLst/>
          </a:prstGeom>
        </p:spPr>
        <p:txBody>
          <a:bodyPr wrap="square" anchor="t">
            <a:spAutoFit/>
          </a:bodyPr>
          <a:lstStyle/>
          <a:p>
            <a:pPr marL="180000"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The Principals Academy Trust (PAT) was established in 2012 with the aim of improving educational outcomes for learners in state schools in marginalised communities</a:t>
            </a:r>
          </a:p>
          <a:p>
            <a:pPr marL="180000"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PAT Theory of Change focuses on empowering the principals who lead the schools, creating a trickle down effect that ultimately produces better academic results for learners</a:t>
            </a:r>
          </a:p>
          <a:p>
            <a:pPr marL="180000"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Over the past 10 years, PAT programme has included over 200 schools and touched the lives of over 200 000 learners</a:t>
            </a:r>
          </a:p>
          <a:p>
            <a:pPr marL="180000"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PAT operations team have accumulated significant amounts of school-related data which is used to track performance, derive insights and provide progress updates to funders</a:t>
            </a:r>
          </a:p>
          <a:p>
            <a:pPr marL="180000"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PAT operations team are now looking for a system to help better manage their data and internal processes to:</a:t>
            </a:r>
          </a:p>
          <a:p>
            <a:pPr marL="637200" lvl="1"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Reduce manual effort, thereby creating additional hours for more meaningful work</a:t>
            </a:r>
          </a:p>
          <a:p>
            <a:pPr marL="637200" lvl="1"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Provide better insights and reporting to help adapt PAT strategy and drive increased funder engagement</a:t>
            </a:r>
          </a:p>
          <a:p>
            <a:pPr marL="637200" lvl="1"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Reduce human error </a:t>
            </a:r>
          </a:p>
          <a:p>
            <a:pPr marL="637200" lvl="1"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Enable PAT to scale beyond the 200+ schools currently enrolled</a:t>
            </a:r>
          </a:p>
          <a:p>
            <a:pPr marL="637200" lvl="1"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Create a single source of truth for all PAT data</a:t>
            </a:r>
          </a:p>
          <a:p>
            <a:pPr marL="180000" indent="-180000">
              <a:spcBef>
                <a:spcPts val="1000"/>
              </a:spcBef>
              <a:buClr>
                <a:srgbClr val="BCD727"/>
              </a:buClr>
              <a:buFont typeface="Arial" panose="020B0604020202020204" pitchFamily="34" charset="0"/>
              <a:buChar char="•"/>
            </a:pPr>
            <a:r>
              <a:rPr lang="en-GB" sz="1200" dirty="0">
                <a:solidFill>
                  <a:schemeClr val="tx1">
                    <a:lumMod val="65000"/>
                    <a:lumOff val="35000"/>
                  </a:schemeClr>
                </a:solidFill>
                <a:latin typeface="Proxima Nova Lt"/>
              </a:rPr>
              <a:t>To this end, PAT have requested Open Box Software’s assistance to implement a Salesforce solution</a:t>
            </a:r>
          </a:p>
        </p:txBody>
      </p:sp>
    </p:spTree>
    <p:extLst>
      <p:ext uri="{BB962C8B-B14F-4D97-AF65-F5344CB8AC3E}">
        <p14:creationId xmlns:p14="http://schemas.microsoft.com/office/powerpoint/2010/main" val="2096166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endParaRPr lang="en-ZA" dirty="0"/>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The Salesforce Platform Advantage</a:t>
            </a:r>
          </a:p>
        </p:txBody>
      </p:sp>
      <p:sp>
        <p:nvSpPr>
          <p:cNvPr id="5" name="Rectangle 4">
            <a:extLst>
              <a:ext uri="{FF2B5EF4-FFF2-40B4-BE49-F238E27FC236}">
                <a16:creationId xmlns:a16="http://schemas.microsoft.com/office/drawing/2014/main" id="{F0AE3268-71B1-4555-AA1B-38DB7FD6C51F}"/>
              </a:ext>
            </a:extLst>
          </p:cNvPr>
          <p:cNvSpPr/>
          <p:nvPr/>
        </p:nvSpPr>
        <p:spPr>
          <a:xfrm>
            <a:off x="743942" y="1776860"/>
            <a:ext cx="10186817" cy="1513235"/>
          </a:xfrm>
          <a:prstGeom prst="rect">
            <a:avLst/>
          </a:prstGeom>
        </p:spPr>
        <p:txBody>
          <a:bodyPr wrap="square" anchor="t">
            <a:spAutoFit/>
          </a:bodyPr>
          <a:lstStyle/>
          <a:p>
            <a:pPr marL="171450" indent="-171450">
              <a:buFont typeface="Arial" panose="020B0604020202020204" pitchFamily="34" charset="0"/>
              <a:buChar char="•"/>
            </a:pPr>
            <a:r>
              <a:rPr lang="en-US" sz="1200" dirty="0">
                <a:solidFill>
                  <a:schemeClr val="tx1">
                    <a:lumMod val="65000"/>
                    <a:lumOff val="35000"/>
                  </a:schemeClr>
                </a:solidFill>
                <a:latin typeface="Proxima Nova Lt"/>
              </a:rPr>
              <a:t>Salesforce lets companies have all customer data together in one place.  It is a cloud-based platform that provides extensive out of the box  functionality and is easy to customize and upgrade without anything breaking. Low level IT functionality (security, authentication, disaster recovery etc.) is all taken care of and you are empowered to spend your time building new capabilities and adding business value.</a:t>
            </a:r>
          </a:p>
          <a:p>
            <a:pPr marL="171450" indent="-171450">
              <a:buFont typeface="Arial" panose="020B0604020202020204" pitchFamily="34" charset="0"/>
              <a:buChar char="•"/>
            </a:pPr>
            <a:endParaRPr lang="en-US" sz="1200" dirty="0">
              <a:solidFill>
                <a:schemeClr val="tx1">
                  <a:lumMod val="65000"/>
                  <a:lumOff val="35000"/>
                </a:schemeClr>
              </a:solidFill>
              <a:latin typeface="Proxima Nova Lt"/>
            </a:endParaRPr>
          </a:p>
          <a:p>
            <a:pPr marL="171450" indent="-171450">
              <a:buFont typeface="Arial" panose="020B0604020202020204" pitchFamily="34" charset="0"/>
              <a:buChar char="•"/>
            </a:pPr>
            <a:r>
              <a:rPr lang="en-US" sz="1200" dirty="0">
                <a:solidFill>
                  <a:schemeClr val="tx1">
                    <a:lumMod val="65000"/>
                    <a:lumOff val="35000"/>
                  </a:schemeClr>
                </a:solidFill>
                <a:latin typeface="Proxima Nova Lt"/>
              </a:rPr>
              <a:t>For PAT</a:t>
            </a:r>
            <a:r>
              <a:rPr lang="en-ZA" sz="1200" dirty="0">
                <a:solidFill>
                  <a:schemeClr val="tx1">
                    <a:lumMod val="65000"/>
                    <a:lumOff val="35000"/>
                  </a:schemeClr>
                </a:solidFill>
                <a:latin typeface="Proxima Nova Lt"/>
              </a:rPr>
              <a:t>, Salesforce will become the single, </a:t>
            </a:r>
            <a:r>
              <a:rPr lang="en-US" sz="1200" dirty="0">
                <a:solidFill>
                  <a:schemeClr val="tx1">
                    <a:lumMod val="65000"/>
                    <a:lumOff val="35000"/>
                  </a:schemeClr>
                </a:solidFill>
                <a:latin typeface="Proxima Nova Lt"/>
              </a:rPr>
              <a:t>secure, and scalable platform that holds all your data - school information, principal details, course marks, funders and their contributions and so much more….  </a:t>
            </a:r>
            <a:endParaRPr lang="en-ZA" sz="1200" dirty="0">
              <a:solidFill>
                <a:schemeClr val="tx1">
                  <a:lumMod val="65000"/>
                  <a:lumOff val="35000"/>
                </a:schemeClr>
              </a:solidFill>
              <a:latin typeface="Proxima Nova Lt"/>
              <a:hlinkClick r:id="rId2"/>
            </a:endParaRPr>
          </a:p>
          <a:p>
            <a:pPr marL="180000" indent="-180000">
              <a:spcBef>
                <a:spcPts val="1000"/>
              </a:spcBef>
              <a:buClr>
                <a:srgbClr val="BCD727"/>
              </a:buClr>
              <a:buFont typeface="Arial" panose="020B0604020202020204" pitchFamily="34" charset="0"/>
              <a:buChar char="•"/>
            </a:pPr>
            <a:endParaRPr lang="en-ZA" sz="1200" dirty="0">
              <a:solidFill>
                <a:schemeClr val="tx1">
                  <a:lumMod val="65000"/>
                  <a:lumOff val="35000"/>
                </a:schemeClr>
              </a:solidFill>
              <a:latin typeface="Proxima Nova Lt"/>
            </a:endParaRP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8" name="Picture 4" descr="Introducing Salesforce Shield - Salesforce Blog">
            <a:extLst>
              <a:ext uri="{FF2B5EF4-FFF2-40B4-BE49-F238E27FC236}">
                <a16:creationId xmlns:a16="http://schemas.microsoft.com/office/drawing/2014/main" id="{BFCB7BA4-94E7-C84C-B1C4-8C7F45F70B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4469" y="2956429"/>
            <a:ext cx="6057900" cy="31661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3706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endParaRPr lang="en-ZA" dirty="0"/>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The Salesforce Solution for PAT</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098" name="Picture 2">
            <a:extLst>
              <a:ext uri="{FF2B5EF4-FFF2-40B4-BE49-F238E27FC236}">
                <a16:creationId xmlns:a16="http://schemas.microsoft.com/office/drawing/2014/main" id="{132C1928-31AE-10E9-BB09-E6E1F5A53D0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546" t="6204" r="4879" b="3633"/>
          <a:stretch/>
        </p:blipFill>
        <p:spPr bwMode="auto">
          <a:xfrm>
            <a:off x="5010150" y="1721005"/>
            <a:ext cx="7031670" cy="4124206"/>
          </a:xfrm>
          <a:prstGeom prst="rect">
            <a:avLst/>
          </a:prstGeom>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CC310504-1CF4-26B5-F2B3-81953B643D0A}"/>
              </a:ext>
            </a:extLst>
          </p:cNvPr>
          <p:cNvSpPr txBox="1"/>
          <p:nvPr/>
        </p:nvSpPr>
        <p:spPr>
          <a:xfrm>
            <a:off x="682273" y="1721005"/>
            <a:ext cx="4223101" cy="4144724"/>
          </a:xfrm>
          <a:prstGeom prst="rect">
            <a:avLst/>
          </a:prstGeom>
          <a:noFill/>
        </p:spPr>
        <p:txBody>
          <a:bodyPr wrap="square" rtlCol="0">
            <a:spAutoFit/>
          </a:bodyPr>
          <a:lstStyle/>
          <a:p>
            <a:pPr marL="180000" indent="-180000">
              <a:spcBef>
                <a:spcPts val="1000"/>
              </a:spcBef>
              <a:buClr>
                <a:srgbClr val="BCD727"/>
              </a:buClr>
              <a:buFont typeface="Arial" panose="020B0604020202020204" pitchFamily="34" charset="0"/>
              <a:buChar char="•"/>
            </a:pPr>
            <a:r>
              <a:rPr lang="en-ZA" sz="1000" dirty="0">
                <a:solidFill>
                  <a:schemeClr val="tx1">
                    <a:lumMod val="65000"/>
                    <a:lumOff val="35000"/>
                  </a:schemeClr>
                </a:solidFill>
                <a:latin typeface="Proxima Nova Lt"/>
              </a:rPr>
              <a:t>The proposed Salesforce solution for PAT shown on this slide uses a number of different “Clouds” (which can be described as functional modules that run on the Salesforce platform)</a:t>
            </a:r>
            <a:endParaRPr lang="en-ZA" sz="1000" dirty="0">
              <a:solidFill>
                <a:schemeClr val="tx1">
                  <a:lumMod val="65000"/>
                  <a:lumOff val="35000"/>
                </a:schemeClr>
              </a:solidFill>
              <a:latin typeface="Proxima Nova Lt"/>
              <a:hlinkClick r:id="rId3"/>
            </a:endParaRPr>
          </a:p>
          <a:p>
            <a:pPr marL="180000" indent="-180000">
              <a:spcBef>
                <a:spcPts val="1000"/>
              </a:spcBef>
              <a:buClr>
                <a:srgbClr val="BCD727"/>
              </a:buClr>
              <a:buFont typeface="Arial" panose="020B0604020202020204" pitchFamily="34" charset="0"/>
              <a:buChar char="•"/>
            </a:pPr>
            <a:r>
              <a:rPr lang="en-ZA" sz="1000" dirty="0">
                <a:solidFill>
                  <a:schemeClr val="tx1">
                    <a:lumMod val="65000"/>
                    <a:lumOff val="35000"/>
                  </a:schemeClr>
                </a:solidFill>
                <a:latin typeface="Proxima Nova Lt"/>
                <a:hlinkClick r:id="rId3"/>
              </a:rPr>
              <a:t>Education Cloud</a:t>
            </a:r>
            <a:r>
              <a:rPr lang="en-ZA" sz="1000" dirty="0">
                <a:solidFill>
                  <a:schemeClr val="tx1">
                    <a:lumMod val="65000"/>
                    <a:lumOff val="35000"/>
                  </a:schemeClr>
                </a:solidFill>
                <a:latin typeface="Proxima Nova Lt"/>
              </a:rPr>
              <a:t> provides a data model and functionality to manage the operations of an entire school or university – i.e. it provides a system to to administer everything from student applications, onboarding, course enrolment, class attendance, test results and more.  While PAT doesn’t require the ability to track data at a student level, Education Cloud functionality covers many of the data entities that Principals Academy Trust is already tracking and will give the ability to track academic programs available at a given school, course teachers, department heads, term dates etc</a:t>
            </a:r>
          </a:p>
          <a:p>
            <a:pPr marL="180000" indent="-180000">
              <a:spcBef>
                <a:spcPts val="1000"/>
              </a:spcBef>
              <a:buClr>
                <a:srgbClr val="BCD727"/>
              </a:buClr>
              <a:buFont typeface="Arial" panose="020B0604020202020204" pitchFamily="34" charset="0"/>
              <a:buChar char="•"/>
            </a:pPr>
            <a:r>
              <a:rPr lang="en-ZA" sz="1000" dirty="0">
                <a:solidFill>
                  <a:schemeClr val="tx1">
                    <a:lumMod val="65000"/>
                    <a:lumOff val="35000"/>
                  </a:schemeClr>
                </a:solidFill>
                <a:latin typeface="Proxima Nova Lt"/>
                <a:hlinkClick r:id="rId4"/>
              </a:rPr>
              <a:t>Sales Cloud</a:t>
            </a:r>
            <a:r>
              <a:rPr lang="en-ZA" sz="1000" dirty="0">
                <a:solidFill>
                  <a:schemeClr val="tx1">
                    <a:lumMod val="65000"/>
                    <a:lumOff val="35000"/>
                  </a:schemeClr>
                </a:solidFill>
                <a:latin typeface="Proxima Nova Lt"/>
              </a:rPr>
              <a:t> empowers your sales team to track and monitor every funder's journey from start to finish in one place. Use automation and sales management tools to fundraise more efficiently so you can focus on delivering a great funder experience and closing more deals.</a:t>
            </a:r>
          </a:p>
          <a:p>
            <a:pPr marL="180000" indent="-180000">
              <a:spcBef>
                <a:spcPts val="1000"/>
              </a:spcBef>
              <a:buClr>
                <a:srgbClr val="BCD727"/>
              </a:buClr>
              <a:buFont typeface="Arial" panose="020B0604020202020204" pitchFamily="34" charset="0"/>
              <a:buChar char="•"/>
            </a:pPr>
            <a:r>
              <a:rPr lang="en-ZA" sz="1000" dirty="0">
                <a:solidFill>
                  <a:schemeClr val="tx1">
                    <a:lumMod val="65000"/>
                    <a:lumOff val="35000"/>
                  </a:schemeClr>
                </a:solidFill>
                <a:latin typeface="Proxima Nova Lt"/>
                <a:hlinkClick r:id="rId5"/>
              </a:rPr>
              <a:t>Experience Cloud</a:t>
            </a:r>
            <a:r>
              <a:rPr lang="en-ZA" sz="1000" dirty="0">
                <a:solidFill>
                  <a:schemeClr val="tx1">
                    <a:lumMod val="65000"/>
                    <a:lumOff val="35000"/>
                  </a:schemeClr>
                </a:solidFill>
                <a:latin typeface="Proxima Nova Lt"/>
              </a:rPr>
              <a:t>  is a configurable portal where external users (coaches, principals, funders) can login to interact with data limited to their specific roles.  e.g. coaches can submit new rubric scores and log mentor sessions and can also view their past submissions.</a:t>
            </a:r>
          </a:p>
          <a:p>
            <a:pPr marL="180000" indent="-180000">
              <a:spcBef>
                <a:spcPts val="1000"/>
              </a:spcBef>
              <a:buClr>
                <a:srgbClr val="BCD727"/>
              </a:buClr>
              <a:buFont typeface="Arial" panose="020B0604020202020204" pitchFamily="34" charset="0"/>
              <a:buChar char="•"/>
            </a:pPr>
            <a:r>
              <a:rPr lang="en-ZA" sz="1000" dirty="0">
                <a:solidFill>
                  <a:schemeClr val="tx1">
                    <a:lumMod val="65000"/>
                    <a:lumOff val="35000"/>
                  </a:schemeClr>
                </a:solidFill>
                <a:latin typeface="Proxima Nova Lt"/>
                <a:hlinkClick r:id="rId6"/>
              </a:rPr>
              <a:t>Platform Functionality</a:t>
            </a:r>
            <a:r>
              <a:rPr lang="en-ZA" sz="1000" dirty="0">
                <a:solidFill>
                  <a:schemeClr val="tx1">
                    <a:lumMod val="65000"/>
                    <a:lumOff val="35000"/>
                  </a:schemeClr>
                </a:solidFill>
                <a:latin typeface="Proxima Nova Lt"/>
              </a:rPr>
              <a:t> sits underneath everything, giving you the ability to automate, extend and enhance the business processes implemented within any of the Salesforce clouds.</a:t>
            </a:r>
          </a:p>
        </p:txBody>
      </p:sp>
    </p:spTree>
    <p:extLst>
      <p:ext uri="{BB962C8B-B14F-4D97-AF65-F5344CB8AC3E}">
        <p14:creationId xmlns:p14="http://schemas.microsoft.com/office/powerpoint/2010/main" val="26637764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r>
              <a:rPr lang="en-ZA" dirty="0"/>
              <a:t>Salesforce Annual License Fees – Indicative Costing</a:t>
            </a:r>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Costing </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CC310504-1CF4-26B5-F2B3-81953B643D0A}"/>
              </a:ext>
            </a:extLst>
          </p:cNvPr>
          <p:cNvSpPr txBox="1"/>
          <p:nvPr/>
        </p:nvSpPr>
        <p:spPr>
          <a:xfrm>
            <a:off x="682273" y="1721005"/>
            <a:ext cx="10252427" cy="990015"/>
          </a:xfrm>
          <a:prstGeom prst="rect">
            <a:avLst/>
          </a:prstGeom>
          <a:noFill/>
        </p:spPr>
        <p:txBody>
          <a:bodyPr wrap="square" rtlCol="0">
            <a:spAutoFit/>
          </a:bodyPr>
          <a:lstStyle/>
          <a:p>
            <a:pPr marL="180000" indent="-180000">
              <a:spcBef>
                <a:spcPts val="1000"/>
              </a:spcBef>
              <a:buClr>
                <a:srgbClr val="BCD727"/>
              </a:buClr>
              <a:buFont typeface="Arial" panose="020B0604020202020204" pitchFamily="34" charset="0"/>
              <a:buChar char="•"/>
            </a:pPr>
            <a:r>
              <a:rPr lang="en-ZA" sz="1000" dirty="0">
                <a:solidFill>
                  <a:schemeClr val="tx1">
                    <a:lumMod val="65000"/>
                    <a:lumOff val="35000"/>
                  </a:schemeClr>
                </a:solidFill>
                <a:latin typeface="Proxima Nova Lt"/>
              </a:rPr>
              <a:t>Salesforce is a SaaS solution (priced in USD) priced per user per month, normally paid annually. PAT will purchase licenses directly from Salesforce and may be able to negotiate more favourable pricing depending on license numbers and length of contract.  Open Box Software will assist with recommendations on license types and volumes, but the final pricing and contract conditions will be agreed directly between Salesforce and PAT.</a:t>
            </a:r>
          </a:p>
          <a:p>
            <a:pPr marL="180000" indent="-180000">
              <a:spcBef>
                <a:spcPts val="1000"/>
              </a:spcBef>
              <a:buClr>
                <a:srgbClr val="BCD727"/>
              </a:buClr>
              <a:buFont typeface="Arial" panose="020B0604020202020204" pitchFamily="34" charset="0"/>
              <a:buChar char="•"/>
            </a:pPr>
            <a:r>
              <a:rPr lang="en-ZA" sz="1000" dirty="0">
                <a:solidFill>
                  <a:schemeClr val="tx1">
                    <a:lumMod val="65000"/>
                    <a:lumOff val="35000"/>
                  </a:schemeClr>
                </a:solidFill>
                <a:latin typeface="Proxima Nova Lt"/>
              </a:rPr>
              <a:t>The indicative costing below is based on the user numbers as understood from discussions with PAT team.  The costing is discounted because of PAT’s non profit status – for example the list price of Sales Cloud licenses is $150/user/month vs. $105 below.  Further discounts may be possible pending negotiations with Salesforce.</a:t>
            </a:r>
          </a:p>
        </p:txBody>
      </p:sp>
      <p:graphicFrame>
        <p:nvGraphicFramePr>
          <p:cNvPr id="5" name="Table 4">
            <a:extLst>
              <a:ext uri="{FF2B5EF4-FFF2-40B4-BE49-F238E27FC236}">
                <a16:creationId xmlns:a16="http://schemas.microsoft.com/office/drawing/2014/main" id="{361E121A-CDE1-CC08-E5F8-BA86F8147FCF}"/>
              </a:ext>
            </a:extLst>
          </p:cNvPr>
          <p:cNvGraphicFramePr>
            <a:graphicFrameLocks noGrp="1"/>
          </p:cNvGraphicFramePr>
          <p:nvPr>
            <p:extLst>
              <p:ext uri="{D42A27DB-BD31-4B8C-83A1-F6EECF244321}">
                <p14:modId xmlns:p14="http://schemas.microsoft.com/office/powerpoint/2010/main" val="322030408"/>
              </p:ext>
            </p:extLst>
          </p:nvPr>
        </p:nvGraphicFramePr>
        <p:xfrm>
          <a:off x="838200" y="3038065"/>
          <a:ext cx="9715501" cy="2552700"/>
        </p:xfrm>
        <a:graphic>
          <a:graphicData uri="http://schemas.openxmlformats.org/drawingml/2006/table">
            <a:tbl>
              <a:tblPr firstRow="1" firstCol="1" bandRow="1">
                <a:tableStyleId>{5C22544A-7EE6-4342-B048-85BDC9FD1C3A}</a:tableStyleId>
              </a:tblPr>
              <a:tblGrid>
                <a:gridCol w="1784975">
                  <a:extLst>
                    <a:ext uri="{9D8B030D-6E8A-4147-A177-3AD203B41FA5}">
                      <a16:colId xmlns:a16="http://schemas.microsoft.com/office/drawing/2014/main" val="3732380062"/>
                    </a:ext>
                  </a:extLst>
                </a:gridCol>
                <a:gridCol w="4415800">
                  <a:extLst>
                    <a:ext uri="{9D8B030D-6E8A-4147-A177-3AD203B41FA5}">
                      <a16:colId xmlns:a16="http://schemas.microsoft.com/office/drawing/2014/main" val="454509397"/>
                    </a:ext>
                  </a:extLst>
                </a:gridCol>
                <a:gridCol w="1270576">
                  <a:extLst>
                    <a:ext uri="{9D8B030D-6E8A-4147-A177-3AD203B41FA5}">
                      <a16:colId xmlns:a16="http://schemas.microsoft.com/office/drawing/2014/main" val="918621652"/>
                    </a:ext>
                  </a:extLst>
                </a:gridCol>
                <a:gridCol w="1053524">
                  <a:extLst>
                    <a:ext uri="{9D8B030D-6E8A-4147-A177-3AD203B41FA5}">
                      <a16:colId xmlns:a16="http://schemas.microsoft.com/office/drawing/2014/main" val="982279722"/>
                    </a:ext>
                  </a:extLst>
                </a:gridCol>
                <a:gridCol w="1190626">
                  <a:extLst>
                    <a:ext uri="{9D8B030D-6E8A-4147-A177-3AD203B41FA5}">
                      <a16:colId xmlns:a16="http://schemas.microsoft.com/office/drawing/2014/main" val="2719010825"/>
                    </a:ext>
                  </a:extLst>
                </a:gridCol>
              </a:tblGrid>
              <a:tr h="393700">
                <a:tc>
                  <a:txBody>
                    <a:bodyPr/>
                    <a:lstStyle/>
                    <a:p>
                      <a:pPr>
                        <a:lnSpc>
                          <a:spcPct val="115000"/>
                        </a:lnSpc>
                      </a:pPr>
                      <a:r>
                        <a:rPr lang="en-ZA" sz="1000">
                          <a:effectLst/>
                        </a:rPr>
                        <a:t>License Type</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nSpc>
                          <a:spcPct val="115000"/>
                        </a:lnSpc>
                      </a:pPr>
                      <a:r>
                        <a:rPr lang="en-ZA" sz="1000">
                          <a:effectLst/>
                        </a:rPr>
                        <a:t>Description</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nSpc>
                          <a:spcPct val="115000"/>
                        </a:lnSpc>
                      </a:pPr>
                      <a:r>
                        <a:rPr lang="en-ZA" sz="1000">
                          <a:effectLst/>
                        </a:rPr>
                        <a:t>Monthly cost (USD/user/month)</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nSpc>
                          <a:spcPct val="115000"/>
                        </a:lnSpc>
                      </a:pPr>
                      <a:r>
                        <a:rPr lang="en-ZA" sz="1000">
                          <a:effectLst/>
                        </a:rPr>
                        <a:t>Qty</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nSpc>
                          <a:spcPct val="115000"/>
                        </a:lnSpc>
                      </a:pPr>
                      <a:r>
                        <a:rPr lang="en-ZA" sz="1000">
                          <a:effectLst/>
                        </a:rPr>
                        <a:t>Yearly Cost (USD)</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2601357449"/>
                  </a:ext>
                </a:extLst>
              </a:tr>
              <a:tr h="431800">
                <a:tc>
                  <a:txBody>
                    <a:bodyPr/>
                    <a:lstStyle/>
                    <a:p>
                      <a:pPr>
                        <a:lnSpc>
                          <a:spcPct val="115000"/>
                        </a:lnSpc>
                      </a:pPr>
                      <a:r>
                        <a:rPr lang="en-ZA" sz="1000">
                          <a:effectLst/>
                        </a:rPr>
                        <a:t>Sales Cloud License</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nSpc>
                          <a:spcPct val="115000"/>
                        </a:lnSpc>
                      </a:pPr>
                      <a:r>
                        <a:rPr lang="en-ZA" sz="1000">
                          <a:effectLst/>
                        </a:rPr>
                        <a:t>Full license used for admin and access to Sales Cloud for fundraising activities</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$105</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4</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$5,040</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446058242"/>
                  </a:ext>
                </a:extLst>
              </a:tr>
              <a:tr h="647700">
                <a:tc>
                  <a:txBody>
                    <a:bodyPr/>
                    <a:lstStyle/>
                    <a:p>
                      <a:pPr>
                        <a:lnSpc>
                          <a:spcPct val="115000"/>
                        </a:lnSpc>
                      </a:pPr>
                      <a:r>
                        <a:rPr lang="en-ZA" sz="1000">
                          <a:effectLst/>
                        </a:rPr>
                        <a:t>Lightning Platform Starter</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nSpc>
                          <a:spcPct val="115000"/>
                        </a:lnSpc>
                      </a:pPr>
                      <a:r>
                        <a:rPr lang="en-ZA" sz="1000">
                          <a:effectLst/>
                        </a:rPr>
                        <a:t>Reduced functionality license used to access Education Cloud data (i.e. internal users who require access to everything except fundraising functionality)</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$17.5</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6</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$1,260</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1244029039"/>
                  </a:ext>
                </a:extLst>
              </a:tr>
              <a:tr h="431800">
                <a:tc>
                  <a:txBody>
                    <a:bodyPr/>
                    <a:lstStyle/>
                    <a:p>
                      <a:pPr>
                        <a:lnSpc>
                          <a:spcPct val="115000"/>
                        </a:lnSpc>
                      </a:pPr>
                      <a:r>
                        <a:rPr lang="en-ZA" sz="1000">
                          <a:effectLst/>
                        </a:rPr>
                        <a:t>Customer Community Plus</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nSpc>
                          <a:spcPct val="115000"/>
                        </a:lnSpc>
                      </a:pPr>
                      <a:r>
                        <a:rPr lang="en-ZA" sz="1000">
                          <a:effectLst/>
                        </a:rPr>
                        <a:t>License for external users to view and enter data via the "community cloud" portal</a:t>
                      </a:r>
                      <a:endParaRPr lang="en-ZA" sz="120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$9.75</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40</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a:txBody>
                    <a:bodyPr/>
                    <a:lstStyle/>
                    <a:p>
                      <a:pPr algn="r">
                        <a:lnSpc>
                          <a:spcPct val="115000"/>
                        </a:lnSpc>
                      </a:pPr>
                      <a:r>
                        <a:rPr lang="en-ZA" sz="1000" dirty="0">
                          <a:effectLst/>
                        </a:rPr>
                        <a:t>$4,680</a:t>
                      </a:r>
                      <a:endParaRPr lang="en-ZA" sz="12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272754326"/>
                  </a:ext>
                </a:extLst>
              </a:tr>
              <a:tr h="203200">
                <a:tc>
                  <a:txBody>
                    <a:bodyPr/>
                    <a:lstStyle/>
                    <a:p>
                      <a:pPr>
                        <a:lnSpc>
                          <a:spcPct val="115000"/>
                        </a:lnSpc>
                      </a:pPr>
                      <a:endParaRPr lang="en-ZA" sz="1100">
                        <a:effectLst/>
                        <a:latin typeface="Calibri" panose="020F0502020204030204" pitchFamily="34" charset="0"/>
                        <a:cs typeface="Arial" panose="020B0604020202020204" pitchFamily="34" charset="0"/>
                      </a:endParaRPr>
                    </a:p>
                  </a:txBody>
                  <a:tcPr marL="68580" marR="68580" marT="0" marB="0" anchor="b"/>
                </a:tc>
                <a:tc>
                  <a:txBody>
                    <a:bodyPr/>
                    <a:lstStyle/>
                    <a:p>
                      <a:pPr>
                        <a:lnSpc>
                          <a:spcPct val="115000"/>
                        </a:lnSpc>
                      </a:pPr>
                      <a:endParaRPr lang="en-ZA" sz="1100">
                        <a:effectLst/>
                        <a:latin typeface="Calibri" panose="020F0502020204030204" pitchFamily="34" charset="0"/>
                        <a:cs typeface="Arial" panose="020B0604020202020204" pitchFamily="34" charset="0"/>
                      </a:endParaRPr>
                    </a:p>
                  </a:txBody>
                  <a:tcPr marL="68580" marR="68580" marT="0" marB="0" anchor="b"/>
                </a:tc>
                <a:tc>
                  <a:txBody>
                    <a:bodyPr/>
                    <a:lstStyle/>
                    <a:p>
                      <a:pPr>
                        <a:lnSpc>
                          <a:spcPct val="115000"/>
                        </a:lnSpc>
                      </a:pPr>
                      <a:endParaRPr lang="en-ZA" sz="1100">
                        <a:effectLst/>
                        <a:latin typeface="Calibri" panose="020F0502020204030204" pitchFamily="34" charset="0"/>
                        <a:cs typeface="Arial" panose="020B0604020202020204" pitchFamily="34" charset="0"/>
                      </a:endParaRPr>
                    </a:p>
                  </a:txBody>
                  <a:tcPr marL="68580" marR="68580" marT="0" marB="0" anchor="b"/>
                </a:tc>
                <a:tc>
                  <a:txBody>
                    <a:bodyPr/>
                    <a:lstStyle/>
                    <a:p>
                      <a:pPr>
                        <a:lnSpc>
                          <a:spcPct val="115000"/>
                        </a:lnSpc>
                      </a:pPr>
                      <a:endParaRPr lang="en-ZA" sz="1100">
                        <a:effectLst/>
                        <a:latin typeface="Calibri" panose="020F0502020204030204" pitchFamily="34" charset="0"/>
                        <a:cs typeface="Arial" panose="020B0604020202020204" pitchFamily="34" charset="0"/>
                      </a:endParaRPr>
                    </a:p>
                  </a:txBody>
                  <a:tcPr marL="68580" marR="68580" marT="0" marB="0" anchor="b"/>
                </a:tc>
                <a:tc>
                  <a:txBody>
                    <a:bodyPr/>
                    <a:lstStyle/>
                    <a:p>
                      <a:pPr>
                        <a:lnSpc>
                          <a:spcPct val="115000"/>
                        </a:lnSpc>
                      </a:pPr>
                      <a:endParaRPr lang="en-ZA" sz="1100" dirty="0">
                        <a:effectLst/>
                        <a:latin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164908069"/>
                  </a:ext>
                </a:extLst>
              </a:tr>
              <a:tr h="444500">
                <a:tc>
                  <a:txBody>
                    <a:bodyPr/>
                    <a:lstStyle/>
                    <a:p>
                      <a:pPr>
                        <a:lnSpc>
                          <a:spcPct val="115000"/>
                        </a:lnSpc>
                      </a:pPr>
                      <a:endParaRPr lang="en-ZA" sz="1100">
                        <a:effectLst/>
                        <a:latin typeface="Calibri" panose="020F0502020204030204" pitchFamily="34" charset="0"/>
                        <a:cs typeface="Arial" panose="020B0604020202020204" pitchFamily="34" charset="0"/>
                      </a:endParaRPr>
                    </a:p>
                  </a:txBody>
                  <a:tcPr marL="68580" marR="68580" marT="0" marB="0" anchor="b"/>
                </a:tc>
                <a:tc>
                  <a:txBody>
                    <a:bodyPr/>
                    <a:lstStyle/>
                    <a:p>
                      <a:pPr>
                        <a:lnSpc>
                          <a:spcPct val="115000"/>
                        </a:lnSpc>
                      </a:pPr>
                      <a:endParaRPr lang="en-ZA" sz="1100">
                        <a:effectLst/>
                        <a:latin typeface="Calibri" panose="020F0502020204030204" pitchFamily="34" charset="0"/>
                        <a:cs typeface="Arial" panose="020B0604020202020204" pitchFamily="34" charset="0"/>
                      </a:endParaRPr>
                    </a:p>
                  </a:txBody>
                  <a:tcPr marL="68580" marR="68580" marT="0" marB="0" anchor="b"/>
                </a:tc>
                <a:tc gridSpan="2">
                  <a:txBody>
                    <a:bodyPr/>
                    <a:lstStyle/>
                    <a:p>
                      <a:pPr>
                        <a:lnSpc>
                          <a:spcPct val="115000"/>
                        </a:lnSpc>
                      </a:pPr>
                      <a:r>
                        <a:rPr lang="en-ZA" sz="1000" b="1" dirty="0">
                          <a:effectLst/>
                        </a:rPr>
                        <a:t>TOTAL PER YEAR (USD)</a:t>
                      </a:r>
                      <a:endParaRPr lang="en-ZA" sz="12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tc hMerge="1">
                  <a:txBody>
                    <a:bodyPr/>
                    <a:lstStyle/>
                    <a:p>
                      <a:endParaRPr lang="en-US"/>
                    </a:p>
                  </a:txBody>
                  <a:tcPr/>
                </a:tc>
                <a:tc>
                  <a:txBody>
                    <a:bodyPr/>
                    <a:lstStyle/>
                    <a:p>
                      <a:pPr algn="r">
                        <a:lnSpc>
                          <a:spcPct val="115000"/>
                        </a:lnSpc>
                      </a:pPr>
                      <a:r>
                        <a:rPr lang="en-ZA" sz="1000" b="1" dirty="0">
                          <a:effectLst/>
                        </a:rPr>
                        <a:t>$10,980</a:t>
                      </a:r>
                      <a:endParaRPr lang="en-ZA" sz="1200" b="1" dirty="0">
                        <a:effectLst/>
                        <a:latin typeface="Times New Roman" panose="02020603050405020304" pitchFamily="18" charset="0"/>
                        <a:ea typeface="Times New Roman" panose="02020603050405020304" pitchFamily="18" charset="0"/>
                        <a:cs typeface="Arial" panose="020B0604020202020204" pitchFamily="34" charset="0"/>
                      </a:endParaRPr>
                    </a:p>
                  </a:txBody>
                  <a:tcPr marL="68580" marR="68580" marT="0" marB="0" anchor="b"/>
                </a:tc>
                <a:extLst>
                  <a:ext uri="{0D108BD9-81ED-4DB2-BD59-A6C34878D82A}">
                    <a16:rowId xmlns:a16="http://schemas.microsoft.com/office/drawing/2014/main" val="2778100662"/>
                  </a:ext>
                </a:extLst>
              </a:tr>
            </a:tbl>
          </a:graphicData>
        </a:graphic>
      </p:graphicFrame>
    </p:spTree>
    <p:extLst>
      <p:ext uri="{BB962C8B-B14F-4D97-AF65-F5344CB8AC3E}">
        <p14:creationId xmlns:p14="http://schemas.microsoft.com/office/powerpoint/2010/main" val="11846118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r>
              <a:rPr lang="en-ZA" dirty="0"/>
              <a:t>Open Box Once Off Implementation Fees</a:t>
            </a:r>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Costing </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CC310504-1CF4-26B5-F2B3-81953B643D0A}"/>
              </a:ext>
            </a:extLst>
          </p:cNvPr>
          <p:cNvSpPr txBox="1"/>
          <p:nvPr/>
        </p:nvSpPr>
        <p:spPr>
          <a:xfrm>
            <a:off x="682273" y="1721005"/>
            <a:ext cx="6118577" cy="3647152"/>
          </a:xfrm>
          <a:prstGeom prst="rect">
            <a:avLst/>
          </a:prstGeom>
          <a:noFill/>
        </p:spPr>
        <p:txBody>
          <a:bodyPr wrap="square" rtlCol="0">
            <a:spAutoFit/>
          </a:bodyPr>
          <a:lstStyle/>
          <a:p>
            <a:pPr marL="180000"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Open Box Software will be responsible for setting up a new Salesforce org  and customising it to PAT’s requirements.  The key activities involved in this implementation are detailed as below</a:t>
            </a:r>
          </a:p>
          <a:p>
            <a:pPr marL="637200" lvl="1" indent="-180000">
              <a:spcBef>
                <a:spcPts val="1000"/>
              </a:spcBef>
              <a:buClr>
                <a:srgbClr val="BCD727"/>
              </a:buClr>
              <a:buFont typeface="Arial" panose="020B0604020202020204" pitchFamily="34" charset="0"/>
              <a:buChar char="•"/>
            </a:pPr>
            <a:r>
              <a:rPr lang="en-ZA" sz="1200" b="1" dirty="0">
                <a:solidFill>
                  <a:schemeClr val="tx1">
                    <a:lumMod val="65000"/>
                    <a:lumOff val="35000"/>
                  </a:schemeClr>
                </a:solidFill>
                <a:latin typeface="Proxima Nova Lt"/>
              </a:rPr>
              <a:t>Analysis</a:t>
            </a:r>
          </a:p>
          <a:p>
            <a:pPr marL="1094400" lvl="2"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Requirements gathering, backlog creation</a:t>
            </a:r>
          </a:p>
          <a:p>
            <a:pPr marL="1094400" lvl="2"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High level solution design</a:t>
            </a:r>
          </a:p>
          <a:p>
            <a:pPr marL="637200" lvl="1" indent="-180000">
              <a:spcBef>
                <a:spcPts val="1000"/>
              </a:spcBef>
              <a:buClr>
                <a:srgbClr val="BCD727"/>
              </a:buClr>
              <a:buFont typeface="Arial" panose="020B0604020202020204" pitchFamily="34" charset="0"/>
              <a:buChar char="•"/>
            </a:pPr>
            <a:r>
              <a:rPr lang="en-ZA" sz="1200" b="1" dirty="0">
                <a:solidFill>
                  <a:schemeClr val="tx1">
                    <a:lumMod val="65000"/>
                    <a:lumOff val="35000"/>
                  </a:schemeClr>
                </a:solidFill>
                <a:latin typeface="Proxima Nova Lt"/>
              </a:rPr>
              <a:t>Build</a:t>
            </a:r>
          </a:p>
          <a:p>
            <a:pPr marL="1094400" lvl="2"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Customisation (adjusting the data model, adding workflows, page layouts etc.)</a:t>
            </a:r>
          </a:p>
          <a:p>
            <a:pPr marL="1094400" lvl="2"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Data migration (i.e. loading historical data)</a:t>
            </a:r>
          </a:p>
          <a:p>
            <a:pPr marL="1094400" lvl="2"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Training, testing and deployment </a:t>
            </a:r>
          </a:p>
          <a:p>
            <a:pPr marL="637200" lvl="1" indent="-180000">
              <a:spcBef>
                <a:spcPts val="1000"/>
              </a:spcBef>
              <a:buClr>
                <a:srgbClr val="BCD727"/>
              </a:buClr>
              <a:buFont typeface="Arial" panose="020B0604020202020204" pitchFamily="34" charset="0"/>
              <a:buChar char="•"/>
            </a:pPr>
            <a:r>
              <a:rPr lang="en-ZA" sz="1200" b="1" dirty="0">
                <a:solidFill>
                  <a:schemeClr val="tx1">
                    <a:lumMod val="65000"/>
                    <a:lumOff val="35000"/>
                  </a:schemeClr>
                </a:solidFill>
                <a:latin typeface="Proxima Nova Lt"/>
              </a:rPr>
              <a:t>Go Live Support</a:t>
            </a:r>
          </a:p>
          <a:p>
            <a:pPr marL="1094400" lvl="2"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Technical support for issues raised within the first 2 weeks after go-live</a:t>
            </a:r>
          </a:p>
        </p:txBody>
      </p:sp>
      <p:graphicFrame>
        <p:nvGraphicFramePr>
          <p:cNvPr id="10" name="Table 9">
            <a:extLst>
              <a:ext uri="{FF2B5EF4-FFF2-40B4-BE49-F238E27FC236}">
                <a16:creationId xmlns:a16="http://schemas.microsoft.com/office/drawing/2014/main" id="{F4648A7D-474D-9BF8-69B3-78C6003C2BED}"/>
              </a:ext>
            </a:extLst>
          </p:cNvPr>
          <p:cNvGraphicFramePr>
            <a:graphicFrameLocks noGrp="1"/>
          </p:cNvGraphicFramePr>
          <p:nvPr>
            <p:extLst>
              <p:ext uri="{D42A27DB-BD31-4B8C-83A1-F6EECF244321}">
                <p14:modId xmlns:p14="http://schemas.microsoft.com/office/powerpoint/2010/main" val="3446529682"/>
              </p:ext>
            </p:extLst>
          </p:nvPr>
        </p:nvGraphicFramePr>
        <p:xfrm>
          <a:off x="6965950" y="1408660"/>
          <a:ext cx="4730751" cy="3849139"/>
        </p:xfrm>
        <a:graphic>
          <a:graphicData uri="http://schemas.openxmlformats.org/drawingml/2006/table">
            <a:tbl>
              <a:tblPr firstRow="1" firstCol="1" bandRow="1">
                <a:tableStyleId>{5C22544A-7EE6-4342-B048-85BDC9FD1C3A}</a:tableStyleId>
              </a:tblPr>
              <a:tblGrid>
                <a:gridCol w="1325920">
                  <a:extLst>
                    <a:ext uri="{9D8B030D-6E8A-4147-A177-3AD203B41FA5}">
                      <a16:colId xmlns:a16="http://schemas.microsoft.com/office/drawing/2014/main" val="945692165"/>
                    </a:ext>
                  </a:extLst>
                </a:gridCol>
                <a:gridCol w="998532">
                  <a:extLst>
                    <a:ext uri="{9D8B030D-6E8A-4147-A177-3AD203B41FA5}">
                      <a16:colId xmlns:a16="http://schemas.microsoft.com/office/drawing/2014/main" val="2427051279"/>
                    </a:ext>
                  </a:extLst>
                </a:gridCol>
                <a:gridCol w="769361">
                  <a:extLst>
                    <a:ext uri="{9D8B030D-6E8A-4147-A177-3AD203B41FA5}">
                      <a16:colId xmlns:a16="http://schemas.microsoft.com/office/drawing/2014/main" val="3430040319"/>
                    </a:ext>
                  </a:extLst>
                </a:gridCol>
                <a:gridCol w="1636938">
                  <a:extLst>
                    <a:ext uri="{9D8B030D-6E8A-4147-A177-3AD203B41FA5}">
                      <a16:colId xmlns:a16="http://schemas.microsoft.com/office/drawing/2014/main" val="3263555771"/>
                    </a:ext>
                  </a:extLst>
                </a:gridCol>
              </a:tblGrid>
              <a:tr h="664600">
                <a:tc>
                  <a:txBody>
                    <a:bodyPr/>
                    <a:lstStyle/>
                    <a:p>
                      <a:r>
                        <a:rPr lang="en-ZA" sz="1200">
                          <a:effectLst/>
                        </a:rPr>
                        <a:t>Role</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dirty="0">
                          <a:effectLst/>
                        </a:rPr>
                        <a:t>Rate (ZAR)</a:t>
                      </a:r>
                      <a:endParaRPr lang="en-ZA"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HOURS</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TOTAL COST (ZAR)</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39052640"/>
                  </a:ext>
                </a:extLst>
              </a:tr>
              <a:tr h="523064">
                <a:tc>
                  <a:txBody>
                    <a:bodyPr/>
                    <a:lstStyle/>
                    <a:p>
                      <a:r>
                        <a:rPr lang="en-ZA" sz="1200">
                          <a:effectLst/>
                        </a:rPr>
                        <a:t>Salesforce Architect</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R     2,805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r>
                        <a:rPr lang="en-ZA" sz="1200">
                          <a:effectLst/>
                        </a:rPr>
                        <a:t>45</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dirty="0">
                          <a:effectLst/>
                        </a:rPr>
                        <a:t> R                        -   </a:t>
                      </a:r>
                      <a:endParaRPr lang="en-ZA"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134227133"/>
                  </a:ext>
                </a:extLst>
              </a:tr>
              <a:tr h="523064">
                <a:tc>
                  <a:txBody>
                    <a:bodyPr/>
                    <a:lstStyle/>
                    <a:p>
                      <a:r>
                        <a:rPr lang="en-ZA" sz="1200">
                          <a:effectLst/>
                        </a:rPr>
                        <a:t>Salesforce Consultant</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R     1,870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r>
                        <a:rPr lang="en-ZA" sz="1200">
                          <a:effectLst/>
                        </a:rPr>
                        <a:t>200</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R              374,000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501809621"/>
                  </a:ext>
                </a:extLst>
              </a:tr>
              <a:tr h="784597">
                <a:tc>
                  <a:txBody>
                    <a:bodyPr/>
                    <a:lstStyle/>
                    <a:p>
                      <a:r>
                        <a:rPr lang="en-ZA" sz="1200">
                          <a:effectLst/>
                        </a:rPr>
                        <a:t>Quality Assurance Tester</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R        850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r>
                        <a:rPr lang="en-ZA" sz="1200">
                          <a:effectLst/>
                        </a:rPr>
                        <a:t>40</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R                34,000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691470177"/>
                  </a:ext>
                </a:extLst>
              </a:tr>
              <a:tr h="664600">
                <a:tc>
                  <a:txBody>
                    <a:bodyPr/>
                    <a:lstStyle/>
                    <a:p>
                      <a:r>
                        <a:rPr lang="en-ZA" sz="1200">
                          <a:effectLst/>
                        </a:rPr>
                        <a:t>Data Migration Specialist</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R        850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r>
                        <a:rPr lang="en-ZA" sz="1200">
                          <a:effectLst/>
                        </a:rPr>
                        <a:t>50</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R                42,500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764127267"/>
                  </a:ext>
                </a:extLst>
              </a:tr>
              <a:tr h="246148">
                <a:tc>
                  <a:txBody>
                    <a:bodyPr/>
                    <a:lstStyle/>
                    <a:p>
                      <a:r>
                        <a:rPr lang="en-ZA" sz="1200">
                          <a:effectLst/>
                        </a:rPr>
                        <a:t>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a:effectLst/>
                        </a:rPr>
                        <a:t>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endParaRPr lang="en-ZA" sz="1200">
                        <a:effectLst/>
                        <a:latin typeface="Calibri" panose="020F0502020204030204" pitchFamily="34" charset="0"/>
                        <a:cs typeface="Times New Roman" panose="02020603050405020304" pitchFamily="18" charset="0"/>
                      </a:endParaRPr>
                    </a:p>
                  </a:txBody>
                  <a:tcPr marL="68580" marR="68580" marT="0" marB="0" anchor="b"/>
                </a:tc>
                <a:tc>
                  <a:txBody>
                    <a:bodyPr/>
                    <a:lstStyle/>
                    <a:p>
                      <a:endParaRPr lang="en-ZA" sz="1200">
                        <a:effectLst/>
                        <a:latin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870404719"/>
                  </a:ext>
                </a:extLst>
              </a:tr>
              <a:tr h="443066">
                <a:tc>
                  <a:txBody>
                    <a:bodyPr/>
                    <a:lstStyle/>
                    <a:p>
                      <a:r>
                        <a:rPr lang="en-ZA" sz="1200">
                          <a:effectLst/>
                        </a:rPr>
                        <a:t> </a:t>
                      </a:r>
                      <a:endParaRPr lang="en-ZA" sz="12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b="1" dirty="0">
                          <a:effectLst/>
                        </a:rPr>
                        <a:t>TOTAL</a:t>
                      </a:r>
                      <a:endParaRPr lang="en-ZA"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pPr algn="r"/>
                      <a:r>
                        <a:rPr lang="en-ZA" sz="1200" b="1">
                          <a:effectLst/>
                        </a:rPr>
                        <a:t>335</a:t>
                      </a:r>
                      <a:endParaRPr lang="en-ZA" sz="1200" b="1">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tc>
                  <a:txBody>
                    <a:bodyPr/>
                    <a:lstStyle/>
                    <a:p>
                      <a:r>
                        <a:rPr lang="en-ZA" sz="1200" b="1" dirty="0">
                          <a:effectLst/>
                        </a:rPr>
                        <a:t> R              450,500 </a:t>
                      </a:r>
                      <a:endParaRPr lang="en-ZA" sz="12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5674109"/>
                  </a:ext>
                </a:extLst>
              </a:tr>
            </a:tbl>
          </a:graphicData>
        </a:graphic>
      </p:graphicFrame>
    </p:spTree>
    <p:extLst>
      <p:ext uri="{BB962C8B-B14F-4D97-AF65-F5344CB8AC3E}">
        <p14:creationId xmlns:p14="http://schemas.microsoft.com/office/powerpoint/2010/main" val="11290178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r>
              <a:rPr lang="en-ZA" dirty="0"/>
              <a:t>Open Box 6 Month Support Transition Plan</a:t>
            </a:r>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Costing </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CC310504-1CF4-26B5-F2B3-81953B643D0A}"/>
              </a:ext>
            </a:extLst>
          </p:cNvPr>
          <p:cNvSpPr txBox="1"/>
          <p:nvPr/>
        </p:nvSpPr>
        <p:spPr>
          <a:xfrm>
            <a:off x="653698" y="2866156"/>
            <a:ext cx="10385777" cy="3318857"/>
          </a:xfrm>
          <a:prstGeom prst="rect">
            <a:avLst/>
          </a:prstGeom>
          <a:noFill/>
        </p:spPr>
        <p:txBody>
          <a:bodyPr wrap="square" rtlCol="0">
            <a:spAutoFit/>
          </a:bodyPr>
          <a:lstStyle/>
          <a:p>
            <a:pPr marL="180000"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The Salesforce platform requires ongoing support by a person/team who is proficient in Salesforce administration. This is needed to cover basic system support (e.g. user login / password reset issues, resolving data issues, assisting with end user questions etc.), but also extends to implementing minor enhancements and adding new functionality.  This level of support is required in order to get a return on the investment made in the Salesforce platform.</a:t>
            </a:r>
          </a:p>
          <a:p>
            <a:pPr marL="180000"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With sufficient time and training, it is feasible (and desirable) that PAT take on this role internally. Open Box Software strongly advise that PAT consider a transition plan where Open Box Software will provide support and help to skill up PAT team to ensure maximum efficiency and adoption of the new system.</a:t>
            </a:r>
          </a:p>
          <a:p>
            <a:pPr marL="180000"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Open Box Software will provide 20 hours / month support for a period of six months.  During this time, the support hours will be used to handle basic Salesforce support and administration tasks, working closely with the PAT team to ensure knowledge transfer and upskilling so that Principals Academy Trust team are able to take over the support of their Salesforce org at the end of the six month period. </a:t>
            </a:r>
          </a:p>
          <a:p>
            <a:pPr marL="180000" indent="-18000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Open Box Software are able to offer Salesforce Administrator Support to PAT at a reduced rate of ZAR850/hour, i.e. </a:t>
            </a:r>
            <a:r>
              <a:rPr lang="en-ZA" sz="1200" b="1" dirty="0">
                <a:solidFill>
                  <a:schemeClr val="tx1">
                    <a:lumMod val="65000"/>
                    <a:lumOff val="35000"/>
                  </a:schemeClr>
                </a:solidFill>
                <a:latin typeface="Proxima Nova Lt"/>
              </a:rPr>
              <a:t>For a monthly allocation of 20 hours’ support work, Open Box Software will bill an amount of ZAR17 000/month</a:t>
            </a:r>
            <a:r>
              <a:rPr lang="en-ZA" sz="1200" dirty="0">
                <a:solidFill>
                  <a:schemeClr val="tx1">
                    <a:lumMod val="65000"/>
                    <a:lumOff val="35000"/>
                  </a:schemeClr>
                </a:solidFill>
                <a:latin typeface="Proxima Nova Lt"/>
              </a:rPr>
              <a:t>.  (Please note that unused hours at the end of the month will not roll over into the next month)</a:t>
            </a:r>
          </a:p>
          <a:p>
            <a:pPr marL="180000" indent="-180000">
              <a:spcBef>
                <a:spcPts val="1000"/>
              </a:spcBef>
              <a:buClr>
                <a:srgbClr val="BCD727"/>
              </a:buClr>
              <a:buFont typeface="Arial" panose="020B0604020202020204" pitchFamily="34" charset="0"/>
              <a:buChar char="•"/>
            </a:pPr>
            <a:endParaRPr lang="en-ZA" sz="1200" dirty="0">
              <a:solidFill>
                <a:schemeClr val="tx1">
                  <a:lumMod val="65000"/>
                  <a:lumOff val="35000"/>
                </a:schemeClr>
              </a:solidFill>
              <a:latin typeface="Proxima Nova Lt"/>
            </a:endParaRPr>
          </a:p>
          <a:p>
            <a:pPr marL="180000" indent="-180000">
              <a:spcBef>
                <a:spcPts val="1000"/>
              </a:spcBef>
              <a:buClr>
                <a:srgbClr val="BCD727"/>
              </a:buClr>
              <a:buFont typeface="Arial" panose="020B0604020202020204" pitchFamily="34" charset="0"/>
              <a:buChar char="•"/>
            </a:pPr>
            <a:endParaRPr lang="en-ZA" sz="1200" dirty="0">
              <a:solidFill>
                <a:schemeClr val="tx1">
                  <a:lumMod val="65000"/>
                  <a:lumOff val="35000"/>
                </a:schemeClr>
              </a:solidFill>
              <a:latin typeface="Proxima Nova Lt"/>
            </a:endParaRPr>
          </a:p>
        </p:txBody>
      </p:sp>
      <p:graphicFrame>
        <p:nvGraphicFramePr>
          <p:cNvPr id="5" name="Diagram 4">
            <a:extLst>
              <a:ext uri="{FF2B5EF4-FFF2-40B4-BE49-F238E27FC236}">
                <a16:creationId xmlns:a16="http://schemas.microsoft.com/office/drawing/2014/main" id="{803EE5DB-D56C-736F-2C88-9E104926D6F9}"/>
              </a:ext>
            </a:extLst>
          </p:cNvPr>
          <p:cNvGraphicFramePr/>
          <p:nvPr>
            <p:extLst>
              <p:ext uri="{D42A27DB-BD31-4B8C-83A1-F6EECF244321}">
                <p14:modId xmlns:p14="http://schemas.microsoft.com/office/powerpoint/2010/main" val="2970329402"/>
              </p:ext>
            </p:extLst>
          </p:nvPr>
        </p:nvGraphicFramePr>
        <p:xfrm>
          <a:off x="1581150" y="-471899"/>
          <a:ext cx="8128000" cy="54186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346634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endParaRPr lang="en-ZA" dirty="0"/>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Project Delivery and Timelines </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CC310504-1CF4-26B5-F2B3-81953B643D0A}"/>
              </a:ext>
            </a:extLst>
          </p:cNvPr>
          <p:cNvSpPr txBox="1"/>
          <p:nvPr/>
        </p:nvSpPr>
        <p:spPr>
          <a:xfrm>
            <a:off x="682273" y="1721005"/>
            <a:ext cx="5911560" cy="2939266"/>
          </a:xfrm>
          <a:prstGeom prst="rect">
            <a:avLst/>
          </a:prstGeom>
          <a:noFill/>
        </p:spPr>
        <p:txBody>
          <a:bodyPr wrap="square" rtlCol="0">
            <a:spAutoFit/>
          </a:bodyPr>
          <a:lstStyle/>
          <a:p>
            <a:pPr>
              <a:spcBef>
                <a:spcPts val="1000"/>
              </a:spcBef>
              <a:buClr>
                <a:srgbClr val="BCD727"/>
              </a:buClr>
            </a:pPr>
            <a:r>
              <a:rPr lang="en-ZA" sz="1100" b="1" dirty="0">
                <a:solidFill>
                  <a:schemeClr val="tx1">
                    <a:lumMod val="65000"/>
                    <a:lumOff val="35000"/>
                  </a:schemeClr>
                </a:solidFill>
                <a:latin typeface="Proxima Nova Lt"/>
              </a:rPr>
              <a:t>Delivery Methodology</a:t>
            </a:r>
          </a:p>
          <a:p>
            <a:pPr>
              <a:spcBef>
                <a:spcPts val="1000"/>
              </a:spcBef>
              <a:buClr>
                <a:srgbClr val="BCD727"/>
              </a:buClr>
            </a:pPr>
            <a:r>
              <a:rPr lang="en-ZA" sz="1100" dirty="0">
                <a:solidFill>
                  <a:schemeClr val="tx1">
                    <a:lumMod val="65000"/>
                    <a:lumOff val="35000"/>
                  </a:schemeClr>
                </a:solidFill>
                <a:latin typeface="Proxima Nova Lt"/>
              </a:rPr>
              <a:t>Open Box Software deliver using a SCRUM Agile methodology where features are developed in 2 week sprints</a:t>
            </a:r>
          </a:p>
          <a:p>
            <a:pPr marL="180000" indent="-18000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After each sprint, the new features are reviewed and tested by PAT. This gives PAT the ability to provide feedback based on their experience of a working system, allowing the team to iterate quickly and make changes if required.</a:t>
            </a:r>
          </a:p>
          <a:p>
            <a:pPr marL="180000" indent="-18000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The Agile methodology prioritises collaboration over documentation and focuses on delivering working software for a fixed cost within a fixed time frame - thus mitigating the risks of scope creep, delays and the associated cost increases.</a:t>
            </a:r>
          </a:p>
          <a:p>
            <a:pPr marL="180000" indent="-180000">
              <a:spcBef>
                <a:spcPts val="1000"/>
              </a:spcBef>
              <a:buClr>
                <a:srgbClr val="BCD727"/>
              </a:buClr>
              <a:buFont typeface="Arial" panose="020B0604020202020204" pitchFamily="34" charset="0"/>
              <a:buChar char="•"/>
            </a:pPr>
            <a:endParaRPr lang="en-ZA" sz="1200" dirty="0">
              <a:solidFill>
                <a:schemeClr val="tx1">
                  <a:lumMod val="65000"/>
                  <a:lumOff val="35000"/>
                </a:schemeClr>
              </a:solidFill>
              <a:latin typeface="Proxima Nova Lt"/>
            </a:endParaRPr>
          </a:p>
          <a:p>
            <a:pPr marL="180000" indent="-180000">
              <a:spcBef>
                <a:spcPts val="1000"/>
              </a:spcBef>
              <a:buClr>
                <a:srgbClr val="BCD727"/>
              </a:buClr>
              <a:buFont typeface="Arial" panose="020B0604020202020204" pitchFamily="34" charset="0"/>
              <a:buChar char="•"/>
            </a:pPr>
            <a:endParaRPr lang="en-ZA" sz="1200" dirty="0">
              <a:solidFill>
                <a:schemeClr val="tx1">
                  <a:lumMod val="65000"/>
                  <a:lumOff val="35000"/>
                </a:schemeClr>
              </a:solidFill>
              <a:latin typeface="Proxima Nova Lt"/>
            </a:endParaRPr>
          </a:p>
          <a:p>
            <a:pPr marL="180000" indent="-180000">
              <a:spcBef>
                <a:spcPts val="1000"/>
              </a:spcBef>
              <a:buClr>
                <a:srgbClr val="BCD727"/>
              </a:buClr>
              <a:buFont typeface="Arial" panose="020B0604020202020204" pitchFamily="34" charset="0"/>
              <a:buChar char="•"/>
            </a:pPr>
            <a:endParaRPr lang="en-ZA" sz="1200" dirty="0">
              <a:solidFill>
                <a:schemeClr val="tx1">
                  <a:lumMod val="65000"/>
                  <a:lumOff val="35000"/>
                </a:schemeClr>
              </a:solidFill>
              <a:latin typeface="Proxima Nova Lt"/>
            </a:endParaRPr>
          </a:p>
        </p:txBody>
      </p:sp>
      <p:pic>
        <p:nvPicPr>
          <p:cNvPr id="8" name="Picture 7" descr="Diagram&#10;&#10;Description automatically generated">
            <a:extLst>
              <a:ext uri="{FF2B5EF4-FFF2-40B4-BE49-F238E27FC236}">
                <a16:creationId xmlns:a16="http://schemas.microsoft.com/office/drawing/2014/main" id="{7B199DC2-E6AC-9AB6-2915-5F50C7CA59CB}"/>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635398" y="1761605"/>
            <a:ext cx="5031420" cy="1935826"/>
          </a:xfrm>
          <a:prstGeom prst="rect">
            <a:avLst/>
          </a:prstGeom>
          <a:noFill/>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C5F2CE6F-84D0-E398-F312-B0CEE3D10FCB}"/>
              </a:ext>
            </a:extLst>
          </p:cNvPr>
          <p:cNvPicPr>
            <a:picLocks noChangeAspect="1"/>
          </p:cNvPicPr>
          <p:nvPr/>
        </p:nvPicPr>
        <p:blipFill>
          <a:blip r:embed="rId4"/>
          <a:stretch>
            <a:fillRect/>
          </a:stretch>
        </p:blipFill>
        <p:spPr>
          <a:xfrm>
            <a:off x="640708" y="4126428"/>
            <a:ext cx="4769960" cy="1478896"/>
          </a:xfrm>
          <a:prstGeom prst="rect">
            <a:avLst/>
          </a:prstGeom>
          <a:noFill/>
          <a:effectLst>
            <a:outerShdw blurRad="63500" sx="102000" sy="102000" algn="ctr" rotWithShape="0">
              <a:prstClr val="black">
                <a:alpha val="40000"/>
              </a:prstClr>
            </a:outerShdw>
          </a:effectLst>
        </p:spPr>
      </p:pic>
      <p:sp>
        <p:nvSpPr>
          <p:cNvPr id="9" name="TextBox 8">
            <a:extLst>
              <a:ext uri="{FF2B5EF4-FFF2-40B4-BE49-F238E27FC236}">
                <a16:creationId xmlns:a16="http://schemas.microsoft.com/office/drawing/2014/main" id="{D3E346E6-5141-B280-C8DF-97A8FD1546F1}"/>
              </a:ext>
            </a:extLst>
          </p:cNvPr>
          <p:cNvSpPr txBox="1"/>
          <p:nvPr/>
        </p:nvSpPr>
        <p:spPr>
          <a:xfrm>
            <a:off x="5501985" y="4050375"/>
            <a:ext cx="6505574" cy="2723823"/>
          </a:xfrm>
          <a:prstGeom prst="rect">
            <a:avLst/>
          </a:prstGeom>
          <a:noFill/>
        </p:spPr>
        <p:txBody>
          <a:bodyPr wrap="square" rtlCol="0">
            <a:spAutoFit/>
          </a:bodyPr>
          <a:lstStyle/>
          <a:p>
            <a:pPr>
              <a:spcBef>
                <a:spcPts val="1000"/>
              </a:spcBef>
              <a:buClr>
                <a:srgbClr val="BCD727"/>
              </a:buClr>
            </a:pPr>
            <a:r>
              <a:rPr lang="en-ZA" sz="1100" b="1" dirty="0">
                <a:solidFill>
                  <a:schemeClr val="tx1">
                    <a:lumMod val="65000"/>
                    <a:lumOff val="35000"/>
                  </a:schemeClr>
                </a:solidFill>
                <a:latin typeface="Proxima Nova Lt"/>
              </a:rPr>
              <a:t>Timelines</a:t>
            </a:r>
          </a:p>
          <a:p>
            <a:pPr marL="180000" indent="-18000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Based on the requirements discussed with PAT team, Open Box Software are confident that a working version can be delivered within two sprints as per the timeline shown.</a:t>
            </a:r>
          </a:p>
          <a:p>
            <a:pPr marL="180000" indent="-18000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The timeline is very short in order to keep costs down. The feature backlog will be carefully prioritised to ensure that delivery effort is expended on functionality that provides maximum benefit to PAT.</a:t>
            </a:r>
          </a:p>
          <a:p>
            <a:pPr marL="180000" indent="-18000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It’s important to understand that innovation doesn’t stop after week 8 – as PAT team skill up, they will be able to leverage the power of the Salesforce platform to implement new features and processes on an ongoing basis.</a:t>
            </a:r>
          </a:p>
          <a:p>
            <a:pPr marL="180000" indent="-180000">
              <a:spcBef>
                <a:spcPts val="1000"/>
              </a:spcBef>
              <a:buClr>
                <a:srgbClr val="BCD727"/>
              </a:buClr>
              <a:buFont typeface="Arial" panose="020B0604020202020204" pitchFamily="34" charset="0"/>
              <a:buChar char="•"/>
            </a:pPr>
            <a:endParaRPr lang="en-ZA" sz="1100" dirty="0">
              <a:solidFill>
                <a:schemeClr val="tx1">
                  <a:lumMod val="65000"/>
                  <a:lumOff val="35000"/>
                </a:schemeClr>
              </a:solidFill>
              <a:latin typeface="Proxima Nova Lt"/>
            </a:endParaRPr>
          </a:p>
          <a:p>
            <a:pPr marL="180000" indent="-180000">
              <a:spcBef>
                <a:spcPts val="1000"/>
              </a:spcBef>
              <a:buClr>
                <a:srgbClr val="BCD727"/>
              </a:buClr>
              <a:buFont typeface="Arial" panose="020B0604020202020204" pitchFamily="34" charset="0"/>
              <a:buChar char="•"/>
            </a:pPr>
            <a:endParaRPr lang="en-ZA" sz="1100" dirty="0">
              <a:solidFill>
                <a:schemeClr val="tx1">
                  <a:lumMod val="65000"/>
                  <a:lumOff val="35000"/>
                </a:schemeClr>
              </a:solidFill>
              <a:latin typeface="Proxima Nova Lt"/>
            </a:endParaRPr>
          </a:p>
          <a:p>
            <a:pPr marL="180000" indent="-180000">
              <a:spcBef>
                <a:spcPts val="1000"/>
              </a:spcBef>
              <a:buClr>
                <a:srgbClr val="BCD727"/>
              </a:buClr>
              <a:buFont typeface="Arial" panose="020B0604020202020204" pitchFamily="34" charset="0"/>
              <a:buChar char="•"/>
            </a:pPr>
            <a:endParaRPr lang="en-ZA" sz="1100" dirty="0">
              <a:solidFill>
                <a:schemeClr val="tx1">
                  <a:lumMod val="65000"/>
                  <a:lumOff val="35000"/>
                </a:schemeClr>
              </a:solidFill>
              <a:latin typeface="Proxima Nova Lt"/>
            </a:endParaRPr>
          </a:p>
        </p:txBody>
      </p:sp>
    </p:spTree>
    <p:extLst>
      <p:ext uri="{BB962C8B-B14F-4D97-AF65-F5344CB8AC3E}">
        <p14:creationId xmlns:p14="http://schemas.microsoft.com/office/powerpoint/2010/main" val="2615786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endParaRPr lang="en-ZA" dirty="0"/>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Education Cloud Demo</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9823A684-0E44-210D-9130-A34504B87BA8}"/>
              </a:ext>
            </a:extLst>
          </p:cNvPr>
          <p:cNvSpPr txBox="1"/>
          <p:nvPr/>
        </p:nvSpPr>
        <p:spPr>
          <a:xfrm>
            <a:off x="2638425" y="2200275"/>
            <a:ext cx="184731" cy="369332"/>
          </a:xfrm>
          <a:prstGeom prst="rect">
            <a:avLst/>
          </a:prstGeom>
          <a:noFill/>
        </p:spPr>
        <p:txBody>
          <a:bodyPr wrap="none" rtlCol="0">
            <a:spAutoFit/>
          </a:bodyPr>
          <a:lstStyle/>
          <a:p>
            <a:endParaRPr lang="en-US" dirty="0"/>
          </a:p>
        </p:txBody>
      </p:sp>
      <p:sp>
        <p:nvSpPr>
          <p:cNvPr id="11" name="TextBox 10">
            <a:extLst>
              <a:ext uri="{FF2B5EF4-FFF2-40B4-BE49-F238E27FC236}">
                <a16:creationId xmlns:a16="http://schemas.microsoft.com/office/drawing/2014/main" id="{6B425247-A26D-710E-9CA0-7870B8F4BBF9}"/>
              </a:ext>
            </a:extLst>
          </p:cNvPr>
          <p:cNvSpPr txBox="1"/>
          <p:nvPr/>
        </p:nvSpPr>
        <p:spPr>
          <a:xfrm>
            <a:off x="630662" y="1791460"/>
            <a:ext cx="3436791" cy="1107996"/>
          </a:xfrm>
          <a:prstGeom prst="rect">
            <a:avLst/>
          </a:prstGeom>
          <a:noFill/>
        </p:spPr>
        <p:txBody>
          <a:bodyPr wrap="square" rtlCol="0">
            <a:spAutoFit/>
          </a:bodyPr>
          <a:lstStyle/>
          <a:p>
            <a:pPr>
              <a:spcBef>
                <a:spcPts val="1000"/>
              </a:spcBef>
              <a:buClr>
                <a:srgbClr val="BCD727"/>
              </a:buClr>
            </a:pPr>
            <a:r>
              <a:rPr lang="en-ZA" sz="1100" dirty="0">
                <a:solidFill>
                  <a:schemeClr val="tx1">
                    <a:lumMod val="65000"/>
                    <a:lumOff val="35000"/>
                  </a:schemeClr>
                </a:solidFill>
                <a:latin typeface="Proxima Nova Lt"/>
              </a:rPr>
              <a:t>In order to illustrate what a Salesforce solution would look like, a demo has been configured and presented to the PAT team.  The demo is intended to give PAT a tangible idea of how Salesforce works and also to understand the speed and agility with which new functionality can be delivered.</a:t>
            </a:r>
            <a:endParaRPr lang="en-ZA" sz="1200" dirty="0">
              <a:solidFill>
                <a:schemeClr val="tx1">
                  <a:lumMod val="65000"/>
                  <a:lumOff val="35000"/>
                </a:schemeClr>
              </a:solidFill>
              <a:latin typeface="Proxima Nova Lt"/>
            </a:endParaRPr>
          </a:p>
        </p:txBody>
      </p:sp>
      <p:pic>
        <p:nvPicPr>
          <p:cNvPr id="10" name="Picture 9">
            <a:extLst>
              <a:ext uri="{FF2B5EF4-FFF2-40B4-BE49-F238E27FC236}">
                <a16:creationId xmlns:a16="http://schemas.microsoft.com/office/drawing/2014/main" id="{24F56B64-0BFA-FB6F-3545-850FA62C5723}"/>
              </a:ext>
            </a:extLst>
          </p:cNvPr>
          <p:cNvPicPr>
            <a:picLocks noChangeAspect="1"/>
          </p:cNvPicPr>
          <p:nvPr/>
        </p:nvPicPr>
        <p:blipFill>
          <a:blip r:embed="rId2"/>
          <a:stretch>
            <a:fillRect/>
          </a:stretch>
        </p:blipFill>
        <p:spPr>
          <a:xfrm>
            <a:off x="4637336" y="1210725"/>
            <a:ext cx="6808674" cy="4903997"/>
          </a:xfrm>
          <a:prstGeom prst="rect">
            <a:avLst/>
          </a:prstGeom>
          <a:noFill/>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998294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r>
              <a:rPr lang="en-ZA" dirty="0"/>
              <a:t>School Details</a:t>
            </a:r>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Education Cloud Demo</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9823A684-0E44-210D-9130-A34504B87BA8}"/>
              </a:ext>
            </a:extLst>
          </p:cNvPr>
          <p:cNvSpPr txBox="1"/>
          <p:nvPr/>
        </p:nvSpPr>
        <p:spPr>
          <a:xfrm>
            <a:off x="2638425" y="2200275"/>
            <a:ext cx="184731" cy="369332"/>
          </a:xfrm>
          <a:prstGeom prst="rect">
            <a:avLst/>
          </a:prstGeom>
          <a:noFill/>
        </p:spPr>
        <p:txBody>
          <a:bodyPr wrap="none" rtlCol="0">
            <a:spAutoFit/>
          </a:bodyPr>
          <a:lstStyle/>
          <a:p>
            <a:endParaRPr lang="en-US" dirty="0"/>
          </a:p>
        </p:txBody>
      </p:sp>
      <p:pic>
        <p:nvPicPr>
          <p:cNvPr id="8" name="Picture 7">
            <a:extLst>
              <a:ext uri="{FF2B5EF4-FFF2-40B4-BE49-F238E27FC236}">
                <a16:creationId xmlns:a16="http://schemas.microsoft.com/office/drawing/2014/main" id="{4AB3B886-D605-AD23-E650-C0EDB1B57223}"/>
              </a:ext>
            </a:extLst>
          </p:cNvPr>
          <p:cNvPicPr>
            <a:picLocks noChangeAspect="1"/>
          </p:cNvPicPr>
          <p:nvPr/>
        </p:nvPicPr>
        <p:blipFill rotWithShape="1">
          <a:blip r:embed="rId2"/>
          <a:srcRect b="49938"/>
          <a:stretch/>
        </p:blipFill>
        <p:spPr>
          <a:xfrm>
            <a:off x="6212520" y="4055794"/>
            <a:ext cx="4394566" cy="2241288"/>
          </a:xfrm>
          <a:prstGeom prst="rect">
            <a:avLst/>
          </a:prstGeom>
          <a:noFill/>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6D9B4314-0EF5-8F1B-39F5-9B82AF7EC485}"/>
              </a:ext>
            </a:extLst>
          </p:cNvPr>
          <p:cNvPicPr>
            <a:picLocks noChangeAspect="1"/>
          </p:cNvPicPr>
          <p:nvPr/>
        </p:nvPicPr>
        <p:blipFill>
          <a:blip r:embed="rId3"/>
          <a:stretch>
            <a:fillRect/>
          </a:stretch>
        </p:blipFill>
        <p:spPr>
          <a:xfrm>
            <a:off x="453064" y="2739053"/>
            <a:ext cx="3184989" cy="2960166"/>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79AE6CE8-E5A1-81DE-F34A-F7A9EF2B9627}"/>
              </a:ext>
            </a:extLst>
          </p:cNvPr>
          <p:cNvSpPr txBox="1"/>
          <p:nvPr/>
        </p:nvSpPr>
        <p:spPr>
          <a:xfrm>
            <a:off x="1300151" y="1773775"/>
            <a:ext cx="2975584" cy="600164"/>
          </a:xfrm>
          <a:prstGeom prst="rect">
            <a:avLst/>
          </a:prstGeom>
          <a:noFill/>
        </p:spPr>
        <p:txBody>
          <a:bodyPr wrap="square" rtlCol="0">
            <a:spAutoFit/>
          </a:bodyPr>
          <a:lstStyle/>
          <a:p>
            <a:pPr>
              <a:spcBef>
                <a:spcPts val="1000"/>
              </a:spcBef>
              <a:buClr>
                <a:srgbClr val="BCD727"/>
              </a:buClr>
            </a:pPr>
            <a:r>
              <a:rPr lang="en-ZA" sz="1100" dirty="0">
                <a:solidFill>
                  <a:schemeClr val="tx1">
                    <a:lumMod val="65000"/>
                    <a:lumOff val="35000"/>
                  </a:schemeClr>
                </a:solidFill>
                <a:latin typeface="Proxima Nova Lt"/>
              </a:rPr>
              <a:t>School details are stored in a spreadsheet, 1 spreadsheet per school (200+ spreadsheets in total)</a:t>
            </a:r>
          </a:p>
        </p:txBody>
      </p:sp>
      <p:sp>
        <p:nvSpPr>
          <p:cNvPr id="5" name="Striped Right Arrow 4">
            <a:extLst>
              <a:ext uri="{FF2B5EF4-FFF2-40B4-BE49-F238E27FC236}">
                <a16:creationId xmlns:a16="http://schemas.microsoft.com/office/drawing/2014/main" id="{55CA0384-F906-06E4-45A0-ADBF8227393B}"/>
              </a:ext>
            </a:extLst>
          </p:cNvPr>
          <p:cNvSpPr/>
          <p:nvPr/>
        </p:nvSpPr>
        <p:spPr>
          <a:xfrm>
            <a:off x="4229100" y="3341834"/>
            <a:ext cx="1457325" cy="1310180"/>
          </a:xfrm>
          <a:prstGeom prst="stripedRight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Future State</a:t>
            </a:r>
          </a:p>
        </p:txBody>
      </p:sp>
      <p:pic>
        <p:nvPicPr>
          <p:cNvPr id="6" name="Picture 5">
            <a:extLst>
              <a:ext uri="{FF2B5EF4-FFF2-40B4-BE49-F238E27FC236}">
                <a16:creationId xmlns:a16="http://schemas.microsoft.com/office/drawing/2014/main" id="{79828332-0D44-4FD0-3E9F-3C1765848A46}"/>
              </a:ext>
            </a:extLst>
          </p:cNvPr>
          <p:cNvPicPr>
            <a:picLocks noChangeAspect="1"/>
          </p:cNvPicPr>
          <p:nvPr/>
        </p:nvPicPr>
        <p:blipFill rotWithShape="1">
          <a:blip r:embed="rId4"/>
          <a:srcRect b="19638"/>
          <a:stretch/>
        </p:blipFill>
        <p:spPr>
          <a:xfrm>
            <a:off x="6212520" y="1141508"/>
            <a:ext cx="5600700" cy="2208398"/>
          </a:xfrm>
          <a:prstGeom prst="rect">
            <a:avLst/>
          </a:prstGeom>
          <a:noFill/>
          <a:effectLst>
            <a:outerShdw blurRad="63500" sx="102000" sy="102000" algn="ctr" rotWithShape="0">
              <a:prstClr val="black">
                <a:alpha val="40000"/>
              </a:prstClr>
            </a:outerShdw>
          </a:effectLst>
        </p:spPr>
      </p:pic>
      <p:sp>
        <p:nvSpPr>
          <p:cNvPr id="12" name="TextBox 11">
            <a:extLst>
              <a:ext uri="{FF2B5EF4-FFF2-40B4-BE49-F238E27FC236}">
                <a16:creationId xmlns:a16="http://schemas.microsoft.com/office/drawing/2014/main" id="{3F0FDD34-4552-B7CF-38E7-0299C4DC09D3}"/>
              </a:ext>
            </a:extLst>
          </p:cNvPr>
          <p:cNvSpPr txBox="1"/>
          <p:nvPr/>
        </p:nvSpPr>
        <p:spPr>
          <a:xfrm>
            <a:off x="6096000" y="774418"/>
            <a:ext cx="5530985" cy="276999"/>
          </a:xfrm>
          <a:prstGeom prst="rect">
            <a:avLst/>
          </a:prstGeom>
          <a:noFill/>
        </p:spPr>
        <p:txBody>
          <a:bodyPr wrap="square" rtlCol="0">
            <a:spAutoFit/>
          </a:bodyPr>
          <a:lstStyle/>
          <a:p>
            <a:pPr marL="171450" indent="-17145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Searchable database to easily find schools, principals, funders etc.</a:t>
            </a:r>
          </a:p>
        </p:txBody>
      </p:sp>
      <p:sp>
        <p:nvSpPr>
          <p:cNvPr id="13" name="TextBox 12">
            <a:extLst>
              <a:ext uri="{FF2B5EF4-FFF2-40B4-BE49-F238E27FC236}">
                <a16:creationId xmlns:a16="http://schemas.microsoft.com/office/drawing/2014/main" id="{F2107B5F-B5C0-BC6D-4F03-7E4C7DD38F2C}"/>
              </a:ext>
            </a:extLst>
          </p:cNvPr>
          <p:cNvSpPr txBox="1"/>
          <p:nvPr/>
        </p:nvSpPr>
        <p:spPr>
          <a:xfrm>
            <a:off x="6212520" y="3541208"/>
            <a:ext cx="5530985" cy="461665"/>
          </a:xfrm>
          <a:prstGeom prst="rect">
            <a:avLst/>
          </a:prstGeom>
          <a:noFill/>
        </p:spPr>
        <p:txBody>
          <a:bodyPr wrap="square" rtlCol="0">
            <a:spAutoFit/>
          </a:bodyPr>
          <a:lstStyle/>
          <a:p>
            <a:pPr marL="171450" indent="-17145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Robust data model to hold all school information and share/collaborate with other PAT users</a:t>
            </a:r>
          </a:p>
        </p:txBody>
      </p:sp>
      <p:sp>
        <p:nvSpPr>
          <p:cNvPr id="14" name="Rounded Rectangular Callout 13">
            <a:extLst>
              <a:ext uri="{FF2B5EF4-FFF2-40B4-BE49-F238E27FC236}">
                <a16:creationId xmlns:a16="http://schemas.microsoft.com/office/drawing/2014/main" id="{082215D5-34C0-D60E-33F8-DF66188DD447}"/>
              </a:ext>
            </a:extLst>
          </p:cNvPr>
          <p:cNvSpPr/>
          <p:nvPr/>
        </p:nvSpPr>
        <p:spPr>
          <a:xfrm>
            <a:off x="10243882" y="5087500"/>
            <a:ext cx="1569338" cy="552450"/>
          </a:xfrm>
          <a:prstGeom prst="wedgeRoundRectCallout">
            <a:avLst>
              <a:gd name="adj1" fmla="val -134451"/>
              <a:gd name="adj2" fmla="val 43042"/>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PAT-specific details captured on each record</a:t>
            </a:r>
          </a:p>
        </p:txBody>
      </p:sp>
      <p:cxnSp>
        <p:nvCxnSpPr>
          <p:cNvPr id="16" name="Straight Connector 15">
            <a:extLst>
              <a:ext uri="{FF2B5EF4-FFF2-40B4-BE49-F238E27FC236}">
                <a16:creationId xmlns:a16="http://schemas.microsoft.com/office/drawing/2014/main" id="{AC3ECBBB-11EA-DD90-5673-A0511E867338}"/>
              </a:ext>
            </a:extLst>
          </p:cNvPr>
          <p:cNvCxnSpPr/>
          <p:nvPr/>
        </p:nvCxnSpPr>
        <p:spPr>
          <a:xfrm>
            <a:off x="4614333" y="1051417"/>
            <a:ext cx="0" cy="2489791"/>
          </a:xfrm>
          <a:prstGeom prst="line">
            <a:avLst/>
          </a:prstGeom>
        </p:spPr>
        <p:style>
          <a:lnRef idx="3">
            <a:schemeClr val="accent6"/>
          </a:lnRef>
          <a:fillRef idx="0">
            <a:schemeClr val="accent6"/>
          </a:fillRef>
          <a:effectRef idx="2">
            <a:schemeClr val="accent6"/>
          </a:effectRef>
          <a:fontRef idx="minor">
            <a:schemeClr val="tx1"/>
          </a:fontRef>
        </p:style>
      </p:cxnSp>
      <p:cxnSp>
        <p:nvCxnSpPr>
          <p:cNvPr id="18" name="Straight Connector 17">
            <a:extLst>
              <a:ext uri="{FF2B5EF4-FFF2-40B4-BE49-F238E27FC236}">
                <a16:creationId xmlns:a16="http://schemas.microsoft.com/office/drawing/2014/main" id="{6F121042-8311-DDC9-AAC7-97486E61B8D9}"/>
              </a:ext>
            </a:extLst>
          </p:cNvPr>
          <p:cNvCxnSpPr>
            <a:cxnSpLocks/>
          </p:cNvCxnSpPr>
          <p:nvPr/>
        </p:nvCxnSpPr>
        <p:spPr>
          <a:xfrm flipH="1">
            <a:off x="4614332" y="4466455"/>
            <a:ext cx="8467" cy="1242089"/>
          </a:xfrm>
          <a:prstGeom prst="line">
            <a:avLst/>
          </a:prstGeom>
        </p:spPr>
        <p:style>
          <a:lnRef idx="3">
            <a:schemeClr val="accent6"/>
          </a:lnRef>
          <a:fillRef idx="0">
            <a:schemeClr val="accent6"/>
          </a:fillRef>
          <a:effectRef idx="2">
            <a:schemeClr val="accent6"/>
          </a:effectRef>
          <a:fontRef idx="minor">
            <a:schemeClr val="tx1"/>
          </a:fontRef>
        </p:style>
      </p:cxnSp>
      <p:sp>
        <p:nvSpPr>
          <p:cNvPr id="22" name="Rectangle 21">
            <a:extLst>
              <a:ext uri="{FF2B5EF4-FFF2-40B4-BE49-F238E27FC236}">
                <a16:creationId xmlns:a16="http://schemas.microsoft.com/office/drawing/2014/main" id="{23CF2FBE-E8BA-E4C2-68EC-64B86BB5507A}"/>
              </a:ext>
            </a:extLst>
          </p:cNvPr>
          <p:cNvSpPr/>
          <p:nvPr/>
        </p:nvSpPr>
        <p:spPr>
          <a:xfrm>
            <a:off x="195130" y="1734677"/>
            <a:ext cx="1064580" cy="65026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Current State</a:t>
            </a:r>
          </a:p>
        </p:txBody>
      </p:sp>
    </p:spTree>
    <p:extLst>
      <p:ext uri="{BB962C8B-B14F-4D97-AF65-F5344CB8AC3E}">
        <p14:creationId xmlns:p14="http://schemas.microsoft.com/office/powerpoint/2010/main" val="33827834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r>
              <a:rPr lang="en-ZA" dirty="0"/>
              <a:t>Principal Details</a:t>
            </a:r>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Education Cloud Demo</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9823A684-0E44-210D-9130-A34504B87BA8}"/>
              </a:ext>
            </a:extLst>
          </p:cNvPr>
          <p:cNvSpPr txBox="1"/>
          <p:nvPr/>
        </p:nvSpPr>
        <p:spPr>
          <a:xfrm>
            <a:off x="2638425" y="2200275"/>
            <a:ext cx="184731" cy="369332"/>
          </a:xfrm>
          <a:prstGeom prst="rect">
            <a:avLst/>
          </a:prstGeom>
          <a:noFill/>
        </p:spPr>
        <p:txBody>
          <a:bodyPr wrap="none" rtlCol="0">
            <a:spAutoFit/>
          </a:bodyPr>
          <a:lstStyle/>
          <a:p>
            <a:endParaRPr lang="en-US" dirty="0"/>
          </a:p>
        </p:txBody>
      </p:sp>
      <p:pic>
        <p:nvPicPr>
          <p:cNvPr id="5" name="Picture 4">
            <a:extLst>
              <a:ext uri="{FF2B5EF4-FFF2-40B4-BE49-F238E27FC236}">
                <a16:creationId xmlns:a16="http://schemas.microsoft.com/office/drawing/2014/main" id="{7DEB9B5F-D8C6-389C-DD78-B6A0B554B59E}"/>
              </a:ext>
            </a:extLst>
          </p:cNvPr>
          <p:cNvPicPr>
            <a:picLocks noChangeAspect="1"/>
          </p:cNvPicPr>
          <p:nvPr/>
        </p:nvPicPr>
        <p:blipFill rotWithShape="1">
          <a:blip r:embed="rId2"/>
          <a:srcRect r="37845"/>
          <a:stretch/>
        </p:blipFill>
        <p:spPr>
          <a:xfrm>
            <a:off x="359315" y="2737906"/>
            <a:ext cx="3504141" cy="2159426"/>
          </a:xfrm>
          <a:prstGeom prst="rect">
            <a:avLst/>
          </a:prstGeom>
          <a:effectLst>
            <a:outerShdw blurRad="50800" dist="38100" dir="2700000" algn="tl" rotWithShape="0">
              <a:prstClr val="black">
                <a:alpha val="40000"/>
              </a:prstClr>
            </a:outerShdw>
          </a:effectLst>
        </p:spPr>
      </p:pic>
      <p:pic>
        <p:nvPicPr>
          <p:cNvPr id="6" name="Picture 5">
            <a:extLst>
              <a:ext uri="{FF2B5EF4-FFF2-40B4-BE49-F238E27FC236}">
                <a16:creationId xmlns:a16="http://schemas.microsoft.com/office/drawing/2014/main" id="{18726EC2-98EF-37C3-53A0-0A2A78E5B5D2}"/>
              </a:ext>
            </a:extLst>
          </p:cNvPr>
          <p:cNvPicPr>
            <a:picLocks noChangeAspect="1"/>
          </p:cNvPicPr>
          <p:nvPr/>
        </p:nvPicPr>
        <p:blipFill>
          <a:blip r:embed="rId3"/>
          <a:stretch>
            <a:fillRect/>
          </a:stretch>
        </p:blipFill>
        <p:spPr>
          <a:xfrm>
            <a:off x="5877644" y="2137408"/>
            <a:ext cx="4797040" cy="3337563"/>
          </a:xfrm>
          <a:prstGeom prst="rect">
            <a:avLst/>
          </a:prstGeom>
          <a:effectLst>
            <a:outerShdw blurRad="50800" dist="38100" dir="2700000" algn="tl" rotWithShape="0">
              <a:prstClr val="black">
                <a:alpha val="40000"/>
              </a:prstClr>
            </a:outerShdw>
          </a:effectLst>
        </p:spPr>
      </p:pic>
      <p:sp>
        <p:nvSpPr>
          <p:cNvPr id="10" name="TextBox 9">
            <a:extLst>
              <a:ext uri="{FF2B5EF4-FFF2-40B4-BE49-F238E27FC236}">
                <a16:creationId xmlns:a16="http://schemas.microsoft.com/office/drawing/2014/main" id="{69F26D11-5460-9635-99FD-3559B6F29A0B}"/>
              </a:ext>
            </a:extLst>
          </p:cNvPr>
          <p:cNvSpPr txBox="1"/>
          <p:nvPr/>
        </p:nvSpPr>
        <p:spPr>
          <a:xfrm>
            <a:off x="1579044" y="1817868"/>
            <a:ext cx="2374040" cy="600164"/>
          </a:xfrm>
          <a:prstGeom prst="rect">
            <a:avLst/>
          </a:prstGeom>
          <a:noFill/>
        </p:spPr>
        <p:txBody>
          <a:bodyPr wrap="square" rtlCol="0">
            <a:spAutoFit/>
          </a:bodyPr>
          <a:lstStyle/>
          <a:p>
            <a:pPr>
              <a:spcBef>
                <a:spcPts val="1000"/>
              </a:spcBef>
              <a:buClr>
                <a:srgbClr val="BCD727"/>
              </a:buClr>
            </a:pPr>
            <a:r>
              <a:rPr lang="en-ZA" sz="1100" dirty="0">
                <a:solidFill>
                  <a:schemeClr val="tx1">
                    <a:lumMod val="65000"/>
                    <a:lumOff val="35000"/>
                  </a:schemeClr>
                </a:solidFill>
                <a:latin typeface="Proxima Nova Lt"/>
              </a:rPr>
              <a:t>Principal details are maintained in a spreadsheet, 1 spreadsheet per school (200+ spreadsheets in total)</a:t>
            </a:r>
          </a:p>
        </p:txBody>
      </p:sp>
      <p:sp>
        <p:nvSpPr>
          <p:cNvPr id="11" name="Striped Right Arrow 10">
            <a:extLst>
              <a:ext uri="{FF2B5EF4-FFF2-40B4-BE49-F238E27FC236}">
                <a16:creationId xmlns:a16="http://schemas.microsoft.com/office/drawing/2014/main" id="{81B5E2EA-8EED-C27A-E387-A28CFC5A213D}"/>
              </a:ext>
            </a:extLst>
          </p:cNvPr>
          <p:cNvSpPr/>
          <p:nvPr/>
        </p:nvSpPr>
        <p:spPr>
          <a:xfrm>
            <a:off x="4110926" y="2866156"/>
            <a:ext cx="1457325" cy="1310180"/>
          </a:xfrm>
          <a:prstGeom prst="stripedRight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Future State</a:t>
            </a:r>
          </a:p>
        </p:txBody>
      </p:sp>
      <p:sp>
        <p:nvSpPr>
          <p:cNvPr id="12" name="Rounded Rectangular Callout 11">
            <a:extLst>
              <a:ext uri="{FF2B5EF4-FFF2-40B4-BE49-F238E27FC236}">
                <a16:creationId xmlns:a16="http://schemas.microsoft.com/office/drawing/2014/main" id="{A42689D0-82ED-7CFD-3175-3F32FE18FC61}"/>
              </a:ext>
            </a:extLst>
          </p:cNvPr>
          <p:cNvSpPr/>
          <p:nvPr/>
        </p:nvSpPr>
        <p:spPr>
          <a:xfrm>
            <a:off x="9706796" y="2516798"/>
            <a:ext cx="1569338" cy="552450"/>
          </a:xfrm>
          <a:prstGeom prst="wedgeRoundRectCallout">
            <a:avLst>
              <a:gd name="adj1" fmla="val -60539"/>
              <a:gd name="adj2" fmla="val 24650"/>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Principal’s personal details</a:t>
            </a:r>
          </a:p>
        </p:txBody>
      </p:sp>
      <p:sp>
        <p:nvSpPr>
          <p:cNvPr id="13" name="TextBox 12">
            <a:extLst>
              <a:ext uri="{FF2B5EF4-FFF2-40B4-BE49-F238E27FC236}">
                <a16:creationId xmlns:a16="http://schemas.microsoft.com/office/drawing/2014/main" id="{8DC7727E-7321-2844-E575-6D0CF76F8E75}"/>
              </a:ext>
            </a:extLst>
          </p:cNvPr>
          <p:cNvSpPr txBox="1"/>
          <p:nvPr/>
        </p:nvSpPr>
        <p:spPr>
          <a:xfrm>
            <a:off x="5808133" y="1094243"/>
            <a:ext cx="5530985" cy="959237"/>
          </a:xfrm>
          <a:prstGeom prst="rect">
            <a:avLst/>
          </a:prstGeom>
          <a:noFill/>
        </p:spPr>
        <p:txBody>
          <a:bodyPr wrap="square" rtlCol="0">
            <a:spAutoFit/>
          </a:bodyPr>
          <a:lstStyle/>
          <a:p>
            <a:pPr marL="171450" indent="-17145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Principal details are stored in Salesforce, searchable and visible to other PAT users </a:t>
            </a:r>
          </a:p>
          <a:p>
            <a:pPr marL="171450" indent="-171450">
              <a:spcBef>
                <a:spcPts val="1000"/>
              </a:spcBef>
              <a:buClr>
                <a:srgbClr val="BCD727"/>
              </a:buClr>
              <a:buFont typeface="Arial" panose="020B0604020202020204" pitchFamily="34" charset="0"/>
              <a:buChar char="•"/>
            </a:pPr>
            <a:r>
              <a:rPr lang="en-ZA" sz="1200" dirty="0">
                <a:solidFill>
                  <a:schemeClr val="tx1">
                    <a:lumMod val="65000"/>
                    <a:lumOff val="35000"/>
                  </a:schemeClr>
                </a:solidFill>
                <a:latin typeface="Proxima Nova Lt"/>
              </a:rPr>
              <a:t>Related information easily tracked and visible – e.g. GSB enrolments, roles held at different schools over time etc.</a:t>
            </a:r>
          </a:p>
        </p:txBody>
      </p:sp>
      <p:sp>
        <p:nvSpPr>
          <p:cNvPr id="14" name="Rounded Rectangular Callout 13">
            <a:extLst>
              <a:ext uri="{FF2B5EF4-FFF2-40B4-BE49-F238E27FC236}">
                <a16:creationId xmlns:a16="http://schemas.microsoft.com/office/drawing/2014/main" id="{4E8CA556-A793-B973-DD1B-070E9D37B625}"/>
              </a:ext>
            </a:extLst>
          </p:cNvPr>
          <p:cNvSpPr/>
          <p:nvPr/>
        </p:nvSpPr>
        <p:spPr>
          <a:xfrm>
            <a:off x="9769780" y="3995884"/>
            <a:ext cx="1569338" cy="552450"/>
          </a:xfrm>
          <a:prstGeom prst="wedgeRoundRectCallout">
            <a:avLst>
              <a:gd name="adj1" fmla="val -62697"/>
              <a:gd name="adj2" fmla="val -9066"/>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GSB enrollments</a:t>
            </a:r>
          </a:p>
        </p:txBody>
      </p:sp>
      <p:sp>
        <p:nvSpPr>
          <p:cNvPr id="15" name="Rounded Rectangular Callout 14">
            <a:extLst>
              <a:ext uri="{FF2B5EF4-FFF2-40B4-BE49-F238E27FC236}">
                <a16:creationId xmlns:a16="http://schemas.microsoft.com/office/drawing/2014/main" id="{FAE5EBA1-252F-3A64-2993-CCA9E05848A5}"/>
              </a:ext>
            </a:extLst>
          </p:cNvPr>
          <p:cNvSpPr/>
          <p:nvPr/>
        </p:nvSpPr>
        <p:spPr>
          <a:xfrm>
            <a:off x="9769780" y="4992218"/>
            <a:ext cx="1569338" cy="552450"/>
          </a:xfrm>
          <a:prstGeom prst="wedgeRoundRectCallout">
            <a:avLst>
              <a:gd name="adj1" fmla="val -58920"/>
              <a:gd name="adj2" fmla="val -15196"/>
              <a:gd name="adj3" fmla="val 16667"/>
            </a:avLst>
          </a:prstGeom>
          <a:solidFill>
            <a:schemeClr val="accent6">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Tenure at various schools over time</a:t>
            </a:r>
          </a:p>
        </p:txBody>
      </p:sp>
      <p:cxnSp>
        <p:nvCxnSpPr>
          <p:cNvPr id="16" name="Straight Connector 15">
            <a:extLst>
              <a:ext uri="{FF2B5EF4-FFF2-40B4-BE49-F238E27FC236}">
                <a16:creationId xmlns:a16="http://schemas.microsoft.com/office/drawing/2014/main" id="{1E92BF0D-99F0-9305-80FC-E9CD839DB2E9}"/>
              </a:ext>
            </a:extLst>
          </p:cNvPr>
          <p:cNvCxnSpPr>
            <a:cxnSpLocks/>
          </p:cNvCxnSpPr>
          <p:nvPr/>
        </p:nvCxnSpPr>
        <p:spPr>
          <a:xfrm>
            <a:off x="4605866" y="1012789"/>
            <a:ext cx="0" cy="2056459"/>
          </a:xfrm>
          <a:prstGeom prst="line">
            <a:avLst/>
          </a:prstGeom>
        </p:spPr>
        <p:style>
          <a:lnRef idx="3">
            <a:schemeClr val="accent6"/>
          </a:lnRef>
          <a:fillRef idx="0">
            <a:schemeClr val="accent6"/>
          </a:fillRef>
          <a:effectRef idx="2">
            <a:schemeClr val="accent6"/>
          </a:effectRef>
          <a:fontRef idx="minor">
            <a:schemeClr val="tx1"/>
          </a:fontRef>
        </p:style>
      </p:cxnSp>
      <p:cxnSp>
        <p:nvCxnSpPr>
          <p:cNvPr id="17" name="Straight Connector 16">
            <a:extLst>
              <a:ext uri="{FF2B5EF4-FFF2-40B4-BE49-F238E27FC236}">
                <a16:creationId xmlns:a16="http://schemas.microsoft.com/office/drawing/2014/main" id="{89671010-7EA1-BB46-7FE7-422E0310CEEB}"/>
              </a:ext>
            </a:extLst>
          </p:cNvPr>
          <p:cNvCxnSpPr>
            <a:cxnSpLocks/>
          </p:cNvCxnSpPr>
          <p:nvPr/>
        </p:nvCxnSpPr>
        <p:spPr>
          <a:xfrm>
            <a:off x="4605865" y="3995884"/>
            <a:ext cx="0" cy="1674032"/>
          </a:xfrm>
          <a:prstGeom prst="line">
            <a:avLst/>
          </a:prstGeom>
        </p:spPr>
        <p:style>
          <a:lnRef idx="3">
            <a:schemeClr val="accent6"/>
          </a:lnRef>
          <a:fillRef idx="0">
            <a:schemeClr val="accent6"/>
          </a:fillRef>
          <a:effectRef idx="2">
            <a:schemeClr val="accent6"/>
          </a:effectRef>
          <a:fontRef idx="minor">
            <a:schemeClr val="tx1"/>
          </a:fontRef>
        </p:style>
      </p:cxnSp>
      <p:sp>
        <p:nvSpPr>
          <p:cNvPr id="21" name="Rectangle 20">
            <a:extLst>
              <a:ext uri="{FF2B5EF4-FFF2-40B4-BE49-F238E27FC236}">
                <a16:creationId xmlns:a16="http://schemas.microsoft.com/office/drawing/2014/main" id="{DD4FB1B0-8E4C-CE39-185D-58CB49809594}"/>
              </a:ext>
            </a:extLst>
          </p:cNvPr>
          <p:cNvSpPr/>
          <p:nvPr/>
        </p:nvSpPr>
        <p:spPr>
          <a:xfrm>
            <a:off x="403328" y="1734677"/>
            <a:ext cx="1064580" cy="65026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Current State</a:t>
            </a:r>
          </a:p>
        </p:txBody>
      </p:sp>
    </p:spTree>
    <p:extLst>
      <p:ext uri="{BB962C8B-B14F-4D97-AF65-F5344CB8AC3E}">
        <p14:creationId xmlns:p14="http://schemas.microsoft.com/office/powerpoint/2010/main" val="2120545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r>
              <a:rPr lang="en-ZA" dirty="0"/>
              <a:t>Grade Results &amp; Reporting</a:t>
            </a:r>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Education Cloud Demo</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9823A684-0E44-210D-9130-A34504B87BA8}"/>
              </a:ext>
            </a:extLst>
          </p:cNvPr>
          <p:cNvSpPr txBox="1"/>
          <p:nvPr/>
        </p:nvSpPr>
        <p:spPr>
          <a:xfrm>
            <a:off x="2638425" y="2200275"/>
            <a:ext cx="184731" cy="369332"/>
          </a:xfrm>
          <a:prstGeom prst="rect">
            <a:avLst/>
          </a:prstGeom>
          <a:noFill/>
        </p:spPr>
        <p:txBody>
          <a:bodyPr wrap="none" rtlCol="0">
            <a:spAutoFit/>
          </a:bodyPr>
          <a:lstStyle/>
          <a:p>
            <a:endParaRPr lang="en-US" dirty="0"/>
          </a:p>
        </p:txBody>
      </p:sp>
      <p:pic>
        <p:nvPicPr>
          <p:cNvPr id="8" name="Picture 7">
            <a:extLst>
              <a:ext uri="{FF2B5EF4-FFF2-40B4-BE49-F238E27FC236}">
                <a16:creationId xmlns:a16="http://schemas.microsoft.com/office/drawing/2014/main" id="{B30E2E3C-E1D4-A28F-E51B-4664D3C6DC3B}"/>
              </a:ext>
            </a:extLst>
          </p:cNvPr>
          <p:cNvPicPr>
            <a:picLocks noChangeAspect="1"/>
          </p:cNvPicPr>
          <p:nvPr/>
        </p:nvPicPr>
        <p:blipFill>
          <a:blip r:embed="rId2"/>
          <a:stretch>
            <a:fillRect/>
          </a:stretch>
        </p:blipFill>
        <p:spPr>
          <a:xfrm>
            <a:off x="290616" y="2733755"/>
            <a:ext cx="4416720" cy="3226778"/>
          </a:xfrm>
          <a:prstGeom prst="rect">
            <a:avLst/>
          </a:prstGeom>
          <a:effectLst>
            <a:outerShdw blurRad="50800" dist="38100" dir="2700000" algn="tl" rotWithShape="0">
              <a:prstClr val="black">
                <a:alpha val="40000"/>
              </a:prstClr>
            </a:outerShdw>
          </a:effectLst>
        </p:spPr>
      </p:pic>
      <p:pic>
        <p:nvPicPr>
          <p:cNvPr id="10" name="Picture 9">
            <a:extLst>
              <a:ext uri="{FF2B5EF4-FFF2-40B4-BE49-F238E27FC236}">
                <a16:creationId xmlns:a16="http://schemas.microsoft.com/office/drawing/2014/main" id="{C7F638D9-DAF8-6CD2-374E-E96A53F54E8A}"/>
              </a:ext>
            </a:extLst>
          </p:cNvPr>
          <p:cNvPicPr>
            <a:picLocks noChangeAspect="1"/>
          </p:cNvPicPr>
          <p:nvPr/>
        </p:nvPicPr>
        <p:blipFill>
          <a:blip r:embed="rId3"/>
          <a:stretch>
            <a:fillRect/>
          </a:stretch>
        </p:blipFill>
        <p:spPr>
          <a:xfrm>
            <a:off x="5749925" y="4347867"/>
            <a:ext cx="6229350" cy="1193216"/>
          </a:xfrm>
          <a:prstGeom prst="rect">
            <a:avLst/>
          </a:prstGeom>
          <a:effectLst>
            <a:outerShdw blurRad="50800" dist="38100" dir="2700000" algn="tl" rotWithShape="0">
              <a:prstClr val="black">
                <a:alpha val="40000"/>
              </a:prstClr>
            </a:outerShdw>
          </a:effectLst>
        </p:spPr>
      </p:pic>
      <p:sp>
        <p:nvSpPr>
          <p:cNvPr id="11" name="TextBox 10">
            <a:extLst>
              <a:ext uri="{FF2B5EF4-FFF2-40B4-BE49-F238E27FC236}">
                <a16:creationId xmlns:a16="http://schemas.microsoft.com/office/drawing/2014/main" id="{9495B97A-3495-22CB-D3D2-889706AC3B20}"/>
              </a:ext>
            </a:extLst>
          </p:cNvPr>
          <p:cNvSpPr txBox="1"/>
          <p:nvPr/>
        </p:nvSpPr>
        <p:spPr>
          <a:xfrm>
            <a:off x="1380353" y="1836073"/>
            <a:ext cx="2471209" cy="897682"/>
          </a:xfrm>
          <a:prstGeom prst="rect">
            <a:avLst/>
          </a:prstGeom>
          <a:noFill/>
        </p:spPr>
        <p:txBody>
          <a:bodyPr wrap="square" rtlCol="0">
            <a:spAutoFit/>
          </a:bodyPr>
          <a:lstStyle/>
          <a:p>
            <a:pPr>
              <a:spcBef>
                <a:spcPts val="1000"/>
              </a:spcBef>
              <a:buClr>
                <a:srgbClr val="BCD727"/>
              </a:buClr>
            </a:pPr>
            <a:r>
              <a:rPr lang="en-ZA" sz="1100" dirty="0">
                <a:solidFill>
                  <a:schemeClr val="tx1">
                    <a:lumMod val="65000"/>
                    <a:lumOff val="35000"/>
                  </a:schemeClr>
                </a:solidFill>
                <a:latin typeface="Proxima Nova Lt"/>
              </a:rPr>
              <a:t>Grade reports are maintained in a spreadsheet per school (200+ spreadsheets in total)</a:t>
            </a:r>
          </a:p>
          <a:p>
            <a:pPr>
              <a:spcBef>
                <a:spcPts val="1000"/>
              </a:spcBef>
              <a:buClr>
                <a:srgbClr val="BCD727"/>
              </a:buClr>
            </a:pPr>
            <a:endParaRPr lang="en-ZA" sz="1100" dirty="0">
              <a:solidFill>
                <a:schemeClr val="tx1">
                  <a:lumMod val="65000"/>
                  <a:lumOff val="35000"/>
                </a:schemeClr>
              </a:solidFill>
              <a:latin typeface="Proxima Nova Lt"/>
            </a:endParaRPr>
          </a:p>
        </p:txBody>
      </p:sp>
      <p:sp>
        <p:nvSpPr>
          <p:cNvPr id="12" name="Striped Right Arrow 11">
            <a:extLst>
              <a:ext uri="{FF2B5EF4-FFF2-40B4-BE49-F238E27FC236}">
                <a16:creationId xmlns:a16="http://schemas.microsoft.com/office/drawing/2014/main" id="{83CFE468-28CC-0D07-CB1E-C9FDDD9768EB}"/>
              </a:ext>
            </a:extLst>
          </p:cNvPr>
          <p:cNvSpPr/>
          <p:nvPr/>
        </p:nvSpPr>
        <p:spPr>
          <a:xfrm>
            <a:off x="4638675" y="1259427"/>
            <a:ext cx="1457325" cy="1310180"/>
          </a:xfrm>
          <a:prstGeom prst="stripedRight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Future State</a:t>
            </a:r>
          </a:p>
        </p:txBody>
      </p:sp>
      <p:pic>
        <p:nvPicPr>
          <p:cNvPr id="13" name="Picture 12">
            <a:extLst>
              <a:ext uri="{FF2B5EF4-FFF2-40B4-BE49-F238E27FC236}">
                <a16:creationId xmlns:a16="http://schemas.microsoft.com/office/drawing/2014/main" id="{5092F35B-697F-DCCC-9E3C-FAC631323752}"/>
              </a:ext>
            </a:extLst>
          </p:cNvPr>
          <p:cNvPicPr>
            <a:picLocks noChangeAspect="1"/>
          </p:cNvPicPr>
          <p:nvPr/>
        </p:nvPicPr>
        <p:blipFill>
          <a:blip r:embed="rId4"/>
          <a:stretch>
            <a:fillRect/>
          </a:stretch>
        </p:blipFill>
        <p:spPr>
          <a:xfrm>
            <a:off x="6274573" y="366301"/>
            <a:ext cx="2944177" cy="3407131"/>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0334658D-1898-480F-63A8-5C2A6ADC0978}"/>
              </a:ext>
            </a:extLst>
          </p:cNvPr>
          <p:cNvSpPr txBox="1"/>
          <p:nvPr/>
        </p:nvSpPr>
        <p:spPr>
          <a:xfrm>
            <a:off x="9327273" y="1316917"/>
            <a:ext cx="2299712" cy="1661993"/>
          </a:xfrm>
          <a:prstGeom prst="rect">
            <a:avLst/>
          </a:prstGeom>
          <a:noFill/>
        </p:spPr>
        <p:txBody>
          <a:bodyPr wrap="square" rtlCol="0">
            <a:spAutoFit/>
          </a:bodyPr>
          <a:lstStyle/>
          <a:p>
            <a:pPr marL="171450" indent="-17145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Grades are captured in Salesforce against each class</a:t>
            </a:r>
          </a:p>
          <a:p>
            <a:pPr marL="171450" indent="-17145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Validation rules to prevent data entry errors </a:t>
            </a:r>
          </a:p>
          <a:p>
            <a:pPr marL="171450" indent="-17145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Formulae to automatically calculate key metrics</a:t>
            </a:r>
          </a:p>
          <a:p>
            <a:pPr>
              <a:spcBef>
                <a:spcPts val="1000"/>
              </a:spcBef>
              <a:buClr>
                <a:srgbClr val="BCD727"/>
              </a:buClr>
            </a:pPr>
            <a:endParaRPr lang="en-ZA" sz="1100" dirty="0">
              <a:solidFill>
                <a:schemeClr val="tx1">
                  <a:lumMod val="65000"/>
                  <a:lumOff val="35000"/>
                </a:schemeClr>
              </a:solidFill>
              <a:latin typeface="Proxima Nova Lt"/>
            </a:endParaRPr>
          </a:p>
        </p:txBody>
      </p:sp>
      <p:cxnSp>
        <p:nvCxnSpPr>
          <p:cNvPr id="15" name="Straight Connector 14">
            <a:extLst>
              <a:ext uri="{FF2B5EF4-FFF2-40B4-BE49-F238E27FC236}">
                <a16:creationId xmlns:a16="http://schemas.microsoft.com/office/drawing/2014/main" id="{86B85211-145E-77E0-0E71-DA235627426C}"/>
              </a:ext>
            </a:extLst>
          </p:cNvPr>
          <p:cNvCxnSpPr>
            <a:cxnSpLocks/>
          </p:cNvCxnSpPr>
          <p:nvPr/>
        </p:nvCxnSpPr>
        <p:spPr>
          <a:xfrm>
            <a:off x="5063067" y="536737"/>
            <a:ext cx="0" cy="871924"/>
          </a:xfrm>
          <a:prstGeom prst="line">
            <a:avLst/>
          </a:prstGeom>
        </p:spPr>
        <p:style>
          <a:lnRef idx="3">
            <a:schemeClr val="accent6"/>
          </a:lnRef>
          <a:fillRef idx="0">
            <a:schemeClr val="accent6"/>
          </a:fillRef>
          <a:effectRef idx="2">
            <a:schemeClr val="accent6"/>
          </a:effectRef>
          <a:fontRef idx="minor">
            <a:schemeClr val="tx1"/>
          </a:fontRef>
        </p:style>
      </p:cxnSp>
      <p:cxnSp>
        <p:nvCxnSpPr>
          <p:cNvPr id="16" name="Straight Connector 15">
            <a:extLst>
              <a:ext uri="{FF2B5EF4-FFF2-40B4-BE49-F238E27FC236}">
                <a16:creationId xmlns:a16="http://schemas.microsoft.com/office/drawing/2014/main" id="{97C46FF8-39C7-4525-1805-E605D9BE3BBC}"/>
              </a:ext>
            </a:extLst>
          </p:cNvPr>
          <p:cNvCxnSpPr>
            <a:cxnSpLocks/>
          </p:cNvCxnSpPr>
          <p:nvPr/>
        </p:nvCxnSpPr>
        <p:spPr>
          <a:xfrm>
            <a:off x="5063067" y="2429964"/>
            <a:ext cx="0" cy="3320893"/>
          </a:xfrm>
          <a:prstGeom prst="line">
            <a:avLst/>
          </a:prstGeom>
        </p:spPr>
        <p:style>
          <a:lnRef idx="3">
            <a:schemeClr val="accent6"/>
          </a:lnRef>
          <a:fillRef idx="0">
            <a:schemeClr val="accent6"/>
          </a:fillRef>
          <a:effectRef idx="2">
            <a:schemeClr val="accent6"/>
          </a:effectRef>
          <a:fontRef idx="minor">
            <a:schemeClr val="tx1"/>
          </a:fontRef>
        </p:style>
      </p:cxnSp>
      <p:sp>
        <p:nvSpPr>
          <p:cNvPr id="21" name="TextBox 20">
            <a:extLst>
              <a:ext uri="{FF2B5EF4-FFF2-40B4-BE49-F238E27FC236}">
                <a16:creationId xmlns:a16="http://schemas.microsoft.com/office/drawing/2014/main" id="{585BD74F-960F-3769-9F2D-9104A765DCCD}"/>
              </a:ext>
            </a:extLst>
          </p:cNvPr>
          <p:cNvSpPr txBox="1"/>
          <p:nvPr/>
        </p:nvSpPr>
        <p:spPr>
          <a:xfrm>
            <a:off x="5715712" y="4039450"/>
            <a:ext cx="6097508" cy="559127"/>
          </a:xfrm>
          <a:prstGeom prst="rect">
            <a:avLst/>
          </a:prstGeom>
          <a:noFill/>
        </p:spPr>
        <p:txBody>
          <a:bodyPr wrap="square" rtlCol="0">
            <a:spAutoFit/>
          </a:bodyPr>
          <a:lstStyle/>
          <a:p>
            <a:pPr marL="171450" indent="-17145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Reporting engine can  aggregate data across multiple schools, years and classes</a:t>
            </a:r>
          </a:p>
          <a:p>
            <a:pPr>
              <a:spcBef>
                <a:spcPts val="1000"/>
              </a:spcBef>
              <a:buClr>
                <a:srgbClr val="BCD727"/>
              </a:buClr>
            </a:pPr>
            <a:endParaRPr lang="en-ZA" sz="1100" dirty="0">
              <a:solidFill>
                <a:schemeClr val="tx1">
                  <a:lumMod val="65000"/>
                  <a:lumOff val="35000"/>
                </a:schemeClr>
              </a:solidFill>
              <a:latin typeface="Proxima Nova Lt"/>
            </a:endParaRPr>
          </a:p>
        </p:txBody>
      </p:sp>
      <p:sp>
        <p:nvSpPr>
          <p:cNvPr id="22" name="Rectangle 21">
            <a:extLst>
              <a:ext uri="{FF2B5EF4-FFF2-40B4-BE49-F238E27FC236}">
                <a16:creationId xmlns:a16="http://schemas.microsoft.com/office/drawing/2014/main" id="{D1E70A25-C5E3-4472-1E93-0DFC413DDA27}"/>
              </a:ext>
            </a:extLst>
          </p:cNvPr>
          <p:cNvSpPr/>
          <p:nvPr/>
        </p:nvSpPr>
        <p:spPr>
          <a:xfrm>
            <a:off x="290616" y="1835136"/>
            <a:ext cx="1064580" cy="65026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Current State</a:t>
            </a:r>
          </a:p>
        </p:txBody>
      </p:sp>
    </p:spTree>
    <p:extLst>
      <p:ext uri="{BB962C8B-B14F-4D97-AF65-F5344CB8AC3E}">
        <p14:creationId xmlns:p14="http://schemas.microsoft.com/office/powerpoint/2010/main" val="39843131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r>
              <a:rPr lang="en-ZA" dirty="0"/>
              <a:t>Rubric </a:t>
            </a:r>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Education Cloud Demo</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sp>
        <p:nvSpPr>
          <p:cNvPr id="4" name="TextBox 3">
            <a:extLst>
              <a:ext uri="{FF2B5EF4-FFF2-40B4-BE49-F238E27FC236}">
                <a16:creationId xmlns:a16="http://schemas.microsoft.com/office/drawing/2014/main" id="{9823A684-0E44-210D-9130-A34504B87BA8}"/>
              </a:ext>
            </a:extLst>
          </p:cNvPr>
          <p:cNvSpPr txBox="1"/>
          <p:nvPr/>
        </p:nvSpPr>
        <p:spPr>
          <a:xfrm>
            <a:off x="2638425" y="2200275"/>
            <a:ext cx="184731" cy="369332"/>
          </a:xfrm>
          <a:prstGeom prst="rect">
            <a:avLst/>
          </a:prstGeom>
          <a:noFill/>
        </p:spPr>
        <p:txBody>
          <a:bodyPr wrap="none" rtlCol="0">
            <a:spAutoFit/>
          </a:bodyPr>
          <a:lstStyle/>
          <a:p>
            <a:endParaRPr lang="en-US" dirty="0"/>
          </a:p>
        </p:txBody>
      </p:sp>
      <p:pic>
        <p:nvPicPr>
          <p:cNvPr id="11" name="Picture 10">
            <a:extLst>
              <a:ext uri="{FF2B5EF4-FFF2-40B4-BE49-F238E27FC236}">
                <a16:creationId xmlns:a16="http://schemas.microsoft.com/office/drawing/2014/main" id="{90034B92-2E67-F528-DB4E-47DA9DACB5D4}"/>
              </a:ext>
            </a:extLst>
          </p:cNvPr>
          <p:cNvPicPr>
            <a:picLocks noChangeAspect="1"/>
          </p:cNvPicPr>
          <p:nvPr/>
        </p:nvPicPr>
        <p:blipFill>
          <a:blip r:embed="rId2"/>
          <a:stretch>
            <a:fillRect/>
          </a:stretch>
        </p:blipFill>
        <p:spPr>
          <a:xfrm>
            <a:off x="354526" y="2951882"/>
            <a:ext cx="4015662" cy="2939614"/>
          </a:xfrm>
          <a:prstGeom prst="rect">
            <a:avLst/>
          </a:prstGeom>
          <a:effectLst>
            <a:outerShdw blurRad="50800" dist="38100" dir="2700000" algn="tl" rotWithShape="0">
              <a:prstClr val="black">
                <a:alpha val="40000"/>
              </a:prstClr>
            </a:outerShdw>
          </a:effectLst>
        </p:spPr>
      </p:pic>
      <p:sp>
        <p:nvSpPr>
          <p:cNvPr id="12" name="Striped Right Arrow 11">
            <a:extLst>
              <a:ext uri="{FF2B5EF4-FFF2-40B4-BE49-F238E27FC236}">
                <a16:creationId xmlns:a16="http://schemas.microsoft.com/office/drawing/2014/main" id="{6EFD2D25-21C3-E8EF-A7AC-07AC7669D6D5}"/>
              </a:ext>
            </a:extLst>
          </p:cNvPr>
          <p:cNvSpPr/>
          <p:nvPr/>
        </p:nvSpPr>
        <p:spPr>
          <a:xfrm>
            <a:off x="4638675" y="1259427"/>
            <a:ext cx="1457325" cy="1310180"/>
          </a:xfrm>
          <a:prstGeom prst="stripedRightArrow">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Future State</a:t>
            </a:r>
          </a:p>
        </p:txBody>
      </p:sp>
      <p:cxnSp>
        <p:nvCxnSpPr>
          <p:cNvPr id="13" name="Straight Connector 12">
            <a:extLst>
              <a:ext uri="{FF2B5EF4-FFF2-40B4-BE49-F238E27FC236}">
                <a16:creationId xmlns:a16="http://schemas.microsoft.com/office/drawing/2014/main" id="{F2DE3FC0-A3C6-320E-17DA-13F6579AB3AA}"/>
              </a:ext>
            </a:extLst>
          </p:cNvPr>
          <p:cNvCxnSpPr>
            <a:cxnSpLocks/>
          </p:cNvCxnSpPr>
          <p:nvPr/>
        </p:nvCxnSpPr>
        <p:spPr>
          <a:xfrm>
            <a:off x="5063067" y="536737"/>
            <a:ext cx="0" cy="871924"/>
          </a:xfrm>
          <a:prstGeom prst="line">
            <a:avLst/>
          </a:prstGeom>
        </p:spPr>
        <p:style>
          <a:lnRef idx="3">
            <a:schemeClr val="accent6"/>
          </a:lnRef>
          <a:fillRef idx="0">
            <a:schemeClr val="accent6"/>
          </a:fillRef>
          <a:effectRef idx="2">
            <a:schemeClr val="accent6"/>
          </a:effectRef>
          <a:fontRef idx="minor">
            <a:schemeClr val="tx1"/>
          </a:fontRef>
        </p:style>
      </p:cxnSp>
      <p:cxnSp>
        <p:nvCxnSpPr>
          <p:cNvPr id="14" name="Straight Connector 13">
            <a:extLst>
              <a:ext uri="{FF2B5EF4-FFF2-40B4-BE49-F238E27FC236}">
                <a16:creationId xmlns:a16="http://schemas.microsoft.com/office/drawing/2014/main" id="{D12C27FA-3D62-4E6D-057C-EF09BA992BD9}"/>
              </a:ext>
            </a:extLst>
          </p:cNvPr>
          <p:cNvCxnSpPr>
            <a:cxnSpLocks/>
          </p:cNvCxnSpPr>
          <p:nvPr/>
        </p:nvCxnSpPr>
        <p:spPr>
          <a:xfrm>
            <a:off x="5063067" y="2429964"/>
            <a:ext cx="0" cy="3320893"/>
          </a:xfrm>
          <a:prstGeom prst="line">
            <a:avLst/>
          </a:prstGeom>
        </p:spPr>
        <p:style>
          <a:lnRef idx="3">
            <a:schemeClr val="accent6"/>
          </a:lnRef>
          <a:fillRef idx="0">
            <a:schemeClr val="accent6"/>
          </a:fillRef>
          <a:effectRef idx="2">
            <a:schemeClr val="accent6"/>
          </a:effectRef>
          <a:fontRef idx="minor">
            <a:schemeClr val="tx1"/>
          </a:fontRef>
        </p:style>
      </p:cxnSp>
      <p:sp>
        <p:nvSpPr>
          <p:cNvPr id="15" name="Rectangle 14">
            <a:extLst>
              <a:ext uri="{FF2B5EF4-FFF2-40B4-BE49-F238E27FC236}">
                <a16:creationId xmlns:a16="http://schemas.microsoft.com/office/drawing/2014/main" id="{926F43A0-8CBB-A572-CF54-303D6D65F638}"/>
              </a:ext>
            </a:extLst>
          </p:cNvPr>
          <p:cNvSpPr/>
          <p:nvPr/>
        </p:nvSpPr>
        <p:spPr>
          <a:xfrm>
            <a:off x="290616" y="1835136"/>
            <a:ext cx="1064580" cy="650264"/>
          </a:xfrm>
          <a:prstGeom prst="rect">
            <a:avLst/>
          </a:prstGeom>
          <a:solidFill>
            <a:schemeClr val="accent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t>Current State</a:t>
            </a:r>
          </a:p>
        </p:txBody>
      </p:sp>
      <p:sp>
        <p:nvSpPr>
          <p:cNvPr id="16" name="TextBox 15">
            <a:extLst>
              <a:ext uri="{FF2B5EF4-FFF2-40B4-BE49-F238E27FC236}">
                <a16:creationId xmlns:a16="http://schemas.microsoft.com/office/drawing/2014/main" id="{6B82693F-D10B-497C-E355-7D1238C4CAA7}"/>
              </a:ext>
            </a:extLst>
          </p:cNvPr>
          <p:cNvSpPr txBox="1"/>
          <p:nvPr/>
        </p:nvSpPr>
        <p:spPr>
          <a:xfrm>
            <a:off x="1414030" y="1790936"/>
            <a:ext cx="2655387" cy="897682"/>
          </a:xfrm>
          <a:prstGeom prst="rect">
            <a:avLst/>
          </a:prstGeom>
          <a:noFill/>
        </p:spPr>
        <p:txBody>
          <a:bodyPr wrap="square" rtlCol="0">
            <a:spAutoFit/>
          </a:bodyPr>
          <a:lstStyle/>
          <a:p>
            <a:pPr>
              <a:spcBef>
                <a:spcPts val="1000"/>
              </a:spcBef>
              <a:buClr>
                <a:srgbClr val="BCD727"/>
              </a:buClr>
            </a:pPr>
            <a:r>
              <a:rPr lang="en-ZA" sz="1100" dirty="0">
                <a:solidFill>
                  <a:schemeClr val="tx1">
                    <a:lumMod val="65000"/>
                    <a:lumOff val="35000"/>
                  </a:schemeClr>
                </a:solidFill>
                <a:latin typeface="Proxima Nova Lt"/>
              </a:rPr>
              <a:t>Rubrics captured by coaches in spreadsheets, 1 spreadsheet per coach, multiple schools in each spreadsheet</a:t>
            </a:r>
          </a:p>
          <a:p>
            <a:pPr>
              <a:spcBef>
                <a:spcPts val="1000"/>
              </a:spcBef>
              <a:buClr>
                <a:srgbClr val="BCD727"/>
              </a:buClr>
            </a:pPr>
            <a:endParaRPr lang="en-ZA" sz="1100" dirty="0">
              <a:solidFill>
                <a:schemeClr val="tx1">
                  <a:lumMod val="65000"/>
                  <a:lumOff val="35000"/>
                </a:schemeClr>
              </a:solidFill>
              <a:latin typeface="Proxima Nova Lt"/>
            </a:endParaRPr>
          </a:p>
        </p:txBody>
      </p:sp>
      <p:pic>
        <p:nvPicPr>
          <p:cNvPr id="17" name="Picture 16">
            <a:extLst>
              <a:ext uri="{FF2B5EF4-FFF2-40B4-BE49-F238E27FC236}">
                <a16:creationId xmlns:a16="http://schemas.microsoft.com/office/drawing/2014/main" id="{B05C3BF6-681B-7DAB-F4B8-24B763F88E57}"/>
              </a:ext>
            </a:extLst>
          </p:cNvPr>
          <p:cNvPicPr>
            <a:picLocks noChangeAspect="1"/>
          </p:cNvPicPr>
          <p:nvPr/>
        </p:nvPicPr>
        <p:blipFill>
          <a:blip r:embed="rId3"/>
          <a:stretch>
            <a:fillRect/>
          </a:stretch>
        </p:blipFill>
        <p:spPr>
          <a:xfrm>
            <a:off x="5561214" y="3376694"/>
            <a:ext cx="2678167" cy="3096200"/>
          </a:xfrm>
          <a:prstGeom prst="rect">
            <a:avLst/>
          </a:prstGeom>
          <a:effectLst>
            <a:outerShdw blurRad="50800" dist="38100" dir="2700000" algn="tl" rotWithShape="0">
              <a:prstClr val="black">
                <a:alpha val="40000"/>
              </a:prstClr>
            </a:outerShdw>
          </a:effectLst>
        </p:spPr>
      </p:pic>
      <p:pic>
        <p:nvPicPr>
          <p:cNvPr id="18" name="Picture 17">
            <a:extLst>
              <a:ext uri="{FF2B5EF4-FFF2-40B4-BE49-F238E27FC236}">
                <a16:creationId xmlns:a16="http://schemas.microsoft.com/office/drawing/2014/main" id="{63A74C34-25A6-4DB9-D321-98733B2A8989}"/>
              </a:ext>
            </a:extLst>
          </p:cNvPr>
          <p:cNvPicPr>
            <a:picLocks noChangeAspect="1"/>
          </p:cNvPicPr>
          <p:nvPr/>
        </p:nvPicPr>
        <p:blipFill rotWithShape="1">
          <a:blip r:embed="rId4"/>
          <a:srcRect b="18007"/>
          <a:stretch/>
        </p:blipFill>
        <p:spPr>
          <a:xfrm>
            <a:off x="6216284" y="185174"/>
            <a:ext cx="2969406" cy="2867907"/>
          </a:xfrm>
          <a:prstGeom prst="rect">
            <a:avLst/>
          </a:prstGeom>
          <a:effectLst>
            <a:outerShdw blurRad="50800" dist="38100" dir="2700000" algn="tl" rotWithShape="0">
              <a:prstClr val="black">
                <a:alpha val="40000"/>
              </a:prstClr>
            </a:outerShdw>
          </a:effectLst>
        </p:spPr>
      </p:pic>
      <p:sp>
        <p:nvSpPr>
          <p:cNvPr id="19" name="TextBox 18">
            <a:extLst>
              <a:ext uri="{FF2B5EF4-FFF2-40B4-BE49-F238E27FC236}">
                <a16:creationId xmlns:a16="http://schemas.microsoft.com/office/drawing/2014/main" id="{19C3650C-76BF-017E-5D84-DF4A0BBC720E}"/>
              </a:ext>
            </a:extLst>
          </p:cNvPr>
          <p:cNvSpPr txBox="1"/>
          <p:nvPr/>
        </p:nvSpPr>
        <p:spPr>
          <a:xfrm>
            <a:off x="9256481" y="1036360"/>
            <a:ext cx="2299712" cy="897682"/>
          </a:xfrm>
          <a:prstGeom prst="rect">
            <a:avLst/>
          </a:prstGeom>
          <a:noFill/>
        </p:spPr>
        <p:txBody>
          <a:bodyPr wrap="square" rtlCol="0">
            <a:spAutoFit/>
          </a:bodyPr>
          <a:lstStyle/>
          <a:p>
            <a:pPr marL="171450" indent="-17145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Rubrics scores are entered by coaches directly into Salesforce via Experience Cloud (portal)</a:t>
            </a:r>
          </a:p>
          <a:p>
            <a:pPr>
              <a:spcBef>
                <a:spcPts val="1000"/>
              </a:spcBef>
              <a:buClr>
                <a:srgbClr val="BCD727"/>
              </a:buClr>
            </a:pPr>
            <a:endParaRPr lang="en-ZA" sz="1100" dirty="0">
              <a:solidFill>
                <a:schemeClr val="tx1">
                  <a:lumMod val="65000"/>
                  <a:lumOff val="35000"/>
                </a:schemeClr>
              </a:solidFill>
              <a:latin typeface="Proxima Nova Lt"/>
            </a:endParaRPr>
          </a:p>
        </p:txBody>
      </p:sp>
      <p:sp>
        <p:nvSpPr>
          <p:cNvPr id="20" name="TextBox 19">
            <a:extLst>
              <a:ext uri="{FF2B5EF4-FFF2-40B4-BE49-F238E27FC236}">
                <a16:creationId xmlns:a16="http://schemas.microsoft.com/office/drawing/2014/main" id="{4141C0BE-B92F-7CB5-0D77-C8FBE6B3A03F}"/>
              </a:ext>
            </a:extLst>
          </p:cNvPr>
          <p:cNvSpPr txBox="1"/>
          <p:nvPr/>
        </p:nvSpPr>
        <p:spPr>
          <a:xfrm>
            <a:off x="8601414" y="3429000"/>
            <a:ext cx="2895511" cy="1533753"/>
          </a:xfrm>
          <a:prstGeom prst="rect">
            <a:avLst/>
          </a:prstGeom>
          <a:noFill/>
        </p:spPr>
        <p:txBody>
          <a:bodyPr wrap="square" rtlCol="0">
            <a:spAutoFit/>
          </a:bodyPr>
          <a:lstStyle/>
          <a:p>
            <a:pPr marL="171450" indent="-17145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Reporting engine can  aggregate rubric data across multiple schools, years and classes</a:t>
            </a:r>
          </a:p>
          <a:p>
            <a:pPr marL="171450" indent="-171450">
              <a:spcBef>
                <a:spcPts val="1000"/>
              </a:spcBef>
              <a:buClr>
                <a:srgbClr val="BCD727"/>
              </a:buClr>
              <a:buFont typeface="Arial" panose="020B0604020202020204" pitchFamily="34" charset="0"/>
              <a:buChar char="•"/>
            </a:pPr>
            <a:r>
              <a:rPr lang="en-ZA" sz="1100" dirty="0">
                <a:solidFill>
                  <a:schemeClr val="tx1">
                    <a:lumMod val="65000"/>
                    <a:lumOff val="35000"/>
                  </a:schemeClr>
                </a:solidFill>
                <a:latin typeface="Proxima Nova Lt"/>
              </a:rPr>
              <a:t>Key metrics from reports can be exposed on charts and dashboards and shared with all PAT users</a:t>
            </a:r>
          </a:p>
          <a:p>
            <a:pPr>
              <a:spcBef>
                <a:spcPts val="1000"/>
              </a:spcBef>
              <a:buClr>
                <a:srgbClr val="BCD727"/>
              </a:buClr>
            </a:pPr>
            <a:endParaRPr lang="en-ZA" sz="1100" dirty="0">
              <a:solidFill>
                <a:schemeClr val="tx1">
                  <a:lumMod val="65000"/>
                  <a:lumOff val="35000"/>
                </a:schemeClr>
              </a:solidFill>
              <a:latin typeface="Proxima Nova Lt"/>
            </a:endParaRPr>
          </a:p>
        </p:txBody>
      </p:sp>
    </p:spTree>
    <p:extLst>
      <p:ext uri="{BB962C8B-B14F-4D97-AF65-F5344CB8AC3E}">
        <p14:creationId xmlns:p14="http://schemas.microsoft.com/office/powerpoint/2010/main" val="1195777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EB2F47-3F1E-4B42-822A-F48433BEE2DA}"/>
              </a:ext>
            </a:extLst>
          </p:cNvPr>
          <p:cNvSpPr>
            <a:spLocks noGrp="1"/>
          </p:cNvSpPr>
          <p:nvPr>
            <p:ph type="body" sz="quarter" idx="13"/>
          </p:nvPr>
        </p:nvSpPr>
        <p:spPr/>
        <p:txBody>
          <a:bodyPr/>
          <a:lstStyle/>
          <a:p>
            <a:r>
              <a:rPr lang="en-ZA" dirty="0"/>
              <a:t>Questions</a:t>
            </a:r>
          </a:p>
        </p:txBody>
      </p:sp>
    </p:spTree>
    <p:extLst>
      <p:ext uri="{BB962C8B-B14F-4D97-AF65-F5344CB8AC3E}">
        <p14:creationId xmlns:p14="http://schemas.microsoft.com/office/powerpoint/2010/main" val="89667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1D87BA23-6F7C-4726-80FB-D9D4EC914F38}"/>
              </a:ext>
            </a:extLst>
          </p:cNvPr>
          <p:cNvSpPr>
            <a:spLocks noGrp="1"/>
          </p:cNvSpPr>
          <p:nvPr>
            <p:ph type="body" sz="quarter" idx="12"/>
          </p:nvPr>
        </p:nvSpPr>
        <p:spPr/>
        <p:txBody>
          <a:bodyPr/>
          <a:lstStyle/>
          <a:p>
            <a:endParaRPr lang="en-ZA" dirty="0"/>
          </a:p>
        </p:txBody>
      </p:sp>
      <p:sp>
        <p:nvSpPr>
          <p:cNvPr id="3" name="Text Placeholder 2">
            <a:extLst>
              <a:ext uri="{FF2B5EF4-FFF2-40B4-BE49-F238E27FC236}">
                <a16:creationId xmlns:a16="http://schemas.microsoft.com/office/drawing/2014/main" id="{39F74062-9E6D-4148-95DF-299673D9159E}"/>
              </a:ext>
            </a:extLst>
          </p:cNvPr>
          <p:cNvSpPr>
            <a:spLocks noGrp="1"/>
          </p:cNvSpPr>
          <p:nvPr>
            <p:ph type="body" sz="quarter" idx="11"/>
          </p:nvPr>
        </p:nvSpPr>
        <p:spPr/>
        <p:txBody>
          <a:bodyPr/>
          <a:lstStyle/>
          <a:p>
            <a:r>
              <a:rPr lang="en-GB" dirty="0"/>
              <a:t>The Salesforce Solution</a:t>
            </a:r>
          </a:p>
        </p:txBody>
      </p:sp>
      <p:sp>
        <p:nvSpPr>
          <p:cNvPr id="2" name="Rectangle 2">
            <a:extLst>
              <a:ext uri="{FF2B5EF4-FFF2-40B4-BE49-F238E27FC236}">
                <a16:creationId xmlns:a16="http://schemas.microsoft.com/office/drawing/2014/main" id="{75E7C5EE-B534-AFE0-8B35-F8EE5B021AD1}"/>
              </a:ext>
            </a:extLst>
          </p:cNvPr>
          <p:cNvSpPr>
            <a:spLocks noChangeArrowheads="1"/>
          </p:cNvSpPr>
          <p:nvPr/>
        </p:nvSpPr>
        <p:spPr bwMode="auto">
          <a:xfrm>
            <a:off x="3086100" y="2114549"/>
            <a:ext cx="854088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1028" name="Picture 4" descr="Introducing Salesforce Shield - Salesforce Blog">
            <a:extLst>
              <a:ext uri="{FF2B5EF4-FFF2-40B4-BE49-F238E27FC236}">
                <a16:creationId xmlns:a16="http://schemas.microsoft.com/office/drawing/2014/main" id="{996AE0F1-341E-10C1-3B69-FF04230EC8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6169" y="2537329"/>
            <a:ext cx="6057900" cy="3166199"/>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9493A7D3-7D00-8C55-648B-2E7E8504C226}"/>
              </a:ext>
            </a:extLst>
          </p:cNvPr>
          <p:cNvSpPr txBox="1"/>
          <p:nvPr/>
        </p:nvSpPr>
        <p:spPr>
          <a:xfrm>
            <a:off x="940444" y="1906575"/>
            <a:ext cx="7841606" cy="1015663"/>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chemeClr val="tx1">
                    <a:lumMod val="65000"/>
                    <a:lumOff val="35000"/>
                  </a:schemeClr>
                </a:solidFill>
                <a:latin typeface="Proxima Nova Lt"/>
              </a:rPr>
              <a:t>Salesforce is a Platform as a Service (PaaS) solution  Platform is a P</a:t>
            </a:r>
          </a:p>
          <a:p>
            <a:pPr marL="171450" indent="-171450">
              <a:buFont typeface="Arial" panose="020B0604020202020204" pitchFamily="34" charset="0"/>
              <a:buChar char="•"/>
            </a:pPr>
            <a:r>
              <a:rPr lang="en-US" sz="1200" dirty="0">
                <a:solidFill>
                  <a:schemeClr val="tx1">
                    <a:lumMod val="65000"/>
                    <a:lumOff val="35000"/>
                  </a:schemeClr>
                </a:solidFill>
                <a:latin typeface="Proxima Nova Lt"/>
              </a:rPr>
              <a:t> lets companies have all customer data together in one place. This means companies can take full advantage of wherever the next generation of technology takes your customers and business.</a:t>
            </a:r>
          </a:p>
          <a:p>
            <a:endParaRPr lang="en-US" sz="1200" dirty="0">
              <a:solidFill>
                <a:schemeClr val="tx1">
                  <a:lumMod val="65000"/>
                  <a:lumOff val="35000"/>
                </a:schemeClr>
              </a:solidFill>
              <a:latin typeface="Proxima Nova Lt"/>
            </a:endParaRPr>
          </a:p>
          <a:p>
            <a:endParaRPr lang="en-US" sz="1200" dirty="0">
              <a:solidFill>
                <a:schemeClr val="tx1">
                  <a:lumMod val="65000"/>
                  <a:lumOff val="35000"/>
                </a:schemeClr>
              </a:solidFill>
              <a:latin typeface="Proxima Nova Lt"/>
            </a:endParaRPr>
          </a:p>
        </p:txBody>
      </p:sp>
      <p:sp>
        <p:nvSpPr>
          <p:cNvPr id="9" name="TextBox 8">
            <a:extLst>
              <a:ext uri="{FF2B5EF4-FFF2-40B4-BE49-F238E27FC236}">
                <a16:creationId xmlns:a16="http://schemas.microsoft.com/office/drawing/2014/main" id="{74D658A0-DC83-863C-AE7F-F23567D936D5}"/>
              </a:ext>
            </a:extLst>
          </p:cNvPr>
          <p:cNvSpPr txBox="1"/>
          <p:nvPr/>
        </p:nvSpPr>
        <p:spPr>
          <a:xfrm>
            <a:off x="7084069" y="2635321"/>
            <a:ext cx="4400550" cy="1200329"/>
          </a:xfrm>
          <a:prstGeom prst="rect">
            <a:avLst/>
          </a:prstGeom>
          <a:noFill/>
        </p:spPr>
        <p:txBody>
          <a:bodyPr wrap="square" rtlCol="0">
            <a:spAutoFit/>
          </a:bodyPr>
          <a:lstStyle/>
          <a:p>
            <a:pPr marL="171450" indent="-171450">
              <a:buFont typeface="Arial" panose="020B0604020202020204" pitchFamily="34" charset="0"/>
              <a:buChar char="•"/>
            </a:pPr>
            <a:r>
              <a:rPr lang="en-US" sz="1200" dirty="0">
                <a:solidFill>
                  <a:schemeClr val="tx1">
                    <a:lumMod val="65000"/>
                    <a:lumOff val="35000"/>
                  </a:schemeClr>
                </a:solidFill>
                <a:latin typeface="Proxima Nova Lt"/>
              </a:rPr>
              <a:t>The Salesforce Platform lets companies have all customer data together in one place. This means companies can take full advantage of wherever the next generation of technology takes your customers and business.</a:t>
            </a:r>
          </a:p>
          <a:p>
            <a:endParaRPr lang="en-US" sz="1200" dirty="0">
              <a:solidFill>
                <a:schemeClr val="tx1">
                  <a:lumMod val="65000"/>
                  <a:lumOff val="35000"/>
                </a:schemeClr>
              </a:solidFill>
              <a:latin typeface="Proxima Nova Lt"/>
            </a:endParaRPr>
          </a:p>
          <a:p>
            <a:endParaRPr lang="en-US" sz="1200" dirty="0">
              <a:solidFill>
                <a:schemeClr val="tx1">
                  <a:lumMod val="65000"/>
                  <a:lumOff val="35000"/>
                </a:schemeClr>
              </a:solidFill>
              <a:latin typeface="Proxima Nova Lt"/>
            </a:endParaRPr>
          </a:p>
        </p:txBody>
      </p:sp>
    </p:spTree>
    <p:extLst>
      <p:ext uri="{BB962C8B-B14F-4D97-AF65-F5344CB8AC3E}">
        <p14:creationId xmlns:p14="http://schemas.microsoft.com/office/powerpoint/2010/main" val="2821333632"/>
      </p:ext>
    </p:extLst>
  </p:cSld>
  <p:clrMapOvr>
    <a:masterClrMapping/>
  </p:clrMapOvr>
</p:sld>
</file>

<file path=ppt/theme/theme1.xml><?xml version="1.0" encoding="utf-8"?>
<a:theme xmlns:a="http://schemas.openxmlformats.org/drawingml/2006/main" name="1. Title Slides">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Presentation Theme" id="{617D407F-0F1F-405D-A13B-BE7690CBDA2A}" vid="{44CD57B0-E653-4561-A953-0FF3EAB174B5}"/>
    </a:ext>
  </a:extLst>
</a:theme>
</file>

<file path=ppt/theme/theme2.xml><?xml version="1.0" encoding="utf-8"?>
<a:theme xmlns:a="http://schemas.openxmlformats.org/drawingml/2006/main" name="1_1. Title Slides">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neral Presentation Theme" id="{617D407F-0F1F-405D-A13B-BE7690CBDA2A}" vid="{44CD57B0-E653-4561-A953-0FF3EAB174B5}"/>
    </a:ext>
  </a:extLst>
</a:theme>
</file>

<file path=ppt/theme/theme3.xml><?xml version="1.0" encoding="utf-8"?>
<a:theme xmlns:a="http://schemas.openxmlformats.org/drawingml/2006/main" name="2. Agenda">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 City Background">
  <a:themeElements>
    <a:clrScheme name="Open Box Colours">
      <a:dk1>
        <a:sysClr val="windowText" lastClr="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 Blank Background">
  <a:themeElements>
    <a:clrScheme name="Open Box Colours">
      <a:dk1>
        <a:srgbClr val="000000"/>
      </a:dk1>
      <a:lt1>
        <a:sysClr val="window" lastClr="FFFFFF"/>
      </a:lt1>
      <a:dk2>
        <a:srgbClr val="373C3C"/>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Full Blank">
  <a:themeElements>
    <a:clrScheme name="Open Box Colours">
      <a:dk1>
        <a:sysClr val="windowText" lastClr="000000"/>
      </a:dk1>
      <a:lt1>
        <a:sysClr val="window" lastClr="FFFFFF"/>
      </a:lt1>
      <a:dk2>
        <a:srgbClr val="6E7878"/>
      </a:dk2>
      <a:lt2>
        <a:srgbClr val="6E7878"/>
      </a:lt2>
      <a:accent1>
        <a:srgbClr val="AAB4B4"/>
      </a:accent1>
      <a:accent2>
        <a:srgbClr val="E15759"/>
      </a:accent2>
      <a:accent3>
        <a:srgbClr val="4E79A7"/>
      </a:accent3>
      <a:accent4>
        <a:srgbClr val="76B7B2"/>
      </a:accent4>
      <a:accent5>
        <a:srgbClr val="F28E2B"/>
      </a:accent5>
      <a:accent6>
        <a:srgbClr val="BCD727"/>
      </a:accent6>
      <a:hlink>
        <a:srgbClr val="BCD727"/>
      </a:hlink>
      <a:folHlink>
        <a:srgbClr val="954F72"/>
      </a:folHlink>
    </a:clrScheme>
    <a:fontScheme name="Open Box Fonts">
      <a:majorFont>
        <a:latin typeface="Proxima Nova Lt"/>
        <a:ea typeface=""/>
        <a:cs typeface=""/>
      </a:majorFont>
      <a:minorFont>
        <a:latin typeface="Proxima Nova L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1ffbd5dc-7a64-4097-8396-87f6c90b212f">
      <Value>12</Value>
      <Value>10</Value>
      <Value>1</Value>
    </TaxCatchAll>
    <nae5750f31d8428b9a1182bd8e59d390 xmlns="1ffbd5dc-7a64-4097-8396-87f6c90b212f">
      <Terms xmlns="http://schemas.microsoft.com/office/infopath/2007/PartnerControls">
        <TermInfo xmlns="http://schemas.microsoft.com/office/infopath/2007/PartnerControls">
          <TermName xmlns="http://schemas.microsoft.com/office/infopath/2007/PartnerControls">Custom Software</TermName>
          <TermId xmlns="http://schemas.microsoft.com/office/infopath/2007/PartnerControls">cecfb662-fc63-4c9e-b6e4-2e3797fe6f4f</TermId>
        </TermInfo>
      </Terms>
    </nae5750f31d8428b9a1182bd8e59d390>
    <k6ebf865df8440b3a55c1aa81c9bae7c xmlns="1ffbd5dc-7a64-4097-8396-87f6c90b212f">
      <Terms xmlns="http://schemas.microsoft.com/office/infopath/2007/PartnerControls">
        <TermInfo xmlns="http://schemas.microsoft.com/office/infopath/2007/PartnerControls">
          <TermName xmlns="http://schemas.microsoft.com/office/infopath/2007/PartnerControls">Presentation</TermName>
          <TermId xmlns="http://schemas.microsoft.com/office/infopath/2007/PartnerControls">02c40aa7-d2e0-4382-9499-d2253b5d2a95</TermId>
        </TermInfo>
      </Terms>
    </k6ebf865df8440b3a55c1aa81c9bae7c>
    <ica44df5449d49f98766f83f0bd254a7 xmlns="1ffbd5dc-7a64-4097-8396-87f6c90b212f">
      <Terms xmlns="http://schemas.microsoft.com/office/infopath/2007/PartnerControls">
        <TermInfo xmlns="http://schemas.microsoft.com/office/infopath/2007/PartnerControls">
          <TermName xmlns="http://schemas.microsoft.com/office/infopath/2007/PartnerControls">WS Development</TermName>
          <TermId xmlns="http://schemas.microsoft.com/office/infopath/2007/PartnerControls">77821d6b-8d5b-43e3-be80-585fe7b3d172</TermId>
        </TermInfo>
      </Terms>
    </ica44df5449d49f98766f83f0bd254a7>
    <f0dc22cb723843c1bfbb2e8bcc9db6e4 xmlns="1ffbd5dc-7a64-4097-8396-87f6c90b212f">
      <Terms xmlns="http://schemas.microsoft.com/office/infopath/2007/PartnerControls"/>
    </f0dc22cb723843c1bfbb2e8bcc9db6e4>
  </documentManagement>
</p:properties>
</file>

<file path=customXml/item3.xml><?xml version="1.0" encoding="utf-8"?>
<ct:contentTypeSchema xmlns:ct="http://schemas.microsoft.com/office/2006/metadata/contentType" xmlns:ma="http://schemas.microsoft.com/office/2006/metadata/properties/metaAttributes" ct:_="" ma:_="" ma:contentTypeName="Client Project Document" ma:contentTypeID="0x010100B16301FA1C2D5E4DB9305F31D037531D02070300B4E123A7400DE24C83BA9D1BFCD12C10" ma:contentTypeVersion="3" ma:contentTypeDescription="A document associated with a project for a client." ma:contentTypeScope="" ma:versionID="9d6581bc5c99e8ea3938d4fa8ba888f5">
  <xsd:schema xmlns:xsd="http://www.w3.org/2001/XMLSchema" xmlns:xs="http://www.w3.org/2001/XMLSchema" xmlns:p="http://schemas.microsoft.com/office/2006/metadata/properties" xmlns:ns2="1ffbd5dc-7a64-4097-8396-87f6c90b212f" targetNamespace="http://schemas.microsoft.com/office/2006/metadata/properties" ma:root="true" ma:fieldsID="a0c1b2c62e26289b034b466cfffa7cd3" ns2:_="">
    <xsd:import namespace="1ffbd5dc-7a64-4097-8396-87f6c90b212f"/>
    <xsd:element name="properties">
      <xsd:complexType>
        <xsd:sequence>
          <xsd:element name="documentManagement">
            <xsd:complexType>
              <xsd:all>
                <xsd:element ref="ns2:TaxCatchAll" minOccurs="0"/>
                <xsd:element ref="ns2:TaxCatchAllLabel" minOccurs="0"/>
                <xsd:element ref="ns2:nae5750f31d8428b9a1182bd8e59d390" minOccurs="0"/>
                <xsd:element ref="ns2:ica44df5449d49f98766f83f0bd254a7" minOccurs="0"/>
                <xsd:element ref="ns2:f0dc22cb723843c1bfbb2e8bcc9db6e4" minOccurs="0"/>
                <xsd:element ref="ns2:k6ebf865df8440b3a55c1aa81c9bae7c"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ffbd5dc-7a64-4097-8396-87f6c90b212f"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45250ea2-cfef-416b-9e22-46de40794d29}" ma:internalName="TaxCatchAll" ma:showField="CatchAllData"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45250ea2-cfef-416b-9e22-46de40794d29}" ma:internalName="TaxCatchAllLabel" ma:readOnly="true" ma:showField="CatchAllDataLabel" ma:web="025eec05-af72-44fb-9d53-267083c6e741">
      <xsd:complexType>
        <xsd:complexContent>
          <xsd:extension base="dms:MultiChoiceLookup">
            <xsd:sequence>
              <xsd:element name="Value" type="dms:Lookup" maxOccurs="unbounded" minOccurs="0" nillable="true"/>
            </xsd:sequence>
          </xsd:extension>
        </xsd:complexContent>
      </xsd:complexType>
    </xsd:element>
    <xsd:element name="nae5750f31d8428b9a1182bd8e59d390" ma:index="10" ma:taxonomy="true" ma:internalName="nae5750f31d8428b9a1182bd8e59d390" ma:taxonomyFieldName="Division" ma:displayName="Division" ma:readOnly="false" ma:default="1;#Custom Software|cecfb662-fc63-4c9e-b6e4-2e3797fe6f4f" ma:fieldId="{7ae5750f-31d8-428b-9a11-82bd8e59d390}" ma:sspId="5676dd91-060c-4b71-810a-dbdca5582071" ma:termSetId="32b39d25-b397-4982-8e8d-74d5df186044" ma:anchorId="00000000-0000-0000-0000-000000000000" ma:open="false" ma:isKeyword="false">
      <xsd:complexType>
        <xsd:sequence>
          <xsd:element ref="pc:Terms" minOccurs="0" maxOccurs="1"/>
        </xsd:sequence>
      </xsd:complexType>
    </xsd:element>
    <xsd:element name="ica44df5449d49f98766f83f0bd254a7" ma:index="12" ma:taxonomy="true" ma:internalName="ica44df5449d49f98766f83f0bd254a7" ma:taxonomyFieldName="Client" ma:displayName="Client" ma:default="6;#Grainger PLC|a74f1cb5-e995-4f9e-8521-6d52e2c6bf08" ma:fieldId="{2ca44df5-449d-49f9-8766-f83f0bd254a7}" ma:sspId="5676dd91-060c-4b71-810a-dbdca5582071" ma:termSetId="26f19758-7225-4257-8796-285d454d16a6" ma:anchorId="00000000-0000-0000-0000-000000000000" ma:open="false" ma:isKeyword="false">
      <xsd:complexType>
        <xsd:sequence>
          <xsd:element ref="pc:Terms" minOccurs="0" maxOccurs="1"/>
        </xsd:sequence>
      </xsd:complexType>
    </xsd:element>
    <xsd:element name="f0dc22cb723843c1bfbb2e8bcc9db6e4" ma:index="14" nillable="true" ma:taxonomy="true" ma:internalName="f0dc22cb723843c1bfbb2e8bcc9db6e4" ma:taxonomyFieldName="Client_x0020_Project" ma:displayName="Client Application" ma:default="" ma:fieldId="{f0dc22cb-7238-43c1-bfbb-2e8bcc9db6e4}" ma:sspId="5676dd91-060c-4b71-810a-dbdca5582071" ma:termSetId="503923a6-a4d2-4c0f-8ec0-fee4966b50a0" ma:anchorId="00000000-0000-0000-0000-000000000000" ma:open="false" ma:isKeyword="false">
      <xsd:complexType>
        <xsd:sequence>
          <xsd:element ref="pc:Terms" minOccurs="0" maxOccurs="1"/>
        </xsd:sequence>
      </xsd:complexType>
    </xsd:element>
    <xsd:element name="k6ebf865df8440b3a55c1aa81c9bae7c" ma:index="16" nillable="true" ma:taxonomy="true" ma:internalName="k6ebf865df8440b3a55c1aa81c9bae7c" ma:taxonomyFieldName="Project_x0020_Document_x0020_Type" ma:displayName="Project Document Type" ma:default="4;#Generic Project Document|258c2ed6-b93b-4ffe-8901-a23f2dc98ec9" ma:fieldId="{46ebf865-df84-40b3-a55c-1aa81c9bae7c}" ma:sspId="5676dd91-060c-4b71-810a-dbdca5582071" ma:termSetId="79e5d870-6e8b-4a88-8554-c2a1e06e1585" ma:anchorId="00000000-0000-0000-0000-000000000000" ma:open="false" ma:isKeyword="false">
      <xsd:complexType>
        <xsd:sequence>
          <xsd:element ref="pc:Terms" minOccurs="0" maxOccurs="1"/>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haredContentType xmlns="Microsoft.SharePoint.Taxonomy.ContentTypeSync" SourceId="5676dd91-060c-4b71-810a-dbdca5582071" ContentTypeId="0x010100B16301FA1C2D5E4DB9305F31D037531D020703" PreviousValue="false"/>
</file>

<file path=customXml/itemProps1.xml><?xml version="1.0" encoding="utf-8"?>
<ds:datastoreItem xmlns:ds="http://schemas.openxmlformats.org/officeDocument/2006/customXml" ds:itemID="{FE0A4FC1-74BD-496D-A0A1-41BECF801D37}">
  <ds:schemaRefs>
    <ds:schemaRef ds:uri="http://schemas.microsoft.com/sharepoint/v3/contenttype/forms"/>
  </ds:schemaRefs>
</ds:datastoreItem>
</file>

<file path=customXml/itemProps2.xml><?xml version="1.0" encoding="utf-8"?>
<ds:datastoreItem xmlns:ds="http://schemas.openxmlformats.org/officeDocument/2006/customXml" ds:itemID="{3CCB5E0C-6DBE-4B5A-8AAC-998D2993C1EE}">
  <ds:schemaRefs>
    <ds:schemaRef ds:uri="http://schemas.microsoft.com/office/2006/documentManagement/types"/>
    <ds:schemaRef ds:uri="http://schemas.microsoft.com/office/2006/metadata/properties"/>
    <ds:schemaRef ds:uri="http://purl.org/dc/elements/1.1/"/>
    <ds:schemaRef ds:uri="http://schemas.microsoft.com/office/infopath/2007/PartnerControls"/>
    <ds:schemaRef ds:uri="http://purl.org/dc/dcmitype/"/>
    <ds:schemaRef ds:uri="http://schemas.openxmlformats.org/package/2006/metadata/core-properties"/>
    <ds:schemaRef ds:uri="1ffbd5dc-7a64-4097-8396-87f6c90b212f"/>
    <ds:schemaRef ds:uri="http://www.w3.org/XML/1998/namespace"/>
    <ds:schemaRef ds:uri="http://purl.org/dc/terms/"/>
  </ds:schemaRefs>
</ds:datastoreItem>
</file>

<file path=customXml/itemProps3.xml><?xml version="1.0" encoding="utf-8"?>
<ds:datastoreItem xmlns:ds="http://schemas.openxmlformats.org/officeDocument/2006/customXml" ds:itemID="{F0235283-07B0-4355-B32F-6CE5CDA56A66}"/>
</file>

<file path=customXml/itemProps4.xml><?xml version="1.0" encoding="utf-8"?>
<ds:datastoreItem xmlns:ds="http://schemas.openxmlformats.org/officeDocument/2006/customXml" ds:itemID="{B6D72C02-E279-4A6C-B107-81FD29039443}">
  <ds:schemaRefs>
    <ds:schemaRef ds:uri="Microsoft.SharePoint.Taxonomy.ContentTypeSync"/>
  </ds:schemaRefs>
</ds:datastoreItem>
</file>

<file path=docProps/app.xml><?xml version="1.0" encoding="utf-8"?>
<Properties xmlns="http://schemas.openxmlformats.org/officeDocument/2006/extended-properties" xmlns:vt="http://schemas.openxmlformats.org/officeDocument/2006/docPropsVTypes">
  <Template>General Presentation Theme</Template>
  <TotalTime>7805</TotalTime>
  <Words>1974</Words>
  <Application>Microsoft Macintosh PowerPoint</Application>
  <PresentationFormat>Widescreen</PresentationFormat>
  <Paragraphs>161</Paragraphs>
  <Slides>15</Slides>
  <Notes>5</Notes>
  <HiddenSlides>0</HiddenSlides>
  <MMClips>0</MMClips>
  <ScaleCrop>false</ScaleCrop>
  <HeadingPairs>
    <vt:vector size="6" baseType="variant">
      <vt:variant>
        <vt:lpstr>Fonts Used</vt:lpstr>
      </vt:variant>
      <vt:variant>
        <vt:i4>6</vt:i4>
      </vt:variant>
      <vt:variant>
        <vt:lpstr>Theme</vt:lpstr>
      </vt:variant>
      <vt:variant>
        <vt:i4>6</vt:i4>
      </vt:variant>
      <vt:variant>
        <vt:lpstr>Slide Titles</vt:lpstr>
      </vt:variant>
      <vt:variant>
        <vt:i4>15</vt:i4>
      </vt:variant>
    </vt:vector>
  </HeadingPairs>
  <TitlesOfParts>
    <vt:vector size="27" baseType="lpstr">
      <vt:lpstr>Arial</vt:lpstr>
      <vt:lpstr>Calibri</vt:lpstr>
      <vt:lpstr>Proxima Nova Lt</vt:lpstr>
      <vt:lpstr>Proxima Nova Rg</vt:lpstr>
      <vt:lpstr>Times New Roman</vt:lpstr>
      <vt:lpstr>Verdana</vt:lpstr>
      <vt:lpstr>1. Title Slides</vt:lpstr>
      <vt:lpstr>1_1. Title Slides</vt:lpstr>
      <vt:lpstr>2. Agenda</vt:lpstr>
      <vt:lpstr>3. City Background</vt:lpstr>
      <vt:lpstr>4. Blank Background</vt:lpstr>
      <vt:lpstr>Full Blank</vt:lpstr>
      <vt:lpstr>Salesforce Implementation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Skye Van Aswegen</dc:creator>
  <cp:lastModifiedBy>Sam Duncan</cp:lastModifiedBy>
  <cp:revision>51</cp:revision>
  <dcterms:created xsi:type="dcterms:W3CDTF">2017-07-12T09:03:21Z</dcterms:created>
  <dcterms:modified xsi:type="dcterms:W3CDTF">2023-03-29T12:55:58Z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0x010100B16301FA1C2D5E4DB9305F31D037531D02070300B4E123A7400DE24C83BA9D1BFCD12C10</vt:lpwstr>
  </property>
  <property fmtid="{D5CDD505-2E9C-101B-9397-08002B2CF9AE}" pid="3" name="Business Document Type">
    <vt:lpwstr>5;#Marketing Document|83188caa-7371-410d-bb78-033c2f6b2dcb</vt:lpwstr>
  </property>
  <property fmtid="{D5CDD505-2E9C-101B-9397-08002B2CF9AE}" pid="4" name="display_urn">
    <vt:lpwstr>Skye Van Aswegen</vt:lpwstr>
  </property>
  <property fmtid="{D5CDD505-2E9C-101B-9397-08002B2CF9AE}" pid="5" name="Order">
    <vt:r8>41700</vt:r8>
  </property>
  <property fmtid="{D5CDD505-2E9C-101B-9397-08002B2CF9AE}" pid="6" name="xd_Signature">
    <vt:bool>false</vt:bool>
  </property>
  <property fmtid="{D5CDD505-2E9C-101B-9397-08002B2CF9AE}" pid="7" name="xd_ProgID">
    <vt:lpwstr/>
  </property>
  <property fmtid="{D5CDD505-2E9C-101B-9397-08002B2CF9AE}" pid="8" name="ComplianceAssetId">
    <vt:lpwstr/>
  </property>
  <property fmtid="{D5CDD505-2E9C-101B-9397-08002B2CF9AE}" pid="9" name="TemplateUrl">
    <vt:lpwstr/>
  </property>
  <property fmtid="{D5CDD505-2E9C-101B-9397-08002B2CF9AE}" pid="10" name="AuthorIds_UIVersion_3">
    <vt:lpwstr>22</vt:lpwstr>
  </property>
  <property fmtid="{D5CDD505-2E9C-101B-9397-08002B2CF9AE}" pid="11" name="AuthorIds_UIVersion_4">
    <vt:lpwstr>27</vt:lpwstr>
  </property>
  <property fmtid="{D5CDD505-2E9C-101B-9397-08002B2CF9AE}" pid="12" name="lcf76f155ced4ddcb4097134ff3c332f">
    <vt:lpwstr/>
  </property>
  <property fmtid="{D5CDD505-2E9C-101B-9397-08002B2CF9AE}" pid="13" name="MediaServiceImageTags">
    <vt:lpwstr/>
  </property>
  <property fmtid="{D5CDD505-2E9C-101B-9397-08002B2CF9AE}" pid="14" name="Project Document Type">
    <vt:lpwstr/>
  </property>
  <property fmtid="{D5CDD505-2E9C-101B-9397-08002B2CF9AE}" pid="15" name="Division">
    <vt:lpwstr>1;#Custom Software|cecfb662-fc63-4c9e-b6e4-2e3797fe6f4f</vt:lpwstr>
  </property>
  <property fmtid="{D5CDD505-2E9C-101B-9397-08002B2CF9AE}" pid="16" name="Client">
    <vt:lpwstr>10;#WS Development|77821d6b-8d5b-43e3-be80-585fe7b3d172</vt:lpwstr>
  </property>
  <property fmtid="{D5CDD505-2E9C-101B-9397-08002B2CF9AE}" pid="17" name="Client Project">
    <vt:lpwstr/>
  </property>
  <property fmtid="{D5CDD505-2E9C-101B-9397-08002B2CF9AE}" pid="18" name="SharedWithUsers">
    <vt:lpwstr>177;#Handre Van Der Merwe;#210;#Sam Duncan;#23;#Craig Mackintosh</vt:lpwstr>
  </property>
  <property fmtid="{D5CDD505-2E9C-101B-9397-08002B2CF9AE}" pid="19" name="Prospective Client">
    <vt:lpwstr/>
  </property>
  <property fmtid="{D5CDD505-2E9C-101B-9397-08002B2CF9AE}" pid="20" name="Prospective_x0020_Client">
    <vt:lpwstr/>
  </property>
  <property fmtid="{D5CDD505-2E9C-101B-9397-08002B2CF9AE}" pid="21" name="Project_x0020_Document_x0020_Type">
    <vt:lpwstr/>
  </property>
  <property fmtid="{D5CDD505-2E9C-101B-9397-08002B2CF9AE}" pid="22" name="Client_x0020_Project">
    <vt:lpwstr/>
  </property>
</Properties>
</file>