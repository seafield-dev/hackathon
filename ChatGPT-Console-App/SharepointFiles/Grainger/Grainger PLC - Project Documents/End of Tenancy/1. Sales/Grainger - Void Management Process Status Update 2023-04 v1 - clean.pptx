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5"/>
    <p:sldMasterId id="2147483684" r:id="rId6"/>
    <p:sldMasterId id="2147483677" r:id="rId7"/>
    <p:sldMasterId id="2147483663" r:id="rId8"/>
    <p:sldMasterId id="2147483653" r:id="rId9"/>
    <p:sldMasterId id="2147483682" r:id="rId10"/>
  </p:sldMasterIdLst>
  <p:notesMasterIdLst>
    <p:notesMasterId r:id="rId24"/>
  </p:notesMasterIdLst>
  <p:sldIdLst>
    <p:sldId id="310" r:id="rId11"/>
    <p:sldId id="530" r:id="rId12"/>
    <p:sldId id="531" r:id="rId13"/>
    <p:sldId id="532" r:id="rId14"/>
    <p:sldId id="533" r:id="rId15"/>
    <p:sldId id="534" r:id="rId16"/>
    <p:sldId id="535" r:id="rId17"/>
    <p:sldId id="525" r:id="rId18"/>
    <p:sldId id="526" r:id="rId19"/>
    <p:sldId id="536" r:id="rId20"/>
    <p:sldId id="451" r:id="rId21"/>
    <p:sldId id="528" r:id="rId22"/>
    <p:sldId id="52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6355633-B58B-FA2B-F94C-72D860131590}" name="Craig Mackintosh" initials="CM" userId="S::cmackintosh@openboxsoftware.com::60563cfe-5481-48be-93e8-059b7c3b7ecd" providerId="AD"/>
  <p188:author id="{C2738A47-0931-5B04-1172-CB56C1D1FB87}" name="Nikki Papenfus" initials="NP" userId="S::npapenfus@openboxsoftware.com::2a405823-0c8b-419b-afb6-8159926c2e17" providerId="AD"/>
  <p188:author id="{B27D6C62-A87E-9EA8-949E-BE3DB87D866D}" name="Shaun Barrett" initials="SB" userId="S::sbarrett@openboxsoftware.com::2e21295b-21c9-4734-b4c8-23b29a1a1ba3" providerId="AD"/>
  <p188:author id="{F676EB76-A351-5D1A-90C7-82F15A7D79D3}" name="Handre Van Der Merwe" initials="HVDM" userId="S::hvandermerwe@openboxsoftware.com::cff7518e-6e24-4c87-9d41-565d39f45972" providerId="AD"/>
  <p188:author id="{411D59CB-E194-D74B-FCF5-28A77AEB51E7}" name="Sam Duncan" initials="SD" userId="S::sduncan@openboxsoftware.com::c1d0992b-0ec5-443a-8c6c-87e1361e2b1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727"/>
    <a:srgbClr val="7F7F7F"/>
    <a:srgbClr val="999999"/>
    <a:srgbClr val="B4B8B8"/>
    <a:srgbClr val="D9D9D9"/>
    <a:srgbClr val="DDEB91"/>
    <a:srgbClr val="B7DDE8"/>
    <a:srgbClr val="F0B968"/>
    <a:srgbClr val="D8D8D8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0499A3-C815-C102-579D-1198E5F1811F}" v="3" dt="2023-04-24T14:52:26.655"/>
    <p1510:client id="{B7F963E0-68D2-4D0B-ADD6-8E70AA242386}" v="135" vWet="137" dt="2023-04-24T12:42:51.126"/>
    <p1510:client id="{D317744B-A73E-4F31-BE67-18DFFACE423D}" v="70" vWet="72" dt="2023-04-24T12:58:19.935"/>
    <p1510:client id="{E9999668-465C-0346-B597-DB2388A7F0CF}" v="3" dt="2023-04-24T14:55:15.192"/>
    <p1510:client id="{FCAFD60E-CF2A-96BB-4AB8-2DD6407F5E73}" v="3507" dt="2023-04-24T14:49:36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1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Master" Target="slideMasters/slideMaster6.xml"/><Relationship Id="rId19" Type="http://schemas.openxmlformats.org/officeDocument/2006/relationships/slide" Target="slides/slide9.xml"/><Relationship Id="rId31" Type="http://schemas.microsoft.com/office/2018/10/relationships/authors" Target="author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Duncan" userId="S::sduncan@openboxsoftware.com::c1d0992b-0ec5-443a-8c6c-87e1361e2b1d" providerId="AD" clId="Web-{AC0499A3-C815-C102-579D-1198E5F1811F}"/>
    <pc:docChg chg="modSld">
      <pc:chgData name="Sam Duncan" userId="S::sduncan@openboxsoftware.com::c1d0992b-0ec5-443a-8c6c-87e1361e2b1d" providerId="AD" clId="Web-{AC0499A3-C815-C102-579D-1198E5F1811F}" dt="2023-04-24T14:52:25.624" v="1"/>
      <pc:docMkLst>
        <pc:docMk/>
      </pc:docMkLst>
      <pc:sldChg chg="modSp mod modClrScheme chgLayout">
        <pc:chgData name="Sam Duncan" userId="S::sduncan@openboxsoftware.com::c1d0992b-0ec5-443a-8c6c-87e1361e2b1d" providerId="AD" clId="Web-{AC0499A3-C815-C102-579D-1198E5F1811F}" dt="2023-04-24T14:52:25.624" v="1"/>
        <pc:sldMkLst>
          <pc:docMk/>
          <pc:sldMk cId="1027954244" sldId="310"/>
        </pc:sldMkLst>
        <pc:spChg chg="mod ord">
          <ac:chgData name="Sam Duncan" userId="S::sduncan@openboxsoftware.com::c1d0992b-0ec5-443a-8c6c-87e1361e2b1d" providerId="AD" clId="Web-{AC0499A3-C815-C102-579D-1198E5F1811F}" dt="2023-04-24T14:52:25.624" v="1"/>
          <ac:spMkLst>
            <pc:docMk/>
            <pc:sldMk cId="1027954244" sldId="310"/>
            <ac:spMk id="2" creationId="{926268CD-6A91-46D5-9F2E-D63140C574C1}"/>
          </ac:spMkLst>
        </pc:spChg>
      </pc:sldChg>
    </pc:docChg>
  </pc:docChgLst>
  <pc:docChgLst>
    <pc:chgData name="Sam Duncan" userId="c1d0992b-0ec5-443a-8c6c-87e1361e2b1d" providerId="ADAL" clId="{E9999668-465C-0346-B597-DB2388A7F0CF}"/>
    <pc:docChg chg="custSel addSld delSld modSld modMainMaster">
      <pc:chgData name="Sam Duncan" userId="c1d0992b-0ec5-443a-8c6c-87e1361e2b1d" providerId="ADAL" clId="{E9999668-465C-0346-B597-DB2388A7F0CF}" dt="2023-04-24T14:56:21.618" v="22" actId="2696"/>
      <pc:docMkLst>
        <pc:docMk/>
      </pc:docMkLst>
      <pc:sldChg chg="addSp delSp modSp del mod modClrScheme chgLayout">
        <pc:chgData name="Sam Duncan" userId="c1d0992b-0ec5-443a-8c6c-87e1361e2b1d" providerId="ADAL" clId="{E9999668-465C-0346-B597-DB2388A7F0CF}" dt="2023-04-24T14:56:21.618" v="22" actId="2696"/>
        <pc:sldMkLst>
          <pc:docMk/>
          <pc:sldMk cId="89667174" sldId="461"/>
        </pc:sldMkLst>
        <pc:spChg chg="mod ord">
          <ac:chgData name="Sam Duncan" userId="c1d0992b-0ec5-443a-8c6c-87e1361e2b1d" providerId="ADAL" clId="{E9999668-465C-0346-B597-DB2388A7F0CF}" dt="2023-04-24T14:55:53.142" v="10" actId="700"/>
          <ac:spMkLst>
            <pc:docMk/>
            <pc:sldMk cId="89667174" sldId="461"/>
            <ac:spMk id="2" creationId="{9BEB2F47-3F1E-4B42-822A-F48433BEE2DA}"/>
          </ac:spMkLst>
        </pc:spChg>
        <pc:spChg chg="add del mod">
          <ac:chgData name="Sam Duncan" userId="c1d0992b-0ec5-443a-8c6c-87e1361e2b1d" providerId="ADAL" clId="{E9999668-465C-0346-B597-DB2388A7F0CF}" dt="2023-04-24T14:55:18.341" v="9"/>
          <ac:spMkLst>
            <pc:docMk/>
            <pc:sldMk cId="89667174" sldId="461"/>
            <ac:spMk id="3" creationId="{EBD49A30-D141-8DC8-D47A-F6ED816E033B}"/>
          </ac:spMkLst>
        </pc:spChg>
      </pc:sldChg>
      <pc:sldChg chg="addSp modSp mod modClrScheme chgLayout">
        <pc:chgData name="Sam Duncan" userId="c1d0992b-0ec5-443a-8c6c-87e1361e2b1d" providerId="ADAL" clId="{E9999668-465C-0346-B597-DB2388A7F0CF}" dt="2023-04-24T14:54:57.837" v="5" actId="700"/>
        <pc:sldMkLst>
          <pc:docMk/>
          <pc:sldMk cId="3299119000" sldId="525"/>
        </pc:sldMkLst>
        <pc:spChg chg="mod ord">
          <ac:chgData name="Sam Duncan" userId="c1d0992b-0ec5-443a-8c6c-87e1361e2b1d" providerId="ADAL" clId="{E9999668-465C-0346-B597-DB2388A7F0CF}" dt="2023-04-24T14:54:57.837" v="5" actId="700"/>
          <ac:spMkLst>
            <pc:docMk/>
            <pc:sldMk cId="3299119000" sldId="525"/>
            <ac:spMk id="2" creationId="{124CE4A1-8ECE-C29D-93FB-98B7D86CBB5A}"/>
          </ac:spMkLst>
        </pc:spChg>
        <pc:spChg chg="add mod ord">
          <ac:chgData name="Sam Duncan" userId="c1d0992b-0ec5-443a-8c6c-87e1361e2b1d" providerId="ADAL" clId="{E9999668-465C-0346-B597-DB2388A7F0CF}" dt="2023-04-24T14:54:57.837" v="5" actId="700"/>
          <ac:spMkLst>
            <pc:docMk/>
            <pc:sldMk cId="3299119000" sldId="525"/>
            <ac:spMk id="5" creationId="{5556AA2A-A4FF-D607-3565-3B02900C0EA7}"/>
          </ac:spMkLst>
        </pc:spChg>
      </pc:sldChg>
      <pc:sldChg chg="addSp modSp mod modClrScheme chgLayout">
        <pc:chgData name="Sam Duncan" userId="c1d0992b-0ec5-443a-8c6c-87e1361e2b1d" providerId="ADAL" clId="{E9999668-465C-0346-B597-DB2388A7F0CF}" dt="2023-04-24T14:55:02.323" v="6" actId="700"/>
        <pc:sldMkLst>
          <pc:docMk/>
          <pc:sldMk cId="3279054808" sldId="526"/>
        </pc:sldMkLst>
        <pc:spChg chg="mod ord">
          <ac:chgData name="Sam Duncan" userId="c1d0992b-0ec5-443a-8c6c-87e1361e2b1d" providerId="ADAL" clId="{E9999668-465C-0346-B597-DB2388A7F0CF}" dt="2023-04-24T14:55:02.323" v="6" actId="700"/>
          <ac:spMkLst>
            <pc:docMk/>
            <pc:sldMk cId="3279054808" sldId="526"/>
            <ac:spMk id="2" creationId="{124CE4A1-8ECE-C29D-93FB-98B7D86CBB5A}"/>
          </ac:spMkLst>
        </pc:spChg>
        <pc:spChg chg="add mod ord">
          <ac:chgData name="Sam Duncan" userId="c1d0992b-0ec5-443a-8c6c-87e1361e2b1d" providerId="ADAL" clId="{E9999668-465C-0346-B597-DB2388A7F0CF}" dt="2023-04-24T14:55:02.323" v="6" actId="700"/>
          <ac:spMkLst>
            <pc:docMk/>
            <pc:sldMk cId="3279054808" sldId="526"/>
            <ac:spMk id="4" creationId="{66817CB8-946A-E4C1-B529-7DF64740A3FC}"/>
          </ac:spMkLst>
        </pc:spChg>
      </pc:sldChg>
      <pc:sldChg chg="modSp add mod">
        <pc:chgData name="Sam Duncan" userId="c1d0992b-0ec5-443a-8c6c-87e1361e2b1d" providerId="ADAL" clId="{E9999668-465C-0346-B597-DB2388A7F0CF}" dt="2023-04-24T14:56:13.052" v="21" actId="20577"/>
        <pc:sldMkLst>
          <pc:docMk/>
          <pc:sldMk cId="2031770907" sldId="536"/>
        </pc:sldMkLst>
        <pc:spChg chg="mod">
          <ac:chgData name="Sam Duncan" userId="c1d0992b-0ec5-443a-8c6c-87e1361e2b1d" providerId="ADAL" clId="{E9999668-465C-0346-B597-DB2388A7F0CF}" dt="2023-04-24T14:56:13.052" v="21" actId="20577"/>
          <ac:spMkLst>
            <pc:docMk/>
            <pc:sldMk cId="2031770907" sldId="536"/>
            <ac:spMk id="2" creationId="{9BEB2F47-3F1E-4B42-822A-F48433BEE2DA}"/>
          </ac:spMkLst>
        </pc:spChg>
      </pc:sldChg>
      <pc:sldMasterChg chg="delSp mod">
        <pc:chgData name="Sam Duncan" userId="c1d0992b-0ec5-443a-8c6c-87e1361e2b1d" providerId="ADAL" clId="{E9999668-465C-0346-B597-DB2388A7F0CF}" dt="2023-04-24T14:54:25.451" v="4" actId="478"/>
        <pc:sldMasterMkLst>
          <pc:docMk/>
          <pc:sldMasterMk cId="3148813084" sldId="2147483653"/>
        </pc:sldMasterMkLst>
        <pc:picChg chg="del">
          <ac:chgData name="Sam Duncan" userId="c1d0992b-0ec5-443a-8c6c-87e1361e2b1d" providerId="ADAL" clId="{E9999668-465C-0346-B597-DB2388A7F0CF}" dt="2023-04-24T14:54:25.451" v="4" actId="478"/>
          <ac:picMkLst>
            <pc:docMk/>
            <pc:sldMasterMk cId="3148813084" sldId="2147483653"/>
            <ac:picMk id="7" creationId="{00000000-0000-0000-0000-000000000000}"/>
          </ac:picMkLst>
        </pc:picChg>
      </pc:sldMasterChg>
      <pc:sldMasterChg chg="delSp modSp mod">
        <pc:chgData name="Sam Duncan" userId="c1d0992b-0ec5-443a-8c6c-87e1361e2b1d" providerId="ADAL" clId="{E9999668-465C-0346-B597-DB2388A7F0CF}" dt="2023-04-24T14:53:44.557" v="3" actId="1076"/>
        <pc:sldMasterMkLst>
          <pc:docMk/>
          <pc:sldMasterMk cId="22503257" sldId="2147483684"/>
        </pc:sldMasterMkLst>
        <pc:picChg chg="del">
          <ac:chgData name="Sam Duncan" userId="c1d0992b-0ec5-443a-8c6c-87e1361e2b1d" providerId="ADAL" clId="{E9999668-465C-0346-B597-DB2388A7F0CF}" dt="2023-04-24T14:53:40.359" v="1" actId="478"/>
          <ac:picMkLst>
            <pc:docMk/>
            <pc:sldMasterMk cId="22503257" sldId="2147483684"/>
            <ac:picMk id="3" creationId="{00000000-0000-0000-0000-000000000000}"/>
          </ac:picMkLst>
        </pc:picChg>
        <pc:picChg chg="del">
          <ac:chgData name="Sam Duncan" userId="c1d0992b-0ec5-443a-8c6c-87e1361e2b1d" providerId="ADAL" clId="{E9999668-465C-0346-B597-DB2388A7F0CF}" dt="2023-04-24T14:53:38.528" v="0" actId="478"/>
          <ac:picMkLst>
            <pc:docMk/>
            <pc:sldMasterMk cId="22503257" sldId="2147483684"/>
            <ac:picMk id="8" creationId="{00000000-0000-0000-0000-000000000000}"/>
          </ac:picMkLst>
        </pc:picChg>
        <pc:picChg chg="mod">
          <ac:chgData name="Sam Duncan" userId="c1d0992b-0ec5-443a-8c6c-87e1361e2b1d" providerId="ADAL" clId="{E9999668-465C-0346-B597-DB2388A7F0CF}" dt="2023-04-24T14:53:44.557" v="3" actId="1076"/>
          <ac:picMkLst>
            <pc:docMk/>
            <pc:sldMasterMk cId="22503257" sldId="2147483684"/>
            <ac:picMk id="1026" creationId="{3A07E050-8C54-7325-478B-2D9B8EAF54EC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C5F7D-AE2E-47C7-8BA2-CC4D7F4E80EF}" type="datetimeFigureOut">
              <a:rPr lang="en-GB" smtClean="0"/>
              <a:t>25/04/2023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9EF18-44DA-4CCF-A8F6-0B08C30105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7601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16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4736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55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195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895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328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215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782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740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A9EF18-44DA-4CCF-A8F6-0B08C3010558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378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3103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5359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rnal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72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277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0A8EC68-FA28-440E-B08D-F8892DE0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493819"/>
            <a:ext cx="10424160" cy="103277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Proxima Nova Lt" panose="02000506030000020004" pitchFamily="50" charset="0"/>
              </a:defRPr>
            </a:lvl1pPr>
          </a:lstStyle>
          <a:p>
            <a:r>
              <a:rPr lang="en-US"/>
              <a:t>Click to edit Master title</a:t>
            </a:r>
            <a:endParaRPr lang="en-ZA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1A641CB-25B6-46DF-B429-231029DE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604203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  <a:latin typeface="Proxima Nova Lt" panose="02000506030000020004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15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2460624" y="2939040"/>
            <a:ext cx="7270751" cy="4899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9288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B7F015-2A57-4B5F-88D9-ACA26915962C}"/>
              </a:ext>
            </a:extLst>
          </p:cNvPr>
          <p:cNvSpPr txBox="1"/>
          <p:nvPr userDrawn="1"/>
        </p:nvSpPr>
        <p:spPr>
          <a:xfrm rot="16200000">
            <a:off x="1937041" y="2916497"/>
            <a:ext cx="3407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3200">
                <a:solidFill>
                  <a:schemeClr val="bg2"/>
                </a:solidFill>
                <a:latin typeface="Proxima Nova Rg" panose="02000506030000020004" pitchFamily="50" charset="0"/>
              </a:rPr>
              <a:t>Agenda</a:t>
            </a:r>
            <a:endParaRPr lang="en-GB" sz="3200">
              <a:solidFill>
                <a:schemeClr val="bg2"/>
              </a:solidFill>
              <a:latin typeface="Proxima Nova Rg" panose="02000506030000020004" pitchFamily="50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E3339-B220-4E3D-AA10-3D4248C27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30688" y="1504950"/>
            <a:ext cx="5786437" cy="3965575"/>
          </a:xfrm>
          <a:prstGeom prst="rect">
            <a:avLst/>
          </a:prstGeom>
        </p:spPr>
        <p:txBody>
          <a:bodyPr/>
          <a:lstStyle>
            <a:lvl1pPr>
              <a:buClr>
                <a:srgbClr val="BCD727"/>
              </a:buClr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1pPr>
            <a:lvl2pPr marL="457200" indent="0">
              <a:buNone/>
              <a:defRPr sz="2000">
                <a:solidFill>
                  <a:schemeClr val="bg2"/>
                </a:solidFill>
                <a:latin typeface="Proxima Nova Lt" panose="02000506030000020004" pitchFamily="50" charset="0"/>
              </a:defRPr>
            </a:lvl2pPr>
            <a:lvl3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3pPr>
            <a:lvl4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4pPr>
            <a:lvl5pPr>
              <a:defRPr>
                <a:solidFill>
                  <a:srgbClr val="7F7F7F"/>
                </a:solidFill>
                <a:latin typeface="Proxima Nova Lt" panose="02000506030000020004" pitchFamily="50" charset="0"/>
              </a:defRPr>
            </a:lvl5pPr>
          </a:lstStyle>
          <a:p>
            <a:pPr lvl="0"/>
            <a:r>
              <a:rPr lang="en-US"/>
              <a:t>Add agenda items here</a:t>
            </a:r>
          </a:p>
          <a:p>
            <a:pPr lvl="0"/>
            <a:r>
              <a:rPr lang="en-US"/>
              <a:t>Another one</a:t>
            </a:r>
          </a:p>
          <a:p>
            <a:pPr lvl="0"/>
            <a:r>
              <a:rPr lang="en-US"/>
              <a:t>And another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044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2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96726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398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o Sky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940444" y="1012789"/>
            <a:ext cx="10872776" cy="39587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0" i="0">
                <a:solidFill>
                  <a:schemeClr val="accent1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4" y="1478256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0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Skyline No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940445" y="366301"/>
            <a:ext cx="8621692" cy="57534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0" i="0">
                <a:solidFill>
                  <a:schemeClr val="bg2"/>
                </a:solidFill>
                <a:latin typeface="Proxima Nova Lt" panose="02000506030000020004" pitchFamily="50" charset="0"/>
                <a:cs typeface="Proxima Nova Lt" panose="02000506030000020004" pitchFamily="50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445" y="975038"/>
            <a:ext cx="1422400" cy="16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65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7418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930" y="1105593"/>
            <a:ext cx="3534140" cy="115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7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51" r:id="rId2"/>
    <p:sldLayoutId id="2147483687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A07E050-8C54-7325-478B-2D9B8EAF54E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543" y="825941"/>
            <a:ext cx="4343400" cy="900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2F76AFB7-1003-4470-A486-9F16A6B0B005}"/>
              </a:ext>
            </a:extLst>
          </p:cNvPr>
          <p:cNvSpPr/>
          <p:nvPr userDrawn="1"/>
        </p:nvSpPr>
        <p:spPr>
          <a:xfrm>
            <a:off x="1310140" y="5533090"/>
            <a:ext cx="286164" cy="29565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12A3F5E3-7A1A-4052-9CA3-E02DE8D7065B}"/>
              </a:ext>
            </a:extLst>
          </p:cNvPr>
          <p:cNvSpPr/>
          <p:nvPr userDrawn="1"/>
        </p:nvSpPr>
        <p:spPr>
          <a:xfrm>
            <a:off x="348921" y="3395313"/>
            <a:ext cx="221860" cy="229214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60109550-75F1-4AF1-8BE0-73B319B04DE9}"/>
              </a:ext>
            </a:extLst>
          </p:cNvPr>
          <p:cNvSpPr/>
          <p:nvPr userDrawn="1"/>
        </p:nvSpPr>
        <p:spPr>
          <a:xfrm>
            <a:off x="2073244" y="5868434"/>
            <a:ext cx="183439" cy="189520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407E0E1-7C84-44F8-84CD-928527462235}"/>
              </a:ext>
            </a:extLst>
          </p:cNvPr>
          <p:cNvSpPr/>
          <p:nvPr userDrawn="1"/>
        </p:nvSpPr>
        <p:spPr>
          <a:xfrm>
            <a:off x="1269783" y="4274682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DE90955-8311-47A8-81B7-FFBE56AC216A}"/>
              </a:ext>
            </a:extLst>
          </p:cNvPr>
          <p:cNvSpPr/>
          <p:nvPr userDrawn="1"/>
        </p:nvSpPr>
        <p:spPr>
          <a:xfrm>
            <a:off x="348921" y="6251747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921F102-C3FC-43DF-B0CD-D09171469D32}"/>
              </a:ext>
            </a:extLst>
          </p:cNvPr>
          <p:cNvSpPr/>
          <p:nvPr userDrawn="1"/>
        </p:nvSpPr>
        <p:spPr>
          <a:xfrm>
            <a:off x="712863" y="5245021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D7F1074A-ABA7-4C76-A743-3636552CF302}"/>
              </a:ext>
            </a:extLst>
          </p:cNvPr>
          <p:cNvSpPr/>
          <p:nvPr userDrawn="1"/>
        </p:nvSpPr>
        <p:spPr>
          <a:xfrm>
            <a:off x="3964862" y="6194444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978C4DE-8EF1-43E3-8107-58EEA77969A2}"/>
              </a:ext>
            </a:extLst>
          </p:cNvPr>
          <p:cNvSpPr/>
          <p:nvPr userDrawn="1"/>
        </p:nvSpPr>
        <p:spPr>
          <a:xfrm>
            <a:off x="2784985" y="6503739"/>
            <a:ext cx="110930" cy="114607"/>
          </a:xfrm>
          <a:prstGeom prst="flowChartConnector">
            <a:avLst/>
          </a:prstGeom>
          <a:solidFill>
            <a:srgbClr val="BCD7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245853-5F6C-4373-A49F-3170CD94818E}"/>
              </a:ext>
            </a:extLst>
          </p:cNvPr>
          <p:cNvCxnSpPr>
            <a:cxnSpLocks/>
            <a:endCxn id="8" idx="5"/>
          </p:cNvCxnSpPr>
          <p:nvPr userDrawn="1"/>
        </p:nvCxnSpPr>
        <p:spPr>
          <a:xfrm>
            <a:off x="459851" y="3509920"/>
            <a:ext cx="904616" cy="86258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67996C-5080-45B2-8D61-8B31A565D2F5}"/>
              </a:ext>
            </a:extLst>
          </p:cNvPr>
          <p:cNvCxnSpPr>
            <a:cxnSpLocks/>
          </p:cNvCxnSpPr>
          <p:nvPr userDrawn="1"/>
        </p:nvCxnSpPr>
        <p:spPr>
          <a:xfrm>
            <a:off x="10111" y="2017340"/>
            <a:ext cx="449740" cy="149258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12C77DD-91B1-4ED2-AA52-6C8C9954B5D4}"/>
              </a:ext>
            </a:extLst>
          </p:cNvPr>
          <p:cNvCxnSpPr>
            <a:cxnSpLocks/>
            <a:endCxn id="10" idx="4"/>
          </p:cNvCxnSpPr>
          <p:nvPr userDrawn="1"/>
        </p:nvCxnSpPr>
        <p:spPr>
          <a:xfrm>
            <a:off x="459851" y="3509920"/>
            <a:ext cx="308477" cy="1849708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8E5930D-6A19-4036-9D4C-D258CF5625A0}"/>
              </a:ext>
            </a:extLst>
          </p:cNvPr>
          <p:cNvCxnSpPr>
            <a:cxnSpLocks/>
            <a:endCxn id="6" idx="5"/>
          </p:cNvCxnSpPr>
          <p:nvPr userDrawn="1"/>
        </p:nvCxnSpPr>
        <p:spPr>
          <a:xfrm>
            <a:off x="1310140" y="4320978"/>
            <a:ext cx="919679" cy="170922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1C82D16-5DA9-4042-A21A-CF15A8791763}"/>
              </a:ext>
            </a:extLst>
          </p:cNvPr>
          <p:cNvCxnSpPr>
            <a:cxnSpLocks/>
            <a:stCxn id="6" idx="6"/>
            <a:endCxn id="11" idx="6"/>
          </p:cNvCxnSpPr>
          <p:nvPr userDrawn="1"/>
        </p:nvCxnSpPr>
        <p:spPr>
          <a:xfrm>
            <a:off x="2256683" y="5963194"/>
            <a:ext cx="1819109" cy="28855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4AC98E-9171-4C0D-8CCD-4697EE1E60DA}"/>
              </a:ext>
            </a:extLst>
          </p:cNvPr>
          <p:cNvCxnSpPr>
            <a:cxnSpLocks/>
          </p:cNvCxnSpPr>
          <p:nvPr userDrawn="1"/>
        </p:nvCxnSpPr>
        <p:spPr>
          <a:xfrm>
            <a:off x="4030752" y="6257930"/>
            <a:ext cx="1645226" cy="5819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8514B0-DA65-4698-AA65-F8FD3E2DD54F}"/>
              </a:ext>
            </a:extLst>
          </p:cNvPr>
          <p:cNvCxnSpPr>
            <a:cxnSpLocks/>
            <a:stCxn id="6" idx="5"/>
            <a:endCxn id="12" idx="5"/>
          </p:cNvCxnSpPr>
          <p:nvPr userDrawn="1"/>
        </p:nvCxnSpPr>
        <p:spPr>
          <a:xfrm>
            <a:off x="2229819" y="6030199"/>
            <a:ext cx="649851" cy="57136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06BFC29-6506-4A19-B7FC-E4D7B504DF92}"/>
              </a:ext>
            </a:extLst>
          </p:cNvPr>
          <p:cNvCxnSpPr>
            <a:cxnSpLocks/>
            <a:stCxn id="12" idx="2"/>
          </p:cNvCxnSpPr>
          <p:nvPr userDrawn="1"/>
        </p:nvCxnSpPr>
        <p:spPr>
          <a:xfrm>
            <a:off x="2784985" y="6561043"/>
            <a:ext cx="738647" cy="2788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A5394-C8F8-416B-955F-23D0B7CE2DCB}"/>
              </a:ext>
            </a:extLst>
          </p:cNvPr>
          <p:cNvCxnSpPr>
            <a:cxnSpLocks/>
            <a:endCxn id="11" idx="6"/>
          </p:cNvCxnSpPr>
          <p:nvPr userDrawn="1"/>
        </p:nvCxnSpPr>
        <p:spPr>
          <a:xfrm flipV="1">
            <a:off x="2784985" y="6251747"/>
            <a:ext cx="1290807" cy="32116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87A2802-863D-4280-87D6-C2BC3ECB4C86}"/>
              </a:ext>
            </a:extLst>
          </p:cNvPr>
          <p:cNvCxnSpPr>
            <a:cxnSpLocks/>
            <a:stCxn id="8" idx="7"/>
            <a:endCxn id="10" idx="4"/>
          </p:cNvCxnSpPr>
          <p:nvPr userDrawn="1"/>
        </p:nvCxnSpPr>
        <p:spPr>
          <a:xfrm flipH="1">
            <a:off x="768328" y="4291465"/>
            <a:ext cx="596139" cy="106816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79BBAB-4A06-47BB-A0F6-D2C4AE9DC31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111" y="4645600"/>
            <a:ext cx="757434" cy="649059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886BE85-506F-42E8-9B51-3F21D8AE86E2}"/>
              </a:ext>
            </a:extLst>
          </p:cNvPr>
          <p:cNvCxnSpPr>
            <a:cxnSpLocks/>
            <a:stCxn id="2" idx="5"/>
          </p:cNvCxnSpPr>
          <p:nvPr userDrawn="1"/>
        </p:nvCxnSpPr>
        <p:spPr>
          <a:xfrm flipH="1" flipV="1">
            <a:off x="768479" y="5303220"/>
            <a:ext cx="785917" cy="482223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8BC2169-009E-42C7-AC15-EA947E762538}"/>
              </a:ext>
            </a:extLst>
          </p:cNvPr>
          <p:cNvCxnSpPr>
            <a:cxnSpLocks/>
            <a:stCxn id="6" idx="6"/>
          </p:cNvCxnSpPr>
          <p:nvPr userDrawn="1"/>
        </p:nvCxnSpPr>
        <p:spPr>
          <a:xfrm flipH="1" flipV="1">
            <a:off x="1326982" y="5641678"/>
            <a:ext cx="929701" cy="321515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3504F00-A334-44C2-80B4-A028B3640367}"/>
              </a:ext>
            </a:extLst>
          </p:cNvPr>
          <p:cNvCxnSpPr>
            <a:cxnSpLocks/>
            <a:stCxn id="2" idx="7"/>
            <a:endCxn id="9" idx="7"/>
          </p:cNvCxnSpPr>
          <p:nvPr userDrawn="1"/>
        </p:nvCxnSpPr>
        <p:spPr>
          <a:xfrm flipH="1">
            <a:off x="443606" y="5576387"/>
            <a:ext cx="1110791" cy="692144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B5A8164-4D7D-4944-B2B6-B1EB90B3C236}"/>
              </a:ext>
            </a:extLst>
          </p:cNvPr>
          <p:cNvCxnSpPr>
            <a:cxnSpLocks/>
            <a:stCxn id="6" idx="6"/>
            <a:endCxn id="9" idx="2"/>
          </p:cNvCxnSpPr>
          <p:nvPr userDrawn="1"/>
        </p:nvCxnSpPr>
        <p:spPr>
          <a:xfrm flipH="1">
            <a:off x="348921" y="5963194"/>
            <a:ext cx="1907762" cy="34585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2619A60-2C30-4672-9C9A-43DEFB15B38F}"/>
              </a:ext>
            </a:extLst>
          </p:cNvPr>
          <p:cNvCxnSpPr>
            <a:cxnSpLocks/>
            <a:stCxn id="10" idx="0"/>
            <a:endCxn id="9" idx="3"/>
          </p:cNvCxnSpPr>
          <p:nvPr userDrawn="1"/>
        </p:nvCxnSpPr>
        <p:spPr>
          <a:xfrm flipH="1">
            <a:off x="365166" y="5245021"/>
            <a:ext cx="403162" cy="1104550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C6BE020-595A-4B89-9834-F8B9DD384458}"/>
              </a:ext>
            </a:extLst>
          </p:cNvPr>
          <p:cNvCxnSpPr>
            <a:cxnSpLocks/>
            <a:stCxn id="12" idx="6"/>
            <a:endCxn id="9" idx="2"/>
          </p:cNvCxnSpPr>
          <p:nvPr userDrawn="1"/>
        </p:nvCxnSpPr>
        <p:spPr>
          <a:xfrm flipH="1" flipV="1">
            <a:off x="348921" y="6309051"/>
            <a:ext cx="2546994" cy="2519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BFC03B2-FEA4-4E25-A088-8EBA5A308E82}"/>
              </a:ext>
            </a:extLst>
          </p:cNvPr>
          <p:cNvCxnSpPr>
            <a:cxnSpLocks/>
            <a:endCxn id="12" idx="3"/>
          </p:cNvCxnSpPr>
          <p:nvPr userDrawn="1"/>
        </p:nvCxnSpPr>
        <p:spPr>
          <a:xfrm flipV="1">
            <a:off x="2229819" y="6601562"/>
            <a:ext cx="571412" cy="23833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6C56C630-6A73-48B0-84CF-2283B07B4E75}"/>
              </a:ext>
            </a:extLst>
          </p:cNvPr>
          <p:cNvCxnSpPr>
            <a:cxnSpLocks/>
            <a:stCxn id="9" idx="1"/>
          </p:cNvCxnSpPr>
          <p:nvPr userDrawn="1"/>
        </p:nvCxnSpPr>
        <p:spPr>
          <a:xfrm flipH="1" flipV="1">
            <a:off x="24501" y="5785443"/>
            <a:ext cx="340665" cy="483087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9BACA2B0-6BE0-4462-9C37-2633A2A395AB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18867" y="6362102"/>
            <a:ext cx="336744" cy="477792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B0D48B3F-0FCA-4EEB-8190-A6B3D62DDC71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11" y="6356253"/>
            <a:ext cx="354904" cy="28187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AC1C4A6-0D79-445C-9C24-D75B843E6C29}"/>
              </a:ext>
            </a:extLst>
          </p:cNvPr>
          <p:cNvCxnSpPr>
            <a:cxnSpLocks/>
            <a:stCxn id="8" idx="4"/>
            <a:endCxn id="2" idx="4"/>
          </p:cNvCxnSpPr>
          <p:nvPr userDrawn="1"/>
        </p:nvCxnSpPr>
        <p:spPr>
          <a:xfrm>
            <a:off x="1325248" y="4389289"/>
            <a:ext cx="127974" cy="1439451"/>
          </a:xfrm>
          <a:prstGeom prst="line">
            <a:avLst/>
          </a:prstGeom>
          <a:ln w="12700">
            <a:solidFill>
              <a:srgbClr val="BCD7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0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5836" y="240458"/>
            <a:ext cx="1815096" cy="590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49DD86-B84C-42A5-8D81-9D0A1C1F941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2416"/>
            <a:ext cx="12192000" cy="312558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5568AF-2C93-464D-B6A5-A6987190E1DF}"/>
              </a:ext>
            </a:extLst>
          </p:cNvPr>
          <p:cNvSpPr/>
          <p:nvPr userDrawn="1"/>
        </p:nvSpPr>
        <p:spPr>
          <a:xfrm>
            <a:off x="0" y="831272"/>
            <a:ext cx="12192000" cy="60267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65000">
                <a:srgbClr val="FFFFFF"/>
              </a:gs>
              <a:gs pos="83000">
                <a:srgbClr val="FFFFFF">
                  <a:alpha val="82000"/>
                </a:srgbClr>
              </a:gs>
              <a:gs pos="100000">
                <a:srgbClr val="C7D5ED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968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8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881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0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68CD-6A91-46D5-9F2E-D63140C57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3920" y="2396230"/>
            <a:ext cx="10424160" cy="1032770"/>
          </a:xfrm>
        </p:spPr>
        <p:txBody>
          <a:bodyPr lIns="91440" tIns="45720" rIns="91440" bIns="45720" anchor="b"/>
          <a:lstStyle/>
          <a:p>
            <a:r>
              <a:rPr lang="en-ZA" sz="4800">
                <a:latin typeface="Proxima Nova Lt"/>
              </a:rPr>
              <a:t>Void Management</a:t>
            </a:r>
            <a:endParaRPr lang="en-ZA" sz="4800"/>
          </a:p>
        </p:txBody>
      </p:sp>
      <p:pic>
        <p:nvPicPr>
          <p:cNvPr id="12290" name="Picture 2" descr="Image result for salesforce logo">
            <a:extLst>
              <a:ext uri="{FF2B5EF4-FFF2-40B4-BE49-F238E27FC236}">
                <a16:creationId xmlns:a16="http://schemas.microsoft.com/office/drawing/2014/main" id="{7CDFABAC-7B06-AB34-C319-D18E7B6F9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25" y="3632200"/>
            <a:ext cx="1743075" cy="86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954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7FEF9-4770-2B94-3FFB-F2022095DF5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ctr"/>
          <a:lstStyle/>
          <a:p>
            <a:r>
              <a:rPr lang="en-GB"/>
              <a:t>Refresh/Refurb/Tenant retained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Draft Future State Flow Diagram</a:t>
            </a:r>
            <a:endParaRPr lang="en-US"/>
          </a:p>
        </p:txBody>
      </p:sp>
      <p:pic>
        <p:nvPicPr>
          <p:cNvPr id="2" name="Picture 3" descr="Diagram&#10;&#10;Description automatically generated">
            <a:extLst>
              <a:ext uri="{FF2B5EF4-FFF2-40B4-BE49-F238E27FC236}">
                <a16:creationId xmlns:a16="http://schemas.microsoft.com/office/drawing/2014/main" id="{CA10ADDD-2B21-E552-22C1-95BE39096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19" y="1756478"/>
            <a:ext cx="5616766" cy="4777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F339D3-C178-4745-2D54-BE7D15208773}"/>
              </a:ext>
            </a:extLst>
          </p:cNvPr>
          <p:cNvSpPr txBox="1"/>
          <p:nvPr/>
        </p:nvSpPr>
        <p:spPr>
          <a:xfrm>
            <a:off x="7216047" y="2368626"/>
            <a:ext cx="429657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latin typeface="Verdana"/>
                <a:ea typeface="Verdana"/>
              </a:rPr>
              <a:t>Updated draft version supplied by Grainger to incorporate detail discussed on calls and focus on dependencies, inputs and outputs for each high-level task</a:t>
            </a:r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1341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DBD812-6AF6-66F4-0896-E83E557E1DC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lIns="91440" tIns="45720" rIns="91440" bIns="45720" anchor="ctr"/>
          <a:lstStyle/>
          <a:p>
            <a:r>
              <a:rPr lang="en-GB"/>
              <a:t>Unit to be Sold 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Draft Future State Flow Diagram  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B1FF46EA-577E-550D-E9E7-033268AD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87" y="1815067"/>
            <a:ext cx="5130188" cy="434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14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Feature Backlog - WIP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9B3BF3-DE3A-D3C4-ACA1-7868BE7A68F9}"/>
              </a:ext>
            </a:extLst>
          </p:cNvPr>
          <p:cNvSpPr txBox="1"/>
          <p:nvPr/>
        </p:nvSpPr>
        <p:spPr>
          <a:xfrm>
            <a:off x="7210426" y="1716795"/>
            <a:ext cx="3124200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GB" sz="1000">
                <a:latin typeface="Verdana"/>
                <a:ea typeface="Verdana"/>
              </a:rPr>
              <a:t>~80 user stories as of 24 April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GB" sz="1000">
                <a:latin typeface="Verdana"/>
                <a:ea typeface="Verdana"/>
              </a:rPr>
              <a:t>To be loaded into Grainger JIRA for prioritisation and refinement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640B0-CDF0-008D-2608-54988744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15" y="1260869"/>
            <a:ext cx="5135880" cy="533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445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Future State Data Model - WIP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A8610747-F1CD-6D80-0E7C-95C92BE7B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49" y="1370223"/>
            <a:ext cx="5166911" cy="50356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5119E2-C568-6C0F-DA89-F98E83944655}"/>
              </a:ext>
            </a:extLst>
          </p:cNvPr>
          <p:cNvSpPr txBox="1"/>
          <p:nvPr/>
        </p:nvSpPr>
        <p:spPr>
          <a:xfrm>
            <a:off x="7418023" y="1551542"/>
            <a:ext cx="42965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>
                <a:latin typeface="Verdana"/>
                <a:ea typeface="Verdana"/>
              </a:rPr>
              <a:t>Incorporates hypothesized Void, Milestone + Task object model, to be validated with Grainger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43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Planned Activities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825559"/>
              </p:ext>
            </p:extLst>
          </p:nvPr>
        </p:nvGraphicFramePr>
        <p:xfrm>
          <a:off x="882931" y="1290494"/>
          <a:ext cx="10035005" cy="50037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02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5903507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560896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Open Box Estimated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Meeting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: </a:t>
                      </a:r>
                      <a:r>
                        <a:rPr lang="en-GB" sz="1400" b="0" kern="120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 Demo</a:t>
                      </a:r>
                      <a:endParaRPr lang="en-US" b="0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: TBD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Duration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: 1.5 hours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Grainger Team</a:t>
                      </a:r>
                      <a:endParaRPr lang="en-US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Sam, Nikki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marR="0" lvl="1" indent="-285750" algn="l" rtl="0" fontAlgn="t" latinLnBrk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Understand the void-related information in </a:t>
                      </a:r>
                      <a:r>
                        <a:rPr lang="en-US" sz="1400" kern="1200" noProof="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 &amp; what should remain vs move to a SF void process.</a:t>
                      </a:r>
                      <a:endParaRPr lang="en-US"/>
                    </a:p>
                    <a:p>
                      <a:pPr marL="447675" marR="0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Understand how </a:t>
                      </a:r>
                      <a:r>
                        <a:rPr lang="en-US" sz="1400" kern="1200" noProof="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 defines leases with a Salesforce tenancy object in mind.</a:t>
                      </a:r>
                      <a:endParaRPr lang="en-US"/>
                    </a:p>
                    <a:p>
                      <a:pPr marL="447675" marR="0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Existing integration capabilities.</a:t>
                      </a: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3 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87473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Meeting: </a:t>
                      </a: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Document Management</a:t>
                      </a:r>
                      <a:endParaRPr lang="en-US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</a:rPr>
                        <a:t>Date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: TBD</a:t>
                      </a:r>
                      <a:endParaRPr lang="en-US" sz="1400" b="0" i="0" u="none" strike="noStrike" kern="1200" noProof="0">
                        <a:solidFill>
                          <a:srgbClr val="6E7878"/>
                        </a:solidFill>
                      </a:endParaRP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</a:rPr>
                        <a:t>Duration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: 0.5 hours</a:t>
                      </a:r>
                      <a:endParaRPr lang="en-GB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Grainger Team</a:t>
                      </a:r>
                      <a:endParaRPr lang="en-GB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</a:rPr>
                        <a:t>Sam, Nikki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marR="0" lvl="1" indent="-285750" algn="l" rtl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where void-related documents should be saved &amp;, if not in SF, understand existing integration capabilities.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13083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</a:rPr>
                        <a:t>Meeting: Salesforce Property review</a:t>
                      </a:r>
                      <a:endParaRPr lang="en-US"/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Date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: TBD</a:t>
                      </a:r>
                      <a:endParaRPr lang="en-US" sz="1400" b="0" i="0" u="none" strike="noStrike" kern="1200" noProof="0">
                        <a:solidFill>
                          <a:srgbClr val="6E7878"/>
                        </a:solidFill>
                        <a:latin typeface="Proxima Nova Lt"/>
                      </a:endParaRP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1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Duration</a:t>
                      </a: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: 1 hours</a:t>
                      </a:r>
                      <a:endParaRPr lang="en-GB"/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Grainger Team</a:t>
                      </a:r>
                      <a:endParaRPr lang="en-US" sz="1400" b="0" i="0" u="none" strike="noStrike" kern="1200" noProof="0">
                        <a:solidFill>
                          <a:srgbClr val="6E7878"/>
                        </a:solidFill>
                        <a:latin typeface="Proxima Nova Lt"/>
                      </a:endParaRPr>
                    </a:p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Sam, Nikki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Deeper dive into the aspects of current functionality (unit data) that overlaps with void process &amp; possible changes required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2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3835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b="0" i="0" u="none" strike="noStrike" kern="1200" noProof="0">
                          <a:solidFill>
                            <a:schemeClr val="bg2"/>
                          </a:solidFill>
                          <a:latin typeface="Proxima Nova Lt"/>
                        </a:rPr>
                        <a:t>Complete feature backlog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Capture all user stories in JIRA backlog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16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535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549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Planned Activities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645949"/>
              </p:ext>
            </p:extLst>
          </p:nvPr>
        </p:nvGraphicFramePr>
        <p:xfrm>
          <a:off x="882931" y="1290494"/>
          <a:ext cx="9998427" cy="34348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0601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4530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3296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Activity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Open Box Estimated Billable </a:t>
                      </a:r>
                      <a:br>
                        <a:rPr lang="en-GB" sz="1400" kern="1200">
                          <a:solidFill>
                            <a:srgbClr val="FFFFFF"/>
                          </a:solidFill>
                          <a:latin typeface="+mj-lt"/>
                          <a:ea typeface="Verdana"/>
                          <a:cs typeface="+mn-cs"/>
                        </a:rPr>
                      </a:b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Finalise future state process flows</a:t>
                      </a:r>
                    </a:p>
                    <a:p>
                      <a:pPr marL="0" marR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47675" marR="0" lvl="1" indent="-285750" algn="l" rtl="0" fontAlgn="t" latinLnBrk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Complete future state process flows</a:t>
                      </a:r>
                    </a:p>
                    <a:p>
                      <a:pPr marL="447675" marR="0" lvl="1" indent="-285750" algn="l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with Grainger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87473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GB" sz="1400" b="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Create Salesforce High Level Design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61925" marR="0" lvl="1" indent="0" algn="l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Technical Architect to create High Level Design Document (HLD) covering proposed solution areas:</a:t>
                      </a:r>
                    </a:p>
                    <a:p>
                      <a:pPr marL="447675" marR="0" lvl="1" indent="-285750" algn="l" defTabSz="91440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Integration </a:t>
                      </a: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Data Sharing 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Document Management 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Licensing 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447675" marR="0" lvl="1" indent="-285750" algn="l" defTabSz="914400" rtl="0" eaLnBrk="1" fontAlgn="t" latinLnBrk="0" hangingPunct="1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Char char="•"/>
                      </a:pPr>
                      <a:r>
                        <a:rPr lang="en-US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Data Model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631308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05785B8-F06E-D280-A545-33E2CB191D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22414"/>
              </p:ext>
            </p:extLst>
          </p:nvPr>
        </p:nvGraphicFramePr>
        <p:xfrm>
          <a:off x="3433590" y="5517614"/>
          <a:ext cx="7415789" cy="495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072">
                  <a:extLst>
                    <a:ext uri="{9D8B030D-6E8A-4147-A177-3AD203B41FA5}">
                      <a16:colId xmlns:a16="http://schemas.microsoft.com/office/drawing/2014/main" val="1175068084"/>
                    </a:ext>
                  </a:extLst>
                </a:gridCol>
                <a:gridCol w="1163717">
                  <a:extLst>
                    <a:ext uri="{9D8B030D-6E8A-4147-A177-3AD203B41FA5}">
                      <a16:colId xmlns:a16="http://schemas.microsoft.com/office/drawing/2014/main" val="2006363987"/>
                    </a:ext>
                  </a:extLst>
                </a:gridCol>
              </a:tblGrid>
              <a:tr h="495759">
                <a:tc>
                  <a:txBody>
                    <a:bodyPr/>
                    <a:lstStyle/>
                    <a:p>
                      <a:r>
                        <a:rPr lang="en-GB"/>
                        <a:t>Estimated Hours Remaining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80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84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3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56AA2A-A4FF-D607-3565-3B02900C0E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4CE4A1-8ECE-C29D-93FB-98B7D86CBB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Timelines &amp; Deliverables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B692EA3-BF92-5420-F71E-B85E93CA96C0}"/>
              </a:ext>
            </a:extLst>
          </p:cNvPr>
          <p:cNvSpPr txBox="1">
            <a:spLocks/>
          </p:cNvSpPr>
          <p:nvPr/>
        </p:nvSpPr>
        <p:spPr>
          <a:xfrm>
            <a:off x="940445" y="1649433"/>
            <a:ext cx="5807975" cy="389560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cap="all">
                <a:solidFill>
                  <a:schemeClr val="bg2"/>
                </a:solidFill>
                <a:latin typeface="Proxima Nova Rg"/>
              </a:rPr>
              <a:t>Budget</a:t>
            </a:r>
            <a:endParaRPr lang="en-US" sz="1400" b="1">
              <a:solidFill>
                <a:schemeClr val="bg2"/>
              </a:solidFill>
              <a:latin typeface="Proxima Nova Rg"/>
            </a:endParaRPr>
          </a:p>
          <a:p>
            <a:pPr marL="0" indent="0">
              <a:buNone/>
            </a:pPr>
            <a:endParaRPr lang="en-US" sz="1600" b="1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endParaRPr lang="en-US" sz="1600">
              <a:latin typeface="+mj-lt"/>
            </a:endParaRPr>
          </a:p>
          <a:p>
            <a:pPr marL="0" indent="0">
              <a:buNone/>
            </a:pPr>
            <a:r>
              <a:rPr lang="en-US" sz="1400" cap="all">
                <a:solidFill>
                  <a:schemeClr val="bg2"/>
                </a:solidFill>
                <a:latin typeface="Proxima Nova Rg"/>
              </a:rPr>
              <a:t>Timeline</a:t>
            </a:r>
            <a:endParaRPr lang="en-US" sz="1600" b="1">
              <a:solidFill>
                <a:schemeClr val="bg2"/>
              </a:solidFill>
              <a:latin typeface="Proxima Nova Lt"/>
            </a:endParaRPr>
          </a:p>
          <a:p>
            <a:pPr marL="0" indent="0">
              <a:buNone/>
            </a:pPr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3 weeks remaining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FE8A2B8-14FA-0894-84AE-F0312F4ED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599742"/>
              </p:ext>
            </p:extLst>
          </p:nvPr>
        </p:nvGraphicFramePr>
        <p:xfrm>
          <a:off x="1023412" y="1996304"/>
          <a:ext cx="50725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8754">
                  <a:extLst>
                    <a:ext uri="{9D8B030D-6E8A-4147-A177-3AD203B41FA5}">
                      <a16:colId xmlns:a16="http://schemas.microsoft.com/office/drawing/2014/main" val="3401707390"/>
                    </a:ext>
                  </a:extLst>
                </a:gridCol>
                <a:gridCol w="1488041">
                  <a:extLst>
                    <a:ext uri="{9D8B030D-6E8A-4147-A177-3AD203B41FA5}">
                      <a16:colId xmlns:a16="http://schemas.microsoft.com/office/drawing/2014/main" val="4104292272"/>
                    </a:ext>
                  </a:extLst>
                </a:gridCol>
                <a:gridCol w="2045793">
                  <a:extLst>
                    <a:ext uri="{9D8B030D-6E8A-4147-A177-3AD203B41FA5}">
                      <a16:colId xmlns:a16="http://schemas.microsoft.com/office/drawing/2014/main" val="26223621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>Effort</a:t>
                      </a:r>
                      <a:endParaRPr lang="en-ZA" sz="140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Hours</a:t>
                      </a:r>
                      <a:endParaRPr lang="en-ZA" sz="140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Cost</a:t>
                      </a:r>
                      <a:endParaRPr lang="en-ZA" sz="1400"/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235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Spent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30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£4,500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5686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Forecast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80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£12,000</a:t>
                      </a:r>
                      <a:endParaRPr lang="en-ZA" sz="140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1400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Total</a:t>
                      </a:r>
                      <a:endParaRPr lang="en-ZA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110</a:t>
                      </a:r>
                      <a:endParaRPr lang="en-ZA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kern="12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£16,500</a:t>
                      </a:r>
                      <a:endParaRPr lang="en-ZA" sz="1400" b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33644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3256997-62AC-AF06-D924-2BE2C1AA2216}"/>
              </a:ext>
            </a:extLst>
          </p:cNvPr>
          <p:cNvSpPr/>
          <p:nvPr/>
        </p:nvSpPr>
        <p:spPr>
          <a:xfrm>
            <a:off x="7010400" y="1254497"/>
            <a:ext cx="4057651" cy="4260687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bg2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B338CC4-5D62-AF5E-42BC-09CF4D7BB5B6}"/>
              </a:ext>
            </a:extLst>
          </p:cNvPr>
          <p:cNvSpPr txBox="1">
            <a:spLocks/>
          </p:cNvSpPr>
          <p:nvPr/>
        </p:nvSpPr>
        <p:spPr>
          <a:xfrm>
            <a:off x="8229964" y="1098347"/>
            <a:ext cx="1618522" cy="312398"/>
          </a:xfrm>
          <a:prstGeom prst="rect">
            <a:avLst/>
          </a:prstGeom>
          <a:solidFill>
            <a:schemeClr val="bg1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cap="all">
                <a:solidFill>
                  <a:srgbClr val="BCD727"/>
                </a:solidFill>
                <a:latin typeface="Proxima Nova Rg"/>
              </a:rPr>
              <a:t>DELIVERABLES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49484D-4654-A278-ABB8-C52FC27AC308}"/>
              </a:ext>
            </a:extLst>
          </p:cNvPr>
          <p:cNvSpPr/>
          <p:nvPr/>
        </p:nvSpPr>
        <p:spPr>
          <a:xfrm>
            <a:off x="7200901" y="1605113"/>
            <a:ext cx="3647082" cy="37918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400">
                <a:solidFill>
                  <a:srgbClr val="595959"/>
                </a:solidFill>
                <a:latin typeface="Proxima Nova Lt"/>
              </a:rPr>
              <a:t>Feature Backlog in Grainger PLC JIRA instance</a:t>
            </a:r>
            <a:endParaRPr lang="en-US" sz="1400">
              <a:solidFill>
                <a:srgbClr val="595959"/>
              </a:solidFill>
              <a:latin typeface="Proxima Nova Lt"/>
            </a:endParaRPr>
          </a:p>
          <a:p>
            <a:pPr marL="285750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400">
                <a:solidFill>
                  <a:srgbClr val="595959"/>
                </a:solidFill>
                <a:latin typeface="Proxima Nova Lt"/>
              </a:rPr>
              <a:t>High Level Design:</a:t>
            </a:r>
            <a:endParaRPr lang="en-US" sz="14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Integration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Data Sharing</a:t>
            </a: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Document Management</a:t>
            </a: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Licensing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Data Model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3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Process Flow - Future State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285750" lvl="1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400">
                <a:solidFill>
                  <a:srgbClr val="595959"/>
                </a:solidFill>
                <a:ea typeface="+mn-lt"/>
                <a:cs typeface="+mn-lt"/>
              </a:rPr>
              <a:t>Project Proposal </a:t>
            </a:r>
            <a:endParaRPr lang="en-ZA" sz="1400">
              <a:solidFill>
                <a:srgbClr val="595959"/>
              </a:solidFill>
              <a:latin typeface="Proxima Nova Lt"/>
            </a:endParaRPr>
          </a:p>
          <a:p>
            <a:pPr marL="742950" lvl="2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Project Methodology</a:t>
            </a:r>
            <a:endParaRPr lang="en-US" sz="1200">
              <a:solidFill>
                <a:srgbClr val="595959"/>
              </a:solidFill>
              <a:latin typeface="Proxima Nova Lt"/>
            </a:endParaRPr>
          </a:p>
          <a:p>
            <a:pPr marL="742950" lvl="2" indent="-285750">
              <a:lnSpc>
                <a:spcPct val="90000"/>
              </a:lnSpc>
              <a:spcBef>
                <a:spcPts val="1200"/>
              </a:spcBef>
              <a:buClr>
                <a:srgbClr val="BCD727"/>
              </a:buClr>
              <a:buFont typeface="Arial" panose="020B0604020202020204" pitchFamily="34" charset="0"/>
              <a:buChar char="•"/>
            </a:pPr>
            <a:r>
              <a:rPr lang="en-ZA" sz="1200">
                <a:solidFill>
                  <a:srgbClr val="595959"/>
                </a:solidFill>
                <a:latin typeface="Proxima Nova Lt"/>
              </a:rPr>
              <a:t>Costs &amp; Timelines</a:t>
            </a:r>
            <a:endParaRPr lang="en-GB" sz="1200">
              <a:solidFill>
                <a:srgbClr val="595959"/>
              </a:solidFill>
              <a:latin typeface="Proxima Nova Lt"/>
            </a:endParaRPr>
          </a:p>
        </p:txBody>
      </p:sp>
    </p:spTree>
    <p:extLst>
      <p:ext uri="{BB962C8B-B14F-4D97-AF65-F5344CB8AC3E}">
        <p14:creationId xmlns:p14="http://schemas.microsoft.com/office/powerpoint/2010/main" val="3299119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17CB8-946A-E4C1-B529-7DF64740A3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24CE4A1-8ECE-C29D-93FB-98B7D86CBB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Next Steps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B692EA3-BF92-5420-F71E-B85E93CA96C0}"/>
              </a:ext>
            </a:extLst>
          </p:cNvPr>
          <p:cNvSpPr txBox="1">
            <a:spLocks/>
          </p:cNvSpPr>
          <p:nvPr/>
        </p:nvSpPr>
        <p:spPr>
          <a:xfrm>
            <a:off x="940445" y="1533524"/>
            <a:ext cx="9865377" cy="397192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</a:rPr>
              <a:t>Grainger to approve additional hours</a:t>
            </a: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</a:rPr>
              <a:t>Setup "Introduction to Open Box Agile" session with Grainger 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  <a:cs typeface="Arial"/>
              </a:rPr>
              <a:t>Schedule remaining demos and requirement gathering sessions</a:t>
            </a: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  <a:cs typeface="Arial"/>
              </a:rPr>
              <a:t>Review draft process flows with Grainger</a:t>
            </a:r>
          </a:p>
          <a:p>
            <a:pPr>
              <a:lnSpc>
                <a:spcPct val="150000"/>
              </a:lnSpc>
              <a:buClr>
                <a:srgbClr val="BCD727"/>
              </a:buClr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Verdana"/>
              </a:rPr>
              <a:t>Setup weekly PM calls for next 3 weeks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ZA" sz="1400"/>
          </a:p>
        </p:txBody>
      </p:sp>
    </p:spTree>
    <p:extLst>
      <p:ext uri="{BB962C8B-B14F-4D97-AF65-F5344CB8AC3E}">
        <p14:creationId xmlns:p14="http://schemas.microsoft.com/office/powerpoint/2010/main" val="3279054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B2F47-3F1E-4B42-822A-F48433BEE2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ZA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031770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Completed Activities 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025002"/>
              </p:ext>
            </p:extLst>
          </p:nvPr>
        </p:nvGraphicFramePr>
        <p:xfrm>
          <a:off x="882931" y="1290494"/>
          <a:ext cx="10782294" cy="448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86">
                  <a:extLst>
                    <a:ext uri="{9D8B030D-6E8A-4147-A177-3AD203B41FA5}">
                      <a16:colId xmlns:a16="http://schemas.microsoft.com/office/drawing/2014/main" val="1002273058"/>
                    </a:ext>
                  </a:extLst>
                </a:gridCol>
                <a:gridCol w="2247745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6365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6498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Meeting &amp;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Key Understandings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Billed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15th November 2022 </a:t>
                      </a:r>
                      <a:b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</a:b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Grainger Salesforce Demo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Sam, Jacob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Reviewed current Lead-to-Lease process in Salesforce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Renewals are a labour-intensive manual process (±400 in March, ±1500 in September)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Business has no visibility into status</a:t>
                      </a:r>
                      <a:endParaRPr lang="en-US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90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31st Jan 1 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current state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Jon, Sam, Lauren, Paul, Brendan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Void process crosses 6/7 teams (±60 users) and 5 different systems</a:t>
                      </a:r>
                      <a:endParaRPr lang="en-US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Void process needs to be thought of in terms of 2 key journeys:</a:t>
                      </a:r>
                      <a:endParaRPr lang="en-US"/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Customer Journey</a:t>
                      </a:r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Property Journey</a:t>
                      </a:r>
                    </a:p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The future state should be mapped to 6/7 milestones with multiple parallel tasks within each milestone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First release of new void management process should focus on visibility rather than automation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End of tenancy (final 2 months) still needs to be mapped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Much of the process is not about systems - it is about standardising other elements like contracting partners and rates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70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3rd Feb 30 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Follow Up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Jon, Sam, Lauren Costa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No single user/team is currently considered to be the owner of the void process</a:t>
                      </a:r>
                      <a:endParaRPr lang="en-US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Ideally this should be owned by the PM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9958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790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Completed Activities 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849367"/>
              </p:ext>
            </p:extLst>
          </p:nvPr>
        </p:nvGraphicFramePr>
        <p:xfrm>
          <a:off x="882931" y="1290494"/>
          <a:ext cx="10782294" cy="460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86">
                  <a:extLst>
                    <a:ext uri="{9D8B030D-6E8A-4147-A177-3AD203B41FA5}">
                      <a16:colId xmlns:a16="http://schemas.microsoft.com/office/drawing/2014/main" val="1002273058"/>
                    </a:ext>
                  </a:extLst>
                </a:gridCol>
                <a:gridCol w="2247745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6365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6498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Meeting &amp;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Key Understandings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Billed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17th March 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Open Box / Grainger meet the core team</a:t>
                      </a:r>
                    </a:p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Jacob, Jon, Anita, 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Anita’s team use Salesforce daily, but do a lot of manual work to update other systems that are not integrated to Salesforce</a:t>
                      </a:r>
                      <a:endParaRPr lang="en-US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E.g., leases are created manually in Qube – opportunity for integration + automation</a:t>
                      </a:r>
                      <a:endParaRPr lang="en-US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Anita’s team are looking for improvements to reduce manual work so they’re able to onboard ±1800 new units</a:t>
                      </a:r>
                    </a:p>
                    <a:p>
                      <a:pPr marL="285750" marR="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There is currently no update from Qube -&gt; Salesforce, hence no way to see actual tenancy status in Salesforce (early exits, rolling tenancies etc.)</a:t>
                      </a:r>
                    </a:p>
                    <a:p>
                      <a:pPr marL="285750" marR="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Other opportunities for improvement:</a:t>
                      </a:r>
                      <a:endParaRPr lang="en-GB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Cases for managing complaints</a:t>
                      </a:r>
                      <a:endParaRPr lang="en-GB"/>
                    </a:p>
                    <a:p>
                      <a:pPr marL="742950" marR="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Exposing tenant payment status in Salesforce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87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22nd March 1.5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Review of future state mocked up by Jonathan</a:t>
                      </a:r>
                    </a:p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Jacob, Jon, Anita, Sam, Nikki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Variations possible within the process:</a:t>
                      </a:r>
                      <a:endParaRPr lang="en-US"/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Refresh vs refurb</a:t>
                      </a:r>
                      <a:endParaRPr lang="en-GB"/>
                    </a:p>
                    <a:p>
                      <a:pPr marL="742950" lvl="1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Tenant retention &amp; unit sale</a:t>
                      </a:r>
                      <a:endParaRPr lang="en-GB"/>
                    </a:p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Task dependencies &amp; parallel flows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How the process starts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KPI requirements 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High level requirements around move out email with web forms &amp; ability for tenant to capture deposit return instruction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43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078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F74062-9E6D-4148-95DF-299673D9159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91440" tIns="45720" rIns="91440" bIns="45720" anchor="ctr"/>
          <a:lstStyle/>
          <a:p>
            <a:r>
              <a:rPr lang="en-US">
                <a:latin typeface="Proxima Nova Lt"/>
              </a:rPr>
              <a:t>Completed Activities 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ACD299-1B66-D387-AD92-B665071D8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8117697"/>
              </p:ext>
            </p:extLst>
          </p:nvPr>
        </p:nvGraphicFramePr>
        <p:xfrm>
          <a:off x="882931" y="1290494"/>
          <a:ext cx="10782294" cy="290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1686">
                  <a:extLst>
                    <a:ext uri="{9D8B030D-6E8A-4147-A177-3AD203B41FA5}">
                      <a16:colId xmlns:a16="http://schemas.microsoft.com/office/drawing/2014/main" val="1002273058"/>
                    </a:ext>
                  </a:extLst>
                </a:gridCol>
                <a:gridCol w="2247745">
                  <a:extLst>
                    <a:ext uri="{9D8B030D-6E8A-4147-A177-3AD203B41FA5}">
                      <a16:colId xmlns:a16="http://schemas.microsoft.com/office/drawing/2014/main" val="3671045585"/>
                    </a:ext>
                  </a:extLst>
                </a:gridCol>
                <a:gridCol w="6226365">
                  <a:extLst>
                    <a:ext uri="{9D8B030D-6E8A-4147-A177-3AD203B41FA5}">
                      <a16:colId xmlns:a16="http://schemas.microsoft.com/office/drawing/2014/main" val="3458235224"/>
                    </a:ext>
                  </a:extLst>
                </a:gridCol>
                <a:gridCol w="1206498">
                  <a:extLst>
                    <a:ext uri="{9D8B030D-6E8A-4147-A177-3AD203B41FA5}">
                      <a16:colId xmlns:a16="http://schemas.microsoft.com/office/drawing/2014/main" val="25352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Meeting &amp; Attendees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Key Understandings Gained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1"/>
                          </a:solidFill>
                          <a:latin typeface="+mj-lt"/>
                          <a:ea typeface="Verdana"/>
                          <a:cs typeface="+mn-cs"/>
                        </a:rPr>
                        <a:t>Billed Hours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9469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3rd April 1. 5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b="1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FSI Demo &amp; Grep Overview</a:t>
                      </a:r>
                    </a:p>
                    <a:p>
                      <a:pPr marL="0" marR="0" indent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Jacob, Jon, Anita, </a:t>
                      </a:r>
                      <a:r>
                        <a:rPr lang="en-GB" sz="1400" kern="120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Jaic</a:t>
                      </a: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 George, Mike Jones, Sam, Nikki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Grep middleware has near real-time capabilities for Salesforce integration 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FSI integration capabilities &amp; resources are available 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err="1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Qube</a:t>
                      </a: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 upgrades are planned (separate project) to automate tenant &amp; lease creation from a Salesforce opportunity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Functionality that needs to remain in FSI vs. other move out tasks that are not functioning effectively in FSI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Relationship between FSI void-related tasks</a:t>
                      </a:r>
                      <a:endParaRPr lang="en-GB"/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Emails generated – internal and tenant emails</a:t>
                      </a:r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rtl="0" fontAlgn="t" latinLnBrk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87473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Analysis and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Drafting process flow diagrams</a:t>
                      </a:r>
                      <a:endParaRPr lang="en-GB" sz="1400" kern="1200">
                        <a:solidFill>
                          <a:schemeClr val="bg2"/>
                        </a:solidFill>
                        <a:latin typeface="+mj-lt"/>
                        <a:ea typeface="Verdana"/>
                        <a:cs typeface="+mn-cs"/>
                      </a:endParaRP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Creating feature backlog</a:t>
                      </a:r>
                    </a:p>
                    <a:p>
                      <a:pPr marL="285750" lvl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400" kern="1200" noProof="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Designing hypothesized future state data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400" kern="1200">
                          <a:solidFill>
                            <a:schemeClr val="bg2"/>
                          </a:solidFill>
                          <a:latin typeface="+mj-lt"/>
                          <a:ea typeface="Verdana"/>
                          <a:cs typeface="+mn-cs"/>
                        </a:rPr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7414800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6894031E-1475-692D-CFF6-AD696E97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98206"/>
              </p:ext>
            </p:extLst>
          </p:nvPr>
        </p:nvGraphicFramePr>
        <p:xfrm>
          <a:off x="4213951" y="4939228"/>
          <a:ext cx="7415789" cy="4957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2072">
                  <a:extLst>
                    <a:ext uri="{9D8B030D-6E8A-4147-A177-3AD203B41FA5}">
                      <a16:colId xmlns:a16="http://schemas.microsoft.com/office/drawing/2014/main" val="1175068084"/>
                    </a:ext>
                  </a:extLst>
                </a:gridCol>
                <a:gridCol w="1163717">
                  <a:extLst>
                    <a:ext uri="{9D8B030D-6E8A-4147-A177-3AD203B41FA5}">
                      <a16:colId xmlns:a16="http://schemas.microsoft.com/office/drawing/2014/main" val="2006363987"/>
                    </a:ext>
                  </a:extLst>
                </a:gridCol>
              </a:tblGrid>
              <a:tr h="495759">
                <a:tc>
                  <a:txBody>
                    <a:bodyPr/>
                    <a:lstStyle/>
                    <a:p>
                      <a:r>
                        <a:rPr lang="en-GB"/>
                        <a:t>Total Billable Hours as of 24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8845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8755917"/>
      </p:ext>
    </p:extLst>
  </p:cSld>
  <p:clrMapOvr>
    <a:masterClrMapping/>
  </p:clrMapOvr>
</p:sld>
</file>

<file path=ppt/theme/theme1.xml><?xml version="1.0" encoding="utf-8"?>
<a:theme xmlns:a="http://schemas.openxmlformats.org/drawingml/2006/main" name="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2.xml><?xml version="1.0" encoding="utf-8"?>
<a:theme xmlns:a="http://schemas.openxmlformats.org/drawingml/2006/main" name="1_1. Title Slides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neral Presentation Theme" id="{617D407F-0F1F-405D-A13B-BE7690CBDA2A}" vid="{44CD57B0-E653-4561-A953-0FF3EAB174B5}"/>
    </a:ext>
  </a:extLst>
</a:theme>
</file>

<file path=ppt/theme/theme3.xml><?xml version="1.0" encoding="utf-8"?>
<a:theme xmlns:a="http://schemas.openxmlformats.org/drawingml/2006/main" name="2. Agenda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. City Background">
  <a:themeElements>
    <a:clrScheme name="Open Box Colours">
      <a:dk1>
        <a:sysClr val="windowText" lastClr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. Blank Background">
  <a:themeElements>
    <a:clrScheme name="Open Box Colours">
      <a:dk1>
        <a:srgbClr val="000000"/>
      </a:dk1>
      <a:lt1>
        <a:sysClr val="window" lastClr="FFFFFF"/>
      </a:lt1>
      <a:dk2>
        <a:srgbClr val="373C3C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Full Blank">
  <a:themeElements>
    <a:clrScheme name="Open Box Colours">
      <a:dk1>
        <a:sysClr val="windowText" lastClr="000000"/>
      </a:dk1>
      <a:lt1>
        <a:sysClr val="window" lastClr="FFFFFF"/>
      </a:lt1>
      <a:dk2>
        <a:srgbClr val="6E7878"/>
      </a:dk2>
      <a:lt2>
        <a:srgbClr val="6E7878"/>
      </a:lt2>
      <a:accent1>
        <a:srgbClr val="AAB4B4"/>
      </a:accent1>
      <a:accent2>
        <a:srgbClr val="E15759"/>
      </a:accent2>
      <a:accent3>
        <a:srgbClr val="4E79A7"/>
      </a:accent3>
      <a:accent4>
        <a:srgbClr val="76B7B2"/>
      </a:accent4>
      <a:accent5>
        <a:srgbClr val="F28E2B"/>
      </a:accent5>
      <a:accent6>
        <a:srgbClr val="BCD727"/>
      </a:accent6>
      <a:hlink>
        <a:srgbClr val="BCD727"/>
      </a:hlink>
      <a:folHlink>
        <a:srgbClr val="954F72"/>
      </a:folHlink>
    </a:clrScheme>
    <a:fontScheme name="Open Box Fonts">
      <a:majorFont>
        <a:latin typeface="Proxima Nova Lt"/>
        <a:ea typeface=""/>
        <a:cs typeface=""/>
      </a:majorFont>
      <a:minorFont>
        <a:latin typeface="Proxima Nova L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lient Project Document" ma:contentTypeID="0x010100B16301FA1C2D5E4DB9305F31D037531D02070300B4E123A7400DE24C83BA9D1BFCD12C10" ma:contentTypeVersion="3" ma:contentTypeDescription="A document associated with a project for a client." ma:contentTypeScope="" ma:versionID="cc5b35c14551bc84fa511620c08c72d3">
  <xsd:schema xmlns:xsd="http://www.w3.org/2001/XMLSchema" xmlns:xs="http://www.w3.org/2001/XMLSchema" xmlns:p="http://schemas.microsoft.com/office/2006/metadata/properties" xmlns:ns2="1ffbd5dc-7a64-4097-8396-87f6c90b212f" targetNamespace="http://schemas.microsoft.com/office/2006/metadata/properties" ma:root="true" ma:fieldsID="b285b6c99b2848c5919a8e3238727545" ns2:_="">
    <xsd:import namespace="1ffbd5dc-7a64-4097-8396-87f6c90b212f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nae5750f31d8428b9a1182bd8e59d390" minOccurs="0"/>
                <xsd:element ref="ns2:ica44df5449d49f98766f83f0bd254a7" minOccurs="0"/>
                <xsd:element ref="ns2:f0dc22cb723843c1bfbb2e8bcc9db6e4" minOccurs="0"/>
                <xsd:element ref="ns2:k6ebf865df8440b3a55c1aa81c9bae7c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d5dc-7a64-4097-8396-87f6c90b212f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5250ea2-cfef-416b-9e22-46de40794d29}" ma:internalName="TaxCatchAll" ma:showField="CatchAllData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45250ea2-cfef-416b-9e22-46de40794d29}" ma:internalName="TaxCatchAllLabel" ma:readOnly="true" ma:showField="CatchAllDataLabel" ma:web="025eec05-af72-44fb-9d53-267083c6e7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nae5750f31d8428b9a1182bd8e59d390" ma:index="10" ma:taxonomy="true" ma:internalName="nae5750f31d8428b9a1182bd8e59d390" ma:taxonomyFieldName="Division" ma:displayName="Division" ma:readOnly="false" ma:default="1;#Custom Software|cecfb662-fc63-4c9e-b6e4-2e3797fe6f4f" ma:fieldId="{7ae5750f-31d8-428b-9a11-82bd8e59d390}" ma:sspId="5676dd91-060c-4b71-810a-dbdca5582071" ma:termSetId="32b39d25-b397-4982-8e8d-74d5df186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ca44df5449d49f98766f83f0bd254a7" ma:index="12" ma:taxonomy="true" ma:internalName="ica44df5449d49f98766f83f0bd254a7" ma:taxonomyFieldName="Client" ma:displayName="Client" ma:readOnly="false" ma:default="" ma:fieldId="{2ca44df5-449d-49f9-8766-f83f0bd254a7}" ma:sspId="5676dd91-060c-4b71-810a-dbdca5582071" ma:termSetId="26f19758-7225-4257-8796-285d454d16a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f0dc22cb723843c1bfbb2e8bcc9db6e4" ma:index="14" nillable="true" ma:taxonomy="true" ma:internalName="f0dc22cb723843c1bfbb2e8bcc9db6e4" ma:taxonomyFieldName="Client_x0020_Project" ma:displayName="Client Application" ma:default="" ma:fieldId="{f0dc22cb-7238-43c1-bfbb-2e8bcc9db6e4}" ma:sspId="5676dd91-060c-4b71-810a-dbdca5582071" ma:termSetId="503923a6-a4d2-4c0f-8ec0-fee4966b50a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6ebf865df8440b3a55c1aa81c9bae7c" ma:index="16" ma:taxonomy="true" ma:internalName="k6ebf865df8440b3a55c1aa81c9bae7c" ma:taxonomyFieldName="Project_x0020_Document_x0020_Type" ma:displayName="Project Document Type" ma:default="" ma:fieldId="{46ebf865-df84-40b3-a55c-1aa81c9bae7c}" ma:sspId="5676dd91-060c-4b71-810a-dbdca5582071" ma:termSetId="79e5d870-6e8b-4a88-8554-c2a1e06e1585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5676dd91-060c-4b71-810a-dbdca5582071" ContentTypeId="0x010100B16301FA1C2D5E4DB9305F31D037531D020703" PreviousValue="false"/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ffbd5dc-7a64-4097-8396-87f6c90b212f">
      <Value>6</Value>
      <Value>13</Value>
      <Value>11</Value>
    </TaxCatchAll>
    <nae5750f31d8428b9a1182bd8e59d390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Salesforce</TermName>
          <TermId xmlns="http://schemas.microsoft.com/office/infopath/2007/PartnerControls">65ce3b0d-68ef-4d0b-ac56-177d5509cec4</TermId>
        </TermInfo>
      </Terms>
    </nae5750f31d8428b9a1182bd8e59d390>
    <k6ebf865df8440b3a55c1aa81c9bae7c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General Information</TermName>
          <TermId xmlns="http://schemas.microsoft.com/office/infopath/2007/PartnerControls">daa73be0-193e-45ef-b7b0-ef595ceacf72</TermId>
        </TermInfo>
      </Terms>
    </k6ebf865df8440b3a55c1aa81c9bae7c>
    <ica44df5449d49f98766f83f0bd254a7 xmlns="1ffbd5dc-7a64-4097-8396-87f6c90b212f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Grainger PLC</TermName>
          <TermId xmlns="http://schemas.microsoft.com/office/infopath/2007/PartnerControls">a74f1cb5-e995-4f9e-8521-6d52e2c6bf08</TermId>
        </TermInfo>
      </Terms>
    </ica44df5449d49f98766f83f0bd254a7>
    <f0dc22cb723843c1bfbb2e8bcc9db6e4 xmlns="1ffbd5dc-7a64-4097-8396-87f6c90b212f">
      <Terms xmlns="http://schemas.microsoft.com/office/infopath/2007/PartnerControls"/>
    </f0dc22cb723843c1bfbb2e8bcc9db6e4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00396C-761C-4561-958D-9BADC91C6D12}">
  <ds:schemaRefs>
    <ds:schemaRef ds:uri="1ffbd5dc-7a64-4097-8396-87f6c90b212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6D72C02-E279-4A6C-B107-81FD29039443}">
  <ds:schemaRefs>
    <ds:schemaRef ds:uri="Microsoft.SharePoint.Taxonomy.ContentTypeSync"/>
  </ds:schemaRefs>
</ds:datastoreItem>
</file>

<file path=customXml/itemProps3.xml><?xml version="1.0" encoding="utf-8"?>
<ds:datastoreItem xmlns:ds="http://schemas.openxmlformats.org/officeDocument/2006/customXml" ds:itemID="{3CCB5E0C-6DBE-4B5A-8AAC-998D2993C1EE}">
  <ds:schemaRefs>
    <ds:schemaRef ds:uri="1ffbd5dc-7a64-4097-8396-87f6c90b212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FE0A4FC1-74BD-496D-A0A1-41BECF801D3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General Presentation Theme</Template>
  <Application>Microsoft Office PowerPoint</Application>
  <PresentationFormat>Widescreen</PresentationFormat>
  <Slides>13</Slides>
  <Notes>10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1. Title Slides</vt:lpstr>
      <vt:lpstr>1_1. Title Slides</vt:lpstr>
      <vt:lpstr>2. Agenda</vt:lpstr>
      <vt:lpstr>3. City Background</vt:lpstr>
      <vt:lpstr>4. Blank Background</vt:lpstr>
      <vt:lpstr>Full Blank</vt:lpstr>
      <vt:lpstr>Void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Skye Van Aswegen</dc:creator>
  <cp:revision>1</cp:revision>
  <dcterms:created xsi:type="dcterms:W3CDTF">2017-07-12T09:03:21Z</dcterms:created>
  <dcterms:modified xsi:type="dcterms:W3CDTF">2023-04-25T11:31:09Z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0x010100B16301FA1C2D5E4DB9305F31D037531D02070300B4E123A7400DE24C83BA9D1BFCD12C10</vt:lpwstr>
  </property>
  <property fmtid="{D5CDD505-2E9C-101B-9397-08002B2CF9AE}" pid="3" name="Business Document Type">
    <vt:lpwstr>5;#Marketing Document|83188caa-7371-410d-bb78-033c2f6b2dcb</vt:lpwstr>
  </property>
  <property fmtid="{D5CDD505-2E9C-101B-9397-08002B2CF9AE}" pid="4" name="display_urn">
    <vt:lpwstr>Skye Van Aswegen</vt:lpwstr>
  </property>
  <property fmtid="{D5CDD505-2E9C-101B-9397-08002B2CF9AE}" pid="5" name="Order">
    <vt:r8>41700</vt:r8>
  </property>
  <property fmtid="{D5CDD505-2E9C-101B-9397-08002B2CF9AE}" pid="6" name="xd_Signature">
    <vt:bool>false</vt:bool>
  </property>
  <property fmtid="{D5CDD505-2E9C-101B-9397-08002B2CF9AE}" pid="7" name="xd_ProgID">
    <vt:lpwstr/>
  </property>
  <property fmtid="{D5CDD505-2E9C-101B-9397-08002B2CF9AE}" pid="8" name="ComplianceAssetId">
    <vt:lpwstr/>
  </property>
  <property fmtid="{D5CDD505-2E9C-101B-9397-08002B2CF9AE}" pid="9" name="TemplateUrl">
    <vt:lpwstr/>
  </property>
  <property fmtid="{D5CDD505-2E9C-101B-9397-08002B2CF9AE}" pid="10" name="AuthorIds_UIVersion_3">
    <vt:lpwstr>22</vt:lpwstr>
  </property>
  <property fmtid="{D5CDD505-2E9C-101B-9397-08002B2CF9AE}" pid="11" name="AuthorIds_UIVersion_4">
    <vt:lpwstr>27</vt:lpwstr>
  </property>
  <property fmtid="{D5CDD505-2E9C-101B-9397-08002B2CF9AE}" pid="12" name="lcf76f155ced4ddcb4097134ff3c332f">
    <vt:lpwstr/>
  </property>
  <property fmtid="{D5CDD505-2E9C-101B-9397-08002B2CF9AE}" pid="13" name="MediaServiceImageTags">
    <vt:lpwstr/>
  </property>
  <property fmtid="{D5CDD505-2E9C-101B-9397-08002B2CF9AE}" pid="14" name="Project Document Type">
    <vt:lpwstr/>
  </property>
  <property fmtid="{D5CDD505-2E9C-101B-9397-08002B2CF9AE}" pid="15" name="Division">
    <vt:lpwstr>13;#Salesforce|65ce3b0d-68ef-4d0b-ac56-177d5509cec4</vt:lpwstr>
  </property>
  <property fmtid="{D5CDD505-2E9C-101B-9397-08002B2CF9AE}" pid="16" name="Client">
    <vt:lpwstr>6;#Grainger PLC|a74f1cb5-e995-4f9e-8521-6d52e2c6bf08</vt:lpwstr>
  </property>
  <property fmtid="{D5CDD505-2E9C-101B-9397-08002B2CF9AE}" pid="17" name="Client Project">
    <vt:lpwstr/>
  </property>
  <property fmtid="{D5CDD505-2E9C-101B-9397-08002B2CF9AE}" pid="18" name="SharedWithUsers">
    <vt:lpwstr>177;#Handre Van Der Merwe;#210;#Sam Duncan;#23;#Craig Mackintosh</vt:lpwstr>
  </property>
  <property fmtid="{D5CDD505-2E9C-101B-9397-08002B2CF9AE}" pid="19" name="Prospective Client">
    <vt:lpwstr/>
  </property>
  <property fmtid="{D5CDD505-2E9C-101B-9397-08002B2CF9AE}" pid="20" name="Prospective_x0020_Client">
    <vt:lpwstr/>
  </property>
  <property fmtid="{D5CDD505-2E9C-101B-9397-08002B2CF9AE}" pid="21" name="Project_x0020_Document_x0020_Type">
    <vt:lpwstr/>
  </property>
  <property fmtid="{D5CDD505-2E9C-101B-9397-08002B2CF9AE}" pid="22" name="Client_x0020_Project">
    <vt:lpwstr/>
  </property>
</Properties>
</file>