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5"/>
  </p:sldMasterIdLst>
  <p:notesMasterIdLst>
    <p:notesMasterId r:id="rId78"/>
  </p:notesMasterIdLst>
  <p:handoutMasterIdLst>
    <p:handoutMasterId r:id="rId79"/>
  </p:handoutMasterIdLst>
  <p:sldIdLst>
    <p:sldId id="410" r:id="rId6"/>
    <p:sldId id="974" r:id="rId7"/>
    <p:sldId id="647" r:id="rId8"/>
    <p:sldId id="973" r:id="rId9"/>
    <p:sldId id="982" r:id="rId10"/>
    <p:sldId id="963" r:id="rId11"/>
    <p:sldId id="1016" r:id="rId12"/>
    <p:sldId id="413" r:id="rId13"/>
    <p:sldId id="1013" r:id="rId14"/>
    <p:sldId id="1014" r:id="rId15"/>
    <p:sldId id="1011" r:id="rId16"/>
    <p:sldId id="1012" r:id="rId17"/>
    <p:sldId id="1008" r:id="rId18"/>
    <p:sldId id="1009" r:id="rId19"/>
    <p:sldId id="1010" r:id="rId20"/>
    <p:sldId id="1025" r:id="rId21"/>
    <p:sldId id="1026" r:id="rId22"/>
    <p:sldId id="606" r:id="rId23"/>
    <p:sldId id="1038" r:id="rId24"/>
    <p:sldId id="1027" r:id="rId25"/>
    <p:sldId id="1015" r:id="rId26"/>
    <p:sldId id="429" r:id="rId27"/>
    <p:sldId id="428" r:id="rId28"/>
    <p:sldId id="432" r:id="rId29"/>
    <p:sldId id="430" r:id="rId30"/>
    <p:sldId id="431" r:id="rId31"/>
    <p:sldId id="433" r:id="rId32"/>
    <p:sldId id="491" r:id="rId33"/>
    <p:sldId id="1021" r:id="rId34"/>
    <p:sldId id="633" r:id="rId35"/>
    <p:sldId id="1018" r:id="rId36"/>
    <p:sldId id="1019" r:id="rId37"/>
    <p:sldId id="1020" r:id="rId38"/>
    <p:sldId id="1017" r:id="rId39"/>
    <p:sldId id="591" r:id="rId40"/>
    <p:sldId id="975" r:id="rId41"/>
    <p:sldId id="976" r:id="rId42"/>
    <p:sldId id="977" r:id="rId43"/>
    <p:sldId id="978" r:id="rId44"/>
    <p:sldId id="979" r:id="rId45"/>
    <p:sldId id="980" r:id="rId46"/>
    <p:sldId id="991" r:id="rId47"/>
    <p:sldId id="992" r:id="rId48"/>
    <p:sldId id="592" r:id="rId49"/>
    <p:sldId id="983" r:id="rId50"/>
    <p:sldId id="984" r:id="rId51"/>
    <p:sldId id="985" r:id="rId52"/>
    <p:sldId id="986" r:id="rId53"/>
    <p:sldId id="987" r:id="rId54"/>
    <p:sldId id="988" r:id="rId55"/>
    <p:sldId id="990" r:id="rId56"/>
    <p:sldId id="593" r:id="rId57"/>
    <p:sldId id="993" r:id="rId58"/>
    <p:sldId id="994" r:id="rId59"/>
    <p:sldId id="995" r:id="rId60"/>
    <p:sldId id="998" r:id="rId61"/>
    <p:sldId id="999" r:id="rId62"/>
    <p:sldId id="1000" r:id="rId63"/>
    <p:sldId id="1001" r:id="rId64"/>
    <p:sldId id="1002" r:id="rId65"/>
    <p:sldId id="1003" r:id="rId66"/>
    <p:sldId id="594" r:id="rId67"/>
    <p:sldId id="595" r:id="rId68"/>
    <p:sldId id="1029" r:id="rId69"/>
    <p:sldId id="1030" r:id="rId70"/>
    <p:sldId id="1031" r:id="rId71"/>
    <p:sldId id="1036" r:id="rId72"/>
    <p:sldId id="1032" r:id="rId73"/>
    <p:sldId id="1035" r:id="rId74"/>
    <p:sldId id="1033" r:id="rId75"/>
    <p:sldId id="1037" r:id="rId76"/>
    <p:sldId id="1034" r:id="rId77"/>
  </p:sldIdLst>
  <p:sldSz cx="9144000" cy="6858000" type="screen4x3"/>
  <p:notesSz cx="6808788" cy="99409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2EA86B-34D0-4409-AABA-DDB3FE394E70}">
          <p14:sldIdLst>
            <p14:sldId id="410"/>
            <p14:sldId id="974"/>
            <p14:sldId id="647"/>
            <p14:sldId id="973"/>
            <p14:sldId id="982"/>
            <p14:sldId id="963"/>
          </p14:sldIdLst>
        </p14:section>
        <p14:section name="Business Processes" id="{377D92C8-7076-419D-9DDA-9292E459894D}">
          <p14:sldIdLst>
            <p14:sldId id="1016"/>
            <p14:sldId id="413"/>
            <p14:sldId id="1013"/>
            <p14:sldId id="1014"/>
            <p14:sldId id="1011"/>
            <p14:sldId id="1012"/>
            <p14:sldId id="1008"/>
            <p14:sldId id="1009"/>
            <p14:sldId id="1010"/>
            <p14:sldId id="1025"/>
            <p14:sldId id="1026"/>
            <p14:sldId id="606"/>
            <p14:sldId id="1038"/>
            <p14:sldId id="1027"/>
          </p14:sldIdLst>
        </p14:section>
        <p14:section name="Integration" id="{E507B5D9-54D4-4B72-9D54-DB709E0F7366}">
          <p14:sldIdLst>
            <p14:sldId id="1015"/>
            <p14:sldId id="429"/>
            <p14:sldId id="428"/>
            <p14:sldId id="432"/>
            <p14:sldId id="430"/>
            <p14:sldId id="431"/>
            <p14:sldId id="433"/>
            <p14:sldId id="491"/>
          </p14:sldIdLst>
        </p14:section>
        <p14:section name="MyGrainger Portal" id="{BB7C258E-21C5-4742-BEAC-4A659FCA355B}">
          <p14:sldIdLst>
            <p14:sldId id="1021"/>
            <p14:sldId id="633"/>
            <p14:sldId id="1018"/>
            <p14:sldId id="1019"/>
            <p14:sldId id="1020"/>
            <p14:sldId id="1017"/>
          </p14:sldIdLst>
        </p14:section>
        <p14:section name="Property &amp; Supplier" id="{A3CD902D-FE20-40E3-B878-A48DC2D82DB3}">
          <p14:sldIdLst>
            <p14:sldId id="591"/>
            <p14:sldId id="975"/>
            <p14:sldId id="976"/>
            <p14:sldId id="977"/>
            <p14:sldId id="978"/>
            <p14:sldId id="979"/>
            <p14:sldId id="980"/>
            <p14:sldId id="991"/>
            <p14:sldId id="992"/>
          </p14:sldIdLst>
        </p14:section>
        <p14:section name="Collecting Payments" id="{E18C523D-F76A-4BBC-8145-A9D3A82660AF}">
          <p14:sldIdLst>
            <p14:sldId id="592"/>
            <p14:sldId id="983"/>
            <p14:sldId id="984"/>
            <p14:sldId id="985"/>
            <p14:sldId id="986"/>
            <p14:sldId id="987"/>
            <p14:sldId id="988"/>
            <p14:sldId id="990"/>
          </p14:sldIdLst>
        </p14:section>
        <p14:section name="Lead to Lease" id="{8AEA4265-BADE-4EFF-B92D-8B99C287FDEB}">
          <p14:sldIdLst>
            <p14:sldId id="593"/>
            <p14:sldId id="993"/>
            <p14:sldId id="994"/>
            <p14:sldId id="995"/>
            <p14:sldId id="998"/>
            <p14:sldId id="999"/>
            <p14:sldId id="1000"/>
            <p14:sldId id="1001"/>
            <p14:sldId id="1002"/>
            <p14:sldId id="1003"/>
            <p14:sldId id="594"/>
            <p14:sldId id="595"/>
            <p14:sldId id="1029"/>
            <p14:sldId id="1030"/>
            <p14:sldId id="1031"/>
            <p14:sldId id="1036"/>
            <p14:sldId id="1032"/>
            <p14:sldId id="1035"/>
            <p14:sldId id="1033"/>
            <p14:sldId id="1037"/>
            <p14:sldId id="1034"/>
          </p14:sldIdLst>
        </p14:section>
      </p14:sectionLst>
    </p:ext>
    <p:ext uri="{EFAFB233-063F-42B5-8137-9DF3F51BA10A}">
      <p15:sldGuideLst xmlns:p15="http://schemas.microsoft.com/office/powerpoint/2012/main">
        <p15:guide id="1" orient="horz" pos="867" userDrawn="1">
          <p15:clr>
            <a:srgbClr val="A4A3A4"/>
          </p15:clr>
        </p15:guide>
        <p15:guide id="2" pos="290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 Sciberras" initials="BS" lastIdx="2" clrIdx="0">
    <p:extLst>
      <p:ext uri="{19B8F6BF-5375-455C-9EA6-DF929625EA0E}">
        <p15:presenceInfo xmlns:p15="http://schemas.microsoft.com/office/powerpoint/2012/main" userId="S-1-5-21-2263145296-3781330999-4144883691-26415" providerId="AD"/>
      </p:ext>
    </p:extLst>
  </p:cmAuthor>
  <p:cmAuthor id="2" name="Joao Cardoso" initials="JC" lastIdx="56" clrIdx="1">
    <p:extLst>
      <p:ext uri="{19B8F6BF-5375-455C-9EA6-DF929625EA0E}">
        <p15:presenceInfo xmlns:p15="http://schemas.microsoft.com/office/powerpoint/2012/main" userId="dc12be983f0d80fb" providerId="Windows Live"/>
      </p:ext>
    </p:extLst>
  </p:cmAuthor>
  <p:cmAuthor id="3" name="Maria Paris" initials="MP" lastIdx="14" clrIdx="2">
    <p:extLst>
      <p:ext uri="{19B8F6BF-5375-455C-9EA6-DF929625EA0E}">
        <p15:presenceInfo xmlns:p15="http://schemas.microsoft.com/office/powerpoint/2012/main" userId="Maria Paris" providerId="None"/>
      </p:ext>
    </p:extLst>
  </p:cmAuthor>
  <p:cmAuthor id="4" name="Edward Fletcher" initials="EF" lastIdx="5" clrIdx="3">
    <p:extLst>
      <p:ext uri="{19B8F6BF-5375-455C-9EA6-DF929625EA0E}">
        <p15:presenceInfo xmlns:p15="http://schemas.microsoft.com/office/powerpoint/2012/main" userId="S-1-5-21-2263145296-3781330999-4144883691-306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D858D"/>
    <a:srgbClr val="0070C0"/>
    <a:srgbClr val="4A4A49"/>
    <a:srgbClr val="009BC0"/>
    <a:srgbClr val="00B0DA"/>
    <a:srgbClr val="00B7E2"/>
    <a:srgbClr val="FF8633"/>
    <a:srgbClr val="56A7A8"/>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60529B-C5E7-EC2F-28C7-E4E35DA919D9}" v="1" dt="2025-03-05T10:53:23.8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67"/>
        <p:guide pos="2903"/>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handoutMaster" Target="handoutMasters/handoutMaster1.xml"/><Relationship Id="rId5" Type="http://schemas.openxmlformats.org/officeDocument/2006/relationships/slideMaster" Target="slideMasters/slide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usi Mlalazi" userId="S::mmlalazi@openboxsoftware.com::667c616c-9ac1-41f4-a5f6-cb6e5eda28c8" providerId="AD" clId="Web-{AE60529B-C5E7-EC2F-28C7-E4E35DA919D9}"/>
    <pc:docChg chg="sldOrd">
      <pc:chgData name="Melusi Mlalazi" userId="S::mmlalazi@openboxsoftware.com::667c616c-9ac1-41f4-a5f6-cb6e5eda28c8" providerId="AD" clId="Web-{AE60529B-C5E7-EC2F-28C7-E4E35DA919D9}" dt="2025-03-05T10:53:23.868" v="0"/>
      <pc:docMkLst>
        <pc:docMk/>
      </pc:docMkLst>
      <pc:sldChg chg="ord">
        <pc:chgData name="Melusi Mlalazi" userId="S::mmlalazi@openboxsoftware.com::667c616c-9ac1-41f4-a5f6-cb6e5eda28c8" providerId="AD" clId="Web-{AE60529B-C5E7-EC2F-28C7-E4E35DA919D9}" dt="2025-03-05T10:53:23.868" v="0"/>
        <pc:sldMkLst>
          <pc:docMk/>
          <pc:sldMk cId="1765661111" sldId="10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AB6F0A-F4C9-4F53-9AF8-23AE96D97B75}"/>
              </a:ext>
            </a:extLst>
          </p:cNvPr>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C0BBB41-18BC-43C2-A0DC-D0959FF30D98}"/>
              </a:ext>
            </a:extLst>
          </p:cNvPr>
          <p:cNvSpPr>
            <a:spLocks noGrp="1"/>
          </p:cNvSpPr>
          <p:nvPr>
            <p:ph type="dt" sz="quarter" idx="1"/>
          </p:nvPr>
        </p:nvSpPr>
        <p:spPr>
          <a:xfrm>
            <a:off x="3856737" y="1"/>
            <a:ext cx="2950475" cy="498773"/>
          </a:xfrm>
          <a:prstGeom prst="rect">
            <a:avLst/>
          </a:prstGeom>
        </p:spPr>
        <p:txBody>
          <a:bodyPr vert="horz" lIns="91440" tIns="45720" rIns="91440" bIns="45720" rtlCol="0"/>
          <a:lstStyle>
            <a:lvl1pPr algn="r">
              <a:defRPr sz="1200"/>
            </a:lvl1pPr>
          </a:lstStyle>
          <a:p>
            <a:fld id="{56275018-F709-47C0-80A6-7BE2CC237135}" type="datetimeFigureOut">
              <a:rPr lang="en-GB" smtClean="0"/>
              <a:t>05/03/2025</a:t>
            </a:fld>
            <a:endParaRPr lang="en-GB"/>
          </a:p>
        </p:txBody>
      </p:sp>
      <p:sp>
        <p:nvSpPr>
          <p:cNvPr id="4" name="Footer Placeholder 3">
            <a:extLst>
              <a:ext uri="{FF2B5EF4-FFF2-40B4-BE49-F238E27FC236}">
                <a16:creationId xmlns:a16="http://schemas.microsoft.com/office/drawing/2014/main" id="{D1C57E76-EEE8-47EE-9C0C-33CCE36691B3}"/>
              </a:ext>
            </a:extLst>
          </p:cNvPr>
          <p:cNvSpPr>
            <a:spLocks noGrp="1"/>
          </p:cNvSpPr>
          <p:nvPr>
            <p:ph type="ftr" sz="quarter" idx="2"/>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5C39801-27EE-49E8-8E6F-01AF6EAB22E5}"/>
              </a:ext>
            </a:extLst>
          </p:cNvPr>
          <p:cNvSpPr>
            <a:spLocks noGrp="1"/>
          </p:cNvSpPr>
          <p:nvPr>
            <p:ph type="sldNum" sz="quarter" idx="3"/>
          </p:nvPr>
        </p:nvSpPr>
        <p:spPr>
          <a:xfrm>
            <a:off x="3856737" y="9442155"/>
            <a:ext cx="2950475" cy="498772"/>
          </a:xfrm>
          <a:prstGeom prst="rect">
            <a:avLst/>
          </a:prstGeom>
        </p:spPr>
        <p:txBody>
          <a:bodyPr vert="horz" lIns="91440" tIns="45720" rIns="91440" bIns="45720" rtlCol="0" anchor="b"/>
          <a:lstStyle>
            <a:lvl1pPr algn="r">
              <a:defRPr sz="1200"/>
            </a:lvl1pPr>
          </a:lstStyle>
          <a:p>
            <a:fld id="{07B36E9A-C494-4ADD-A7E8-6AFC8B6258B8}" type="slidenum">
              <a:rPr lang="en-GB" smtClean="0"/>
              <a:t>‹#›</a:t>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50475" cy="49877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6737" y="1"/>
            <a:ext cx="2950475" cy="498773"/>
          </a:xfrm>
          <a:prstGeom prst="rect">
            <a:avLst/>
          </a:prstGeom>
        </p:spPr>
        <p:txBody>
          <a:bodyPr vert="horz" lIns="91440" tIns="45720" rIns="91440" bIns="45720" rtlCol="0"/>
          <a:lstStyle>
            <a:lvl1pPr algn="r">
              <a:defRPr sz="1200"/>
            </a:lvl1pPr>
          </a:lstStyle>
          <a:p>
            <a:fld id="{667AD65F-7D3E-4DDC-A2E0-B90DC7F84CAD}" type="datetimeFigureOut">
              <a:rPr lang="en-GB" smtClean="0"/>
              <a:t>05/03/2025</a:t>
            </a:fld>
            <a:endParaRPr lang="en-GB"/>
          </a:p>
        </p:txBody>
      </p:sp>
      <p:sp>
        <p:nvSpPr>
          <p:cNvPr id="4" name="Slide Image Placeholder 3"/>
          <p:cNvSpPr>
            <a:spLocks noGrp="1" noRot="1" noChangeAspect="1"/>
          </p:cNvSpPr>
          <p:nvPr>
            <p:ph type="sldImg" idx="2"/>
          </p:nvPr>
        </p:nvSpPr>
        <p:spPr>
          <a:xfrm>
            <a:off x="1168400" y="1243013"/>
            <a:ext cx="4471988" cy="33543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0879" y="4784071"/>
            <a:ext cx="5447030" cy="391423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2155"/>
            <a:ext cx="2950475" cy="49877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6737" y="9442155"/>
            <a:ext cx="2950475" cy="498772"/>
          </a:xfrm>
          <a:prstGeom prst="rect">
            <a:avLst/>
          </a:prstGeom>
        </p:spPr>
        <p:txBody>
          <a:bodyPr vert="horz" lIns="91440" tIns="45720" rIns="91440" bIns="45720" rtlCol="0" anchor="b"/>
          <a:lstStyle>
            <a:lvl1pPr algn="r">
              <a:defRPr sz="1200"/>
            </a:lvl1pPr>
          </a:lstStyle>
          <a:p>
            <a:fld id="{A1EA93DF-5207-4EFC-B35D-3E311FF41A1C}" type="slidenum">
              <a:rPr lang="en-GB" smtClean="0"/>
              <a:t>‹#›</a:t>
            </a:fld>
            <a:endParaRPr lang="en-GB"/>
          </a:p>
        </p:txBody>
      </p:sp>
    </p:spTree>
    <p:extLst>
      <p:ext uri="{BB962C8B-B14F-4D97-AF65-F5344CB8AC3E}">
        <p14:creationId xmlns:p14="http://schemas.microsoft.com/office/powerpoint/2010/main" val="57935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E5E4E0-B916-4BEB-840B-2E09FC723F0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1975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sp>
        <p:nvSpPr>
          <p:cNvPr id="75" name="Picture Placeholder 74">
            <a:extLst>
              <a:ext uri="{FF2B5EF4-FFF2-40B4-BE49-F238E27FC236}">
                <a16:creationId xmlns:a16="http://schemas.microsoft.com/office/drawing/2014/main" id="{C53E5E9B-D886-45BC-95BD-9EA4F7A83A5E}"/>
              </a:ext>
            </a:extLst>
          </p:cNvPr>
          <p:cNvSpPr>
            <a:spLocks noGrp="1"/>
          </p:cNvSpPr>
          <p:nvPr>
            <p:ph type="pic" sz="quarter" idx="13"/>
          </p:nvPr>
        </p:nvSpPr>
        <p:spPr>
          <a:xfrm>
            <a:off x="5064192"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a:p>
        </p:txBody>
      </p:sp>
      <p:sp>
        <p:nvSpPr>
          <p:cNvPr id="2" name="Title 1">
            <a:extLst>
              <a:ext uri="{FF2B5EF4-FFF2-40B4-BE49-F238E27FC236}">
                <a16:creationId xmlns:a16="http://schemas.microsoft.com/office/drawing/2014/main" id="{8382D4DA-C1DB-4A6B-B459-A5A4C3E1DC02}"/>
              </a:ext>
            </a:extLst>
          </p:cNvPr>
          <p:cNvSpPr>
            <a:spLocks noGrp="1"/>
          </p:cNvSpPr>
          <p:nvPr>
            <p:ph type="ctrTitle" hasCustomPrompt="1"/>
          </p:nvPr>
        </p:nvSpPr>
        <p:spPr>
          <a:xfrm>
            <a:off x="358774" y="294420"/>
            <a:ext cx="4687591"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3" name="Subtitle 2">
            <a:extLst>
              <a:ext uri="{FF2B5EF4-FFF2-40B4-BE49-F238E27FC236}">
                <a16:creationId xmlns:a16="http://schemas.microsoft.com/office/drawing/2014/main" id="{9DD5FD9C-9222-49E5-98C9-37E5C23E53B2}"/>
              </a:ext>
            </a:extLst>
          </p:cNvPr>
          <p:cNvSpPr>
            <a:spLocks noGrp="1"/>
          </p:cNvSpPr>
          <p:nvPr>
            <p:ph type="subTitle" idx="1" hasCustomPrompt="1"/>
          </p:nvPr>
        </p:nvSpPr>
        <p:spPr>
          <a:xfrm>
            <a:off x="358776" y="2709539"/>
            <a:ext cx="4687590"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76" name="Text Placeholder 75">
            <a:extLst>
              <a:ext uri="{FF2B5EF4-FFF2-40B4-BE49-F238E27FC236}">
                <a16:creationId xmlns:a16="http://schemas.microsoft.com/office/drawing/2014/main" id="{22565E27-3BA8-425F-9F31-792B367318F9}"/>
              </a:ext>
            </a:extLst>
          </p:cNvPr>
          <p:cNvSpPr>
            <a:spLocks noGrp="1"/>
          </p:cNvSpPr>
          <p:nvPr>
            <p:ph type="body" sz="quarter" idx="10" hasCustomPrompt="1"/>
          </p:nvPr>
        </p:nvSpPr>
        <p:spPr>
          <a:xfrm>
            <a:off x="358775" y="3442695"/>
            <a:ext cx="4703555"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cxnSp>
        <p:nvCxnSpPr>
          <p:cNvPr id="94" name="Straight Connector 93">
            <a:extLst>
              <a:ext uri="{FF2B5EF4-FFF2-40B4-BE49-F238E27FC236}">
                <a16:creationId xmlns:a16="http://schemas.microsoft.com/office/drawing/2014/main" id="{78F59616-C32C-4CAF-9EB2-CE4D58AB5FC5}"/>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Picture Placeholder 43">
            <a:extLst>
              <a:ext uri="{FF2B5EF4-FFF2-40B4-BE49-F238E27FC236}">
                <a16:creationId xmlns:a16="http://schemas.microsoft.com/office/drawing/2014/main" id="{8FC2DAFE-01E6-4E96-8A74-D839C9FE36DE}"/>
              </a:ext>
            </a:extLst>
          </p:cNvPr>
          <p:cNvSpPr>
            <a:spLocks noGrp="1"/>
          </p:cNvSpPr>
          <p:nvPr>
            <p:ph type="pic" sz="quarter" idx="11"/>
          </p:nvPr>
        </p:nvSpPr>
        <p:spPr>
          <a:xfrm>
            <a:off x="5064192"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45" name="Picture Placeholder 44">
            <a:extLst>
              <a:ext uri="{FF2B5EF4-FFF2-40B4-BE49-F238E27FC236}">
                <a16:creationId xmlns:a16="http://schemas.microsoft.com/office/drawing/2014/main" id="{80F58609-D4E1-4D30-A987-463F020D7A27}"/>
              </a:ext>
            </a:extLst>
          </p:cNvPr>
          <p:cNvSpPr>
            <a:spLocks noGrp="1"/>
          </p:cNvSpPr>
          <p:nvPr>
            <p:ph type="pic" sz="quarter" idx="12"/>
          </p:nvPr>
        </p:nvSpPr>
        <p:spPr>
          <a:xfrm>
            <a:off x="7012940" y="404813"/>
            <a:ext cx="1763790" cy="2619122"/>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77" name="Picture Placeholder 76">
            <a:extLst>
              <a:ext uri="{FF2B5EF4-FFF2-40B4-BE49-F238E27FC236}">
                <a16:creationId xmlns:a16="http://schemas.microsoft.com/office/drawing/2014/main" id="{542B6375-0524-4345-96C0-9881233C43DB}"/>
              </a:ext>
            </a:extLst>
          </p:cNvPr>
          <p:cNvSpPr>
            <a:spLocks noGrp="1"/>
          </p:cNvSpPr>
          <p:nvPr>
            <p:ph type="pic" sz="quarter" idx="14"/>
          </p:nvPr>
        </p:nvSpPr>
        <p:spPr>
          <a:xfrm>
            <a:off x="7008225" y="2022171"/>
            <a:ext cx="1763790" cy="2619122"/>
          </a:xfrm>
          <a:custGeom>
            <a:avLst/>
            <a:gdLst>
              <a:gd name="connsiteX0" fmla="*/ 1763790 w 1763790"/>
              <a:gd name="connsiteY0" fmla="*/ 0 h 2619122"/>
              <a:gd name="connsiteX1" fmla="*/ 1763790 w 1763790"/>
              <a:gd name="connsiteY1" fmla="*/ 2619122 h 2619122"/>
              <a:gd name="connsiteX2" fmla="*/ 0 w 1763790"/>
              <a:gd name="connsiteY2" fmla="*/ 2619122 h 2619122"/>
              <a:gd name="connsiteX3" fmla="*/ 0 w 1763790"/>
              <a:gd name="connsiteY3" fmla="*/ 117303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1763790" y="0"/>
                </a:moveTo>
                <a:lnTo>
                  <a:pt x="1763790" y="2619122"/>
                </a:lnTo>
                <a:lnTo>
                  <a:pt x="0" y="2619122"/>
                </a:lnTo>
                <a:lnTo>
                  <a:pt x="0" y="1173032"/>
                </a:lnTo>
                <a:close/>
              </a:path>
            </a:pathLst>
          </a:custGeom>
        </p:spPr>
        <p:txBody>
          <a:bodyPr wrap="square" anchor="b" anchorCtr="0">
            <a:noAutofit/>
          </a:bodyPr>
          <a:lstStyle>
            <a:lvl1pPr algn="r">
              <a:defRPr sz="1050"/>
            </a:lvl1pPr>
          </a:lstStyle>
          <a:p>
            <a:endParaRPr lang="en-GB"/>
          </a:p>
        </p:txBody>
      </p:sp>
    </p:spTree>
    <p:extLst>
      <p:ext uri="{BB962C8B-B14F-4D97-AF65-F5344CB8AC3E}">
        <p14:creationId xmlns:p14="http://schemas.microsoft.com/office/powerpoint/2010/main" val="26947089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tx1"/>
        </a:solidFill>
        <a:effectLst/>
      </p:bgPr>
    </p:bg>
    <p:spTree>
      <p:nvGrpSpPr>
        <p:cNvPr id="1" name=""/>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4B9AABEE-8AB9-4C85-AF14-454B1CA8D9DB}"/>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
            <a:extLst>
              <a:ext uri="{FF2B5EF4-FFF2-40B4-BE49-F238E27FC236}">
                <a16:creationId xmlns:a16="http://schemas.microsoft.com/office/drawing/2014/main" id="{959CA7EE-F568-467D-9E2F-F4174E4C6673}"/>
              </a:ext>
            </a:extLst>
          </p:cNvPr>
          <p:cNvGrpSpPr>
            <a:grpSpLocks noChangeAspect="1"/>
          </p:cNvGrpSpPr>
          <p:nvPr userDrawn="1"/>
        </p:nvGrpSpPr>
        <p:grpSpPr bwMode="auto">
          <a:xfrm>
            <a:off x="6232276" y="5680861"/>
            <a:ext cx="2524348" cy="507937"/>
            <a:chOff x="-3357" y="-1385"/>
            <a:chExt cx="5760" cy="1159"/>
          </a:xfrm>
        </p:grpSpPr>
        <p:sp>
          <p:nvSpPr>
            <p:cNvPr id="48" name="Freeform 5">
              <a:extLst>
                <a:ext uri="{FF2B5EF4-FFF2-40B4-BE49-F238E27FC236}">
                  <a16:creationId xmlns:a16="http://schemas.microsoft.com/office/drawing/2014/main" id="{E6224FA3-5CFD-40D4-9709-ABECFC7BBBB7}"/>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Rectangle 6">
              <a:extLst>
                <a:ext uri="{FF2B5EF4-FFF2-40B4-BE49-F238E27FC236}">
                  <a16:creationId xmlns:a16="http://schemas.microsoft.com/office/drawing/2014/main" id="{4DCAD83F-127D-40C3-B602-D80F42C4F090}"/>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7">
              <a:extLst>
                <a:ext uri="{FF2B5EF4-FFF2-40B4-BE49-F238E27FC236}">
                  <a16:creationId xmlns:a16="http://schemas.microsoft.com/office/drawing/2014/main" id="{A6A93FF1-DA46-419E-82B7-713630F77DB8}"/>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8">
              <a:extLst>
                <a:ext uri="{FF2B5EF4-FFF2-40B4-BE49-F238E27FC236}">
                  <a16:creationId xmlns:a16="http://schemas.microsoft.com/office/drawing/2014/main" id="{7189F352-D69E-4819-9B0A-EB17E3358C6E}"/>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2" name="Freeform 9">
              <a:extLst>
                <a:ext uri="{FF2B5EF4-FFF2-40B4-BE49-F238E27FC236}">
                  <a16:creationId xmlns:a16="http://schemas.microsoft.com/office/drawing/2014/main" id="{20054A5B-B573-4098-B778-F53C18EF78DE}"/>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3" name="Freeform 10">
              <a:extLst>
                <a:ext uri="{FF2B5EF4-FFF2-40B4-BE49-F238E27FC236}">
                  <a16:creationId xmlns:a16="http://schemas.microsoft.com/office/drawing/2014/main" id="{78808505-2888-44D4-B4C5-74725A248953}"/>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11">
              <a:extLst>
                <a:ext uri="{FF2B5EF4-FFF2-40B4-BE49-F238E27FC236}">
                  <a16:creationId xmlns:a16="http://schemas.microsoft.com/office/drawing/2014/main" id="{427426D6-5091-4743-942A-F26DC57B2E2E}"/>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12">
              <a:extLst>
                <a:ext uri="{FF2B5EF4-FFF2-40B4-BE49-F238E27FC236}">
                  <a16:creationId xmlns:a16="http://schemas.microsoft.com/office/drawing/2014/main" id="{D06B6BC2-D51B-4FBE-B5ED-B1DCBD82DF03}"/>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6" name="Freeform 13">
              <a:extLst>
                <a:ext uri="{FF2B5EF4-FFF2-40B4-BE49-F238E27FC236}">
                  <a16:creationId xmlns:a16="http://schemas.microsoft.com/office/drawing/2014/main" id="{D76085D6-5CEA-4E5A-8D34-D87DEF0616D9}"/>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7" name="Freeform 14">
              <a:extLst>
                <a:ext uri="{FF2B5EF4-FFF2-40B4-BE49-F238E27FC236}">
                  <a16:creationId xmlns:a16="http://schemas.microsoft.com/office/drawing/2014/main" id="{3DC2D50B-15B1-4CAB-A1AA-C9146A76D5EB}"/>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8" name="Freeform 15">
              <a:extLst>
                <a:ext uri="{FF2B5EF4-FFF2-40B4-BE49-F238E27FC236}">
                  <a16:creationId xmlns:a16="http://schemas.microsoft.com/office/drawing/2014/main" id="{5855BC47-8DE8-4582-8408-AE2779AF28E3}"/>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16">
              <a:extLst>
                <a:ext uri="{FF2B5EF4-FFF2-40B4-BE49-F238E27FC236}">
                  <a16:creationId xmlns:a16="http://schemas.microsoft.com/office/drawing/2014/main" id="{AB10AA27-E556-4BD1-8DFF-F327FEDC1A62}"/>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17">
              <a:extLst>
                <a:ext uri="{FF2B5EF4-FFF2-40B4-BE49-F238E27FC236}">
                  <a16:creationId xmlns:a16="http://schemas.microsoft.com/office/drawing/2014/main" id="{D1B4C25C-80A5-4C27-9320-967A9E66C531}"/>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1" name="Freeform 18">
              <a:extLst>
                <a:ext uri="{FF2B5EF4-FFF2-40B4-BE49-F238E27FC236}">
                  <a16:creationId xmlns:a16="http://schemas.microsoft.com/office/drawing/2014/main" id="{8896C2EC-C2A7-41BB-9D35-A8A87BF1FACF}"/>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2" name="Freeform 19">
              <a:extLst>
                <a:ext uri="{FF2B5EF4-FFF2-40B4-BE49-F238E27FC236}">
                  <a16:creationId xmlns:a16="http://schemas.microsoft.com/office/drawing/2014/main" id="{9CF3CE02-4085-478C-AC4C-03790325F15C}"/>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3" name="Freeform 20">
              <a:extLst>
                <a:ext uri="{FF2B5EF4-FFF2-40B4-BE49-F238E27FC236}">
                  <a16:creationId xmlns:a16="http://schemas.microsoft.com/office/drawing/2014/main" id="{8C5CC392-9BBC-49E8-8A4B-ED51BA253D5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21">
              <a:extLst>
                <a:ext uri="{FF2B5EF4-FFF2-40B4-BE49-F238E27FC236}">
                  <a16:creationId xmlns:a16="http://schemas.microsoft.com/office/drawing/2014/main" id="{70847458-E411-484B-B4FA-2449BA209901}"/>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22">
              <a:extLst>
                <a:ext uri="{FF2B5EF4-FFF2-40B4-BE49-F238E27FC236}">
                  <a16:creationId xmlns:a16="http://schemas.microsoft.com/office/drawing/2014/main" id="{351009B9-5AE1-4694-B2D4-4566A9C58D98}"/>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23">
              <a:extLst>
                <a:ext uri="{FF2B5EF4-FFF2-40B4-BE49-F238E27FC236}">
                  <a16:creationId xmlns:a16="http://schemas.microsoft.com/office/drawing/2014/main" id="{41554C1E-0A79-4A72-84EA-2EB56DA0DA45}"/>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24">
              <a:extLst>
                <a:ext uri="{FF2B5EF4-FFF2-40B4-BE49-F238E27FC236}">
                  <a16:creationId xmlns:a16="http://schemas.microsoft.com/office/drawing/2014/main" id="{B0578913-1185-418E-9085-DD78083AD357}"/>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25">
              <a:extLst>
                <a:ext uri="{FF2B5EF4-FFF2-40B4-BE49-F238E27FC236}">
                  <a16:creationId xmlns:a16="http://schemas.microsoft.com/office/drawing/2014/main" id="{7A132186-8255-4962-8135-56B37E11E9B7}"/>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26">
              <a:extLst>
                <a:ext uri="{FF2B5EF4-FFF2-40B4-BE49-F238E27FC236}">
                  <a16:creationId xmlns:a16="http://schemas.microsoft.com/office/drawing/2014/main" id="{BEEF5774-5B89-4617-A21A-93722DC56452}"/>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0" name="Freeform 27">
              <a:extLst>
                <a:ext uri="{FF2B5EF4-FFF2-40B4-BE49-F238E27FC236}">
                  <a16:creationId xmlns:a16="http://schemas.microsoft.com/office/drawing/2014/main" id="{41B13E74-0C71-4236-8E3A-AF6184610435}"/>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1" name="Freeform 28">
              <a:extLst>
                <a:ext uri="{FF2B5EF4-FFF2-40B4-BE49-F238E27FC236}">
                  <a16:creationId xmlns:a16="http://schemas.microsoft.com/office/drawing/2014/main" id="{3917CFFC-282F-465E-AEBA-7CECF5C79EA5}"/>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2" name="Freeform 29">
              <a:extLst>
                <a:ext uri="{FF2B5EF4-FFF2-40B4-BE49-F238E27FC236}">
                  <a16:creationId xmlns:a16="http://schemas.microsoft.com/office/drawing/2014/main" id="{65B04632-CA6F-4348-93D7-FCE377281775}"/>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3" name="Freeform 30">
              <a:extLst>
                <a:ext uri="{FF2B5EF4-FFF2-40B4-BE49-F238E27FC236}">
                  <a16:creationId xmlns:a16="http://schemas.microsoft.com/office/drawing/2014/main" id="{0DA9B0AD-F2F5-4E1E-AF97-0ACBDD0B9855}"/>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4" name="Freeform 31">
              <a:extLst>
                <a:ext uri="{FF2B5EF4-FFF2-40B4-BE49-F238E27FC236}">
                  <a16:creationId xmlns:a16="http://schemas.microsoft.com/office/drawing/2014/main" id="{8E97C255-9362-43F4-BBA0-6CD15BB968AE}"/>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0" name="Picture Placeholder 39">
            <a:extLst>
              <a:ext uri="{FF2B5EF4-FFF2-40B4-BE49-F238E27FC236}">
                <a16:creationId xmlns:a16="http://schemas.microsoft.com/office/drawing/2014/main" id="{2A269334-41D2-498D-A25B-776F5DC089C4}"/>
              </a:ext>
            </a:extLst>
          </p:cNvPr>
          <p:cNvSpPr>
            <a:spLocks noGrp="1"/>
          </p:cNvSpPr>
          <p:nvPr>
            <p:ph type="pic" sz="quarter" idx="11"/>
          </p:nvPr>
        </p:nvSpPr>
        <p:spPr>
          <a:xfrm>
            <a:off x="6023181" y="402623"/>
            <a:ext cx="2762043" cy="4101468"/>
          </a:xfrm>
          <a:custGeom>
            <a:avLst/>
            <a:gdLst>
              <a:gd name="connsiteX0" fmla="*/ 0 w 1763790"/>
              <a:gd name="connsiteY0" fmla="*/ 0 h 2619122"/>
              <a:gd name="connsiteX1" fmla="*/ 1763790 w 1763790"/>
              <a:gd name="connsiteY1" fmla="*/ 0 h 2619122"/>
              <a:gd name="connsiteX2" fmla="*/ 1763790 w 1763790"/>
              <a:gd name="connsiteY2" fmla="*/ 1446090 h 2619122"/>
              <a:gd name="connsiteX3" fmla="*/ 0 w 1763790"/>
              <a:gd name="connsiteY3" fmla="*/ 2619122 h 2619122"/>
            </a:gdLst>
            <a:ahLst/>
            <a:cxnLst>
              <a:cxn ang="0">
                <a:pos x="connsiteX0" y="connsiteY0"/>
              </a:cxn>
              <a:cxn ang="0">
                <a:pos x="connsiteX1" y="connsiteY1"/>
              </a:cxn>
              <a:cxn ang="0">
                <a:pos x="connsiteX2" y="connsiteY2"/>
              </a:cxn>
              <a:cxn ang="0">
                <a:pos x="connsiteX3" y="connsiteY3"/>
              </a:cxn>
            </a:cxnLst>
            <a:rect l="l" t="t" r="r" b="b"/>
            <a:pathLst>
              <a:path w="1763790" h="2619122">
                <a:moveTo>
                  <a:pt x="0" y="0"/>
                </a:moveTo>
                <a:lnTo>
                  <a:pt x="1763790" y="0"/>
                </a:lnTo>
                <a:lnTo>
                  <a:pt x="1763790" y="1446090"/>
                </a:lnTo>
                <a:lnTo>
                  <a:pt x="0" y="2619122"/>
                </a:lnTo>
                <a:close/>
              </a:path>
            </a:pathLst>
          </a:custGeom>
        </p:spPr>
        <p:txBody>
          <a:bodyPr wrap="square">
            <a:noAutofit/>
          </a:bodyPr>
          <a:lstStyle>
            <a:lvl1pPr>
              <a:defRPr sz="1100"/>
            </a:lvl1pPr>
          </a:lstStyle>
          <a:p>
            <a:endParaRPr lang="en-GB"/>
          </a:p>
        </p:txBody>
      </p:sp>
      <p:sp>
        <p:nvSpPr>
          <p:cNvPr id="42" name="Title 1">
            <a:extLst>
              <a:ext uri="{FF2B5EF4-FFF2-40B4-BE49-F238E27FC236}">
                <a16:creationId xmlns:a16="http://schemas.microsoft.com/office/drawing/2014/main" id="{68AE987A-6895-44B6-8C71-ED622A6A58E0}"/>
              </a:ext>
            </a:extLst>
          </p:cNvPr>
          <p:cNvSpPr>
            <a:spLocks noGrp="1"/>
          </p:cNvSpPr>
          <p:nvPr>
            <p:ph type="ctrTitle" hasCustomPrompt="1"/>
          </p:nvPr>
        </p:nvSpPr>
        <p:spPr>
          <a:xfrm>
            <a:off x="358774" y="294420"/>
            <a:ext cx="5664407" cy="1727751"/>
          </a:xfrm>
        </p:spPr>
        <p:txBody>
          <a:bodyPr lIns="0" tIns="72000" rIns="0" bIns="0" anchor="t" anchorCtr="0"/>
          <a:lstStyle>
            <a:lvl1pPr algn="l">
              <a:lnSpc>
                <a:spcPct val="85000"/>
              </a:lnSpc>
              <a:defRPr sz="4400">
                <a:solidFill>
                  <a:schemeClr val="accent2"/>
                </a:solidFill>
                <a:latin typeface="+mj-lt"/>
              </a:defRPr>
            </a:lvl1pPr>
          </a:lstStyle>
          <a:p>
            <a:r>
              <a:rPr lang="en-US"/>
              <a:t>Presentation </a:t>
            </a:r>
            <a:br>
              <a:rPr lang="en-US"/>
            </a:br>
            <a:r>
              <a:rPr lang="en-US"/>
              <a:t>title</a:t>
            </a:r>
            <a:endParaRPr lang="en-GB"/>
          </a:p>
        </p:txBody>
      </p:sp>
      <p:sp>
        <p:nvSpPr>
          <p:cNvPr id="43" name="Subtitle 2">
            <a:extLst>
              <a:ext uri="{FF2B5EF4-FFF2-40B4-BE49-F238E27FC236}">
                <a16:creationId xmlns:a16="http://schemas.microsoft.com/office/drawing/2014/main" id="{2F285439-C0D5-4092-94AA-030179C1BAA0}"/>
              </a:ext>
            </a:extLst>
          </p:cNvPr>
          <p:cNvSpPr>
            <a:spLocks noGrp="1"/>
          </p:cNvSpPr>
          <p:nvPr>
            <p:ph type="subTitle" idx="1" hasCustomPrompt="1"/>
          </p:nvPr>
        </p:nvSpPr>
        <p:spPr>
          <a:xfrm>
            <a:off x="358776" y="2709539"/>
            <a:ext cx="5664406" cy="505550"/>
          </a:xfrm>
        </p:spPr>
        <p:txBody>
          <a:bodyPr lIns="0" tIns="0" rIns="0" bIns="0">
            <a:noAutofit/>
          </a:bodyPr>
          <a:lstStyle>
            <a:lvl1pPr marL="0" indent="0" algn="l">
              <a:lnSpc>
                <a:spcPct val="85000"/>
              </a:lnSpc>
              <a:spcBef>
                <a:spcPts val="0"/>
              </a:spcBef>
              <a:buNone/>
              <a:defRPr sz="2400">
                <a:solidFill>
                  <a:schemeClr val="accent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Speaker name</a:t>
            </a:r>
            <a:br>
              <a:rPr lang="en-US"/>
            </a:br>
            <a:r>
              <a:rPr lang="en-US"/>
              <a:t>Speaker title</a:t>
            </a:r>
            <a:endParaRPr lang="en-GB"/>
          </a:p>
        </p:txBody>
      </p:sp>
      <p:sp>
        <p:nvSpPr>
          <p:cNvPr id="44" name="Text Placeholder 75">
            <a:extLst>
              <a:ext uri="{FF2B5EF4-FFF2-40B4-BE49-F238E27FC236}">
                <a16:creationId xmlns:a16="http://schemas.microsoft.com/office/drawing/2014/main" id="{151B52FE-CFFE-436D-8392-09E08457CC54}"/>
              </a:ext>
            </a:extLst>
          </p:cNvPr>
          <p:cNvSpPr>
            <a:spLocks noGrp="1"/>
          </p:cNvSpPr>
          <p:nvPr>
            <p:ph type="body" sz="quarter" idx="14" hasCustomPrompt="1"/>
          </p:nvPr>
        </p:nvSpPr>
        <p:spPr>
          <a:xfrm>
            <a:off x="358775" y="3442695"/>
            <a:ext cx="5683698" cy="392791"/>
          </a:xfrm>
        </p:spPr>
        <p:txBody>
          <a:bodyPr lIns="0" tIns="0" rIns="0" bIns="0">
            <a:noAutofit/>
          </a:bodyPr>
          <a:lstStyle>
            <a:lvl1pPr algn="l">
              <a:lnSpc>
                <a:spcPct val="85000"/>
              </a:lnSpc>
              <a:spcBef>
                <a:spcPts val="0"/>
              </a:spcBef>
              <a:defRPr sz="2400">
                <a:solidFill>
                  <a:schemeClr val="accent2"/>
                </a:solidFill>
                <a:latin typeface="+mn-lt"/>
              </a:defRPr>
            </a:lvl1pPr>
          </a:lstStyle>
          <a:p>
            <a:pPr lvl="0"/>
            <a:r>
              <a:rPr lang="en-US"/>
              <a:t>Date</a:t>
            </a:r>
            <a:endParaRPr lang="en-GB"/>
          </a:p>
        </p:txBody>
      </p:sp>
      <p:cxnSp>
        <p:nvCxnSpPr>
          <p:cNvPr id="45" name="Straight Connector 44">
            <a:extLst>
              <a:ext uri="{FF2B5EF4-FFF2-40B4-BE49-F238E27FC236}">
                <a16:creationId xmlns:a16="http://schemas.microsoft.com/office/drawing/2014/main" id="{3222CBCB-9322-4755-9B48-3B1961F72F34}"/>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90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5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000010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338264"/>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
        <p:nvSpPr>
          <p:cNvPr id="8" name="Content Placeholder 2">
            <a:extLst>
              <a:ext uri="{FF2B5EF4-FFF2-40B4-BE49-F238E27FC236}">
                <a16:creationId xmlns:a16="http://schemas.microsoft.com/office/drawing/2014/main" id="{7944671A-3D72-48A8-AFB6-C7FB7AA3EAE9}"/>
              </a:ext>
            </a:extLst>
          </p:cNvPr>
          <p:cNvSpPr>
            <a:spLocks noGrp="1"/>
          </p:cNvSpPr>
          <p:nvPr>
            <p:ph idx="13"/>
          </p:nvPr>
        </p:nvSpPr>
        <p:spPr>
          <a:xfrm>
            <a:off x="4848225" y="1338263"/>
            <a:ext cx="3937000" cy="4838699"/>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3953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11A68-6F1F-4041-8E8D-C45B52D11440}"/>
              </a:ext>
            </a:extLst>
          </p:cNvPr>
          <p:cNvSpPr>
            <a:spLocks noGrp="1"/>
          </p:cNvSpPr>
          <p:nvPr>
            <p:ph idx="1"/>
          </p:nvPr>
        </p:nvSpPr>
        <p:spPr>
          <a:xfrm>
            <a:off x="358775" y="1263932"/>
            <a:ext cx="4227080" cy="4913031"/>
          </a:xfrm>
        </p:spPr>
        <p:txBody>
          <a:bodyPr/>
          <a:lstStyle>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0AA5A09E-AC56-4E11-90B9-92C4C4962138}"/>
              </a:ext>
            </a:extLst>
          </p:cNvPr>
          <p:cNvSpPr>
            <a:spLocks noGrp="1"/>
          </p:cNvSpPr>
          <p:nvPr>
            <p:ph type="ftr" sz="quarter" idx="11"/>
          </p:nvPr>
        </p:nvSpPr>
        <p:spPr/>
        <p:txBody>
          <a:bodyPr/>
          <a:lstStyle/>
          <a:p>
            <a:r>
              <a:rPr lang="en-GB"/>
              <a:t>Grainger Plc  |  www.graingerplc.co.uk    |  Investor Day  |  September 2017</a:t>
            </a:r>
          </a:p>
        </p:txBody>
      </p:sp>
      <p:sp>
        <p:nvSpPr>
          <p:cNvPr id="6" name="Slide Number Placeholder 5">
            <a:extLst>
              <a:ext uri="{FF2B5EF4-FFF2-40B4-BE49-F238E27FC236}">
                <a16:creationId xmlns:a16="http://schemas.microsoft.com/office/drawing/2014/main" id="{5CE5CA96-4FD2-4F87-903D-2272B1D6DEB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7" name="Title 6">
            <a:extLst>
              <a:ext uri="{FF2B5EF4-FFF2-40B4-BE49-F238E27FC236}">
                <a16:creationId xmlns:a16="http://schemas.microsoft.com/office/drawing/2014/main" id="{9331B5C1-E2A5-436F-881A-AB83A6F538A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8150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6" name="Text Placeholder 5">
            <a:extLst>
              <a:ext uri="{FF2B5EF4-FFF2-40B4-BE49-F238E27FC236}">
                <a16:creationId xmlns:a16="http://schemas.microsoft.com/office/drawing/2014/main" id="{F0A5E596-5496-4A60-88B2-178283450DD1}"/>
              </a:ext>
            </a:extLst>
          </p:cNvPr>
          <p:cNvSpPr>
            <a:spLocks noGrp="1"/>
          </p:cNvSpPr>
          <p:nvPr>
            <p:ph type="body" sz="quarter" idx="13"/>
          </p:nvPr>
        </p:nvSpPr>
        <p:spPr>
          <a:xfrm>
            <a:off x="358775" y="837646"/>
            <a:ext cx="8426450" cy="455612"/>
          </a:xfrm>
        </p:spPr>
        <p:txBody>
          <a:bodyPr>
            <a:normAutofit/>
          </a:bodyPr>
          <a:lstStyle>
            <a:lvl1pPr>
              <a:spcBef>
                <a:spcPts val="0"/>
              </a:spcBef>
              <a:defRPr sz="2400">
                <a:latin typeface="+mj-lt"/>
              </a:defRPr>
            </a:lvl1pPr>
          </a:lstStyle>
          <a:p>
            <a:pPr lvl="0"/>
            <a:r>
              <a:rPr lang="en-US"/>
              <a:t>Edit Master text styles</a:t>
            </a:r>
            <a:endParaRPr lang="en-GB"/>
          </a:p>
        </p:txBody>
      </p:sp>
    </p:spTree>
    <p:extLst>
      <p:ext uri="{BB962C8B-B14F-4D97-AF65-F5344CB8AC3E}">
        <p14:creationId xmlns:p14="http://schemas.microsoft.com/office/powerpoint/2010/main" val="13352868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58774" y="1700808"/>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060849"/>
            <a:ext cx="8426450" cy="3888432"/>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2060849"/>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20240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2806861"/>
            <a:ext cx="8426450" cy="3142420"/>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99655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4786311" y="2892409"/>
            <a:ext cx="3998913" cy="3056871"/>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5" y="2792948"/>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7" name="Text Placeholder 6">
            <a:extLst>
              <a:ext uri="{FF2B5EF4-FFF2-40B4-BE49-F238E27FC236}">
                <a16:creationId xmlns:a16="http://schemas.microsoft.com/office/drawing/2014/main" id="{AC48A659-4CBE-4EBF-9095-8B68694B6AAE}"/>
              </a:ext>
            </a:extLst>
          </p:cNvPr>
          <p:cNvSpPr>
            <a:spLocks noGrp="1"/>
          </p:cNvSpPr>
          <p:nvPr>
            <p:ph type="body" sz="quarter" idx="16"/>
          </p:nvPr>
        </p:nvSpPr>
        <p:spPr>
          <a:xfrm>
            <a:off x="358775"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6">
            <a:extLst>
              <a:ext uri="{FF2B5EF4-FFF2-40B4-BE49-F238E27FC236}">
                <a16:creationId xmlns:a16="http://schemas.microsoft.com/office/drawing/2014/main" id="{CD4DFF48-E5F3-4CD4-8721-F6E497C05D0E}"/>
              </a:ext>
            </a:extLst>
          </p:cNvPr>
          <p:cNvSpPr>
            <a:spLocks noGrp="1"/>
          </p:cNvSpPr>
          <p:nvPr>
            <p:ph type="body" sz="quarter" idx="17"/>
          </p:nvPr>
        </p:nvSpPr>
        <p:spPr>
          <a:xfrm>
            <a:off x="4786312" y="1421725"/>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6">
            <a:extLst>
              <a:ext uri="{FF2B5EF4-FFF2-40B4-BE49-F238E27FC236}">
                <a16:creationId xmlns:a16="http://schemas.microsoft.com/office/drawing/2014/main" id="{794404C6-CF43-499B-B6F1-857528420D81}"/>
              </a:ext>
            </a:extLst>
          </p:cNvPr>
          <p:cNvSpPr>
            <a:spLocks noGrp="1"/>
          </p:cNvSpPr>
          <p:nvPr>
            <p:ph type="body" sz="quarter" idx="18"/>
          </p:nvPr>
        </p:nvSpPr>
        <p:spPr>
          <a:xfrm>
            <a:off x="358775" y="2892410"/>
            <a:ext cx="3998913" cy="1289725"/>
          </a:xfrm>
        </p:spPr>
        <p:txBody>
          <a:bodyPr/>
          <a:lstStyle>
            <a:lvl1pPr>
              <a:defRPr sz="16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2044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81308" y="124160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58775" y="1529491"/>
            <a:ext cx="8426450" cy="1228458"/>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58774" y="152949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700" spc="0">
                <a:solidFill>
                  <a:schemeClr val="tx1"/>
                </a:solidFill>
                <a:latin typeface="+mn-lt"/>
              </a:defRPr>
            </a:lvl1pPr>
          </a:lstStyle>
          <a:p>
            <a:pPr lvl="0"/>
            <a:r>
              <a:rPr lang="en-US"/>
              <a:t>Edit Master text styles</a:t>
            </a:r>
            <a:endParaRPr lang="en-GB"/>
          </a:p>
        </p:txBody>
      </p:sp>
      <p:sp>
        <p:nvSpPr>
          <p:cNvPr id="9" name="Text Placeholder 5">
            <a:extLst>
              <a:ext uri="{FF2B5EF4-FFF2-40B4-BE49-F238E27FC236}">
                <a16:creationId xmlns:a16="http://schemas.microsoft.com/office/drawing/2014/main" id="{AD2D3C30-645E-46BD-8D05-4B1BCB973D39}"/>
              </a:ext>
            </a:extLst>
          </p:cNvPr>
          <p:cNvSpPr>
            <a:spLocks noGrp="1"/>
          </p:cNvSpPr>
          <p:nvPr>
            <p:ph type="body" sz="quarter" idx="16"/>
          </p:nvPr>
        </p:nvSpPr>
        <p:spPr>
          <a:xfrm>
            <a:off x="381306" y="2893427"/>
            <a:ext cx="8403917"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12" name="Chart Placeholder 7">
            <a:extLst>
              <a:ext uri="{FF2B5EF4-FFF2-40B4-BE49-F238E27FC236}">
                <a16:creationId xmlns:a16="http://schemas.microsoft.com/office/drawing/2014/main" id="{67BCDA24-B550-4DC4-A59D-C385E5F36C0C}"/>
              </a:ext>
            </a:extLst>
          </p:cNvPr>
          <p:cNvSpPr>
            <a:spLocks noGrp="1"/>
          </p:cNvSpPr>
          <p:nvPr>
            <p:ph type="chart" sz="quarter" idx="17"/>
          </p:nvPr>
        </p:nvSpPr>
        <p:spPr>
          <a:xfrm>
            <a:off x="358773" y="3181310"/>
            <a:ext cx="8426450" cy="2831115"/>
          </a:xfrm>
        </p:spPr>
        <p:txBody>
          <a:bodyPr>
            <a:normAutofit/>
          </a:bodyPr>
          <a:lstStyle>
            <a:lvl1pPr>
              <a:defRPr sz="1200"/>
            </a:lvl1pPr>
          </a:lstStyle>
          <a:p>
            <a:endParaRPr lang="en-GB"/>
          </a:p>
        </p:txBody>
      </p:sp>
      <p:cxnSp>
        <p:nvCxnSpPr>
          <p:cNvPr id="13" name="Straight Connector 12">
            <a:extLst>
              <a:ext uri="{FF2B5EF4-FFF2-40B4-BE49-F238E27FC236}">
                <a16:creationId xmlns:a16="http://schemas.microsoft.com/office/drawing/2014/main" id="{B1CBE463-900B-4A67-8594-4CD7A4A709D6}"/>
              </a:ext>
            </a:extLst>
          </p:cNvPr>
          <p:cNvCxnSpPr/>
          <p:nvPr userDrawn="1"/>
        </p:nvCxnSpPr>
        <p:spPr>
          <a:xfrm>
            <a:off x="358772" y="3181310"/>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532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6" name="Text Placeholder 5">
            <a:extLst>
              <a:ext uri="{FF2B5EF4-FFF2-40B4-BE49-F238E27FC236}">
                <a16:creationId xmlns:a16="http://schemas.microsoft.com/office/drawing/2014/main" id="{AF8CED2B-0A07-49C4-A4A6-1189DE8609E9}"/>
              </a:ext>
            </a:extLst>
          </p:cNvPr>
          <p:cNvSpPr>
            <a:spLocks noGrp="1"/>
          </p:cNvSpPr>
          <p:nvPr>
            <p:ph type="body" sz="quarter" idx="13"/>
          </p:nvPr>
        </p:nvSpPr>
        <p:spPr>
          <a:xfrm>
            <a:off x="370039" y="1278021"/>
            <a:ext cx="8415186" cy="287883"/>
          </a:xfrm>
        </p:spPr>
        <p:txBody>
          <a:bodyPr anchor="b" anchorCtr="0">
            <a:noAutofit/>
          </a:bodyPr>
          <a:lstStyle>
            <a:lvl1pPr>
              <a:lnSpc>
                <a:spcPct val="100000"/>
              </a:lnSpc>
              <a:spcBef>
                <a:spcPts val="0"/>
              </a:spcBef>
              <a:defRPr sz="1600">
                <a:latin typeface="+mn-lt"/>
              </a:defRPr>
            </a:lvl1pPr>
          </a:lstStyle>
          <a:p>
            <a:pPr lvl="0"/>
            <a:r>
              <a:rPr lang="en-US"/>
              <a:t>Edit Master text styles</a:t>
            </a:r>
            <a:endParaRPr lang="en-GB"/>
          </a:p>
        </p:txBody>
      </p:sp>
      <p:sp>
        <p:nvSpPr>
          <p:cNvPr id="8" name="Chart Placeholder 7">
            <a:extLst>
              <a:ext uri="{FF2B5EF4-FFF2-40B4-BE49-F238E27FC236}">
                <a16:creationId xmlns:a16="http://schemas.microsoft.com/office/drawing/2014/main" id="{BAE8006F-A5D5-47C0-870C-58D1A48F8FAF}"/>
              </a:ext>
            </a:extLst>
          </p:cNvPr>
          <p:cNvSpPr>
            <a:spLocks noGrp="1"/>
          </p:cNvSpPr>
          <p:nvPr>
            <p:ph type="chart" sz="quarter" idx="14"/>
          </p:nvPr>
        </p:nvSpPr>
        <p:spPr>
          <a:xfrm>
            <a:off x="370039" y="1565904"/>
            <a:ext cx="8415185" cy="4436690"/>
          </a:xfrm>
        </p:spPr>
        <p:txBody>
          <a:bodyPr>
            <a:normAutofit/>
          </a:bodyPr>
          <a:lstStyle>
            <a:lvl1pPr>
              <a:defRPr sz="1200"/>
            </a:lvl1pPr>
          </a:lstStyle>
          <a:p>
            <a:endParaRPr lang="en-GB"/>
          </a:p>
        </p:txBody>
      </p:sp>
      <p:cxnSp>
        <p:nvCxnSpPr>
          <p:cNvPr id="10" name="Straight Connector 9">
            <a:extLst>
              <a:ext uri="{FF2B5EF4-FFF2-40B4-BE49-F238E27FC236}">
                <a16:creationId xmlns:a16="http://schemas.microsoft.com/office/drawing/2014/main" id="{34D4EBD7-B80F-4D02-8127-3C84C5F7C937}"/>
              </a:ext>
            </a:extLst>
          </p:cNvPr>
          <p:cNvCxnSpPr/>
          <p:nvPr userDrawn="1"/>
        </p:nvCxnSpPr>
        <p:spPr>
          <a:xfrm>
            <a:off x="370040" y="1565904"/>
            <a:ext cx="84264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5">
            <a:extLst>
              <a:ext uri="{FF2B5EF4-FFF2-40B4-BE49-F238E27FC236}">
                <a16:creationId xmlns:a16="http://schemas.microsoft.com/office/drawing/2014/main" id="{D47BE437-CAC2-4668-96D2-668E678F6724}"/>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endParaRPr lang="en-GB"/>
          </a:p>
        </p:txBody>
      </p:sp>
    </p:spTree>
    <p:extLst>
      <p:ext uri="{BB962C8B-B14F-4D97-AF65-F5344CB8AC3E}">
        <p14:creationId xmlns:p14="http://schemas.microsoft.com/office/powerpoint/2010/main" val="20882874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EB89-8FCF-4598-B706-910D281EEB37}"/>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1ECBF60F-F9D5-45E5-B986-89DB0E35D6B5}"/>
              </a:ext>
            </a:extLst>
          </p:cNvPr>
          <p:cNvSpPr>
            <a:spLocks noGrp="1"/>
          </p:cNvSpPr>
          <p:nvPr>
            <p:ph type="ftr" sz="quarter" idx="11"/>
          </p:nvPr>
        </p:nvSpPr>
        <p:spPr/>
        <p:txBody>
          <a:bodyPr/>
          <a:lstStyle/>
          <a:p>
            <a:r>
              <a:rPr lang="en-GB"/>
              <a:t>Grainger Plc  |  www.graingerplc.co.uk    |  Investor Day  |  September 2017</a:t>
            </a:r>
          </a:p>
        </p:txBody>
      </p:sp>
      <p:sp>
        <p:nvSpPr>
          <p:cNvPr id="5" name="Slide Number Placeholder 4">
            <a:extLst>
              <a:ext uri="{FF2B5EF4-FFF2-40B4-BE49-F238E27FC236}">
                <a16:creationId xmlns:a16="http://schemas.microsoft.com/office/drawing/2014/main" id="{CBE5F0A1-A476-462E-BABE-86C8F9839EA9}"/>
              </a:ext>
            </a:extLst>
          </p:cNvPr>
          <p:cNvSpPr>
            <a:spLocks noGrp="1"/>
          </p:cNvSpPr>
          <p:nvPr>
            <p:ph type="sldNum" sz="quarter" idx="12"/>
          </p:nvPr>
        </p:nvSpPr>
        <p:spPr/>
        <p:txBody>
          <a:bodyPr/>
          <a:lstStyle/>
          <a:p>
            <a:fld id="{0D32313A-DEBC-4CA4-B008-A02D4ABE2C72}" type="slidenum">
              <a:rPr lang="en-GB" smtClean="0"/>
              <a:t>‹#›</a:t>
            </a:fld>
            <a:endParaRPr lang="en-GB"/>
          </a:p>
        </p:txBody>
      </p:sp>
      <p:sp>
        <p:nvSpPr>
          <p:cNvPr id="6" name="Text Placeholder 5">
            <a:extLst>
              <a:ext uri="{FF2B5EF4-FFF2-40B4-BE49-F238E27FC236}">
                <a16:creationId xmlns:a16="http://schemas.microsoft.com/office/drawing/2014/main" id="{BA44BAD3-8EBE-4BC8-95B6-5BFD20F465B0}"/>
              </a:ext>
            </a:extLst>
          </p:cNvPr>
          <p:cNvSpPr>
            <a:spLocks noGrp="1"/>
          </p:cNvSpPr>
          <p:nvPr>
            <p:ph type="body" sz="quarter" idx="15"/>
          </p:nvPr>
        </p:nvSpPr>
        <p:spPr>
          <a:xfrm>
            <a:off x="358773" y="6165304"/>
            <a:ext cx="8403917" cy="215875"/>
          </a:xfrm>
        </p:spPr>
        <p:txBody>
          <a:bodyPr anchor="b" anchorCtr="0">
            <a:noAutofit/>
          </a:bodyPr>
          <a:lstStyle>
            <a:lvl1pPr>
              <a:lnSpc>
                <a:spcPct val="100000"/>
              </a:lnSpc>
              <a:spcBef>
                <a:spcPts val="0"/>
              </a:spcBef>
              <a:defRPr sz="800" spc="0">
                <a:solidFill>
                  <a:schemeClr val="tx1"/>
                </a:solidFill>
                <a:latin typeface="+mn-lt"/>
              </a:defRPr>
            </a:lvl1pPr>
          </a:lstStyle>
          <a:p>
            <a:pPr lvl="0"/>
            <a:r>
              <a:rPr lang="en-US"/>
              <a:t>Edit Master text styles</a:t>
            </a:r>
          </a:p>
        </p:txBody>
      </p:sp>
    </p:spTree>
    <p:extLst>
      <p:ext uri="{BB962C8B-B14F-4D97-AF65-F5344CB8AC3E}">
        <p14:creationId xmlns:p14="http://schemas.microsoft.com/office/powerpoint/2010/main" val="39151934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1390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B6B97-B99F-450B-B176-AFD96DBC90FA}"/>
              </a:ext>
            </a:extLst>
          </p:cNvPr>
          <p:cNvSpPr>
            <a:spLocks noGrp="1"/>
          </p:cNvSpPr>
          <p:nvPr>
            <p:ph type="title"/>
          </p:nvPr>
        </p:nvSpPr>
        <p:spPr>
          <a:xfrm>
            <a:off x="358775" y="270088"/>
            <a:ext cx="8426450" cy="581897"/>
          </a:xfrm>
          <a:prstGeom prst="rect">
            <a:avLst/>
          </a:prstGeom>
        </p:spPr>
        <p:txBody>
          <a:bodyPr vert="horz" lIns="0" tIns="45720" rIns="0" bIns="4572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3D66A-3D9C-44FC-93E3-53098880F8C6}"/>
              </a:ext>
            </a:extLst>
          </p:cNvPr>
          <p:cNvSpPr>
            <a:spLocks noGrp="1"/>
          </p:cNvSpPr>
          <p:nvPr>
            <p:ph type="body" idx="1"/>
          </p:nvPr>
        </p:nvSpPr>
        <p:spPr>
          <a:xfrm>
            <a:off x="358775" y="1263932"/>
            <a:ext cx="8426450" cy="4913031"/>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D8206CA-1D0D-4188-AA1D-95E84B37993C}"/>
              </a:ext>
            </a:extLst>
          </p:cNvPr>
          <p:cNvSpPr>
            <a:spLocks noGrp="1"/>
          </p:cNvSpPr>
          <p:nvPr>
            <p:ph type="ftr" sz="quarter" idx="3"/>
          </p:nvPr>
        </p:nvSpPr>
        <p:spPr>
          <a:xfrm>
            <a:off x="1392774" y="6480640"/>
            <a:ext cx="4788177" cy="227300"/>
          </a:xfrm>
          <a:prstGeom prst="rect">
            <a:avLst/>
          </a:prstGeom>
        </p:spPr>
        <p:txBody>
          <a:bodyPr vert="horz" lIns="91440" tIns="45720" rIns="91440" bIns="45720" rtlCol="0" anchor="ctr"/>
          <a:lstStyle>
            <a:lvl1pPr algn="l">
              <a:defRPr sz="600" b="0" spc="-20" baseline="0">
                <a:solidFill>
                  <a:schemeClr val="accent2"/>
                </a:solidFill>
                <a:latin typeface="Montserrat" panose="02000505000000020004" pitchFamily="2" charset="0"/>
              </a:defRPr>
            </a:lvl1pPr>
          </a:lstStyle>
          <a:p>
            <a:r>
              <a:rPr lang="en-GB"/>
              <a:t>Grainger Plc  |  www.graingerplc.co.uk    |  Investor Day  |  September 2017</a:t>
            </a:r>
          </a:p>
        </p:txBody>
      </p:sp>
      <p:sp>
        <p:nvSpPr>
          <p:cNvPr id="6" name="Slide Number Placeholder 5">
            <a:extLst>
              <a:ext uri="{FF2B5EF4-FFF2-40B4-BE49-F238E27FC236}">
                <a16:creationId xmlns:a16="http://schemas.microsoft.com/office/drawing/2014/main" id="{D696DDF2-5191-4301-B8FD-DF1ED40F63CA}"/>
              </a:ext>
            </a:extLst>
          </p:cNvPr>
          <p:cNvSpPr>
            <a:spLocks noGrp="1"/>
          </p:cNvSpPr>
          <p:nvPr>
            <p:ph type="sldNum" sz="quarter" idx="4"/>
          </p:nvPr>
        </p:nvSpPr>
        <p:spPr>
          <a:xfrm>
            <a:off x="8357153" y="6480640"/>
            <a:ext cx="428072" cy="228601"/>
          </a:xfrm>
          <a:prstGeom prst="rect">
            <a:avLst/>
          </a:prstGeom>
        </p:spPr>
        <p:txBody>
          <a:bodyPr vert="horz" lIns="91440" tIns="45720" rIns="91440" bIns="45720" rtlCol="0" anchor="ctr"/>
          <a:lstStyle>
            <a:lvl1pPr algn="ctr">
              <a:defRPr sz="900" b="0">
                <a:solidFill>
                  <a:schemeClr val="accent2">
                    <a:lumMod val="75000"/>
                  </a:schemeClr>
                </a:solidFill>
                <a:latin typeface="Montserrat" panose="02000505000000020004" pitchFamily="2" charset="0"/>
              </a:defRPr>
            </a:lvl1pPr>
          </a:lstStyle>
          <a:p>
            <a:fld id="{0D32313A-DEBC-4CA4-B008-A02D4ABE2C72}" type="slidenum">
              <a:rPr lang="en-GB" smtClean="0"/>
              <a:pPr/>
              <a:t>‹#›</a:t>
            </a:fld>
            <a:endParaRPr lang="en-GB"/>
          </a:p>
        </p:txBody>
      </p:sp>
      <p:cxnSp>
        <p:nvCxnSpPr>
          <p:cNvPr id="39" name="Straight Connector 38">
            <a:extLst>
              <a:ext uri="{FF2B5EF4-FFF2-40B4-BE49-F238E27FC236}">
                <a16:creationId xmlns:a16="http://schemas.microsoft.com/office/drawing/2014/main" id="{1EDBF80C-67C4-4965-BEEB-A9132094185D}"/>
              </a:ext>
            </a:extLst>
          </p:cNvPr>
          <p:cNvCxnSpPr>
            <a:cxnSpLocks/>
          </p:cNvCxnSpPr>
          <p:nvPr userDrawn="1"/>
        </p:nvCxnSpPr>
        <p:spPr>
          <a:xfrm>
            <a:off x="358775" y="6416404"/>
            <a:ext cx="842645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1E8B2E-7FE5-4D92-A210-410B50ED358E}"/>
              </a:ext>
            </a:extLst>
          </p:cNvPr>
          <p:cNvCxnSpPr/>
          <p:nvPr userDrawn="1"/>
        </p:nvCxnSpPr>
        <p:spPr>
          <a:xfrm>
            <a:off x="1386007" y="641640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5182084-27BD-4D81-9D95-A3317D7E7619}"/>
              </a:ext>
            </a:extLst>
          </p:cNvPr>
          <p:cNvCxnSpPr>
            <a:cxnSpLocks/>
          </p:cNvCxnSpPr>
          <p:nvPr userDrawn="1"/>
        </p:nvCxnSpPr>
        <p:spPr>
          <a:xfrm>
            <a:off x="8357153" y="6417054"/>
            <a:ext cx="0" cy="3557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73" name="Group 4">
            <a:extLst>
              <a:ext uri="{FF2B5EF4-FFF2-40B4-BE49-F238E27FC236}">
                <a16:creationId xmlns:a16="http://schemas.microsoft.com/office/drawing/2014/main" id="{A2100EA8-F5C5-40FA-BD68-3078CA2E0EB5}"/>
              </a:ext>
            </a:extLst>
          </p:cNvPr>
          <p:cNvGrpSpPr>
            <a:grpSpLocks noChangeAspect="1"/>
          </p:cNvGrpSpPr>
          <p:nvPr userDrawn="1"/>
        </p:nvGrpSpPr>
        <p:grpSpPr bwMode="auto">
          <a:xfrm>
            <a:off x="358775" y="6498127"/>
            <a:ext cx="955828" cy="192327"/>
            <a:chOff x="-3357" y="-1385"/>
            <a:chExt cx="5760" cy="1159"/>
          </a:xfrm>
        </p:grpSpPr>
        <p:sp>
          <p:nvSpPr>
            <p:cNvPr id="74" name="Freeform 5">
              <a:extLst>
                <a:ext uri="{FF2B5EF4-FFF2-40B4-BE49-F238E27FC236}">
                  <a16:creationId xmlns:a16="http://schemas.microsoft.com/office/drawing/2014/main" id="{17FFF818-4814-4B08-95C1-948F6BB90C68}"/>
                </a:ext>
              </a:extLst>
            </p:cNvPr>
            <p:cNvSpPr>
              <a:spLocks noEditPoints="1"/>
            </p:cNvSpPr>
            <p:nvPr userDrawn="1"/>
          </p:nvSpPr>
          <p:spPr bwMode="auto">
            <a:xfrm>
              <a:off x="-3357" y="-1378"/>
              <a:ext cx="5760" cy="1152"/>
            </a:xfrm>
            <a:custGeom>
              <a:avLst/>
              <a:gdLst>
                <a:gd name="T0" fmla="*/ 158 w 2386"/>
                <a:gd name="T1" fmla="*/ 360 h 479"/>
                <a:gd name="T2" fmla="*/ 103 w 2386"/>
                <a:gd name="T3" fmla="*/ 116 h 479"/>
                <a:gd name="T4" fmla="*/ 106 w 2386"/>
                <a:gd name="T5" fmla="*/ 479 h 479"/>
                <a:gd name="T6" fmla="*/ 101 w 2386"/>
                <a:gd name="T7" fmla="*/ 435 h 479"/>
                <a:gd name="T8" fmla="*/ 108 w 2386"/>
                <a:gd name="T9" fmla="*/ 157 h 479"/>
                <a:gd name="T10" fmla="*/ 158 w 2386"/>
                <a:gd name="T11" fmla="*/ 324 h 479"/>
                <a:gd name="T12" fmla="*/ 311 w 2386"/>
                <a:gd name="T13" fmla="*/ 152 h 479"/>
                <a:gd name="T14" fmla="*/ 410 w 2386"/>
                <a:gd name="T15" fmla="*/ 117 h 479"/>
                <a:gd name="T16" fmla="*/ 317 w 2386"/>
                <a:gd name="T17" fmla="*/ 180 h 479"/>
                <a:gd name="T18" fmla="*/ 267 w 2386"/>
                <a:gd name="T19" fmla="*/ 121 h 479"/>
                <a:gd name="T20" fmla="*/ 574 w 2386"/>
                <a:gd name="T21" fmla="*/ 202 h 479"/>
                <a:gd name="T22" fmla="*/ 440 w 2386"/>
                <a:gd name="T23" fmla="*/ 127 h 479"/>
                <a:gd name="T24" fmla="*/ 624 w 2386"/>
                <a:gd name="T25" fmla="*/ 374 h 479"/>
                <a:gd name="T26" fmla="*/ 505 w 2386"/>
                <a:gd name="T27" fmla="*/ 379 h 479"/>
                <a:gd name="T28" fmla="*/ 517 w 2386"/>
                <a:gd name="T29" fmla="*/ 339 h 479"/>
                <a:gd name="T30" fmla="*/ 527 w 2386"/>
                <a:gd name="T31" fmla="*/ 259 h 479"/>
                <a:gd name="T32" fmla="*/ 683 w 2386"/>
                <a:gd name="T33" fmla="*/ 374 h 479"/>
                <a:gd name="T34" fmla="*/ 683 w 2386"/>
                <a:gd name="T35" fmla="*/ 121 h 479"/>
                <a:gd name="T36" fmla="*/ 832 w 2386"/>
                <a:gd name="T37" fmla="*/ 121 h 479"/>
                <a:gd name="T38" fmla="*/ 1000 w 2386"/>
                <a:gd name="T39" fmla="*/ 199 h 479"/>
                <a:gd name="T40" fmla="*/ 950 w 2386"/>
                <a:gd name="T41" fmla="*/ 207 h 479"/>
                <a:gd name="T42" fmla="*/ 845 w 2386"/>
                <a:gd name="T43" fmla="*/ 374 h 479"/>
                <a:gd name="T44" fmla="*/ 1149 w 2386"/>
                <a:gd name="T45" fmla="*/ 435 h 479"/>
                <a:gd name="T46" fmla="*/ 1142 w 2386"/>
                <a:gd name="T47" fmla="*/ 379 h 479"/>
                <a:gd name="T48" fmla="*/ 1255 w 2386"/>
                <a:gd name="T49" fmla="*/ 133 h 479"/>
                <a:gd name="T50" fmla="*/ 1073 w 2386"/>
                <a:gd name="T51" fmla="*/ 470 h 479"/>
                <a:gd name="T52" fmla="*/ 1205 w 2386"/>
                <a:gd name="T53" fmla="*/ 324 h 479"/>
                <a:gd name="T54" fmla="*/ 1098 w 2386"/>
                <a:gd name="T55" fmla="*/ 249 h 479"/>
                <a:gd name="T56" fmla="*/ 1403 w 2386"/>
                <a:gd name="T57" fmla="*/ 116 h 479"/>
                <a:gd name="T58" fmla="*/ 1349 w 2386"/>
                <a:gd name="T59" fmla="*/ 266 h 479"/>
                <a:gd name="T60" fmla="*/ 1502 w 2386"/>
                <a:gd name="T61" fmla="*/ 356 h 479"/>
                <a:gd name="T62" fmla="*/ 1403 w 2386"/>
                <a:gd name="T63" fmla="*/ 116 h 479"/>
                <a:gd name="T64" fmla="*/ 1349 w 2386"/>
                <a:gd name="T65" fmla="*/ 226 h 479"/>
                <a:gd name="T66" fmla="*/ 1584 w 2386"/>
                <a:gd name="T67" fmla="*/ 121 h 479"/>
                <a:gd name="T68" fmla="*/ 1663 w 2386"/>
                <a:gd name="T69" fmla="*/ 116 h 479"/>
                <a:gd name="T70" fmla="*/ 1653 w 2386"/>
                <a:gd name="T71" fmla="*/ 161 h 479"/>
                <a:gd name="T72" fmla="*/ 1547 w 2386"/>
                <a:gd name="T73" fmla="*/ 374 h 479"/>
                <a:gd name="T74" fmla="*/ 1835 w 2386"/>
                <a:gd name="T75" fmla="*/ 473 h 479"/>
                <a:gd name="T76" fmla="*/ 1877 w 2386"/>
                <a:gd name="T77" fmla="*/ 142 h 479"/>
                <a:gd name="T78" fmla="*/ 1944 w 2386"/>
                <a:gd name="T79" fmla="*/ 379 h 479"/>
                <a:gd name="T80" fmla="*/ 1934 w 2386"/>
                <a:gd name="T81" fmla="*/ 338 h 479"/>
                <a:gd name="T82" fmla="*/ 1885 w 2386"/>
                <a:gd name="T83" fmla="*/ 173 h 479"/>
                <a:gd name="T84" fmla="*/ 2093 w 2386"/>
                <a:gd name="T85" fmla="*/ 0 h 479"/>
                <a:gd name="T86" fmla="*/ 2093 w 2386"/>
                <a:gd name="T87" fmla="*/ 374 h 479"/>
                <a:gd name="T88" fmla="*/ 2374 w 2386"/>
                <a:gd name="T89" fmla="*/ 123 h 479"/>
                <a:gd name="T90" fmla="*/ 2239 w 2386"/>
                <a:gd name="T91" fmla="*/ 248 h 479"/>
                <a:gd name="T92" fmla="*/ 2386 w 2386"/>
                <a:gd name="T93" fmla="*/ 360 h 479"/>
                <a:gd name="T94" fmla="*/ 2306 w 2386"/>
                <a:gd name="T95" fmla="*/ 116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6" h="479">
                  <a:moveTo>
                    <a:pt x="101" y="435"/>
                  </a:moveTo>
                  <a:cubicBezTo>
                    <a:pt x="132" y="435"/>
                    <a:pt x="158" y="429"/>
                    <a:pt x="158" y="391"/>
                  </a:cubicBezTo>
                  <a:cubicBezTo>
                    <a:pt x="158" y="360"/>
                    <a:pt x="158" y="360"/>
                    <a:pt x="158" y="360"/>
                  </a:cubicBezTo>
                  <a:cubicBezTo>
                    <a:pt x="138" y="373"/>
                    <a:pt x="118" y="379"/>
                    <a:pt x="95" y="379"/>
                  </a:cubicBezTo>
                  <a:cubicBezTo>
                    <a:pt x="26" y="379"/>
                    <a:pt x="0" y="333"/>
                    <a:pt x="0" y="247"/>
                  </a:cubicBezTo>
                  <a:cubicBezTo>
                    <a:pt x="0" y="155"/>
                    <a:pt x="31" y="116"/>
                    <a:pt x="103" y="116"/>
                  </a:cubicBezTo>
                  <a:cubicBezTo>
                    <a:pt x="136" y="116"/>
                    <a:pt x="180" y="124"/>
                    <a:pt x="207" y="133"/>
                  </a:cubicBezTo>
                  <a:cubicBezTo>
                    <a:pt x="207" y="397"/>
                    <a:pt x="207" y="397"/>
                    <a:pt x="207" y="397"/>
                  </a:cubicBezTo>
                  <a:cubicBezTo>
                    <a:pt x="207" y="458"/>
                    <a:pt x="166" y="479"/>
                    <a:pt x="106" y="479"/>
                  </a:cubicBezTo>
                  <a:cubicBezTo>
                    <a:pt x="79" y="479"/>
                    <a:pt x="49" y="475"/>
                    <a:pt x="25" y="470"/>
                  </a:cubicBezTo>
                  <a:cubicBezTo>
                    <a:pt x="32" y="428"/>
                    <a:pt x="32" y="428"/>
                    <a:pt x="32" y="428"/>
                  </a:cubicBezTo>
                  <a:cubicBezTo>
                    <a:pt x="52" y="431"/>
                    <a:pt x="77" y="435"/>
                    <a:pt x="101" y="435"/>
                  </a:cubicBezTo>
                  <a:moveTo>
                    <a:pt x="158" y="324"/>
                  </a:moveTo>
                  <a:cubicBezTo>
                    <a:pt x="158" y="162"/>
                    <a:pt x="158" y="162"/>
                    <a:pt x="158" y="162"/>
                  </a:cubicBezTo>
                  <a:cubicBezTo>
                    <a:pt x="143" y="160"/>
                    <a:pt x="122" y="157"/>
                    <a:pt x="108" y="157"/>
                  </a:cubicBezTo>
                  <a:cubicBezTo>
                    <a:pt x="62" y="157"/>
                    <a:pt x="50" y="184"/>
                    <a:pt x="50" y="249"/>
                  </a:cubicBezTo>
                  <a:cubicBezTo>
                    <a:pt x="50" y="306"/>
                    <a:pt x="61" y="336"/>
                    <a:pt x="106" y="336"/>
                  </a:cubicBezTo>
                  <a:cubicBezTo>
                    <a:pt x="121" y="336"/>
                    <a:pt x="141" y="332"/>
                    <a:pt x="158" y="324"/>
                  </a:cubicBezTo>
                  <a:moveTo>
                    <a:pt x="267" y="121"/>
                  </a:moveTo>
                  <a:cubicBezTo>
                    <a:pt x="304" y="121"/>
                    <a:pt x="304" y="121"/>
                    <a:pt x="304" y="121"/>
                  </a:cubicBezTo>
                  <a:cubicBezTo>
                    <a:pt x="311" y="152"/>
                    <a:pt x="311" y="152"/>
                    <a:pt x="311" y="152"/>
                  </a:cubicBezTo>
                  <a:cubicBezTo>
                    <a:pt x="313" y="152"/>
                    <a:pt x="313" y="152"/>
                    <a:pt x="313" y="152"/>
                  </a:cubicBezTo>
                  <a:cubicBezTo>
                    <a:pt x="330" y="126"/>
                    <a:pt x="353" y="116"/>
                    <a:pt x="384" y="116"/>
                  </a:cubicBezTo>
                  <a:cubicBezTo>
                    <a:pt x="391" y="116"/>
                    <a:pt x="400" y="116"/>
                    <a:pt x="410" y="117"/>
                  </a:cubicBezTo>
                  <a:cubicBezTo>
                    <a:pt x="407" y="164"/>
                    <a:pt x="407" y="164"/>
                    <a:pt x="407" y="164"/>
                  </a:cubicBezTo>
                  <a:cubicBezTo>
                    <a:pt x="395" y="162"/>
                    <a:pt x="383" y="161"/>
                    <a:pt x="374" y="161"/>
                  </a:cubicBezTo>
                  <a:cubicBezTo>
                    <a:pt x="351" y="161"/>
                    <a:pt x="332" y="167"/>
                    <a:pt x="317" y="180"/>
                  </a:cubicBezTo>
                  <a:cubicBezTo>
                    <a:pt x="317" y="374"/>
                    <a:pt x="317" y="374"/>
                    <a:pt x="317" y="374"/>
                  </a:cubicBezTo>
                  <a:cubicBezTo>
                    <a:pt x="267" y="374"/>
                    <a:pt x="267" y="374"/>
                    <a:pt x="267" y="374"/>
                  </a:cubicBezTo>
                  <a:lnTo>
                    <a:pt x="267" y="121"/>
                  </a:lnTo>
                  <a:close/>
                  <a:moveTo>
                    <a:pt x="519" y="222"/>
                  </a:moveTo>
                  <a:cubicBezTo>
                    <a:pt x="531" y="222"/>
                    <a:pt x="556" y="223"/>
                    <a:pt x="574" y="224"/>
                  </a:cubicBezTo>
                  <a:cubicBezTo>
                    <a:pt x="574" y="202"/>
                    <a:pt x="574" y="202"/>
                    <a:pt x="574" y="202"/>
                  </a:cubicBezTo>
                  <a:cubicBezTo>
                    <a:pt x="574" y="168"/>
                    <a:pt x="556" y="160"/>
                    <a:pt x="521" y="160"/>
                  </a:cubicBezTo>
                  <a:cubicBezTo>
                    <a:pt x="492" y="160"/>
                    <a:pt x="463" y="166"/>
                    <a:pt x="447" y="169"/>
                  </a:cubicBezTo>
                  <a:cubicBezTo>
                    <a:pt x="440" y="127"/>
                    <a:pt x="440" y="127"/>
                    <a:pt x="440" y="127"/>
                  </a:cubicBezTo>
                  <a:cubicBezTo>
                    <a:pt x="462" y="121"/>
                    <a:pt x="495" y="116"/>
                    <a:pt x="525" y="116"/>
                  </a:cubicBezTo>
                  <a:cubicBezTo>
                    <a:pt x="580" y="116"/>
                    <a:pt x="624" y="134"/>
                    <a:pt x="624" y="196"/>
                  </a:cubicBezTo>
                  <a:cubicBezTo>
                    <a:pt x="624" y="374"/>
                    <a:pt x="624" y="374"/>
                    <a:pt x="624" y="374"/>
                  </a:cubicBezTo>
                  <a:cubicBezTo>
                    <a:pt x="587" y="374"/>
                    <a:pt x="587" y="374"/>
                    <a:pt x="587" y="374"/>
                  </a:cubicBezTo>
                  <a:cubicBezTo>
                    <a:pt x="582" y="353"/>
                    <a:pt x="582" y="353"/>
                    <a:pt x="582" y="353"/>
                  </a:cubicBezTo>
                  <a:cubicBezTo>
                    <a:pt x="562" y="369"/>
                    <a:pt x="534" y="379"/>
                    <a:pt x="505" y="379"/>
                  </a:cubicBezTo>
                  <a:cubicBezTo>
                    <a:pt x="457" y="379"/>
                    <a:pt x="422" y="350"/>
                    <a:pt x="422" y="300"/>
                  </a:cubicBezTo>
                  <a:cubicBezTo>
                    <a:pt x="422" y="248"/>
                    <a:pt x="461" y="222"/>
                    <a:pt x="519" y="222"/>
                  </a:cubicBezTo>
                  <a:moveTo>
                    <a:pt x="517" y="339"/>
                  </a:moveTo>
                  <a:cubicBezTo>
                    <a:pt x="537" y="339"/>
                    <a:pt x="559" y="332"/>
                    <a:pt x="574" y="321"/>
                  </a:cubicBezTo>
                  <a:cubicBezTo>
                    <a:pt x="574" y="260"/>
                    <a:pt x="574" y="260"/>
                    <a:pt x="574" y="260"/>
                  </a:cubicBezTo>
                  <a:cubicBezTo>
                    <a:pt x="566" y="259"/>
                    <a:pt x="535" y="259"/>
                    <a:pt x="527" y="259"/>
                  </a:cubicBezTo>
                  <a:cubicBezTo>
                    <a:pt x="497" y="259"/>
                    <a:pt x="473" y="267"/>
                    <a:pt x="473" y="298"/>
                  </a:cubicBezTo>
                  <a:cubicBezTo>
                    <a:pt x="473" y="324"/>
                    <a:pt x="489" y="339"/>
                    <a:pt x="517" y="339"/>
                  </a:cubicBezTo>
                  <a:moveTo>
                    <a:pt x="683" y="374"/>
                  </a:moveTo>
                  <a:cubicBezTo>
                    <a:pt x="733" y="374"/>
                    <a:pt x="733" y="374"/>
                    <a:pt x="733" y="374"/>
                  </a:cubicBezTo>
                  <a:cubicBezTo>
                    <a:pt x="733" y="121"/>
                    <a:pt x="733" y="121"/>
                    <a:pt x="733" y="121"/>
                  </a:cubicBezTo>
                  <a:cubicBezTo>
                    <a:pt x="683" y="121"/>
                    <a:pt x="683" y="121"/>
                    <a:pt x="683" y="121"/>
                  </a:cubicBezTo>
                  <a:lnTo>
                    <a:pt x="683" y="374"/>
                  </a:lnTo>
                  <a:close/>
                  <a:moveTo>
                    <a:pt x="795" y="121"/>
                  </a:moveTo>
                  <a:cubicBezTo>
                    <a:pt x="832" y="121"/>
                    <a:pt x="832" y="121"/>
                    <a:pt x="832" y="121"/>
                  </a:cubicBezTo>
                  <a:cubicBezTo>
                    <a:pt x="836" y="144"/>
                    <a:pt x="836" y="144"/>
                    <a:pt x="836" y="144"/>
                  </a:cubicBezTo>
                  <a:cubicBezTo>
                    <a:pt x="858" y="128"/>
                    <a:pt x="886" y="116"/>
                    <a:pt x="919" y="116"/>
                  </a:cubicBezTo>
                  <a:cubicBezTo>
                    <a:pt x="971" y="116"/>
                    <a:pt x="1000" y="146"/>
                    <a:pt x="1000" y="199"/>
                  </a:cubicBezTo>
                  <a:cubicBezTo>
                    <a:pt x="1000" y="374"/>
                    <a:pt x="1000" y="374"/>
                    <a:pt x="1000" y="374"/>
                  </a:cubicBezTo>
                  <a:cubicBezTo>
                    <a:pt x="950" y="374"/>
                    <a:pt x="950" y="374"/>
                    <a:pt x="950" y="374"/>
                  </a:cubicBezTo>
                  <a:cubicBezTo>
                    <a:pt x="950" y="207"/>
                    <a:pt x="950" y="207"/>
                    <a:pt x="950" y="207"/>
                  </a:cubicBezTo>
                  <a:cubicBezTo>
                    <a:pt x="950" y="174"/>
                    <a:pt x="936" y="160"/>
                    <a:pt x="906" y="160"/>
                  </a:cubicBezTo>
                  <a:cubicBezTo>
                    <a:pt x="884" y="160"/>
                    <a:pt x="862" y="168"/>
                    <a:pt x="845" y="177"/>
                  </a:cubicBezTo>
                  <a:cubicBezTo>
                    <a:pt x="845" y="374"/>
                    <a:pt x="845" y="374"/>
                    <a:pt x="845" y="374"/>
                  </a:cubicBezTo>
                  <a:cubicBezTo>
                    <a:pt x="795" y="374"/>
                    <a:pt x="795" y="374"/>
                    <a:pt x="795" y="374"/>
                  </a:cubicBezTo>
                  <a:lnTo>
                    <a:pt x="795" y="121"/>
                  </a:lnTo>
                  <a:close/>
                  <a:moveTo>
                    <a:pt x="1149" y="435"/>
                  </a:moveTo>
                  <a:cubicBezTo>
                    <a:pt x="1180" y="435"/>
                    <a:pt x="1205" y="429"/>
                    <a:pt x="1205" y="391"/>
                  </a:cubicBezTo>
                  <a:cubicBezTo>
                    <a:pt x="1205" y="360"/>
                    <a:pt x="1205" y="360"/>
                    <a:pt x="1205" y="360"/>
                  </a:cubicBezTo>
                  <a:cubicBezTo>
                    <a:pt x="1186" y="373"/>
                    <a:pt x="1166" y="379"/>
                    <a:pt x="1142" y="379"/>
                  </a:cubicBezTo>
                  <a:cubicBezTo>
                    <a:pt x="1074" y="379"/>
                    <a:pt x="1047" y="333"/>
                    <a:pt x="1047" y="247"/>
                  </a:cubicBezTo>
                  <a:cubicBezTo>
                    <a:pt x="1047" y="155"/>
                    <a:pt x="1078" y="116"/>
                    <a:pt x="1151" y="116"/>
                  </a:cubicBezTo>
                  <a:cubicBezTo>
                    <a:pt x="1184" y="116"/>
                    <a:pt x="1228" y="124"/>
                    <a:pt x="1255" y="133"/>
                  </a:cubicBezTo>
                  <a:cubicBezTo>
                    <a:pt x="1255" y="397"/>
                    <a:pt x="1255" y="397"/>
                    <a:pt x="1255" y="397"/>
                  </a:cubicBezTo>
                  <a:cubicBezTo>
                    <a:pt x="1255" y="458"/>
                    <a:pt x="1213" y="479"/>
                    <a:pt x="1153" y="479"/>
                  </a:cubicBezTo>
                  <a:cubicBezTo>
                    <a:pt x="1127" y="479"/>
                    <a:pt x="1096" y="475"/>
                    <a:pt x="1073" y="470"/>
                  </a:cubicBezTo>
                  <a:cubicBezTo>
                    <a:pt x="1080" y="428"/>
                    <a:pt x="1080" y="428"/>
                    <a:pt x="1080" y="428"/>
                  </a:cubicBezTo>
                  <a:cubicBezTo>
                    <a:pt x="1100" y="431"/>
                    <a:pt x="1124" y="435"/>
                    <a:pt x="1149" y="435"/>
                  </a:cubicBezTo>
                  <a:moveTo>
                    <a:pt x="1205" y="324"/>
                  </a:moveTo>
                  <a:cubicBezTo>
                    <a:pt x="1205" y="162"/>
                    <a:pt x="1205" y="162"/>
                    <a:pt x="1205" y="162"/>
                  </a:cubicBezTo>
                  <a:cubicBezTo>
                    <a:pt x="1191" y="160"/>
                    <a:pt x="1170" y="157"/>
                    <a:pt x="1156" y="157"/>
                  </a:cubicBezTo>
                  <a:cubicBezTo>
                    <a:pt x="1110" y="157"/>
                    <a:pt x="1098" y="184"/>
                    <a:pt x="1098" y="249"/>
                  </a:cubicBezTo>
                  <a:cubicBezTo>
                    <a:pt x="1098" y="306"/>
                    <a:pt x="1109" y="336"/>
                    <a:pt x="1153" y="336"/>
                  </a:cubicBezTo>
                  <a:cubicBezTo>
                    <a:pt x="1169" y="336"/>
                    <a:pt x="1189" y="332"/>
                    <a:pt x="1205" y="324"/>
                  </a:cubicBezTo>
                  <a:moveTo>
                    <a:pt x="1403" y="116"/>
                  </a:moveTo>
                  <a:cubicBezTo>
                    <a:pt x="1469" y="116"/>
                    <a:pt x="1502" y="162"/>
                    <a:pt x="1502" y="232"/>
                  </a:cubicBezTo>
                  <a:cubicBezTo>
                    <a:pt x="1502" y="241"/>
                    <a:pt x="1502" y="255"/>
                    <a:pt x="1499" y="266"/>
                  </a:cubicBezTo>
                  <a:cubicBezTo>
                    <a:pt x="1349" y="266"/>
                    <a:pt x="1349" y="266"/>
                    <a:pt x="1349" y="266"/>
                  </a:cubicBezTo>
                  <a:cubicBezTo>
                    <a:pt x="1353" y="310"/>
                    <a:pt x="1373" y="336"/>
                    <a:pt x="1417" y="336"/>
                  </a:cubicBezTo>
                  <a:cubicBezTo>
                    <a:pt x="1443" y="336"/>
                    <a:pt x="1467" y="326"/>
                    <a:pt x="1487" y="318"/>
                  </a:cubicBezTo>
                  <a:cubicBezTo>
                    <a:pt x="1502" y="356"/>
                    <a:pt x="1502" y="356"/>
                    <a:pt x="1502" y="356"/>
                  </a:cubicBezTo>
                  <a:cubicBezTo>
                    <a:pt x="1480" y="368"/>
                    <a:pt x="1447" y="379"/>
                    <a:pt x="1411" y="379"/>
                  </a:cubicBezTo>
                  <a:cubicBezTo>
                    <a:pt x="1342" y="379"/>
                    <a:pt x="1298" y="337"/>
                    <a:pt x="1298" y="248"/>
                  </a:cubicBezTo>
                  <a:cubicBezTo>
                    <a:pt x="1298" y="171"/>
                    <a:pt x="1331" y="116"/>
                    <a:pt x="1403" y="116"/>
                  </a:cubicBezTo>
                  <a:moveTo>
                    <a:pt x="1453" y="226"/>
                  </a:moveTo>
                  <a:cubicBezTo>
                    <a:pt x="1453" y="191"/>
                    <a:pt x="1441" y="160"/>
                    <a:pt x="1403" y="160"/>
                  </a:cubicBezTo>
                  <a:cubicBezTo>
                    <a:pt x="1367" y="160"/>
                    <a:pt x="1351" y="187"/>
                    <a:pt x="1349" y="226"/>
                  </a:cubicBezTo>
                  <a:lnTo>
                    <a:pt x="1453" y="226"/>
                  </a:lnTo>
                  <a:close/>
                  <a:moveTo>
                    <a:pt x="1547" y="121"/>
                  </a:moveTo>
                  <a:cubicBezTo>
                    <a:pt x="1584" y="121"/>
                    <a:pt x="1584" y="121"/>
                    <a:pt x="1584" y="121"/>
                  </a:cubicBezTo>
                  <a:cubicBezTo>
                    <a:pt x="1591" y="152"/>
                    <a:pt x="1591" y="152"/>
                    <a:pt x="1591" y="152"/>
                  </a:cubicBezTo>
                  <a:cubicBezTo>
                    <a:pt x="1592" y="152"/>
                    <a:pt x="1592" y="152"/>
                    <a:pt x="1592" y="152"/>
                  </a:cubicBezTo>
                  <a:cubicBezTo>
                    <a:pt x="1610" y="126"/>
                    <a:pt x="1633" y="116"/>
                    <a:pt x="1663" y="116"/>
                  </a:cubicBezTo>
                  <a:cubicBezTo>
                    <a:pt x="1671" y="116"/>
                    <a:pt x="1680" y="116"/>
                    <a:pt x="1689" y="117"/>
                  </a:cubicBezTo>
                  <a:cubicBezTo>
                    <a:pt x="1686" y="164"/>
                    <a:pt x="1686" y="164"/>
                    <a:pt x="1686" y="164"/>
                  </a:cubicBezTo>
                  <a:cubicBezTo>
                    <a:pt x="1674" y="162"/>
                    <a:pt x="1663" y="161"/>
                    <a:pt x="1653" y="161"/>
                  </a:cubicBezTo>
                  <a:cubicBezTo>
                    <a:pt x="1630" y="161"/>
                    <a:pt x="1612" y="167"/>
                    <a:pt x="1597" y="180"/>
                  </a:cubicBezTo>
                  <a:cubicBezTo>
                    <a:pt x="1597" y="374"/>
                    <a:pt x="1597" y="374"/>
                    <a:pt x="1597" y="374"/>
                  </a:cubicBezTo>
                  <a:cubicBezTo>
                    <a:pt x="1547" y="374"/>
                    <a:pt x="1547" y="374"/>
                    <a:pt x="1547" y="374"/>
                  </a:cubicBezTo>
                  <a:lnTo>
                    <a:pt x="1547" y="121"/>
                  </a:lnTo>
                  <a:close/>
                  <a:moveTo>
                    <a:pt x="1885" y="473"/>
                  </a:moveTo>
                  <a:cubicBezTo>
                    <a:pt x="1835" y="473"/>
                    <a:pt x="1835" y="473"/>
                    <a:pt x="1835" y="473"/>
                  </a:cubicBezTo>
                  <a:cubicBezTo>
                    <a:pt x="1835" y="121"/>
                    <a:pt x="1835" y="121"/>
                    <a:pt x="1835" y="121"/>
                  </a:cubicBezTo>
                  <a:cubicBezTo>
                    <a:pt x="1872" y="121"/>
                    <a:pt x="1872" y="121"/>
                    <a:pt x="1872" y="121"/>
                  </a:cubicBezTo>
                  <a:cubicBezTo>
                    <a:pt x="1877" y="142"/>
                    <a:pt x="1877" y="142"/>
                    <a:pt x="1877" y="142"/>
                  </a:cubicBezTo>
                  <a:cubicBezTo>
                    <a:pt x="1895" y="127"/>
                    <a:pt x="1918" y="116"/>
                    <a:pt x="1950" y="116"/>
                  </a:cubicBezTo>
                  <a:cubicBezTo>
                    <a:pt x="2016" y="116"/>
                    <a:pt x="2043" y="164"/>
                    <a:pt x="2043" y="249"/>
                  </a:cubicBezTo>
                  <a:cubicBezTo>
                    <a:pt x="2043" y="340"/>
                    <a:pt x="2012" y="379"/>
                    <a:pt x="1944" y="379"/>
                  </a:cubicBezTo>
                  <a:cubicBezTo>
                    <a:pt x="1926" y="379"/>
                    <a:pt x="1905" y="377"/>
                    <a:pt x="1885" y="372"/>
                  </a:cubicBezTo>
                  <a:lnTo>
                    <a:pt x="1885" y="473"/>
                  </a:lnTo>
                  <a:close/>
                  <a:moveTo>
                    <a:pt x="1934" y="338"/>
                  </a:moveTo>
                  <a:cubicBezTo>
                    <a:pt x="1982" y="338"/>
                    <a:pt x="1993" y="311"/>
                    <a:pt x="1993" y="248"/>
                  </a:cubicBezTo>
                  <a:cubicBezTo>
                    <a:pt x="1993" y="190"/>
                    <a:pt x="1982" y="160"/>
                    <a:pt x="1938" y="160"/>
                  </a:cubicBezTo>
                  <a:cubicBezTo>
                    <a:pt x="1920" y="160"/>
                    <a:pt x="1901" y="165"/>
                    <a:pt x="1885" y="173"/>
                  </a:cubicBezTo>
                  <a:cubicBezTo>
                    <a:pt x="1885" y="333"/>
                    <a:pt x="1885" y="333"/>
                    <a:pt x="1885" y="333"/>
                  </a:cubicBezTo>
                  <a:cubicBezTo>
                    <a:pt x="1901" y="337"/>
                    <a:pt x="1923" y="338"/>
                    <a:pt x="1934" y="338"/>
                  </a:cubicBezTo>
                  <a:moveTo>
                    <a:pt x="2093" y="0"/>
                  </a:moveTo>
                  <a:cubicBezTo>
                    <a:pt x="2142" y="28"/>
                    <a:pt x="2142" y="28"/>
                    <a:pt x="2142" y="28"/>
                  </a:cubicBezTo>
                  <a:cubicBezTo>
                    <a:pt x="2142" y="374"/>
                    <a:pt x="2142" y="374"/>
                    <a:pt x="2142" y="374"/>
                  </a:cubicBezTo>
                  <a:cubicBezTo>
                    <a:pt x="2093" y="374"/>
                    <a:pt x="2093" y="374"/>
                    <a:pt x="2093" y="374"/>
                  </a:cubicBezTo>
                  <a:lnTo>
                    <a:pt x="2093" y="0"/>
                  </a:lnTo>
                  <a:close/>
                  <a:moveTo>
                    <a:pt x="2306" y="116"/>
                  </a:moveTo>
                  <a:cubicBezTo>
                    <a:pt x="2326" y="116"/>
                    <a:pt x="2354" y="119"/>
                    <a:pt x="2374" y="123"/>
                  </a:cubicBezTo>
                  <a:cubicBezTo>
                    <a:pt x="2369" y="165"/>
                    <a:pt x="2369" y="165"/>
                    <a:pt x="2369" y="165"/>
                  </a:cubicBezTo>
                  <a:cubicBezTo>
                    <a:pt x="2352" y="162"/>
                    <a:pt x="2328" y="159"/>
                    <a:pt x="2310" y="159"/>
                  </a:cubicBezTo>
                  <a:cubicBezTo>
                    <a:pt x="2257" y="159"/>
                    <a:pt x="2239" y="185"/>
                    <a:pt x="2239" y="248"/>
                  </a:cubicBezTo>
                  <a:cubicBezTo>
                    <a:pt x="2239" y="295"/>
                    <a:pt x="2250" y="335"/>
                    <a:pt x="2304" y="335"/>
                  </a:cubicBezTo>
                  <a:cubicBezTo>
                    <a:pt x="2326" y="335"/>
                    <a:pt x="2351" y="329"/>
                    <a:pt x="2372" y="320"/>
                  </a:cubicBezTo>
                  <a:cubicBezTo>
                    <a:pt x="2386" y="360"/>
                    <a:pt x="2386" y="360"/>
                    <a:pt x="2386" y="360"/>
                  </a:cubicBezTo>
                  <a:cubicBezTo>
                    <a:pt x="2362" y="371"/>
                    <a:pt x="2328" y="379"/>
                    <a:pt x="2296" y="379"/>
                  </a:cubicBezTo>
                  <a:cubicBezTo>
                    <a:pt x="2222" y="379"/>
                    <a:pt x="2189" y="332"/>
                    <a:pt x="2189" y="249"/>
                  </a:cubicBezTo>
                  <a:cubicBezTo>
                    <a:pt x="2189" y="167"/>
                    <a:pt x="2219" y="116"/>
                    <a:pt x="2306" y="116"/>
                  </a:cubicBezTo>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5" name="Rectangle 6">
              <a:extLst>
                <a:ext uri="{FF2B5EF4-FFF2-40B4-BE49-F238E27FC236}">
                  <a16:creationId xmlns:a16="http://schemas.microsoft.com/office/drawing/2014/main" id="{94960442-76DC-4461-8C9D-884AACCE43C6}"/>
                </a:ext>
              </a:extLst>
            </p:cNvPr>
            <p:cNvSpPr>
              <a:spLocks noChangeArrowheads="1"/>
            </p:cNvSpPr>
            <p:nvPr userDrawn="1"/>
          </p:nvSpPr>
          <p:spPr bwMode="auto">
            <a:xfrm>
              <a:off x="-1433" y="-1383"/>
              <a:ext cx="24" cy="164"/>
            </a:xfrm>
            <a:prstGeom prst="rect">
              <a:avLst/>
            </a:prstGeom>
            <a:solidFill>
              <a:srgbClr val="0292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6" name="Freeform 7">
              <a:extLst>
                <a:ext uri="{FF2B5EF4-FFF2-40B4-BE49-F238E27FC236}">
                  <a16:creationId xmlns:a16="http://schemas.microsoft.com/office/drawing/2014/main" id="{D422FA81-3C2D-4395-8541-97449A2B5820}"/>
                </a:ext>
              </a:extLst>
            </p:cNvPr>
            <p:cNvSpPr>
              <a:spLocks/>
            </p:cNvSpPr>
            <p:nvPr userDrawn="1"/>
          </p:nvSpPr>
          <p:spPr bwMode="auto">
            <a:xfrm>
              <a:off x="-1370" y="-1337"/>
              <a:ext cx="94" cy="118"/>
            </a:xfrm>
            <a:custGeom>
              <a:avLst/>
              <a:gdLst>
                <a:gd name="T0" fmla="*/ 0 w 39"/>
                <a:gd name="T1" fmla="*/ 1 h 49"/>
                <a:gd name="T2" fmla="*/ 7 w 39"/>
                <a:gd name="T3" fmla="*/ 1 h 49"/>
                <a:gd name="T4" fmla="*/ 8 w 39"/>
                <a:gd name="T5" fmla="*/ 5 h 49"/>
                <a:gd name="T6" fmla="*/ 24 w 39"/>
                <a:gd name="T7" fmla="*/ 0 h 49"/>
                <a:gd name="T8" fmla="*/ 39 w 39"/>
                <a:gd name="T9" fmla="*/ 16 h 49"/>
                <a:gd name="T10" fmla="*/ 39 w 39"/>
                <a:gd name="T11" fmla="*/ 49 h 49"/>
                <a:gd name="T12" fmla="*/ 30 w 39"/>
                <a:gd name="T13" fmla="*/ 49 h 49"/>
                <a:gd name="T14" fmla="*/ 30 w 39"/>
                <a:gd name="T15" fmla="*/ 17 h 49"/>
                <a:gd name="T16" fmla="*/ 21 w 39"/>
                <a:gd name="T17" fmla="*/ 8 h 49"/>
                <a:gd name="T18" fmla="*/ 9 w 39"/>
                <a:gd name="T19" fmla="*/ 11 h 49"/>
                <a:gd name="T20" fmla="*/ 9 w 39"/>
                <a:gd name="T21" fmla="*/ 49 h 49"/>
                <a:gd name="T22" fmla="*/ 0 w 39"/>
                <a:gd name="T23" fmla="*/ 49 h 49"/>
                <a:gd name="T24" fmla="*/ 0 w 39"/>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9">
                  <a:moveTo>
                    <a:pt x="0" y="1"/>
                  </a:moveTo>
                  <a:cubicBezTo>
                    <a:pt x="7" y="1"/>
                    <a:pt x="7" y="1"/>
                    <a:pt x="7" y="1"/>
                  </a:cubicBezTo>
                  <a:cubicBezTo>
                    <a:pt x="8" y="5"/>
                    <a:pt x="8" y="5"/>
                    <a:pt x="8" y="5"/>
                  </a:cubicBezTo>
                  <a:cubicBezTo>
                    <a:pt x="12" y="2"/>
                    <a:pt x="17" y="0"/>
                    <a:pt x="24" y="0"/>
                  </a:cubicBezTo>
                  <a:cubicBezTo>
                    <a:pt x="34" y="0"/>
                    <a:pt x="39" y="5"/>
                    <a:pt x="39" y="16"/>
                  </a:cubicBezTo>
                  <a:cubicBezTo>
                    <a:pt x="39" y="49"/>
                    <a:pt x="39" y="49"/>
                    <a:pt x="39" y="49"/>
                  </a:cubicBezTo>
                  <a:cubicBezTo>
                    <a:pt x="30" y="49"/>
                    <a:pt x="30" y="49"/>
                    <a:pt x="30" y="49"/>
                  </a:cubicBezTo>
                  <a:cubicBezTo>
                    <a:pt x="30" y="17"/>
                    <a:pt x="30" y="17"/>
                    <a:pt x="30" y="17"/>
                  </a:cubicBezTo>
                  <a:cubicBezTo>
                    <a:pt x="30" y="11"/>
                    <a:pt x="27" y="8"/>
                    <a:pt x="21" y="8"/>
                  </a:cubicBezTo>
                  <a:cubicBezTo>
                    <a:pt x="17" y="8"/>
                    <a:pt x="13" y="10"/>
                    <a:pt x="9" y="11"/>
                  </a:cubicBezTo>
                  <a:cubicBezTo>
                    <a:pt x="9" y="49"/>
                    <a:pt x="9" y="49"/>
                    <a:pt x="9"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8">
              <a:extLst>
                <a:ext uri="{FF2B5EF4-FFF2-40B4-BE49-F238E27FC236}">
                  <a16:creationId xmlns:a16="http://schemas.microsoft.com/office/drawing/2014/main" id="{0CDA9582-690E-4332-9505-5BC9A7AC1793}"/>
                </a:ext>
              </a:extLst>
            </p:cNvPr>
            <p:cNvSpPr>
              <a:spLocks/>
            </p:cNvSpPr>
            <p:nvPr userDrawn="1"/>
          </p:nvSpPr>
          <p:spPr bwMode="auto">
            <a:xfrm>
              <a:off x="-1254" y="-1335"/>
              <a:ext cx="106" cy="116"/>
            </a:xfrm>
            <a:custGeom>
              <a:avLst/>
              <a:gdLst>
                <a:gd name="T0" fmla="*/ 0 w 44"/>
                <a:gd name="T1" fmla="*/ 0 h 48"/>
                <a:gd name="T2" fmla="*/ 10 w 44"/>
                <a:gd name="T3" fmla="*/ 0 h 48"/>
                <a:gd name="T4" fmla="*/ 22 w 44"/>
                <a:gd name="T5" fmla="*/ 41 h 48"/>
                <a:gd name="T6" fmla="*/ 23 w 44"/>
                <a:gd name="T7" fmla="*/ 41 h 48"/>
                <a:gd name="T8" fmla="*/ 34 w 44"/>
                <a:gd name="T9" fmla="*/ 0 h 48"/>
                <a:gd name="T10" fmla="*/ 44 w 44"/>
                <a:gd name="T11" fmla="*/ 0 h 48"/>
                <a:gd name="T12" fmla="*/ 29 w 44"/>
                <a:gd name="T13" fmla="*/ 48 h 48"/>
                <a:gd name="T14" fmla="*/ 15 w 44"/>
                <a:gd name="T15" fmla="*/ 48 h 48"/>
                <a:gd name="T16" fmla="*/ 0 w 44"/>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8">
                  <a:moveTo>
                    <a:pt x="0" y="0"/>
                  </a:moveTo>
                  <a:cubicBezTo>
                    <a:pt x="10" y="0"/>
                    <a:pt x="10" y="0"/>
                    <a:pt x="10" y="0"/>
                  </a:cubicBezTo>
                  <a:cubicBezTo>
                    <a:pt x="13" y="14"/>
                    <a:pt x="17" y="29"/>
                    <a:pt x="22" y="41"/>
                  </a:cubicBezTo>
                  <a:cubicBezTo>
                    <a:pt x="23" y="41"/>
                    <a:pt x="23" y="41"/>
                    <a:pt x="23" y="41"/>
                  </a:cubicBezTo>
                  <a:cubicBezTo>
                    <a:pt x="27" y="29"/>
                    <a:pt x="31" y="14"/>
                    <a:pt x="34" y="0"/>
                  </a:cubicBezTo>
                  <a:cubicBezTo>
                    <a:pt x="44" y="0"/>
                    <a:pt x="44" y="0"/>
                    <a:pt x="44" y="0"/>
                  </a:cubicBezTo>
                  <a:cubicBezTo>
                    <a:pt x="40" y="16"/>
                    <a:pt x="35" y="33"/>
                    <a:pt x="29" y="48"/>
                  </a:cubicBezTo>
                  <a:cubicBezTo>
                    <a:pt x="15" y="48"/>
                    <a:pt x="15" y="48"/>
                    <a:pt x="15" y="48"/>
                  </a:cubicBezTo>
                  <a:cubicBezTo>
                    <a:pt x="9" y="33"/>
                    <a:pt x="4" y="16"/>
                    <a:pt x="0"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8" name="Freeform 9">
              <a:extLst>
                <a:ext uri="{FF2B5EF4-FFF2-40B4-BE49-F238E27FC236}">
                  <a16:creationId xmlns:a16="http://schemas.microsoft.com/office/drawing/2014/main" id="{6C703ED1-CDBF-4523-B85A-11AA61BA0073}"/>
                </a:ext>
              </a:extLst>
            </p:cNvPr>
            <p:cNvSpPr>
              <a:spLocks noEditPoints="1"/>
            </p:cNvSpPr>
            <p:nvPr userDrawn="1"/>
          </p:nvSpPr>
          <p:spPr bwMode="auto">
            <a:xfrm>
              <a:off x="-1136"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0 w 40"/>
                <a:gd name="T21" fmla="*/ 21 h 51"/>
                <a:gd name="T22" fmla="*/ 21 w 40"/>
                <a:gd name="T23" fmla="*/ 8 h 51"/>
                <a:gd name="T24" fmla="*/ 10 w 40"/>
                <a:gd name="T25" fmla="*/ 21 h 51"/>
                <a:gd name="T26" fmla="*/ 30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3" y="0"/>
                    <a:pt x="40" y="8"/>
                    <a:pt x="40" y="22"/>
                  </a:cubicBezTo>
                  <a:cubicBezTo>
                    <a:pt x="40" y="24"/>
                    <a:pt x="40" y="26"/>
                    <a:pt x="39" y="28"/>
                  </a:cubicBezTo>
                  <a:cubicBezTo>
                    <a:pt x="10" y="28"/>
                    <a:pt x="10" y="28"/>
                    <a:pt x="10" y="28"/>
                  </a:cubicBezTo>
                  <a:cubicBezTo>
                    <a:pt x="11" y="37"/>
                    <a:pt x="15" y="42"/>
                    <a:pt x="23" y="42"/>
                  </a:cubicBezTo>
                  <a:cubicBezTo>
                    <a:pt x="28" y="42"/>
                    <a:pt x="33" y="40"/>
                    <a:pt x="37" y="39"/>
                  </a:cubicBezTo>
                  <a:cubicBezTo>
                    <a:pt x="40" y="46"/>
                    <a:pt x="40" y="46"/>
                    <a:pt x="40" y="46"/>
                  </a:cubicBezTo>
                  <a:cubicBezTo>
                    <a:pt x="35" y="48"/>
                    <a:pt x="29" y="51"/>
                    <a:pt x="22" y="51"/>
                  </a:cubicBezTo>
                  <a:cubicBezTo>
                    <a:pt x="9" y="51"/>
                    <a:pt x="0" y="42"/>
                    <a:pt x="0" y="25"/>
                  </a:cubicBezTo>
                  <a:cubicBezTo>
                    <a:pt x="0" y="10"/>
                    <a:pt x="7" y="0"/>
                    <a:pt x="21" y="0"/>
                  </a:cubicBezTo>
                  <a:moveTo>
                    <a:pt x="30" y="21"/>
                  </a:moveTo>
                  <a:cubicBezTo>
                    <a:pt x="30" y="14"/>
                    <a:pt x="28" y="8"/>
                    <a:pt x="21" y="8"/>
                  </a:cubicBezTo>
                  <a:cubicBezTo>
                    <a:pt x="14" y="8"/>
                    <a:pt x="10" y="13"/>
                    <a:pt x="10" y="21"/>
                  </a:cubicBezTo>
                  <a:lnTo>
                    <a:pt x="30"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9" name="Freeform 10">
              <a:extLst>
                <a:ext uri="{FF2B5EF4-FFF2-40B4-BE49-F238E27FC236}">
                  <a16:creationId xmlns:a16="http://schemas.microsoft.com/office/drawing/2014/main" id="{734C17D1-406B-409D-8659-CAEE59EF5EA7}"/>
                </a:ext>
              </a:extLst>
            </p:cNvPr>
            <p:cNvSpPr>
              <a:spLocks/>
            </p:cNvSpPr>
            <p:nvPr userDrawn="1"/>
          </p:nvSpPr>
          <p:spPr bwMode="auto">
            <a:xfrm>
              <a:off x="-1023" y="-1337"/>
              <a:ext cx="90" cy="123"/>
            </a:xfrm>
            <a:custGeom>
              <a:avLst/>
              <a:gdLst>
                <a:gd name="T0" fmla="*/ 2 w 37"/>
                <a:gd name="T1" fmla="*/ 40 h 51"/>
                <a:gd name="T2" fmla="*/ 16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0 w 37"/>
                <a:gd name="T17" fmla="*/ 8 h 51"/>
                <a:gd name="T18" fmla="*/ 11 w 37"/>
                <a:gd name="T19" fmla="*/ 13 h 51"/>
                <a:gd name="T20" fmla="*/ 23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6"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29" y="9"/>
                    <a:pt x="24" y="8"/>
                    <a:pt x="20" y="8"/>
                  </a:cubicBezTo>
                  <a:cubicBezTo>
                    <a:pt x="14" y="8"/>
                    <a:pt x="11" y="10"/>
                    <a:pt x="11" y="13"/>
                  </a:cubicBezTo>
                  <a:cubicBezTo>
                    <a:pt x="11" y="18"/>
                    <a:pt x="16" y="19"/>
                    <a:pt x="23"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0" name="Freeform 11">
              <a:extLst>
                <a:ext uri="{FF2B5EF4-FFF2-40B4-BE49-F238E27FC236}">
                  <a16:creationId xmlns:a16="http://schemas.microsoft.com/office/drawing/2014/main" id="{E41042FA-42F6-4AB9-B883-466255A89DB4}"/>
                </a:ext>
              </a:extLst>
            </p:cNvPr>
            <p:cNvSpPr>
              <a:spLocks/>
            </p:cNvSpPr>
            <p:nvPr userDrawn="1"/>
          </p:nvSpPr>
          <p:spPr bwMode="auto">
            <a:xfrm>
              <a:off x="-921" y="-1368"/>
              <a:ext cx="75" cy="151"/>
            </a:xfrm>
            <a:custGeom>
              <a:avLst/>
              <a:gdLst>
                <a:gd name="T0" fmla="*/ 7 w 31"/>
                <a:gd name="T1" fmla="*/ 22 h 63"/>
                <a:gd name="T2" fmla="*/ 0 w 31"/>
                <a:gd name="T3" fmla="*/ 22 h 63"/>
                <a:gd name="T4" fmla="*/ 0 w 31"/>
                <a:gd name="T5" fmla="*/ 14 h 63"/>
                <a:gd name="T6" fmla="*/ 8 w 31"/>
                <a:gd name="T7" fmla="*/ 14 h 63"/>
                <a:gd name="T8" fmla="*/ 8 w 31"/>
                <a:gd name="T9" fmla="*/ 0 h 63"/>
                <a:gd name="T10" fmla="*/ 17 w 31"/>
                <a:gd name="T11" fmla="*/ 0 h 63"/>
                <a:gd name="T12" fmla="*/ 17 w 31"/>
                <a:gd name="T13" fmla="*/ 14 h 63"/>
                <a:gd name="T14" fmla="*/ 30 w 31"/>
                <a:gd name="T15" fmla="*/ 14 h 63"/>
                <a:gd name="T16" fmla="*/ 30 w 31"/>
                <a:gd name="T17" fmla="*/ 22 h 63"/>
                <a:gd name="T18" fmla="*/ 17 w 31"/>
                <a:gd name="T19" fmla="*/ 22 h 63"/>
                <a:gd name="T20" fmla="*/ 17 w 31"/>
                <a:gd name="T21" fmla="*/ 50 h 63"/>
                <a:gd name="T22" fmla="*/ 22 w 31"/>
                <a:gd name="T23" fmla="*/ 55 h 63"/>
                <a:gd name="T24" fmla="*/ 28 w 31"/>
                <a:gd name="T25" fmla="*/ 53 h 63"/>
                <a:gd name="T26" fmla="*/ 31 w 31"/>
                <a:gd name="T27" fmla="*/ 60 h 63"/>
                <a:gd name="T28" fmla="*/ 19 w 31"/>
                <a:gd name="T29" fmla="*/ 63 h 63"/>
                <a:gd name="T30" fmla="*/ 7 w 31"/>
                <a:gd name="T31" fmla="*/ 51 h 63"/>
                <a:gd name="T32" fmla="*/ 7 w 31"/>
                <a:gd name="T33"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63">
                  <a:moveTo>
                    <a:pt x="7" y="22"/>
                  </a:moveTo>
                  <a:cubicBezTo>
                    <a:pt x="0" y="22"/>
                    <a:pt x="0" y="22"/>
                    <a:pt x="0" y="22"/>
                  </a:cubicBezTo>
                  <a:cubicBezTo>
                    <a:pt x="0" y="14"/>
                    <a:pt x="0" y="14"/>
                    <a:pt x="0" y="14"/>
                  </a:cubicBezTo>
                  <a:cubicBezTo>
                    <a:pt x="8" y="14"/>
                    <a:pt x="8" y="14"/>
                    <a:pt x="8" y="14"/>
                  </a:cubicBezTo>
                  <a:cubicBezTo>
                    <a:pt x="8" y="0"/>
                    <a:pt x="8" y="0"/>
                    <a:pt x="8" y="0"/>
                  </a:cubicBezTo>
                  <a:cubicBezTo>
                    <a:pt x="17" y="0"/>
                    <a:pt x="17" y="0"/>
                    <a:pt x="17" y="0"/>
                  </a:cubicBezTo>
                  <a:cubicBezTo>
                    <a:pt x="17" y="14"/>
                    <a:pt x="17" y="14"/>
                    <a:pt x="17" y="14"/>
                  </a:cubicBezTo>
                  <a:cubicBezTo>
                    <a:pt x="30" y="14"/>
                    <a:pt x="30" y="14"/>
                    <a:pt x="30" y="14"/>
                  </a:cubicBezTo>
                  <a:cubicBezTo>
                    <a:pt x="30" y="22"/>
                    <a:pt x="30" y="22"/>
                    <a:pt x="30" y="22"/>
                  </a:cubicBezTo>
                  <a:cubicBezTo>
                    <a:pt x="17" y="22"/>
                    <a:pt x="17" y="22"/>
                    <a:pt x="17" y="22"/>
                  </a:cubicBezTo>
                  <a:cubicBezTo>
                    <a:pt x="17" y="50"/>
                    <a:pt x="17" y="50"/>
                    <a:pt x="17" y="50"/>
                  </a:cubicBezTo>
                  <a:cubicBezTo>
                    <a:pt x="17" y="53"/>
                    <a:pt x="18" y="55"/>
                    <a:pt x="22" y="55"/>
                  </a:cubicBezTo>
                  <a:cubicBezTo>
                    <a:pt x="24" y="55"/>
                    <a:pt x="26" y="54"/>
                    <a:pt x="28" y="53"/>
                  </a:cubicBezTo>
                  <a:cubicBezTo>
                    <a:pt x="31" y="60"/>
                    <a:pt x="31" y="60"/>
                    <a:pt x="31" y="60"/>
                  </a:cubicBezTo>
                  <a:cubicBezTo>
                    <a:pt x="28" y="62"/>
                    <a:pt x="24" y="63"/>
                    <a:pt x="19" y="63"/>
                  </a:cubicBezTo>
                  <a:cubicBezTo>
                    <a:pt x="12" y="63"/>
                    <a:pt x="7" y="59"/>
                    <a:pt x="7" y="51"/>
                  </a:cubicBezTo>
                  <a:lnTo>
                    <a:pt x="7" y="2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1" name="Freeform 12">
              <a:extLst>
                <a:ext uri="{FF2B5EF4-FFF2-40B4-BE49-F238E27FC236}">
                  <a16:creationId xmlns:a16="http://schemas.microsoft.com/office/drawing/2014/main" id="{4C3C6621-6FAE-4B47-9631-C76ADF24AF90}"/>
                </a:ext>
              </a:extLst>
            </p:cNvPr>
            <p:cNvSpPr>
              <a:spLocks noEditPoints="1"/>
            </p:cNvSpPr>
            <p:nvPr userDrawn="1"/>
          </p:nvSpPr>
          <p:spPr bwMode="auto">
            <a:xfrm>
              <a:off x="-822"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2" name="Freeform 13">
              <a:extLst>
                <a:ext uri="{FF2B5EF4-FFF2-40B4-BE49-F238E27FC236}">
                  <a16:creationId xmlns:a16="http://schemas.microsoft.com/office/drawing/2014/main" id="{A2D39429-0561-4657-94A2-D05AA3F95118}"/>
                </a:ext>
              </a:extLst>
            </p:cNvPr>
            <p:cNvSpPr>
              <a:spLocks/>
            </p:cNvSpPr>
            <p:nvPr userDrawn="1"/>
          </p:nvSpPr>
          <p:spPr bwMode="auto">
            <a:xfrm>
              <a:off x="-764"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8"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3" name="Freeform 14">
              <a:extLst>
                <a:ext uri="{FF2B5EF4-FFF2-40B4-BE49-F238E27FC236}">
                  <a16:creationId xmlns:a16="http://schemas.microsoft.com/office/drawing/2014/main" id="{1328E803-60FC-4104-9AD5-2625AD84DF02}"/>
                </a:ext>
              </a:extLst>
            </p:cNvPr>
            <p:cNvSpPr>
              <a:spLocks noEditPoints="1"/>
            </p:cNvSpPr>
            <p:nvPr userDrawn="1"/>
          </p:nvSpPr>
          <p:spPr bwMode="auto">
            <a:xfrm>
              <a:off x="-639" y="-1337"/>
              <a:ext cx="97" cy="168"/>
            </a:xfrm>
            <a:custGeom>
              <a:avLst/>
              <a:gdLst>
                <a:gd name="T0" fmla="*/ 20 w 40"/>
                <a:gd name="T1" fmla="*/ 61 h 70"/>
                <a:gd name="T2" fmla="*/ 31 w 40"/>
                <a:gd name="T3" fmla="*/ 53 h 70"/>
                <a:gd name="T4" fmla="*/ 31 w 40"/>
                <a:gd name="T5" fmla="*/ 47 h 70"/>
                <a:gd name="T6" fmla="*/ 18 w 40"/>
                <a:gd name="T7" fmla="*/ 51 h 70"/>
                <a:gd name="T8" fmla="*/ 0 w 40"/>
                <a:gd name="T9" fmla="*/ 25 h 70"/>
                <a:gd name="T10" fmla="*/ 20 w 40"/>
                <a:gd name="T11" fmla="*/ 0 h 70"/>
                <a:gd name="T12" fmla="*/ 40 w 40"/>
                <a:gd name="T13" fmla="*/ 3 h 70"/>
                <a:gd name="T14" fmla="*/ 40 w 40"/>
                <a:gd name="T15" fmla="*/ 54 h 70"/>
                <a:gd name="T16" fmla="*/ 20 w 40"/>
                <a:gd name="T17" fmla="*/ 70 h 70"/>
                <a:gd name="T18" fmla="*/ 5 w 40"/>
                <a:gd name="T19" fmla="*/ 68 h 70"/>
                <a:gd name="T20" fmla="*/ 6 w 40"/>
                <a:gd name="T21" fmla="*/ 60 h 70"/>
                <a:gd name="T22" fmla="*/ 20 w 40"/>
                <a:gd name="T23" fmla="*/ 61 h 70"/>
                <a:gd name="T24" fmla="*/ 31 w 40"/>
                <a:gd name="T25" fmla="*/ 40 h 70"/>
                <a:gd name="T26" fmla="*/ 31 w 40"/>
                <a:gd name="T27" fmla="*/ 9 h 70"/>
                <a:gd name="T28" fmla="*/ 21 w 40"/>
                <a:gd name="T29" fmla="*/ 7 h 70"/>
                <a:gd name="T30" fmla="*/ 10 w 40"/>
                <a:gd name="T31" fmla="*/ 25 h 70"/>
                <a:gd name="T32" fmla="*/ 20 w 40"/>
                <a:gd name="T33" fmla="*/ 42 h 70"/>
                <a:gd name="T34" fmla="*/ 31 w 40"/>
                <a:gd name="T35"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0">
                  <a:moveTo>
                    <a:pt x="20" y="61"/>
                  </a:moveTo>
                  <a:cubicBezTo>
                    <a:pt x="26" y="61"/>
                    <a:pt x="31" y="60"/>
                    <a:pt x="31" y="53"/>
                  </a:cubicBezTo>
                  <a:cubicBezTo>
                    <a:pt x="31" y="47"/>
                    <a:pt x="31" y="47"/>
                    <a:pt x="31" y="47"/>
                  </a:cubicBezTo>
                  <a:cubicBezTo>
                    <a:pt x="27" y="49"/>
                    <a:pt x="23" y="51"/>
                    <a:pt x="18" y="51"/>
                  </a:cubicBezTo>
                  <a:cubicBezTo>
                    <a:pt x="5" y="51"/>
                    <a:pt x="0" y="41"/>
                    <a:pt x="0" y="25"/>
                  </a:cubicBezTo>
                  <a:cubicBezTo>
                    <a:pt x="0" y="7"/>
                    <a:pt x="6" y="0"/>
                    <a:pt x="20" y="0"/>
                  </a:cubicBezTo>
                  <a:cubicBezTo>
                    <a:pt x="26" y="0"/>
                    <a:pt x="35" y="1"/>
                    <a:pt x="40" y="3"/>
                  </a:cubicBezTo>
                  <a:cubicBezTo>
                    <a:pt x="40" y="54"/>
                    <a:pt x="40" y="54"/>
                    <a:pt x="40" y="54"/>
                  </a:cubicBezTo>
                  <a:cubicBezTo>
                    <a:pt x="40" y="66"/>
                    <a:pt x="32" y="70"/>
                    <a:pt x="20" y="70"/>
                  </a:cubicBezTo>
                  <a:cubicBezTo>
                    <a:pt x="15" y="70"/>
                    <a:pt x="10" y="69"/>
                    <a:pt x="5" y="68"/>
                  </a:cubicBezTo>
                  <a:cubicBezTo>
                    <a:pt x="6" y="60"/>
                    <a:pt x="6" y="60"/>
                    <a:pt x="6" y="60"/>
                  </a:cubicBezTo>
                  <a:cubicBezTo>
                    <a:pt x="10" y="61"/>
                    <a:pt x="15" y="61"/>
                    <a:pt x="20" y="61"/>
                  </a:cubicBezTo>
                  <a:moveTo>
                    <a:pt x="31" y="40"/>
                  </a:moveTo>
                  <a:cubicBezTo>
                    <a:pt x="31" y="9"/>
                    <a:pt x="31" y="9"/>
                    <a:pt x="31" y="9"/>
                  </a:cubicBezTo>
                  <a:cubicBezTo>
                    <a:pt x="28" y="8"/>
                    <a:pt x="24" y="7"/>
                    <a:pt x="21" y="7"/>
                  </a:cubicBezTo>
                  <a:cubicBezTo>
                    <a:pt x="12" y="7"/>
                    <a:pt x="10" y="13"/>
                    <a:pt x="10" y="25"/>
                  </a:cubicBezTo>
                  <a:cubicBezTo>
                    <a:pt x="10" y="36"/>
                    <a:pt x="12" y="42"/>
                    <a:pt x="20" y="42"/>
                  </a:cubicBezTo>
                  <a:cubicBezTo>
                    <a:pt x="24" y="42"/>
                    <a:pt x="27" y="41"/>
                    <a:pt x="31" y="4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4" name="Freeform 15">
              <a:extLst>
                <a:ext uri="{FF2B5EF4-FFF2-40B4-BE49-F238E27FC236}">
                  <a16:creationId xmlns:a16="http://schemas.microsoft.com/office/drawing/2014/main" id="{707C5A2F-5760-4686-BB1D-9329D03468D2}"/>
                </a:ext>
              </a:extLst>
            </p:cNvPr>
            <p:cNvSpPr>
              <a:spLocks noEditPoints="1"/>
            </p:cNvSpPr>
            <p:nvPr userDrawn="1"/>
          </p:nvSpPr>
          <p:spPr bwMode="auto">
            <a:xfrm>
              <a:off x="-446" y="-1383"/>
              <a:ext cx="22" cy="164"/>
            </a:xfrm>
            <a:custGeom>
              <a:avLst/>
              <a:gdLst>
                <a:gd name="T0" fmla="*/ 0 w 22"/>
                <a:gd name="T1" fmla="*/ 0 h 164"/>
                <a:gd name="T2" fmla="*/ 22 w 22"/>
                <a:gd name="T3" fmla="*/ 0 h 164"/>
                <a:gd name="T4" fmla="*/ 22 w 22"/>
                <a:gd name="T5" fmla="*/ 27 h 164"/>
                <a:gd name="T6" fmla="*/ 0 w 22"/>
                <a:gd name="T7" fmla="*/ 27 h 164"/>
                <a:gd name="T8" fmla="*/ 0 w 22"/>
                <a:gd name="T9" fmla="*/ 0 h 164"/>
                <a:gd name="T10" fmla="*/ 0 w 22"/>
                <a:gd name="T11" fmla="*/ 48 h 164"/>
                <a:gd name="T12" fmla="*/ 22 w 22"/>
                <a:gd name="T13" fmla="*/ 48 h 164"/>
                <a:gd name="T14" fmla="*/ 22 w 22"/>
                <a:gd name="T15" fmla="*/ 164 h 164"/>
                <a:gd name="T16" fmla="*/ 0 w 22"/>
                <a:gd name="T17" fmla="*/ 164 h 164"/>
                <a:gd name="T18" fmla="*/ 0 w 22"/>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64">
                  <a:moveTo>
                    <a:pt x="0" y="0"/>
                  </a:moveTo>
                  <a:lnTo>
                    <a:pt x="22" y="0"/>
                  </a:lnTo>
                  <a:lnTo>
                    <a:pt x="22" y="27"/>
                  </a:lnTo>
                  <a:lnTo>
                    <a:pt x="0" y="27"/>
                  </a:lnTo>
                  <a:lnTo>
                    <a:pt x="0" y="0"/>
                  </a:lnTo>
                  <a:close/>
                  <a:moveTo>
                    <a:pt x="0" y="48"/>
                  </a:moveTo>
                  <a:lnTo>
                    <a:pt x="22" y="48"/>
                  </a:lnTo>
                  <a:lnTo>
                    <a:pt x="22"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5" name="Freeform 16">
              <a:extLst>
                <a:ext uri="{FF2B5EF4-FFF2-40B4-BE49-F238E27FC236}">
                  <a16:creationId xmlns:a16="http://schemas.microsoft.com/office/drawing/2014/main" id="{338B40E2-5FA2-4CFF-8221-0D62F32610FC}"/>
                </a:ext>
              </a:extLst>
            </p:cNvPr>
            <p:cNvSpPr>
              <a:spLocks/>
            </p:cNvSpPr>
            <p:nvPr userDrawn="1"/>
          </p:nvSpPr>
          <p:spPr bwMode="auto">
            <a:xfrm>
              <a:off x="-388" y="-1337"/>
              <a:ext cx="97"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8"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6" name="Freeform 17">
              <a:extLst>
                <a:ext uri="{FF2B5EF4-FFF2-40B4-BE49-F238E27FC236}">
                  <a16:creationId xmlns:a16="http://schemas.microsoft.com/office/drawing/2014/main" id="{1DC8EF80-1480-4E82-8F7D-0403B92EEACE}"/>
                </a:ext>
              </a:extLst>
            </p:cNvPr>
            <p:cNvSpPr>
              <a:spLocks/>
            </p:cNvSpPr>
            <p:nvPr userDrawn="1"/>
          </p:nvSpPr>
          <p:spPr bwMode="auto">
            <a:xfrm>
              <a:off x="-197" y="-1383"/>
              <a:ext cx="97" cy="164"/>
            </a:xfrm>
            <a:custGeom>
              <a:avLst/>
              <a:gdLst>
                <a:gd name="T0" fmla="*/ 0 w 40"/>
                <a:gd name="T1" fmla="*/ 0 h 68"/>
                <a:gd name="T2" fmla="*/ 10 w 40"/>
                <a:gd name="T3" fmla="*/ 0 h 68"/>
                <a:gd name="T4" fmla="*/ 10 w 40"/>
                <a:gd name="T5" fmla="*/ 23 h 68"/>
                <a:gd name="T6" fmla="*/ 24 w 40"/>
                <a:gd name="T7" fmla="*/ 19 h 68"/>
                <a:gd name="T8" fmla="*/ 40 w 40"/>
                <a:gd name="T9" fmla="*/ 35 h 68"/>
                <a:gd name="T10" fmla="*/ 40 w 40"/>
                <a:gd name="T11" fmla="*/ 68 h 68"/>
                <a:gd name="T12" fmla="*/ 30 w 40"/>
                <a:gd name="T13" fmla="*/ 68 h 68"/>
                <a:gd name="T14" fmla="*/ 30 w 40"/>
                <a:gd name="T15" fmla="*/ 36 h 68"/>
                <a:gd name="T16" fmla="*/ 22 w 40"/>
                <a:gd name="T17" fmla="*/ 27 h 68"/>
                <a:gd name="T18" fmla="*/ 10 w 40"/>
                <a:gd name="T19" fmla="*/ 30 h 68"/>
                <a:gd name="T20" fmla="*/ 10 w 40"/>
                <a:gd name="T21" fmla="*/ 68 h 68"/>
                <a:gd name="T22" fmla="*/ 0 w 40"/>
                <a:gd name="T23" fmla="*/ 68 h 68"/>
                <a:gd name="T24" fmla="*/ 0 w 40"/>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68">
                  <a:moveTo>
                    <a:pt x="0" y="0"/>
                  </a:moveTo>
                  <a:cubicBezTo>
                    <a:pt x="10" y="0"/>
                    <a:pt x="10" y="0"/>
                    <a:pt x="10" y="0"/>
                  </a:cubicBezTo>
                  <a:cubicBezTo>
                    <a:pt x="10" y="23"/>
                    <a:pt x="10" y="23"/>
                    <a:pt x="10" y="23"/>
                  </a:cubicBezTo>
                  <a:cubicBezTo>
                    <a:pt x="13" y="21"/>
                    <a:pt x="18" y="19"/>
                    <a:pt x="24" y="19"/>
                  </a:cubicBezTo>
                  <a:cubicBezTo>
                    <a:pt x="34" y="19"/>
                    <a:pt x="40" y="24"/>
                    <a:pt x="40" y="35"/>
                  </a:cubicBezTo>
                  <a:cubicBezTo>
                    <a:pt x="40" y="68"/>
                    <a:pt x="40" y="68"/>
                    <a:pt x="40" y="68"/>
                  </a:cubicBezTo>
                  <a:cubicBezTo>
                    <a:pt x="30" y="68"/>
                    <a:pt x="30" y="68"/>
                    <a:pt x="30" y="68"/>
                  </a:cubicBezTo>
                  <a:cubicBezTo>
                    <a:pt x="30" y="36"/>
                    <a:pt x="30" y="36"/>
                    <a:pt x="30" y="36"/>
                  </a:cubicBezTo>
                  <a:cubicBezTo>
                    <a:pt x="30" y="30"/>
                    <a:pt x="28" y="27"/>
                    <a:pt x="22" y="27"/>
                  </a:cubicBezTo>
                  <a:cubicBezTo>
                    <a:pt x="18" y="27"/>
                    <a:pt x="13" y="29"/>
                    <a:pt x="10" y="30"/>
                  </a:cubicBezTo>
                  <a:cubicBezTo>
                    <a:pt x="10" y="68"/>
                    <a:pt x="10" y="68"/>
                    <a:pt x="10" y="68"/>
                  </a:cubicBezTo>
                  <a:cubicBezTo>
                    <a:pt x="0" y="68"/>
                    <a:pt x="0" y="68"/>
                    <a:pt x="0" y="68"/>
                  </a:cubicBezTo>
                  <a:lnTo>
                    <a:pt x="0" y="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7" name="Freeform 18">
              <a:extLst>
                <a:ext uri="{FF2B5EF4-FFF2-40B4-BE49-F238E27FC236}">
                  <a16:creationId xmlns:a16="http://schemas.microsoft.com/office/drawing/2014/main" id="{AD3BD5C6-02DE-41BF-ACAC-0C73DE8EC636}"/>
                </a:ext>
              </a:extLst>
            </p:cNvPr>
            <p:cNvSpPr>
              <a:spLocks noEditPoints="1"/>
            </p:cNvSpPr>
            <p:nvPr userDrawn="1"/>
          </p:nvSpPr>
          <p:spPr bwMode="auto">
            <a:xfrm>
              <a:off x="-74" y="-1337"/>
              <a:ext cx="106" cy="123"/>
            </a:xfrm>
            <a:custGeom>
              <a:avLst/>
              <a:gdLst>
                <a:gd name="T0" fmla="*/ 22 w 44"/>
                <a:gd name="T1" fmla="*/ 0 h 51"/>
                <a:gd name="T2" fmla="*/ 44 w 44"/>
                <a:gd name="T3" fmla="*/ 25 h 51"/>
                <a:gd name="T4" fmla="*/ 22 w 44"/>
                <a:gd name="T5" fmla="*/ 51 h 51"/>
                <a:gd name="T6" fmla="*/ 0 w 44"/>
                <a:gd name="T7" fmla="*/ 25 h 51"/>
                <a:gd name="T8" fmla="*/ 22 w 44"/>
                <a:gd name="T9" fmla="*/ 0 h 51"/>
                <a:gd name="T10" fmla="*/ 35 w 44"/>
                <a:gd name="T11" fmla="*/ 25 h 51"/>
                <a:gd name="T12" fmla="*/ 22 w 44"/>
                <a:gd name="T13" fmla="*/ 8 h 51"/>
                <a:gd name="T14" fmla="*/ 10 w 44"/>
                <a:gd name="T15" fmla="*/ 25 h 51"/>
                <a:gd name="T16" fmla="*/ 22 w 44"/>
                <a:gd name="T17" fmla="*/ 42 h 51"/>
                <a:gd name="T18" fmla="*/ 35 w 44"/>
                <a:gd name="T19"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1">
                  <a:moveTo>
                    <a:pt x="22" y="0"/>
                  </a:moveTo>
                  <a:cubicBezTo>
                    <a:pt x="38" y="0"/>
                    <a:pt x="44" y="10"/>
                    <a:pt x="44" y="25"/>
                  </a:cubicBezTo>
                  <a:cubicBezTo>
                    <a:pt x="44" y="40"/>
                    <a:pt x="38" y="51"/>
                    <a:pt x="22" y="51"/>
                  </a:cubicBezTo>
                  <a:cubicBezTo>
                    <a:pt x="6" y="51"/>
                    <a:pt x="0" y="40"/>
                    <a:pt x="0" y="25"/>
                  </a:cubicBezTo>
                  <a:cubicBezTo>
                    <a:pt x="0" y="10"/>
                    <a:pt x="6" y="0"/>
                    <a:pt x="22" y="0"/>
                  </a:cubicBezTo>
                  <a:moveTo>
                    <a:pt x="35" y="25"/>
                  </a:moveTo>
                  <a:cubicBezTo>
                    <a:pt x="35" y="15"/>
                    <a:pt x="32" y="8"/>
                    <a:pt x="22" y="8"/>
                  </a:cubicBezTo>
                  <a:cubicBezTo>
                    <a:pt x="12" y="8"/>
                    <a:pt x="10" y="15"/>
                    <a:pt x="10" y="25"/>
                  </a:cubicBezTo>
                  <a:cubicBezTo>
                    <a:pt x="10" y="35"/>
                    <a:pt x="12" y="42"/>
                    <a:pt x="22" y="42"/>
                  </a:cubicBezTo>
                  <a:cubicBezTo>
                    <a:pt x="32" y="42"/>
                    <a:pt x="35" y="35"/>
                    <a:pt x="35" y="25"/>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8" name="Freeform 19">
              <a:extLst>
                <a:ext uri="{FF2B5EF4-FFF2-40B4-BE49-F238E27FC236}">
                  <a16:creationId xmlns:a16="http://schemas.microsoft.com/office/drawing/2014/main" id="{0703C6E9-34A9-4D28-AC4C-E6A50750761E}"/>
                </a:ext>
              </a:extLst>
            </p:cNvPr>
            <p:cNvSpPr>
              <a:spLocks/>
            </p:cNvSpPr>
            <p:nvPr userDrawn="1"/>
          </p:nvSpPr>
          <p:spPr bwMode="auto">
            <a:xfrm>
              <a:off x="61" y="-1337"/>
              <a:ext cx="160" cy="118"/>
            </a:xfrm>
            <a:custGeom>
              <a:avLst/>
              <a:gdLst>
                <a:gd name="T0" fmla="*/ 0 w 66"/>
                <a:gd name="T1" fmla="*/ 1 h 49"/>
                <a:gd name="T2" fmla="*/ 7 w 66"/>
                <a:gd name="T3" fmla="*/ 1 h 49"/>
                <a:gd name="T4" fmla="*/ 8 w 66"/>
                <a:gd name="T5" fmla="*/ 5 h 49"/>
                <a:gd name="T6" fmla="*/ 22 w 66"/>
                <a:gd name="T7" fmla="*/ 0 h 49"/>
                <a:gd name="T8" fmla="*/ 35 w 66"/>
                <a:gd name="T9" fmla="*/ 6 h 49"/>
                <a:gd name="T10" fmla="*/ 51 w 66"/>
                <a:gd name="T11" fmla="*/ 0 h 49"/>
                <a:gd name="T12" fmla="*/ 66 w 66"/>
                <a:gd name="T13" fmla="*/ 16 h 49"/>
                <a:gd name="T14" fmla="*/ 66 w 66"/>
                <a:gd name="T15" fmla="*/ 49 h 49"/>
                <a:gd name="T16" fmla="*/ 57 w 66"/>
                <a:gd name="T17" fmla="*/ 49 h 49"/>
                <a:gd name="T18" fmla="*/ 57 w 66"/>
                <a:gd name="T19" fmla="*/ 17 h 49"/>
                <a:gd name="T20" fmla="*/ 49 w 66"/>
                <a:gd name="T21" fmla="*/ 8 h 49"/>
                <a:gd name="T22" fmla="*/ 38 w 66"/>
                <a:gd name="T23" fmla="*/ 11 h 49"/>
                <a:gd name="T24" fmla="*/ 38 w 66"/>
                <a:gd name="T25" fmla="*/ 16 h 49"/>
                <a:gd name="T26" fmla="*/ 38 w 66"/>
                <a:gd name="T27" fmla="*/ 49 h 49"/>
                <a:gd name="T28" fmla="*/ 28 w 66"/>
                <a:gd name="T29" fmla="*/ 49 h 49"/>
                <a:gd name="T30" fmla="*/ 28 w 66"/>
                <a:gd name="T31" fmla="*/ 17 h 49"/>
                <a:gd name="T32" fmla="*/ 20 w 66"/>
                <a:gd name="T33" fmla="*/ 8 h 49"/>
                <a:gd name="T34" fmla="*/ 10 w 66"/>
                <a:gd name="T35" fmla="*/ 11 h 49"/>
                <a:gd name="T36" fmla="*/ 10 w 66"/>
                <a:gd name="T37" fmla="*/ 49 h 49"/>
                <a:gd name="T38" fmla="*/ 0 w 66"/>
                <a:gd name="T39" fmla="*/ 49 h 49"/>
                <a:gd name="T40" fmla="*/ 0 w 66"/>
                <a:gd name="T4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49">
                  <a:moveTo>
                    <a:pt x="0" y="1"/>
                  </a:moveTo>
                  <a:cubicBezTo>
                    <a:pt x="7" y="1"/>
                    <a:pt x="7" y="1"/>
                    <a:pt x="7" y="1"/>
                  </a:cubicBezTo>
                  <a:cubicBezTo>
                    <a:pt x="8" y="5"/>
                    <a:pt x="8" y="5"/>
                    <a:pt x="8" y="5"/>
                  </a:cubicBezTo>
                  <a:cubicBezTo>
                    <a:pt x="11" y="2"/>
                    <a:pt x="16" y="0"/>
                    <a:pt x="22" y="0"/>
                  </a:cubicBezTo>
                  <a:cubicBezTo>
                    <a:pt x="28" y="0"/>
                    <a:pt x="33" y="2"/>
                    <a:pt x="35" y="6"/>
                  </a:cubicBezTo>
                  <a:cubicBezTo>
                    <a:pt x="40" y="2"/>
                    <a:pt x="45" y="0"/>
                    <a:pt x="51" y="0"/>
                  </a:cubicBezTo>
                  <a:cubicBezTo>
                    <a:pt x="60" y="0"/>
                    <a:pt x="66" y="5"/>
                    <a:pt x="66" y="16"/>
                  </a:cubicBezTo>
                  <a:cubicBezTo>
                    <a:pt x="66" y="49"/>
                    <a:pt x="66" y="49"/>
                    <a:pt x="66" y="49"/>
                  </a:cubicBezTo>
                  <a:cubicBezTo>
                    <a:pt x="57" y="49"/>
                    <a:pt x="57" y="49"/>
                    <a:pt x="57" y="49"/>
                  </a:cubicBezTo>
                  <a:cubicBezTo>
                    <a:pt x="57" y="17"/>
                    <a:pt x="57" y="17"/>
                    <a:pt x="57" y="17"/>
                  </a:cubicBezTo>
                  <a:cubicBezTo>
                    <a:pt x="57" y="11"/>
                    <a:pt x="54" y="8"/>
                    <a:pt x="49" y="8"/>
                  </a:cubicBezTo>
                  <a:cubicBezTo>
                    <a:pt x="45" y="8"/>
                    <a:pt x="41" y="9"/>
                    <a:pt x="38" y="11"/>
                  </a:cubicBezTo>
                  <a:cubicBezTo>
                    <a:pt x="38" y="13"/>
                    <a:pt x="38" y="15"/>
                    <a:pt x="38" y="16"/>
                  </a:cubicBezTo>
                  <a:cubicBezTo>
                    <a:pt x="38" y="49"/>
                    <a:pt x="38" y="49"/>
                    <a:pt x="38" y="49"/>
                  </a:cubicBezTo>
                  <a:cubicBezTo>
                    <a:pt x="28" y="49"/>
                    <a:pt x="28" y="49"/>
                    <a:pt x="28" y="49"/>
                  </a:cubicBezTo>
                  <a:cubicBezTo>
                    <a:pt x="28" y="17"/>
                    <a:pt x="28" y="17"/>
                    <a:pt x="28" y="17"/>
                  </a:cubicBezTo>
                  <a:cubicBezTo>
                    <a:pt x="28" y="11"/>
                    <a:pt x="26" y="8"/>
                    <a:pt x="20" y="8"/>
                  </a:cubicBezTo>
                  <a:cubicBezTo>
                    <a:pt x="17" y="8"/>
                    <a:pt x="13" y="9"/>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9" name="Freeform 20">
              <a:extLst>
                <a:ext uri="{FF2B5EF4-FFF2-40B4-BE49-F238E27FC236}">
                  <a16:creationId xmlns:a16="http://schemas.microsoft.com/office/drawing/2014/main" id="{82DA7624-FA80-426B-BF3F-547BD42E9F84}"/>
                </a:ext>
              </a:extLst>
            </p:cNvPr>
            <p:cNvSpPr>
              <a:spLocks noEditPoints="1"/>
            </p:cNvSpPr>
            <p:nvPr userDrawn="1"/>
          </p:nvSpPr>
          <p:spPr bwMode="auto">
            <a:xfrm>
              <a:off x="247"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21">
              <a:extLst>
                <a:ext uri="{FF2B5EF4-FFF2-40B4-BE49-F238E27FC236}">
                  <a16:creationId xmlns:a16="http://schemas.microsoft.com/office/drawing/2014/main" id="{BED504A7-3B63-4352-858D-C7C600677F9E}"/>
                </a:ext>
              </a:extLst>
            </p:cNvPr>
            <p:cNvSpPr>
              <a:spLocks/>
            </p:cNvSpPr>
            <p:nvPr userDrawn="1"/>
          </p:nvSpPr>
          <p:spPr bwMode="auto">
            <a:xfrm>
              <a:off x="361"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4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4" y="31"/>
                    <a:pt x="16" y="28"/>
                  </a:cubicBezTo>
                  <a:cubicBezTo>
                    <a:pt x="8" y="26"/>
                    <a:pt x="1" y="23"/>
                    <a:pt x="1" y="14"/>
                  </a:cubicBezTo>
                  <a:cubicBezTo>
                    <a:pt x="1" y="5"/>
                    <a:pt x="9" y="0"/>
                    <a:pt x="20" y="0"/>
                  </a:cubicBezTo>
                  <a:cubicBezTo>
                    <a:pt x="24" y="0"/>
                    <a:pt x="30" y="0"/>
                    <a:pt x="34"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1" name="Freeform 22">
              <a:extLst>
                <a:ext uri="{FF2B5EF4-FFF2-40B4-BE49-F238E27FC236}">
                  <a16:creationId xmlns:a16="http://schemas.microsoft.com/office/drawing/2014/main" id="{854B30AB-8873-4C24-A589-FF973BA9DECC}"/>
                </a:ext>
              </a:extLst>
            </p:cNvPr>
            <p:cNvSpPr>
              <a:spLocks/>
            </p:cNvSpPr>
            <p:nvPr userDrawn="1"/>
          </p:nvSpPr>
          <p:spPr bwMode="auto">
            <a:xfrm>
              <a:off x="525" y="-1337"/>
              <a:ext cx="89" cy="123"/>
            </a:xfrm>
            <a:custGeom>
              <a:avLst/>
              <a:gdLst>
                <a:gd name="T0" fmla="*/ 2 w 37"/>
                <a:gd name="T1" fmla="*/ 40 h 51"/>
                <a:gd name="T2" fmla="*/ 17 w 37"/>
                <a:gd name="T3" fmla="*/ 42 h 51"/>
                <a:gd name="T4" fmla="*/ 27 w 37"/>
                <a:gd name="T5" fmla="*/ 36 h 51"/>
                <a:gd name="T6" fmla="*/ 16 w 37"/>
                <a:gd name="T7" fmla="*/ 28 h 51"/>
                <a:gd name="T8" fmla="*/ 1 w 37"/>
                <a:gd name="T9" fmla="*/ 14 h 51"/>
                <a:gd name="T10" fmla="*/ 20 w 37"/>
                <a:gd name="T11" fmla="*/ 0 h 51"/>
                <a:gd name="T12" fmla="*/ 35 w 37"/>
                <a:gd name="T13" fmla="*/ 1 h 51"/>
                <a:gd name="T14" fmla="*/ 33 w 37"/>
                <a:gd name="T15" fmla="*/ 9 h 51"/>
                <a:gd name="T16" fmla="*/ 21 w 37"/>
                <a:gd name="T17" fmla="*/ 8 h 51"/>
                <a:gd name="T18" fmla="*/ 11 w 37"/>
                <a:gd name="T19" fmla="*/ 13 h 51"/>
                <a:gd name="T20" fmla="*/ 24 w 37"/>
                <a:gd name="T21" fmla="*/ 21 h 51"/>
                <a:gd name="T22" fmla="*/ 37 w 37"/>
                <a:gd name="T23" fmla="*/ 35 h 51"/>
                <a:gd name="T24" fmla="*/ 16 w 37"/>
                <a:gd name="T25" fmla="*/ 51 h 51"/>
                <a:gd name="T26" fmla="*/ 0 w 37"/>
                <a:gd name="T27" fmla="*/ 49 h 51"/>
                <a:gd name="T28" fmla="*/ 2 w 37"/>
                <a:gd name="T29" fmla="*/ 4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51">
                  <a:moveTo>
                    <a:pt x="2" y="40"/>
                  </a:moveTo>
                  <a:cubicBezTo>
                    <a:pt x="6" y="41"/>
                    <a:pt x="12" y="42"/>
                    <a:pt x="17" y="42"/>
                  </a:cubicBezTo>
                  <a:cubicBezTo>
                    <a:pt x="23" y="42"/>
                    <a:pt x="27" y="41"/>
                    <a:pt x="27" y="36"/>
                  </a:cubicBezTo>
                  <a:cubicBezTo>
                    <a:pt x="27" y="32"/>
                    <a:pt x="25" y="31"/>
                    <a:pt x="16" y="28"/>
                  </a:cubicBezTo>
                  <a:cubicBezTo>
                    <a:pt x="9" y="26"/>
                    <a:pt x="1" y="23"/>
                    <a:pt x="1" y="14"/>
                  </a:cubicBezTo>
                  <a:cubicBezTo>
                    <a:pt x="1" y="5"/>
                    <a:pt x="9" y="0"/>
                    <a:pt x="20" y="0"/>
                  </a:cubicBezTo>
                  <a:cubicBezTo>
                    <a:pt x="25" y="0"/>
                    <a:pt x="31" y="0"/>
                    <a:pt x="35" y="1"/>
                  </a:cubicBezTo>
                  <a:cubicBezTo>
                    <a:pt x="33" y="9"/>
                    <a:pt x="33" y="9"/>
                    <a:pt x="33" y="9"/>
                  </a:cubicBezTo>
                  <a:cubicBezTo>
                    <a:pt x="30" y="9"/>
                    <a:pt x="24" y="8"/>
                    <a:pt x="21" y="8"/>
                  </a:cubicBezTo>
                  <a:cubicBezTo>
                    <a:pt x="14" y="8"/>
                    <a:pt x="11" y="10"/>
                    <a:pt x="11" y="13"/>
                  </a:cubicBezTo>
                  <a:cubicBezTo>
                    <a:pt x="11" y="18"/>
                    <a:pt x="17" y="19"/>
                    <a:pt x="24" y="21"/>
                  </a:cubicBezTo>
                  <a:cubicBezTo>
                    <a:pt x="31" y="23"/>
                    <a:pt x="37" y="26"/>
                    <a:pt x="37" y="35"/>
                  </a:cubicBezTo>
                  <a:cubicBezTo>
                    <a:pt x="37" y="46"/>
                    <a:pt x="28" y="51"/>
                    <a:pt x="16" y="51"/>
                  </a:cubicBezTo>
                  <a:cubicBezTo>
                    <a:pt x="11" y="51"/>
                    <a:pt x="5" y="50"/>
                    <a:pt x="0" y="49"/>
                  </a:cubicBezTo>
                  <a:lnTo>
                    <a:pt x="2" y="40"/>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2" name="Freeform 23">
              <a:extLst>
                <a:ext uri="{FF2B5EF4-FFF2-40B4-BE49-F238E27FC236}">
                  <a16:creationId xmlns:a16="http://schemas.microsoft.com/office/drawing/2014/main" id="{F7B94546-6EDE-4DA0-A1D9-BFE60BDDB619}"/>
                </a:ext>
              </a:extLst>
            </p:cNvPr>
            <p:cNvSpPr>
              <a:spLocks noEditPoints="1"/>
            </p:cNvSpPr>
            <p:nvPr userDrawn="1"/>
          </p:nvSpPr>
          <p:spPr bwMode="auto">
            <a:xfrm>
              <a:off x="641" y="-1383"/>
              <a:ext cx="21" cy="164"/>
            </a:xfrm>
            <a:custGeom>
              <a:avLst/>
              <a:gdLst>
                <a:gd name="T0" fmla="*/ 0 w 21"/>
                <a:gd name="T1" fmla="*/ 0 h 164"/>
                <a:gd name="T2" fmla="*/ 21 w 21"/>
                <a:gd name="T3" fmla="*/ 0 h 164"/>
                <a:gd name="T4" fmla="*/ 21 w 21"/>
                <a:gd name="T5" fmla="*/ 27 h 164"/>
                <a:gd name="T6" fmla="*/ 0 w 21"/>
                <a:gd name="T7" fmla="*/ 27 h 164"/>
                <a:gd name="T8" fmla="*/ 0 w 21"/>
                <a:gd name="T9" fmla="*/ 0 h 164"/>
                <a:gd name="T10" fmla="*/ 0 w 21"/>
                <a:gd name="T11" fmla="*/ 48 h 164"/>
                <a:gd name="T12" fmla="*/ 21 w 21"/>
                <a:gd name="T13" fmla="*/ 48 h 164"/>
                <a:gd name="T14" fmla="*/ 21 w 21"/>
                <a:gd name="T15" fmla="*/ 164 h 164"/>
                <a:gd name="T16" fmla="*/ 0 w 21"/>
                <a:gd name="T17" fmla="*/ 164 h 164"/>
                <a:gd name="T18" fmla="*/ 0 w 21"/>
                <a:gd name="T19" fmla="*/ 4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64">
                  <a:moveTo>
                    <a:pt x="0" y="0"/>
                  </a:moveTo>
                  <a:lnTo>
                    <a:pt x="21" y="0"/>
                  </a:lnTo>
                  <a:lnTo>
                    <a:pt x="21" y="27"/>
                  </a:lnTo>
                  <a:lnTo>
                    <a:pt x="0" y="27"/>
                  </a:lnTo>
                  <a:lnTo>
                    <a:pt x="0" y="0"/>
                  </a:lnTo>
                  <a:close/>
                  <a:moveTo>
                    <a:pt x="0" y="48"/>
                  </a:moveTo>
                  <a:lnTo>
                    <a:pt x="21" y="48"/>
                  </a:lnTo>
                  <a:lnTo>
                    <a:pt x="21" y="164"/>
                  </a:lnTo>
                  <a:lnTo>
                    <a:pt x="0" y="164"/>
                  </a:lnTo>
                  <a:lnTo>
                    <a:pt x="0" y="48"/>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3" name="Freeform 24">
              <a:extLst>
                <a:ext uri="{FF2B5EF4-FFF2-40B4-BE49-F238E27FC236}">
                  <a16:creationId xmlns:a16="http://schemas.microsoft.com/office/drawing/2014/main" id="{BBFCBF4A-AFE4-4B18-8F55-9E72367FCE58}"/>
                </a:ext>
              </a:extLst>
            </p:cNvPr>
            <p:cNvSpPr>
              <a:spLocks/>
            </p:cNvSpPr>
            <p:nvPr userDrawn="1"/>
          </p:nvSpPr>
          <p:spPr bwMode="auto">
            <a:xfrm>
              <a:off x="699" y="-1337"/>
              <a:ext cx="96" cy="118"/>
            </a:xfrm>
            <a:custGeom>
              <a:avLst/>
              <a:gdLst>
                <a:gd name="T0" fmla="*/ 0 w 40"/>
                <a:gd name="T1" fmla="*/ 1 h 49"/>
                <a:gd name="T2" fmla="*/ 7 w 40"/>
                <a:gd name="T3" fmla="*/ 1 h 49"/>
                <a:gd name="T4" fmla="*/ 8 w 40"/>
                <a:gd name="T5" fmla="*/ 5 h 49"/>
                <a:gd name="T6" fmla="*/ 24 w 40"/>
                <a:gd name="T7" fmla="*/ 0 h 49"/>
                <a:gd name="T8" fmla="*/ 40 w 40"/>
                <a:gd name="T9" fmla="*/ 16 h 49"/>
                <a:gd name="T10" fmla="*/ 40 w 40"/>
                <a:gd name="T11" fmla="*/ 49 h 49"/>
                <a:gd name="T12" fmla="*/ 30 w 40"/>
                <a:gd name="T13" fmla="*/ 49 h 49"/>
                <a:gd name="T14" fmla="*/ 30 w 40"/>
                <a:gd name="T15" fmla="*/ 17 h 49"/>
                <a:gd name="T16" fmla="*/ 22 w 40"/>
                <a:gd name="T17" fmla="*/ 8 h 49"/>
                <a:gd name="T18" fmla="*/ 10 w 40"/>
                <a:gd name="T19" fmla="*/ 11 h 49"/>
                <a:gd name="T20" fmla="*/ 10 w 40"/>
                <a:gd name="T21" fmla="*/ 49 h 49"/>
                <a:gd name="T22" fmla="*/ 0 w 40"/>
                <a:gd name="T23" fmla="*/ 49 h 49"/>
                <a:gd name="T24" fmla="*/ 0 w 40"/>
                <a:gd name="T25"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49">
                  <a:moveTo>
                    <a:pt x="0" y="1"/>
                  </a:moveTo>
                  <a:cubicBezTo>
                    <a:pt x="7" y="1"/>
                    <a:pt x="7" y="1"/>
                    <a:pt x="7" y="1"/>
                  </a:cubicBezTo>
                  <a:cubicBezTo>
                    <a:pt x="8" y="5"/>
                    <a:pt x="8" y="5"/>
                    <a:pt x="8" y="5"/>
                  </a:cubicBezTo>
                  <a:cubicBezTo>
                    <a:pt x="12" y="2"/>
                    <a:pt x="18" y="0"/>
                    <a:pt x="24" y="0"/>
                  </a:cubicBezTo>
                  <a:cubicBezTo>
                    <a:pt x="34" y="0"/>
                    <a:pt x="40" y="5"/>
                    <a:pt x="40" y="16"/>
                  </a:cubicBezTo>
                  <a:cubicBezTo>
                    <a:pt x="40" y="49"/>
                    <a:pt x="40" y="49"/>
                    <a:pt x="40" y="49"/>
                  </a:cubicBezTo>
                  <a:cubicBezTo>
                    <a:pt x="30" y="49"/>
                    <a:pt x="30" y="49"/>
                    <a:pt x="30" y="49"/>
                  </a:cubicBezTo>
                  <a:cubicBezTo>
                    <a:pt x="30" y="17"/>
                    <a:pt x="30" y="17"/>
                    <a:pt x="30" y="17"/>
                  </a:cubicBezTo>
                  <a:cubicBezTo>
                    <a:pt x="30" y="11"/>
                    <a:pt x="27" y="8"/>
                    <a:pt x="22" y="8"/>
                  </a:cubicBezTo>
                  <a:cubicBezTo>
                    <a:pt x="17" y="8"/>
                    <a:pt x="13" y="10"/>
                    <a:pt x="10" y="11"/>
                  </a:cubicBezTo>
                  <a:cubicBezTo>
                    <a:pt x="10" y="49"/>
                    <a:pt x="10" y="49"/>
                    <a:pt x="10" y="49"/>
                  </a:cubicBezTo>
                  <a:cubicBezTo>
                    <a:pt x="0" y="49"/>
                    <a:pt x="0" y="49"/>
                    <a:pt x="0" y="49"/>
                  </a:cubicBezTo>
                  <a:lnTo>
                    <a:pt x="0" y="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4" name="Freeform 25">
              <a:extLst>
                <a:ext uri="{FF2B5EF4-FFF2-40B4-BE49-F238E27FC236}">
                  <a16:creationId xmlns:a16="http://schemas.microsoft.com/office/drawing/2014/main" id="{EA280B51-9333-48C9-93EE-E33B9B56B256}"/>
                </a:ext>
              </a:extLst>
            </p:cNvPr>
            <p:cNvSpPr>
              <a:spLocks/>
            </p:cNvSpPr>
            <p:nvPr userDrawn="1"/>
          </p:nvSpPr>
          <p:spPr bwMode="auto">
            <a:xfrm>
              <a:off x="822" y="-1337"/>
              <a:ext cx="92" cy="123"/>
            </a:xfrm>
            <a:custGeom>
              <a:avLst/>
              <a:gdLst>
                <a:gd name="T0" fmla="*/ 23 w 38"/>
                <a:gd name="T1" fmla="*/ 0 h 51"/>
                <a:gd name="T2" fmla="*/ 36 w 38"/>
                <a:gd name="T3" fmla="*/ 1 h 51"/>
                <a:gd name="T4" fmla="*/ 35 w 38"/>
                <a:gd name="T5" fmla="*/ 9 h 51"/>
                <a:gd name="T6" fmla="*/ 24 w 38"/>
                <a:gd name="T7" fmla="*/ 8 h 51"/>
                <a:gd name="T8" fmla="*/ 10 w 38"/>
                <a:gd name="T9" fmla="*/ 25 h 51"/>
                <a:gd name="T10" fmla="*/ 22 w 38"/>
                <a:gd name="T11" fmla="*/ 42 h 51"/>
                <a:gd name="T12" fmla="*/ 36 w 38"/>
                <a:gd name="T13" fmla="*/ 39 h 51"/>
                <a:gd name="T14" fmla="*/ 38 w 38"/>
                <a:gd name="T15" fmla="*/ 47 h 51"/>
                <a:gd name="T16" fmla="*/ 21 w 38"/>
                <a:gd name="T17" fmla="*/ 51 h 51"/>
                <a:gd name="T18" fmla="*/ 0 w 38"/>
                <a:gd name="T19" fmla="*/ 25 h 51"/>
                <a:gd name="T20" fmla="*/ 23 w 38"/>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1">
                  <a:moveTo>
                    <a:pt x="23" y="0"/>
                  </a:moveTo>
                  <a:cubicBezTo>
                    <a:pt x="27" y="0"/>
                    <a:pt x="32" y="0"/>
                    <a:pt x="36" y="1"/>
                  </a:cubicBezTo>
                  <a:cubicBezTo>
                    <a:pt x="35" y="9"/>
                    <a:pt x="35" y="9"/>
                    <a:pt x="35" y="9"/>
                  </a:cubicBezTo>
                  <a:cubicBezTo>
                    <a:pt x="32" y="8"/>
                    <a:pt x="27" y="8"/>
                    <a:pt x="24" y="8"/>
                  </a:cubicBezTo>
                  <a:cubicBezTo>
                    <a:pt x="13" y="8"/>
                    <a:pt x="10" y="13"/>
                    <a:pt x="10" y="25"/>
                  </a:cubicBezTo>
                  <a:cubicBezTo>
                    <a:pt x="10" y="34"/>
                    <a:pt x="12" y="42"/>
                    <a:pt x="22" y="42"/>
                  </a:cubicBezTo>
                  <a:cubicBezTo>
                    <a:pt x="27" y="42"/>
                    <a:pt x="32" y="41"/>
                    <a:pt x="36" y="39"/>
                  </a:cubicBezTo>
                  <a:cubicBezTo>
                    <a:pt x="38" y="47"/>
                    <a:pt x="38" y="47"/>
                    <a:pt x="38" y="47"/>
                  </a:cubicBezTo>
                  <a:cubicBezTo>
                    <a:pt x="34" y="49"/>
                    <a:pt x="27" y="51"/>
                    <a:pt x="21" y="51"/>
                  </a:cubicBezTo>
                  <a:cubicBezTo>
                    <a:pt x="7" y="51"/>
                    <a:pt x="0" y="41"/>
                    <a:pt x="0" y="25"/>
                  </a:cubicBezTo>
                  <a:cubicBezTo>
                    <a:pt x="0" y="9"/>
                    <a:pt x="6" y="0"/>
                    <a:pt x="23" y="0"/>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5" name="Freeform 26">
              <a:extLst>
                <a:ext uri="{FF2B5EF4-FFF2-40B4-BE49-F238E27FC236}">
                  <a16:creationId xmlns:a16="http://schemas.microsoft.com/office/drawing/2014/main" id="{A50CD374-4F8E-439D-9C36-7AE4A3E147C8}"/>
                </a:ext>
              </a:extLst>
            </p:cNvPr>
            <p:cNvSpPr>
              <a:spLocks noEditPoints="1"/>
            </p:cNvSpPr>
            <p:nvPr userDrawn="1"/>
          </p:nvSpPr>
          <p:spPr bwMode="auto">
            <a:xfrm>
              <a:off x="928" y="-1337"/>
              <a:ext cx="97" cy="123"/>
            </a:xfrm>
            <a:custGeom>
              <a:avLst/>
              <a:gdLst>
                <a:gd name="T0" fmla="*/ 21 w 40"/>
                <a:gd name="T1" fmla="*/ 0 h 51"/>
                <a:gd name="T2" fmla="*/ 40 w 40"/>
                <a:gd name="T3" fmla="*/ 22 h 51"/>
                <a:gd name="T4" fmla="*/ 39 w 40"/>
                <a:gd name="T5" fmla="*/ 28 h 51"/>
                <a:gd name="T6" fmla="*/ 10 w 40"/>
                <a:gd name="T7" fmla="*/ 28 h 51"/>
                <a:gd name="T8" fmla="*/ 23 w 40"/>
                <a:gd name="T9" fmla="*/ 42 h 51"/>
                <a:gd name="T10" fmla="*/ 37 w 40"/>
                <a:gd name="T11" fmla="*/ 39 h 51"/>
                <a:gd name="T12" fmla="*/ 40 w 40"/>
                <a:gd name="T13" fmla="*/ 46 h 51"/>
                <a:gd name="T14" fmla="*/ 22 w 40"/>
                <a:gd name="T15" fmla="*/ 51 h 51"/>
                <a:gd name="T16" fmla="*/ 0 w 40"/>
                <a:gd name="T17" fmla="*/ 25 h 51"/>
                <a:gd name="T18" fmla="*/ 21 w 40"/>
                <a:gd name="T19" fmla="*/ 0 h 51"/>
                <a:gd name="T20" fmla="*/ 31 w 40"/>
                <a:gd name="T21" fmla="*/ 21 h 51"/>
                <a:gd name="T22" fmla="*/ 21 w 40"/>
                <a:gd name="T23" fmla="*/ 8 h 51"/>
                <a:gd name="T24" fmla="*/ 10 w 40"/>
                <a:gd name="T25" fmla="*/ 21 h 51"/>
                <a:gd name="T26" fmla="*/ 31 w 40"/>
                <a:gd name="T27" fmla="*/ 2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51">
                  <a:moveTo>
                    <a:pt x="21" y="0"/>
                  </a:moveTo>
                  <a:cubicBezTo>
                    <a:pt x="34" y="0"/>
                    <a:pt x="40" y="8"/>
                    <a:pt x="40" y="22"/>
                  </a:cubicBezTo>
                  <a:cubicBezTo>
                    <a:pt x="40" y="24"/>
                    <a:pt x="40" y="26"/>
                    <a:pt x="39" y="28"/>
                  </a:cubicBezTo>
                  <a:cubicBezTo>
                    <a:pt x="10" y="28"/>
                    <a:pt x="10" y="28"/>
                    <a:pt x="10" y="28"/>
                  </a:cubicBezTo>
                  <a:cubicBezTo>
                    <a:pt x="11" y="37"/>
                    <a:pt x="15" y="42"/>
                    <a:pt x="23" y="42"/>
                  </a:cubicBezTo>
                  <a:cubicBezTo>
                    <a:pt x="29" y="42"/>
                    <a:pt x="33" y="40"/>
                    <a:pt x="37" y="39"/>
                  </a:cubicBezTo>
                  <a:cubicBezTo>
                    <a:pt x="40" y="46"/>
                    <a:pt x="40" y="46"/>
                    <a:pt x="40" y="46"/>
                  </a:cubicBezTo>
                  <a:cubicBezTo>
                    <a:pt x="36" y="48"/>
                    <a:pt x="29" y="51"/>
                    <a:pt x="22" y="51"/>
                  </a:cubicBezTo>
                  <a:cubicBezTo>
                    <a:pt x="9" y="51"/>
                    <a:pt x="0" y="42"/>
                    <a:pt x="0" y="25"/>
                  </a:cubicBezTo>
                  <a:cubicBezTo>
                    <a:pt x="0" y="10"/>
                    <a:pt x="7" y="0"/>
                    <a:pt x="21" y="0"/>
                  </a:cubicBezTo>
                  <a:moveTo>
                    <a:pt x="31" y="21"/>
                  </a:moveTo>
                  <a:cubicBezTo>
                    <a:pt x="30" y="14"/>
                    <a:pt x="28" y="8"/>
                    <a:pt x="21" y="8"/>
                  </a:cubicBezTo>
                  <a:cubicBezTo>
                    <a:pt x="14" y="8"/>
                    <a:pt x="11" y="13"/>
                    <a:pt x="10" y="21"/>
                  </a:cubicBezTo>
                  <a:lnTo>
                    <a:pt x="31" y="21"/>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6" name="Freeform 27">
              <a:extLst>
                <a:ext uri="{FF2B5EF4-FFF2-40B4-BE49-F238E27FC236}">
                  <a16:creationId xmlns:a16="http://schemas.microsoft.com/office/drawing/2014/main" id="{EB306D3C-A3DA-49E9-BE07-E2EABA13ED17}"/>
                </a:ext>
              </a:extLst>
            </p:cNvPr>
            <p:cNvSpPr>
              <a:spLocks/>
            </p:cNvSpPr>
            <p:nvPr userDrawn="1"/>
          </p:nvSpPr>
          <p:spPr bwMode="auto">
            <a:xfrm>
              <a:off x="1099" y="-1383"/>
              <a:ext cx="68" cy="164"/>
            </a:xfrm>
            <a:custGeom>
              <a:avLst/>
              <a:gdLst>
                <a:gd name="T0" fmla="*/ 44 w 68"/>
                <a:gd name="T1" fmla="*/ 27 h 164"/>
                <a:gd name="T2" fmla="*/ 8 w 68"/>
                <a:gd name="T3" fmla="*/ 39 h 164"/>
                <a:gd name="T4" fmla="*/ 0 w 68"/>
                <a:gd name="T5" fmla="*/ 22 h 164"/>
                <a:gd name="T6" fmla="*/ 44 w 68"/>
                <a:gd name="T7" fmla="*/ 0 h 164"/>
                <a:gd name="T8" fmla="*/ 68 w 68"/>
                <a:gd name="T9" fmla="*/ 0 h 164"/>
                <a:gd name="T10" fmla="*/ 68 w 68"/>
                <a:gd name="T11" fmla="*/ 164 h 164"/>
                <a:gd name="T12" fmla="*/ 44 w 68"/>
                <a:gd name="T13" fmla="*/ 164 h 164"/>
                <a:gd name="T14" fmla="*/ 44 w 68"/>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64">
                  <a:moveTo>
                    <a:pt x="44" y="27"/>
                  </a:moveTo>
                  <a:lnTo>
                    <a:pt x="8" y="39"/>
                  </a:lnTo>
                  <a:lnTo>
                    <a:pt x="0" y="22"/>
                  </a:lnTo>
                  <a:lnTo>
                    <a:pt x="44" y="0"/>
                  </a:lnTo>
                  <a:lnTo>
                    <a:pt x="68" y="0"/>
                  </a:lnTo>
                  <a:lnTo>
                    <a:pt x="68" y="164"/>
                  </a:lnTo>
                  <a:lnTo>
                    <a:pt x="44" y="164"/>
                  </a:lnTo>
                  <a:lnTo>
                    <a:pt x="44"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7" name="Freeform 28">
              <a:extLst>
                <a:ext uri="{FF2B5EF4-FFF2-40B4-BE49-F238E27FC236}">
                  <a16:creationId xmlns:a16="http://schemas.microsoft.com/office/drawing/2014/main" id="{D96D031D-2D03-4DE6-BB4A-30AE16B16817}"/>
                </a:ext>
              </a:extLst>
            </p:cNvPr>
            <p:cNvSpPr>
              <a:spLocks noEditPoints="1"/>
            </p:cNvSpPr>
            <p:nvPr userDrawn="1"/>
          </p:nvSpPr>
          <p:spPr bwMode="auto">
            <a:xfrm>
              <a:off x="1203" y="-1385"/>
              <a:ext cx="116" cy="171"/>
            </a:xfrm>
            <a:custGeom>
              <a:avLst/>
              <a:gdLst>
                <a:gd name="T0" fmla="*/ 6 w 48"/>
                <a:gd name="T1" fmla="*/ 60 h 71"/>
                <a:gd name="T2" fmla="*/ 20 w 48"/>
                <a:gd name="T3" fmla="*/ 62 h 71"/>
                <a:gd name="T4" fmla="*/ 37 w 48"/>
                <a:gd name="T5" fmla="*/ 40 h 71"/>
                <a:gd name="T6" fmla="*/ 21 w 48"/>
                <a:gd name="T7" fmla="*/ 43 h 71"/>
                <a:gd name="T8" fmla="*/ 0 w 48"/>
                <a:gd name="T9" fmla="*/ 23 h 71"/>
                <a:gd name="T10" fmla="*/ 24 w 48"/>
                <a:gd name="T11" fmla="*/ 0 h 71"/>
                <a:gd name="T12" fmla="*/ 48 w 48"/>
                <a:gd name="T13" fmla="*/ 34 h 71"/>
                <a:gd name="T14" fmla="*/ 21 w 48"/>
                <a:gd name="T15" fmla="*/ 71 h 71"/>
                <a:gd name="T16" fmla="*/ 5 w 48"/>
                <a:gd name="T17" fmla="*/ 68 h 71"/>
                <a:gd name="T18" fmla="*/ 6 w 48"/>
                <a:gd name="T19" fmla="*/ 60 h 71"/>
                <a:gd name="T20" fmla="*/ 37 w 48"/>
                <a:gd name="T21" fmla="*/ 32 h 71"/>
                <a:gd name="T22" fmla="*/ 23 w 48"/>
                <a:gd name="T23" fmla="*/ 9 h 71"/>
                <a:gd name="T24" fmla="*/ 11 w 48"/>
                <a:gd name="T25" fmla="*/ 22 h 71"/>
                <a:gd name="T26" fmla="*/ 24 w 48"/>
                <a:gd name="T27" fmla="*/ 35 h 71"/>
                <a:gd name="T28" fmla="*/ 37 w 48"/>
                <a:gd name="T29"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71">
                  <a:moveTo>
                    <a:pt x="6" y="60"/>
                  </a:moveTo>
                  <a:cubicBezTo>
                    <a:pt x="10" y="61"/>
                    <a:pt x="15" y="62"/>
                    <a:pt x="20" y="62"/>
                  </a:cubicBezTo>
                  <a:cubicBezTo>
                    <a:pt x="33" y="62"/>
                    <a:pt x="37" y="54"/>
                    <a:pt x="37" y="40"/>
                  </a:cubicBezTo>
                  <a:cubicBezTo>
                    <a:pt x="32" y="42"/>
                    <a:pt x="26" y="43"/>
                    <a:pt x="21" y="43"/>
                  </a:cubicBezTo>
                  <a:cubicBezTo>
                    <a:pt x="8" y="43"/>
                    <a:pt x="0" y="36"/>
                    <a:pt x="0" y="23"/>
                  </a:cubicBezTo>
                  <a:cubicBezTo>
                    <a:pt x="0" y="9"/>
                    <a:pt x="8" y="0"/>
                    <a:pt x="24" y="0"/>
                  </a:cubicBezTo>
                  <a:cubicBezTo>
                    <a:pt x="42" y="0"/>
                    <a:pt x="48" y="12"/>
                    <a:pt x="48" y="34"/>
                  </a:cubicBezTo>
                  <a:cubicBezTo>
                    <a:pt x="48" y="55"/>
                    <a:pt x="43" y="71"/>
                    <a:pt x="21" y="71"/>
                  </a:cubicBezTo>
                  <a:cubicBezTo>
                    <a:pt x="16" y="71"/>
                    <a:pt x="9" y="70"/>
                    <a:pt x="5" y="68"/>
                  </a:cubicBezTo>
                  <a:lnTo>
                    <a:pt x="6" y="60"/>
                  </a:lnTo>
                  <a:close/>
                  <a:moveTo>
                    <a:pt x="37" y="32"/>
                  </a:moveTo>
                  <a:cubicBezTo>
                    <a:pt x="37" y="18"/>
                    <a:pt x="34" y="9"/>
                    <a:pt x="23" y="9"/>
                  </a:cubicBezTo>
                  <a:cubicBezTo>
                    <a:pt x="15" y="9"/>
                    <a:pt x="11" y="14"/>
                    <a:pt x="11" y="22"/>
                  </a:cubicBezTo>
                  <a:cubicBezTo>
                    <a:pt x="11" y="30"/>
                    <a:pt x="14" y="35"/>
                    <a:pt x="24" y="35"/>
                  </a:cubicBezTo>
                  <a:cubicBezTo>
                    <a:pt x="28" y="35"/>
                    <a:pt x="32" y="34"/>
                    <a:pt x="37" y="32"/>
                  </a:cubicBezTo>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8" name="Freeform 29">
              <a:extLst>
                <a:ext uri="{FF2B5EF4-FFF2-40B4-BE49-F238E27FC236}">
                  <a16:creationId xmlns:a16="http://schemas.microsoft.com/office/drawing/2014/main" id="{022A2613-8D8F-469D-8F99-3051580758B3}"/>
                </a:ext>
              </a:extLst>
            </p:cNvPr>
            <p:cNvSpPr>
              <a:spLocks/>
            </p:cNvSpPr>
            <p:nvPr userDrawn="1"/>
          </p:nvSpPr>
          <p:spPr bwMode="auto">
            <a:xfrm>
              <a:off x="1338" y="-1383"/>
              <a:ext cx="66" cy="164"/>
            </a:xfrm>
            <a:custGeom>
              <a:avLst/>
              <a:gdLst>
                <a:gd name="T0" fmla="*/ 41 w 66"/>
                <a:gd name="T1" fmla="*/ 27 h 164"/>
                <a:gd name="T2" fmla="*/ 8 w 66"/>
                <a:gd name="T3" fmla="*/ 39 h 164"/>
                <a:gd name="T4" fmla="*/ 0 w 66"/>
                <a:gd name="T5" fmla="*/ 22 h 164"/>
                <a:gd name="T6" fmla="*/ 44 w 66"/>
                <a:gd name="T7" fmla="*/ 0 h 164"/>
                <a:gd name="T8" fmla="*/ 66 w 66"/>
                <a:gd name="T9" fmla="*/ 0 h 164"/>
                <a:gd name="T10" fmla="*/ 66 w 66"/>
                <a:gd name="T11" fmla="*/ 164 h 164"/>
                <a:gd name="T12" fmla="*/ 41 w 66"/>
                <a:gd name="T13" fmla="*/ 164 h 164"/>
                <a:gd name="T14" fmla="*/ 41 w 66"/>
                <a:gd name="T15" fmla="*/ 27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64">
                  <a:moveTo>
                    <a:pt x="41" y="27"/>
                  </a:moveTo>
                  <a:lnTo>
                    <a:pt x="8" y="39"/>
                  </a:lnTo>
                  <a:lnTo>
                    <a:pt x="0" y="22"/>
                  </a:lnTo>
                  <a:lnTo>
                    <a:pt x="44" y="0"/>
                  </a:lnTo>
                  <a:lnTo>
                    <a:pt x="66" y="0"/>
                  </a:lnTo>
                  <a:lnTo>
                    <a:pt x="66" y="164"/>
                  </a:lnTo>
                  <a:lnTo>
                    <a:pt x="41" y="164"/>
                  </a:lnTo>
                  <a:lnTo>
                    <a:pt x="41" y="27"/>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9" name="Freeform 30">
              <a:extLst>
                <a:ext uri="{FF2B5EF4-FFF2-40B4-BE49-F238E27FC236}">
                  <a16:creationId xmlns:a16="http://schemas.microsoft.com/office/drawing/2014/main" id="{032907D0-1C18-4C55-8D1A-5BCBB5567FA9}"/>
                </a:ext>
              </a:extLst>
            </p:cNvPr>
            <p:cNvSpPr>
              <a:spLocks/>
            </p:cNvSpPr>
            <p:nvPr userDrawn="1"/>
          </p:nvSpPr>
          <p:spPr bwMode="auto">
            <a:xfrm>
              <a:off x="1442" y="-1385"/>
              <a:ext cx="106" cy="166"/>
            </a:xfrm>
            <a:custGeom>
              <a:avLst/>
              <a:gdLst>
                <a:gd name="T0" fmla="*/ 1 w 44"/>
                <a:gd name="T1" fmla="*/ 62 h 69"/>
                <a:gd name="T2" fmla="*/ 33 w 44"/>
                <a:gd name="T3" fmla="*/ 21 h 69"/>
                <a:gd name="T4" fmla="*/ 20 w 44"/>
                <a:gd name="T5" fmla="*/ 9 h 69"/>
                <a:gd name="T6" fmla="*/ 3 w 44"/>
                <a:gd name="T7" fmla="*/ 13 h 69"/>
                <a:gd name="T8" fmla="*/ 0 w 44"/>
                <a:gd name="T9" fmla="*/ 5 h 69"/>
                <a:gd name="T10" fmla="*/ 20 w 44"/>
                <a:gd name="T11" fmla="*/ 0 h 69"/>
                <a:gd name="T12" fmla="*/ 43 w 44"/>
                <a:gd name="T13" fmla="*/ 20 h 69"/>
                <a:gd name="T14" fmla="*/ 14 w 44"/>
                <a:gd name="T15" fmla="*/ 60 h 69"/>
                <a:gd name="T16" fmla="*/ 44 w 44"/>
                <a:gd name="T17" fmla="*/ 60 h 69"/>
                <a:gd name="T18" fmla="*/ 44 w 44"/>
                <a:gd name="T19" fmla="*/ 69 h 69"/>
                <a:gd name="T20" fmla="*/ 1 w 44"/>
                <a:gd name="T21" fmla="*/ 69 h 69"/>
                <a:gd name="T22" fmla="*/ 1 w 44"/>
                <a:gd name="T23"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69">
                  <a:moveTo>
                    <a:pt x="1" y="62"/>
                  </a:moveTo>
                  <a:cubicBezTo>
                    <a:pt x="20" y="45"/>
                    <a:pt x="33" y="32"/>
                    <a:pt x="33" y="21"/>
                  </a:cubicBezTo>
                  <a:cubicBezTo>
                    <a:pt x="33" y="13"/>
                    <a:pt x="28" y="9"/>
                    <a:pt x="20" y="9"/>
                  </a:cubicBezTo>
                  <a:cubicBezTo>
                    <a:pt x="14" y="9"/>
                    <a:pt x="7" y="11"/>
                    <a:pt x="3" y="13"/>
                  </a:cubicBezTo>
                  <a:cubicBezTo>
                    <a:pt x="0" y="5"/>
                    <a:pt x="0" y="5"/>
                    <a:pt x="0" y="5"/>
                  </a:cubicBezTo>
                  <a:cubicBezTo>
                    <a:pt x="5" y="2"/>
                    <a:pt x="13" y="0"/>
                    <a:pt x="20" y="0"/>
                  </a:cubicBezTo>
                  <a:cubicBezTo>
                    <a:pt x="33" y="0"/>
                    <a:pt x="43" y="7"/>
                    <a:pt x="43" y="20"/>
                  </a:cubicBezTo>
                  <a:cubicBezTo>
                    <a:pt x="43" y="35"/>
                    <a:pt x="30" y="47"/>
                    <a:pt x="14" y="60"/>
                  </a:cubicBezTo>
                  <a:cubicBezTo>
                    <a:pt x="44" y="60"/>
                    <a:pt x="44" y="60"/>
                    <a:pt x="44" y="60"/>
                  </a:cubicBezTo>
                  <a:cubicBezTo>
                    <a:pt x="44" y="69"/>
                    <a:pt x="44" y="69"/>
                    <a:pt x="44" y="69"/>
                  </a:cubicBezTo>
                  <a:cubicBezTo>
                    <a:pt x="1" y="69"/>
                    <a:pt x="1" y="69"/>
                    <a:pt x="1" y="69"/>
                  </a:cubicBezTo>
                  <a:lnTo>
                    <a:pt x="1" y="62"/>
                  </a:lnTo>
                  <a:close/>
                </a:path>
              </a:pathLst>
            </a:custGeom>
            <a:solidFill>
              <a:srgbClr val="029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0" name="Freeform 31">
              <a:extLst>
                <a:ext uri="{FF2B5EF4-FFF2-40B4-BE49-F238E27FC236}">
                  <a16:creationId xmlns:a16="http://schemas.microsoft.com/office/drawing/2014/main" id="{62E3D831-AC3A-4A48-838B-8B8065447885}"/>
                </a:ext>
              </a:extLst>
            </p:cNvPr>
            <p:cNvSpPr>
              <a:spLocks/>
            </p:cNvSpPr>
            <p:nvPr userDrawn="1"/>
          </p:nvSpPr>
          <p:spPr bwMode="auto">
            <a:xfrm>
              <a:off x="-1708" y="-1380"/>
              <a:ext cx="123" cy="161"/>
            </a:xfrm>
            <a:custGeom>
              <a:avLst/>
              <a:gdLst>
                <a:gd name="T0" fmla="*/ 0 w 123"/>
                <a:gd name="T1" fmla="*/ 72 h 161"/>
                <a:gd name="T2" fmla="*/ 123 w 123"/>
                <a:gd name="T3" fmla="*/ 0 h 161"/>
                <a:gd name="T4" fmla="*/ 123 w 123"/>
                <a:gd name="T5" fmla="*/ 161 h 161"/>
                <a:gd name="T6" fmla="*/ 0 w 123"/>
                <a:gd name="T7" fmla="*/ 161 h 161"/>
                <a:gd name="T8" fmla="*/ 0 w 123"/>
                <a:gd name="T9" fmla="*/ 72 h 161"/>
              </a:gdLst>
              <a:ahLst/>
              <a:cxnLst>
                <a:cxn ang="0">
                  <a:pos x="T0" y="T1"/>
                </a:cxn>
                <a:cxn ang="0">
                  <a:pos x="T2" y="T3"/>
                </a:cxn>
                <a:cxn ang="0">
                  <a:pos x="T4" y="T5"/>
                </a:cxn>
                <a:cxn ang="0">
                  <a:pos x="T6" y="T7"/>
                </a:cxn>
                <a:cxn ang="0">
                  <a:pos x="T8" y="T9"/>
                </a:cxn>
              </a:cxnLst>
              <a:rect l="0" t="0" r="r" b="b"/>
              <a:pathLst>
                <a:path w="123" h="161">
                  <a:moveTo>
                    <a:pt x="0" y="72"/>
                  </a:moveTo>
                  <a:lnTo>
                    <a:pt x="123" y="0"/>
                  </a:lnTo>
                  <a:lnTo>
                    <a:pt x="123" y="161"/>
                  </a:lnTo>
                  <a:lnTo>
                    <a:pt x="0" y="161"/>
                  </a:lnTo>
                  <a:lnTo>
                    <a:pt x="0" y="72"/>
                  </a:lnTo>
                  <a:close/>
                </a:path>
              </a:pathLst>
            </a:custGeom>
            <a:solidFill>
              <a:srgbClr val="2735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cxnSp>
        <p:nvCxnSpPr>
          <p:cNvPr id="102" name="Straight Connector 101">
            <a:extLst>
              <a:ext uri="{FF2B5EF4-FFF2-40B4-BE49-F238E27FC236}">
                <a16:creationId xmlns:a16="http://schemas.microsoft.com/office/drawing/2014/main" id="{EA6E68FA-8757-4B5C-AD8E-EC741F3F6612}"/>
              </a:ext>
            </a:extLst>
          </p:cNvPr>
          <p:cNvCxnSpPr>
            <a:cxnSpLocks/>
          </p:cNvCxnSpPr>
          <p:nvPr userDrawn="1"/>
        </p:nvCxnSpPr>
        <p:spPr>
          <a:xfrm>
            <a:off x="358775" y="263284"/>
            <a:ext cx="842645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F923B7A1-7534-42C7-891B-C3258B2B4C43}"/>
              </a:ext>
            </a:extLst>
          </p:cNvPr>
          <p:cNvGrpSpPr/>
          <p:nvPr userDrawn="1"/>
        </p:nvGrpSpPr>
        <p:grpSpPr>
          <a:xfrm>
            <a:off x="7012502" y="263284"/>
            <a:ext cx="1772723" cy="588701"/>
            <a:chOff x="7349582" y="5399028"/>
            <a:chExt cx="2180855" cy="897656"/>
          </a:xfrm>
          <a:solidFill>
            <a:schemeClr val="accent2"/>
          </a:solidFill>
        </p:grpSpPr>
        <p:sp>
          <p:nvSpPr>
            <p:cNvPr id="114" name="Freeform 35">
              <a:extLst>
                <a:ext uri="{FF2B5EF4-FFF2-40B4-BE49-F238E27FC236}">
                  <a16:creationId xmlns:a16="http://schemas.microsoft.com/office/drawing/2014/main" id="{B9BF84BE-3294-4ED0-B6DB-40C588EA320A}"/>
                </a:ext>
              </a:extLst>
            </p:cNvPr>
            <p:cNvSpPr>
              <a:spLocks/>
            </p:cNvSpPr>
            <p:nvPr userDrawn="1"/>
          </p:nvSpPr>
          <p:spPr bwMode="auto">
            <a:xfrm>
              <a:off x="7349582"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Originate</a:t>
              </a:r>
            </a:p>
          </p:txBody>
        </p:sp>
        <p:sp>
          <p:nvSpPr>
            <p:cNvPr id="115" name="Freeform 35">
              <a:extLst>
                <a:ext uri="{FF2B5EF4-FFF2-40B4-BE49-F238E27FC236}">
                  <a16:creationId xmlns:a16="http://schemas.microsoft.com/office/drawing/2014/main" id="{581E069B-A82C-4753-9F20-F6A12033F8F0}"/>
                </a:ext>
              </a:extLst>
            </p:cNvPr>
            <p:cNvSpPr>
              <a:spLocks/>
            </p:cNvSpPr>
            <p:nvPr userDrawn="1"/>
          </p:nvSpPr>
          <p:spPr bwMode="auto">
            <a:xfrm>
              <a:off x="8094794"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Invest</a:t>
              </a:r>
            </a:p>
          </p:txBody>
        </p:sp>
        <p:sp>
          <p:nvSpPr>
            <p:cNvPr id="116" name="Freeform 35">
              <a:extLst>
                <a:ext uri="{FF2B5EF4-FFF2-40B4-BE49-F238E27FC236}">
                  <a16:creationId xmlns:a16="http://schemas.microsoft.com/office/drawing/2014/main" id="{E2496C0C-B1F4-4029-B0B3-B9CB1035CE74}"/>
                </a:ext>
              </a:extLst>
            </p:cNvPr>
            <p:cNvSpPr>
              <a:spLocks/>
            </p:cNvSpPr>
            <p:nvPr userDrawn="1"/>
          </p:nvSpPr>
          <p:spPr bwMode="auto">
            <a:xfrm>
              <a:off x="8840006" y="5399028"/>
              <a:ext cx="690431" cy="897656"/>
            </a:xfrm>
            <a:custGeom>
              <a:avLst/>
              <a:gdLst>
                <a:gd name="T0" fmla="*/ 723 w 723"/>
                <a:gd name="T1" fmla="*/ 519 h 940"/>
                <a:gd name="T2" fmla="*/ 0 w 723"/>
                <a:gd name="T3" fmla="*/ 940 h 940"/>
                <a:gd name="T4" fmla="*/ 0 w 723"/>
                <a:gd name="T5" fmla="*/ 0 h 940"/>
                <a:gd name="T6" fmla="*/ 723 w 723"/>
                <a:gd name="T7" fmla="*/ 0 h 940"/>
                <a:gd name="T8" fmla="*/ 723 w 723"/>
                <a:gd name="T9" fmla="*/ 519 h 940"/>
                <a:gd name="T10" fmla="*/ 723 w 723"/>
                <a:gd name="T11" fmla="*/ 519 h 940"/>
              </a:gdLst>
              <a:ahLst/>
              <a:cxnLst>
                <a:cxn ang="0">
                  <a:pos x="T0" y="T1"/>
                </a:cxn>
                <a:cxn ang="0">
                  <a:pos x="T2" y="T3"/>
                </a:cxn>
                <a:cxn ang="0">
                  <a:pos x="T4" y="T5"/>
                </a:cxn>
                <a:cxn ang="0">
                  <a:pos x="T6" y="T7"/>
                </a:cxn>
                <a:cxn ang="0">
                  <a:pos x="T8" y="T9"/>
                </a:cxn>
                <a:cxn ang="0">
                  <a:pos x="T10" y="T11"/>
                </a:cxn>
              </a:cxnLst>
              <a:rect l="0" t="0" r="r" b="b"/>
              <a:pathLst>
                <a:path w="723" h="940">
                  <a:moveTo>
                    <a:pt x="723" y="519"/>
                  </a:moveTo>
                  <a:lnTo>
                    <a:pt x="0" y="940"/>
                  </a:lnTo>
                  <a:lnTo>
                    <a:pt x="0" y="0"/>
                  </a:lnTo>
                  <a:lnTo>
                    <a:pt x="723" y="0"/>
                  </a:lnTo>
                  <a:lnTo>
                    <a:pt x="723" y="519"/>
                  </a:lnTo>
                  <a:lnTo>
                    <a:pt x="723" y="519"/>
                  </a:lnTo>
                  <a:close/>
                </a:path>
              </a:pathLst>
            </a:custGeom>
            <a:grpFill/>
            <a:ln>
              <a:noFill/>
            </a:ln>
          </p:spPr>
          <p:txBody>
            <a:bodyPr vert="horz" wrap="square" lIns="36000" tIns="36000" rIns="0" bIns="45720" numCol="1" anchor="t" anchorCtr="0" compatLnSpc="1">
              <a:prstTxWarp prst="textNoShape">
                <a:avLst/>
              </a:prstTxWarp>
            </a:bodyPr>
            <a:lstStyle/>
            <a:p>
              <a:pPr algn="l"/>
              <a:r>
                <a:rPr lang="en-GB" sz="800" spc="-60" baseline="0">
                  <a:solidFill>
                    <a:schemeClr val="bg2"/>
                  </a:solidFill>
                  <a:latin typeface="Montserrat" panose="02000505000000020004" pitchFamily="2" charset="0"/>
                </a:rPr>
                <a:t>Operate</a:t>
              </a:r>
            </a:p>
          </p:txBody>
        </p:sp>
      </p:grpSp>
    </p:spTree>
    <p:extLst>
      <p:ext uri="{BB962C8B-B14F-4D97-AF65-F5344CB8AC3E}">
        <p14:creationId xmlns:p14="http://schemas.microsoft.com/office/powerpoint/2010/main" val="268036238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5" r:id="rId7"/>
    <p:sldLayoutId id="2147483786" r:id="rId8"/>
    <p:sldLayoutId id="2147483787" r:id="rId9"/>
    <p:sldLayoutId id="2147483788" r:id="rId10"/>
    <p:sldLayoutId id="2147483790" r:id="rId11"/>
    <p:sldLayoutId id="2147483791" r:id="rId12"/>
    <p:sldLayoutId id="2147483792" r:id="rId1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685800" rtl="0" eaLnBrk="1" latinLnBrk="0" hangingPunct="1">
        <a:lnSpc>
          <a:spcPct val="85000"/>
        </a:lnSpc>
        <a:spcBef>
          <a:spcPct val="0"/>
        </a:spcBef>
        <a:buNone/>
        <a:defRPr sz="3200" kern="1200" spc="-150">
          <a:solidFill>
            <a:schemeClr val="accent2"/>
          </a:solidFill>
          <a:latin typeface="+mn-lt"/>
          <a:ea typeface="+mj-ea"/>
          <a:cs typeface="+mj-cs"/>
        </a:defRPr>
      </a:lvl1pPr>
    </p:titleStyle>
    <p:bodyStyle>
      <a:lvl1pPr marL="0" indent="0" algn="l" defTabSz="685800"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800" indent="-177800" algn="l" defTabSz="685800" rtl="0" eaLnBrk="1" latinLnBrk="0" hangingPunct="1">
        <a:lnSpc>
          <a:spcPct val="90000"/>
        </a:lnSpc>
        <a:spcBef>
          <a:spcPts val="300"/>
        </a:spcBef>
        <a:spcAft>
          <a:spcPts val="300"/>
        </a:spcAft>
        <a:buSzPct val="80000"/>
        <a:buFontTx/>
        <a:buBlip>
          <a:blip r:embed="rId15"/>
        </a:buBlip>
        <a:defRPr sz="1400" kern="1200" spc="-80" baseline="0">
          <a:solidFill>
            <a:schemeClr val="tx1"/>
          </a:solidFill>
          <a:latin typeface="+mn-lt"/>
          <a:ea typeface="+mn-ea"/>
          <a:cs typeface="+mn-cs"/>
        </a:defRPr>
      </a:lvl2pPr>
      <a:lvl3pPr marL="358775"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3pPr>
      <a:lvl4pPr marL="536575" indent="-177800"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4pPr>
      <a:lvl5pPr marL="717550" indent="-180975" algn="l" defTabSz="685800"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100" kern="1200" spc="-8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p15:clr>
            <a:srgbClr val="F26B43"/>
          </p15:clr>
        </p15:guide>
        <p15:guide id="2" pos="55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3" Type="http://schemas.openxmlformats.org/officeDocument/2006/relationships/image" Target="../media/image17.svg"/><Relationship Id="rId18" Type="http://schemas.openxmlformats.org/officeDocument/2006/relationships/image" Target="../media/image22.png"/><Relationship Id="rId26" Type="http://schemas.openxmlformats.org/officeDocument/2006/relationships/image" Target="../media/image30.png"/><Relationship Id="rId21" Type="http://schemas.openxmlformats.org/officeDocument/2006/relationships/image" Target="../media/image25.png"/><Relationship Id="rId34" Type="http://schemas.openxmlformats.org/officeDocument/2006/relationships/image" Target="../media/image36.pn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5" Type="http://schemas.openxmlformats.org/officeDocument/2006/relationships/image" Target="../media/image29.png"/><Relationship Id="rId33" Type="http://schemas.microsoft.com/office/2007/relationships/hdphoto" Target="../media/hdphoto2.wdp"/><Relationship Id="rId38" Type="http://schemas.openxmlformats.org/officeDocument/2006/relationships/image" Target="../media/image40.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jpeg"/><Relationship Id="rId29"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svg"/><Relationship Id="rId24" Type="http://schemas.openxmlformats.org/officeDocument/2006/relationships/image" Target="../media/image28.jpeg"/><Relationship Id="rId32" Type="http://schemas.openxmlformats.org/officeDocument/2006/relationships/image" Target="../media/image35.png"/><Relationship Id="rId37" Type="http://schemas.openxmlformats.org/officeDocument/2006/relationships/image" Target="../media/image39.png"/><Relationship Id="rId5" Type="http://schemas.openxmlformats.org/officeDocument/2006/relationships/image" Target="../media/image9.svg"/><Relationship Id="rId15" Type="http://schemas.openxmlformats.org/officeDocument/2006/relationships/image" Target="../media/image19.svg"/><Relationship Id="rId23" Type="http://schemas.openxmlformats.org/officeDocument/2006/relationships/image" Target="../media/image27.png"/><Relationship Id="rId28" Type="http://schemas.openxmlformats.org/officeDocument/2006/relationships/image" Target="../media/image32.jpeg"/><Relationship Id="rId36" Type="http://schemas.openxmlformats.org/officeDocument/2006/relationships/image" Target="../media/image38.png"/><Relationship Id="rId10" Type="http://schemas.openxmlformats.org/officeDocument/2006/relationships/image" Target="../media/image14.png"/><Relationship Id="rId19" Type="http://schemas.openxmlformats.org/officeDocument/2006/relationships/image" Target="../media/image23.jpeg"/><Relationship Id="rId31" Type="http://schemas.microsoft.com/office/2007/relationships/hdphoto" Target="../media/hdphoto1.wdp"/><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svg"/><Relationship Id="rId30" Type="http://schemas.openxmlformats.org/officeDocument/2006/relationships/image" Target="../media/image34.png"/><Relationship Id="rId35" Type="http://schemas.openxmlformats.org/officeDocument/2006/relationships/image" Target="../media/image37.png"/><Relationship Id="rId8" Type="http://schemas.openxmlformats.org/officeDocument/2006/relationships/image" Target="../media/image12.png"/><Relationship Id="rId3"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23.jpeg"/><Relationship Id="rId7" Type="http://schemas.openxmlformats.org/officeDocument/2006/relationships/image" Target="../media/image46.jpe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24.jpeg"/><Relationship Id="rId2"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45.png"/><Relationship Id="rId11" Type="http://schemas.openxmlformats.org/officeDocument/2006/relationships/image" Target="../media/image49.png"/><Relationship Id="rId5" Type="http://schemas.openxmlformats.org/officeDocument/2006/relationships/image" Target="../media/image44.jpeg"/><Relationship Id="rId10" Type="http://schemas.openxmlformats.org/officeDocument/2006/relationships/image" Target="../media/image48.jpeg"/><Relationship Id="rId4" Type="http://schemas.openxmlformats.org/officeDocument/2006/relationships/image" Target="../media/image43.png"/><Relationship Id="rId9" Type="http://schemas.openxmlformats.org/officeDocument/2006/relationships/image" Target="../media/image3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51.jpeg"/><Relationship Id="rId2" Type="http://schemas.openxmlformats.org/officeDocument/2006/relationships/image" Target="../media/image24.jpeg"/><Relationship Id="rId1" Type="http://schemas.openxmlformats.org/officeDocument/2006/relationships/slideLayout" Target="../slideLayouts/slideLayout3.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jpeg"/><Relationship Id="rId10" Type="http://schemas.openxmlformats.org/officeDocument/2006/relationships/image" Target="../media/image31.svg"/><Relationship Id="rId4" Type="http://schemas.openxmlformats.org/officeDocument/2006/relationships/image" Target="../media/image43.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2.png"/><Relationship Id="rId2" Type="http://schemas.openxmlformats.org/officeDocument/2006/relationships/image" Target="../media/image23.jpeg"/><Relationship Id="rId1" Type="http://schemas.openxmlformats.org/officeDocument/2006/relationships/slideLayout" Target="../slideLayouts/slideLayout3.xml"/><Relationship Id="rId6" Type="http://schemas.openxmlformats.org/officeDocument/2006/relationships/image" Target="../media/image24.jpeg"/><Relationship Id="rId5" Type="http://schemas.openxmlformats.org/officeDocument/2006/relationships/image" Target="../media/image45.png"/><Relationship Id="rId4" Type="http://schemas.openxmlformats.org/officeDocument/2006/relationships/image" Target="../media/image4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4.jpeg"/><Relationship Id="rId7" Type="http://schemas.openxmlformats.org/officeDocument/2006/relationships/image" Target="../media/image24.jpe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8.jpeg"/><Relationship Id="rId11" Type="http://schemas.openxmlformats.org/officeDocument/2006/relationships/image" Target="../media/image32.jpeg"/><Relationship Id="rId5" Type="http://schemas.openxmlformats.org/officeDocument/2006/relationships/image" Target="../media/image23.jpeg"/><Relationship Id="rId10" Type="http://schemas.openxmlformats.org/officeDocument/2006/relationships/image" Target="../media/image31.svg"/><Relationship Id="rId4" Type="http://schemas.openxmlformats.org/officeDocument/2006/relationships/image" Target="../media/image45.png"/><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raingerplc.sharepoint.com/sites/Connect/PreservationHoldLibrary/FSI_Grainger%20Integration%20-%20Supplier%20Management%20V5_B00A2D79-B5F8-46AC-8034-78750935DC332019-08-09T13-41-04.pdf#search=Checks%20supplier%20application" TargetMode="External"/><Relationship Id="rId7" Type="http://schemas.openxmlformats.org/officeDocument/2006/relationships/image" Target="../media/image24.jpeg"/><Relationship Id="rId2" Type="http://schemas.openxmlformats.org/officeDocument/2006/relationships/hyperlink" Target="https://graingerplc.sharepoint.com/:w:/r/sites/Connect/_layouts/15/Doc.aspx?sourcedoc=%7B4F11FCF8-621B-4129-87FA-84E6523E1987%7D&amp;file=RI-190819%20-%20Supplier%20Status%20Validation.docx&amp;action=default&amp;mobileredirect=true&amp;DefaultItemOpen=1" TargetMode="Externa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hyperlink" Target="https://graingerplc.sharepoint.com/:w:/r/sites/Connect/_layouts/15/Doc.aspx?sourcedoc=%7BEE9709B1-3641-41C1-977B-CB7D92B9A334%7D&amp;file=Process%20Document%205.02%20RM%20Supplier%20Management%20ver0.1_AC7271A8-649E-43F3-9978-D973602A47112019-04-15T13-10-41.docx&amp;action=default&amp;mobileredirect=true&amp;DefaultItemOpen=1" TargetMode="External"/><Relationship Id="rId4" Type="http://schemas.openxmlformats.org/officeDocument/2006/relationships/hyperlink" Target="https://graingerplc.sharepoint.com/sites/Connect/_layouts/15/Doc.aspx?sourcedoc=%7B14825ABF-ECEA-4C5F-BE36-2F637C5943E7%7D&amp;file=5.02%20-%20RM%20Suppliers%20-%20Business%20Process_09C52BCD-D4BE-42EE-8549-8386AF0FCB1B2020-02-21T14-39-04.vsdx&amp;action=default&amp;DefaultItemOpen=1"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4.jpe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elpdesk%20-%20Confluence%20page" TargetMode="External"/><Relationship Id="rId1" Type="http://schemas.openxmlformats.org/officeDocument/2006/relationships/slideLayout" Target="../slideLayouts/slideLayout3.xml"/><Relationship Id="rId5" Type="http://schemas.openxmlformats.org/officeDocument/2006/relationships/image" Target="../media/image57.jpeg"/><Relationship Id="rId4" Type="http://schemas.openxmlformats.org/officeDocument/2006/relationships/image" Target="../media/image56.gif"/></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s://graingerplc.atlassian.net/browse/DDA-36" TargetMode="External"/><Relationship Id="rId1" Type="http://schemas.openxmlformats.org/officeDocument/2006/relationships/slideLayout" Target="../slideLayouts/slideLayout3.xml"/><Relationship Id="rId4" Type="http://schemas.openxmlformats.org/officeDocument/2006/relationships/image" Target="../media/image23.jpeg"/></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hyperlink" Target="https://graingerplc.atlassian.net/jira/software/projects/DDA/issues/DDA-56" TargetMode="External"/><Relationship Id="rId2" Type="http://schemas.openxmlformats.org/officeDocument/2006/relationships/hyperlink" Target="https://graingerplc.atlassian.net/browse/DDA-36" TargetMode="Externa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graingerplc.atlassian.net/browse/DDA-36" TargetMode="Externa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8.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31.svg"/></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1.sv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4.jpeg"/><Relationship Id="rId5" Type="http://schemas.openxmlformats.org/officeDocument/2006/relationships/image" Target="../media/image53.png"/><Relationship Id="rId4" Type="http://schemas.openxmlformats.org/officeDocument/2006/relationships/image" Target="../media/image31.svg"/></Relationships>
</file>

<file path=ppt/slides/_rels/slide5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graingerplc.atlassian.net/wiki/spaces/CON/pages/4981276/EPIC+MATRIX+Booking+a+viewing" TargetMode="External"/><Relationship Id="rId2" Type="http://schemas.openxmlformats.org/officeDocument/2006/relationships/hyperlink" Target="https://graingerplc.atlassian.net/wiki/spaces/CON/pages/4883103/EPIC+MATRIX+Register+Interest" TargetMode="Externa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1.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31.svg"/><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50.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31.svg"/><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5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8" Type="http://schemas.openxmlformats.org/officeDocument/2006/relationships/hyperlink" Target="https://graingerplc.atlassian.net/browse/CI-4396" TargetMode="External"/><Relationship Id="rId3" Type="http://schemas.openxmlformats.org/officeDocument/2006/relationships/hyperlink" Target="https://graingerplc.atlassian.net/browse/CI-4398" TargetMode="External"/><Relationship Id="rId7" Type="http://schemas.openxmlformats.org/officeDocument/2006/relationships/hyperlink" Target="https://graingerplc.atlassian.net/browse/CI-4978" TargetMode="External"/><Relationship Id="rId12" Type="http://schemas.openxmlformats.org/officeDocument/2006/relationships/image" Target="../media/image22.png"/><Relationship Id="rId2" Type="http://schemas.openxmlformats.org/officeDocument/2006/relationships/hyperlink" Target="https://graingerplc.atlassian.net/browse/CI-4431" TargetMode="External"/><Relationship Id="rId1" Type="http://schemas.openxmlformats.org/officeDocument/2006/relationships/slideLayout" Target="../slideLayouts/slideLayout3.xml"/><Relationship Id="rId6" Type="http://schemas.openxmlformats.org/officeDocument/2006/relationships/hyperlink" Target="https://graingerplc.atlassian.net/browse/CI-5475" TargetMode="External"/><Relationship Id="rId11" Type="http://schemas.openxmlformats.org/officeDocument/2006/relationships/image" Target="../media/image24.jpeg"/><Relationship Id="rId5" Type="http://schemas.openxmlformats.org/officeDocument/2006/relationships/hyperlink" Target="https://graingerplc.atlassian.net/browse/CI-3512" TargetMode="External"/><Relationship Id="rId10" Type="http://schemas.openxmlformats.org/officeDocument/2006/relationships/hyperlink" Target="https://graingerplc.atlassian.net/browse/CI-3554" TargetMode="External"/><Relationship Id="rId4" Type="http://schemas.openxmlformats.org/officeDocument/2006/relationships/hyperlink" Target="https://graingerplc.atlassian.net/browse/CI-3527" TargetMode="External"/><Relationship Id="rId9" Type="http://schemas.openxmlformats.org/officeDocument/2006/relationships/hyperlink" Target="https://graingerplc.atlassian.net/browse/CI-4397"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graingerplc.atlassian.net/browse/CI-7267" TargetMode="External"/><Relationship Id="rId13" Type="http://schemas.openxmlformats.org/officeDocument/2006/relationships/hyperlink" Target="https://graingerplc.atlassian.net/browse/CI-6897" TargetMode="External"/><Relationship Id="rId18" Type="http://schemas.openxmlformats.org/officeDocument/2006/relationships/hyperlink" Target="https://graingerplc.atlassian.net/browse/CI-7174" TargetMode="External"/><Relationship Id="rId3" Type="http://schemas.openxmlformats.org/officeDocument/2006/relationships/hyperlink" Target="https://graingerplc.atlassian.net/browse/CI-3300" TargetMode="External"/><Relationship Id="rId21" Type="http://schemas.openxmlformats.org/officeDocument/2006/relationships/image" Target="../media/image27.png"/><Relationship Id="rId7" Type="http://schemas.openxmlformats.org/officeDocument/2006/relationships/hyperlink" Target="https://graingerplc.atlassian.net/browse/CI-7148" TargetMode="External"/><Relationship Id="rId12" Type="http://schemas.openxmlformats.org/officeDocument/2006/relationships/hyperlink" Target="https://graingerplc.atlassian.net/browse/CI-7144" TargetMode="External"/><Relationship Id="rId17" Type="http://schemas.openxmlformats.org/officeDocument/2006/relationships/hyperlink" Target="https://graingerplc.atlassian.net/browse/CI-7173" TargetMode="External"/><Relationship Id="rId2" Type="http://schemas.openxmlformats.org/officeDocument/2006/relationships/hyperlink" Target="https://graingerplc.atlassian.net/wiki/spaces/CON/pages/37748741/Epic+Matrix+Renewals" TargetMode="External"/><Relationship Id="rId16" Type="http://schemas.openxmlformats.org/officeDocument/2006/relationships/hyperlink" Target="https://graingerplc.atlassian.net/browse/CI-7172" TargetMode="External"/><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hyperlink" Target="https://graingerplc.atlassian.net/browse/CI-6896" TargetMode="External"/><Relationship Id="rId11" Type="http://schemas.openxmlformats.org/officeDocument/2006/relationships/hyperlink" Target="https://graingerplc.atlassian.net/browse/CI-7143" TargetMode="External"/><Relationship Id="rId24" Type="http://schemas.openxmlformats.org/officeDocument/2006/relationships/image" Target="../media/image22.png"/><Relationship Id="rId5" Type="http://schemas.openxmlformats.org/officeDocument/2006/relationships/hyperlink" Target="https://graingerplc.atlassian.net/browse/CI-7141" TargetMode="External"/><Relationship Id="rId15" Type="http://schemas.openxmlformats.org/officeDocument/2006/relationships/hyperlink" Target="https://graingerplc.atlassian.net/browse/CI-7170" TargetMode="External"/><Relationship Id="rId23" Type="http://schemas.openxmlformats.org/officeDocument/2006/relationships/image" Target="../media/image31.svg"/><Relationship Id="rId10" Type="http://schemas.openxmlformats.org/officeDocument/2006/relationships/hyperlink" Target="https://graingerplc.atlassian.net/browse/CI-7102" TargetMode="External"/><Relationship Id="rId19" Type="http://schemas.openxmlformats.org/officeDocument/2006/relationships/hyperlink" Target="https://graingerplc.atlassian.net/browse/CI-3951" TargetMode="External"/><Relationship Id="rId4" Type="http://schemas.openxmlformats.org/officeDocument/2006/relationships/hyperlink" Target="https://graingerplc.atlassian.net/browse/CI-6900" TargetMode="External"/><Relationship Id="rId9" Type="http://schemas.openxmlformats.org/officeDocument/2006/relationships/hyperlink" Target="https://graingerplc.atlassian.net/browse/CI-5682" TargetMode="External"/><Relationship Id="rId14" Type="http://schemas.openxmlformats.org/officeDocument/2006/relationships/hyperlink" Target="https://graingerplc.atlassian.net/browse/CI-7171" TargetMode="External"/><Relationship Id="rId22" Type="http://schemas.openxmlformats.org/officeDocument/2006/relationships/image" Target="../media/image30.png"/></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jpeg"/><Relationship Id="rId1" Type="http://schemas.openxmlformats.org/officeDocument/2006/relationships/slideLayout" Target="../slideLayouts/slideLayout3.xml"/><Relationship Id="rId5" Type="http://schemas.openxmlformats.org/officeDocument/2006/relationships/image" Target="../media/image32.jpeg"/><Relationship Id="rId4" Type="http://schemas.openxmlformats.org/officeDocument/2006/relationships/image" Target="../media/image23.jpeg"/></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jpeg"/><Relationship Id="rId1" Type="http://schemas.openxmlformats.org/officeDocument/2006/relationships/slideLayout" Target="../slideLayouts/slideLayout3.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3.jpeg"/></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a:t>Connect Programme</a:t>
            </a:r>
            <a:br>
              <a:rPr lang="en-GB"/>
            </a:br>
            <a:endParaRPr lang="en-GB"/>
          </a:p>
        </p:txBody>
      </p:sp>
      <p:sp>
        <p:nvSpPr>
          <p:cNvPr id="7" name="Text Placeholder 6">
            <a:extLst>
              <a:ext uri="{FF2B5EF4-FFF2-40B4-BE49-F238E27FC236}">
                <a16:creationId xmlns:a16="http://schemas.microsoft.com/office/drawing/2014/main" id="{D5398C75-5C20-4896-B36A-F6B7A9B2F891}"/>
              </a:ext>
            </a:extLst>
          </p:cNvPr>
          <p:cNvSpPr>
            <a:spLocks noGrp="1"/>
          </p:cNvSpPr>
          <p:nvPr>
            <p:ph type="body" sz="quarter" idx="10"/>
          </p:nvPr>
        </p:nvSpPr>
        <p:spPr>
          <a:xfrm>
            <a:off x="358775" y="3442695"/>
            <a:ext cx="3920617" cy="1992905"/>
          </a:xfrm>
        </p:spPr>
        <p:txBody>
          <a:bodyPr vert="horz" lIns="0" tIns="0" rIns="0" bIns="0" rtlCol="0" anchor="t">
            <a:noAutofit/>
          </a:bodyPr>
          <a:lstStyle/>
          <a:p>
            <a:pPr>
              <a:lnSpc>
                <a:spcPct val="100000"/>
              </a:lnSpc>
            </a:pPr>
            <a:r>
              <a:rPr lang="en-GB" spc="0"/>
              <a:t>Connect ‘Phase 1’ scope &amp; Functionality Catalogue</a:t>
            </a:r>
          </a:p>
          <a:p>
            <a:pPr>
              <a:lnSpc>
                <a:spcPct val="100000"/>
              </a:lnSpc>
            </a:pPr>
            <a:endParaRPr lang="en-GB" spc="0"/>
          </a:p>
          <a:p>
            <a:pPr>
              <a:lnSpc>
                <a:spcPct val="100000"/>
              </a:lnSpc>
            </a:pPr>
            <a:r>
              <a:rPr lang="en-GB" sz="1800" i="1" spc="0">
                <a:solidFill>
                  <a:schemeClr val="bg1"/>
                </a:solidFill>
              </a:rPr>
              <a:t>Process Groups 1-5</a:t>
            </a:r>
          </a:p>
          <a:p>
            <a:pPr>
              <a:lnSpc>
                <a:spcPct val="100000"/>
              </a:lnSpc>
            </a:pPr>
            <a:r>
              <a:rPr lang="en-GB" sz="1800" i="1" spc="0">
                <a:solidFill>
                  <a:schemeClr val="bg1"/>
                </a:solidFill>
              </a:rPr>
              <a:t>Integration</a:t>
            </a:r>
          </a:p>
          <a:p>
            <a:pPr>
              <a:lnSpc>
                <a:spcPct val="100000"/>
              </a:lnSpc>
            </a:pPr>
            <a:r>
              <a:rPr lang="en-GB" sz="1800" i="1" spc="0">
                <a:solidFill>
                  <a:schemeClr val="bg1"/>
                </a:solidFill>
              </a:rPr>
              <a:t>MyGrainger Portal</a:t>
            </a:r>
          </a:p>
          <a:p>
            <a:pPr>
              <a:lnSpc>
                <a:spcPct val="100000"/>
              </a:lnSpc>
            </a:pPr>
            <a:endParaRPr lang="en-GB"/>
          </a:p>
        </p:txBody>
      </p:sp>
      <p:pic>
        <p:nvPicPr>
          <p:cNvPr id="18" name="Picture Placeholder 17">
            <a:extLst>
              <a:ext uri="{FF2B5EF4-FFF2-40B4-BE49-F238E27FC236}">
                <a16:creationId xmlns:a16="http://schemas.microsoft.com/office/drawing/2014/main" id="{D23A5545-8120-44CB-8A31-8D01613D8805}"/>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a:fillRect/>
          </a:stretch>
        </p:blipFill>
        <p:spPr/>
      </p:pic>
      <p:pic>
        <p:nvPicPr>
          <p:cNvPr id="20" name="Picture Placeholder 19">
            <a:extLst>
              <a:ext uri="{FF2B5EF4-FFF2-40B4-BE49-F238E27FC236}">
                <a16:creationId xmlns:a16="http://schemas.microsoft.com/office/drawing/2014/main" id="{56B439B3-D107-4CCE-B95E-21CE74F29901}"/>
              </a:ext>
            </a:extLst>
          </p:cNvPr>
          <p:cNvPicPr>
            <a:picLocks noGrp="1" noChangeAspect="1"/>
          </p:cNvPicPr>
          <p:nvPr>
            <p:ph type="pic" sz="quarter" idx="12"/>
          </p:nvPr>
        </p:nvPicPr>
        <p:blipFill>
          <a:blip r:embed="rId4" cstate="screen">
            <a:extLst>
              <a:ext uri="{28A0092B-C50C-407E-A947-70E740481C1C}">
                <a14:useLocalDpi xmlns:a14="http://schemas.microsoft.com/office/drawing/2010/main"/>
              </a:ext>
            </a:extLst>
          </a:blip>
          <a:srcRect/>
          <a:stretch>
            <a:fillRect/>
          </a:stretch>
        </p:blipFill>
        <p:spPr/>
      </p:pic>
      <p:pic>
        <p:nvPicPr>
          <p:cNvPr id="22" name="Picture Placeholder 21">
            <a:extLst>
              <a:ext uri="{FF2B5EF4-FFF2-40B4-BE49-F238E27FC236}">
                <a16:creationId xmlns:a16="http://schemas.microsoft.com/office/drawing/2014/main" id="{0F00D62A-47EC-4312-B8A7-61D368326A14}"/>
              </a:ext>
            </a:extLst>
          </p:cNvPr>
          <p:cNvPicPr>
            <a:picLocks noGrp="1" noChangeAspect="1"/>
          </p:cNvPicPr>
          <p:nvPr>
            <p:ph type="pic" sz="quarter" idx="14"/>
          </p:nvPr>
        </p:nvPicPr>
        <p:blipFill>
          <a:blip r:embed="rId5" cstate="screen">
            <a:extLst>
              <a:ext uri="{28A0092B-C50C-407E-A947-70E740481C1C}">
                <a14:useLocalDpi xmlns:a14="http://schemas.microsoft.com/office/drawing/2010/main"/>
              </a:ext>
            </a:extLst>
          </a:blip>
          <a:srcRect/>
          <a:stretch>
            <a:fillRect/>
          </a:stretch>
        </p:blipFill>
        <p:spPr/>
      </p:pic>
      <p:sp>
        <p:nvSpPr>
          <p:cNvPr id="9" name="Footer Placeholder 10">
            <a:extLst>
              <a:ext uri="{FF2B5EF4-FFF2-40B4-BE49-F238E27FC236}">
                <a16:creationId xmlns:a16="http://schemas.microsoft.com/office/drawing/2014/main" id="{C82F26A6-707E-4E5E-8EDA-BCC6D3070167}"/>
              </a:ext>
            </a:extLst>
          </p:cNvPr>
          <p:cNvSpPr>
            <a:spLocks noGrp="1"/>
          </p:cNvSpPr>
          <p:nvPr>
            <p:ph type="ftr" sz="quarter" idx="4294967295"/>
          </p:nvPr>
        </p:nvSpPr>
        <p:spPr>
          <a:xfrm>
            <a:off x="0" y="6480175"/>
            <a:ext cx="4789488" cy="227013"/>
          </a:xfrm>
        </p:spPr>
        <p:txBody>
          <a:bodyPr/>
          <a:lstStyle/>
          <a:p>
            <a:pPr>
              <a:defRPr/>
            </a:pPr>
            <a:r>
              <a:rPr lang="en-GB">
                <a:solidFill>
                  <a:srgbClr val="4D858D"/>
                </a:solidFill>
              </a:rPr>
              <a:t>Grainger Plc  |  www.graingerplc.co.uk    | </a:t>
            </a:r>
          </a:p>
        </p:txBody>
      </p:sp>
      <p:sp>
        <p:nvSpPr>
          <p:cNvPr id="8" name="Slide Number Placeholder 7">
            <a:extLst>
              <a:ext uri="{FF2B5EF4-FFF2-40B4-BE49-F238E27FC236}">
                <a16:creationId xmlns:a16="http://schemas.microsoft.com/office/drawing/2014/main" id="{E2478E1B-4250-4957-923A-BBC1959257AD}"/>
              </a:ext>
            </a:extLst>
          </p:cNvPr>
          <p:cNvSpPr>
            <a:spLocks noGrp="1"/>
          </p:cNvSpPr>
          <p:nvPr>
            <p:ph type="sldNum" sz="quarter" idx="4294967295"/>
          </p:nvPr>
        </p:nvSpPr>
        <p:spPr>
          <a:xfrm>
            <a:off x="8715375" y="6480175"/>
            <a:ext cx="428625" cy="228600"/>
          </a:xfrm>
        </p:spPr>
        <p:txBody>
          <a:bodyPr/>
          <a:lstStyle/>
          <a:p>
            <a:pPr>
              <a:defRPr/>
            </a:pPr>
            <a:fld id="{0D32313A-DEBC-4CA4-B008-A02D4ABE2C72}" type="slidenum">
              <a:rPr lang="en-GB">
                <a:solidFill>
                  <a:srgbClr val="4D858D">
                    <a:lumMod val="75000"/>
                  </a:srgbClr>
                </a:solidFill>
              </a:rPr>
              <a:pPr>
                <a:defRPr/>
              </a:pPr>
              <a:t>1</a:t>
            </a:fld>
            <a:endParaRPr lang="en-GB">
              <a:solidFill>
                <a:srgbClr val="4D858D">
                  <a:lumMod val="75000"/>
                </a:srgbClr>
              </a:solidFill>
            </a:endParaRPr>
          </a:p>
        </p:txBody>
      </p:sp>
      <p:pic>
        <p:nvPicPr>
          <p:cNvPr id="28" name="Picture Placeholder 27">
            <a:extLst>
              <a:ext uri="{FF2B5EF4-FFF2-40B4-BE49-F238E27FC236}">
                <a16:creationId xmlns:a16="http://schemas.microsoft.com/office/drawing/2014/main" id="{CC58A5D1-1D6C-44AE-926F-FE9ED40ECA2E}"/>
              </a:ext>
            </a:extLst>
          </p:cNvPr>
          <p:cNvPicPr>
            <a:picLocks noGrp="1" noChangeAspect="1"/>
          </p:cNvPicPr>
          <p:nvPr>
            <p:ph type="pic" sz="quarter" idx="13"/>
          </p:nvPr>
        </p:nvPicPr>
        <p:blipFill rotWithShape="1">
          <a:blip r:embed="rId6" cstate="screen">
            <a:extLst>
              <a:ext uri="{28A0092B-C50C-407E-A947-70E740481C1C}">
                <a14:useLocalDpi xmlns:a14="http://schemas.microsoft.com/office/drawing/2010/main"/>
              </a:ext>
            </a:extLst>
          </a:blip>
          <a:srcRect t="-803"/>
          <a:stretch/>
        </p:blipFill>
        <p:spPr>
          <a:xfrm>
            <a:off x="5064192" y="2022171"/>
            <a:ext cx="1763790" cy="2619122"/>
          </a:xfrm>
        </p:spPr>
      </p:pic>
      <p:sp>
        <p:nvSpPr>
          <p:cNvPr id="2" name="TextBox 1">
            <a:extLst>
              <a:ext uri="{FF2B5EF4-FFF2-40B4-BE49-F238E27FC236}">
                <a16:creationId xmlns:a16="http://schemas.microsoft.com/office/drawing/2014/main" id="{C01C8E01-736B-43BB-9DDB-6FE4EC781448}"/>
              </a:ext>
            </a:extLst>
          </p:cNvPr>
          <p:cNvSpPr txBox="1"/>
          <p:nvPr/>
        </p:nvSpPr>
        <p:spPr>
          <a:xfrm rot="457117">
            <a:off x="3643260" y="5940578"/>
            <a:ext cx="1857479" cy="646331"/>
          </a:xfrm>
          <a:prstGeom prst="rect">
            <a:avLst/>
          </a:prstGeom>
          <a:solidFill>
            <a:srgbClr val="FFFF00"/>
          </a:solidFill>
          <a:ln>
            <a:solidFill>
              <a:schemeClr val="bg1"/>
            </a:solidFill>
          </a:ln>
        </p:spPr>
        <p:txBody>
          <a:bodyPr wrap="square" rtlCol="0">
            <a:spAutoFit/>
          </a:bodyPr>
          <a:lstStyle/>
          <a:p>
            <a:pPr algn="ctr"/>
            <a:r>
              <a:rPr lang="en-GB" sz="1200" b="1" spc="-60">
                <a:solidFill>
                  <a:schemeClr val="bg1"/>
                </a:solidFill>
                <a:latin typeface="+mj-lt"/>
              </a:rPr>
              <a:t>WORK IN PROGRESS</a:t>
            </a:r>
          </a:p>
          <a:p>
            <a:pPr algn="ctr"/>
            <a:r>
              <a:rPr lang="en-GB" sz="1200" spc="-60">
                <a:solidFill>
                  <a:schemeClr val="bg1"/>
                </a:solidFill>
                <a:latin typeface="Montserrat" panose="00000500000000000000" pitchFamily="50" charset="0"/>
              </a:rPr>
              <a:t>Detailed sections are still being updated</a:t>
            </a:r>
          </a:p>
        </p:txBody>
      </p:sp>
    </p:spTree>
    <p:extLst>
      <p:ext uri="{BB962C8B-B14F-4D97-AF65-F5344CB8AC3E}">
        <p14:creationId xmlns:p14="http://schemas.microsoft.com/office/powerpoint/2010/main" val="2724097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1D18840-D7F7-45F9-BE4D-EC0728F3ECC1}"/>
              </a:ext>
            </a:extLst>
          </p:cNvPr>
          <p:cNvSpPr>
            <a:spLocks noGrp="1"/>
          </p:cNvSpPr>
          <p:nvPr>
            <p:ph idx="1"/>
          </p:nvPr>
        </p:nvSpPr>
        <p:spPr/>
        <p:txBody>
          <a:bodyPr>
            <a:noAutofit/>
          </a:bodyPr>
          <a:lstStyle/>
          <a:p>
            <a:pPr>
              <a:lnSpc>
                <a:spcPct val="100000"/>
              </a:lnSpc>
            </a:pPr>
            <a:r>
              <a:rPr lang="en-GB" sz="1200" spc="0"/>
              <a:t>The Connect original scoping document has been agreed with the Design Authority as the basis for the delivery of the Connect programme in June 2019.</a:t>
            </a:r>
          </a:p>
          <a:p>
            <a:pPr>
              <a:lnSpc>
                <a:spcPct val="100000"/>
              </a:lnSpc>
            </a:pPr>
            <a:r>
              <a:rPr lang="en-GB" sz="1200" spc="0"/>
              <a:t>A number of new elements have been added since then (Salesforce, Asperato, Docushare, OneStream, and the transactional comms platform). As a result Connect will be a much more powerful technology platform than originally designed.</a:t>
            </a:r>
          </a:p>
          <a:p>
            <a:pPr>
              <a:lnSpc>
                <a:spcPct val="100000"/>
              </a:lnSpc>
            </a:pPr>
            <a:r>
              <a:rPr lang="en-GB" sz="1200" spc="0"/>
              <a:t>At the end of 2019 we also decided to phase the some of the programme deliverables, notably those linked to the Salesforce / MRI integration at the end of the lead-to-lease process. As a result some of the wider ‘Phase 1’ Connect functionality will be delivered after the original go-live date, and we will introduce a few manual workarounds to support the business process in the meantime. Some of the original requirements of the business were moved to a later ‘Phase 2’, alongside other requirements that emerged along the design</a:t>
            </a:r>
          </a:p>
          <a:p>
            <a:pPr>
              <a:lnSpc>
                <a:spcPct val="100000"/>
              </a:lnSpc>
            </a:pPr>
            <a:r>
              <a:rPr lang="en-GB" sz="1200" spc="0"/>
              <a:t>Finally, we worked through the detailed design of all systems and integrations. In the process, we gained more insight into the inner workings of the platform and made improvements to the overall architecture. </a:t>
            </a:r>
          </a:p>
          <a:p>
            <a:pPr>
              <a:lnSpc>
                <a:spcPct val="100000"/>
              </a:lnSpc>
            </a:pPr>
            <a:r>
              <a:rPr lang="en-GB" sz="1200" spc="0"/>
              <a:t>Now we are in a position to provide an up-to-date, detailed view of the functionality being delivered by the Connect programme, including the integrations, and how it will support Grainger’s main business processes.</a:t>
            </a:r>
          </a:p>
          <a:p>
            <a:pPr>
              <a:lnSpc>
                <a:spcPct val="100000"/>
              </a:lnSpc>
            </a:pPr>
            <a:r>
              <a:rPr lang="en-GB" sz="1200" spc="0"/>
              <a:t>The purpose of this document is to serve as a baseline of the Connect functionality supporting process groups 1-5, Integrations and MyGrainger Portal, as a brief clarification guide for the Granger user community and new joiners in the Connect programme, and as source of reference for further research.</a:t>
            </a:r>
          </a:p>
          <a:p>
            <a:pPr>
              <a:lnSpc>
                <a:spcPct val="100000"/>
              </a:lnSpc>
            </a:pPr>
            <a:r>
              <a:rPr lang="en-GB" sz="1200" spc="0"/>
              <a:t>There is still more granular / technical detail there is provided in this document, but we provide links to where the detail can be found.</a:t>
            </a:r>
          </a:p>
        </p:txBody>
      </p:sp>
      <p:sp>
        <p:nvSpPr>
          <p:cNvPr id="6" name="Title 5">
            <a:extLst>
              <a:ext uri="{FF2B5EF4-FFF2-40B4-BE49-F238E27FC236}">
                <a16:creationId xmlns:a16="http://schemas.microsoft.com/office/drawing/2014/main" id="{539D9F74-5ED6-49E1-8911-3B1581F8BEBC}"/>
              </a:ext>
            </a:extLst>
          </p:cNvPr>
          <p:cNvSpPr>
            <a:spLocks noGrp="1"/>
          </p:cNvSpPr>
          <p:nvPr>
            <p:ph type="title"/>
          </p:nvPr>
        </p:nvSpPr>
        <p:spPr/>
        <p:txBody>
          <a:bodyPr/>
          <a:lstStyle/>
          <a:p>
            <a:r>
              <a:rPr lang="en-GB"/>
              <a:t>Executive Summary</a:t>
            </a:r>
          </a:p>
        </p:txBody>
      </p:sp>
    </p:spTree>
    <p:extLst>
      <p:ext uri="{BB962C8B-B14F-4D97-AF65-F5344CB8AC3E}">
        <p14:creationId xmlns:p14="http://schemas.microsoft.com/office/powerpoint/2010/main" val="35938878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0000FF-AE42-4CE2-92D8-C2711E9CAFA0}"/>
              </a:ext>
            </a:extLst>
          </p:cNvPr>
          <p:cNvSpPr>
            <a:spLocks noGrp="1"/>
          </p:cNvSpPr>
          <p:nvPr>
            <p:ph idx="1"/>
          </p:nvPr>
        </p:nvSpPr>
        <p:spPr>
          <a:xfrm>
            <a:off x="358775" y="2258088"/>
            <a:ext cx="8426450" cy="3918875"/>
          </a:xfrm>
        </p:spPr>
        <p:txBody>
          <a:bodyPr>
            <a:noAutofit/>
          </a:bodyPr>
          <a:lstStyle/>
          <a:p>
            <a:pPr lvl="1">
              <a:spcBef>
                <a:spcPts val="600"/>
              </a:spcBef>
            </a:pPr>
            <a:r>
              <a:rPr lang="en-GB" sz="1400" b="1" spc="0">
                <a:solidFill>
                  <a:srgbClr val="4D858D"/>
                </a:solidFill>
                <a:latin typeface="Montserrat" panose="00000500000000000000" pitchFamily="50" charset="0"/>
              </a:rPr>
              <a:t>Phase 1 Core – the delivery of the core Connect Platform</a:t>
            </a:r>
          </a:p>
          <a:p>
            <a:pPr lvl="2"/>
            <a:r>
              <a:rPr lang="en-GB" sz="1200" spc="0">
                <a:latin typeface="Montserrat" panose="00000500000000000000" pitchFamily="50" charset="0"/>
              </a:rPr>
              <a:t>Elements delivered include MRI, FSI, </a:t>
            </a:r>
            <a:r>
              <a:rPr lang="en-GB" sz="1200" spc="0" err="1">
                <a:latin typeface="Montserrat" panose="00000500000000000000" pitchFamily="50" charset="0"/>
              </a:rPr>
              <a:t>Proactis</a:t>
            </a:r>
            <a:r>
              <a:rPr lang="en-GB" sz="1200" spc="0">
                <a:latin typeface="Montserrat" panose="00000500000000000000" pitchFamily="50" charset="0"/>
              </a:rPr>
              <a:t>, Salesforce, and </a:t>
            </a:r>
            <a:r>
              <a:rPr lang="en-GB" sz="1200" spc="0" err="1">
                <a:latin typeface="Montserrat" panose="00000500000000000000" pitchFamily="50" charset="0"/>
              </a:rPr>
              <a:t>Docushare</a:t>
            </a:r>
            <a:endParaRPr lang="en-GB" sz="1200" spc="0">
              <a:latin typeface="Montserrat" panose="00000500000000000000" pitchFamily="50" charset="0"/>
            </a:endParaRPr>
          </a:p>
          <a:p>
            <a:pPr lvl="2"/>
            <a:r>
              <a:rPr lang="en-GB" sz="1200" spc="0">
                <a:latin typeface="Montserrat" panose="00000500000000000000" pitchFamily="50" charset="0"/>
              </a:rPr>
              <a:t>Some elements of have manual workarounds in place to protect the delivery of the programme</a:t>
            </a:r>
          </a:p>
          <a:p>
            <a:pPr lvl="1">
              <a:spcBef>
                <a:spcPts val="600"/>
              </a:spcBef>
            </a:pPr>
            <a:r>
              <a:rPr lang="en-GB" sz="1400" b="1" spc="0">
                <a:solidFill>
                  <a:srgbClr val="4D858D"/>
                </a:solidFill>
                <a:latin typeface="Montserrat" panose="00000500000000000000" pitchFamily="50" charset="0"/>
              </a:rPr>
              <a:t>Phase 1 Portal – the delivery of the “My Grainger” Customer Portal</a:t>
            </a:r>
          </a:p>
          <a:p>
            <a:pPr lvl="2"/>
            <a:r>
              <a:rPr lang="en-GB" sz="1200" spc="0">
                <a:latin typeface="Montserrat" panose="00000500000000000000" pitchFamily="50" charset="0"/>
              </a:rPr>
              <a:t>My Grainger Portal has been decoupled from the core release to de-risk delivery of the Connect Platform</a:t>
            </a:r>
          </a:p>
          <a:p>
            <a:pPr lvl="2"/>
            <a:r>
              <a:rPr lang="en-GB" sz="1200" spc="0">
                <a:latin typeface="Montserrat" panose="00000500000000000000" pitchFamily="50" charset="0"/>
              </a:rPr>
              <a:t>The Phase 1 release will be constrained in functionality by Phase 1 of the core Connect systems</a:t>
            </a:r>
          </a:p>
          <a:p>
            <a:pPr lvl="1">
              <a:spcBef>
                <a:spcPts val="600"/>
              </a:spcBef>
            </a:pPr>
            <a:r>
              <a:rPr lang="en-GB" sz="1400" b="1" spc="0">
                <a:solidFill>
                  <a:srgbClr val="4D858D"/>
                </a:solidFill>
                <a:latin typeface="Montserrat" panose="00000500000000000000" pitchFamily="50" charset="0"/>
              </a:rPr>
              <a:t>Phase 1 post go-live – the delivery of items committed to as part of ‘Option 4’</a:t>
            </a:r>
          </a:p>
          <a:p>
            <a:pPr lvl="2"/>
            <a:r>
              <a:rPr lang="en-GB" sz="1200" spc="0">
                <a:latin typeface="Montserrat" panose="00000500000000000000" pitchFamily="50" charset="0"/>
              </a:rPr>
              <a:t>Leasing Integrations – delivered by the Connect programme, with funding to deliver this already agreed</a:t>
            </a:r>
            <a:endParaRPr lang="en-GB" sz="1400" b="1" spc="0">
              <a:latin typeface="Montserrat" panose="00000500000000000000" pitchFamily="50" charset="0"/>
            </a:endParaRPr>
          </a:p>
          <a:p>
            <a:pPr lvl="1">
              <a:spcBef>
                <a:spcPts val="600"/>
              </a:spcBef>
            </a:pPr>
            <a:r>
              <a:rPr lang="en-GB" sz="1400" b="1" spc="0">
                <a:solidFill>
                  <a:schemeClr val="tx1">
                    <a:lumMod val="60000"/>
                    <a:lumOff val="40000"/>
                  </a:schemeClr>
                </a:solidFill>
                <a:latin typeface="Montserrat" panose="00000500000000000000" pitchFamily="50" charset="0"/>
              </a:rPr>
              <a:t> 2 – a subsequent phase of Connect comprising</a:t>
            </a:r>
          </a:p>
          <a:p>
            <a:pPr lvl="2"/>
            <a:r>
              <a:rPr lang="en-GB" sz="1200" spc="0">
                <a:solidFill>
                  <a:schemeClr val="tx1">
                    <a:lumMod val="60000"/>
                    <a:lumOff val="40000"/>
                  </a:schemeClr>
                </a:solidFill>
                <a:latin typeface="Montserrat" panose="00000500000000000000" pitchFamily="50" charset="0"/>
              </a:rPr>
              <a:t>Other Requirements – a backlog of prioritised and scoped functionality which will require further funding</a:t>
            </a:r>
          </a:p>
          <a:p>
            <a:pPr lvl="2"/>
            <a:r>
              <a:rPr lang="en-GB" sz="1200" spc="0">
                <a:solidFill>
                  <a:schemeClr val="tx1">
                    <a:lumMod val="60000"/>
                    <a:lumOff val="40000"/>
                  </a:schemeClr>
                </a:solidFill>
                <a:latin typeface="Montserrat" panose="00000500000000000000" pitchFamily="50" charset="0"/>
              </a:rPr>
              <a:t>Phase 2 delivery will be iterative, meaning it will deliver functionality as soon as it is developed and the business is ready for it</a:t>
            </a:r>
          </a:p>
          <a:p>
            <a:pPr lvl="1">
              <a:spcBef>
                <a:spcPts val="600"/>
              </a:spcBef>
            </a:pPr>
            <a:r>
              <a:rPr lang="en-GB" sz="1400" b="1" spc="0">
                <a:solidFill>
                  <a:schemeClr val="tx1">
                    <a:lumMod val="60000"/>
                    <a:lumOff val="40000"/>
                  </a:schemeClr>
                </a:solidFill>
                <a:latin typeface="Montserrat" panose="00000500000000000000" pitchFamily="50" charset="0"/>
              </a:rPr>
              <a:t>Grainger Continual Improvement – an ongoing programme of work to deliver incremental improvements to the Connect Platform</a:t>
            </a:r>
          </a:p>
          <a:p>
            <a:pPr lvl="2"/>
            <a:r>
              <a:rPr lang="en-GB" sz="1200" spc="0">
                <a:solidFill>
                  <a:schemeClr val="tx1">
                    <a:lumMod val="60000"/>
                    <a:lumOff val="40000"/>
                  </a:schemeClr>
                </a:solidFill>
                <a:latin typeface="Montserrat" panose="00000500000000000000" pitchFamily="50" charset="0"/>
              </a:rPr>
              <a:t>The Connect Programme will no longer exist in its current form</a:t>
            </a:r>
          </a:p>
          <a:p>
            <a:pPr lvl="2"/>
            <a:r>
              <a:rPr lang="en-GB" sz="1200" spc="0">
                <a:solidFill>
                  <a:schemeClr val="tx1">
                    <a:lumMod val="60000"/>
                    <a:lumOff val="40000"/>
                  </a:schemeClr>
                </a:solidFill>
                <a:latin typeface="Montserrat" panose="00000500000000000000" pitchFamily="50" charset="0"/>
              </a:rPr>
              <a:t>These delivery activities will be managed by Grainger and its suppliers</a:t>
            </a:r>
          </a:p>
        </p:txBody>
      </p:sp>
      <p:sp>
        <p:nvSpPr>
          <p:cNvPr id="3" name="Footer Placeholder 2">
            <a:extLst>
              <a:ext uri="{FF2B5EF4-FFF2-40B4-BE49-F238E27FC236}">
                <a16:creationId xmlns:a16="http://schemas.microsoft.com/office/drawing/2014/main" id="{D2521CAD-95F2-4519-A379-33BFEFE0B871}"/>
              </a:ext>
            </a:extLst>
          </p:cNvPr>
          <p:cNvSpPr>
            <a:spLocks noGrp="1"/>
          </p:cNvSpPr>
          <p:nvPr>
            <p:ph type="ftr" sz="quarter" idx="11"/>
          </p:nvPr>
        </p:nvSpPr>
        <p:spPr/>
        <p:txBody>
          <a:bodyPr/>
          <a:lstStyle/>
          <a:p>
            <a:r>
              <a:rPr lang="en-GB"/>
              <a:t>Grainger Plc  |  www.graingerplc.co.uk    |  Connect Programme |  May 2020</a:t>
            </a:r>
          </a:p>
        </p:txBody>
      </p:sp>
      <p:sp>
        <p:nvSpPr>
          <p:cNvPr id="4" name="Slide Number Placeholder 3">
            <a:extLst>
              <a:ext uri="{FF2B5EF4-FFF2-40B4-BE49-F238E27FC236}">
                <a16:creationId xmlns:a16="http://schemas.microsoft.com/office/drawing/2014/main" id="{DC9A5F3B-98B6-495C-9767-AA40C8E243D5}"/>
              </a:ext>
            </a:extLst>
          </p:cNvPr>
          <p:cNvSpPr>
            <a:spLocks noGrp="1"/>
          </p:cNvSpPr>
          <p:nvPr>
            <p:ph type="sldNum" sz="quarter" idx="12"/>
          </p:nvPr>
        </p:nvSpPr>
        <p:spPr/>
        <p:txBody>
          <a:bodyPr/>
          <a:lstStyle/>
          <a:p>
            <a:fld id="{0D32313A-DEBC-4CA4-B008-A02D4ABE2C72}" type="slidenum">
              <a:rPr lang="en-GB" smtClean="0"/>
              <a:t>3</a:t>
            </a:fld>
            <a:endParaRPr lang="en-GB"/>
          </a:p>
        </p:txBody>
      </p:sp>
      <p:sp>
        <p:nvSpPr>
          <p:cNvPr id="5" name="Title 4">
            <a:extLst>
              <a:ext uri="{FF2B5EF4-FFF2-40B4-BE49-F238E27FC236}">
                <a16:creationId xmlns:a16="http://schemas.microsoft.com/office/drawing/2014/main" id="{9D2C817D-A6EB-4719-BC60-D2A57F4A68C1}"/>
              </a:ext>
            </a:extLst>
          </p:cNvPr>
          <p:cNvSpPr>
            <a:spLocks noGrp="1"/>
          </p:cNvSpPr>
          <p:nvPr>
            <p:ph type="title"/>
          </p:nvPr>
        </p:nvSpPr>
        <p:spPr/>
        <p:txBody>
          <a:bodyPr/>
          <a:lstStyle/>
          <a:p>
            <a:r>
              <a:rPr lang="en-GB"/>
              <a:t>Connect Delivery - Phasing</a:t>
            </a:r>
          </a:p>
        </p:txBody>
      </p:sp>
      <p:sp>
        <p:nvSpPr>
          <p:cNvPr id="6" name="Content Placeholder 2">
            <a:extLst>
              <a:ext uri="{FF2B5EF4-FFF2-40B4-BE49-F238E27FC236}">
                <a16:creationId xmlns:a16="http://schemas.microsoft.com/office/drawing/2014/main" id="{21BBF560-3CAE-43F9-8A0C-865CD1D40216}"/>
              </a:ext>
            </a:extLst>
          </p:cNvPr>
          <p:cNvSpPr txBox="1">
            <a:spLocks/>
          </p:cNvSpPr>
          <p:nvPr/>
        </p:nvSpPr>
        <p:spPr>
          <a:xfrm>
            <a:off x="358774" y="1248947"/>
            <a:ext cx="8426449" cy="898881"/>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1200"/>
              </a:spcBef>
              <a:buNone/>
            </a:pPr>
            <a:r>
              <a:rPr lang="en-GB" sz="1200">
                <a:solidFill>
                  <a:schemeClr val="accent2"/>
                </a:solidFill>
                <a:latin typeface="Montserrat" panose="02000505000000020004" pitchFamily="2" charset="0"/>
                <a:ea typeface="+mn-ea"/>
                <a:cs typeface="+mn-cs"/>
              </a:rPr>
              <a:t>As we approach launching Phase 1 of the Connect Platform, we outline our phased approach to delivery, with ‘Phase 1’ divided into 3 distinct milestones, and a subsequent ‘Phase 2’ to enhance / complement the capabilities of the Platform. In this discussion we will focus on the ‘Phase 1’ elements  - there will be a specific discussion about the shape of and approach to Phase 2.</a:t>
            </a:r>
          </a:p>
        </p:txBody>
      </p:sp>
      <p:sp>
        <p:nvSpPr>
          <p:cNvPr id="8" name="Rectangle 7">
            <a:extLst>
              <a:ext uri="{FF2B5EF4-FFF2-40B4-BE49-F238E27FC236}">
                <a16:creationId xmlns:a16="http://schemas.microsoft.com/office/drawing/2014/main" id="{301061DA-0939-46C2-9957-C3501869D4F9}"/>
              </a:ext>
            </a:extLst>
          </p:cNvPr>
          <p:cNvSpPr/>
          <p:nvPr/>
        </p:nvSpPr>
        <p:spPr>
          <a:xfrm>
            <a:off x="201336" y="4353887"/>
            <a:ext cx="8699383" cy="1974548"/>
          </a:xfrm>
          <a:prstGeom prst="rect">
            <a:avLst/>
          </a:prstGeom>
          <a:solidFill>
            <a:schemeClr val="bg1">
              <a:alpha val="50000"/>
            </a:schemeClr>
          </a:solidFill>
          <a:ln>
            <a:solidFill>
              <a:schemeClr val="tx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BC1DDD6-646F-4AA3-8C04-4538DDF4F0CB}"/>
              </a:ext>
            </a:extLst>
          </p:cNvPr>
          <p:cNvSpPr/>
          <p:nvPr/>
        </p:nvSpPr>
        <p:spPr>
          <a:xfrm>
            <a:off x="6350466" y="5553512"/>
            <a:ext cx="2434757" cy="62345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latin typeface="Montserrat" panose="00000500000000000000" pitchFamily="50" charset="0"/>
              </a:rPr>
              <a:t>The Approach to Phase 2 is not part of today’s discussion</a:t>
            </a:r>
          </a:p>
        </p:txBody>
      </p:sp>
    </p:spTree>
    <p:extLst>
      <p:ext uri="{BB962C8B-B14F-4D97-AF65-F5344CB8AC3E}">
        <p14:creationId xmlns:p14="http://schemas.microsoft.com/office/powerpoint/2010/main" val="4058060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00CAFD-3443-40A6-8B63-F23FAF34FA64}"/>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0D32313A-DEBC-4CA4-B008-A02D4ABE2C72}" type="slidenum">
              <a:rPr kumimoji="0" lang="en-GB" sz="900" b="0" i="0" u="none" strike="noStrike" kern="1200" cap="none" spc="0" normalizeH="0" baseline="0" noProof="0" smtClean="0">
                <a:ln>
                  <a:noFill/>
                </a:ln>
                <a:solidFill>
                  <a:srgbClr val="4D858D">
                    <a:lumMod val="75000"/>
                  </a:srgbClr>
                </a:solidFill>
                <a:effectLst/>
                <a:uLnTx/>
                <a:uFillTx/>
                <a:latin typeface="Montserrat" panose="02000505000000020004" pitchFamily="2"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4</a:t>
            </a:fld>
            <a:endParaRPr kumimoji="0" lang="en-GB" sz="900" b="0" i="0" u="none" strike="noStrike" kern="1200" cap="none" spc="0" normalizeH="0" baseline="0" noProof="0">
              <a:ln>
                <a:noFill/>
              </a:ln>
              <a:solidFill>
                <a:srgbClr val="4D858D">
                  <a:lumMod val="75000"/>
                </a:srgbClr>
              </a:solidFill>
              <a:effectLst/>
              <a:uLnTx/>
              <a:uFillTx/>
              <a:latin typeface="Montserrat" panose="02000505000000020004" pitchFamily="2" charset="0"/>
              <a:ea typeface="+mn-ea"/>
              <a:cs typeface="+mn-cs"/>
            </a:endParaRPr>
          </a:p>
        </p:txBody>
      </p:sp>
      <p:sp>
        <p:nvSpPr>
          <p:cNvPr id="4" name="Title 3">
            <a:extLst>
              <a:ext uri="{FF2B5EF4-FFF2-40B4-BE49-F238E27FC236}">
                <a16:creationId xmlns:a16="http://schemas.microsoft.com/office/drawing/2014/main" id="{58437336-97CC-4622-AC51-6165DF9D3380}"/>
              </a:ext>
            </a:extLst>
          </p:cNvPr>
          <p:cNvSpPr>
            <a:spLocks noGrp="1"/>
          </p:cNvSpPr>
          <p:nvPr>
            <p:ph type="title"/>
          </p:nvPr>
        </p:nvSpPr>
        <p:spPr/>
        <p:txBody>
          <a:bodyPr/>
          <a:lstStyle/>
          <a:p>
            <a:r>
              <a:rPr lang="en-GB"/>
              <a:t>Elements of the Connect Platform</a:t>
            </a:r>
          </a:p>
        </p:txBody>
      </p:sp>
      <p:sp>
        <p:nvSpPr>
          <p:cNvPr id="5" name="Content Placeholder 1">
            <a:extLst>
              <a:ext uri="{FF2B5EF4-FFF2-40B4-BE49-F238E27FC236}">
                <a16:creationId xmlns:a16="http://schemas.microsoft.com/office/drawing/2014/main" id="{832CBF09-5816-4B2E-97B7-09C5D4191E61}"/>
              </a:ext>
            </a:extLst>
          </p:cNvPr>
          <p:cNvSpPr>
            <a:spLocks noGrp="1"/>
          </p:cNvSpPr>
          <p:nvPr>
            <p:ph idx="1"/>
          </p:nvPr>
        </p:nvSpPr>
        <p:spPr>
          <a:xfrm>
            <a:off x="358774" y="875787"/>
            <a:ext cx="8426450" cy="1117673"/>
          </a:xfrm>
        </p:spPr>
        <p:txBody>
          <a:bodyPr>
            <a:noAutofit/>
          </a:bodyPr>
          <a:lstStyle/>
          <a:p>
            <a:pPr>
              <a:lnSpc>
                <a:spcPct val="110000"/>
              </a:lnSpc>
            </a:pPr>
            <a:r>
              <a:rPr lang="en-US" sz="1200" spc="0">
                <a:solidFill>
                  <a:srgbClr val="4D858D"/>
                </a:solidFill>
                <a:latin typeface="Montserrat"/>
              </a:rPr>
              <a:t>Connect will be the leading and most comprehensive technology platform in the property sector. Its scope includes best-in-class solutions in 12 different areas:</a:t>
            </a:r>
          </a:p>
        </p:txBody>
      </p:sp>
      <p:sp>
        <p:nvSpPr>
          <p:cNvPr id="16" name="Footer Placeholder 2">
            <a:extLst>
              <a:ext uri="{FF2B5EF4-FFF2-40B4-BE49-F238E27FC236}">
                <a16:creationId xmlns:a16="http://schemas.microsoft.com/office/drawing/2014/main" id="{45F1657C-1BAF-444D-B9E0-325FCA42ED83}"/>
              </a:ext>
            </a:extLst>
          </p:cNvPr>
          <p:cNvSpPr txBox="1">
            <a:spLocks/>
          </p:cNvSpPr>
          <p:nvPr/>
        </p:nvSpPr>
        <p:spPr>
          <a:xfrm>
            <a:off x="1392775" y="6480640"/>
            <a:ext cx="4788177" cy="227300"/>
          </a:xfrm>
          <a:prstGeom prst="rect">
            <a:avLst/>
          </a:prstGeom>
        </p:spPr>
        <p:txBody>
          <a:bodyPr vert="horz" lIns="91440" tIns="45720" rIns="91440" bIns="45720" rtlCol="0" anchor="ctr"/>
          <a:lstStyle>
            <a:defPPr>
              <a:defRPr lang="en-US"/>
            </a:defPPr>
            <a:lvl1pPr marL="0" algn="l" defTabSz="457200" rtl="0" eaLnBrk="1" latinLnBrk="0" hangingPunct="1">
              <a:defRPr sz="600" b="0" kern="1200" spc="-20" baseline="0">
                <a:solidFill>
                  <a:schemeClr val="accent2"/>
                </a:solidFill>
                <a:latin typeface="Montserrat" panose="0200050500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20" normalizeH="0" baseline="0" noProof="0">
                <a:ln>
                  <a:noFill/>
                </a:ln>
                <a:solidFill>
                  <a:srgbClr val="4D858D"/>
                </a:solidFill>
                <a:effectLst/>
                <a:uLnTx/>
                <a:uFillTx/>
                <a:latin typeface="Montserrat" panose="02000505000000020004" pitchFamily="2" charset="0"/>
                <a:ea typeface="+mn-ea"/>
                <a:cs typeface="+mn-cs"/>
              </a:rPr>
              <a:t>Grainger Plc  |  www.graingerplc.co.uk    |   Board Update   |    February 2019</a:t>
            </a:r>
          </a:p>
        </p:txBody>
      </p:sp>
      <p:graphicFrame>
        <p:nvGraphicFramePr>
          <p:cNvPr id="22" name="Table 21">
            <a:extLst>
              <a:ext uri="{FF2B5EF4-FFF2-40B4-BE49-F238E27FC236}">
                <a16:creationId xmlns:a16="http://schemas.microsoft.com/office/drawing/2014/main" id="{FEC783C2-BFAC-4A85-BC42-C1D4B1245D66}"/>
              </a:ext>
            </a:extLst>
          </p:cNvPr>
          <p:cNvGraphicFramePr>
            <a:graphicFrameLocks noGrp="1"/>
          </p:cNvGraphicFramePr>
          <p:nvPr>
            <p:extLst>
              <p:ext uri="{D42A27DB-BD31-4B8C-83A1-F6EECF244321}">
                <p14:modId xmlns:p14="http://schemas.microsoft.com/office/powerpoint/2010/main" val="921035975"/>
              </p:ext>
            </p:extLst>
          </p:nvPr>
        </p:nvGraphicFramePr>
        <p:xfrm>
          <a:off x="343949" y="1357880"/>
          <a:ext cx="8472882" cy="4988880"/>
        </p:xfrm>
        <a:graphic>
          <a:graphicData uri="http://schemas.openxmlformats.org/drawingml/2006/table">
            <a:tbl>
              <a:tblPr firstRow="1">
                <a:tableStyleId>{5C22544A-7EE6-4342-B048-85BDC9FD1C3A}</a:tableStyleId>
              </a:tblPr>
              <a:tblGrid>
                <a:gridCol w="2335751">
                  <a:extLst>
                    <a:ext uri="{9D8B030D-6E8A-4147-A177-3AD203B41FA5}">
                      <a16:colId xmlns:a16="http://schemas.microsoft.com/office/drawing/2014/main" val="2779722427"/>
                    </a:ext>
                  </a:extLst>
                </a:gridCol>
                <a:gridCol w="1238250">
                  <a:extLst>
                    <a:ext uri="{9D8B030D-6E8A-4147-A177-3AD203B41FA5}">
                      <a16:colId xmlns:a16="http://schemas.microsoft.com/office/drawing/2014/main" val="3006840810"/>
                    </a:ext>
                  </a:extLst>
                </a:gridCol>
                <a:gridCol w="4898881">
                  <a:extLst>
                    <a:ext uri="{9D8B030D-6E8A-4147-A177-3AD203B41FA5}">
                      <a16:colId xmlns:a16="http://schemas.microsoft.com/office/drawing/2014/main" val="3619650766"/>
                    </a:ext>
                  </a:extLst>
                </a:gridCol>
              </a:tblGrid>
              <a:tr h="234875">
                <a:tc>
                  <a:txBody>
                    <a:bodyPr/>
                    <a:lstStyle/>
                    <a:p>
                      <a:r>
                        <a:rPr lang="en-GB" sz="1200">
                          <a:latin typeface="+mj-lt"/>
                        </a:rPr>
                        <a:t>Solution</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a:latin typeface="+mj-lt"/>
                        </a:rPr>
                        <a:t>Supplier</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r>
                        <a:rPr lang="en-GB" sz="1200">
                          <a:latin typeface="+mj-lt"/>
                        </a:rPr>
                        <a:t>Comments</a:t>
                      </a:r>
                    </a:p>
                  </a:txBody>
                  <a:tcP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extLst>
                  <a:ext uri="{0D108BD9-81ED-4DB2-BD59-A6C34878D82A}">
                    <a16:rowId xmlns:a16="http://schemas.microsoft.com/office/drawing/2014/main" val="22099963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Core ERP and Financial Operations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a:t>MRI is a comprehensive and flexible platform able to support every aspect of real estate management. Grainger is a pioneer adopting MRI in the UK</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12619172"/>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Property and Supplier</a:t>
                      </a:r>
                      <a:br>
                        <a:rPr kumimoji="0" lang="en-GB" sz="1100" b="0" i="0" u="none" strike="noStrike" kern="1200" cap="none" spc="-60" normalizeH="0" baseline="0" noProof="0">
                          <a:ln>
                            <a:noFill/>
                          </a:ln>
                          <a:solidFill>
                            <a:schemeClr val="accent2"/>
                          </a:solidFill>
                          <a:effectLst/>
                          <a:uLnTx/>
                          <a:uFillTx/>
                          <a:latin typeface="+mj-lt"/>
                          <a:ea typeface="+mn-ea"/>
                          <a:cs typeface="+mn-cs"/>
                        </a:rPr>
                      </a:br>
                      <a:r>
                        <a:rPr kumimoji="0" lang="en-GB" sz="1100" b="0" i="0" u="none" strike="noStrike" kern="1200" cap="none" spc="-60" normalizeH="0" baseline="0" noProof="0">
                          <a:ln>
                            <a:noFill/>
                          </a:ln>
                          <a:solidFill>
                            <a:schemeClr val="accent2"/>
                          </a:solidFill>
                          <a:effectLst/>
                          <a:uLnTx/>
                          <a:uFillTx/>
                          <a:latin typeface="+mj-lt"/>
                          <a:ea typeface="+mn-ea"/>
                          <a:cs typeface="+mn-cs"/>
                        </a:rPr>
                        <a:t>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a:t>FSI Concept Evolution connects our customers and our suppliers for repairs. It replaces and improves on the </a:t>
                      </a:r>
                      <a:r>
                        <a:rPr lang="en-GB" sz="1000" err="1"/>
                        <a:t>CORAS</a:t>
                      </a:r>
                      <a:r>
                        <a:rPr lang="en-GB" sz="1000"/>
                        <a:t> HSE solution.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52388259"/>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Purchase to Pay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r>
                        <a:rPr lang="en-GB" sz="1000"/>
                        <a:t>ProActis is a step change in how Grainger processes supplier invoices, providing strong controls and minimal human intervention</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86010717"/>
                  </a:ext>
                </a:extLst>
              </a:tr>
              <a:tr h="392880">
                <a:tc>
                  <a:txBody>
                    <a:bodyPr/>
                    <a:lstStyle/>
                    <a:p>
                      <a:pPr marL="0" marR="0" lvl="0" indent="0" algn="l" defTabSz="457200" rtl="0" eaLnBrk="1" fontAlgn="auto" latinLnBrk="0" hangingPunct="1">
                        <a:lnSpc>
                          <a:spcPct val="100000"/>
                        </a:lnSpc>
                        <a:spcBef>
                          <a:spcPts val="0"/>
                        </a:spcBef>
                        <a:spcAft>
                          <a:spcPts val="0"/>
                        </a:spcAft>
                        <a:buClr>
                          <a:srgbClr val="4D858D"/>
                        </a:buClr>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Customer Relationship / Online Leasing Journey</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tc>
                  <a:txBody>
                    <a:bodyPr/>
                    <a:lstStyle/>
                    <a:p>
                      <a:r>
                        <a:rPr lang="en-GB" sz="1000"/>
                        <a:t>Salesforce is the world’s leading customer relationship management solution. It provides a single view of our customers and prospects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EEF5F5"/>
                    </a:solidFill>
                  </a:tcPr>
                </a:tc>
                <a:extLst>
                  <a:ext uri="{0D108BD9-81ED-4DB2-BD59-A6C34878D82A}">
                    <a16:rowId xmlns:a16="http://schemas.microsoft.com/office/drawing/2014/main" val="3648367981"/>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Customer Portal</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AND Digital is building the digital interfaces through which the customer interacts with Grainger: the leasing portal and the MyGrainger portal</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8280110"/>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Payments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err="1">
                          <a:solidFill>
                            <a:schemeClr val="dk1"/>
                          </a:solidFill>
                          <a:latin typeface="+mn-lt"/>
                          <a:ea typeface="+mn-ea"/>
                          <a:cs typeface="+mn-cs"/>
                        </a:rPr>
                        <a:t>Asperato</a:t>
                      </a:r>
                      <a:r>
                        <a:rPr lang="en-GB" sz="1000" kern="1200" noProof="0">
                          <a:solidFill>
                            <a:schemeClr val="dk1"/>
                          </a:solidFill>
                          <a:latin typeface="+mn-lt"/>
                          <a:ea typeface="+mn-ea"/>
                          <a:cs typeface="+mn-cs"/>
                        </a:rPr>
                        <a:t> is a leading customer payments solution for Direct Debit and Card. It is integrated with Salesforce and PCI compliant.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6604516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Document Management</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We are upgrading our Document Management solution to better capture and tag documents across the entire Connect platform.</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026660765"/>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Revenue Optimisation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Grainger is a pioneer in the UK market adopting YieldStar to optimise rent occupancy rates and pricing, based on real time data.</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493926654"/>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Financial Planning</a:t>
                      </a:r>
                      <a:br>
                        <a:rPr kumimoji="0" lang="en-GB" sz="1100" b="0" i="0" u="none" strike="noStrike" kern="1200" cap="none" spc="-60" normalizeH="0" baseline="0" noProof="0">
                          <a:ln>
                            <a:noFill/>
                          </a:ln>
                          <a:solidFill>
                            <a:schemeClr val="accent2"/>
                          </a:solidFill>
                          <a:effectLst/>
                          <a:uLnTx/>
                          <a:uFillTx/>
                          <a:latin typeface="+mj-lt"/>
                          <a:ea typeface="+mn-ea"/>
                          <a:cs typeface="+mn-cs"/>
                        </a:rPr>
                      </a:br>
                      <a:r>
                        <a:rPr kumimoji="0" lang="en-GB" sz="1100" b="0" i="0" u="none" strike="noStrike" kern="1200" cap="none" spc="-60" normalizeH="0" baseline="0" noProof="0">
                          <a:ln>
                            <a:noFill/>
                          </a:ln>
                          <a:solidFill>
                            <a:schemeClr val="accent2"/>
                          </a:solidFill>
                          <a:effectLst/>
                          <a:uLnTx/>
                          <a:uFillTx/>
                          <a:latin typeface="+mj-lt"/>
                          <a:ea typeface="+mn-ea"/>
                          <a:cs typeface="+mn-cs"/>
                        </a:rPr>
                        <a:t>&amp; Analysis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As a unified Platform for Corporate Performance Management, OneStream will generate consolidated reports automatically integrated with Connect</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4226706462"/>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Business Intelligence</a:t>
                      </a:r>
                      <a:br>
                        <a:rPr kumimoji="0" lang="en-GB" sz="1100" b="0" i="0" u="none" strike="noStrike" kern="1200" cap="none" spc="-60" normalizeH="0" baseline="0" noProof="0">
                          <a:ln>
                            <a:noFill/>
                          </a:ln>
                          <a:solidFill>
                            <a:schemeClr val="accent2"/>
                          </a:solidFill>
                          <a:effectLst/>
                          <a:uLnTx/>
                          <a:uFillTx/>
                          <a:latin typeface="+mj-lt"/>
                          <a:ea typeface="+mn-ea"/>
                          <a:cs typeface="+mn-cs"/>
                        </a:rPr>
                      </a:br>
                      <a:r>
                        <a:rPr kumimoji="0" lang="en-GB" sz="1100" b="0" i="0" u="none" strike="noStrike" kern="1200" cap="none" spc="-60" normalizeH="0" baseline="0" noProof="0">
                          <a:ln>
                            <a:noFill/>
                          </a:ln>
                          <a:solidFill>
                            <a:schemeClr val="accent2"/>
                          </a:solidFill>
                          <a:effectLst/>
                          <a:uLnTx/>
                          <a:uFillTx/>
                          <a:latin typeface="+mj-lt"/>
                          <a:ea typeface="+mn-ea"/>
                          <a:cs typeface="+mn-cs"/>
                        </a:rPr>
                        <a:t>&amp; Analytics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Our new Data Warehouse follows a industry best practice and will set the basis to drive customer insight in the long term </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93767659"/>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Transactional Communications</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Our transactional communications will be managed by best-in-class tools in a way that is consistent to the customer and efficient for Grainger.</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225970606"/>
                  </a:ext>
                </a:extLst>
              </a:tr>
              <a:tr h="3928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60" normalizeH="0" baseline="0" noProof="0">
                          <a:ln>
                            <a:noFill/>
                          </a:ln>
                          <a:solidFill>
                            <a:schemeClr val="accent2"/>
                          </a:solidFill>
                          <a:effectLst/>
                          <a:uLnTx/>
                          <a:uFillTx/>
                          <a:latin typeface="+mj-lt"/>
                          <a:ea typeface="+mn-ea"/>
                          <a:cs typeface="+mn-cs"/>
                        </a:rPr>
                        <a:t>System Integration</a:t>
                      </a:r>
                    </a:p>
                  </a:txBody>
                  <a:tcPr marL="468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endParaRPr lang="en-GB"/>
                    </a:p>
                  </a:txBody>
                  <a:tcPr marT="28800" marB="288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kern="1200" noProof="0">
                          <a:solidFill>
                            <a:schemeClr val="dk1"/>
                          </a:solidFill>
                          <a:latin typeface="+mn-lt"/>
                          <a:ea typeface="+mn-ea"/>
                          <a:cs typeface="+mn-cs"/>
                        </a:rPr>
                        <a:t>Our integration layer future-proofs the Connect platform, by allowing the upgrade, removal or addition of technology components</a:t>
                      </a:r>
                    </a:p>
                  </a:txBody>
                  <a:tcPr marL="72000" marR="72000" marT="28800" marB="288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tcPr>
                </a:tc>
                <a:extLst>
                  <a:ext uri="{0D108BD9-81ED-4DB2-BD59-A6C34878D82A}">
                    <a16:rowId xmlns:a16="http://schemas.microsoft.com/office/drawing/2014/main" val="3177792761"/>
                  </a:ext>
                </a:extLst>
              </a:tr>
            </a:tbl>
          </a:graphicData>
        </a:graphic>
      </p:graphicFrame>
      <p:grpSp>
        <p:nvGrpSpPr>
          <p:cNvPr id="23" name="Group 22">
            <a:extLst>
              <a:ext uri="{FF2B5EF4-FFF2-40B4-BE49-F238E27FC236}">
                <a16:creationId xmlns:a16="http://schemas.microsoft.com/office/drawing/2014/main" id="{BB0166BB-674C-4DFC-A575-87B6D5BB48C3}"/>
              </a:ext>
            </a:extLst>
          </p:cNvPr>
          <p:cNvGrpSpPr/>
          <p:nvPr/>
        </p:nvGrpSpPr>
        <p:grpSpPr>
          <a:xfrm>
            <a:off x="367603" y="2423022"/>
            <a:ext cx="362504" cy="381140"/>
            <a:chOff x="358772" y="3729340"/>
            <a:chExt cx="670921" cy="705411"/>
          </a:xfrm>
        </p:grpSpPr>
        <p:sp>
          <p:nvSpPr>
            <p:cNvPr id="24" name="Freeform 35">
              <a:extLst>
                <a:ext uri="{FF2B5EF4-FFF2-40B4-BE49-F238E27FC236}">
                  <a16:creationId xmlns:a16="http://schemas.microsoft.com/office/drawing/2014/main" id="{96215F5A-A5D1-4F41-8A61-203AEB099DFF}"/>
                </a:ext>
              </a:extLst>
            </p:cNvPr>
            <p:cNvSpPr>
              <a:spLocks/>
            </p:cNvSpPr>
            <p:nvPr/>
          </p:nvSpPr>
          <p:spPr bwMode="auto">
            <a:xfrm>
              <a:off x="358772"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25" name="Graphic 24" descr="Contract">
              <a:extLst>
                <a:ext uri="{FF2B5EF4-FFF2-40B4-BE49-F238E27FC236}">
                  <a16:creationId xmlns:a16="http://schemas.microsoft.com/office/drawing/2014/main" id="{CAEC1E8C-E8FA-4F8D-A8FE-A9EAFC7D66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4177" y="3806117"/>
              <a:ext cx="400110" cy="400110"/>
            </a:xfrm>
            <a:prstGeom prst="rect">
              <a:avLst/>
            </a:prstGeom>
          </p:spPr>
        </p:pic>
      </p:grpSp>
      <p:grpSp>
        <p:nvGrpSpPr>
          <p:cNvPr id="26" name="Group 25">
            <a:extLst>
              <a:ext uri="{FF2B5EF4-FFF2-40B4-BE49-F238E27FC236}">
                <a16:creationId xmlns:a16="http://schemas.microsoft.com/office/drawing/2014/main" id="{F847A1A8-93EF-4DD6-8802-DA3DD50F0A56}"/>
              </a:ext>
            </a:extLst>
          </p:cNvPr>
          <p:cNvGrpSpPr/>
          <p:nvPr/>
        </p:nvGrpSpPr>
        <p:grpSpPr>
          <a:xfrm>
            <a:off x="367603" y="2816026"/>
            <a:ext cx="362504" cy="381140"/>
            <a:chOff x="358772" y="3009752"/>
            <a:chExt cx="670921" cy="705411"/>
          </a:xfrm>
        </p:grpSpPr>
        <p:sp>
          <p:nvSpPr>
            <p:cNvPr id="27" name="Freeform 35">
              <a:extLst>
                <a:ext uri="{FF2B5EF4-FFF2-40B4-BE49-F238E27FC236}">
                  <a16:creationId xmlns:a16="http://schemas.microsoft.com/office/drawing/2014/main" id="{D771C9AC-ED44-4721-86D1-58E3F55A74C3}"/>
                </a:ext>
              </a:extLst>
            </p:cNvPr>
            <p:cNvSpPr>
              <a:spLocks/>
            </p:cNvSpPr>
            <p:nvPr/>
          </p:nvSpPr>
          <p:spPr bwMode="auto">
            <a:xfrm>
              <a:off x="358772"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28" name="Graphic 27" descr="Call center">
              <a:extLst>
                <a:ext uri="{FF2B5EF4-FFF2-40B4-BE49-F238E27FC236}">
                  <a16:creationId xmlns:a16="http://schemas.microsoft.com/office/drawing/2014/main" id="{ADF52DD6-9323-4A03-9E5B-002FA301E7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4177" y="3070019"/>
              <a:ext cx="400110" cy="400110"/>
            </a:xfrm>
            <a:prstGeom prst="rect">
              <a:avLst/>
            </a:prstGeom>
          </p:spPr>
        </p:pic>
      </p:grpSp>
      <p:grpSp>
        <p:nvGrpSpPr>
          <p:cNvPr id="29" name="Group 28">
            <a:extLst>
              <a:ext uri="{FF2B5EF4-FFF2-40B4-BE49-F238E27FC236}">
                <a16:creationId xmlns:a16="http://schemas.microsoft.com/office/drawing/2014/main" id="{2075B95A-65D5-4246-9619-84247A6F69DF}"/>
              </a:ext>
            </a:extLst>
          </p:cNvPr>
          <p:cNvGrpSpPr/>
          <p:nvPr/>
        </p:nvGrpSpPr>
        <p:grpSpPr>
          <a:xfrm>
            <a:off x="367603" y="4388042"/>
            <a:ext cx="362504" cy="381140"/>
            <a:chOff x="358772" y="4452126"/>
            <a:chExt cx="670921" cy="705411"/>
          </a:xfrm>
        </p:grpSpPr>
        <p:sp>
          <p:nvSpPr>
            <p:cNvPr id="30" name="Freeform 35">
              <a:extLst>
                <a:ext uri="{FF2B5EF4-FFF2-40B4-BE49-F238E27FC236}">
                  <a16:creationId xmlns:a16="http://schemas.microsoft.com/office/drawing/2014/main" id="{FD970E0B-F692-4334-85D6-B0ABA57D3173}"/>
                </a:ext>
              </a:extLst>
            </p:cNvPr>
            <p:cNvSpPr>
              <a:spLocks/>
            </p:cNvSpPr>
            <p:nvPr/>
          </p:nvSpPr>
          <p:spPr bwMode="auto">
            <a:xfrm>
              <a:off x="358772"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31" name="Graphic 30" descr="Upward trend">
              <a:extLst>
                <a:ext uri="{FF2B5EF4-FFF2-40B4-BE49-F238E27FC236}">
                  <a16:creationId xmlns:a16="http://schemas.microsoft.com/office/drawing/2014/main" id="{E7502F8A-AF09-4697-ABC6-CA1A5F370D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4177" y="4537489"/>
              <a:ext cx="400110" cy="400110"/>
            </a:xfrm>
            <a:prstGeom prst="rect">
              <a:avLst/>
            </a:prstGeom>
          </p:spPr>
        </p:pic>
      </p:grpSp>
      <p:grpSp>
        <p:nvGrpSpPr>
          <p:cNvPr id="32" name="Group 31">
            <a:extLst>
              <a:ext uri="{FF2B5EF4-FFF2-40B4-BE49-F238E27FC236}">
                <a16:creationId xmlns:a16="http://schemas.microsoft.com/office/drawing/2014/main" id="{740BAEFA-3D68-43CB-B435-24E7A678A0B8}"/>
              </a:ext>
            </a:extLst>
          </p:cNvPr>
          <p:cNvGrpSpPr/>
          <p:nvPr/>
        </p:nvGrpSpPr>
        <p:grpSpPr>
          <a:xfrm>
            <a:off x="367603" y="3201079"/>
            <a:ext cx="362504" cy="381140"/>
            <a:chOff x="358775" y="5173219"/>
            <a:chExt cx="670921" cy="705411"/>
          </a:xfrm>
        </p:grpSpPr>
        <p:sp>
          <p:nvSpPr>
            <p:cNvPr id="33" name="Freeform 35">
              <a:extLst>
                <a:ext uri="{FF2B5EF4-FFF2-40B4-BE49-F238E27FC236}">
                  <a16:creationId xmlns:a16="http://schemas.microsoft.com/office/drawing/2014/main" id="{9786EB0B-3801-46AA-B795-5C0CDDA80080}"/>
                </a:ext>
              </a:extLst>
            </p:cNvPr>
            <p:cNvSpPr>
              <a:spLocks/>
            </p:cNvSpPr>
            <p:nvPr/>
          </p:nvSpPr>
          <p:spPr bwMode="auto">
            <a:xfrm>
              <a:off x="358775"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34" name="Graphic 33" descr="Computer">
              <a:extLst>
                <a:ext uri="{FF2B5EF4-FFF2-40B4-BE49-F238E27FC236}">
                  <a16:creationId xmlns:a16="http://schemas.microsoft.com/office/drawing/2014/main" id="{A4641DB6-300D-4710-A543-04A705AEB51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4177" y="5223202"/>
              <a:ext cx="400110" cy="400110"/>
            </a:xfrm>
            <a:prstGeom prst="rect">
              <a:avLst/>
            </a:prstGeom>
          </p:spPr>
        </p:pic>
      </p:grpSp>
      <p:grpSp>
        <p:nvGrpSpPr>
          <p:cNvPr id="35" name="Group 34">
            <a:extLst>
              <a:ext uri="{FF2B5EF4-FFF2-40B4-BE49-F238E27FC236}">
                <a16:creationId xmlns:a16="http://schemas.microsoft.com/office/drawing/2014/main" id="{94F2B55F-1401-447C-B724-9D8539FADEB3}"/>
              </a:ext>
            </a:extLst>
          </p:cNvPr>
          <p:cNvGrpSpPr/>
          <p:nvPr/>
        </p:nvGrpSpPr>
        <p:grpSpPr>
          <a:xfrm>
            <a:off x="367603" y="2030018"/>
            <a:ext cx="362504" cy="381140"/>
            <a:chOff x="4647541" y="3009752"/>
            <a:chExt cx="670921" cy="705411"/>
          </a:xfrm>
        </p:grpSpPr>
        <p:sp>
          <p:nvSpPr>
            <p:cNvPr id="36" name="Freeform 35">
              <a:extLst>
                <a:ext uri="{FF2B5EF4-FFF2-40B4-BE49-F238E27FC236}">
                  <a16:creationId xmlns:a16="http://schemas.microsoft.com/office/drawing/2014/main" id="{E1A87779-FFB3-4EF4-9E60-13F462E8077B}"/>
                </a:ext>
              </a:extLst>
            </p:cNvPr>
            <p:cNvSpPr>
              <a:spLocks/>
            </p:cNvSpPr>
            <p:nvPr/>
          </p:nvSpPr>
          <p:spPr bwMode="auto">
            <a:xfrm>
              <a:off x="4647541" y="3009752"/>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37" name="Graphic 36" descr="Table">
              <a:extLst>
                <a:ext uri="{FF2B5EF4-FFF2-40B4-BE49-F238E27FC236}">
                  <a16:creationId xmlns:a16="http://schemas.microsoft.com/office/drawing/2014/main" id="{8149F4C2-408B-44F5-BE8B-0D6827A811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82946" y="3072539"/>
              <a:ext cx="400110" cy="400110"/>
            </a:xfrm>
            <a:prstGeom prst="rect">
              <a:avLst/>
            </a:prstGeom>
          </p:spPr>
        </p:pic>
      </p:grpSp>
      <p:grpSp>
        <p:nvGrpSpPr>
          <p:cNvPr id="38" name="Group 37">
            <a:extLst>
              <a:ext uri="{FF2B5EF4-FFF2-40B4-BE49-F238E27FC236}">
                <a16:creationId xmlns:a16="http://schemas.microsoft.com/office/drawing/2014/main" id="{2ACD0516-8FBD-4197-9633-90FBF6116936}"/>
              </a:ext>
            </a:extLst>
          </p:cNvPr>
          <p:cNvGrpSpPr/>
          <p:nvPr/>
        </p:nvGrpSpPr>
        <p:grpSpPr>
          <a:xfrm>
            <a:off x="367603" y="1637014"/>
            <a:ext cx="362504" cy="381140"/>
            <a:chOff x="4647541" y="3729340"/>
            <a:chExt cx="670921" cy="705411"/>
          </a:xfrm>
        </p:grpSpPr>
        <p:sp>
          <p:nvSpPr>
            <p:cNvPr id="39" name="Freeform 35">
              <a:extLst>
                <a:ext uri="{FF2B5EF4-FFF2-40B4-BE49-F238E27FC236}">
                  <a16:creationId xmlns:a16="http://schemas.microsoft.com/office/drawing/2014/main" id="{902DB836-152A-4228-A07E-BC33B3A07DBB}"/>
                </a:ext>
              </a:extLst>
            </p:cNvPr>
            <p:cNvSpPr>
              <a:spLocks/>
            </p:cNvSpPr>
            <p:nvPr/>
          </p:nvSpPr>
          <p:spPr bwMode="auto">
            <a:xfrm>
              <a:off x="4647541" y="3729340"/>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40" name="Graphic 39" descr="Employee badge">
              <a:extLst>
                <a:ext uri="{FF2B5EF4-FFF2-40B4-BE49-F238E27FC236}">
                  <a16:creationId xmlns:a16="http://schemas.microsoft.com/office/drawing/2014/main" id="{7BB83079-6E22-4E1B-8BED-272CBBAFE48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82946" y="3796597"/>
              <a:ext cx="400110" cy="400110"/>
            </a:xfrm>
            <a:prstGeom prst="rect">
              <a:avLst/>
            </a:prstGeom>
          </p:spPr>
        </p:pic>
      </p:grpSp>
      <p:grpSp>
        <p:nvGrpSpPr>
          <p:cNvPr id="41" name="Group 40">
            <a:extLst>
              <a:ext uri="{FF2B5EF4-FFF2-40B4-BE49-F238E27FC236}">
                <a16:creationId xmlns:a16="http://schemas.microsoft.com/office/drawing/2014/main" id="{C9CF02FA-54A1-469F-8BDC-B4E37ABB661F}"/>
              </a:ext>
            </a:extLst>
          </p:cNvPr>
          <p:cNvGrpSpPr/>
          <p:nvPr/>
        </p:nvGrpSpPr>
        <p:grpSpPr>
          <a:xfrm>
            <a:off x="367603" y="4781046"/>
            <a:ext cx="362504" cy="381140"/>
            <a:chOff x="4647541" y="4452126"/>
            <a:chExt cx="670921" cy="705411"/>
          </a:xfrm>
        </p:grpSpPr>
        <p:sp>
          <p:nvSpPr>
            <p:cNvPr id="42" name="Freeform 35">
              <a:extLst>
                <a:ext uri="{FF2B5EF4-FFF2-40B4-BE49-F238E27FC236}">
                  <a16:creationId xmlns:a16="http://schemas.microsoft.com/office/drawing/2014/main" id="{C88CC5C9-4477-4F23-ADD6-D648008F5A14}"/>
                </a:ext>
              </a:extLst>
            </p:cNvPr>
            <p:cNvSpPr>
              <a:spLocks/>
            </p:cNvSpPr>
            <p:nvPr/>
          </p:nvSpPr>
          <p:spPr bwMode="auto">
            <a:xfrm>
              <a:off x="4647541" y="4452126"/>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43" name="Graphic 42" descr="Calculator">
              <a:extLst>
                <a:ext uri="{FF2B5EF4-FFF2-40B4-BE49-F238E27FC236}">
                  <a16:creationId xmlns:a16="http://schemas.microsoft.com/office/drawing/2014/main" id="{907762C5-68A2-4D0B-B0BF-C87936DC7D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82946" y="4530595"/>
              <a:ext cx="400110" cy="400110"/>
            </a:xfrm>
            <a:prstGeom prst="rect">
              <a:avLst/>
            </a:prstGeom>
          </p:spPr>
        </p:pic>
      </p:grpSp>
      <p:grpSp>
        <p:nvGrpSpPr>
          <p:cNvPr id="44" name="Group 43">
            <a:extLst>
              <a:ext uri="{FF2B5EF4-FFF2-40B4-BE49-F238E27FC236}">
                <a16:creationId xmlns:a16="http://schemas.microsoft.com/office/drawing/2014/main" id="{AACCF7BB-A60F-4B0D-B3F6-54DFBAB67945}"/>
              </a:ext>
            </a:extLst>
          </p:cNvPr>
          <p:cNvGrpSpPr/>
          <p:nvPr/>
        </p:nvGrpSpPr>
        <p:grpSpPr>
          <a:xfrm>
            <a:off x="367603" y="5174050"/>
            <a:ext cx="362504" cy="381140"/>
            <a:chOff x="4647544" y="5173219"/>
            <a:chExt cx="670921" cy="705411"/>
          </a:xfrm>
        </p:grpSpPr>
        <p:sp>
          <p:nvSpPr>
            <p:cNvPr id="45" name="Freeform 35">
              <a:extLst>
                <a:ext uri="{FF2B5EF4-FFF2-40B4-BE49-F238E27FC236}">
                  <a16:creationId xmlns:a16="http://schemas.microsoft.com/office/drawing/2014/main" id="{D6501A34-EF15-477A-BA6B-979EA41FB6FA}"/>
                </a:ext>
              </a:extLst>
            </p:cNvPr>
            <p:cNvSpPr>
              <a:spLocks/>
            </p:cNvSpPr>
            <p:nvPr/>
          </p:nvSpPr>
          <p:spPr bwMode="auto">
            <a:xfrm>
              <a:off x="4647544" y="5173219"/>
              <a:ext cx="670921" cy="705411"/>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46" name="Graphic 45" descr="Research">
              <a:extLst>
                <a:ext uri="{FF2B5EF4-FFF2-40B4-BE49-F238E27FC236}">
                  <a16:creationId xmlns:a16="http://schemas.microsoft.com/office/drawing/2014/main" id="{60DE2EC3-49A7-47BC-9301-469171E2055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82946" y="5254653"/>
              <a:ext cx="400110" cy="400110"/>
            </a:xfrm>
            <a:prstGeom prst="rect">
              <a:avLst/>
            </a:prstGeom>
          </p:spPr>
        </p:pic>
      </p:grpSp>
      <p:sp>
        <p:nvSpPr>
          <p:cNvPr id="48" name="Freeform 35">
            <a:extLst>
              <a:ext uri="{FF2B5EF4-FFF2-40B4-BE49-F238E27FC236}">
                <a16:creationId xmlns:a16="http://schemas.microsoft.com/office/drawing/2014/main" id="{1DB467BB-A2E4-4660-81B1-24AF8FDB913A}"/>
              </a:ext>
            </a:extLst>
          </p:cNvPr>
          <p:cNvSpPr>
            <a:spLocks/>
          </p:cNvSpPr>
          <p:nvPr/>
        </p:nvSpPr>
        <p:spPr bwMode="auto">
          <a:xfrm>
            <a:off x="369016" y="5956666"/>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50" name="Picture 10" descr="Image result for mri software">
            <a:extLst>
              <a:ext uri="{FF2B5EF4-FFF2-40B4-BE49-F238E27FC236}">
                <a16:creationId xmlns:a16="http://schemas.microsoft.com/office/drawing/2014/main" id="{4A6B7059-85E3-4784-9635-2DB527CAB16C}"/>
              </a:ext>
            </a:extLst>
          </p:cNvPr>
          <p:cNvPicPr>
            <a:picLocks noChangeAspect="1" noChangeArrowheads="1"/>
          </p:cNvPicPr>
          <p:nvPr/>
        </p:nvPicPr>
        <p:blipFill>
          <a:blip r:embed="rId18">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971207" y="1656432"/>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2" descr="Image result for proactis software">
            <a:extLst>
              <a:ext uri="{FF2B5EF4-FFF2-40B4-BE49-F238E27FC236}">
                <a16:creationId xmlns:a16="http://schemas.microsoft.com/office/drawing/2014/main" id="{140B22A2-653D-4BCA-914F-4519D8C8A3DB}"/>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77220" y="2435762"/>
            <a:ext cx="833583" cy="34510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6" descr="Image result for fsi concept evolution">
            <a:extLst>
              <a:ext uri="{FF2B5EF4-FFF2-40B4-BE49-F238E27FC236}">
                <a16:creationId xmlns:a16="http://schemas.microsoft.com/office/drawing/2014/main" id="{907688C2-3F1C-4780-87D0-FC3786331159}"/>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33639" y="2037089"/>
            <a:ext cx="720744" cy="38362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salesforce logo">
            <a:extLst>
              <a:ext uri="{FF2B5EF4-FFF2-40B4-BE49-F238E27FC236}">
                <a16:creationId xmlns:a16="http://schemas.microsoft.com/office/drawing/2014/main" id="{32D56C1D-B6F0-4165-AB79-60D4FB8F5B1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1207" y="2772063"/>
            <a:ext cx="645608" cy="45192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yieldstar realpage">
            <a:extLst>
              <a:ext uri="{FF2B5EF4-FFF2-40B4-BE49-F238E27FC236}">
                <a16:creationId xmlns:a16="http://schemas.microsoft.com/office/drawing/2014/main" id="{E374DA04-A7BB-4CB2-87E4-9ACAD026641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76682" y="4414473"/>
            <a:ext cx="1034658" cy="321042"/>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a:extLst>
              <a:ext uri="{FF2B5EF4-FFF2-40B4-BE49-F238E27FC236}">
                <a16:creationId xmlns:a16="http://schemas.microsoft.com/office/drawing/2014/main" id="{675B4FD7-57E7-40FA-B67A-B514B99B66F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866357" y="3239040"/>
            <a:ext cx="855308" cy="325018"/>
          </a:xfrm>
          <a:prstGeom prst="rect">
            <a:avLst/>
          </a:prstGeom>
        </p:spPr>
      </p:pic>
      <p:pic>
        <p:nvPicPr>
          <p:cNvPr id="56" name="Picture 55">
            <a:extLst>
              <a:ext uri="{FF2B5EF4-FFF2-40B4-BE49-F238E27FC236}">
                <a16:creationId xmlns:a16="http://schemas.microsoft.com/office/drawing/2014/main" id="{95F7F16A-91A8-4DF5-8054-996AF0973405}"/>
              </a:ext>
            </a:extLst>
          </p:cNvPr>
          <p:cNvPicPr>
            <a:picLocks noChangeAspect="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90419" y="4710811"/>
            <a:ext cx="1007184" cy="527093"/>
          </a:xfrm>
          <a:prstGeom prst="rect">
            <a:avLst/>
          </a:prstGeom>
        </p:spPr>
      </p:pic>
      <p:pic>
        <p:nvPicPr>
          <p:cNvPr id="58" name="Picture 57">
            <a:extLst>
              <a:ext uri="{FF2B5EF4-FFF2-40B4-BE49-F238E27FC236}">
                <a16:creationId xmlns:a16="http://schemas.microsoft.com/office/drawing/2014/main" id="{1ED6B17E-A04E-4F47-9CE5-108D5E796A3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866357" y="5956199"/>
            <a:ext cx="855308" cy="371246"/>
          </a:xfrm>
          <a:prstGeom prst="rect">
            <a:avLst/>
          </a:prstGeom>
        </p:spPr>
      </p:pic>
      <p:sp>
        <p:nvSpPr>
          <p:cNvPr id="59" name="Freeform 35">
            <a:extLst>
              <a:ext uri="{FF2B5EF4-FFF2-40B4-BE49-F238E27FC236}">
                <a16:creationId xmlns:a16="http://schemas.microsoft.com/office/drawing/2014/main" id="{C992B428-A215-4CE0-9593-81F1AA5F9BEA}"/>
              </a:ext>
            </a:extLst>
          </p:cNvPr>
          <p:cNvSpPr>
            <a:spLocks/>
          </p:cNvSpPr>
          <p:nvPr/>
        </p:nvSpPr>
        <p:spPr bwMode="auto">
          <a:xfrm>
            <a:off x="367603" y="3995038"/>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60" name="Graphic 59">
            <a:extLst>
              <a:ext uri="{FF2B5EF4-FFF2-40B4-BE49-F238E27FC236}">
                <a16:creationId xmlns:a16="http://schemas.microsoft.com/office/drawing/2014/main" id="{7F4B4F16-6875-421E-8D2C-2A7A6A2EFBD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724479" y="3634766"/>
            <a:ext cx="1139064" cy="315610"/>
          </a:xfrm>
          <a:prstGeom prst="rect">
            <a:avLst/>
          </a:prstGeom>
        </p:spPr>
      </p:pic>
      <p:pic>
        <p:nvPicPr>
          <p:cNvPr id="61" name="Picture 60">
            <a:extLst>
              <a:ext uri="{FF2B5EF4-FFF2-40B4-BE49-F238E27FC236}">
                <a16:creationId xmlns:a16="http://schemas.microsoft.com/office/drawing/2014/main" id="{D85158F8-2975-4AAB-AA64-27A44CC94925}"/>
              </a:ext>
            </a:extLst>
          </p:cNvPr>
          <p:cNvPicPr>
            <a:picLocks noChangeAspect="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21473" y="4029035"/>
            <a:ext cx="1345076" cy="330632"/>
          </a:xfrm>
          <a:prstGeom prst="rect">
            <a:avLst/>
          </a:prstGeom>
        </p:spPr>
      </p:pic>
      <p:grpSp>
        <p:nvGrpSpPr>
          <p:cNvPr id="62" name="Group 61">
            <a:extLst>
              <a:ext uri="{FF2B5EF4-FFF2-40B4-BE49-F238E27FC236}">
                <a16:creationId xmlns:a16="http://schemas.microsoft.com/office/drawing/2014/main" id="{F2CA4712-B23D-4098-B962-8FDA7F673A41}"/>
              </a:ext>
            </a:extLst>
          </p:cNvPr>
          <p:cNvGrpSpPr/>
          <p:nvPr/>
        </p:nvGrpSpPr>
        <p:grpSpPr>
          <a:xfrm>
            <a:off x="367603" y="3595332"/>
            <a:ext cx="362504" cy="387842"/>
            <a:chOff x="367603" y="3849771"/>
            <a:chExt cx="362504" cy="387842"/>
          </a:xfrm>
        </p:grpSpPr>
        <p:sp>
          <p:nvSpPr>
            <p:cNvPr id="63" name="Freeform 35">
              <a:extLst>
                <a:ext uri="{FF2B5EF4-FFF2-40B4-BE49-F238E27FC236}">
                  <a16:creationId xmlns:a16="http://schemas.microsoft.com/office/drawing/2014/main" id="{80A82B51-BC4A-4244-A867-90AE52D5E46F}"/>
                </a:ext>
              </a:extLst>
            </p:cNvPr>
            <p:cNvSpPr>
              <a:spLocks/>
            </p:cNvSpPr>
            <p:nvPr/>
          </p:nvSpPr>
          <p:spPr bwMode="auto">
            <a:xfrm>
              <a:off x="367603" y="3856473"/>
              <a:ext cx="362504"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64" name="Picture 63">
              <a:extLst>
                <a:ext uri="{FF2B5EF4-FFF2-40B4-BE49-F238E27FC236}">
                  <a16:creationId xmlns:a16="http://schemas.microsoft.com/office/drawing/2014/main" id="{56AB0E17-41E9-4BF5-8FD2-A3829F5F9A71}"/>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399766" y="3849771"/>
              <a:ext cx="298173" cy="298173"/>
            </a:xfrm>
            <a:prstGeom prst="rect">
              <a:avLst/>
            </a:prstGeom>
          </p:spPr>
        </p:pic>
        <p:pic>
          <p:nvPicPr>
            <p:cNvPr id="65" name="Picture 64">
              <a:extLst>
                <a:ext uri="{FF2B5EF4-FFF2-40B4-BE49-F238E27FC236}">
                  <a16:creationId xmlns:a16="http://schemas.microsoft.com/office/drawing/2014/main" id="{342E087C-173C-4431-813E-0D248DF600FB}"/>
                </a:ext>
              </a:extLst>
            </p:cNvPr>
            <p:cNvPicPr>
              <a:picLocks noChangeAspect="1"/>
            </p:cNvPicPr>
            <p:nvPr/>
          </p:nvPicPr>
          <p:blipFill>
            <a:blip r:embed="rId29">
              <a:biLevel thresh="25000"/>
              <a:extLst>
                <a:ext uri="{28A0092B-C50C-407E-A947-70E740481C1C}">
                  <a14:useLocalDpi xmlns:a14="http://schemas.microsoft.com/office/drawing/2010/main" val="0"/>
                </a:ext>
              </a:extLst>
            </a:blip>
            <a:stretch>
              <a:fillRect/>
            </a:stretch>
          </p:blipFill>
          <p:spPr>
            <a:xfrm>
              <a:off x="404101" y="3850396"/>
              <a:ext cx="298173" cy="298173"/>
            </a:xfrm>
            <a:prstGeom prst="rect">
              <a:avLst/>
            </a:prstGeom>
          </p:spPr>
        </p:pic>
      </p:grpSp>
      <p:pic>
        <p:nvPicPr>
          <p:cNvPr id="66" name="Picture 4" descr="Image result for document icon">
            <a:extLst>
              <a:ext uri="{FF2B5EF4-FFF2-40B4-BE49-F238E27FC236}">
                <a16:creationId xmlns:a16="http://schemas.microsoft.com/office/drawing/2014/main" id="{F0E1645A-F961-4C3D-ADFF-2361ADD9710C}"/>
              </a:ext>
            </a:extLst>
          </p:cNvPr>
          <p:cNvPicPr>
            <a:picLocks noChangeAspect="1" noChangeArrowheads="1"/>
          </p:cNvPicPr>
          <p:nvPr/>
        </p:nvPicPr>
        <p:blipFill>
          <a:blip r:embed="rId30">
            <a:clrChange>
              <a:clrFrom>
                <a:srgbClr val="FDFDFD"/>
              </a:clrFrom>
              <a:clrTo>
                <a:srgbClr val="FDFDFD">
                  <a:alpha val="0"/>
                </a:srgbClr>
              </a:clrTo>
            </a:clrChange>
            <a:lum bright="70000" contrast="-70000"/>
            <a:extLst>
              <a:ext uri="{BEBA8EAE-BF5A-486C-A8C5-ECC9F3942E4B}">
                <a14:imgProps xmlns:a14="http://schemas.microsoft.com/office/drawing/2010/main">
                  <a14:imgLayer r:embed="rId31">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54410" y="4057496"/>
            <a:ext cx="183854" cy="177895"/>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F793C814-22D5-450B-94C4-9E7D1AB73C38}"/>
              </a:ext>
            </a:extLst>
          </p:cNvPr>
          <p:cNvPicPr>
            <a:picLocks noChangeAspect="1"/>
          </p:cNvPicPr>
          <p:nvPr/>
        </p:nvPicPr>
        <p:blipFill>
          <a:blip r:embed="rId32">
            <a:clrChange>
              <a:clrFrom>
                <a:srgbClr val="009BE6"/>
              </a:clrFrom>
              <a:clrTo>
                <a:srgbClr val="009BE6">
                  <a:alpha val="0"/>
                </a:srgbClr>
              </a:clrTo>
            </a:clrChange>
            <a:extLst>
              <a:ext uri="{BEBA8EAE-BF5A-486C-A8C5-ECC9F3942E4B}">
                <a14:imgProps xmlns:a14="http://schemas.microsoft.com/office/drawing/2010/main">
                  <a14:imgLayer r:embed="rId3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417747" y="5976671"/>
            <a:ext cx="257179" cy="257179"/>
          </a:xfrm>
          <a:prstGeom prst="rect">
            <a:avLst/>
          </a:prstGeom>
        </p:spPr>
      </p:pic>
      <p:sp>
        <p:nvSpPr>
          <p:cNvPr id="2" name="TextBox 1">
            <a:extLst>
              <a:ext uri="{FF2B5EF4-FFF2-40B4-BE49-F238E27FC236}">
                <a16:creationId xmlns:a16="http://schemas.microsoft.com/office/drawing/2014/main" id="{60EFD282-B84F-4892-88D1-EF22C7AB0910}"/>
              </a:ext>
            </a:extLst>
          </p:cNvPr>
          <p:cNvSpPr txBox="1"/>
          <p:nvPr/>
        </p:nvSpPr>
        <p:spPr>
          <a:xfrm rot="16200000">
            <a:off x="8293624" y="2118224"/>
            <a:ext cx="1279517"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60" normalizeH="0" baseline="0" noProof="0">
                <a:ln>
                  <a:noFill/>
                </a:ln>
                <a:solidFill>
                  <a:srgbClr val="FF6600">
                    <a:lumMod val="60000"/>
                    <a:lumOff val="40000"/>
                  </a:srgbClr>
                </a:solidFill>
                <a:effectLst/>
                <a:uLnTx/>
                <a:uFillTx/>
                <a:latin typeface="Montserrat" panose="00000500000000000000" pitchFamily="2" charset="0"/>
                <a:ea typeface="+mn-ea"/>
                <a:cs typeface="+mn-cs"/>
              </a:rPr>
              <a:t>Original core system</a:t>
            </a:r>
          </a:p>
        </p:txBody>
      </p:sp>
      <p:sp>
        <p:nvSpPr>
          <p:cNvPr id="71" name="Freeform 35">
            <a:extLst>
              <a:ext uri="{FF2B5EF4-FFF2-40B4-BE49-F238E27FC236}">
                <a16:creationId xmlns:a16="http://schemas.microsoft.com/office/drawing/2014/main" id="{C1428055-CB41-445F-9595-CDCF198AE6F7}"/>
              </a:ext>
            </a:extLst>
          </p:cNvPr>
          <p:cNvSpPr>
            <a:spLocks/>
          </p:cNvSpPr>
          <p:nvPr/>
        </p:nvSpPr>
        <p:spPr bwMode="auto">
          <a:xfrm>
            <a:off x="367603" y="5564984"/>
            <a:ext cx="362505" cy="381140"/>
          </a:xfrm>
          <a:custGeom>
            <a:avLst/>
            <a:gdLst>
              <a:gd name="T0" fmla="*/ 1419 w 1419"/>
              <a:gd name="T1" fmla="*/ 1018 h 1844"/>
              <a:gd name="T2" fmla="*/ 0 w 1419"/>
              <a:gd name="T3" fmla="*/ 1844 h 1844"/>
              <a:gd name="T4" fmla="*/ 0 w 1419"/>
              <a:gd name="T5" fmla="*/ 0 h 1844"/>
              <a:gd name="T6" fmla="*/ 1419 w 1419"/>
              <a:gd name="T7" fmla="*/ 0 h 1844"/>
              <a:gd name="T8" fmla="*/ 1419 w 1419"/>
              <a:gd name="T9" fmla="*/ 1018 h 1844"/>
              <a:gd name="T10" fmla="*/ 1419 w 1419"/>
              <a:gd name="T11" fmla="*/ 1018 h 1844"/>
              <a:gd name="connsiteX0" fmla="*/ 10000 w 10000"/>
              <a:gd name="connsiteY0" fmla="*/ 5521 h 7961"/>
              <a:gd name="connsiteX1" fmla="*/ 0 w 10000"/>
              <a:gd name="connsiteY1" fmla="*/ 7961 h 7961"/>
              <a:gd name="connsiteX2" fmla="*/ 0 w 10000"/>
              <a:gd name="connsiteY2" fmla="*/ 0 h 7961"/>
              <a:gd name="connsiteX3" fmla="*/ 10000 w 10000"/>
              <a:gd name="connsiteY3" fmla="*/ 0 h 7961"/>
              <a:gd name="connsiteX4" fmla="*/ 10000 w 10000"/>
              <a:gd name="connsiteY4" fmla="*/ 5521 h 7961"/>
              <a:gd name="connsiteX5" fmla="*/ 10000 w 10000"/>
              <a:gd name="connsiteY5" fmla="*/ 5521 h 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7961">
                <a:moveTo>
                  <a:pt x="10000" y="5521"/>
                </a:moveTo>
                <a:lnTo>
                  <a:pt x="0" y="7961"/>
                </a:lnTo>
                <a:lnTo>
                  <a:pt x="0" y="0"/>
                </a:lnTo>
                <a:lnTo>
                  <a:pt x="10000" y="0"/>
                </a:lnTo>
                <a:lnTo>
                  <a:pt x="10000" y="5521"/>
                </a:lnTo>
                <a:lnTo>
                  <a:pt x="10000" y="5521"/>
                </a:lnTo>
                <a:close/>
              </a:path>
            </a:pathLst>
          </a:custGeom>
          <a:solidFill>
            <a:schemeClr val="accent2"/>
          </a:solidFill>
          <a:ln>
            <a:noFill/>
          </a:ln>
        </p:spPr>
        <p:txBody>
          <a:bodyPr vert="horz" wrap="square" lIns="72000" tIns="108000" rIns="36000" bIns="45720" numCol="1" anchor="t" anchorCtr="0" compatLnSpc="1">
            <a:prstTxWarp prst="textNoShape">
              <a:avLst/>
            </a:prstTxWarp>
          </a:bodyPr>
          <a:lstStyle/>
          <a:p>
            <a:pPr marL="0" marR="0" lvl="0" indent="0" algn="l" defTabSz="914400" rtl="0" eaLnBrk="1" fontAlgn="auto" latinLnBrk="0" hangingPunct="1">
              <a:lnSpc>
                <a:spcPct val="90000"/>
              </a:lnSpc>
              <a:spcBef>
                <a:spcPts val="600"/>
              </a:spcBef>
              <a:spcAft>
                <a:spcPts val="0"/>
              </a:spcAft>
              <a:buClrTx/>
              <a:buSzTx/>
              <a:buFontTx/>
              <a:buNone/>
              <a:tabLst/>
              <a:defRPr/>
            </a:pPr>
            <a:endParaRPr kumimoji="0" lang="en-US" sz="1100" b="0" i="0" u="none" strike="noStrike" kern="1200" cap="none" spc="-60" normalizeH="0" baseline="0" noProof="0">
              <a:ln>
                <a:noFill/>
              </a:ln>
              <a:solidFill>
                <a:prstClr val="white"/>
              </a:solidFill>
              <a:effectLst/>
              <a:uLnTx/>
              <a:uFillTx/>
              <a:latin typeface="Montserrat" panose="02000505000000020004" pitchFamily="2" charset="0"/>
              <a:ea typeface="+mn-ea"/>
              <a:cs typeface="+mn-cs"/>
            </a:endParaRPr>
          </a:p>
        </p:txBody>
      </p:sp>
      <p:pic>
        <p:nvPicPr>
          <p:cNvPr id="12" name="Picture 11" descr="A close up of a sign&#10;&#10;Description automatically generated">
            <a:extLst>
              <a:ext uri="{FF2B5EF4-FFF2-40B4-BE49-F238E27FC236}">
                <a16:creationId xmlns:a16="http://schemas.microsoft.com/office/drawing/2014/main" id="{E9AA0E56-FBAA-45BB-A94D-8FAD0D02B906}"/>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627939" y="5697049"/>
            <a:ext cx="773426" cy="246760"/>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224DCB1E-5F88-41A3-85E7-37BBAE5FF53B}"/>
              </a:ext>
            </a:extLst>
          </p:cNvPr>
          <p:cNvPicPr>
            <a:picLocks noChangeAspect="1"/>
          </p:cNvPicPr>
          <p:nvPr/>
        </p:nvPicPr>
        <p:blipFill>
          <a:blip r:embed="rId3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89768" y="5381611"/>
            <a:ext cx="953003" cy="595627"/>
          </a:xfrm>
          <a:prstGeom prst="rect">
            <a:avLst/>
          </a:prstGeom>
        </p:spPr>
      </p:pic>
      <p:pic>
        <p:nvPicPr>
          <p:cNvPr id="14" name="Picture 13" descr="A picture containing drawing, shirt&#10;&#10;Description automatically generated">
            <a:extLst>
              <a:ext uri="{FF2B5EF4-FFF2-40B4-BE49-F238E27FC236}">
                <a16:creationId xmlns:a16="http://schemas.microsoft.com/office/drawing/2014/main" id="{E1499991-537E-45C9-9FA1-EDD472434987}"/>
              </a:ext>
            </a:extLst>
          </p:cNvPr>
          <p:cNvPicPr>
            <a:picLocks noChangeAspect="1"/>
          </p:cNvPicPr>
          <p:nvPr/>
        </p:nvPicPr>
        <p:blipFill>
          <a:blip r:embed="rId36">
            <a:clrChange>
              <a:clrFrom>
                <a:srgbClr val="000000"/>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97114" y="5568341"/>
            <a:ext cx="298446" cy="298446"/>
          </a:xfrm>
          <a:prstGeom prst="rect">
            <a:avLst/>
          </a:prstGeom>
        </p:spPr>
      </p:pic>
      <p:pic>
        <p:nvPicPr>
          <p:cNvPr id="73" name="Picture 72">
            <a:extLst>
              <a:ext uri="{FF2B5EF4-FFF2-40B4-BE49-F238E27FC236}">
                <a16:creationId xmlns:a16="http://schemas.microsoft.com/office/drawing/2014/main" id="{290FC82A-2781-4AAF-A777-3AF2AC838868}"/>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718139" y="5273367"/>
            <a:ext cx="683226" cy="197495"/>
          </a:xfrm>
          <a:prstGeom prst="rect">
            <a:avLst/>
          </a:prstGeom>
        </p:spPr>
      </p:pic>
      <p:pic>
        <p:nvPicPr>
          <p:cNvPr id="74" name="Picture 73">
            <a:extLst>
              <a:ext uri="{FF2B5EF4-FFF2-40B4-BE49-F238E27FC236}">
                <a16:creationId xmlns:a16="http://schemas.microsoft.com/office/drawing/2014/main" id="{60E2A559-9C3C-4C82-AD5B-A21A5DF090FB}"/>
              </a:ext>
            </a:extLst>
          </p:cNvPr>
          <p:cNvPicPr>
            <a:picLocks noChangeAspect="1"/>
          </p:cNvPicPr>
          <p:nvPr/>
        </p:nvPicPr>
        <p:blipFill rotWithShape="1">
          <a:blip r:embed="rId38">
            <a:clrChange>
              <a:clrFrom>
                <a:srgbClr val="FFFFFF"/>
              </a:clrFrom>
              <a:clrTo>
                <a:srgbClr val="FFFFFF">
                  <a:alpha val="0"/>
                </a:srgbClr>
              </a:clrTo>
            </a:clrChange>
          </a:blip>
          <a:srcRect l="16572" r="20242" b="26084"/>
          <a:stretch/>
        </p:blipFill>
        <p:spPr>
          <a:xfrm>
            <a:off x="3435083" y="5123054"/>
            <a:ext cx="490522" cy="439933"/>
          </a:xfrm>
          <a:prstGeom prst="rect">
            <a:avLst/>
          </a:prstGeom>
        </p:spPr>
      </p:pic>
    </p:spTree>
    <p:extLst>
      <p:ext uri="{BB962C8B-B14F-4D97-AF65-F5344CB8AC3E}">
        <p14:creationId xmlns:p14="http://schemas.microsoft.com/office/powerpoint/2010/main" val="4177494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E16066-D6DF-4110-A787-3591A92B713F}"/>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2DEA96CD-CA1A-4B29-9F04-40E27D680A5A}"/>
              </a:ext>
            </a:extLst>
          </p:cNvPr>
          <p:cNvSpPr>
            <a:spLocks noGrp="1"/>
          </p:cNvSpPr>
          <p:nvPr>
            <p:ph type="sldNum" sz="quarter" idx="12"/>
          </p:nvPr>
        </p:nvSpPr>
        <p:spPr/>
        <p:txBody>
          <a:bodyPr/>
          <a:lstStyle/>
          <a:p>
            <a:fld id="{0D32313A-DEBC-4CA4-B008-A02D4ABE2C72}" type="slidenum">
              <a:rPr lang="en-GB" smtClean="0"/>
              <a:t>5</a:t>
            </a:fld>
            <a:endParaRPr lang="en-GB"/>
          </a:p>
        </p:txBody>
      </p:sp>
      <p:sp>
        <p:nvSpPr>
          <p:cNvPr id="5" name="Title 4">
            <a:extLst>
              <a:ext uri="{FF2B5EF4-FFF2-40B4-BE49-F238E27FC236}">
                <a16:creationId xmlns:a16="http://schemas.microsoft.com/office/drawing/2014/main" id="{0D91DBC6-9826-467B-BE7A-F29DA68B7BE5}"/>
              </a:ext>
            </a:extLst>
          </p:cNvPr>
          <p:cNvSpPr>
            <a:spLocks noGrp="1"/>
          </p:cNvSpPr>
          <p:nvPr>
            <p:ph type="title"/>
          </p:nvPr>
        </p:nvSpPr>
        <p:spPr/>
        <p:txBody>
          <a:bodyPr/>
          <a:lstStyle/>
          <a:p>
            <a:r>
              <a:rPr lang="en-GB"/>
              <a:t>High-level Platform architecture </a:t>
            </a:r>
          </a:p>
        </p:txBody>
      </p:sp>
      <p:pic>
        <p:nvPicPr>
          <p:cNvPr id="6" name="Picture 5">
            <a:extLst>
              <a:ext uri="{FF2B5EF4-FFF2-40B4-BE49-F238E27FC236}">
                <a16:creationId xmlns:a16="http://schemas.microsoft.com/office/drawing/2014/main" id="{05E40ED2-04BE-4E2A-94F2-C712B2B40241}"/>
              </a:ext>
            </a:extLst>
          </p:cNvPr>
          <p:cNvPicPr>
            <a:picLocks noChangeAspect="1"/>
          </p:cNvPicPr>
          <p:nvPr/>
        </p:nvPicPr>
        <p:blipFill>
          <a:blip r:embed="rId2"/>
          <a:stretch>
            <a:fillRect/>
          </a:stretch>
        </p:blipFill>
        <p:spPr>
          <a:xfrm>
            <a:off x="981986" y="964408"/>
            <a:ext cx="6918956" cy="5403809"/>
          </a:xfrm>
          <a:prstGeom prst="rect">
            <a:avLst/>
          </a:prstGeom>
        </p:spPr>
      </p:pic>
      <p:sp>
        <p:nvSpPr>
          <p:cNvPr id="2" name="Rectangle 1">
            <a:extLst>
              <a:ext uri="{FF2B5EF4-FFF2-40B4-BE49-F238E27FC236}">
                <a16:creationId xmlns:a16="http://schemas.microsoft.com/office/drawing/2014/main" id="{30E0AC9A-564A-42AE-80A2-E8AD5FF1B2BF}"/>
              </a:ext>
            </a:extLst>
          </p:cNvPr>
          <p:cNvSpPr/>
          <p:nvPr/>
        </p:nvSpPr>
        <p:spPr>
          <a:xfrm>
            <a:off x="739471" y="6329237"/>
            <a:ext cx="7422543" cy="62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72016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905A46E-D40A-4806-B5AD-4A175E16F2B0}"/>
              </a:ext>
            </a:extLst>
          </p:cNvPr>
          <p:cNvSpPr>
            <a:spLocks noGrp="1"/>
          </p:cNvSpPr>
          <p:nvPr>
            <p:ph idx="1"/>
          </p:nvPr>
        </p:nvSpPr>
        <p:spPr>
          <a:xfrm>
            <a:off x="358775" y="1769687"/>
            <a:ext cx="4057777" cy="4229734"/>
          </a:xfrm>
          <a:ln>
            <a:solidFill>
              <a:schemeClr val="accent2"/>
            </a:solidFill>
          </a:ln>
        </p:spPr>
        <p:txBody>
          <a:bodyPr vert="horz" lIns="54000" tIns="45720" rIns="54000" bIns="45720" rtlCol="0" anchor="t">
            <a:noAutofit/>
          </a:bodyPr>
          <a:lstStyle/>
          <a:p>
            <a:r>
              <a:rPr lang="en-GB" sz="1400" b="1" spc="0">
                <a:latin typeface="Montserrat"/>
              </a:rPr>
              <a:t>Solution Description</a:t>
            </a:r>
            <a:endParaRPr lang="en-GB" sz="1400" b="1" spc="0"/>
          </a:p>
          <a:p>
            <a:pPr marL="285750" indent="-285750">
              <a:lnSpc>
                <a:spcPct val="100000"/>
              </a:lnSpc>
              <a:spcBef>
                <a:spcPts val="600"/>
              </a:spcBef>
              <a:buFontTx/>
              <a:buChar char="-"/>
            </a:pPr>
            <a:r>
              <a:rPr lang="en-GB" sz="1000" spc="0">
                <a:latin typeface="Montserrat"/>
              </a:rPr>
              <a:t>This option is planned to deliver all the Connect components but limit the integration scope. The leasing journey, move-in / move-out and renewals processes would be built in Salesforce and FSI as per plan, but their outputs would have to be manually fed into MRI.</a:t>
            </a:r>
          </a:p>
          <a:p>
            <a:pPr marL="285750" indent="-285750">
              <a:lnSpc>
                <a:spcPct val="100000"/>
              </a:lnSpc>
              <a:spcBef>
                <a:spcPts val="600"/>
              </a:spcBef>
              <a:buFontTx/>
              <a:buChar char="-"/>
            </a:pPr>
            <a:r>
              <a:rPr lang="en-GB" sz="1000" spc="0">
                <a:latin typeface="Montserrat"/>
              </a:rPr>
              <a:t>The MRI customisation scope would also be significantly reduced, as the most complex FRDs in the plan are exactly those to adapt MRI to deliver these processes.</a:t>
            </a:r>
          </a:p>
          <a:p>
            <a:pPr marL="285750" indent="-285750">
              <a:lnSpc>
                <a:spcPct val="100000"/>
              </a:lnSpc>
              <a:spcBef>
                <a:spcPts val="600"/>
              </a:spcBef>
              <a:buFontTx/>
              <a:buChar char="-"/>
            </a:pPr>
            <a:r>
              <a:rPr lang="en-GB" sz="1000" spc="0">
                <a:latin typeface="Montserrat"/>
              </a:rPr>
              <a:t>Individual components (e.g. Salesforce) can have their scope limited by the time we have available.</a:t>
            </a:r>
          </a:p>
        </p:txBody>
      </p:sp>
      <p:sp>
        <p:nvSpPr>
          <p:cNvPr id="6" name="Title 5">
            <a:extLst>
              <a:ext uri="{FF2B5EF4-FFF2-40B4-BE49-F238E27FC236}">
                <a16:creationId xmlns:a16="http://schemas.microsoft.com/office/drawing/2014/main" id="{AA1C7C45-8439-4DEC-96E0-146882965557}"/>
              </a:ext>
            </a:extLst>
          </p:cNvPr>
          <p:cNvSpPr>
            <a:spLocks noGrp="1"/>
          </p:cNvSpPr>
          <p:nvPr>
            <p:ph type="title"/>
          </p:nvPr>
        </p:nvSpPr>
        <p:spPr>
          <a:xfrm>
            <a:off x="358775" y="270090"/>
            <a:ext cx="8426450" cy="581897"/>
          </a:xfrm>
        </p:spPr>
        <p:txBody>
          <a:bodyPr/>
          <a:lstStyle/>
          <a:p>
            <a:r>
              <a:rPr lang="en-GB" sz="2800"/>
              <a:t>Delivery Option 4 – Offline L2L Journey</a:t>
            </a:r>
          </a:p>
        </p:txBody>
      </p:sp>
      <p:sp>
        <p:nvSpPr>
          <p:cNvPr id="10" name="Content Placeholder 6">
            <a:extLst>
              <a:ext uri="{FF2B5EF4-FFF2-40B4-BE49-F238E27FC236}">
                <a16:creationId xmlns:a16="http://schemas.microsoft.com/office/drawing/2014/main" id="{62A81E06-FD44-4A58-BD45-8DA990897CA0}"/>
              </a:ext>
            </a:extLst>
          </p:cNvPr>
          <p:cNvSpPr txBox="1">
            <a:spLocks/>
          </p:cNvSpPr>
          <p:nvPr/>
        </p:nvSpPr>
        <p:spPr>
          <a:xfrm>
            <a:off x="4498848" y="3445986"/>
            <a:ext cx="4529146" cy="1536436"/>
          </a:xfrm>
          <a:prstGeom prst="rect">
            <a:avLst/>
          </a:prstGeom>
          <a:ln>
            <a:solidFill>
              <a:schemeClr val="accent2"/>
            </a:solidFill>
          </a:ln>
        </p:spPr>
        <p:txBody>
          <a:bodyPr vert="horz" lIns="54000" tIns="45720" rIns="54000" bIns="45720" rtlCol="0">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400" b="1" spc="0"/>
              <a:t>Programme Impact</a:t>
            </a:r>
            <a:endParaRPr lang="en-GB" sz="1100" spc="0"/>
          </a:p>
          <a:p>
            <a:pPr marL="182563" indent="-182563">
              <a:spcBef>
                <a:spcPts val="600"/>
              </a:spcBef>
              <a:buFontTx/>
              <a:buChar char="-"/>
            </a:pPr>
            <a:r>
              <a:rPr lang="en-GB" sz="1000" b="1" spc="0"/>
              <a:t>Timescale</a:t>
            </a:r>
            <a:r>
              <a:rPr lang="en-GB" sz="1000" spc="0"/>
              <a:t> – more confidence to meet target Go-Live</a:t>
            </a:r>
          </a:p>
          <a:p>
            <a:pPr marL="182563" indent="-182563">
              <a:spcBef>
                <a:spcPts val="600"/>
              </a:spcBef>
              <a:buFontTx/>
              <a:buChar char="-"/>
            </a:pPr>
            <a:r>
              <a:rPr lang="en-GB" sz="1000" b="1" spc="0"/>
              <a:t>Cost </a:t>
            </a:r>
            <a:r>
              <a:rPr lang="en-GB" sz="1000" spc="0"/>
              <a:t>– close to existing budget (to be validated), but increasing to deliver full solution and integrations post Phase 1</a:t>
            </a:r>
          </a:p>
          <a:p>
            <a:pPr marL="182563" indent="-182563">
              <a:spcBef>
                <a:spcPts val="600"/>
              </a:spcBef>
              <a:buFontTx/>
              <a:buChar char="-"/>
            </a:pPr>
            <a:r>
              <a:rPr lang="en-GB" sz="1000" b="1" spc="0"/>
              <a:t>Quality</a:t>
            </a:r>
            <a:r>
              <a:rPr lang="en-GB" sz="1000" spc="0"/>
              <a:t> – may be compromised but less pressured than option 1</a:t>
            </a:r>
          </a:p>
          <a:p>
            <a:pPr marL="182563" indent="-182563">
              <a:spcBef>
                <a:spcPts val="600"/>
              </a:spcBef>
              <a:buFontTx/>
              <a:buChar char="-"/>
            </a:pPr>
            <a:r>
              <a:rPr lang="en-GB" sz="1000" b="1" spc="0"/>
              <a:t>Complexity </a:t>
            </a:r>
            <a:r>
              <a:rPr lang="en-GB" sz="1000" spc="0"/>
              <a:t>– highest-complexity elements removed from scope for go-live</a:t>
            </a:r>
          </a:p>
          <a:p>
            <a:endParaRPr lang="en-GB" b="1" spc="0"/>
          </a:p>
        </p:txBody>
      </p:sp>
      <p:sp>
        <p:nvSpPr>
          <p:cNvPr id="13" name="Content Placeholder 6">
            <a:extLst>
              <a:ext uri="{FF2B5EF4-FFF2-40B4-BE49-F238E27FC236}">
                <a16:creationId xmlns:a16="http://schemas.microsoft.com/office/drawing/2014/main" id="{AD11694E-F6CE-42F2-AD5B-E1487EB0AFBC}"/>
              </a:ext>
            </a:extLst>
          </p:cNvPr>
          <p:cNvSpPr txBox="1">
            <a:spLocks/>
          </p:cNvSpPr>
          <p:nvPr/>
        </p:nvSpPr>
        <p:spPr>
          <a:xfrm>
            <a:off x="4498848" y="5044344"/>
            <a:ext cx="4529146" cy="1278596"/>
          </a:xfrm>
          <a:prstGeom prst="rect">
            <a:avLst/>
          </a:prstGeom>
          <a:ln>
            <a:solidFill>
              <a:schemeClr val="accent2"/>
            </a:solidFill>
          </a:ln>
        </p:spPr>
        <p:txBody>
          <a:bodyPr vert="horz" lIns="54000" tIns="45720" rIns="54000" bIns="45720" rtlCol="0" anchor="t">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400" b="1" spc="0">
                <a:latin typeface="Montserrat"/>
              </a:rPr>
              <a:t>Benefits Impact </a:t>
            </a:r>
            <a:endParaRPr lang="en-GB" sz="1100" spc="0">
              <a:latin typeface="Montserrat"/>
            </a:endParaRPr>
          </a:p>
          <a:p>
            <a:pPr marL="182563" indent="-182563">
              <a:spcBef>
                <a:spcPts val="600"/>
              </a:spcBef>
              <a:buFontTx/>
              <a:buChar char="-"/>
            </a:pPr>
            <a:r>
              <a:rPr lang="en-GB" sz="1000" b="1" spc="0"/>
              <a:t>Customer Experience</a:t>
            </a:r>
            <a:r>
              <a:rPr lang="en-GB" sz="1000" spc="0"/>
              <a:t> – delivered against business case</a:t>
            </a:r>
            <a:endParaRPr lang="en-GB" sz="1000" b="1" spc="0"/>
          </a:p>
          <a:p>
            <a:pPr marL="182563" indent="-182563">
              <a:spcBef>
                <a:spcPts val="600"/>
              </a:spcBef>
              <a:buFontTx/>
              <a:buChar char="-"/>
            </a:pPr>
            <a:r>
              <a:rPr lang="en-GB" sz="1000" b="1" spc="0"/>
              <a:t>Revenue Increase </a:t>
            </a:r>
            <a:r>
              <a:rPr lang="en-GB" sz="1000" spc="0"/>
              <a:t>– delivered against business case</a:t>
            </a:r>
          </a:p>
          <a:p>
            <a:pPr marL="182563" indent="-182563">
              <a:spcBef>
                <a:spcPts val="600"/>
              </a:spcBef>
              <a:buFontTx/>
              <a:buChar char="-"/>
            </a:pPr>
            <a:r>
              <a:rPr lang="en-GB" sz="1000" b="1" spc="0"/>
              <a:t>Cost Savings / Efficiencies </a:t>
            </a:r>
            <a:r>
              <a:rPr lang="en-GB" sz="1000" spc="0"/>
              <a:t>– lower than business case due to reduced number of integrations</a:t>
            </a:r>
          </a:p>
          <a:p>
            <a:pPr marL="182563" indent="-182563">
              <a:spcBef>
                <a:spcPts val="600"/>
              </a:spcBef>
              <a:buFontTx/>
              <a:buChar char="-"/>
            </a:pPr>
            <a:r>
              <a:rPr lang="en-GB" sz="1000" b="1" spc="0"/>
              <a:t>License to Operate </a:t>
            </a:r>
            <a:r>
              <a:rPr lang="en-GB" sz="1000" spc="0"/>
              <a:t>– delivered against business case</a:t>
            </a:r>
          </a:p>
        </p:txBody>
      </p:sp>
      <p:sp>
        <p:nvSpPr>
          <p:cNvPr id="15" name="Content Placeholder 6">
            <a:extLst>
              <a:ext uri="{FF2B5EF4-FFF2-40B4-BE49-F238E27FC236}">
                <a16:creationId xmlns:a16="http://schemas.microsoft.com/office/drawing/2014/main" id="{A3A07440-5F86-4B8E-B62C-0DD8DA88E382}"/>
              </a:ext>
            </a:extLst>
          </p:cNvPr>
          <p:cNvSpPr txBox="1">
            <a:spLocks/>
          </p:cNvSpPr>
          <p:nvPr/>
        </p:nvSpPr>
        <p:spPr>
          <a:xfrm>
            <a:off x="4498848" y="1769685"/>
            <a:ext cx="4529146" cy="1536437"/>
          </a:xfrm>
          <a:prstGeom prst="rect">
            <a:avLst/>
          </a:prstGeom>
          <a:ln>
            <a:solidFill>
              <a:schemeClr val="accent2"/>
            </a:solidFill>
          </a:ln>
        </p:spPr>
        <p:txBody>
          <a:bodyPr vert="horz" lIns="54000" tIns="45720" rIns="54000" bIns="45720" rtlCol="0">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accent2"/>
                </a:solidFill>
                <a:latin typeface="Montserrat" panose="02000505000000020004" pitchFamily="2" charset="0"/>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tx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tx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tx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400" b="1" spc="0"/>
              <a:t>Key Risks &amp; Limitations</a:t>
            </a:r>
          </a:p>
          <a:p>
            <a:pPr marL="182563" indent="-182563">
              <a:lnSpc>
                <a:spcPct val="100000"/>
              </a:lnSpc>
              <a:spcBef>
                <a:spcPts val="600"/>
              </a:spcBef>
              <a:buFontTx/>
              <a:buChar char="-"/>
            </a:pPr>
            <a:r>
              <a:rPr lang="en-GB" sz="1000" spc="0"/>
              <a:t>Although this solution removes scope from the critical path of the programme (MRI and integration), this may still not be enough to guarantee a safe delivery ready for go-live for June 2020; if critical path moves elsewhere, more scope reduction may be needed.</a:t>
            </a:r>
          </a:p>
          <a:p>
            <a:pPr marL="182563" indent="-182563">
              <a:lnSpc>
                <a:spcPct val="100000"/>
              </a:lnSpc>
              <a:spcBef>
                <a:spcPts val="600"/>
              </a:spcBef>
              <a:buFontTx/>
              <a:buChar char="-"/>
            </a:pPr>
            <a:r>
              <a:rPr lang="en-GB" sz="1000" spc="0"/>
              <a:t>The manual work to feed MRI from Salesforce / FSI data would create a temporary operational inefficiency (and some operational risk), which will detract from the benefits</a:t>
            </a:r>
          </a:p>
          <a:p>
            <a:pPr marL="285750" indent="-285750">
              <a:spcBef>
                <a:spcPts val="600"/>
              </a:spcBef>
              <a:buFontTx/>
              <a:buChar char="-"/>
            </a:pPr>
            <a:endParaRPr lang="en-GB" sz="1000" spc="0"/>
          </a:p>
        </p:txBody>
      </p:sp>
      <p:sp>
        <p:nvSpPr>
          <p:cNvPr id="16" name="Content Placeholder 5">
            <a:extLst>
              <a:ext uri="{FF2B5EF4-FFF2-40B4-BE49-F238E27FC236}">
                <a16:creationId xmlns:a16="http://schemas.microsoft.com/office/drawing/2014/main" id="{14769A85-A994-424B-A17D-EAF39FE6098E}"/>
              </a:ext>
            </a:extLst>
          </p:cNvPr>
          <p:cNvSpPr txBox="1">
            <a:spLocks/>
          </p:cNvSpPr>
          <p:nvPr/>
        </p:nvSpPr>
        <p:spPr>
          <a:xfrm>
            <a:off x="385165" y="1051554"/>
            <a:ext cx="8426450" cy="660093"/>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lvl1pPr marL="0" indent="0" algn="l" defTabSz="685796" rtl="0" eaLnBrk="1" latinLnBrk="0" hangingPunct="1">
              <a:lnSpc>
                <a:spcPct val="90000"/>
              </a:lnSpc>
              <a:spcBef>
                <a:spcPts val="1200"/>
              </a:spcBef>
              <a:buFont typeface="Arial" panose="020B0604020202020204" pitchFamily="34" charset="0"/>
              <a:buNone/>
              <a:defRPr sz="1800" b="0" kern="1200" spc="-80" baseline="0">
                <a:solidFill>
                  <a:schemeClr val="lt1"/>
                </a:solidFill>
                <a:latin typeface="+mn-lt"/>
                <a:ea typeface="+mn-ea"/>
                <a:cs typeface="+mn-cs"/>
              </a:defRPr>
            </a:lvl1pPr>
            <a:lvl2pPr marL="177799" indent="-177799" algn="l" defTabSz="685796" rtl="0" eaLnBrk="1" latinLnBrk="0" hangingPunct="1">
              <a:lnSpc>
                <a:spcPct val="90000"/>
              </a:lnSpc>
              <a:spcBef>
                <a:spcPts val="300"/>
              </a:spcBef>
              <a:spcAft>
                <a:spcPts val="300"/>
              </a:spcAft>
              <a:buSzPct val="80000"/>
              <a:buFontTx/>
              <a:buBlip>
                <a:blip r:embed="rId2"/>
              </a:buBlip>
              <a:defRPr sz="1600" kern="1200" spc="-80" baseline="0">
                <a:solidFill>
                  <a:schemeClr val="lt1"/>
                </a:solidFill>
                <a:latin typeface="+mn-lt"/>
                <a:ea typeface="+mn-ea"/>
                <a:cs typeface="+mn-cs"/>
              </a:defRPr>
            </a:lvl2pPr>
            <a:lvl3pPr marL="358773"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400" kern="1200" spc="-80" baseline="0">
                <a:solidFill>
                  <a:schemeClr val="lt1"/>
                </a:solidFill>
                <a:latin typeface="+mn-lt"/>
                <a:ea typeface="+mn-ea"/>
                <a:cs typeface="+mn-cs"/>
              </a:defRPr>
            </a:lvl3pPr>
            <a:lvl4pPr marL="536572" indent="-177799"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4pPr>
            <a:lvl5pPr marL="717546" indent="-180974" algn="l" defTabSz="685796" rtl="0" eaLnBrk="1" latinLnBrk="0" hangingPunct="1">
              <a:lnSpc>
                <a:spcPct val="90000"/>
              </a:lnSpc>
              <a:spcBef>
                <a:spcPts val="300"/>
              </a:spcBef>
              <a:spcAft>
                <a:spcPts val="300"/>
              </a:spcAft>
              <a:buClr>
                <a:schemeClr val="accent2"/>
              </a:buClr>
              <a:buSzPct val="80000"/>
              <a:buFont typeface="Arial" panose="020B0604020202020204" pitchFamily="34" charset="0"/>
              <a:buChar char="‒"/>
              <a:defRPr sz="1200" kern="1200" spc="-80" baseline="0">
                <a:solidFill>
                  <a:schemeClr val="lt1"/>
                </a:solidFill>
                <a:latin typeface="+mn-lt"/>
                <a:ea typeface="+mn-ea"/>
                <a:cs typeface="+mn-cs"/>
              </a:defRPr>
            </a:lvl5pPr>
            <a:lvl6pPr marL="1885939"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6pPr>
            <a:lvl7pPr marL="2228837"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7pPr>
            <a:lvl8pPr marL="2571735"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8pPr>
            <a:lvl9pPr marL="2914633" indent="-171449" algn="l" defTabSz="685796" rtl="0" eaLnBrk="1" latinLnBrk="0" hangingPunct="1">
              <a:lnSpc>
                <a:spcPct val="90000"/>
              </a:lnSpc>
              <a:spcBef>
                <a:spcPts val="375"/>
              </a:spcBef>
              <a:buFont typeface="Arial" panose="020B0604020202020204" pitchFamily="34" charset="0"/>
              <a:buChar char="•"/>
              <a:defRPr sz="1350" kern="1200">
                <a:solidFill>
                  <a:schemeClr val="lt1"/>
                </a:solidFill>
                <a:latin typeface="+mn-lt"/>
                <a:ea typeface="+mn-ea"/>
                <a:cs typeface="+mn-cs"/>
              </a:defRPr>
            </a:lvl9pPr>
          </a:lstStyle>
          <a:p>
            <a:r>
              <a:rPr lang="en-GB" sz="1200" spc="0">
                <a:solidFill>
                  <a:schemeClr val="accent2"/>
                </a:solidFill>
                <a:latin typeface="Montserrat" panose="00000500000000000000" pitchFamily="50" charset="0"/>
              </a:rPr>
              <a:t>In December 2019 we agreed to deliver what we called the ‘Option 4’ among many to de-risk the delivery of Connect. It is predicated on us delivering most of the Connect components as per the current plan, but leave the </a:t>
            </a:r>
            <a:r>
              <a:rPr lang="en-GB" sz="1200" b="1" i="1" spc="0">
                <a:solidFill>
                  <a:schemeClr val="accent2"/>
                </a:solidFill>
                <a:latin typeface="Montserrat" panose="00000500000000000000" pitchFamily="50" charset="0"/>
              </a:rPr>
              <a:t>integration</a:t>
            </a:r>
            <a:r>
              <a:rPr lang="en-GB" sz="1200" spc="0">
                <a:solidFill>
                  <a:schemeClr val="accent2"/>
                </a:solidFill>
                <a:latin typeface="Montserrat" panose="00000500000000000000" pitchFamily="50" charset="0"/>
              </a:rPr>
              <a:t> of the leasing journey (including Move-In / Move-Out and renewals) for after go-live.</a:t>
            </a:r>
            <a:r>
              <a:rPr lang="en-GB" sz="1200" spc="0">
                <a:solidFill>
                  <a:srgbClr val="FF0000"/>
                </a:solidFill>
                <a:latin typeface="Montserrat" panose="00000500000000000000" pitchFamily="50" charset="0"/>
              </a:rPr>
              <a:t> </a:t>
            </a:r>
            <a:r>
              <a:rPr lang="en-GB" sz="1200" spc="0">
                <a:solidFill>
                  <a:schemeClr val="accent2"/>
                </a:solidFill>
                <a:latin typeface="Montserrat" panose="00000500000000000000" pitchFamily="50" charset="0"/>
              </a:rPr>
              <a:t>As with the other options the My Grainger portal element is expected to be delivered shortly after go-live.</a:t>
            </a:r>
          </a:p>
        </p:txBody>
      </p:sp>
      <p:grpSp>
        <p:nvGrpSpPr>
          <p:cNvPr id="3" name="Group 2">
            <a:extLst>
              <a:ext uri="{FF2B5EF4-FFF2-40B4-BE49-F238E27FC236}">
                <a16:creationId xmlns:a16="http://schemas.microsoft.com/office/drawing/2014/main" id="{AE96D0C6-612F-43E4-9DCA-439EAD6DEBB7}"/>
              </a:ext>
            </a:extLst>
          </p:cNvPr>
          <p:cNvGrpSpPr/>
          <p:nvPr/>
        </p:nvGrpSpPr>
        <p:grpSpPr>
          <a:xfrm>
            <a:off x="233938" y="3831336"/>
            <a:ext cx="4222369" cy="2491948"/>
            <a:chOff x="233938" y="3667530"/>
            <a:chExt cx="4222369" cy="2655754"/>
          </a:xfrm>
        </p:grpSpPr>
        <p:pic>
          <p:nvPicPr>
            <p:cNvPr id="4" name="Picture 3">
              <a:extLst>
                <a:ext uri="{FF2B5EF4-FFF2-40B4-BE49-F238E27FC236}">
                  <a16:creationId xmlns:a16="http://schemas.microsoft.com/office/drawing/2014/main" id="{A173CC55-62AB-415B-B3D9-E0425C8E04E5}"/>
                </a:ext>
              </a:extLst>
            </p:cNvPr>
            <p:cNvPicPr>
              <a:picLocks noChangeAspect="1"/>
            </p:cNvPicPr>
            <p:nvPr/>
          </p:nvPicPr>
          <p:blipFill>
            <a:blip r:embed="rId3"/>
            <a:stretch>
              <a:fillRect/>
            </a:stretch>
          </p:blipFill>
          <p:spPr>
            <a:xfrm>
              <a:off x="233938" y="3667530"/>
              <a:ext cx="4222369" cy="2655754"/>
            </a:xfrm>
            <a:prstGeom prst="rect">
              <a:avLst/>
            </a:prstGeom>
            <a:solidFill>
              <a:schemeClr val="bg1"/>
            </a:solidFill>
            <a:ln>
              <a:solidFill>
                <a:schemeClr val="tx1"/>
              </a:solidFill>
            </a:ln>
          </p:spPr>
        </p:pic>
        <p:sp>
          <p:nvSpPr>
            <p:cNvPr id="2" name="Rectangle 1">
              <a:extLst>
                <a:ext uri="{FF2B5EF4-FFF2-40B4-BE49-F238E27FC236}">
                  <a16:creationId xmlns:a16="http://schemas.microsoft.com/office/drawing/2014/main" id="{DE4DD5B1-DE99-49E2-99BE-3BED8BA2EA2A}"/>
                </a:ext>
              </a:extLst>
            </p:cNvPr>
            <p:cNvSpPr/>
            <p:nvPr/>
          </p:nvSpPr>
          <p:spPr>
            <a:xfrm>
              <a:off x="1316334" y="4568651"/>
              <a:ext cx="2120202" cy="123929"/>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00" b="1">
                  <a:solidFill>
                    <a:schemeClr val="tx1"/>
                  </a:solidFill>
                  <a:latin typeface="Calibri" panose="020F0502020204030204" pitchFamily="34" charset="0"/>
                  <a:cs typeface="Calibri" panose="020F0502020204030204" pitchFamily="34" charset="0"/>
                </a:rPr>
                <a:t>GREP – Partial Implementation</a:t>
              </a:r>
            </a:p>
          </p:txBody>
        </p:sp>
        <p:sp>
          <p:nvSpPr>
            <p:cNvPr id="12" name="Rectangle 11">
              <a:extLst>
                <a:ext uri="{FF2B5EF4-FFF2-40B4-BE49-F238E27FC236}">
                  <a16:creationId xmlns:a16="http://schemas.microsoft.com/office/drawing/2014/main" id="{894BE313-A86D-4856-9B16-83530D2D662B}"/>
                </a:ext>
              </a:extLst>
            </p:cNvPr>
            <p:cNvSpPr/>
            <p:nvPr/>
          </p:nvSpPr>
          <p:spPr>
            <a:xfrm>
              <a:off x="3811675" y="4173415"/>
              <a:ext cx="545960" cy="127281"/>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00" b="1">
                  <a:solidFill>
                    <a:schemeClr val="tx1"/>
                  </a:solidFill>
                  <a:latin typeface="Calibri" panose="020F0502020204030204" pitchFamily="34" charset="0"/>
                  <a:cs typeface="Calibri" panose="020F0502020204030204" pitchFamily="34" charset="0"/>
                </a:rPr>
                <a:t>Go Cardless &amp; Sage Pay</a:t>
              </a:r>
            </a:p>
          </p:txBody>
        </p:sp>
        <p:sp>
          <p:nvSpPr>
            <p:cNvPr id="14" name="Rectangle 13">
              <a:extLst>
                <a:ext uri="{FF2B5EF4-FFF2-40B4-BE49-F238E27FC236}">
                  <a16:creationId xmlns:a16="http://schemas.microsoft.com/office/drawing/2014/main" id="{B3ABEFA1-8A72-4182-BC44-BE3CE9D711AA}"/>
                </a:ext>
              </a:extLst>
            </p:cNvPr>
            <p:cNvSpPr/>
            <p:nvPr/>
          </p:nvSpPr>
          <p:spPr>
            <a:xfrm>
              <a:off x="2076660" y="5192742"/>
              <a:ext cx="622997" cy="123929"/>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500" b="1">
                  <a:solidFill>
                    <a:schemeClr val="tx1"/>
                  </a:solidFill>
                  <a:latin typeface="Calibri" panose="020F0502020204030204" pitchFamily="34" charset="0"/>
                  <a:cs typeface="Calibri" panose="020F0502020204030204" pitchFamily="34" charset="0"/>
                </a:rPr>
                <a:t>MyGrainger – Partial Implementation</a:t>
              </a:r>
            </a:p>
          </p:txBody>
        </p:sp>
        <p:sp>
          <p:nvSpPr>
            <p:cNvPr id="17" name="Rectangle 16">
              <a:extLst>
                <a:ext uri="{FF2B5EF4-FFF2-40B4-BE49-F238E27FC236}">
                  <a16:creationId xmlns:a16="http://schemas.microsoft.com/office/drawing/2014/main" id="{A8EA2372-612B-49F2-A209-B6E68AF03E72}"/>
                </a:ext>
              </a:extLst>
            </p:cNvPr>
            <p:cNvSpPr/>
            <p:nvPr/>
          </p:nvSpPr>
          <p:spPr>
            <a:xfrm>
              <a:off x="3811675" y="3901027"/>
              <a:ext cx="545960" cy="127281"/>
            </a:xfrm>
            <a:prstGeom prst="rect">
              <a:avLst/>
            </a:prstGeom>
            <a:solidFill>
              <a:srgbClr val="FFC00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500" b="1">
                  <a:solidFill>
                    <a:schemeClr val="tx1"/>
                  </a:solidFill>
                  <a:latin typeface="Calibri" panose="020F0502020204030204" pitchFamily="34" charset="0"/>
                  <a:cs typeface="Calibri" panose="020F0502020204030204" pitchFamily="34" charset="0"/>
                </a:rPr>
                <a:t>Salesforce – L2L journey offline</a:t>
              </a:r>
            </a:p>
          </p:txBody>
        </p:sp>
      </p:grpSp>
    </p:spTree>
    <p:extLst>
      <p:ext uri="{BB962C8B-B14F-4D97-AF65-F5344CB8AC3E}">
        <p14:creationId xmlns:p14="http://schemas.microsoft.com/office/powerpoint/2010/main" val="3002755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4A81B7-37C4-47E5-8394-FF5548A68510}"/>
              </a:ext>
            </a:extLst>
          </p:cNvPr>
          <p:cNvSpPr>
            <a:spLocks noGrp="1"/>
          </p:cNvSpPr>
          <p:nvPr>
            <p:ph type="ctrTitle"/>
          </p:nvPr>
        </p:nvSpPr>
        <p:spPr/>
        <p:txBody>
          <a:bodyPr/>
          <a:lstStyle/>
          <a:p>
            <a:r>
              <a:rPr lang="en-GB"/>
              <a:t>Phase 1 Capability summary: </a:t>
            </a:r>
            <a:br>
              <a:rPr lang="en-GB"/>
            </a:br>
            <a:br>
              <a:rPr lang="en-GB"/>
            </a:br>
            <a:r>
              <a:rPr lang="en-GB"/>
              <a:t>Business processes</a:t>
            </a:r>
          </a:p>
        </p:txBody>
      </p:sp>
      <p:sp>
        <p:nvSpPr>
          <p:cNvPr id="3" name="Footer Placeholder 2">
            <a:extLst>
              <a:ext uri="{FF2B5EF4-FFF2-40B4-BE49-F238E27FC236}">
                <a16:creationId xmlns:a16="http://schemas.microsoft.com/office/drawing/2014/main" id="{1FD910CB-0276-4B05-8C2B-A2491E1A8739}"/>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DA56A54C-FA0C-4E6A-83EE-30BB0997E270}"/>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7</a:t>
            </a:fld>
            <a:endParaRPr lang="en-GB"/>
          </a:p>
        </p:txBody>
      </p:sp>
    </p:spTree>
    <p:extLst>
      <p:ext uri="{BB962C8B-B14F-4D97-AF65-F5344CB8AC3E}">
        <p14:creationId xmlns:p14="http://schemas.microsoft.com/office/powerpoint/2010/main" val="9671218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EA5DE75-5F7F-4396-9142-D0630FF42F56}"/>
              </a:ext>
            </a:extLst>
          </p:cNvPr>
          <p:cNvSpPr/>
          <p:nvPr/>
        </p:nvSpPr>
        <p:spPr>
          <a:xfrm>
            <a:off x="358783" y="2399498"/>
            <a:ext cx="1649778" cy="455092"/>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200">
                <a:solidFill>
                  <a:schemeClr val="bg1"/>
                </a:solidFill>
                <a:latin typeface="+mj-lt"/>
              </a:rPr>
              <a:t>Managing Property and Suppliers</a:t>
            </a:r>
          </a:p>
        </p:txBody>
      </p:sp>
      <p:sp>
        <p:nvSpPr>
          <p:cNvPr id="13" name="Rectangle 12">
            <a:extLst>
              <a:ext uri="{FF2B5EF4-FFF2-40B4-BE49-F238E27FC236}">
                <a16:creationId xmlns:a16="http://schemas.microsoft.com/office/drawing/2014/main" id="{D3A42B6E-5ED0-42AD-B05A-23AC7C06B6BB}"/>
              </a:ext>
            </a:extLst>
          </p:cNvPr>
          <p:cNvSpPr/>
          <p:nvPr/>
        </p:nvSpPr>
        <p:spPr>
          <a:xfrm>
            <a:off x="358782" y="2854590"/>
            <a:ext cx="1649778" cy="3160316"/>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90000" rIns="54000" bIns="90000" numCol="1" spcCol="0" rtlCol="0" fromWordArt="0" anchor="t" anchorCtr="0" forceAA="0" compatLnSpc="1">
            <a:prstTxWarp prst="textNoShape">
              <a:avLst/>
            </a:prstTxWarp>
            <a:noAutofit/>
          </a:bodyPr>
          <a:lstStyle/>
          <a:p>
            <a:pPr marL="92075" indent="-92075">
              <a:spcBef>
                <a:spcPts val="1200"/>
              </a:spcBef>
              <a:buFontTx/>
              <a:buChar char="-"/>
            </a:pPr>
            <a:r>
              <a:rPr lang="en-GB" sz="1000">
                <a:solidFill>
                  <a:schemeClr val="tx1"/>
                </a:solidFill>
                <a:latin typeface="Montserrat" panose="00000500000000000000" pitchFamily="50" charset="0"/>
              </a:rPr>
              <a:t>5.02 R&amp;M suppliers / 5.01 Non R&amp;M suppliers</a:t>
            </a:r>
          </a:p>
          <a:p>
            <a:pPr marL="92075" indent="-92075">
              <a:spcBef>
                <a:spcPts val="1200"/>
              </a:spcBef>
              <a:buFontTx/>
              <a:buChar char="-"/>
            </a:pPr>
            <a:r>
              <a:rPr lang="en-GB" sz="1000">
                <a:solidFill>
                  <a:schemeClr val="tx1"/>
                </a:solidFill>
                <a:latin typeface="Montserrat" panose="00000500000000000000" pitchFamily="50" charset="0"/>
              </a:rPr>
              <a:t>6.05 Planned maintenance (PPM)</a:t>
            </a:r>
          </a:p>
          <a:p>
            <a:pPr marL="92075" indent="-92075">
              <a:spcBef>
                <a:spcPts val="1200"/>
              </a:spcBef>
              <a:buFontTx/>
              <a:buChar char="-"/>
            </a:pPr>
            <a:r>
              <a:rPr lang="en-GB" sz="1000">
                <a:solidFill>
                  <a:schemeClr val="tx1"/>
                </a:solidFill>
                <a:latin typeface="Montserrat" panose="00000500000000000000" pitchFamily="50" charset="0"/>
              </a:rPr>
              <a:t>6.09 Reactive Maintenance</a:t>
            </a:r>
          </a:p>
          <a:p>
            <a:pPr marL="92075" indent="-92075">
              <a:spcBef>
                <a:spcPts val="1200"/>
              </a:spcBef>
              <a:buFontTx/>
              <a:buChar char="-"/>
            </a:pPr>
            <a:r>
              <a:rPr lang="en-GB" sz="1000" b="1">
                <a:solidFill>
                  <a:schemeClr val="accent3">
                    <a:lumMod val="75000"/>
                  </a:schemeClr>
                </a:solidFill>
                <a:latin typeface="Montserrat" panose="00000500000000000000" pitchFamily="50" charset="0"/>
              </a:rPr>
              <a:t>6.10 3</a:t>
            </a:r>
            <a:r>
              <a:rPr lang="en-GB" sz="1000" b="1" baseline="30000">
                <a:solidFill>
                  <a:schemeClr val="accent3">
                    <a:lumMod val="75000"/>
                  </a:schemeClr>
                </a:solidFill>
                <a:latin typeface="Montserrat" panose="00000500000000000000" pitchFamily="50" charset="0"/>
              </a:rPr>
              <a:t>rd</a:t>
            </a:r>
            <a:r>
              <a:rPr lang="en-GB" sz="1000" b="1">
                <a:solidFill>
                  <a:schemeClr val="accent3">
                    <a:lumMod val="75000"/>
                  </a:schemeClr>
                </a:solidFill>
                <a:latin typeface="Montserrat" panose="00000500000000000000" pitchFamily="50" charset="0"/>
              </a:rPr>
              <a:t> Party Supplier (Kier)*</a:t>
            </a:r>
          </a:p>
          <a:p>
            <a:pPr marL="92075" indent="-92075">
              <a:spcBef>
                <a:spcPts val="1200"/>
              </a:spcBef>
              <a:buFontTx/>
              <a:buChar char="-"/>
            </a:pPr>
            <a:r>
              <a:rPr lang="en-GB" sz="1000">
                <a:solidFill>
                  <a:schemeClr val="tx1"/>
                </a:solidFill>
                <a:latin typeface="Montserrat" panose="00000500000000000000" pitchFamily="50" charset="0"/>
              </a:rPr>
              <a:t>4.02 Complaints and compliments</a:t>
            </a:r>
          </a:p>
          <a:p>
            <a:pPr marL="92075" indent="-92075">
              <a:spcBef>
                <a:spcPts val="1200"/>
              </a:spcBef>
              <a:buFontTx/>
              <a:buChar char="-"/>
            </a:pPr>
            <a:r>
              <a:rPr lang="en-GB" sz="1000">
                <a:solidFill>
                  <a:schemeClr val="tx1"/>
                </a:solidFill>
                <a:latin typeface="Montserrat" panose="00000500000000000000" pitchFamily="50" charset="0"/>
              </a:rPr>
              <a:t>8.05 P2P</a:t>
            </a:r>
          </a:p>
        </p:txBody>
      </p:sp>
      <p:sp>
        <p:nvSpPr>
          <p:cNvPr id="15" name="Rectangle 14">
            <a:extLst>
              <a:ext uri="{FF2B5EF4-FFF2-40B4-BE49-F238E27FC236}">
                <a16:creationId xmlns:a16="http://schemas.microsoft.com/office/drawing/2014/main" id="{4E805A27-DE1C-459D-80CF-FC1BB33196D0}"/>
              </a:ext>
            </a:extLst>
          </p:cNvPr>
          <p:cNvSpPr/>
          <p:nvPr/>
        </p:nvSpPr>
        <p:spPr>
          <a:xfrm>
            <a:off x="2052950" y="2399498"/>
            <a:ext cx="1649778" cy="471259"/>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200">
                <a:solidFill>
                  <a:schemeClr val="bg1"/>
                </a:solidFill>
                <a:latin typeface="+mj-lt"/>
              </a:rPr>
              <a:t>Collecting Payments</a:t>
            </a:r>
          </a:p>
        </p:txBody>
      </p:sp>
      <p:sp>
        <p:nvSpPr>
          <p:cNvPr id="16" name="Rectangle 15">
            <a:extLst>
              <a:ext uri="{FF2B5EF4-FFF2-40B4-BE49-F238E27FC236}">
                <a16:creationId xmlns:a16="http://schemas.microsoft.com/office/drawing/2014/main" id="{376855EF-50B9-4BCB-9E6C-EF33E1DA952C}"/>
              </a:ext>
            </a:extLst>
          </p:cNvPr>
          <p:cNvSpPr/>
          <p:nvPr/>
        </p:nvSpPr>
        <p:spPr>
          <a:xfrm>
            <a:off x="2052949" y="2870756"/>
            <a:ext cx="1649778" cy="3144150"/>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90000" rIns="54000" bIns="90000" numCol="1" spcCol="0" rtlCol="0" fromWordArt="0" anchor="t" anchorCtr="0" forceAA="0" compatLnSpc="1">
            <a:prstTxWarp prst="textNoShape">
              <a:avLst/>
            </a:prstTxWarp>
            <a:noAutofit/>
          </a:bodyPr>
          <a:lstStyle/>
          <a:p>
            <a:pPr marL="92075" indent="-92075">
              <a:spcBef>
                <a:spcPts val="1200"/>
              </a:spcBef>
              <a:buFontTx/>
              <a:buChar char="-"/>
            </a:pPr>
            <a:r>
              <a:rPr lang="en-GB" sz="1000">
                <a:solidFill>
                  <a:schemeClr val="tx1"/>
                </a:solidFill>
                <a:latin typeface="Montserrat" panose="00000500000000000000" pitchFamily="50" charset="0"/>
              </a:rPr>
              <a:t>3.01 Collecting rents and charges</a:t>
            </a:r>
          </a:p>
          <a:p>
            <a:pPr marL="92075" indent="-92075">
              <a:spcBef>
                <a:spcPts val="1200"/>
              </a:spcBef>
              <a:buFontTx/>
              <a:buChar char="-"/>
            </a:pPr>
            <a:r>
              <a:rPr lang="en-GB" sz="1000">
                <a:solidFill>
                  <a:schemeClr val="tx1"/>
                </a:solidFill>
                <a:latin typeface="Montserrat" panose="00000500000000000000" pitchFamily="50" charset="0"/>
              </a:rPr>
              <a:t>3.03 Manage rent arrears</a:t>
            </a:r>
          </a:p>
          <a:p>
            <a:pPr marL="92075" indent="-92075">
              <a:spcBef>
                <a:spcPts val="1200"/>
              </a:spcBef>
              <a:buFontTx/>
              <a:buChar char="-"/>
            </a:pPr>
            <a:r>
              <a:rPr lang="en-GB" sz="1000">
                <a:solidFill>
                  <a:schemeClr val="tx1"/>
                </a:solidFill>
                <a:latin typeface="Montserrat" panose="00000500000000000000" pitchFamily="50" charset="0"/>
              </a:rPr>
              <a:t>4.01 Booking and paying for amenities</a:t>
            </a:r>
          </a:p>
          <a:p>
            <a:pPr marL="92075" indent="-92075">
              <a:spcBef>
                <a:spcPts val="1200"/>
              </a:spcBef>
              <a:buFontTx/>
              <a:buChar char="-"/>
            </a:pPr>
            <a:r>
              <a:rPr lang="en-GB" sz="1000">
                <a:solidFill>
                  <a:schemeClr val="tx1"/>
                </a:solidFill>
                <a:latin typeface="Montserrat" panose="00000500000000000000" pitchFamily="50" charset="0"/>
              </a:rPr>
              <a:t>4.03 Corporate AR</a:t>
            </a:r>
          </a:p>
        </p:txBody>
      </p:sp>
      <p:sp>
        <p:nvSpPr>
          <p:cNvPr id="18" name="Rectangle 17">
            <a:extLst>
              <a:ext uri="{FF2B5EF4-FFF2-40B4-BE49-F238E27FC236}">
                <a16:creationId xmlns:a16="http://schemas.microsoft.com/office/drawing/2014/main" id="{D5D6DAC6-7C7F-48FE-9C8C-EE2EF5D2A246}"/>
              </a:ext>
            </a:extLst>
          </p:cNvPr>
          <p:cNvSpPr/>
          <p:nvPr/>
        </p:nvSpPr>
        <p:spPr>
          <a:xfrm>
            <a:off x="5441278" y="2399498"/>
            <a:ext cx="1649778" cy="448641"/>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200">
                <a:solidFill>
                  <a:schemeClr val="bg1"/>
                </a:solidFill>
                <a:latin typeface="+mj-lt"/>
              </a:rPr>
              <a:t>Onboarding</a:t>
            </a:r>
          </a:p>
          <a:p>
            <a:pPr algn="ctr"/>
            <a:r>
              <a:rPr lang="en-GB" sz="1200">
                <a:solidFill>
                  <a:schemeClr val="bg1"/>
                </a:solidFill>
                <a:latin typeface="+mj-lt"/>
              </a:rPr>
              <a:t>(+ </a:t>
            </a:r>
            <a:r>
              <a:rPr lang="en-GB" sz="1200">
                <a:solidFill>
                  <a:schemeClr val="bg1"/>
                </a:solidFill>
              </a:rPr>
              <a:t>Invest, Develop)</a:t>
            </a:r>
            <a:endParaRPr lang="en-GB" sz="1200">
              <a:solidFill>
                <a:schemeClr val="bg1"/>
              </a:solidFill>
              <a:latin typeface="+mj-lt"/>
            </a:endParaRPr>
          </a:p>
        </p:txBody>
      </p:sp>
      <p:sp>
        <p:nvSpPr>
          <p:cNvPr id="19" name="Rectangle 18">
            <a:extLst>
              <a:ext uri="{FF2B5EF4-FFF2-40B4-BE49-F238E27FC236}">
                <a16:creationId xmlns:a16="http://schemas.microsoft.com/office/drawing/2014/main" id="{4A131070-CEC2-477D-808C-CF7233DA824B}"/>
              </a:ext>
            </a:extLst>
          </p:cNvPr>
          <p:cNvSpPr/>
          <p:nvPr/>
        </p:nvSpPr>
        <p:spPr>
          <a:xfrm>
            <a:off x="5441277" y="2848138"/>
            <a:ext cx="1649778" cy="3166768"/>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90000" rIns="54000" bIns="90000" numCol="1" spcCol="0" rtlCol="0" fromWordArt="0" anchor="t" anchorCtr="0" forceAA="0" compatLnSpc="1">
            <a:prstTxWarp prst="textNoShape">
              <a:avLst/>
            </a:prstTxWarp>
            <a:noAutofit/>
          </a:bodyPr>
          <a:lstStyle/>
          <a:p>
            <a:pPr marL="92075" indent="-92075">
              <a:spcBef>
                <a:spcPts val="1200"/>
              </a:spcBef>
              <a:buFontTx/>
              <a:buChar char="-"/>
            </a:pPr>
            <a:r>
              <a:rPr lang="en-GB" sz="1000">
                <a:solidFill>
                  <a:schemeClr val="tx1"/>
                </a:solidFill>
                <a:latin typeface="Montserrat" panose="00000500000000000000" pitchFamily="50" charset="0"/>
              </a:rPr>
              <a:t>6.04 Onboarding</a:t>
            </a:r>
          </a:p>
          <a:p>
            <a:pPr marL="92075" indent="-92075">
              <a:spcBef>
                <a:spcPts val="1200"/>
              </a:spcBef>
              <a:buFontTx/>
              <a:buChar char="-"/>
            </a:pPr>
            <a:r>
              <a:rPr lang="en-GB" sz="1000">
                <a:solidFill>
                  <a:schemeClr val="tx1"/>
                </a:solidFill>
                <a:latin typeface="Montserrat" panose="00000500000000000000" pitchFamily="50" charset="0"/>
              </a:rPr>
              <a:t>0.01 Develop</a:t>
            </a:r>
          </a:p>
          <a:p>
            <a:pPr marL="92075" indent="-92075">
              <a:spcBef>
                <a:spcPts val="1200"/>
              </a:spcBef>
              <a:buFontTx/>
              <a:buChar char="-"/>
            </a:pPr>
            <a:r>
              <a:rPr lang="en-GB" sz="1000">
                <a:solidFill>
                  <a:schemeClr val="tx1"/>
                </a:solidFill>
                <a:latin typeface="Montserrat" panose="00000500000000000000" pitchFamily="50" charset="0"/>
              </a:rPr>
              <a:t>0.02 Invest</a:t>
            </a:r>
          </a:p>
          <a:p>
            <a:pPr marL="92075" indent="-92075">
              <a:spcBef>
                <a:spcPts val="1200"/>
              </a:spcBef>
              <a:buFontTx/>
              <a:buChar char="-"/>
            </a:pPr>
            <a:r>
              <a:rPr lang="en-GB" sz="1000">
                <a:solidFill>
                  <a:schemeClr val="tx1"/>
                </a:solidFill>
                <a:latin typeface="Montserrat" panose="00000500000000000000" pitchFamily="50" charset="0"/>
              </a:rPr>
              <a:t>6.07 Property sale</a:t>
            </a:r>
          </a:p>
          <a:p>
            <a:pPr marL="92075" indent="-92075">
              <a:spcBef>
                <a:spcPts val="1200"/>
              </a:spcBef>
              <a:buFontTx/>
              <a:buChar char="-"/>
            </a:pPr>
            <a:r>
              <a:rPr lang="en-GB" sz="1000">
                <a:solidFill>
                  <a:schemeClr val="tx1"/>
                </a:solidFill>
                <a:latin typeface="Montserrat" panose="00000500000000000000" pitchFamily="50" charset="0"/>
              </a:rPr>
              <a:t>6.08 Property valuation</a:t>
            </a:r>
          </a:p>
        </p:txBody>
      </p:sp>
      <p:sp>
        <p:nvSpPr>
          <p:cNvPr id="22" name="Rectangle 21">
            <a:extLst>
              <a:ext uri="{FF2B5EF4-FFF2-40B4-BE49-F238E27FC236}">
                <a16:creationId xmlns:a16="http://schemas.microsoft.com/office/drawing/2014/main" id="{369EC5FF-D5AA-4A7E-AD5C-34FF5B0EF599}"/>
              </a:ext>
            </a:extLst>
          </p:cNvPr>
          <p:cNvSpPr/>
          <p:nvPr/>
        </p:nvSpPr>
        <p:spPr>
          <a:xfrm>
            <a:off x="7135446" y="2399498"/>
            <a:ext cx="1649778" cy="471259"/>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200">
                <a:solidFill>
                  <a:schemeClr val="bg1"/>
                </a:solidFill>
                <a:latin typeface="+mj-lt"/>
              </a:rPr>
              <a:t>Internal Finance</a:t>
            </a:r>
          </a:p>
        </p:txBody>
      </p:sp>
      <p:sp>
        <p:nvSpPr>
          <p:cNvPr id="23" name="Rectangle 22">
            <a:extLst>
              <a:ext uri="{FF2B5EF4-FFF2-40B4-BE49-F238E27FC236}">
                <a16:creationId xmlns:a16="http://schemas.microsoft.com/office/drawing/2014/main" id="{B770D6A9-2C1F-42D6-8386-8D2FD3274E6D}"/>
              </a:ext>
            </a:extLst>
          </p:cNvPr>
          <p:cNvSpPr/>
          <p:nvPr/>
        </p:nvSpPr>
        <p:spPr>
          <a:xfrm>
            <a:off x="7135445" y="2870755"/>
            <a:ext cx="1649778" cy="3138625"/>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90000" rIns="54000" bIns="90000" numCol="1" spcCol="0" rtlCol="0" fromWordArt="0" anchor="t" anchorCtr="0" forceAA="0" compatLnSpc="1">
            <a:prstTxWarp prst="textNoShape">
              <a:avLst/>
            </a:prstTxWarp>
            <a:noAutofit/>
          </a:bodyPr>
          <a:lstStyle/>
          <a:p>
            <a:pPr marL="92075" indent="-92075">
              <a:spcBef>
                <a:spcPts val="1200"/>
              </a:spcBef>
              <a:buFontTx/>
              <a:buChar char="-"/>
            </a:pPr>
            <a:r>
              <a:rPr lang="en-GB" sz="1000">
                <a:solidFill>
                  <a:schemeClr val="tx1"/>
                </a:solidFill>
                <a:latin typeface="Montserrat" panose="00000500000000000000" pitchFamily="50" charset="0"/>
              </a:rPr>
              <a:t>3.06 Rent reviews</a:t>
            </a:r>
          </a:p>
          <a:p>
            <a:pPr marL="92075" indent="-92075">
              <a:spcBef>
                <a:spcPts val="1200"/>
              </a:spcBef>
              <a:buFontTx/>
              <a:buChar char="-"/>
            </a:pPr>
            <a:r>
              <a:rPr lang="en-GB" sz="1000">
                <a:solidFill>
                  <a:schemeClr val="tx1"/>
                </a:solidFill>
                <a:latin typeface="Montserrat" panose="00000500000000000000" pitchFamily="50" charset="0"/>
              </a:rPr>
              <a:t>6.03 Insurance</a:t>
            </a:r>
          </a:p>
          <a:p>
            <a:pPr marL="92075" indent="-92075">
              <a:spcBef>
                <a:spcPts val="1200"/>
              </a:spcBef>
              <a:buFontTx/>
              <a:buChar char="-"/>
            </a:pPr>
            <a:r>
              <a:rPr lang="en-GB" sz="1000">
                <a:solidFill>
                  <a:schemeClr val="tx1"/>
                </a:solidFill>
                <a:latin typeface="Montserrat" panose="00000500000000000000" pitchFamily="50" charset="0"/>
              </a:rPr>
              <a:t>7.01 Service charge</a:t>
            </a:r>
          </a:p>
          <a:p>
            <a:pPr marL="92075" indent="-92075">
              <a:spcBef>
                <a:spcPts val="1200"/>
              </a:spcBef>
              <a:buFontTx/>
              <a:buChar char="-"/>
            </a:pPr>
            <a:r>
              <a:rPr lang="en-GB" sz="1000">
                <a:solidFill>
                  <a:schemeClr val="tx1"/>
                </a:solidFill>
                <a:latin typeface="Montserrat" panose="00000500000000000000" pitchFamily="50" charset="0"/>
              </a:rPr>
              <a:t>8.01 Cash management</a:t>
            </a:r>
          </a:p>
          <a:p>
            <a:pPr marL="92075" indent="-92075">
              <a:spcBef>
                <a:spcPts val="1200"/>
              </a:spcBef>
              <a:buFontTx/>
              <a:buChar char="-"/>
            </a:pPr>
            <a:r>
              <a:rPr lang="en-GB" sz="1000">
                <a:solidFill>
                  <a:schemeClr val="tx1"/>
                </a:solidFill>
                <a:latin typeface="Montserrat" panose="00000500000000000000" pitchFamily="50" charset="0"/>
              </a:rPr>
              <a:t>8.06 Staff expenses</a:t>
            </a:r>
          </a:p>
          <a:p>
            <a:pPr marL="92075" indent="-92075">
              <a:spcBef>
                <a:spcPts val="1200"/>
              </a:spcBef>
              <a:buFontTx/>
              <a:buChar char="-"/>
            </a:pPr>
            <a:r>
              <a:rPr lang="en-GB" sz="1000">
                <a:solidFill>
                  <a:schemeClr val="tx1"/>
                </a:solidFill>
                <a:latin typeface="Montserrat" panose="00000500000000000000" pitchFamily="50" charset="0"/>
              </a:rPr>
              <a:t>8.02 Month end / 8.03 Year end </a:t>
            </a:r>
          </a:p>
          <a:p>
            <a:pPr marL="92075" indent="-92075">
              <a:spcBef>
                <a:spcPts val="1200"/>
              </a:spcBef>
              <a:buFontTx/>
              <a:buChar char="-"/>
            </a:pPr>
            <a:r>
              <a:rPr lang="en-GB" sz="1000">
                <a:solidFill>
                  <a:schemeClr val="tx1"/>
                </a:solidFill>
                <a:latin typeface="Montserrat" panose="00000500000000000000" pitchFamily="50" charset="0"/>
              </a:rPr>
              <a:t>8.04 Internal finance</a:t>
            </a:r>
          </a:p>
        </p:txBody>
      </p:sp>
      <p:sp>
        <p:nvSpPr>
          <p:cNvPr id="3" name="Footer Placeholder 2">
            <a:extLst>
              <a:ext uri="{FF2B5EF4-FFF2-40B4-BE49-F238E27FC236}">
                <a16:creationId xmlns:a16="http://schemas.microsoft.com/office/drawing/2014/main" id="{766B7630-20D2-429E-AFB8-6DFF4CBD56A2}"/>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B16EF7C7-3A63-4F6B-BFE7-34C8425785C6}"/>
              </a:ext>
            </a:extLst>
          </p:cNvPr>
          <p:cNvSpPr>
            <a:spLocks noGrp="1"/>
          </p:cNvSpPr>
          <p:nvPr>
            <p:ph type="sldNum" sz="quarter" idx="12"/>
          </p:nvPr>
        </p:nvSpPr>
        <p:spPr/>
        <p:txBody>
          <a:bodyPr/>
          <a:lstStyle/>
          <a:p>
            <a:fld id="{0D32313A-DEBC-4CA4-B008-A02D4ABE2C72}" type="slidenum">
              <a:rPr lang="en-GB" smtClean="0"/>
              <a:t>8</a:t>
            </a:fld>
            <a:endParaRPr lang="en-GB"/>
          </a:p>
        </p:txBody>
      </p:sp>
      <p:sp>
        <p:nvSpPr>
          <p:cNvPr id="5" name="Title 4">
            <a:extLst>
              <a:ext uri="{FF2B5EF4-FFF2-40B4-BE49-F238E27FC236}">
                <a16:creationId xmlns:a16="http://schemas.microsoft.com/office/drawing/2014/main" id="{38EBD10D-4F19-4CAD-9510-575E7FB520D3}"/>
              </a:ext>
            </a:extLst>
          </p:cNvPr>
          <p:cNvSpPr>
            <a:spLocks noGrp="1"/>
          </p:cNvSpPr>
          <p:nvPr>
            <p:ph type="title"/>
          </p:nvPr>
        </p:nvSpPr>
        <p:spPr>
          <a:xfrm>
            <a:off x="358775" y="270088"/>
            <a:ext cx="6618097" cy="581897"/>
          </a:xfrm>
        </p:spPr>
        <p:txBody>
          <a:bodyPr/>
          <a:lstStyle/>
          <a:p>
            <a:r>
              <a:rPr lang="en-GB"/>
              <a:t>The 29* End-to-End business processes</a:t>
            </a:r>
          </a:p>
        </p:txBody>
      </p:sp>
      <p:sp>
        <p:nvSpPr>
          <p:cNvPr id="6" name="Content Placeholder 2">
            <a:extLst>
              <a:ext uri="{FF2B5EF4-FFF2-40B4-BE49-F238E27FC236}">
                <a16:creationId xmlns:a16="http://schemas.microsoft.com/office/drawing/2014/main" id="{0138D9FD-B686-4C23-9C7B-C2C7013B04DD}"/>
              </a:ext>
            </a:extLst>
          </p:cNvPr>
          <p:cNvSpPr txBox="1">
            <a:spLocks/>
          </p:cNvSpPr>
          <p:nvPr/>
        </p:nvSpPr>
        <p:spPr>
          <a:xfrm>
            <a:off x="358774" y="1500617"/>
            <a:ext cx="8426449" cy="898881"/>
          </a:xfrm>
          <a:prstGeom prst="rect">
            <a:avLst/>
          </a:prstGeom>
          <a:ln>
            <a:noFill/>
          </a:ln>
        </p:spPr>
        <p:txBody>
          <a:bodyPr vert="horz" lIns="84406" tIns="42203" rIns="84406" bIns="42203" rtlCol="0" anchor="t">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rgbClr val="4A4A49"/>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1200"/>
              </a:spcBef>
              <a:buNone/>
            </a:pPr>
            <a:r>
              <a:rPr lang="en-GB" sz="1200">
                <a:solidFill>
                  <a:schemeClr val="accent2"/>
                </a:solidFill>
                <a:latin typeface="Montserrat" panose="02000505000000020004" pitchFamily="2" charset="0"/>
                <a:ea typeface="+mn-ea"/>
                <a:cs typeface="+mn-cs"/>
              </a:rPr>
              <a:t>In this pack we describe the functionality across the 29* business processes we are supporting through Connect (up from 28 when we first compiled the Connect scope). We have aggregated these processes into 5 logical </a:t>
            </a:r>
            <a:r>
              <a:rPr lang="en-GB" sz="1200" b="1">
                <a:solidFill>
                  <a:schemeClr val="accent2"/>
                </a:solidFill>
                <a:latin typeface="Montserrat" panose="02000505000000020004" pitchFamily="2" charset="0"/>
                <a:ea typeface="+mn-ea"/>
                <a:cs typeface="+mn-cs"/>
              </a:rPr>
              <a:t>process groups </a:t>
            </a:r>
            <a:r>
              <a:rPr lang="en-GB" sz="1200">
                <a:solidFill>
                  <a:schemeClr val="accent2"/>
                </a:solidFill>
                <a:latin typeface="Montserrat" panose="02000505000000020004" pitchFamily="2" charset="0"/>
                <a:ea typeface="+mn-ea"/>
                <a:cs typeface="+mn-cs"/>
              </a:rPr>
              <a:t>as below. </a:t>
            </a:r>
          </a:p>
        </p:txBody>
      </p:sp>
      <p:sp>
        <p:nvSpPr>
          <p:cNvPr id="8" name="Rectangle 7">
            <a:extLst>
              <a:ext uri="{FF2B5EF4-FFF2-40B4-BE49-F238E27FC236}">
                <a16:creationId xmlns:a16="http://schemas.microsoft.com/office/drawing/2014/main" id="{5BB90D31-CCCA-49E0-9B1C-989FCE3DD880}"/>
              </a:ext>
            </a:extLst>
          </p:cNvPr>
          <p:cNvSpPr/>
          <p:nvPr/>
        </p:nvSpPr>
        <p:spPr>
          <a:xfrm>
            <a:off x="3747112" y="2399498"/>
            <a:ext cx="1649778" cy="448641"/>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GB" sz="1200">
                <a:solidFill>
                  <a:schemeClr val="bg1"/>
                </a:solidFill>
                <a:latin typeface="+mj-lt"/>
              </a:rPr>
              <a:t>Marketing, Lead to Lease &amp; Payments</a:t>
            </a:r>
          </a:p>
        </p:txBody>
      </p:sp>
      <p:sp>
        <p:nvSpPr>
          <p:cNvPr id="9" name="Rectangle 8">
            <a:extLst>
              <a:ext uri="{FF2B5EF4-FFF2-40B4-BE49-F238E27FC236}">
                <a16:creationId xmlns:a16="http://schemas.microsoft.com/office/drawing/2014/main" id="{9E77FF7D-35CB-4B36-A493-E6AB21F86E89}"/>
              </a:ext>
            </a:extLst>
          </p:cNvPr>
          <p:cNvSpPr/>
          <p:nvPr/>
        </p:nvSpPr>
        <p:spPr>
          <a:xfrm>
            <a:off x="3747111" y="2848138"/>
            <a:ext cx="1649778" cy="3166768"/>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000" tIns="90000" rIns="54000" bIns="90000" rtlCol="0" anchor="t"/>
          <a:lstStyle/>
          <a:p>
            <a:pPr marL="92075" indent="-92075">
              <a:spcBef>
                <a:spcPts val="1200"/>
              </a:spcBef>
              <a:buFontTx/>
              <a:buChar char="-"/>
            </a:pPr>
            <a:r>
              <a:rPr lang="en-GB" sz="1000">
                <a:solidFill>
                  <a:schemeClr val="tx1"/>
                </a:solidFill>
                <a:latin typeface="Montserrat" panose="00000500000000000000" pitchFamily="50" charset="0"/>
              </a:rPr>
              <a:t>1.01 Register interest / Arrange a viewing</a:t>
            </a:r>
          </a:p>
          <a:p>
            <a:pPr marL="92075" indent="-92075">
              <a:spcBef>
                <a:spcPts val="1200"/>
              </a:spcBef>
              <a:buFontTx/>
              <a:buChar char="-"/>
            </a:pPr>
            <a:r>
              <a:rPr lang="en-GB" sz="1000">
                <a:solidFill>
                  <a:schemeClr val="tx1"/>
                </a:solidFill>
                <a:latin typeface="Montserrat" panose="00000500000000000000" pitchFamily="50" charset="0"/>
              </a:rPr>
              <a:t>2.01 Lead to Lease and payments</a:t>
            </a:r>
          </a:p>
          <a:p>
            <a:pPr marL="92075" indent="-92075">
              <a:spcBef>
                <a:spcPts val="1200"/>
              </a:spcBef>
              <a:buFontTx/>
              <a:buChar char="-"/>
            </a:pPr>
            <a:r>
              <a:rPr lang="en-GB" sz="1000">
                <a:solidFill>
                  <a:schemeClr val="tx1"/>
                </a:solidFill>
                <a:latin typeface="Montserrat" panose="00000500000000000000" pitchFamily="50" charset="0"/>
              </a:rPr>
              <a:t>2.02 Move in / Move out / Voids / Deposits</a:t>
            </a:r>
          </a:p>
          <a:p>
            <a:pPr marL="92075" indent="-92075">
              <a:spcBef>
                <a:spcPts val="1200"/>
              </a:spcBef>
              <a:buFontTx/>
              <a:buChar char="-"/>
            </a:pPr>
            <a:r>
              <a:rPr lang="en-GB" sz="1000">
                <a:solidFill>
                  <a:schemeClr val="tx1"/>
                </a:solidFill>
                <a:latin typeface="Montserrat" panose="00000500000000000000" pitchFamily="50" charset="0"/>
              </a:rPr>
              <a:t>3.04 Managing terms of tenancy</a:t>
            </a:r>
          </a:p>
          <a:p>
            <a:pPr marL="92075" indent="-92075">
              <a:spcBef>
                <a:spcPts val="1200"/>
              </a:spcBef>
              <a:buFontTx/>
              <a:buChar char="-"/>
            </a:pPr>
            <a:r>
              <a:rPr lang="en-GB" sz="1000">
                <a:solidFill>
                  <a:schemeClr val="tx1"/>
                </a:solidFill>
                <a:latin typeface="Montserrat" panose="00000500000000000000" pitchFamily="50" charset="0"/>
              </a:rPr>
              <a:t>3.05 Renewals</a:t>
            </a:r>
          </a:p>
        </p:txBody>
      </p:sp>
      <p:sp>
        <p:nvSpPr>
          <p:cNvPr id="10" name="TextBox 9">
            <a:extLst>
              <a:ext uri="{FF2B5EF4-FFF2-40B4-BE49-F238E27FC236}">
                <a16:creationId xmlns:a16="http://schemas.microsoft.com/office/drawing/2014/main" id="{30B27B65-49DC-49CB-A992-8B0FBDC45595}"/>
              </a:ext>
            </a:extLst>
          </p:cNvPr>
          <p:cNvSpPr txBox="1"/>
          <p:nvPr/>
        </p:nvSpPr>
        <p:spPr>
          <a:xfrm>
            <a:off x="266311" y="6095198"/>
            <a:ext cx="5615640" cy="246221"/>
          </a:xfrm>
          <a:prstGeom prst="rect">
            <a:avLst/>
          </a:prstGeom>
          <a:noFill/>
        </p:spPr>
        <p:txBody>
          <a:bodyPr wrap="none" rtlCol="0">
            <a:spAutoFit/>
          </a:bodyPr>
          <a:lstStyle/>
          <a:p>
            <a:pPr algn="l"/>
            <a:r>
              <a:rPr lang="en-GB" sz="1000" i="1">
                <a:latin typeface="Montserrat" panose="00000500000000000000" pitchFamily="50" charset="0"/>
              </a:rPr>
              <a:t>3</a:t>
            </a:r>
            <a:r>
              <a:rPr lang="en-GB" sz="1000" i="1" baseline="30000">
                <a:latin typeface="Montserrat" panose="00000500000000000000" pitchFamily="50" charset="0"/>
              </a:rPr>
              <a:t>rd</a:t>
            </a:r>
            <a:r>
              <a:rPr lang="en-GB" sz="1000" i="1">
                <a:latin typeface="Montserrat" panose="00000500000000000000" pitchFamily="50" charset="0"/>
              </a:rPr>
              <a:t> party supplier integration added to the list to explicit that element of the delivery</a:t>
            </a:r>
          </a:p>
        </p:txBody>
      </p:sp>
    </p:spTree>
    <p:extLst>
      <p:ext uri="{BB962C8B-B14F-4D97-AF65-F5344CB8AC3E}">
        <p14:creationId xmlns:p14="http://schemas.microsoft.com/office/powerpoint/2010/main" val="25042133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Rounded Corners 85">
            <a:extLst>
              <a:ext uri="{FF2B5EF4-FFF2-40B4-BE49-F238E27FC236}">
                <a16:creationId xmlns:a16="http://schemas.microsoft.com/office/drawing/2014/main" id="{831BEE30-9805-42A9-8640-24B23D58096A}"/>
              </a:ext>
            </a:extLst>
          </p:cNvPr>
          <p:cNvSpPr/>
          <p:nvPr/>
        </p:nvSpPr>
        <p:spPr>
          <a:xfrm>
            <a:off x="4045510" y="4679891"/>
            <a:ext cx="1175830" cy="282901"/>
          </a:xfrm>
          <a:prstGeom prst="roundRect">
            <a:avLst>
              <a:gd name="adj" fmla="val 0"/>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Rounded Corners 86">
            <a:extLst>
              <a:ext uri="{FF2B5EF4-FFF2-40B4-BE49-F238E27FC236}">
                <a16:creationId xmlns:a16="http://schemas.microsoft.com/office/drawing/2014/main" id="{BB99428B-FC22-4E92-BFC9-86A05E9B00D9}"/>
              </a:ext>
            </a:extLst>
          </p:cNvPr>
          <p:cNvSpPr/>
          <p:nvPr/>
        </p:nvSpPr>
        <p:spPr>
          <a:xfrm>
            <a:off x="5258079" y="4751284"/>
            <a:ext cx="1175830" cy="209435"/>
          </a:xfrm>
          <a:prstGeom prst="roundRect">
            <a:avLst>
              <a:gd name="adj" fmla="val 0"/>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Rounded Corners 87">
            <a:extLst>
              <a:ext uri="{FF2B5EF4-FFF2-40B4-BE49-F238E27FC236}">
                <a16:creationId xmlns:a16="http://schemas.microsoft.com/office/drawing/2014/main" id="{66C65199-69D5-44FB-8093-A58699F67CB2}"/>
              </a:ext>
            </a:extLst>
          </p:cNvPr>
          <p:cNvSpPr/>
          <p:nvPr/>
        </p:nvSpPr>
        <p:spPr>
          <a:xfrm>
            <a:off x="1670651" y="5142790"/>
            <a:ext cx="1175830" cy="413770"/>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Rounded Corners 1">
            <a:extLst>
              <a:ext uri="{FF2B5EF4-FFF2-40B4-BE49-F238E27FC236}">
                <a16:creationId xmlns:a16="http://schemas.microsoft.com/office/drawing/2014/main" id="{E24BAED1-3D79-484E-92B6-A397FC401D58}"/>
              </a:ext>
            </a:extLst>
          </p:cNvPr>
          <p:cNvSpPr/>
          <p:nvPr/>
        </p:nvSpPr>
        <p:spPr>
          <a:xfrm>
            <a:off x="1670651" y="2767344"/>
            <a:ext cx="1175830" cy="409923"/>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2090523E-3CB7-4F4E-A9C4-A84B003EC8B2}"/>
              </a:ext>
            </a:extLst>
          </p:cNvPr>
          <p:cNvSpPr>
            <a:spLocks noGrp="1"/>
          </p:cNvSpPr>
          <p:nvPr>
            <p:ph type="title"/>
          </p:nvPr>
        </p:nvSpPr>
        <p:spPr/>
        <p:txBody>
          <a:bodyPr/>
          <a:lstStyle/>
          <a:p>
            <a:r>
              <a:rPr lang="en-GB"/>
              <a:t>Managing Property &amp; Supplier</a:t>
            </a:r>
            <a:br>
              <a:rPr lang="en-GB"/>
            </a:br>
            <a:r>
              <a:rPr lang="en-GB" sz="2400" i="1"/>
              <a:t>Process Summary</a:t>
            </a:r>
            <a:endParaRPr lang="en-GB"/>
          </a:p>
        </p:txBody>
      </p:sp>
      <p:pic>
        <p:nvPicPr>
          <p:cNvPr id="1034" name="Picture 10" descr="Image result for mri software">
            <a:extLst>
              <a:ext uri="{FF2B5EF4-FFF2-40B4-BE49-F238E27FC236}">
                <a16:creationId xmlns:a16="http://schemas.microsoft.com/office/drawing/2014/main" id="{5641B02B-3DDF-44E3-90A3-DB9234974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9052" y="1396759"/>
            <a:ext cx="833582" cy="45152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proactis software">
            <a:extLst>
              <a:ext uri="{FF2B5EF4-FFF2-40B4-BE49-F238E27FC236}">
                <a16:creationId xmlns:a16="http://schemas.microsoft.com/office/drawing/2014/main" id="{A9EFEEF3-4CFC-4F67-991C-9CB8B8042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6781" y="1457932"/>
            <a:ext cx="833583" cy="34510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A649CE11-77F7-4308-AB16-3BE5E5A71DCE}"/>
              </a:ext>
            </a:extLst>
          </p:cNvPr>
          <p:cNvGrpSpPr/>
          <p:nvPr/>
        </p:nvGrpSpPr>
        <p:grpSpPr>
          <a:xfrm>
            <a:off x="1812451" y="1178764"/>
            <a:ext cx="923243" cy="876659"/>
            <a:chOff x="2056110" y="1332034"/>
            <a:chExt cx="923243" cy="876659"/>
          </a:xfrm>
        </p:grpSpPr>
        <p:pic>
          <p:nvPicPr>
            <p:cNvPr id="1026" name="Picture 2" descr="Image result for customer icon">
              <a:extLst>
                <a:ext uri="{FF2B5EF4-FFF2-40B4-BE49-F238E27FC236}">
                  <a16:creationId xmlns:a16="http://schemas.microsoft.com/office/drawing/2014/main" id="{DF060A85-867E-4C64-B211-01E769D03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6110" y="1332034"/>
              <a:ext cx="923243" cy="692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937EA58-3F99-4C2B-BEF1-B7BD8C8AE847}"/>
                </a:ext>
              </a:extLst>
            </p:cNvPr>
            <p:cNvSpPr txBox="1"/>
            <p:nvPr/>
          </p:nvSpPr>
          <p:spPr>
            <a:xfrm>
              <a:off x="2125797" y="1962472"/>
              <a:ext cx="783868" cy="246221"/>
            </a:xfrm>
            <a:prstGeom prst="rect">
              <a:avLst/>
            </a:prstGeom>
            <a:noFill/>
          </p:spPr>
          <p:txBody>
            <a:bodyPr wrap="none" rtlCol="0">
              <a:spAutoFit/>
            </a:bodyPr>
            <a:lstStyle/>
            <a:p>
              <a:pPr algn="ctr"/>
              <a:r>
                <a:rPr lang="en-GB" sz="1000" spc="-60"/>
                <a:t>Customer</a:t>
              </a:r>
            </a:p>
          </p:txBody>
        </p:sp>
      </p:grpSp>
      <p:grpSp>
        <p:nvGrpSpPr>
          <p:cNvPr id="11" name="Group 10">
            <a:extLst>
              <a:ext uri="{FF2B5EF4-FFF2-40B4-BE49-F238E27FC236}">
                <a16:creationId xmlns:a16="http://schemas.microsoft.com/office/drawing/2014/main" id="{6121F045-6EE4-4857-9388-61FF75D0A788}"/>
              </a:ext>
            </a:extLst>
          </p:cNvPr>
          <p:cNvGrpSpPr/>
          <p:nvPr/>
        </p:nvGrpSpPr>
        <p:grpSpPr>
          <a:xfrm>
            <a:off x="2981904" y="1177016"/>
            <a:ext cx="956672" cy="887851"/>
            <a:chOff x="3394755" y="1328537"/>
            <a:chExt cx="956672" cy="887851"/>
          </a:xfrm>
        </p:grpSpPr>
        <p:grpSp>
          <p:nvGrpSpPr>
            <p:cNvPr id="8" name="Group 7">
              <a:extLst>
                <a:ext uri="{FF2B5EF4-FFF2-40B4-BE49-F238E27FC236}">
                  <a16:creationId xmlns:a16="http://schemas.microsoft.com/office/drawing/2014/main" id="{DAF27073-C869-4D64-ADFF-4BC599EF56EE}"/>
                </a:ext>
              </a:extLst>
            </p:cNvPr>
            <p:cNvGrpSpPr/>
            <p:nvPr/>
          </p:nvGrpSpPr>
          <p:grpSpPr>
            <a:xfrm>
              <a:off x="3490606" y="1328537"/>
              <a:ext cx="763679" cy="698136"/>
              <a:chOff x="3583596" y="2595464"/>
              <a:chExt cx="1797425" cy="1643161"/>
            </a:xfrm>
          </p:grpSpPr>
          <p:pic>
            <p:nvPicPr>
              <p:cNvPr id="1028" name="Picture 4" descr="Related image">
                <a:extLst>
                  <a:ext uri="{FF2B5EF4-FFF2-40B4-BE49-F238E27FC236}">
                    <a16:creationId xmlns:a16="http://schemas.microsoft.com/office/drawing/2014/main" id="{2B5C4720-3684-4759-BE9B-D1CBB23CCA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2595464"/>
                <a:ext cx="1594833" cy="1643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rainger plc">
                <a:extLst>
                  <a:ext uri="{FF2B5EF4-FFF2-40B4-BE49-F238E27FC236}">
                    <a16:creationId xmlns:a16="http://schemas.microsoft.com/office/drawing/2014/main" id="{54FFAB99-3C85-4E12-B396-B2F29EBC62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596" y="2983424"/>
                <a:ext cx="790802" cy="15942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028D2EEA-B7D2-42A5-B8AF-9214FEE49C73}"/>
                </a:ext>
              </a:extLst>
            </p:cNvPr>
            <p:cNvSpPr txBox="1"/>
            <p:nvPr/>
          </p:nvSpPr>
          <p:spPr>
            <a:xfrm>
              <a:off x="3394755" y="1970167"/>
              <a:ext cx="956672" cy="246221"/>
            </a:xfrm>
            <a:prstGeom prst="rect">
              <a:avLst/>
            </a:prstGeom>
            <a:noFill/>
          </p:spPr>
          <p:txBody>
            <a:bodyPr wrap="none" rtlCol="0">
              <a:spAutoFit/>
            </a:bodyPr>
            <a:lstStyle/>
            <a:p>
              <a:pPr algn="ctr"/>
              <a:r>
                <a:rPr lang="en-GB" sz="1000" spc="-60"/>
                <a:t>Grainger user</a:t>
              </a:r>
            </a:p>
          </p:txBody>
        </p:sp>
      </p:grpSp>
      <p:grpSp>
        <p:nvGrpSpPr>
          <p:cNvPr id="14" name="Group 13">
            <a:extLst>
              <a:ext uri="{FF2B5EF4-FFF2-40B4-BE49-F238E27FC236}">
                <a16:creationId xmlns:a16="http://schemas.microsoft.com/office/drawing/2014/main" id="{EF309EC1-9FAB-414D-A9AE-05F714119D8E}"/>
              </a:ext>
            </a:extLst>
          </p:cNvPr>
          <p:cNvGrpSpPr/>
          <p:nvPr/>
        </p:nvGrpSpPr>
        <p:grpSpPr>
          <a:xfrm>
            <a:off x="4229985" y="1153036"/>
            <a:ext cx="833583" cy="935811"/>
            <a:chOff x="4660566" y="1232388"/>
            <a:chExt cx="833583" cy="935811"/>
          </a:xfrm>
        </p:grpSpPr>
        <p:pic>
          <p:nvPicPr>
            <p:cNvPr id="1038" name="Picture 14" descr="Image result for handyman">
              <a:extLst>
                <a:ext uri="{FF2B5EF4-FFF2-40B4-BE49-F238E27FC236}">
                  <a16:creationId xmlns:a16="http://schemas.microsoft.com/office/drawing/2014/main" id="{5DC227C1-30B1-46F6-94F9-9639B7EDA5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0566" y="1232388"/>
              <a:ext cx="833583" cy="792526"/>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62D31A0-041E-43F3-9A42-398734AA21B9}"/>
                </a:ext>
              </a:extLst>
            </p:cNvPr>
            <p:cNvSpPr txBox="1"/>
            <p:nvPr/>
          </p:nvSpPr>
          <p:spPr>
            <a:xfrm>
              <a:off x="4748902" y="1921978"/>
              <a:ext cx="656911" cy="246221"/>
            </a:xfrm>
            <a:prstGeom prst="rect">
              <a:avLst/>
            </a:prstGeom>
            <a:noFill/>
          </p:spPr>
          <p:txBody>
            <a:bodyPr wrap="none" rtlCol="0">
              <a:spAutoFit/>
            </a:bodyPr>
            <a:lstStyle/>
            <a:p>
              <a:pPr algn="ctr"/>
              <a:r>
                <a:rPr lang="en-GB" sz="1000" spc="-60"/>
                <a:t>Supplier</a:t>
              </a:r>
            </a:p>
          </p:txBody>
        </p:sp>
      </p:grpSp>
      <p:pic>
        <p:nvPicPr>
          <p:cNvPr id="1040" name="Picture 16" descr="Image result for fsi concept evolution">
            <a:extLst>
              <a:ext uri="{FF2B5EF4-FFF2-40B4-BE49-F238E27FC236}">
                <a16:creationId xmlns:a16="http://schemas.microsoft.com/office/drawing/2014/main" id="{07227992-4DF5-448C-8D6A-DA2B13347F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4646" y="1402861"/>
            <a:ext cx="855307" cy="455244"/>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39F88972-C224-46CD-90FC-130DA7DCA100}"/>
              </a:ext>
            </a:extLst>
          </p:cNvPr>
          <p:cNvSpPr/>
          <p:nvPr/>
        </p:nvSpPr>
        <p:spPr>
          <a:xfrm>
            <a:off x="367209" y="3590467"/>
            <a:ext cx="1231487" cy="7112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Reactive Maintenance</a:t>
            </a:r>
          </a:p>
        </p:txBody>
      </p:sp>
      <p:sp>
        <p:nvSpPr>
          <p:cNvPr id="34" name="Rectangle: Rounded Corners 33">
            <a:extLst>
              <a:ext uri="{FF2B5EF4-FFF2-40B4-BE49-F238E27FC236}">
                <a16:creationId xmlns:a16="http://schemas.microsoft.com/office/drawing/2014/main" id="{E4A15AA2-33D4-47C6-99E8-0B5A8F13E9F6}"/>
              </a:ext>
            </a:extLst>
          </p:cNvPr>
          <p:cNvSpPr/>
          <p:nvPr/>
        </p:nvSpPr>
        <p:spPr>
          <a:xfrm>
            <a:off x="358774" y="2773024"/>
            <a:ext cx="1231487" cy="7112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Planned Maintenance</a:t>
            </a:r>
          </a:p>
        </p:txBody>
      </p:sp>
      <p:sp>
        <p:nvSpPr>
          <p:cNvPr id="35" name="Rectangle: Rounded Corners 34">
            <a:extLst>
              <a:ext uri="{FF2B5EF4-FFF2-40B4-BE49-F238E27FC236}">
                <a16:creationId xmlns:a16="http://schemas.microsoft.com/office/drawing/2014/main" id="{EB95145D-5625-4E5C-9738-B12BED2A8D21}"/>
              </a:ext>
            </a:extLst>
          </p:cNvPr>
          <p:cNvSpPr/>
          <p:nvPr/>
        </p:nvSpPr>
        <p:spPr>
          <a:xfrm>
            <a:off x="358774" y="2130828"/>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Supplier Management</a:t>
            </a:r>
          </a:p>
        </p:txBody>
      </p:sp>
      <p:sp>
        <p:nvSpPr>
          <p:cNvPr id="36" name="Rectangle: Rounded Corners 35">
            <a:extLst>
              <a:ext uri="{FF2B5EF4-FFF2-40B4-BE49-F238E27FC236}">
                <a16:creationId xmlns:a16="http://schemas.microsoft.com/office/drawing/2014/main" id="{765AAE3B-3B7F-4B73-8E53-363674E0274A}"/>
              </a:ext>
            </a:extLst>
          </p:cNvPr>
          <p:cNvSpPr/>
          <p:nvPr/>
        </p:nvSpPr>
        <p:spPr>
          <a:xfrm>
            <a:off x="358773" y="5034185"/>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Compliments &amp; Complaints</a:t>
            </a:r>
          </a:p>
        </p:txBody>
      </p:sp>
      <p:sp>
        <p:nvSpPr>
          <p:cNvPr id="37" name="Rectangle: Rounded Corners 36">
            <a:extLst>
              <a:ext uri="{FF2B5EF4-FFF2-40B4-BE49-F238E27FC236}">
                <a16:creationId xmlns:a16="http://schemas.microsoft.com/office/drawing/2014/main" id="{EF895177-FA4B-452A-B69F-F563874DFADA}"/>
              </a:ext>
            </a:extLst>
          </p:cNvPr>
          <p:cNvSpPr/>
          <p:nvPr/>
        </p:nvSpPr>
        <p:spPr>
          <a:xfrm>
            <a:off x="358773" y="4410608"/>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3</a:t>
            </a:r>
            <a:r>
              <a:rPr lang="en-GB" sz="1200" b="1" baseline="30000">
                <a:latin typeface="+mj-lt"/>
              </a:rPr>
              <a:t>rd</a:t>
            </a:r>
            <a:r>
              <a:rPr lang="en-GB" sz="1200" b="1">
                <a:latin typeface="+mj-lt"/>
              </a:rPr>
              <a:t> party Supplier (Kier)</a:t>
            </a:r>
          </a:p>
        </p:txBody>
      </p:sp>
      <p:cxnSp>
        <p:nvCxnSpPr>
          <p:cNvPr id="38" name="Straight Connector 37">
            <a:extLst>
              <a:ext uri="{FF2B5EF4-FFF2-40B4-BE49-F238E27FC236}">
                <a16:creationId xmlns:a16="http://schemas.microsoft.com/office/drawing/2014/main" id="{E4020A13-93E1-4EF1-BB53-D6BB92557520}"/>
              </a:ext>
            </a:extLst>
          </p:cNvPr>
          <p:cNvCxnSpPr>
            <a:cxnSpLocks/>
          </p:cNvCxnSpPr>
          <p:nvPr/>
        </p:nvCxnSpPr>
        <p:spPr>
          <a:xfrm>
            <a:off x="358773" y="6256990"/>
            <a:ext cx="8434051" cy="6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53DB7D0-E1CB-41AE-A41E-31AAC2D629C7}"/>
              </a:ext>
            </a:extLst>
          </p:cNvPr>
          <p:cNvCxnSpPr>
            <a:cxnSpLocks/>
          </p:cNvCxnSpPr>
          <p:nvPr/>
        </p:nvCxnSpPr>
        <p:spPr>
          <a:xfrm>
            <a:off x="358773" y="2072945"/>
            <a:ext cx="8434051" cy="729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EB13436-EC24-4BA8-BDDB-8434265F4F13}"/>
              </a:ext>
            </a:extLst>
          </p:cNvPr>
          <p:cNvSpPr/>
          <p:nvPr/>
        </p:nvSpPr>
        <p:spPr>
          <a:xfrm>
            <a:off x="1694594" y="3542419"/>
            <a:ext cx="1175830" cy="8171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Logs problem / request through multiple channels</a:t>
            </a:r>
          </a:p>
          <a:p>
            <a:pPr marL="87313" indent="-87313">
              <a:spcAft>
                <a:spcPts val="400"/>
              </a:spcAft>
              <a:buFontTx/>
              <a:buChar char="-"/>
            </a:pPr>
            <a:r>
              <a:rPr lang="en-GB" sz="800">
                <a:solidFill>
                  <a:schemeClr val="tx1"/>
                </a:solidFill>
                <a:latin typeface="Montserrat" panose="00000500000000000000" pitchFamily="50" charset="0"/>
              </a:rPr>
              <a:t>Arranges access for supplier</a:t>
            </a:r>
          </a:p>
        </p:txBody>
      </p:sp>
      <p:sp>
        <p:nvSpPr>
          <p:cNvPr id="41" name="Rectangle 40">
            <a:extLst>
              <a:ext uri="{FF2B5EF4-FFF2-40B4-BE49-F238E27FC236}">
                <a16:creationId xmlns:a16="http://schemas.microsoft.com/office/drawing/2014/main" id="{878C018B-C42A-4986-B3BC-9D035266408B}"/>
              </a:ext>
            </a:extLst>
          </p:cNvPr>
          <p:cNvSpPr/>
          <p:nvPr/>
        </p:nvSpPr>
        <p:spPr>
          <a:xfrm>
            <a:off x="2880761" y="3542420"/>
            <a:ext cx="1175830" cy="821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Logs problem on behalf of customer</a:t>
            </a:r>
          </a:p>
          <a:p>
            <a:pPr marL="87313" indent="-87313">
              <a:spcAft>
                <a:spcPts val="400"/>
              </a:spcAft>
              <a:buFontTx/>
              <a:buChar char="-"/>
            </a:pPr>
            <a:r>
              <a:rPr lang="en-GB" sz="800">
                <a:solidFill>
                  <a:schemeClr val="tx1"/>
                </a:solidFill>
                <a:latin typeface="Montserrat" panose="00000500000000000000" pitchFamily="50" charset="0"/>
              </a:rPr>
              <a:t>Handles inbound comms</a:t>
            </a:r>
          </a:p>
          <a:p>
            <a:pPr marL="87313" indent="-87313">
              <a:spcAft>
                <a:spcPts val="400"/>
              </a:spcAft>
              <a:buFontTx/>
              <a:buChar char="-"/>
            </a:pPr>
            <a:r>
              <a:rPr lang="en-GB" sz="800">
                <a:solidFill>
                  <a:schemeClr val="tx1"/>
                </a:solidFill>
                <a:latin typeface="Montserrat" panose="00000500000000000000" pitchFamily="50" charset="0"/>
              </a:rPr>
              <a:t>Receipts works</a:t>
            </a:r>
          </a:p>
        </p:txBody>
      </p:sp>
      <p:sp>
        <p:nvSpPr>
          <p:cNvPr id="42" name="Rectangle 41">
            <a:extLst>
              <a:ext uri="{FF2B5EF4-FFF2-40B4-BE49-F238E27FC236}">
                <a16:creationId xmlns:a16="http://schemas.microsoft.com/office/drawing/2014/main" id="{1EFF5ADB-7878-4E81-854A-6BD1E528F952}"/>
              </a:ext>
            </a:extLst>
          </p:cNvPr>
          <p:cNvSpPr/>
          <p:nvPr/>
        </p:nvSpPr>
        <p:spPr>
          <a:xfrm>
            <a:off x="4066928" y="3542419"/>
            <a:ext cx="1175830" cy="821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Accepts Work Order</a:t>
            </a:r>
          </a:p>
          <a:p>
            <a:pPr marL="87313" indent="-87313">
              <a:spcAft>
                <a:spcPts val="400"/>
              </a:spcAft>
              <a:buFontTx/>
              <a:buChar char="-"/>
            </a:pPr>
            <a:r>
              <a:rPr lang="en-GB" sz="800">
                <a:solidFill>
                  <a:schemeClr val="tx1"/>
                </a:solidFill>
                <a:latin typeface="Montserrat" panose="00000500000000000000" pitchFamily="50" charset="0"/>
              </a:rPr>
              <a:t>Order parts</a:t>
            </a:r>
          </a:p>
          <a:p>
            <a:pPr marL="87313" indent="-87313">
              <a:spcAft>
                <a:spcPts val="400"/>
              </a:spcAft>
              <a:buFontTx/>
              <a:buChar char="-"/>
            </a:pPr>
            <a:r>
              <a:rPr lang="en-GB" sz="800">
                <a:solidFill>
                  <a:schemeClr val="tx1"/>
                </a:solidFill>
                <a:latin typeface="Montserrat" panose="00000500000000000000" pitchFamily="50" charset="0"/>
              </a:rPr>
              <a:t>Carries out work, updates LoC’s,  confirms costs</a:t>
            </a:r>
          </a:p>
        </p:txBody>
      </p:sp>
      <p:sp>
        <p:nvSpPr>
          <p:cNvPr id="43" name="Rectangle 42">
            <a:extLst>
              <a:ext uri="{FF2B5EF4-FFF2-40B4-BE49-F238E27FC236}">
                <a16:creationId xmlns:a16="http://schemas.microsoft.com/office/drawing/2014/main" id="{FDA32447-0F01-43AE-967B-324FB9106A6F}"/>
              </a:ext>
            </a:extLst>
          </p:cNvPr>
          <p:cNvSpPr/>
          <p:nvPr/>
        </p:nvSpPr>
        <p:spPr>
          <a:xfrm>
            <a:off x="7625430" y="3544000"/>
            <a:ext cx="1175830" cy="822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44" name="Rectangle 43">
            <a:extLst>
              <a:ext uri="{FF2B5EF4-FFF2-40B4-BE49-F238E27FC236}">
                <a16:creationId xmlns:a16="http://schemas.microsoft.com/office/drawing/2014/main" id="{C73725E3-3670-456A-A8DC-E662CB1E0068}"/>
              </a:ext>
            </a:extLst>
          </p:cNvPr>
          <p:cNvSpPr/>
          <p:nvPr/>
        </p:nvSpPr>
        <p:spPr>
          <a:xfrm>
            <a:off x="5247926" y="3544010"/>
            <a:ext cx="1175830" cy="822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Suggests supplier by problem code</a:t>
            </a:r>
          </a:p>
          <a:p>
            <a:pPr marL="87313" indent="-87313">
              <a:spcAft>
                <a:spcPts val="400"/>
              </a:spcAft>
              <a:buFontTx/>
              <a:buChar char="-"/>
            </a:pPr>
            <a:r>
              <a:rPr lang="en-GB" sz="800">
                <a:solidFill>
                  <a:schemeClr val="tx1"/>
                </a:solidFill>
                <a:latin typeface="Montserrat" panose="00000500000000000000" pitchFamily="50" charset="0"/>
              </a:rPr>
              <a:t>Issues Work Order</a:t>
            </a:r>
          </a:p>
          <a:p>
            <a:pPr marL="87313" indent="-87313">
              <a:spcAft>
                <a:spcPts val="400"/>
              </a:spcAft>
              <a:buFontTx/>
              <a:buChar char="-"/>
            </a:pPr>
            <a:r>
              <a:rPr lang="en-GB" sz="800">
                <a:solidFill>
                  <a:schemeClr val="tx1"/>
                </a:solidFill>
                <a:latin typeface="Montserrat" panose="00000500000000000000" pitchFamily="50" charset="0"/>
              </a:rPr>
              <a:t>Sends comms to supplier &amp; customer</a:t>
            </a:r>
          </a:p>
        </p:txBody>
      </p:sp>
      <p:sp>
        <p:nvSpPr>
          <p:cNvPr id="45" name="Rectangle 44">
            <a:extLst>
              <a:ext uri="{FF2B5EF4-FFF2-40B4-BE49-F238E27FC236}">
                <a16:creationId xmlns:a16="http://schemas.microsoft.com/office/drawing/2014/main" id="{2B31F215-31B2-4974-89BA-BF22ED83B577}"/>
              </a:ext>
            </a:extLst>
          </p:cNvPr>
          <p:cNvSpPr/>
          <p:nvPr/>
        </p:nvSpPr>
        <p:spPr>
          <a:xfrm>
            <a:off x="6434094" y="3544011"/>
            <a:ext cx="1175830" cy="819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cxnSp>
        <p:nvCxnSpPr>
          <p:cNvPr id="50" name="Straight Connector 49">
            <a:extLst>
              <a:ext uri="{FF2B5EF4-FFF2-40B4-BE49-F238E27FC236}">
                <a16:creationId xmlns:a16="http://schemas.microsoft.com/office/drawing/2014/main" id="{81E18326-3A10-4302-AD41-768380C578DE}"/>
              </a:ext>
            </a:extLst>
          </p:cNvPr>
          <p:cNvCxnSpPr>
            <a:cxnSpLocks/>
          </p:cNvCxnSpPr>
          <p:nvPr/>
        </p:nvCxnSpPr>
        <p:spPr>
          <a:xfrm>
            <a:off x="367209" y="4356488"/>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106362-09F5-482D-A210-57846B1A88DE}"/>
              </a:ext>
            </a:extLst>
          </p:cNvPr>
          <p:cNvCxnSpPr>
            <a:cxnSpLocks/>
          </p:cNvCxnSpPr>
          <p:nvPr/>
        </p:nvCxnSpPr>
        <p:spPr>
          <a:xfrm>
            <a:off x="358773" y="3539045"/>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3E9C540-4B95-4E47-80F3-236A566B4453}"/>
              </a:ext>
            </a:extLst>
          </p:cNvPr>
          <p:cNvCxnSpPr>
            <a:cxnSpLocks/>
          </p:cNvCxnSpPr>
          <p:nvPr/>
        </p:nvCxnSpPr>
        <p:spPr>
          <a:xfrm>
            <a:off x="358773" y="2716330"/>
            <a:ext cx="8434051" cy="623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8270735-EC7E-4275-8FA1-7467D68E67DC}"/>
              </a:ext>
            </a:extLst>
          </p:cNvPr>
          <p:cNvCxnSpPr>
            <a:cxnSpLocks/>
          </p:cNvCxnSpPr>
          <p:nvPr/>
        </p:nvCxnSpPr>
        <p:spPr>
          <a:xfrm>
            <a:off x="358773" y="5619687"/>
            <a:ext cx="8434051" cy="96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454837F-D863-4821-A009-2CAC65CC5C3A}"/>
              </a:ext>
            </a:extLst>
          </p:cNvPr>
          <p:cNvSpPr/>
          <p:nvPr/>
        </p:nvSpPr>
        <p:spPr>
          <a:xfrm>
            <a:off x="1686158" y="2724039"/>
            <a:ext cx="1175830" cy="818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Gets notified of gas checks &amp; major works</a:t>
            </a:r>
          </a:p>
          <a:p>
            <a:pPr marL="87313" indent="-87313">
              <a:spcAft>
                <a:spcPts val="400"/>
              </a:spcAft>
              <a:buFontTx/>
              <a:buChar char="-"/>
            </a:pPr>
            <a:r>
              <a:rPr lang="en-GB" sz="800">
                <a:solidFill>
                  <a:schemeClr val="tx1"/>
                </a:solidFill>
                <a:latin typeface="Montserrat" panose="00000500000000000000" pitchFamily="50" charset="0"/>
              </a:rPr>
              <a:t>Grants access to property</a:t>
            </a:r>
          </a:p>
        </p:txBody>
      </p:sp>
      <p:sp>
        <p:nvSpPr>
          <p:cNvPr id="55" name="Rectangle 54">
            <a:extLst>
              <a:ext uri="{FF2B5EF4-FFF2-40B4-BE49-F238E27FC236}">
                <a16:creationId xmlns:a16="http://schemas.microsoft.com/office/drawing/2014/main" id="{19C72B7C-CDBC-4969-8944-C7D25FD4B6C9}"/>
              </a:ext>
            </a:extLst>
          </p:cNvPr>
          <p:cNvSpPr/>
          <p:nvPr/>
        </p:nvSpPr>
        <p:spPr>
          <a:xfrm>
            <a:off x="2872325" y="2729176"/>
            <a:ext cx="1175830" cy="822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&amp; Manages maintenance plan</a:t>
            </a:r>
          </a:p>
          <a:p>
            <a:pPr marL="87313" indent="-87313">
              <a:spcAft>
                <a:spcPts val="400"/>
              </a:spcAft>
              <a:buFontTx/>
              <a:buChar char="-"/>
            </a:pPr>
            <a:r>
              <a:rPr lang="en-GB" sz="800">
                <a:solidFill>
                  <a:schemeClr val="tx1"/>
                </a:solidFill>
                <a:latin typeface="Montserrat" panose="00000500000000000000" pitchFamily="50" charset="0"/>
              </a:rPr>
              <a:t>Manages budgets</a:t>
            </a:r>
          </a:p>
          <a:p>
            <a:pPr marL="87313" indent="-87313">
              <a:spcAft>
                <a:spcPts val="400"/>
              </a:spcAft>
              <a:buFontTx/>
              <a:buChar char="-"/>
            </a:pPr>
            <a:r>
              <a:rPr lang="en-GB" sz="800">
                <a:solidFill>
                  <a:schemeClr val="tx1"/>
                </a:solidFill>
                <a:latin typeface="Montserrat" panose="00000500000000000000" pitchFamily="50" charset="0"/>
              </a:rPr>
              <a:t>Manage Safe Working on site</a:t>
            </a:r>
          </a:p>
        </p:txBody>
      </p:sp>
      <p:sp>
        <p:nvSpPr>
          <p:cNvPr id="56" name="Rectangle 55">
            <a:extLst>
              <a:ext uri="{FF2B5EF4-FFF2-40B4-BE49-F238E27FC236}">
                <a16:creationId xmlns:a16="http://schemas.microsoft.com/office/drawing/2014/main" id="{182FA9C0-619F-4A41-8352-F66FDAC2359D}"/>
              </a:ext>
            </a:extLst>
          </p:cNvPr>
          <p:cNvSpPr/>
          <p:nvPr/>
        </p:nvSpPr>
        <p:spPr>
          <a:xfrm>
            <a:off x="4058492" y="2729175"/>
            <a:ext cx="1175830" cy="82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Carries out work / inspections and update registers</a:t>
            </a:r>
          </a:p>
          <a:p>
            <a:pPr marL="87313" indent="-87313">
              <a:spcAft>
                <a:spcPts val="400"/>
              </a:spcAft>
              <a:buFontTx/>
              <a:buChar char="-"/>
            </a:pPr>
            <a:r>
              <a:rPr lang="en-GB" sz="800">
                <a:solidFill>
                  <a:schemeClr val="tx1"/>
                </a:solidFill>
                <a:latin typeface="Montserrat" panose="00000500000000000000" pitchFamily="50" charset="0"/>
              </a:rPr>
              <a:t>Uploads Gas / H&amp;S certificates</a:t>
            </a:r>
          </a:p>
        </p:txBody>
      </p:sp>
      <p:sp>
        <p:nvSpPr>
          <p:cNvPr id="57" name="Rectangle 56">
            <a:extLst>
              <a:ext uri="{FF2B5EF4-FFF2-40B4-BE49-F238E27FC236}">
                <a16:creationId xmlns:a16="http://schemas.microsoft.com/office/drawing/2014/main" id="{C7DC8811-7032-4AF8-B20B-558B22A7E56F}"/>
              </a:ext>
            </a:extLst>
          </p:cNvPr>
          <p:cNvSpPr/>
          <p:nvPr/>
        </p:nvSpPr>
        <p:spPr>
          <a:xfrm>
            <a:off x="7616994" y="2730756"/>
            <a:ext cx="1175830" cy="823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58" name="Rectangle 57">
            <a:extLst>
              <a:ext uri="{FF2B5EF4-FFF2-40B4-BE49-F238E27FC236}">
                <a16:creationId xmlns:a16="http://schemas.microsoft.com/office/drawing/2014/main" id="{786191EF-A61B-4D03-BF4D-E18368142D34}"/>
              </a:ext>
            </a:extLst>
          </p:cNvPr>
          <p:cNvSpPr/>
          <p:nvPr/>
        </p:nvSpPr>
        <p:spPr>
          <a:xfrm>
            <a:off x="5239490" y="2738717"/>
            <a:ext cx="1175830" cy="82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Schedules works via task </a:t>
            </a:r>
            <a:r>
              <a:rPr lang="en-GB" sz="800" err="1">
                <a:solidFill>
                  <a:schemeClr val="tx1"/>
                </a:solidFill>
                <a:latin typeface="Montserrat" panose="00000500000000000000" pitchFamily="50" charset="0"/>
              </a:rPr>
              <a:t>mgmt</a:t>
            </a:r>
            <a:endParaRPr lang="en-GB" sz="800">
              <a:solidFill>
                <a:schemeClr val="tx1"/>
              </a:solidFill>
              <a:latin typeface="Montserrat" panose="00000500000000000000" pitchFamily="50" charset="0"/>
            </a:endParaRPr>
          </a:p>
          <a:p>
            <a:pPr marL="87313" indent="-87313">
              <a:spcAft>
                <a:spcPts val="400"/>
              </a:spcAft>
              <a:buFontTx/>
              <a:buChar char="-"/>
            </a:pPr>
            <a:r>
              <a:rPr lang="en-GB" sz="800">
                <a:solidFill>
                  <a:schemeClr val="tx1"/>
                </a:solidFill>
                <a:latin typeface="Montserrat" panose="00000500000000000000" pitchFamily="50" charset="0"/>
              </a:rPr>
              <a:t>Major works notifications</a:t>
            </a:r>
          </a:p>
        </p:txBody>
      </p:sp>
      <p:sp>
        <p:nvSpPr>
          <p:cNvPr id="59" name="Rectangle 58">
            <a:extLst>
              <a:ext uri="{FF2B5EF4-FFF2-40B4-BE49-F238E27FC236}">
                <a16:creationId xmlns:a16="http://schemas.microsoft.com/office/drawing/2014/main" id="{38113446-553A-4665-9677-B457E9DD9AD5}"/>
              </a:ext>
            </a:extLst>
          </p:cNvPr>
          <p:cNvSpPr/>
          <p:nvPr/>
        </p:nvSpPr>
        <p:spPr>
          <a:xfrm>
            <a:off x="6425658" y="2738718"/>
            <a:ext cx="1175830" cy="82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60" name="Rectangle 59">
            <a:extLst>
              <a:ext uri="{FF2B5EF4-FFF2-40B4-BE49-F238E27FC236}">
                <a16:creationId xmlns:a16="http://schemas.microsoft.com/office/drawing/2014/main" id="{5C84E2F5-46E1-4B6A-8910-91789CC2B951}"/>
              </a:ext>
            </a:extLst>
          </p:cNvPr>
          <p:cNvSpPr/>
          <p:nvPr/>
        </p:nvSpPr>
        <p:spPr>
          <a:xfrm>
            <a:off x="1686158"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61" name="Rectangle 60">
            <a:extLst>
              <a:ext uri="{FF2B5EF4-FFF2-40B4-BE49-F238E27FC236}">
                <a16:creationId xmlns:a16="http://schemas.microsoft.com/office/drawing/2014/main" id="{1D23386B-16B3-4CC6-ADEF-1DC274EBF91A}"/>
              </a:ext>
            </a:extLst>
          </p:cNvPr>
          <p:cNvSpPr/>
          <p:nvPr/>
        </p:nvSpPr>
        <p:spPr>
          <a:xfrm>
            <a:off x="2872325"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Approves new supplier</a:t>
            </a:r>
          </a:p>
          <a:p>
            <a:pPr marL="87313" indent="-87313">
              <a:spcAft>
                <a:spcPts val="400"/>
              </a:spcAft>
              <a:buFontTx/>
              <a:buChar char="-"/>
            </a:pPr>
            <a:r>
              <a:rPr lang="en-GB" sz="800">
                <a:solidFill>
                  <a:schemeClr val="tx1"/>
                </a:solidFill>
                <a:latin typeface="Montserrat" panose="00000500000000000000" pitchFamily="50" charset="0"/>
              </a:rPr>
              <a:t>Amends / updates supplier records</a:t>
            </a:r>
          </a:p>
        </p:txBody>
      </p:sp>
      <p:sp>
        <p:nvSpPr>
          <p:cNvPr id="62" name="Rectangle 61">
            <a:extLst>
              <a:ext uri="{FF2B5EF4-FFF2-40B4-BE49-F238E27FC236}">
                <a16:creationId xmlns:a16="http://schemas.microsoft.com/office/drawing/2014/main" id="{FE2C506C-F60E-45C8-9403-F3CA9F0C13DF}"/>
              </a:ext>
            </a:extLst>
          </p:cNvPr>
          <p:cNvSpPr/>
          <p:nvPr/>
        </p:nvSpPr>
        <p:spPr>
          <a:xfrm>
            <a:off x="4058492"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Keeps certificates up to date</a:t>
            </a:r>
          </a:p>
        </p:txBody>
      </p:sp>
      <p:sp>
        <p:nvSpPr>
          <p:cNvPr id="63" name="Rectangle 62">
            <a:extLst>
              <a:ext uri="{FF2B5EF4-FFF2-40B4-BE49-F238E27FC236}">
                <a16:creationId xmlns:a16="http://schemas.microsoft.com/office/drawing/2014/main" id="{7FA5A78E-13AB-4EE7-B925-CA5B011D7D83}"/>
              </a:ext>
            </a:extLst>
          </p:cNvPr>
          <p:cNvSpPr/>
          <p:nvPr/>
        </p:nvSpPr>
        <p:spPr>
          <a:xfrm>
            <a:off x="7616994"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supplier data and status</a:t>
            </a:r>
          </a:p>
        </p:txBody>
      </p:sp>
      <p:sp>
        <p:nvSpPr>
          <p:cNvPr id="64" name="Rectangle 63">
            <a:extLst>
              <a:ext uri="{FF2B5EF4-FFF2-40B4-BE49-F238E27FC236}">
                <a16:creationId xmlns:a16="http://schemas.microsoft.com/office/drawing/2014/main" id="{29E5905C-97E5-443D-A9AE-EEF13F1AC5DC}"/>
              </a:ext>
            </a:extLst>
          </p:cNvPr>
          <p:cNvSpPr/>
          <p:nvPr/>
        </p:nvSpPr>
        <p:spPr>
          <a:xfrm>
            <a:off x="5239490"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Assigns to category</a:t>
            </a:r>
          </a:p>
          <a:p>
            <a:pPr marL="87313" indent="-87313">
              <a:spcAft>
                <a:spcPts val="400"/>
              </a:spcAft>
              <a:buFontTx/>
              <a:buChar char="-"/>
            </a:pPr>
            <a:r>
              <a:rPr lang="en-GB" sz="800">
                <a:solidFill>
                  <a:schemeClr val="tx1"/>
                </a:solidFill>
                <a:latin typeface="Montserrat" panose="00000500000000000000" pitchFamily="50" charset="0"/>
              </a:rPr>
              <a:t>Suspends supplier if certificates expire </a:t>
            </a:r>
          </a:p>
        </p:txBody>
      </p:sp>
      <p:sp>
        <p:nvSpPr>
          <p:cNvPr id="65" name="Rectangle 64">
            <a:extLst>
              <a:ext uri="{FF2B5EF4-FFF2-40B4-BE49-F238E27FC236}">
                <a16:creationId xmlns:a16="http://schemas.microsoft.com/office/drawing/2014/main" id="{ACF16351-CAFB-4E59-BDE7-55C7E775B2EF}"/>
              </a:ext>
            </a:extLst>
          </p:cNvPr>
          <p:cNvSpPr/>
          <p:nvPr/>
        </p:nvSpPr>
        <p:spPr>
          <a:xfrm>
            <a:off x="6425658" y="20968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66" name="Rectangle 65">
            <a:extLst>
              <a:ext uri="{FF2B5EF4-FFF2-40B4-BE49-F238E27FC236}">
                <a16:creationId xmlns:a16="http://schemas.microsoft.com/office/drawing/2014/main" id="{B5598C04-AB3A-4EB6-8C02-F9E277DE0143}"/>
              </a:ext>
            </a:extLst>
          </p:cNvPr>
          <p:cNvSpPr/>
          <p:nvPr/>
        </p:nvSpPr>
        <p:spPr>
          <a:xfrm>
            <a:off x="1686157"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Logs complaint via portal / e-mail / phone / onsite staff</a:t>
            </a:r>
          </a:p>
        </p:txBody>
      </p:sp>
      <p:sp>
        <p:nvSpPr>
          <p:cNvPr id="67" name="Rectangle 66">
            <a:extLst>
              <a:ext uri="{FF2B5EF4-FFF2-40B4-BE49-F238E27FC236}">
                <a16:creationId xmlns:a16="http://schemas.microsoft.com/office/drawing/2014/main" id="{1842E92F-4D4B-4C7F-910B-580B3786F4BA}"/>
              </a:ext>
            </a:extLst>
          </p:cNvPr>
          <p:cNvSpPr/>
          <p:nvPr/>
        </p:nvSpPr>
        <p:spPr>
          <a:xfrm>
            <a:off x="2872325"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Investigates complaint; decide to uphold</a:t>
            </a:r>
          </a:p>
        </p:txBody>
      </p:sp>
      <p:sp>
        <p:nvSpPr>
          <p:cNvPr id="68" name="Rectangle 67">
            <a:extLst>
              <a:ext uri="{FF2B5EF4-FFF2-40B4-BE49-F238E27FC236}">
                <a16:creationId xmlns:a16="http://schemas.microsoft.com/office/drawing/2014/main" id="{1C8A176D-4F84-40C1-9EF2-234BF822F112}"/>
              </a:ext>
            </a:extLst>
          </p:cNvPr>
          <p:cNvSpPr/>
          <p:nvPr/>
        </p:nvSpPr>
        <p:spPr>
          <a:xfrm>
            <a:off x="4058492"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69" name="Rectangle 68">
            <a:extLst>
              <a:ext uri="{FF2B5EF4-FFF2-40B4-BE49-F238E27FC236}">
                <a16:creationId xmlns:a16="http://schemas.microsoft.com/office/drawing/2014/main" id="{A568926E-0FAB-427F-A2E8-0D56A3D2D311}"/>
              </a:ext>
            </a:extLst>
          </p:cNvPr>
          <p:cNvSpPr/>
          <p:nvPr/>
        </p:nvSpPr>
        <p:spPr>
          <a:xfrm>
            <a:off x="7616994"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70" name="Rectangle 69">
            <a:extLst>
              <a:ext uri="{FF2B5EF4-FFF2-40B4-BE49-F238E27FC236}">
                <a16:creationId xmlns:a16="http://schemas.microsoft.com/office/drawing/2014/main" id="{08502B00-D95F-42D3-B831-7CA301CA7139}"/>
              </a:ext>
            </a:extLst>
          </p:cNvPr>
          <p:cNvSpPr/>
          <p:nvPr/>
        </p:nvSpPr>
        <p:spPr>
          <a:xfrm>
            <a:off x="5239490"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Tracks status of complaint</a:t>
            </a:r>
          </a:p>
          <a:p>
            <a:pPr marL="87313" indent="-87313">
              <a:spcAft>
                <a:spcPts val="400"/>
              </a:spcAft>
              <a:buFontTx/>
              <a:buChar char="-"/>
            </a:pPr>
            <a:r>
              <a:rPr lang="en-GB" sz="800">
                <a:solidFill>
                  <a:schemeClr val="tx1"/>
                </a:solidFill>
                <a:latin typeface="Montserrat" panose="00000500000000000000" pitchFamily="50" charset="0"/>
              </a:rPr>
              <a:t>Comms with customer &amp; staff</a:t>
            </a:r>
          </a:p>
        </p:txBody>
      </p:sp>
      <p:sp>
        <p:nvSpPr>
          <p:cNvPr id="71" name="Rectangle 70">
            <a:extLst>
              <a:ext uri="{FF2B5EF4-FFF2-40B4-BE49-F238E27FC236}">
                <a16:creationId xmlns:a16="http://schemas.microsoft.com/office/drawing/2014/main" id="{AEBBAC15-A97C-452D-8B94-248BCC813165}"/>
              </a:ext>
            </a:extLst>
          </p:cNvPr>
          <p:cNvSpPr/>
          <p:nvPr/>
        </p:nvSpPr>
        <p:spPr>
          <a:xfrm>
            <a:off x="6425658" y="5011014"/>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Processes compensation payment if necessary</a:t>
            </a:r>
          </a:p>
        </p:txBody>
      </p:sp>
      <p:sp>
        <p:nvSpPr>
          <p:cNvPr id="72" name="Rectangle 71">
            <a:extLst>
              <a:ext uri="{FF2B5EF4-FFF2-40B4-BE49-F238E27FC236}">
                <a16:creationId xmlns:a16="http://schemas.microsoft.com/office/drawing/2014/main" id="{A37790AE-F32B-422D-A4FD-6A466679B6E2}"/>
              </a:ext>
            </a:extLst>
          </p:cNvPr>
          <p:cNvSpPr/>
          <p:nvPr/>
        </p:nvSpPr>
        <p:spPr>
          <a:xfrm>
            <a:off x="1686157" y="5626987"/>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latin typeface="Montserrat" panose="00000500000000000000" pitchFamily="50" charset="0"/>
            </a:endParaRPr>
          </a:p>
        </p:txBody>
      </p:sp>
      <p:sp>
        <p:nvSpPr>
          <p:cNvPr id="73" name="Rectangle 72">
            <a:extLst>
              <a:ext uri="{FF2B5EF4-FFF2-40B4-BE49-F238E27FC236}">
                <a16:creationId xmlns:a16="http://schemas.microsoft.com/office/drawing/2014/main" id="{D0964983-77BC-43E8-B4C6-EDD3C87B6545}"/>
              </a:ext>
            </a:extLst>
          </p:cNvPr>
          <p:cNvSpPr/>
          <p:nvPr/>
        </p:nvSpPr>
        <p:spPr>
          <a:xfrm>
            <a:off x="2872325" y="4370993"/>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supplier relationship</a:t>
            </a:r>
          </a:p>
          <a:p>
            <a:pPr marL="87313" indent="-87313">
              <a:spcAft>
                <a:spcPts val="400"/>
              </a:spcAft>
              <a:buFontTx/>
              <a:buChar char="-"/>
            </a:pPr>
            <a:r>
              <a:rPr lang="en-GB" sz="800">
                <a:solidFill>
                  <a:schemeClr val="tx1"/>
                </a:solidFill>
                <a:latin typeface="Montserrat" panose="00000500000000000000" pitchFamily="50" charset="0"/>
              </a:rPr>
              <a:t>Approves invoices</a:t>
            </a:r>
          </a:p>
        </p:txBody>
      </p:sp>
      <p:sp>
        <p:nvSpPr>
          <p:cNvPr id="74" name="Rectangle 73">
            <a:extLst>
              <a:ext uri="{FF2B5EF4-FFF2-40B4-BE49-F238E27FC236}">
                <a16:creationId xmlns:a16="http://schemas.microsoft.com/office/drawing/2014/main" id="{1E13137F-6ADA-404E-AB0B-3B41C0FEAE63}"/>
              </a:ext>
            </a:extLst>
          </p:cNvPr>
          <p:cNvSpPr/>
          <p:nvPr/>
        </p:nvSpPr>
        <p:spPr>
          <a:xfrm>
            <a:off x="4058492" y="4370993"/>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jobs using own systems</a:t>
            </a:r>
          </a:p>
          <a:p>
            <a:pPr marL="87313" indent="-87313">
              <a:spcAft>
                <a:spcPts val="400"/>
              </a:spcAft>
              <a:buFontTx/>
              <a:buChar char="-"/>
            </a:pPr>
            <a:r>
              <a:rPr lang="en-GB" sz="800">
                <a:solidFill>
                  <a:schemeClr val="tx1"/>
                </a:solidFill>
                <a:latin typeface="Montserrat" panose="00000500000000000000" pitchFamily="50" charset="0"/>
              </a:rPr>
              <a:t>Reports jobs data &amp; KPIs*</a:t>
            </a:r>
          </a:p>
        </p:txBody>
      </p:sp>
      <p:sp>
        <p:nvSpPr>
          <p:cNvPr id="75" name="Rectangle 74">
            <a:extLst>
              <a:ext uri="{FF2B5EF4-FFF2-40B4-BE49-F238E27FC236}">
                <a16:creationId xmlns:a16="http://schemas.microsoft.com/office/drawing/2014/main" id="{A9F64D37-8F1E-4092-B699-F5864DDEB67A}"/>
              </a:ext>
            </a:extLst>
          </p:cNvPr>
          <p:cNvSpPr/>
          <p:nvPr/>
        </p:nvSpPr>
        <p:spPr>
          <a:xfrm>
            <a:off x="7616994" y="4370993"/>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a:spcAft>
                <a:spcPts val="400"/>
              </a:spcAft>
            </a:pPr>
            <a:endParaRPr lang="en-GB" sz="800">
              <a:solidFill>
                <a:schemeClr val="tx1"/>
              </a:solidFill>
              <a:latin typeface="Montserrat" panose="00000500000000000000" pitchFamily="50" charset="0"/>
            </a:endParaRPr>
          </a:p>
        </p:txBody>
      </p:sp>
      <p:sp>
        <p:nvSpPr>
          <p:cNvPr id="76" name="Rectangle 75">
            <a:extLst>
              <a:ext uri="{FF2B5EF4-FFF2-40B4-BE49-F238E27FC236}">
                <a16:creationId xmlns:a16="http://schemas.microsoft.com/office/drawing/2014/main" id="{DBA4EBEE-71B9-4E0D-AA95-5D87E512617E}"/>
              </a:ext>
            </a:extLst>
          </p:cNvPr>
          <p:cNvSpPr/>
          <p:nvPr/>
        </p:nvSpPr>
        <p:spPr>
          <a:xfrm>
            <a:off x="5239490" y="4370993"/>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Provides customer &amp; properties info</a:t>
            </a:r>
          </a:p>
          <a:p>
            <a:pPr marL="87313" indent="-87313">
              <a:spcAft>
                <a:spcPts val="400"/>
              </a:spcAft>
              <a:buFontTx/>
              <a:buChar char="-"/>
            </a:pPr>
            <a:r>
              <a:rPr lang="en-GB" sz="800">
                <a:solidFill>
                  <a:schemeClr val="tx1"/>
                </a:solidFill>
                <a:latin typeface="Montserrat" panose="00000500000000000000" pitchFamily="50" charset="0"/>
              </a:rPr>
              <a:t>Captures jobs data*</a:t>
            </a:r>
          </a:p>
        </p:txBody>
      </p:sp>
      <p:sp>
        <p:nvSpPr>
          <p:cNvPr id="77" name="Rectangle 76">
            <a:extLst>
              <a:ext uri="{FF2B5EF4-FFF2-40B4-BE49-F238E27FC236}">
                <a16:creationId xmlns:a16="http://schemas.microsoft.com/office/drawing/2014/main" id="{9607E357-BF36-41A2-B945-1B0D2C906A08}"/>
              </a:ext>
            </a:extLst>
          </p:cNvPr>
          <p:cNvSpPr/>
          <p:nvPr/>
        </p:nvSpPr>
        <p:spPr>
          <a:xfrm>
            <a:off x="6425658" y="4370993"/>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Handles some consolidated (PPP) invoices</a:t>
            </a:r>
          </a:p>
        </p:txBody>
      </p:sp>
      <p:sp>
        <p:nvSpPr>
          <p:cNvPr id="78" name="Rectangle: Rounded Corners 77">
            <a:extLst>
              <a:ext uri="{FF2B5EF4-FFF2-40B4-BE49-F238E27FC236}">
                <a16:creationId xmlns:a16="http://schemas.microsoft.com/office/drawing/2014/main" id="{2B25B529-F8FD-4246-874C-62389C0BB538}"/>
              </a:ext>
            </a:extLst>
          </p:cNvPr>
          <p:cNvSpPr/>
          <p:nvPr/>
        </p:nvSpPr>
        <p:spPr>
          <a:xfrm>
            <a:off x="351174" y="5671485"/>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Purchase to Pay</a:t>
            </a:r>
          </a:p>
        </p:txBody>
      </p:sp>
      <p:cxnSp>
        <p:nvCxnSpPr>
          <p:cNvPr id="79" name="Straight Connector 78">
            <a:extLst>
              <a:ext uri="{FF2B5EF4-FFF2-40B4-BE49-F238E27FC236}">
                <a16:creationId xmlns:a16="http://schemas.microsoft.com/office/drawing/2014/main" id="{30324ABC-C2B9-4A48-8441-AD231F2906D1}"/>
              </a:ext>
            </a:extLst>
          </p:cNvPr>
          <p:cNvCxnSpPr>
            <a:cxnSpLocks/>
          </p:cNvCxnSpPr>
          <p:nvPr/>
        </p:nvCxnSpPr>
        <p:spPr>
          <a:xfrm>
            <a:off x="351174" y="4996110"/>
            <a:ext cx="8434051" cy="96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C8663266-3E42-49F0-909F-241A464E6E54}"/>
              </a:ext>
            </a:extLst>
          </p:cNvPr>
          <p:cNvSpPr/>
          <p:nvPr/>
        </p:nvSpPr>
        <p:spPr>
          <a:xfrm>
            <a:off x="1687526" y="4364891"/>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Logs problem through portal</a:t>
            </a:r>
          </a:p>
          <a:p>
            <a:pPr marL="87313" indent="-87313">
              <a:spcAft>
                <a:spcPts val="400"/>
              </a:spcAft>
              <a:buFontTx/>
              <a:buChar char="-"/>
            </a:pPr>
            <a:r>
              <a:rPr lang="en-GB" sz="800">
                <a:solidFill>
                  <a:schemeClr val="tx1"/>
                </a:solidFill>
                <a:latin typeface="Montserrat" panose="00000500000000000000" pitchFamily="50" charset="0"/>
              </a:rPr>
              <a:t>Contacts directly for emergencies, OOH </a:t>
            </a:r>
          </a:p>
        </p:txBody>
      </p:sp>
      <p:sp>
        <p:nvSpPr>
          <p:cNvPr id="81" name="Rectangle 80">
            <a:extLst>
              <a:ext uri="{FF2B5EF4-FFF2-40B4-BE49-F238E27FC236}">
                <a16:creationId xmlns:a16="http://schemas.microsoft.com/office/drawing/2014/main" id="{21D02EEA-91E3-4C2C-B013-CE8B9A2E97FC}"/>
              </a:ext>
            </a:extLst>
          </p:cNvPr>
          <p:cNvSpPr/>
          <p:nvPr/>
        </p:nvSpPr>
        <p:spPr>
          <a:xfrm>
            <a:off x="2864726" y="563132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Approves Work Order for payment</a:t>
            </a:r>
          </a:p>
          <a:p>
            <a:pPr marL="87313" indent="-87313">
              <a:spcAft>
                <a:spcPts val="400"/>
              </a:spcAft>
              <a:buFontTx/>
              <a:buChar char="-"/>
            </a:pPr>
            <a:r>
              <a:rPr lang="en-GB" sz="800">
                <a:solidFill>
                  <a:schemeClr val="tx1"/>
                </a:solidFill>
                <a:latin typeface="Montserrat" panose="00000500000000000000" pitchFamily="50" charset="0"/>
              </a:rPr>
              <a:t>Manages discrepancies</a:t>
            </a:r>
          </a:p>
        </p:txBody>
      </p:sp>
      <p:sp>
        <p:nvSpPr>
          <p:cNvPr id="82" name="Rectangle 81">
            <a:extLst>
              <a:ext uri="{FF2B5EF4-FFF2-40B4-BE49-F238E27FC236}">
                <a16:creationId xmlns:a16="http://schemas.microsoft.com/office/drawing/2014/main" id="{06452724-579E-4B2C-AB2A-1356955C5DFA}"/>
              </a:ext>
            </a:extLst>
          </p:cNvPr>
          <p:cNvSpPr/>
          <p:nvPr/>
        </p:nvSpPr>
        <p:spPr>
          <a:xfrm>
            <a:off x="4050893" y="563132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Submits invoice quoting WO</a:t>
            </a:r>
          </a:p>
        </p:txBody>
      </p:sp>
      <p:sp>
        <p:nvSpPr>
          <p:cNvPr id="83" name="Rectangle 82">
            <a:extLst>
              <a:ext uri="{FF2B5EF4-FFF2-40B4-BE49-F238E27FC236}">
                <a16:creationId xmlns:a16="http://schemas.microsoft.com/office/drawing/2014/main" id="{D4AF3A7C-CBF8-4AFA-A65B-3311A9DF03B0}"/>
              </a:ext>
            </a:extLst>
          </p:cNvPr>
          <p:cNvSpPr/>
          <p:nvPr/>
        </p:nvSpPr>
        <p:spPr>
          <a:xfrm>
            <a:off x="7609395" y="5632906"/>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Processes payment</a:t>
            </a:r>
          </a:p>
          <a:p>
            <a:pPr marL="87313" indent="-87313">
              <a:spcAft>
                <a:spcPts val="400"/>
              </a:spcAft>
              <a:buFontTx/>
              <a:buChar char="-"/>
            </a:pPr>
            <a:r>
              <a:rPr lang="en-GB" sz="800">
                <a:solidFill>
                  <a:schemeClr val="tx1"/>
                </a:solidFill>
                <a:latin typeface="Montserrat" panose="00000500000000000000" pitchFamily="50" charset="0"/>
              </a:rPr>
              <a:t>Confirms payment to other systems</a:t>
            </a:r>
          </a:p>
        </p:txBody>
      </p:sp>
      <p:sp>
        <p:nvSpPr>
          <p:cNvPr id="84" name="Rectangle 83">
            <a:extLst>
              <a:ext uri="{FF2B5EF4-FFF2-40B4-BE49-F238E27FC236}">
                <a16:creationId xmlns:a16="http://schemas.microsoft.com/office/drawing/2014/main" id="{156AEE6C-1EA9-41DA-901C-D3675417F451}"/>
              </a:ext>
            </a:extLst>
          </p:cNvPr>
          <p:cNvSpPr/>
          <p:nvPr/>
        </p:nvSpPr>
        <p:spPr>
          <a:xfrm>
            <a:off x="5231891" y="5640868"/>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Handles WO approval levels</a:t>
            </a:r>
          </a:p>
        </p:txBody>
      </p:sp>
      <p:sp>
        <p:nvSpPr>
          <p:cNvPr id="85" name="Rectangle 84">
            <a:extLst>
              <a:ext uri="{FF2B5EF4-FFF2-40B4-BE49-F238E27FC236}">
                <a16:creationId xmlns:a16="http://schemas.microsoft.com/office/drawing/2014/main" id="{E6922633-E2CA-438A-9E8E-92D759FC4CB3}"/>
              </a:ext>
            </a:extLst>
          </p:cNvPr>
          <p:cNvSpPr/>
          <p:nvPr/>
        </p:nvSpPr>
        <p:spPr>
          <a:xfrm>
            <a:off x="6418059" y="5640868"/>
            <a:ext cx="1175830"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300"/>
              </a:spcAft>
              <a:buFontTx/>
              <a:buChar char="-"/>
            </a:pPr>
            <a:r>
              <a:rPr lang="en-GB" sz="800">
                <a:solidFill>
                  <a:schemeClr val="tx1"/>
                </a:solidFill>
                <a:latin typeface="Montserrat" panose="00000500000000000000" pitchFamily="50" charset="0"/>
              </a:rPr>
              <a:t>Generates PO from FSI work order</a:t>
            </a:r>
          </a:p>
          <a:p>
            <a:pPr marL="87313" indent="-87313">
              <a:spcAft>
                <a:spcPts val="300"/>
              </a:spcAft>
              <a:buFontTx/>
              <a:buChar char="-"/>
            </a:pPr>
            <a:r>
              <a:rPr lang="en-GB" sz="800">
                <a:solidFill>
                  <a:schemeClr val="tx1"/>
                </a:solidFill>
                <a:latin typeface="Montserrat" panose="00000500000000000000" pitchFamily="50" charset="0"/>
              </a:rPr>
              <a:t>Manage POs out of R&amp;M activity</a:t>
            </a:r>
          </a:p>
          <a:p>
            <a:pPr marL="87313" indent="-87313">
              <a:spcAft>
                <a:spcPts val="300"/>
              </a:spcAft>
              <a:buFontTx/>
              <a:buChar char="-"/>
            </a:pPr>
            <a:r>
              <a:rPr lang="en-GB" sz="800">
                <a:solidFill>
                  <a:schemeClr val="tx1"/>
                </a:solidFill>
                <a:latin typeface="Montserrat" panose="00000500000000000000" pitchFamily="50" charset="0"/>
              </a:rPr>
              <a:t>Link invoices to PO’s</a:t>
            </a:r>
          </a:p>
        </p:txBody>
      </p:sp>
      <p:sp>
        <p:nvSpPr>
          <p:cNvPr id="89" name="Rectangle: Rounded Corners 88">
            <a:extLst>
              <a:ext uri="{FF2B5EF4-FFF2-40B4-BE49-F238E27FC236}">
                <a16:creationId xmlns:a16="http://schemas.microsoft.com/office/drawing/2014/main" id="{AEEB3148-3B98-43B3-A577-6F9B234819FF}"/>
              </a:ext>
            </a:extLst>
          </p:cNvPr>
          <p:cNvSpPr/>
          <p:nvPr/>
        </p:nvSpPr>
        <p:spPr>
          <a:xfrm>
            <a:off x="358774" y="1633825"/>
            <a:ext cx="1231486" cy="246222"/>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2</a:t>
            </a:r>
          </a:p>
        </p:txBody>
      </p:sp>
      <p:sp>
        <p:nvSpPr>
          <p:cNvPr id="90" name="Rectangle: Rounded Corners 89">
            <a:extLst>
              <a:ext uri="{FF2B5EF4-FFF2-40B4-BE49-F238E27FC236}">
                <a16:creationId xmlns:a16="http://schemas.microsoft.com/office/drawing/2014/main" id="{1A373FB6-E121-40BC-A112-3E8F9D10F83D}"/>
              </a:ext>
            </a:extLst>
          </p:cNvPr>
          <p:cNvSpPr/>
          <p:nvPr/>
        </p:nvSpPr>
        <p:spPr>
          <a:xfrm>
            <a:off x="367209" y="1332782"/>
            <a:ext cx="1231486" cy="246222"/>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1 Portal /</a:t>
            </a:r>
          </a:p>
          <a:p>
            <a:pPr algn="ctr"/>
            <a:r>
              <a:rPr lang="en-GB" sz="800">
                <a:solidFill>
                  <a:schemeClr val="tx1"/>
                </a:solidFill>
              </a:rPr>
              <a:t>post-go-live</a:t>
            </a:r>
          </a:p>
        </p:txBody>
      </p:sp>
      <p:sp>
        <p:nvSpPr>
          <p:cNvPr id="3" name="TextBox 2">
            <a:extLst>
              <a:ext uri="{FF2B5EF4-FFF2-40B4-BE49-F238E27FC236}">
                <a16:creationId xmlns:a16="http://schemas.microsoft.com/office/drawing/2014/main" id="{54B44E26-F843-4A54-9513-7E6EA967FA42}"/>
              </a:ext>
            </a:extLst>
          </p:cNvPr>
          <p:cNvSpPr txBox="1"/>
          <p:nvPr/>
        </p:nvSpPr>
        <p:spPr>
          <a:xfrm>
            <a:off x="1365883" y="6503838"/>
            <a:ext cx="6973384" cy="246221"/>
          </a:xfrm>
          <a:prstGeom prst="rect">
            <a:avLst/>
          </a:prstGeom>
          <a:noFill/>
        </p:spPr>
        <p:txBody>
          <a:bodyPr wrap="none" rtlCol="0">
            <a:spAutoFit/>
          </a:bodyPr>
          <a:lstStyle/>
          <a:p>
            <a:pPr algn="l"/>
            <a:r>
              <a:rPr lang="en-GB" sz="1000" i="1"/>
              <a:t>Kier integration as a deliverable is independent of the Connect phases and dependent on Kier availability</a:t>
            </a:r>
          </a:p>
        </p:txBody>
      </p:sp>
    </p:spTree>
    <p:extLst>
      <p:ext uri="{BB962C8B-B14F-4D97-AF65-F5344CB8AC3E}">
        <p14:creationId xmlns:p14="http://schemas.microsoft.com/office/powerpoint/2010/main" val="34744488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Managing Property &amp; Supplier</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5" y="1334847"/>
            <a:ext cx="4706206"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 Core</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Create; manage &amp; amend supplier records (MRI)</a:t>
              </a:r>
            </a:p>
            <a:p>
              <a:pPr marL="171450" indent="-171450" fontAlgn="b">
                <a:buFontTx/>
                <a:buChar char="-"/>
              </a:pPr>
              <a:r>
                <a:rPr lang="en-GB" sz="1000">
                  <a:solidFill>
                    <a:schemeClr val="tx1"/>
                  </a:solidFill>
                  <a:latin typeface="Montserrat Light (Body)"/>
                </a:rPr>
                <a:t>Check supplier application &amp; assigns to category (FSI)</a:t>
              </a:r>
            </a:p>
            <a:p>
              <a:pPr marL="171450" indent="-171450" fontAlgn="b">
                <a:buFontTx/>
                <a:buChar char="-"/>
              </a:pPr>
              <a:r>
                <a:rPr lang="en-GB" sz="1000">
                  <a:solidFill>
                    <a:schemeClr val="tx1"/>
                  </a:solidFill>
                  <a:latin typeface="Montserrat Light (Body)"/>
                </a:rPr>
                <a:t>Suspend supplier if certificates expire (FSI, MRI)</a:t>
              </a:r>
            </a:p>
            <a:p>
              <a:pPr marL="171450" indent="-171450" fontAlgn="b">
                <a:buFontTx/>
                <a:buChar char="-"/>
              </a:pPr>
              <a:r>
                <a:rPr lang="en-GB" sz="1000">
                  <a:solidFill>
                    <a:schemeClr val="tx1"/>
                  </a:solidFill>
                  <a:latin typeface="Montserrat Light (Body)"/>
                </a:rPr>
                <a:t>Manage maintenance plans and budgets (FSI, MRI)</a:t>
              </a:r>
            </a:p>
            <a:p>
              <a:pPr marL="171450" indent="-171450" fontAlgn="b">
                <a:buFontTx/>
                <a:buChar char="-"/>
              </a:pPr>
              <a:r>
                <a:rPr lang="en-GB" sz="1000">
                  <a:solidFill>
                    <a:schemeClr val="tx1"/>
                  </a:solidFill>
                  <a:latin typeface="Montserrat Light (Body)"/>
                </a:rPr>
                <a:t>Manage building works / common areas (FSI)</a:t>
              </a:r>
            </a:p>
            <a:p>
              <a:pPr marL="171450" indent="-171450" fontAlgn="b">
                <a:buFontTx/>
                <a:buChar char="-"/>
              </a:pPr>
              <a:r>
                <a:rPr lang="en-GB" sz="1000">
                  <a:solidFill>
                    <a:schemeClr val="tx1"/>
                  </a:solidFill>
                  <a:latin typeface="Montserrat Light (Body)"/>
                </a:rPr>
                <a:t>Carry out inspections and update registers (FSI)</a:t>
              </a:r>
            </a:p>
            <a:p>
              <a:pPr marL="171450" indent="-171450" fontAlgn="b">
                <a:buFontTx/>
                <a:buChar char="-"/>
              </a:pPr>
              <a:r>
                <a:rPr lang="pt-BR" sz="1000">
                  <a:solidFill>
                    <a:schemeClr val="tx1"/>
                  </a:solidFill>
                  <a:latin typeface="Montserrat Light (Body)"/>
                </a:rPr>
                <a:t>Uploads Gas / H&amp;S certificates (FSI)</a:t>
              </a:r>
              <a:endParaRPr lang="en-GB" sz="1000">
                <a:solidFill>
                  <a:schemeClr val="tx1"/>
                </a:solidFill>
                <a:latin typeface="Montserrat Light (Body)"/>
              </a:endParaRPr>
            </a:p>
            <a:p>
              <a:pPr marL="171450" indent="-171450" fontAlgn="b">
                <a:buFontTx/>
                <a:buChar char="-"/>
              </a:pPr>
              <a:r>
                <a:rPr lang="en-GB" sz="1000">
                  <a:solidFill>
                    <a:schemeClr val="tx1"/>
                  </a:solidFill>
                  <a:latin typeface="Montserrat Light (Body)"/>
                </a:rPr>
                <a:t>Log maintenance works and generate Work Order (FSI)</a:t>
              </a:r>
            </a:p>
            <a:p>
              <a:pPr marL="171450" indent="-171450" fontAlgn="b">
                <a:buFontTx/>
                <a:buChar char="-"/>
              </a:pPr>
              <a:r>
                <a:rPr lang="en-GB" sz="1000">
                  <a:solidFill>
                    <a:schemeClr val="tx1"/>
                  </a:solidFill>
                  <a:latin typeface="Montserrat Light (Body)"/>
                </a:rPr>
                <a:t>Select supplier for job based on problem code (FSI)</a:t>
              </a:r>
            </a:p>
            <a:p>
              <a:pPr marL="171450" indent="-171450" fontAlgn="b">
                <a:buFontTx/>
                <a:buChar char="-"/>
              </a:pPr>
              <a:r>
                <a:rPr lang="en-GB" sz="1000">
                  <a:solidFill>
                    <a:schemeClr val="tx1"/>
                  </a:solidFill>
                  <a:latin typeface="Montserrat Light (Body)"/>
                </a:rPr>
                <a:t>Track ‘level of completion’ / LoC of jobs (FSI)</a:t>
              </a:r>
            </a:p>
            <a:p>
              <a:pPr marL="171450" indent="-171450" fontAlgn="b">
                <a:buFontTx/>
                <a:buChar char="-"/>
              </a:pPr>
              <a:r>
                <a:rPr lang="pt-BR" sz="1000">
                  <a:solidFill>
                    <a:schemeClr val="tx1"/>
                  </a:solidFill>
                  <a:latin typeface="Montserrat Light (Body)"/>
                </a:rPr>
                <a:t>Receipt works and manage approvals (FSI)</a:t>
              </a:r>
              <a:endParaRPr lang="en-GB" sz="1000">
                <a:solidFill>
                  <a:schemeClr val="tx1"/>
                </a:solidFill>
                <a:latin typeface="Montserrat Light (Body)"/>
              </a:endParaRPr>
            </a:p>
            <a:p>
              <a:pPr marL="171450" indent="-171450" fontAlgn="b">
                <a:buFontTx/>
                <a:buChar char="-"/>
              </a:pPr>
              <a:r>
                <a:rPr lang="en-GB" sz="1000">
                  <a:solidFill>
                    <a:schemeClr val="tx1"/>
                  </a:solidFill>
                  <a:latin typeface="Montserrat Light (Body)"/>
                </a:rPr>
                <a:t>Comms to supplier &amp; customer (FSI)</a:t>
              </a:r>
            </a:p>
            <a:p>
              <a:pPr marL="171450" indent="-171450" fontAlgn="b">
                <a:buFontTx/>
                <a:buChar char="-"/>
              </a:pPr>
              <a:r>
                <a:rPr lang="en-GB" sz="1000">
                  <a:solidFill>
                    <a:schemeClr val="tx1"/>
                  </a:solidFill>
                  <a:latin typeface="Montserrat Light (Body)"/>
                </a:rPr>
                <a:t>Supplier ability to Accept WO, orders parts, update job status, update costs (FSI)</a:t>
              </a:r>
            </a:p>
            <a:p>
              <a:pPr marL="171450" indent="-171450" fontAlgn="b">
                <a:buFontTx/>
                <a:buChar char="-"/>
              </a:pPr>
              <a:r>
                <a:rPr lang="en-GB" sz="1000">
                  <a:solidFill>
                    <a:schemeClr val="tx1"/>
                  </a:solidFill>
                  <a:latin typeface="Montserrat Light (Body)"/>
                </a:rPr>
                <a:t>FSI Mobile Application for individual service people (FSI)</a:t>
              </a:r>
            </a:p>
            <a:p>
              <a:pPr marL="171450" indent="-171450" fontAlgn="b">
                <a:buFontTx/>
                <a:buChar char="-"/>
              </a:pPr>
              <a:r>
                <a:rPr lang="en-GB" sz="1000">
                  <a:solidFill>
                    <a:schemeClr val="tx1"/>
                  </a:solidFill>
                  <a:latin typeface="Montserrat Light (Body)"/>
                </a:rPr>
                <a:t>Transfer customer and jobs data to Kier (FSI)</a:t>
              </a:r>
            </a:p>
            <a:p>
              <a:pPr marL="171450" indent="-171450" fontAlgn="b">
                <a:buFontTx/>
                <a:buChar char="-"/>
              </a:pPr>
              <a:r>
                <a:rPr lang="en-GB" sz="1000">
                  <a:solidFill>
                    <a:schemeClr val="tx1"/>
                  </a:solidFill>
                  <a:latin typeface="Montserrat Light (Body)"/>
                </a:rPr>
                <a:t>Assign investigator and track status of complaints (FSI)</a:t>
              </a:r>
            </a:p>
            <a:p>
              <a:pPr marL="171450" indent="-171450" fontAlgn="b">
                <a:buFontTx/>
                <a:buChar char="-"/>
              </a:pPr>
              <a:r>
                <a:rPr lang="en-GB" sz="1000">
                  <a:solidFill>
                    <a:schemeClr val="tx1"/>
                  </a:solidFill>
                  <a:latin typeface="Montserrat Light (Body)"/>
                </a:rPr>
                <a:t>Approve &amp; process compensation payments (FSI)</a:t>
              </a:r>
            </a:p>
            <a:p>
              <a:pPr marL="171450" indent="-171450" fontAlgn="b">
                <a:buFontTx/>
                <a:buChar char="-"/>
              </a:pPr>
              <a:r>
                <a:rPr lang="en-GB" sz="1000">
                  <a:solidFill>
                    <a:schemeClr val="tx1"/>
                  </a:solidFill>
                  <a:latin typeface="Montserrat Light (Body)"/>
                </a:rPr>
                <a:t>Create PO automatically from FSI work order (ProActis)</a:t>
              </a:r>
            </a:p>
            <a:p>
              <a:pPr marL="171450" indent="-171450" fontAlgn="b">
                <a:buFontTx/>
                <a:buChar char="-"/>
              </a:pPr>
              <a:r>
                <a:rPr lang="en-GB" sz="1000">
                  <a:solidFill>
                    <a:schemeClr val="tx1"/>
                  </a:solidFill>
                  <a:latin typeface="Montserrat Light (Body)"/>
                </a:rPr>
                <a:t>Create / approve POs manually for non RM spend (Proactis)</a:t>
              </a:r>
            </a:p>
            <a:p>
              <a:pPr marL="171450" indent="-171450" fontAlgn="b">
                <a:buFontTx/>
                <a:buChar char="-"/>
              </a:pPr>
              <a:r>
                <a:rPr lang="en-GB" sz="1000">
                  <a:solidFill>
                    <a:schemeClr val="tx1"/>
                  </a:solidFill>
                  <a:latin typeface="Montserrat Light (Body)"/>
                </a:rPr>
                <a:t>Send PO to supplier and store it in DMS (Proactis)</a:t>
              </a:r>
            </a:p>
            <a:p>
              <a:pPr marL="171450" indent="-171450" fontAlgn="b">
                <a:buFontTx/>
                <a:buChar char="-"/>
              </a:pPr>
              <a:r>
                <a:rPr lang="en-GB" sz="1000">
                  <a:solidFill>
                    <a:schemeClr val="tx1"/>
                  </a:solidFill>
                  <a:latin typeface="Montserrat Light (Body)"/>
                </a:rPr>
                <a:t>Match supplier invoice to PO’s (Proactis)</a:t>
              </a:r>
            </a:p>
            <a:p>
              <a:pPr marL="171450" indent="-171450" fontAlgn="b">
                <a:buFontTx/>
                <a:buChar char="-"/>
              </a:pPr>
              <a:r>
                <a:rPr lang="en-GB" sz="1000">
                  <a:solidFill>
                    <a:schemeClr val="tx1"/>
                  </a:solidFill>
                  <a:latin typeface="Montserrat Light (Body)"/>
                </a:rPr>
                <a:t>Manage Discrepancies (Proactis)</a:t>
              </a:r>
            </a:p>
            <a:p>
              <a:pPr marL="171450" indent="-171450" fontAlgn="b">
                <a:buFontTx/>
                <a:buChar char="-"/>
              </a:pPr>
              <a:r>
                <a:rPr lang="en-GB" sz="1000">
                  <a:solidFill>
                    <a:schemeClr val="tx1"/>
                  </a:solidFill>
                  <a:latin typeface="Montserrat Light (Body)"/>
                </a:rPr>
                <a:t>Process invoice payment once approved (MRI)</a:t>
              </a:r>
            </a:p>
            <a:p>
              <a:pPr marL="171450" indent="-171450" fontAlgn="b">
                <a:buFontTx/>
                <a:buChar char="-"/>
              </a:pPr>
              <a:r>
                <a:rPr lang="en-GB" sz="1000">
                  <a:solidFill>
                    <a:schemeClr val="tx1"/>
                  </a:solidFill>
                  <a:latin typeface="Montserrat Light (Body)"/>
                </a:rPr>
                <a:t>Updates invoice paid status in other systems (MRI)</a:t>
              </a:r>
            </a:p>
            <a:p>
              <a:pPr marL="171450" indent="-171450" fontAlgn="b">
                <a:buFontTx/>
                <a:buChar char="-"/>
              </a:pPr>
              <a:r>
                <a:rPr lang="en-GB" sz="1000">
                  <a:solidFill>
                    <a:schemeClr val="tx1"/>
                  </a:solidFill>
                  <a:latin typeface="Montserrat Light (Body)"/>
                </a:rPr>
                <a:t>Apportionment of spend for common areas (MRI)</a:t>
              </a:r>
            </a:p>
            <a:p>
              <a:pPr marL="171450" indent="-171450" fontAlgn="b">
                <a:buFontTx/>
                <a:buChar char="-"/>
              </a:pPr>
              <a:r>
                <a:rPr lang="en-GB" sz="1000">
                  <a:solidFill>
                    <a:schemeClr val="tx1"/>
                  </a:solidFill>
                  <a:latin typeface="Montserrat Light (Body)"/>
                </a:rPr>
                <a:t>Send supplier remittances after invoice paid (MRI)</a:t>
              </a:r>
            </a:p>
            <a:p>
              <a:pPr marL="171450" indent="-171450" fontAlgn="b">
                <a:buFontTx/>
                <a:buChar char="-"/>
              </a:pPr>
              <a:endParaRPr lang="en-GB" sz="1000">
                <a:solidFill>
                  <a:schemeClr val="tx1"/>
                </a:solidFill>
                <a:latin typeface="Montserrat Light (Body)"/>
              </a:endParaRPr>
            </a:p>
            <a:p>
              <a:pPr marL="171450" indent="-171450" fontAlgn="b">
                <a:spcBef>
                  <a:spcPts val="400"/>
                </a:spcBef>
                <a:buFontTx/>
                <a:buChar char="-"/>
              </a:pPr>
              <a:endParaRPr lang="en-GB" sz="1000">
                <a:solidFill>
                  <a:schemeClr val="tx1"/>
                </a:solidFill>
                <a:latin typeface="Montserrat Light (Body)"/>
              </a:endParaRPr>
            </a:p>
            <a:p>
              <a:pPr marL="171450" indent="-171450" fontAlgn="b">
                <a:spcBef>
                  <a:spcPts val="400"/>
                </a:spcBef>
                <a:buFontTx/>
                <a:buChar char="-"/>
              </a:pPr>
              <a:endParaRPr lang="en-GB" sz="1000">
                <a:solidFill>
                  <a:schemeClr val="tx1"/>
                </a:solidFill>
                <a:latin typeface="Montserrat Light (Body)"/>
              </a:endParaRPr>
            </a:p>
            <a:p>
              <a:pPr marL="171450" indent="-171450" fontAlgn="b">
                <a:spcBef>
                  <a:spcPts val="400"/>
                </a:spcBef>
                <a:buFontTx/>
                <a:buChar char="-"/>
              </a:pPr>
              <a:endParaRPr lang="en-GB" sz="1000">
                <a:solidFill>
                  <a:schemeClr val="tx1"/>
                </a:solidFill>
                <a:latin typeface="Montserrat Light (Body)"/>
              </a:endParaRPr>
            </a:p>
            <a:p>
              <a:pPr algn="ctr" fontAlgn="b"/>
              <a:endParaRPr lang="en-GB">
                <a:latin typeface="Arial" panose="020B0604020202020204" pitchFamily="34" charset="0"/>
              </a:endParaRPr>
            </a:p>
            <a:p>
              <a:pPr algn="ctr" fontAlgn="b"/>
              <a:endParaRPr lang="en-GB" sz="1000">
                <a:latin typeface="Arial" panose="020B0604020202020204" pitchFamily="34" charset="0"/>
              </a:endParaRPr>
            </a:p>
            <a:p>
              <a:pPr algn="ctr" fontAlgn="b"/>
              <a:endParaRPr lang="en-GB" sz="1000">
                <a:latin typeface="Arial" panose="020B0604020202020204" pitchFamily="34" charset="0"/>
              </a:endParaRPr>
            </a:p>
            <a:p>
              <a:pPr marL="171450" indent="-171450">
                <a:spcBef>
                  <a:spcPts val="400"/>
                </a:spcBef>
                <a:buFontTx/>
                <a:buChar char="-"/>
              </a:pPr>
              <a:endParaRPr lang="en-GB" sz="1000">
                <a:solidFill>
                  <a:schemeClr val="tx1"/>
                </a:solidFill>
                <a:latin typeface="Montserrat Light (Body)"/>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55811" y="1339785"/>
            <a:ext cx="3520781" cy="2435261"/>
            <a:chOff x="358772" y="2399498"/>
            <a:chExt cx="4120947" cy="1993305"/>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716973"/>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Customer report fault / request service (MyGrainger portal)</a:t>
              </a:r>
            </a:p>
            <a:p>
              <a:pPr marL="171450" indent="-171450" fontAlgn="b">
                <a:spcBef>
                  <a:spcPts val="400"/>
                </a:spcBef>
                <a:buFontTx/>
                <a:buChar char="-"/>
              </a:pPr>
              <a:r>
                <a:rPr lang="en-GB" sz="1000">
                  <a:solidFill>
                    <a:schemeClr val="tx1"/>
                  </a:solidFill>
                  <a:latin typeface="Montserrat Light (Body)"/>
                </a:rPr>
                <a:t>Customer’s ability to log complaints via MyGrainger Portal</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10</a:t>
            </a:fld>
            <a:endParaRPr lang="en-GB"/>
          </a:p>
        </p:txBody>
      </p:sp>
      <p:grpSp>
        <p:nvGrpSpPr>
          <p:cNvPr id="12" name="Group 11">
            <a:extLst>
              <a:ext uri="{FF2B5EF4-FFF2-40B4-BE49-F238E27FC236}">
                <a16:creationId xmlns:a16="http://schemas.microsoft.com/office/drawing/2014/main" id="{6CB44840-4591-4677-9A0B-E7CB71DAB973}"/>
              </a:ext>
            </a:extLst>
          </p:cNvPr>
          <p:cNvGrpSpPr/>
          <p:nvPr/>
        </p:nvGrpSpPr>
        <p:grpSpPr>
          <a:xfrm>
            <a:off x="5255809" y="3968078"/>
            <a:ext cx="3520781" cy="2326847"/>
            <a:chOff x="358772" y="2399498"/>
            <a:chExt cx="4120947" cy="1904566"/>
          </a:xfrm>
        </p:grpSpPr>
        <p:sp>
          <p:nvSpPr>
            <p:cNvPr id="13" name="Rectangle 12">
              <a:extLst>
                <a:ext uri="{FF2B5EF4-FFF2-40B4-BE49-F238E27FC236}">
                  <a16:creationId xmlns:a16="http://schemas.microsoft.com/office/drawing/2014/main" id="{DB27D173-E008-4B26-A01D-206B9A39A63A}"/>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20" name="Rectangle 19">
              <a:extLst>
                <a:ext uri="{FF2B5EF4-FFF2-40B4-BE49-F238E27FC236}">
                  <a16:creationId xmlns:a16="http://schemas.microsoft.com/office/drawing/2014/main" id="{456AD6B9-4391-4FCC-9D1A-DE5ED94207FF}"/>
                </a:ext>
              </a:extLst>
            </p:cNvPr>
            <p:cNvSpPr/>
            <p:nvPr/>
          </p:nvSpPr>
          <p:spPr>
            <a:xfrm>
              <a:off x="358772" y="2675830"/>
              <a:ext cx="4120945" cy="1628234"/>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400"/>
                </a:spcBef>
                <a:buFontTx/>
                <a:buChar char="-"/>
              </a:pPr>
              <a:r>
                <a:rPr lang="en-GB" sz="1000">
                  <a:solidFill>
                    <a:schemeClr val="tx1"/>
                  </a:solidFill>
                  <a:latin typeface="Montserrat Light (Body)"/>
                </a:rPr>
                <a:t>Customer feedback on service – will rely on Salesforce functionality</a:t>
              </a:r>
            </a:p>
            <a:p>
              <a:pPr marL="171450" indent="-171450">
                <a:spcBef>
                  <a:spcPts val="400"/>
                </a:spcBef>
                <a:buFontTx/>
                <a:buChar char="-"/>
              </a:pPr>
              <a:r>
                <a:rPr lang="en-GB" sz="1000">
                  <a:solidFill>
                    <a:schemeClr val="tx1"/>
                  </a:solidFill>
                  <a:latin typeface="Montserrat Light (Body)"/>
                </a:rPr>
                <a:t>Full integration with </a:t>
              </a:r>
              <a:r>
                <a:rPr lang="en-GB" sz="1000" err="1">
                  <a:solidFill>
                    <a:schemeClr val="tx1"/>
                  </a:solidFill>
                  <a:latin typeface="Montserrat Light (Body)"/>
                </a:rPr>
                <a:t>Kier’s</a:t>
              </a:r>
              <a:r>
                <a:rPr lang="en-GB" sz="1000">
                  <a:solidFill>
                    <a:schemeClr val="tx1"/>
                  </a:solidFill>
                  <a:latin typeface="Montserrat Light (Body)"/>
                </a:rPr>
                <a:t> new system (Servitor) – that is independent of the Connect phases and dependent on </a:t>
              </a:r>
              <a:r>
                <a:rPr lang="en-GB" sz="1000" err="1">
                  <a:solidFill>
                    <a:schemeClr val="tx1"/>
                  </a:solidFill>
                  <a:latin typeface="Montserrat Light (Body)"/>
                </a:rPr>
                <a:t>Kier’s</a:t>
              </a:r>
              <a:r>
                <a:rPr lang="en-GB" sz="1000">
                  <a:solidFill>
                    <a:schemeClr val="tx1"/>
                  </a:solidFill>
                  <a:latin typeface="Montserrat Light (Body)"/>
                </a:rPr>
                <a:t> availability – depending on Kiers availability</a:t>
              </a:r>
            </a:p>
            <a:p>
              <a:pPr marL="171450" indent="-171450">
                <a:spcBef>
                  <a:spcPts val="400"/>
                </a:spcBef>
                <a:buFontTx/>
                <a:buChar char="-"/>
              </a:pPr>
              <a:r>
                <a:rPr lang="en-GB" sz="1000">
                  <a:solidFill>
                    <a:schemeClr val="tx1"/>
                  </a:solidFill>
                  <a:latin typeface="Montserrat Light (Body)"/>
                </a:rPr>
                <a:t>Notify customer automatically of gas checks &amp; major works – will be MyGrainger Portal development</a:t>
              </a:r>
            </a:p>
            <a:p>
              <a:pPr marL="171450" indent="-171450">
                <a:spcBef>
                  <a:spcPts val="400"/>
                </a:spcBef>
                <a:buFontTx/>
                <a:buChar char="-"/>
              </a:pPr>
              <a:endParaRPr lang="en-GB" sz="1000">
                <a:solidFill>
                  <a:schemeClr val="tx1"/>
                </a:solidFill>
                <a:latin typeface="Montserrat Light (Body)"/>
              </a:endParaRPr>
            </a:p>
            <a:p>
              <a:pPr>
                <a:spcBef>
                  <a:spcPts val="400"/>
                </a:spcBef>
              </a:pPr>
              <a:endParaRPr lang="en-GB" sz="1000">
                <a:solidFill>
                  <a:schemeClr val="tx1"/>
                </a:solidFill>
                <a:latin typeface="Montserrat Light (Body)"/>
              </a:endParaRPr>
            </a:p>
          </p:txBody>
        </p:sp>
      </p:grpSp>
    </p:spTree>
    <p:extLst>
      <p:ext uri="{BB962C8B-B14F-4D97-AF65-F5344CB8AC3E}">
        <p14:creationId xmlns:p14="http://schemas.microsoft.com/office/powerpoint/2010/main" val="3603164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Rounded Corners 72">
            <a:extLst>
              <a:ext uri="{FF2B5EF4-FFF2-40B4-BE49-F238E27FC236}">
                <a16:creationId xmlns:a16="http://schemas.microsoft.com/office/drawing/2014/main" id="{8F963BDE-0561-49C7-A34E-C5403B359CE6}"/>
              </a:ext>
            </a:extLst>
          </p:cNvPr>
          <p:cNvSpPr/>
          <p:nvPr/>
        </p:nvSpPr>
        <p:spPr>
          <a:xfrm>
            <a:off x="1707790" y="2919600"/>
            <a:ext cx="1313575" cy="234374"/>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a:solidFill>
                <a:schemeClr val="tx1"/>
              </a:solidFill>
            </a:endParaRPr>
          </a:p>
        </p:txBody>
      </p:sp>
      <p:sp>
        <p:nvSpPr>
          <p:cNvPr id="77" name="Rectangle: Rounded Corners 76">
            <a:extLst>
              <a:ext uri="{FF2B5EF4-FFF2-40B4-BE49-F238E27FC236}">
                <a16:creationId xmlns:a16="http://schemas.microsoft.com/office/drawing/2014/main" id="{C56226C0-9AA1-48FF-939A-59F46090B0E5}"/>
              </a:ext>
            </a:extLst>
          </p:cNvPr>
          <p:cNvSpPr/>
          <p:nvPr/>
        </p:nvSpPr>
        <p:spPr>
          <a:xfrm>
            <a:off x="1714888" y="3178494"/>
            <a:ext cx="1313576" cy="298539"/>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a:solidFill>
                <a:schemeClr val="tx1"/>
              </a:solidFill>
            </a:endParaRPr>
          </a:p>
        </p:txBody>
      </p:sp>
      <p:sp>
        <p:nvSpPr>
          <p:cNvPr id="88" name="Rectangle: Rounded Corners 87">
            <a:extLst>
              <a:ext uri="{FF2B5EF4-FFF2-40B4-BE49-F238E27FC236}">
                <a16:creationId xmlns:a16="http://schemas.microsoft.com/office/drawing/2014/main" id="{3BD107C1-F7AD-4EEB-86EE-CB3A092767B3}"/>
              </a:ext>
            </a:extLst>
          </p:cNvPr>
          <p:cNvSpPr/>
          <p:nvPr/>
        </p:nvSpPr>
        <p:spPr>
          <a:xfrm>
            <a:off x="1665512" y="5537929"/>
            <a:ext cx="1393123" cy="658139"/>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Rounded Corners 86">
            <a:extLst>
              <a:ext uri="{FF2B5EF4-FFF2-40B4-BE49-F238E27FC236}">
                <a16:creationId xmlns:a16="http://schemas.microsoft.com/office/drawing/2014/main" id="{0935F114-62F1-4276-9893-333351620AAB}"/>
              </a:ext>
            </a:extLst>
          </p:cNvPr>
          <p:cNvSpPr/>
          <p:nvPr/>
        </p:nvSpPr>
        <p:spPr>
          <a:xfrm>
            <a:off x="5972022" y="4818848"/>
            <a:ext cx="1393123" cy="382159"/>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Rounded Corners 67">
            <a:extLst>
              <a:ext uri="{FF2B5EF4-FFF2-40B4-BE49-F238E27FC236}">
                <a16:creationId xmlns:a16="http://schemas.microsoft.com/office/drawing/2014/main" id="{DB75835E-B77C-4D75-BF92-021222092891}"/>
              </a:ext>
            </a:extLst>
          </p:cNvPr>
          <p:cNvSpPr/>
          <p:nvPr/>
        </p:nvSpPr>
        <p:spPr>
          <a:xfrm>
            <a:off x="4557121" y="5123444"/>
            <a:ext cx="1393123" cy="189671"/>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Rectangle: Rounded Corners 71">
            <a:extLst>
              <a:ext uri="{FF2B5EF4-FFF2-40B4-BE49-F238E27FC236}">
                <a16:creationId xmlns:a16="http://schemas.microsoft.com/office/drawing/2014/main" id="{51F5C0CA-4B48-455F-A187-A18D898D02E7}"/>
              </a:ext>
            </a:extLst>
          </p:cNvPr>
          <p:cNvSpPr/>
          <p:nvPr/>
        </p:nvSpPr>
        <p:spPr>
          <a:xfrm>
            <a:off x="5981167" y="3511809"/>
            <a:ext cx="1335255" cy="231879"/>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2090523E-3CB7-4F4E-A9C4-A84B003EC8B2}"/>
              </a:ext>
            </a:extLst>
          </p:cNvPr>
          <p:cNvSpPr>
            <a:spLocks noGrp="1"/>
          </p:cNvSpPr>
          <p:nvPr>
            <p:ph type="title"/>
          </p:nvPr>
        </p:nvSpPr>
        <p:spPr/>
        <p:txBody>
          <a:bodyPr/>
          <a:lstStyle/>
          <a:p>
            <a:r>
              <a:rPr lang="en-GB"/>
              <a:t>Collecting Payments</a:t>
            </a:r>
            <a:br>
              <a:rPr lang="en-GB" sz="2400"/>
            </a:br>
            <a:r>
              <a:rPr lang="en-GB" sz="2400" i="1"/>
              <a:t>Process Summary</a:t>
            </a:r>
            <a:endParaRPr lang="en-GB"/>
          </a:p>
        </p:txBody>
      </p:sp>
      <p:pic>
        <p:nvPicPr>
          <p:cNvPr id="1032" name="Picture 8" descr="Image result for fsi concept evolution">
            <a:extLst>
              <a:ext uri="{FF2B5EF4-FFF2-40B4-BE49-F238E27FC236}">
                <a16:creationId xmlns:a16="http://schemas.microsoft.com/office/drawing/2014/main" id="{B22BCFA2-9DFF-4577-9CB2-9B5D8F7106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1427" y="-2696896"/>
            <a:ext cx="157846" cy="457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mri software">
            <a:extLst>
              <a:ext uri="{FF2B5EF4-FFF2-40B4-BE49-F238E27FC236}">
                <a16:creationId xmlns:a16="http://schemas.microsoft.com/office/drawing/2014/main" id="{5641B02B-3DDF-44E3-90A3-DB9234974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1194" y="1406319"/>
            <a:ext cx="833582" cy="451524"/>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A649CE11-77F7-4308-AB16-3BE5E5A71DCE}"/>
              </a:ext>
            </a:extLst>
          </p:cNvPr>
          <p:cNvGrpSpPr/>
          <p:nvPr/>
        </p:nvGrpSpPr>
        <p:grpSpPr>
          <a:xfrm>
            <a:off x="1912235" y="1189904"/>
            <a:ext cx="923243" cy="884354"/>
            <a:chOff x="2056110" y="1332034"/>
            <a:chExt cx="923243" cy="884354"/>
          </a:xfrm>
        </p:grpSpPr>
        <p:pic>
          <p:nvPicPr>
            <p:cNvPr id="1026" name="Picture 2" descr="Image result for customer icon">
              <a:extLst>
                <a:ext uri="{FF2B5EF4-FFF2-40B4-BE49-F238E27FC236}">
                  <a16:creationId xmlns:a16="http://schemas.microsoft.com/office/drawing/2014/main" id="{DF060A85-867E-4C64-B211-01E769D03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6110" y="1332034"/>
              <a:ext cx="923243" cy="692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937EA58-3F99-4C2B-BEF1-B7BD8C8AE847}"/>
                </a:ext>
              </a:extLst>
            </p:cNvPr>
            <p:cNvSpPr txBox="1"/>
            <p:nvPr/>
          </p:nvSpPr>
          <p:spPr>
            <a:xfrm>
              <a:off x="2125155" y="1962472"/>
              <a:ext cx="785151" cy="253916"/>
            </a:xfrm>
            <a:prstGeom prst="rect">
              <a:avLst/>
            </a:prstGeom>
            <a:noFill/>
          </p:spPr>
          <p:txBody>
            <a:bodyPr wrap="none" rtlCol="0">
              <a:spAutoFit/>
            </a:bodyPr>
            <a:lstStyle/>
            <a:p>
              <a:pPr algn="ctr"/>
              <a:r>
                <a:rPr lang="en-GB" sz="1000" spc="-60"/>
                <a:t>Customer</a:t>
              </a:r>
            </a:p>
          </p:txBody>
        </p:sp>
      </p:grpSp>
      <p:grpSp>
        <p:nvGrpSpPr>
          <p:cNvPr id="11" name="Group 10">
            <a:extLst>
              <a:ext uri="{FF2B5EF4-FFF2-40B4-BE49-F238E27FC236}">
                <a16:creationId xmlns:a16="http://schemas.microsoft.com/office/drawing/2014/main" id="{6121F045-6EE4-4857-9388-61FF75D0A788}"/>
              </a:ext>
            </a:extLst>
          </p:cNvPr>
          <p:cNvGrpSpPr/>
          <p:nvPr/>
        </p:nvGrpSpPr>
        <p:grpSpPr>
          <a:xfrm>
            <a:off x="3354252" y="1188156"/>
            <a:ext cx="956672" cy="887851"/>
            <a:chOff x="3394755" y="1328537"/>
            <a:chExt cx="956672" cy="887851"/>
          </a:xfrm>
        </p:grpSpPr>
        <p:grpSp>
          <p:nvGrpSpPr>
            <p:cNvPr id="8" name="Group 7">
              <a:extLst>
                <a:ext uri="{FF2B5EF4-FFF2-40B4-BE49-F238E27FC236}">
                  <a16:creationId xmlns:a16="http://schemas.microsoft.com/office/drawing/2014/main" id="{DAF27073-C869-4D64-ADFF-4BC599EF56EE}"/>
                </a:ext>
              </a:extLst>
            </p:cNvPr>
            <p:cNvGrpSpPr/>
            <p:nvPr/>
          </p:nvGrpSpPr>
          <p:grpSpPr>
            <a:xfrm>
              <a:off x="3490606" y="1328537"/>
              <a:ext cx="763679" cy="698136"/>
              <a:chOff x="3583596" y="2595464"/>
              <a:chExt cx="1797425" cy="1643161"/>
            </a:xfrm>
          </p:grpSpPr>
          <p:pic>
            <p:nvPicPr>
              <p:cNvPr id="1028" name="Picture 4" descr="Related image">
                <a:extLst>
                  <a:ext uri="{FF2B5EF4-FFF2-40B4-BE49-F238E27FC236}">
                    <a16:creationId xmlns:a16="http://schemas.microsoft.com/office/drawing/2014/main" id="{2B5C4720-3684-4759-BE9B-D1CBB23CCA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2595464"/>
                <a:ext cx="1594833" cy="1643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rainger plc">
                <a:extLst>
                  <a:ext uri="{FF2B5EF4-FFF2-40B4-BE49-F238E27FC236}">
                    <a16:creationId xmlns:a16="http://schemas.microsoft.com/office/drawing/2014/main" id="{54FFAB99-3C85-4E12-B396-B2F29EBC62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596" y="2983424"/>
                <a:ext cx="790802" cy="15942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028D2EEA-B7D2-42A5-B8AF-9214FEE49C73}"/>
                </a:ext>
              </a:extLst>
            </p:cNvPr>
            <p:cNvSpPr txBox="1"/>
            <p:nvPr/>
          </p:nvSpPr>
          <p:spPr>
            <a:xfrm>
              <a:off x="3394755" y="1970167"/>
              <a:ext cx="956672" cy="246221"/>
            </a:xfrm>
            <a:prstGeom prst="rect">
              <a:avLst/>
            </a:prstGeom>
            <a:noFill/>
          </p:spPr>
          <p:txBody>
            <a:bodyPr wrap="none" rtlCol="0">
              <a:spAutoFit/>
            </a:bodyPr>
            <a:lstStyle/>
            <a:p>
              <a:pPr algn="ctr"/>
              <a:r>
                <a:rPr lang="en-GB" sz="1000" spc="-60"/>
                <a:t>Grainger user</a:t>
              </a:r>
            </a:p>
          </p:txBody>
        </p:sp>
      </p:grpSp>
      <p:pic>
        <p:nvPicPr>
          <p:cNvPr id="1040" name="Picture 16" descr="Image result for fsi concept evolution">
            <a:extLst>
              <a:ext uri="{FF2B5EF4-FFF2-40B4-BE49-F238E27FC236}">
                <a16:creationId xmlns:a16="http://schemas.microsoft.com/office/drawing/2014/main" id="{07227992-4DF5-448C-8D6A-DA2B13347F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90776" y="5339233"/>
            <a:ext cx="622343" cy="331247"/>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BEB13436-EC24-4BA8-BDDB-8434265F4F13}"/>
              </a:ext>
            </a:extLst>
          </p:cNvPr>
          <p:cNvSpPr/>
          <p:nvPr/>
        </p:nvSpPr>
        <p:spPr>
          <a:xfrm>
            <a:off x="1713241" y="2902836"/>
            <a:ext cx="1421885" cy="848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Setup direct debit mandates online</a:t>
            </a:r>
          </a:p>
          <a:p>
            <a:pPr marL="87313" indent="-87313">
              <a:spcAft>
                <a:spcPts val="400"/>
              </a:spcAft>
              <a:buFontTx/>
              <a:buChar char="-"/>
            </a:pPr>
            <a:r>
              <a:rPr lang="en-GB" sz="800">
                <a:solidFill>
                  <a:schemeClr val="tx1"/>
                </a:solidFill>
                <a:latin typeface="Montserrat" panose="00000500000000000000" pitchFamily="50" charset="0"/>
              </a:rPr>
              <a:t>Selects charge for DD collection</a:t>
            </a:r>
          </a:p>
          <a:p>
            <a:pPr marL="87313" indent="-87313">
              <a:spcAft>
                <a:spcPts val="400"/>
              </a:spcAft>
              <a:buFontTx/>
              <a:buChar char="-"/>
            </a:pPr>
            <a:r>
              <a:rPr lang="en-GB" sz="800">
                <a:solidFill>
                  <a:schemeClr val="tx1"/>
                </a:solidFill>
                <a:latin typeface="Montserrat" panose="00000500000000000000" pitchFamily="50" charset="0"/>
              </a:rPr>
              <a:t>Cancels instructions via Grainger or their bank</a:t>
            </a:r>
          </a:p>
        </p:txBody>
      </p:sp>
      <p:sp>
        <p:nvSpPr>
          <p:cNvPr id="41" name="Rectangle 40">
            <a:extLst>
              <a:ext uri="{FF2B5EF4-FFF2-40B4-BE49-F238E27FC236}">
                <a16:creationId xmlns:a16="http://schemas.microsoft.com/office/drawing/2014/main" id="{878C018B-C42A-4986-B3BC-9D035266408B}"/>
              </a:ext>
            </a:extLst>
          </p:cNvPr>
          <p:cNvSpPr/>
          <p:nvPr/>
        </p:nvSpPr>
        <p:spPr>
          <a:xfrm>
            <a:off x="3119172" y="2102914"/>
            <a:ext cx="1391597" cy="835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Sets billing parameters</a:t>
            </a:r>
          </a:p>
          <a:p>
            <a:pPr marL="87313" indent="-87313">
              <a:spcAft>
                <a:spcPts val="400"/>
              </a:spcAft>
              <a:buFontTx/>
              <a:buChar char="-"/>
            </a:pPr>
            <a:r>
              <a:rPr lang="en-GB" sz="800">
                <a:solidFill>
                  <a:schemeClr val="tx1"/>
                </a:solidFill>
                <a:latin typeface="Montserrat" panose="00000500000000000000" pitchFamily="50" charset="0"/>
              </a:rPr>
              <a:t>Raises one off charges &amp; </a:t>
            </a:r>
            <a:r>
              <a:rPr lang="en-GB" sz="800" err="1">
                <a:solidFill>
                  <a:schemeClr val="tx1"/>
                </a:solidFill>
                <a:latin typeface="Montserrat" panose="00000500000000000000" pitchFamily="50" charset="0"/>
              </a:rPr>
              <a:t>credeits</a:t>
            </a:r>
            <a:endParaRPr lang="en-GB" sz="800">
              <a:solidFill>
                <a:schemeClr val="tx1"/>
              </a:solidFill>
              <a:latin typeface="Montserrat" panose="00000500000000000000" pitchFamily="50" charset="0"/>
            </a:endParaRPr>
          </a:p>
        </p:txBody>
      </p:sp>
      <p:sp>
        <p:nvSpPr>
          <p:cNvPr id="43" name="Rectangle 42">
            <a:extLst>
              <a:ext uri="{FF2B5EF4-FFF2-40B4-BE49-F238E27FC236}">
                <a16:creationId xmlns:a16="http://schemas.microsoft.com/office/drawing/2014/main" id="{FDA32447-0F01-43AE-967B-324FB9106A6F}"/>
              </a:ext>
            </a:extLst>
          </p:cNvPr>
          <p:cNvSpPr/>
          <p:nvPr/>
        </p:nvSpPr>
        <p:spPr>
          <a:xfrm>
            <a:off x="4552187" y="2102914"/>
            <a:ext cx="1391597" cy="836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Raises rent charges</a:t>
            </a:r>
          </a:p>
          <a:p>
            <a:pPr marL="87313" indent="-87313">
              <a:spcAft>
                <a:spcPts val="400"/>
              </a:spcAft>
              <a:buFontTx/>
              <a:buChar char="-"/>
            </a:pPr>
            <a:r>
              <a:rPr lang="en-GB" sz="800">
                <a:solidFill>
                  <a:schemeClr val="tx1"/>
                </a:solidFill>
                <a:latin typeface="Montserrat" panose="00000500000000000000" pitchFamily="50" charset="0"/>
              </a:rPr>
              <a:t>Apportions rent across periods</a:t>
            </a:r>
          </a:p>
          <a:p>
            <a:pPr marL="87313" indent="-87313">
              <a:spcAft>
                <a:spcPts val="400"/>
              </a:spcAft>
              <a:buFontTx/>
              <a:buChar char="-"/>
            </a:pPr>
            <a:r>
              <a:rPr lang="en-GB" sz="800">
                <a:solidFill>
                  <a:schemeClr val="tx1"/>
                </a:solidFill>
                <a:latin typeface="Montserrat" panose="00000500000000000000" pitchFamily="50" charset="0"/>
              </a:rPr>
              <a:t>Allocates VAT</a:t>
            </a:r>
          </a:p>
          <a:p>
            <a:pPr marL="87313" indent="-87313">
              <a:spcAft>
                <a:spcPts val="400"/>
              </a:spcAft>
              <a:buFontTx/>
              <a:buChar char="-"/>
            </a:pPr>
            <a:r>
              <a:rPr lang="en-GB" sz="800">
                <a:solidFill>
                  <a:schemeClr val="tx1"/>
                </a:solidFill>
                <a:latin typeface="Montserrat" panose="00000500000000000000" pitchFamily="50" charset="0"/>
              </a:rPr>
              <a:t>Issues invoices</a:t>
            </a:r>
          </a:p>
        </p:txBody>
      </p:sp>
      <p:sp>
        <p:nvSpPr>
          <p:cNvPr id="44" name="Rectangle 43">
            <a:extLst>
              <a:ext uri="{FF2B5EF4-FFF2-40B4-BE49-F238E27FC236}">
                <a16:creationId xmlns:a16="http://schemas.microsoft.com/office/drawing/2014/main" id="{C73725E3-3670-456A-A8DC-E662CB1E0068}"/>
              </a:ext>
            </a:extLst>
          </p:cNvPr>
          <p:cNvSpPr/>
          <p:nvPr/>
        </p:nvSpPr>
        <p:spPr>
          <a:xfrm>
            <a:off x="5989040" y="2102914"/>
            <a:ext cx="1391597" cy="836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Generates payment requests from MRI charges</a:t>
            </a:r>
          </a:p>
        </p:txBody>
      </p:sp>
      <p:sp>
        <p:nvSpPr>
          <p:cNvPr id="45" name="Rectangle 44">
            <a:extLst>
              <a:ext uri="{FF2B5EF4-FFF2-40B4-BE49-F238E27FC236}">
                <a16:creationId xmlns:a16="http://schemas.microsoft.com/office/drawing/2014/main" id="{2B31F215-31B2-4974-89BA-BF22ED83B577}"/>
              </a:ext>
            </a:extLst>
          </p:cNvPr>
          <p:cNvSpPr/>
          <p:nvPr/>
        </p:nvSpPr>
        <p:spPr>
          <a:xfrm>
            <a:off x="7418217" y="2102915"/>
            <a:ext cx="1391597" cy="8333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endParaRPr lang="en-GB" sz="800">
              <a:solidFill>
                <a:schemeClr val="tx1"/>
              </a:solidFill>
              <a:latin typeface="Montserrat" panose="00000500000000000000" pitchFamily="50" charset="0"/>
            </a:endParaRPr>
          </a:p>
        </p:txBody>
      </p:sp>
      <p:sp>
        <p:nvSpPr>
          <p:cNvPr id="54" name="Rectangle 53">
            <a:extLst>
              <a:ext uri="{FF2B5EF4-FFF2-40B4-BE49-F238E27FC236}">
                <a16:creationId xmlns:a16="http://schemas.microsoft.com/office/drawing/2014/main" id="{6454837F-D863-4821-A009-2CAC65CC5C3A}"/>
              </a:ext>
            </a:extLst>
          </p:cNvPr>
          <p:cNvSpPr/>
          <p:nvPr/>
        </p:nvSpPr>
        <p:spPr>
          <a:xfrm>
            <a:off x="1724781" y="2087722"/>
            <a:ext cx="1390099" cy="84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endParaRPr lang="en-GB" sz="800">
              <a:solidFill>
                <a:srgbClr val="FF0000"/>
              </a:solidFill>
            </a:endParaRPr>
          </a:p>
        </p:txBody>
      </p:sp>
      <p:sp>
        <p:nvSpPr>
          <p:cNvPr id="55" name="Rectangle 54">
            <a:extLst>
              <a:ext uri="{FF2B5EF4-FFF2-40B4-BE49-F238E27FC236}">
                <a16:creationId xmlns:a16="http://schemas.microsoft.com/office/drawing/2014/main" id="{19C72B7C-CDBC-4969-8944-C7D25FD4B6C9}"/>
              </a:ext>
            </a:extLst>
          </p:cNvPr>
          <p:cNvSpPr/>
          <p:nvPr/>
        </p:nvSpPr>
        <p:spPr>
          <a:xfrm>
            <a:off x="3134665" y="2918673"/>
            <a:ext cx="1374607" cy="848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Amends customer’s DD instructions</a:t>
            </a:r>
          </a:p>
          <a:p>
            <a:pPr marL="87313" indent="-87313">
              <a:spcAft>
                <a:spcPts val="400"/>
              </a:spcAft>
              <a:buFontTx/>
              <a:buChar char="-"/>
            </a:pPr>
            <a:r>
              <a:rPr lang="en-GB" sz="800">
                <a:solidFill>
                  <a:schemeClr val="tx1"/>
                </a:solidFill>
                <a:latin typeface="Montserrat" panose="00000500000000000000" pitchFamily="50" charset="0"/>
              </a:rPr>
              <a:t>Check status of DD processing</a:t>
            </a:r>
          </a:p>
          <a:p>
            <a:pPr marL="87313" indent="-87313">
              <a:spcAft>
                <a:spcPts val="400"/>
              </a:spcAft>
              <a:buFontTx/>
              <a:buChar char="-"/>
            </a:pPr>
            <a:r>
              <a:rPr lang="en-GB" sz="800">
                <a:solidFill>
                  <a:schemeClr val="tx1"/>
                </a:solidFill>
                <a:latin typeface="Montserrat" panose="00000500000000000000" pitchFamily="50" charset="0"/>
              </a:rPr>
              <a:t>Processes refunds</a:t>
            </a:r>
          </a:p>
        </p:txBody>
      </p:sp>
      <p:sp>
        <p:nvSpPr>
          <p:cNvPr id="57" name="Rectangle 56">
            <a:extLst>
              <a:ext uri="{FF2B5EF4-FFF2-40B4-BE49-F238E27FC236}">
                <a16:creationId xmlns:a16="http://schemas.microsoft.com/office/drawing/2014/main" id="{C7DC8811-7032-4AF8-B20B-558B22A7E56F}"/>
              </a:ext>
            </a:extLst>
          </p:cNvPr>
          <p:cNvSpPr/>
          <p:nvPr/>
        </p:nvSpPr>
        <p:spPr>
          <a:xfrm>
            <a:off x="4552187" y="2918950"/>
            <a:ext cx="1391597" cy="8497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Allocates payments to customer / GL account</a:t>
            </a:r>
          </a:p>
          <a:p>
            <a:pPr marL="87313" indent="-87313">
              <a:spcAft>
                <a:spcPts val="400"/>
              </a:spcAft>
              <a:buFontTx/>
              <a:buChar char="-"/>
            </a:pPr>
            <a:r>
              <a:rPr lang="en-GB" sz="800">
                <a:solidFill>
                  <a:schemeClr val="tx1"/>
                </a:solidFill>
                <a:latin typeface="Montserrat" panose="00000500000000000000" pitchFamily="50" charset="0"/>
              </a:rPr>
              <a:t>Accounts for VAT component</a:t>
            </a:r>
          </a:p>
        </p:txBody>
      </p:sp>
      <p:sp>
        <p:nvSpPr>
          <p:cNvPr id="58" name="Rectangle 57">
            <a:extLst>
              <a:ext uri="{FF2B5EF4-FFF2-40B4-BE49-F238E27FC236}">
                <a16:creationId xmlns:a16="http://schemas.microsoft.com/office/drawing/2014/main" id="{786191EF-A61B-4D03-BF4D-E18368142D34}"/>
              </a:ext>
            </a:extLst>
          </p:cNvPr>
          <p:cNvSpPr/>
          <p:nvPr/>
        </p:nvSpPr>
        <p:spPr>
          <a:xfrm>
            <a:off x="5989040" y="2923957"/>
            <a:ext cx="1391597" cy="849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DD mandates / schedules</a:t>
            </a:r>
          </a:p>
          <a:p>
            <a:pPr marL="87313" indent="-87313">
              <a:spcAft>
                <a:spcPts val="400"/>
              </a:spcAft>
              <a:buFontTx/>
              <a:buChar char="-"/>
            </a:pPr>
            <a:r>
              <a:rPr lang="en-GB" sz="800">
                <a:solidFill>
                  <a:schemeClr val="tx1"/>
                </a:solidFill>
                <a:latin typeface="Montserrat" panose="00000500000000000000" pitchFamily="50" charset="0"/>
              </a:rPr>
              <a:t>Tags all payments with accounting info</a:t>
            </a:r>
          </a:p>
          <a:p>
            <a:pPr marL="87313" indent="-87313">
              <a:spcAft>
                <a:spcPts val="400"/>
              </a:spcAft>
              <a:buFontTx/>
              <a:buChar char="-"/>
            </a:pPr>
            <a:r>
              <a:rPr lang="en-GB" sz="800">
                <a:solidFill>
                  <a:schemeClr val="tx1"/>
                </a:solidFill>
                <a:latin typeface="Montserrat" panose="00000500000000000000" pitchFamily="50" charset="0"/>
              </a:rPr>
              <a:t>Splits VAT component</a:t>
            </a:r>
          </a:p>
        </p:txBody>
      </p:sp>
      <p:sp>
        <p:nvSpPr>
          <p:cNvPr id="59" name="Rectangle 58">
            <a:extLst>
              <a:ext uri="{FF2B5EF4-FFF2-40B4-BE49-F238E27FC236}">
                <a16:creationId xmlns:a16="http://schemas.microsoft.com/office/drawing/2014/main" id="{38113446-553A-4665-9677-B457E9DD9AD5}"/>
              </a:ext>
            </a:extLst>
          </p:cNvPr>
          <p:cNvSpPr/>
          <p:nvPr/>
        </p:nvSpPr>
        <p:spPr>
          <a:xfrm>
            <a:off x="7418217" y="3201001"/>
            <a:ext cx="1374607" cy="564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Collects DD payments</a:t>
            </a:r>
          </a:p>
          <a:p>
            <a:pPr marL="87313" indent="-87313">
              <a:spcAft>
                <a:spcPts val="400"/>
              </a:spcAft>
              <a:buFontTx/>
              <a:buChar char="-"/>
            </a:pPr>
            <a:r>
              <a:rPr lang="en-GB" sz="800">
                <a:solidFill>
                  <a:schemeClr val="tx1"/>
                </a:solidFill>
                <a:latin typeface="Montserrat" panose="00000500000000000000" pitchFamily="50" charset="0"/>
              </a:rPr>
              <a:t>Notifies customers</a:t>
            </a:r>
          </a:p>
          <a:p>
            <a:pPr marL="87313" indent="-87313">
              <a:spcAft>
                <a:spcPts val="400"/>
              </a:spcAft>
              <a:buFontTx/>
              <a:buChar char="-"/>
            </a:pPr>
            <a:r>
              <a:rPr lang="en-GB" sz="800">
                <a:solidFill>
                  <a:schemeClr val="tx1"/>
                </a:solidFill>
                <a:latin typeface="Montserrat" panose="00000500000000000000" pitchFamily="50" charset="0"/>
              </a:rPr>
              <a:t>Takes bank cancellation</a:t>
            </a:r>
          </a:p>
        </p:txBody>
      </p:sp>
      <p:sp>
        <p:nvSpPr>
          <p:cNvPr id="60" name="Rectangle 59">
            <a:extLst>
              <a:ext uri="{FF2B5EF4-FFF2-40B4-BE49-F238E27FC236}">
                <a16:creationId xmlns:a16="http://schemas.microsoft.com/office/drawing/2014/main" id="{5C84E2F5-46E1-4B6A-8910-91789CC2B951}"/>
              </a:ext>
            </a:extLst>
          </p:cNvPr>
          <p:cNvSpPr/>
          <p:nvPr/>
        </p:nvSpPr>
        <p:spPr>
          <a:xfrm>
            <a:off x="1686158" y="3758267"/>
            <a:ext cx="1390098" cy="832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Pay online using cards</a:t>
            </a:r>
          </a:p>
          <a:p>
            <a:pPr marL="87313" indent="-87313">
              <a:spcAft>
                <a:spcPts val="400"/>
              </a:spcAft>
              <a:buFontTx/>
              <a:buChar char="-"/>
            </a:pPr>
            <a:r>
              <a:rPr lang="en-GB" sz="800">
                <a:solidFill>
                  <a:schemeClr val="tx1"/>
                </a:solidFill>
                <a:latin typeface="Montserrat" panose="00000500000000000000" pitchFamily="50" charset="0"/>
              </a:rPr>
              <a:t>Pay via Standing Order, bank transfer, cheques, </a:t>
            </a:r>
            <a:r>
              <a:rPr lang="en-GB" sz="800" err="1">
                <a:solidFill>
                  <a:schemeClr val="tx1"/>
                </a:solidFill>
                <a:latin typeface="Montserrat" panose="00000500000000000000" pitchFamily="50" charset="0"/>
              </a:rPr>
              <a:t>AllPay</a:t>
            </a:r>
            <a:r>
              <a:rPr lang="en-GB" sz="800">
                <a:solidFill>
                  <a:schemeClr val="tx1"/>
                </a:solidFill>
                <a:latin typeface="Montserrat" panose="00000500000000000000" pitchFamily="50" charset="0"/>
              </a:rPr>
              <a:t>, Housing Benefit</a:t>
            </a:r>
          </a:p>
        </p:txBody>
      </p:sp>
      <p:sp>
        <p:nvSpPr>
          <p:cNvPr id="61" name="Rectangle 60">
            <a:extLst>
              <a:ext uri="{FF2B5EF4-FFF2-40B4-BE49-F238E27FC236}">
                <a16:creationId xmlns:a16="http://schemas.microsoft.com/office/drawing/2014/main" id="{1D23386B-16B3-4CC6-ADEF-1DC274EBF91A}"/>
              </a:ext>
            </a:extLst>
          </p:cNvPr>
          <p:cNvSpPr/>
          <p:nvPr/>
        </p:nvSpPr>
        <p:spPr>
          <a:xfrm>
            <a:off x="3133167" y="3747914"/>
            <a:ext cx="1386442" cy="850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Uploads payments with standard template</a:t>
            </a:r>
          </a:p>
          <a:p>
            <a:pPr marL="87313" indent="-87313">
              <a:spcAft>
                <a:spcPts val="400"/>
              </a:spcAft>
              <a:buFontTx/>
              <a:buChar char="-"/>
            </a:pPr>
            <a:r>
              <a:rPr lang="en-GB" sz="800">
                <a:solidFill>
                  <a:schemeClr val="tx1"/>
                </a:solidFill>
                <a:latin typeface="Montserrat" panose="00000500000000000000" pitchFamily="50" charset="0"/>
              </a:rPr>
              <a:t>Processes refunds</a:t>
            </a:r>
          </a:p>
        </p:txBody>
      </p:sp>
      <p:sp>
        <p:nvSpPr>
          <p:cNvPr id="63" name="Rectangle 62">
            <a:extLst>
              <a:ext uri="{FF2B5EF4-FFF2-40B4-BE49-F238E27FC236}">
                <a16:creationId xmlns:a16="http://schemas.microsoft.com/office/drawing/2014/main" id="{7FA5A78E-13AB-4EE7-B925-CA5B011D7D83}"/>
              </a:ext>
            </a:extLst>
          </p:cNvPr>
          <p:cNvSpPr/>
          <p:nvPr/>
        </p:nvSpPr>
        <p:spPr>
          <a:xfrm>
            <a:off x="4566183" y="3748487"/>
            <a:ext cx="1376103" cy="8519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Bulk-load payments</a:t>
            </a:r>
          </a:p>
          <a:p>
            <a:pPr marL="87313" indent="-87313">
              <a:spcAft>
                <a:spcPts val="400"/>
              </a:spcAft>
              <a:buFontTx/>
              <a:buChar char="-"/>
            </a:pPr>
            <a:r>
              <a:rPr lang="en-GB" sz="800">
                <a:solidFill>
                  <a:schemeClr val="tx1"/>
                </a:solidFill>
                <a:latin typeface="Montserrat" panose="00000500000000000000" pitchFamily="50" charset="0"/>
              </a:rPr>
              <a:t>Allocates payments to customer / GL account</a:t>
            </a:r>
          </a:p>
          <a:p>
            <a:pPr marL="87313" indent="-87313">
              <a:spcAft>
                <a:spcPts val="400"/>
              </a:spcAft>
              <a:buFontTx/>
              <a:buChar char="-"/>
            </a:pPr>
            <a:r>
              <a:rPr lang="en-GB" sz="800">
                <a:solidFill>
                  <a:schemeClr val="tx1"/>
                </a:solidFill>
                <a:latin typeface="Montserrat" panose="00000500000000000000" pitchFamily="50" charset="0"/>
              </a:rPr>
              <a:t>Accounts for VAT component</a:t>
            </a:r>
          </a:p>
        </p:txBody>
      </p:sp>
      <p:sp>
        <p:nvSpPr>
          <p:cNvPr id="65" name="Rectangle 64">
            <a:extLst>
              <a:ext uri="{FF2B5EF4-FFF2-40B4-BE49-F238E27FC236}">
                <a16:creationId xmlns:a16="http://schemas.microsoft.com/office/drawing/2014/main" id="{ACF16351-CAFB-4E59-BDE7-55C7E775B2EF}"/>
              </a:ext>
            </a:extLst>
          </p:cNvPr>
          <p:cNvSpPr/>
          <p:nvPr/>
        </p:nvSpPr>
        <p:spPr>
          <a:xfrm>
            <a:off x="7416719" y="3975851"/>
            <a:ext cx="1376105" cy="6201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Collects card payments</a:t>
            </a:r>
          </a:p>
          <a:p>
            <a:pPr marL="87313" indent="-87313">
              <a:spcAft>
                <a:spcPts val="400"/>
              </a:spcAft>
              <a:buFontTx/>
              <a:buChar char="-"/>
            </a:pPr>
            <a:r>
              <a:rPr lang="en-GB" sz="800">
                <a:solidFill>
                  <a:schemeClr val="tx1"/>
                </a:solidFill>
                <a:latin typeface="Montserrat" panose="00000500000000000000" pitchFamily="50" charset="0"/>
              </a:rPr>
              <a:t>Supports </a:t>
            </a:r>
            <a:r>
              <a:rPr lang="en-GB" sz="800" err="1">
                <a:solidFill>
                  <a:schemeClr val="tx1"/>
                </a:solidFill>
                <a:latin typeface="Montserrat" panose="00000500000000000000" pitchFamily="50" charset="0"/>
              </a:rPr>
              <a:t>reconciliaton</a:t>
            </a:r>
            <a:endParaRPr lang="en-GB" sz="800">
              <a:solidFill>
                <a:srgbClr val="FF0000"/>
              </a:solidFill>
            </a:endParaRPr>
          </a:p>
        </p:txBody>
      </p:sp>
      <p:sp>
        <p:nvSpPr>
          <p:cNvPr id="66" name="Rectangle 65">
            <a:extLst>
              <a:ext uri="{FF2B5EF4-FFF2-40B4-BE49-F238E27FC236}">
                <a16:creationId xmlns:a16="http://schemas.microsoft.com/office/drawing/2014/main" id="{B5598C04-AB3A-4EB6-8C02-F9E277DE0143}"/>
              </a:ext>
            </a:extLst>
          </p:cNvPr>
          <p:cNvSpPr/>
          <p:nvPr/>
        </p:nvSpPr>
        <p:spPr>
          <a:xfrm>
            <a:off x="1686157" y="4576162"/>
            <a:ext cx="1386442" cy="850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endParaRPr lang="en-GB" sz="800">
              <a:solidFill>
                <a:srgbClr val="FF0000"/>
              </a:solidFill>
            </a:endParaRPr>
          </a:p>
        </p:txBody>
      </p:sp>
      <p:sp>
        <p:nvSpPr>
          <p:cNvPr id="67" name="Rectangle 66">
            <a:extLst>
              <a:ext uri="{FF2B5EF4-FFF2-40B4-BE49-F238E27FC236}">
                <a16:creationId xmlns:a16="http://schemas.microsoft.com/office/drawing/2014/main" id="{1842E92F-4D4B-4C7F-910B-580B3786F4BA}"/>
              </a:ext>
            </a:extLst>
          </p:cNvPr>
          <p:cNvSpPr/>
          <p:nvPr/>
        </p:nvSpPr>
        <p:spPr>
          <a:xfrm>
            <a:off x="3136823" y="4579362"/>
            <a:ext cx="1393123" cy="855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Identifies and engages customers in arrears</a:t>
            </a:r>
          </a:p>
          <a:p>
            <a:pPr marL="87313" indent="-87313">
              <a:spcAft>
                <a:spcPts val="400"/>
              </a:spcAft>
              <a:buFontTx/>
              <a:buChar char="-"/>
            </a:pPr>
            <a:r>
              <a:rPr lang="en-GB" sz="800">
                <a:solidFill>
                  <a:schemeClr val="tx1"/>
                </a:solidFill>
                <a:latin typeface="Montserrat" panose="00000500000000000000" pitchFamily="50" charset="0"/>
              </a:rPr>
              <a:t>Creates Payment Plans</a:t>
            </a:r>
          </a:p>
        </p:txBody>
      </p:sp>
      <p:sp>
        <p:nvSpPr>
          <p:cNvPr id="69" name="Rectangle 68">
            <a:extLst>
              <a:ext uri="{FF2B5EF4-FFF2-40B4-BE49-F238E27FC236}">
                <a16:creationId xmlns:a16="http://schemas.microsoft.com/office/drawing/2014/main" id="{A568926E-0FAB-427F-A2E8-0D56A3D2D311}"/>
              </a:ext>
            </a:extLst>
          </p:cNvPr>
          <p:cNvSpPr/>
          <p:nvPr/>
        </p:nvSpPr>
        <p:spPr>
          <a:xfrm>
            <a:off x="4576521" y="4580236"/>
            <a:ext cx="1365766" cy="856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300"/>
              </a:spcAft>
              <a:buFontTx/>
              <a:buChar char="-"/>
            </a:pPr>
            <a:r>
              <a:rPr lang="en-GB" sz="800">
                <a:solidFill>
                  <a:schemeClr val="tx1"/>
                </a:solidFill>
                <a:latin typeface="Montserrat" panose="00000500000000000000" pitchFamily="50" charset="0"/>
              </a:rPr>
              <a:t>Credit Control Dashboard</a:t>
            </a:r>
          </a:p>
          <a:p>
            <a:pPr marL="87313" indent="-87313">
              <a:spcAft>
                <a:spcPts val="300"/>
              </a:spcAft>
              <a:buFontTx/>
              <a:buChar char="-"/>
            </a:pPr>
            <a:r>
              <a:rPr lang="en-GB" sz="800">
                <a:solidFill>
                  <a:schemeClr val="tx1"/>
                </a:solidFill>
                <a:latin typeface="Montserrat" panose="00000500000000000000" pitchFamily="50" charset="0"/>
              </a:rPr>
              <a:t>Issues arrears letters</a:t>
            </a:r>
          </a:p>
          <a:p>
            <a:pPr marL="87313" indent="-87313">
              <a:spcAft>
                <a:spcPts val="300"/>
              </a:spcAft>
              <a:buFontTx/>
              <a:buChar char="-"/>
            </a:pPr>
            <a:r>
              <a:rPr lang="en-GB" sz="800">
                <a:solidFill>
                  <a:schemeClr val="tx1"/>
                </a:solidFill>
                <a:latin typeface="Montserrat" panose="00000500000000000000" pitchFamily="50" charset="0"/>
              </a:rPr>
              <a:t>Supports legal process, bailiffs , injunctions</a:t>
            </a:r>
          </a:p>
          <a:p>
            <a:pPr marL="87313" indent="-87313">
              <a:spcAft>
                <a:spcPts val="300"/>
              </a:spcAft>
              <a:buFontTx/>
              <a:buChar char="-"/>
            </a:pPr>
            <a:r>
              <a:rPr lang="en-GB" sz="800">
                <a:solidFill>
                  <a:schemeClr val="tx1"/>
                </a:solidFill>
                <a:latin typeface="Montserrat" panose="00000500000000000000" pitchFamily="50" charset="0"/>
              </a:rPr>
              <a:t>Handles payment plans</a:t>
            </a:r>
          </a:p>
        </p:txBody>
      </p:sp>
      <p:sp>
        <p:nvSpPr>
          <p:cNvPr id="70" name="Rectangle 69">
            <a:extLst>
              <a:ext uri="{FF2B5EF4-FFF2-40B4-BE49-F238E27FC236}">
                <a16:creationId xmlns:a16="http://schemas.microsoft.com/office/drawing/2014/main" id="{08502B00-D95F-42D3-B831-7CA301CA7139}"/>
              </a:ext>
            </a:extLst>
          </p:cNvPr>
          <p:cNvSpPr/>
          <p:nvPr/>
        </p:nvSpPr>
        <p:spPr>
          <a:xfrm>
            <a:off x="5990869" y="4580236"/>
            <a:ext cx="1387939" cy="856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Holds DD schedule for payment plans</a:t>
            </a:r>
          </a:p>
        </p:txBody>
      </p:sp>
      <p:sp>
        <p:nvSpPr>
          <p:cNvPr id="71" name="Rectangle 70">
            <a:extLst>
              <a:ext uri="{FF2B5EF4-FFF2-40B4-BE49-F238E27FC236}">
                <a16:creationId xmlns:a16="http://schemas.microsoft.com/office/drawing/2014/main" id="{AEBBAC15-A97C-452D-8B94-248BCC813165}"/>
              </a:ext>
            </a:extLst>
          </p:cNvPr>
          <p:cNvSpPr/>
          <p:nvPr/>
        </p:nvSpPr>
        <p:spPr>
          <a:xfrm>
            <a:off x="7441289" y="4578093"/>
            <a:ext cx="1351535" cy="853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spcAft>
                <a:spcPts val="400"/>
              </a:spcAft>
            </a:pPr>
            <a:endParaRPr lang="en-GB" sz="1400">
              <a:solidFill>
                <a:srgbClr val="FF0000"/>
              </a:solidFill>
            </a:endParaRPr>
          </a:p>
        </p:txBody>
      </p:sp>
      <p:sp>
        <p:nvSpPr>
          <p:cNvPr id="91" name="Rectangle 90">
            <a:extLst>
              <a:ext uri="{FF2B5EF4-FFF2-40B4-BE49-F238E27FC236}">
                <a16:creationId xmlns:a16="http://schemas.microsoft.com/office/drawing/2014/main" id="{DF628789-A539-4276-96D4-71F8ED2EB1B3}"/>
              </a:ext>
            </a:extLst>
          </p:cNvPr>
          <p:cNvSpPr/>
          <p:nvPr/>
        </p:nvSpPr>
        <p:spPr>
          <a:xfrm>
            <a:off x="5989040" y="3758501"/>
            <a:ext cx="1391597" cy="836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 card payment requests</a:t>
            </a:r>
          </a:p>
          <a:p>
            <a:pPr marL="87313" indent="-87313">
              <a:spcAft>
                <a:spcPts val="400"/>
              </a:spcAft>
              <a:buFontTx/>
              <a:buChar char="-"/>
            </a:pPr>
            <a:r>
              <a:rPr lang="en-GB" sz="800">
                <a:solidFill>
                  <a:schemeClr val="tx1"/>
                </a:solidFill>
                <a:latin typeface="Montserrat" panose="00000500000000000000" pitchFamily="50" charset="0"/>
              </a:rPr>
              <a:t>Send card receipts</a:t>
            </a:r>
          </a:p>
        </p:txBody>
      </p:sp>
      <p:grpSp>
        <p:nvGrpSpPr>
          <p:cNvPr id="2" name="Group 1">
            <a:extLst>
              <a:ext uri="{FF2B5EF4-FFF2-40B4-BE49-F238E27FC236}">
                <a16:creationId xmlns:a16="http://schemas.microsoft.com/office/drawing/2014/main" id="{8C8C08B0-F676-44B4-AE9C-26AA59BD9463}"/>
              </a:ext>
            </a:extLst>
          </p:cNvPr>
          <p:cNvGrpSpPr/>
          <p:nvPr/>
        </p:nvGrpSpPr>
        <p:grpSpPr>
          <a:xfrm>
            <a:off x="331971" y="2088847"/>
            <a:ext cx="8460853" cy="4182995"/>
            <a:chOff x="331971" y="2088847"/>
            <a:chExt cx="8460853" cy="5269516"/>
          </a:xfrm>
        </p:grpSpPr>
        <p:sp>
          <p:nvSpPr>
            <p:cNvPr id="17" name="Rectangle: Rounded Corners 16">
              <a:extLst>
                <a:ext uri="{FF2B5EF4-FFF2-40B4-BE49-F238E27FC236}">
                  <a16:creationId xmlns:a16="http://schemas.microsoft.com/office/drawing/2014/main" id="{39F88972-C224-46CD-90FC-130DA7DCA100}"/>
                </a:ext>
              </a:extLst>
            </p:cNvPr>
            <p:cNvSpPr/>
            <p:nvPr/>
          </p:nvSpPr>
          <p:spPr>
            <a:xfrm>
              <a:off x="331971" y="2132140"/>
              <a:ext cx="1258290" cy="95622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Raising Charges</a:t>
              </a:r>
            </a:p>
          </p:txBody>
        </p:sp>
        <p:sp>
          <p:nvSpPr>
            <p:cNvPr id="34" name="Rectangle: Rounded Corners 33">
              <a:extLst>
                <a:ext uri="{FF2B5EF4-FFF2-40B4-BE49-F238E27FC236}">
                  <a16:creationId xmlns:a16="http://schemas.microsoft.com/office/drawing/2014/main" id="{E4A15AA2-33D4-47C6-99E8-0B5A8F13E9F6}"/>
                </a:ext>
              </a:extLst>
            </p:cNvPr>
            <p:cNvSpPr/>
            <p:nvPr/>
          </p:nvSpPr>
          <p:spPr>
            <a:xfrm>
              <a:off x="331972" y="3180734"/>
              <a:ext cx="1258290" cy="95622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Payments: Direct Debit</a:t>
              </a:r>
            </a:p>
          </p:txBody>
        </p:sp>
        <p:sp>
          <p:nvSpPr>
            <p:cNvPr id="35" name="Rectangle: Rounded Corners 34">
              <a:extLst>
                <a:ext uri="{FF2B5EF4-FFF2-40B4-BE49-F238E27FC236}">
                  <a16:creationId xmlns:a16="http://schemas.microsoft.com/office/drawing/2014/main" id="{EB95145D-5625-4E5C-9738-B12BED2A8D21}"/>
                </a:ext>
              </a:extLst>
            </p:cNvPr>
            <p:cNvSpPr/>
            <p:nvPr/>
          </p:nvSpPr>
          <p:spPr>
            <a:xfrm>
              <a:off x="331972" y="4229328"/>
              <a:ext cx="1258290" cy="95622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Payments: non-Direct Debit</a:t>
              </a:r>
            </a:p>
          </p:txBody>
        </p:sp>
        <p:sp>
          <p:nvSpPr>
            <p:cNvPr id="36" name="Rectangle: Rounded Corners 35">
              <a:extLst>
                <a:ext uri="{FF2B5EF4-FFF2-40B4-BE49-F238E27FC236}">
                  <a16:creationId xmlns:a16="http://schemas.microsoft.com/office/drawing/2014/main" id="{765AAE3B-3B7F-4B73-8E53-363674E0274A}"/>
                </a:ext>
              </a:extLst>
            </p:cNvPr>
            <p:cNvSpPr/>
            <p:nvPr/>
          </p:nvSpPr>
          <p:spPr>
            <a:xfrm>
              <a:off x="331971" y="5284154"/>
              <a:ext cx="1258290" cy="95622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Managing Arrears</a:t>
              </a:r>
            </a:p>
          </p:txBody>
        </p:sp>
        <p:sp>
          <p:nvSpPr>
            <p:cNvPr id="46" name="Rectangle: Rounded Corners 45">
              <a:extLst>
                <a:ext uri="{FF2B5EF4-FFF2-40B4-BE49-F238E27FC236}">
                  <a16:creationId xmlns:a16="http://schemas.microsoft.com/office/drawing/2014/main" id="{86F25921-9819-48DE-94F0-1DCE0D8ABCC1}"/>
                </a:ext>
              </a:extLst>
            </p:cNvPr>
            <p:cNvSpPr/>
            <p:nvPr/>
          </p:nvSpPr>
          <p:spPr>
            <a:xfrm>
              <a:off x="331971" y="6339256"/>
              <a:ext cx="1258290" cy="95622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Amenities</a:t>
              </a:r>
            </a:p>
          </p:txBody>
        </p:sp>
        <p:cxnSp>
          <p:nvCxnSpPr>
            <p:cNvPr id="38" name="Straight Connector 37">
              <a:extLst>
                <a:ext uri="{FF2B5EF4-FFF2-40B4-BE49-F238E27FC236}">
                  <a16:creationId xmlns:a16="http://schemas.microsoft.com/office/drawing/2014/main" id="{E4020A13-93E1-4EF1-BB53-D6BB92557520}"/>
                </a:ext>
              </a:extLst>
            </p:cNvPr>
            <p:cNvCxnSpPr>
              <a:cxnSpLocks/>
            </p:cNvCxnSpPr>
            <p:nvPr/>
          </p:nvCxnSpPr>
          <p:spPr>
            <a:xfrm>
              <a:off x="358773" y="6296745"/>
              <a:ext cx="8434051" cy="6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53DB7D0-E1CB-41AE-A41E-31AAC2D629C7}"/>
                </a:ext>
              </a:extLst>
            </p:cNvPr>
            <p:cNvCxnSpPr>
              <a:cxnSpLocks/>
            </p:cNvCxnSpPr>
            <p:nvPr/>
          </p:nvCxnSpPr>
          <p:spPr>
            <a:xfrm>
              <a:off x="358773" y="2088847"/>
              <a:ext cx="8434051" cy="729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1E18326-3A10-4302-AD41-768380C578DE}"/>
                </a:ext>
              </a:extLst>
            </p:cNvPr>
            <p:cNvCxnSpPr>
              <a:cxnSpLocks/>
            </p:cNvCxnSpPr>
            <p:nvPr/>
          </p:nvCxnSpPr>
          <p:spPr>
            <a:xfrm>
              <a:off x="358773" y="3144735"/>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106362-09F5-482D-A210-57846B1A88DE}"/>
                </a:ext>
              </a:extLst>
            </p:cNvPr>
            <p:cNvCxnSpPr>
              <a:cxnSpLocks/>
            </p:cNvCxnSpPr>
            <p:nvPr/>
          </p:nvCxnSpPr>
          <p:spPr>
            <a:xfrm>
              <a:off x="358773" y="4193329"/>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3E9C540-4B95-4E47-80F3-236A566B4453}"/>
                </a:ext>
              </a:extLst>
            </p:cNvPr>
            <p:cNvCxnSpPr>
              <a:cxnSpLocks/>
            </p:cNvCxnSpPr>
            <p:nvPr/>
          </p:nvCxnSpPr>
          <p:spPr>
            <a:xfrm>
              <a:off x="358773" y="5241923"/>
              <a:ext cx="8434051" cy="623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68185D7-94E2-4892-AFEB-69321C49B67B}"/>
                </a:ext>
              </a:extLst>
            </p:cNvPr>
            <p:cNvCxnSpPr>
              <a:cxnSpLocks/>
            </p:cNvCxnSpPr>
            <p:nvPr/>
          </p:nvCxnSpPr>
          <p:spPr>
            <a:xfrm>
              <a:off x="358773" y="7351847"/>
              <a:ext cx="8434051" cy="6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9FF641E6-3ED4-4259-940A-4D20D13EEAEC}"/>
              </a:ext>
            </a:extLst>
          </p:cNvPr>
          <p:cNvSpPr/>
          <p:nvPr/>
        </p:nvSpPr>
        <p:spPr>
          <a:xfrm>
            <a:off x="1682502" y="5430596"/>
            <a:ext cx="1450666" cy="846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Book amenities directly through portal</a:t>
            </a:r>
          </a:p>
          <a:p>
            <a:pPr marL="87313" indent="-87313">
              <a:spcAft>
                <a:spcPts val="400"/>
              </a:spcAft>
              <a:buFontTx/>
              <a:buChar char="-"/>
            </a:pPr>
            <a:r>
              <a:rPr lang="en-GB" sz="800">
                <a:solidFill>
                  <a:schemeClr val="tx1"/>
                </a:solidFill>
                <a:latin typeface="Montserrat" panose="00000500000000000000" pitchFamily="50" charset="0"/>
              </a:rPr>
              <a:t>Pays via portal using Sage Pay</a:t>
            </a:r>
          </a:p>
        </p:txBody>
      </p:sp>
      <p:sp>
        <p:nvSpPr>
          <p:cNvPr id="49" name="Rectangle 48">
            <a:extLst>
              <a:ext uri="{FF2B5EF4-FFF2-40B4-BE49-F238E27FC236}">
                <a16:creationId xmlns:a16="http://schemas.microsoft.com/office/drawing/2014/main" id="{E3208519-CEC3-45BE-B01C-8280DD7B7B8F}"/>
              </a:ext>
            </a:extLst>
          </p:cNvPr>
          <p:cNvSpPr/>
          <p:nvPr/>
        </p:nvSpPr>
        <p:spPr>
          <a:xfrm>
            <a:off x="3133167" y="5434153"/>
            <a:ext cx="1441525" cy="850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Books amenities on behalf of customer</a:t>
            </a:r>
          </a:p>
          <a:p>
            <a:pPr marL="87313" indent="-87313">
              <a:spcAft>
                <a:spcPts val="400"/>
              </a:spcAft>
              <a:buFontTx/>
              <a:buChar char="-"/>
            </a:pPr>
            <a:r>
              <a:rPr lang="en-GB" sz="800">
                <a:solidFill>
                  <a:schemeClr val="tx1"/>
                </a:solidFill>
                <a:latin typeface="Montserrat" panose="00000500000000000000" pitchFamily="50" charset="0"/>
              </a:rPr>
              <a:t>Creates card payment instruction</a:t>
            </a:r>
          </a:p>
          <a:p>
            <a:pPr marL="87313" indent="-87313">
              <a:spcAft>
                <a:spcPts val="400"/>
              </a:spcAft>
              <a:buFontTx/>
              <a:buChar char="-"/>
            </a:pPr>
            <a:r>
              <a:rPr lang="en-GB" sz="800">
                <a:solidFill>
                  <a:schemeClr val="tx1"/>
                </a:solidFill>
                <a:latin typeface="Montserrat" panose="00000500000000000000" pitchFamily="50" charset="0"/>
              </a:rPr>
              <a:t>Posts payment into MRI</a:t>
            </a:r>
          </a:p>
        </p:txBody>
      </p:sp>
      <p:sp>
        <p:nvSpPr>
          <p:cNvPr id="53" name="Rectangle 52">
            <a:extLst>
              <a:ext uri="{FF2B5EF4-FFF2-40B4-BE49-F238E27FC236}">
                <a16:creationId xmlns:a16="http://schemas.microsoft.com/office/drawing/2014/main" id="{C6A70FED-546A-4DF8-8FAC-7C9D3E5955CE}"/>
              </a:ext>
            </a:extLst>
          </p:cNvPr>
          <p:cNvSpPr/>
          <p:nvPr/>
        </p:nvSpPr>
        <p:spPr>
          <a:xfrm>
            <a:off x="4549345" y="5434726"/>
            <a:ext cx="1489714" cy="8519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Allocates payment within general ledger</a:t>
            </a:r>
          </a:p>
        </p:txBody>
      </p:sp>
      <p:sp>
        <p:nvSpPr>
          <p:cNvPr id="56" name="Rectangle 55">
            <a:extLst>
              <a:ext uri="{FF2B5EF4-FFF2-40B4-BE49-F238E27FC236}">
                <a16:creationId xmlns:a16="http://schemas.microsoft.com/office/drawing/2014/main" id="{ABCC7A1F-6F6F-4777-A22C-0CFEFE0F9C00}"/>
              </a:ext>
            </a:extLst>
          </p:cNvPr>
          <p:cNvSpPr/>
          <p:nvPr/>
        </p:nvSpPr>
        <p:spPr>
          <a:xfrm>
            <a:off x="5989040" y="5444493"/>
            <a:ext cx="1376105" cy="8489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Tags all payments with accounting info  </a:t>
            </a:r>
          </a:p>
        </p:txBody>
      </p:sp>
      <p:sp>
        <p:nvSpPr>
          <p:cNvPr id="62" name="Rectangle 61">
            <a:extLst>
              <a:ext uri="{FF2B5EF4-FFF2-40B4-BE49-F238E27FC236}">
                <a16:creationId xmlns:a16="http://schemas.microsoft.com/office/drawing/2014/main" id="{6A631880-BEA8-4943-886F-9A92BD5A251C}"/>
              </a:ext>
            </a:extLst>
          </p:cNvPr>
          <p:cNvSpPr/>
          <p:nvPr/>
        </p:nvSpPr>
        <p:spPr>
          <a:xfrm>
            <a:off x="7382135" y="5612235"/>
            <a:ext cx="1427679" cy="653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amenity bookings / availability</a:t>
            </a:r>
          </a:p>
          <a:p>
            <a:pPr marL="87313" indent="-87313">
              <a:spcAft>
                <a:spcPts val="400"/>
              </a:spcAft>
              <a:buFontTx/>
              <a:buChar char="-"/>
            </a:pPr>
            <a:r>
              <a:rPr lang="en-GB" sz="800">
                <a:solidFill>
                  <a:schemeClr val="tx1"/>
                </a:solidFill>
                <a:latin typeface="Montserrat" panose="00000500000000000000" pitchFamily="50" charset="0"/>
              </a:rPr>
              <a:t>Handles messages with customer</a:t>
            </a:r>
          </a:p>
        </p:txBody>
      </p:sp>
      <p:pic>
        <p:nvPicPr>
          <p:cNvPr id="64" name="Graphic 63">
            <a:extLst>
              <a:ext uri="{FF2B5EF4-FFF2-40B4-BE49-F238E27FC236}">
                <a16:creationId xmlns:a16="http://schemas.microsoft.com/office/drawing/2014/main" id="{F3E37AEA-2962-4FE1-AE75-5B301B2358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0915" y="1566726"/>
            <a:ext cx="1139064" cy="315610"/>
          </a:xfrm>
          <a:prstGeom prst="rect">
            <a:avLst/>
          </a:prstGeom>
        </p:spPr>
      </p:pic>
      <p:pic>
        <p:nvPicPr>
          <p:cNvPr id="4" name="Picture 3" descr="A picture containing drawing&#10;&#10;Description automatically generated">
            <a:extLst>
              <a:ext uri="{FF2B5EF4-FFF2-40B4-BE49-F238E27FC236}">
                <a16:creationId xmlns:a16="http://schemas.microsoft.com/office/drawing/2014/main" id="{2EC529D6-524E-4E85-B1A9-CF0EAD06EB8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790776" y="2877764"/>
            <a:ext cx="646478" cy="323238"/>
          </a:xfrm>
          <a:prstGeom prst="rect">
            <a:avLst/>
          </a:prstGeom>
        </p:spPr>
      </p:pic>
      <p:pic>
        <p:nvPicPr>
          <p:cNvPr id="7" name="Picture 6" descr="A close up of a logo&#10;&#10;Description automatically generated">
            <a:extLst>
              <a:ext uri="{FF2B5EF4-FFF2-40B4-BE49-F238E27FC236}">
                <a16:creationId xmlns:a16="http://schemas.microsoft.com/office/drawing/2014/main" id="{4F06095E-C9EA-4C1C-B665-4E744B942E4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14783" y="3700505"/>
            <a:ext cx="950378" cy="475189"/>
          </a:xfrm>
          <a:prstGeom prst="rect">
            <a:avLst/>
          </a:prstGeom>
        </p:spPr>
      </p:pic>
      <p:sp>
        <p:nvSpPr>
          <p:cNvPr id="12" name="TextBox 11">
            <a:extLst>
              <a:ext uri="{FF2B5EF4-FFF2-40B4-BE49-F238E27FC236}">
                <a16:creationId xmlns:a16="http://schemas.microsoft.com/office/drawing/2014/main" id="{0B1ED547-3868-4C7B-B22F-3B007E293955}"/>
              </a:ext>
            </a:extLst>
          </p:cNvPr>
          <p:cNvSpPr txBox="1"/>
          <p:nvPr/>
        </p:nvSpPr>
        <p:spPr>
          <a:xfrm>
            <a:off x="7646752" y="1567936"/>
            <a:ext cx="934526" cy="276999"/>
          </a:xfrm>
          <a:prstGeom prst="rect">
            <a:avLst/>
          </a:prstGeom>
          <a:noFill/>
        </p:spPr>
        <p:txBody>
          <a:bodyPr wrap="square" rtlCol="0">
            <a:spAutoFit/>
          </a:bodyPr>
          <a:lstStyle/>
          <a:p>
            <a:pPr algn="ctr"/>
            <a:r>
              <a:rPr lang="en-GB" sz="1200" b="1" i="1" spc="-60">
                <a:solidFill>
                  <a:schemeClr val="tx1">
                    <a:lumMod val="60000"/>
                    <a:lumOff val="40000"/>
                  </a:schemeClr>
                </a:solidFill>
                <a:latin typeface="+mj-lt"/>
              </a:rPr>
              <a:t>(others)</a:t>
            </a:r>
          </a:p>
        </p:txBody>
      </p:sp>
      <p:sp>
        <p:nvSpPr>
          <p:cNvPr id="78" name="Rectangle: Rounded Corners 77">
            <a:extLst>
              <a:ext uri="{FF2B5EF4-FFF2-40B4-BE49-F238E27FC236}">
                <a16:creationId xmlns:a16="http://schemas.microsoft.com/office/drawing/2014/main" id="{C5A85C03-EE5E-48AB-B8F7-396BD57DC006}"/>
              </a:ext>
            </a:extLst>
          </p:cNvPr>
          <p:cNvSpPr/>
          <p:nvPr/>
        </p:nvSpPr>
        <p:spPr>
          <a:xfrm>
            <a:off x="358774" y="1633825"/>
            <a:ext cx="1231486" cy="246222"/>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2</a:t>
            </a:r>
          </a:p>
        </p:txBody>
      </p:sp>
      <p:sp>
        <p:nvSpPr>
          <p:cNvPr id="79" name="Rectangle: Rounded Corners 78">
            <a:extLst>
              <a:ext uri="{FF2B5EF4-FFF2-40B4-BE49-F238E27FC236}">
                <a16:creationId xmlns:a16="http://schemas.microsoft.com/office/drawing/2014/main" id="{CBBF268E-1B92-47AF-B8D1-CA31D6E8FFEC}"/>
              </a:ext>
            </a:extLst>
          </p:cNvPr>
          <p:cNvSpPr/>
          <p:nvPr/>
        </p:nvSpPr>
        <p:spPr>
          <a:xfrm>
            <a:off x="367209" y="1332782"/>
            <a:ext cx="1231486" cy="246222"/>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1 Portal /</a:t>
            </a:r>
          </a:p>
          <a:p>
            <a:pPr algn="ctr"/>
            <a:r>
              <a:rPr lang="en-GB" sz="800">
                <a:solidFill>
                  <a:schemeClr val="tx1"/>
                </a:solidFill>
              </a:rPr>
              <a:t>post-go-live</a:t>
            </a:r>
          </a:p>
        </p:txBody>
      </p:sp>
    </p:spTree>
    <p:extLst>
      <p:ext uri="{BB962C8B-B14F-4D97-AF65-F5344CB8AC3E}">
        <p14:creationId xmlns:p14="http://schemas.microsoft.com/office/powerpoint/2010/main" val="19130841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Collecting Payments</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5" y="1334847"/>
            <a:ext cx="4698255"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Raise recurring charges (MRI)</a:t>
              </a:r>
            </a:p>
            <a:p>
              <a:pPr marL="171450" indent="-171450" fontAlgn="b">
                <a:buFontTx/>
                <a:buChar char="-"/>
              </a:pPr>
              <a:r>
                <a:rPr lang="en-GB" sz="1000">
                  <a:solidFill>
                    <a:schemeClr val="tx1"/>
                  </a:solidFill>
                  <a:latin typeface="Montserrat Light (Body)"/>
                </a:rPr>
                <a:t>Manage billing Periods, apportion charges across periods (MRI)</a:t>
              </a:r>
            </a:p>
            <a:p>
              <a:pPr marL="171450" indent="-171450" fontAlgn="b">
                <a:buFontTx/>
                <a:buChar char="-"/>
              </a:pPr>
              <a:r>
                <a:rPr lang="en-GB" sz="1000">
                  <a:solidFill>
                    <a:schemeClr val="tx1"/>
                  </a:solidFill>
                  <a:latin typeface="Montserrat Light (Body)"/>
                </a:rPr>
                <a:t>Manage charge codes / income categories (MRI)</a:t>
              </a:r>
            </a:p>
            <a:p>
              <a:pPr marL="171450" indent="-171450" fontAlgn="b">
                <a:buFontTx/>
                <a:buChar char="-"/>
              </a:pPr>
              <a:r>
                <a:rPr lang="en-GB" sz="1000">
                  <a:solidFill>
                    <a:schemeClr val="tx1"/>
                  </a:solidFill>
                  <a:latin typeface="Montserrat Light (Body)"/>
                </a:rPr>
                <a:t>Raise one-off charges, recharges. concessions (MRI)</a:t>
              </a:r>
            </a:p>
            <a:p>
              <a:pPr marL="171450" indent="-171450" fontAlgn="b">
                <a:buFontTx/>
                <a:buChar char="-"/>
              </a:pPr>
              <a:r>
                <a:rPr lang="en-GB" sz="1000">
                  <a:solidFill>
                    <a:schemeClr val="tx1"/>
                  </a:solidFill>
                  <a:latin typeface="Montserrat Light (Body)"/>
                </a:rPr>
                <a:t>Handle &amp; account for VAT payments (MRI)</a:t>
              </a:r>
            </a:p>
            <a:p>
              <a:pPr marL="171450" indent="-171450" fontAlgn="b">
                <a:buFontTx/>
                <a:buChar char="-"/>
              </a:pPr>
              <a:r>
                <a:rPr lang="en-GB" sz="1000">
                  <a:solidFill>
                    <a:schemeClr val="tx1"/>
                  </a:solidFill>
                  <a:latin typeface="Montserrat Light (Body)"/>
                </a:rPr>
                <a:t>Issue invoices to customers (MRI)</a:t>
              </a:r>
            </a:p>
            <a:p>
              <a:pPr marL="171450" indent="-171450" fontAlgn="b">
                <a:buFontTx/>
                <a:buChar char="-"/>
              </a:pPr>
              <a:r>
                <a:rPr lang="en-GB" sz="1000">
                  <a:solidFill>
                    <a:schemeClr val="tx1"/>
                  </a:solidFill>
                  <a:latin typeface="Montserrat Light (Body)"/>
                </a:rPr>
                <a:t>Manage DD Mandates and DD Schedules (Asperato)</a:t>
              </a:r>
            </a:p>
            <a:p>
              <a:pPr marL="171450" indent="-171450" fontAlgn="b">
                <a:buFontTx/>
                <a:buChar char="-"/>
              </a:pPr>
              <a:r>
                <a:rPr lang="en-GB" sz="1000">
                  <a:solidFill>
                    <a:schemeClr val="tx1"/>
                  </a:solidFill>
                  <a:latin typeface="Montserrat Light (Body)"/>
                </a:rPr>
                <a:t>Collect payments via Direct Debit (Asperato) </a:t>
              </a:r>
            </a:p>
            <a:p>
              <a:pPr marL="171450" indent="-171450" fontAlgn="b">
                <a:buFontTx/>
                <a:buChar char="-"/>
              </a:pPr>
              <a:r>
                <a:rPr lang="en-GB" sz="1000">
                  <a:solidFill>
                    <a:schemeClr val="tx1"/>
                  </a:solidFill>
                  <a:latin typeface="Montserrat Light (Body)"/>
                </a:rPr>
                <a:t>Handle DD cancellations and refunds (Asperato)</a:t>
              </a:r>
            </a:p>
            <a:p>
              <a:pPr marL="171450" indent="-171450" fontAlgn="b">
                <a:buFontTx/>
                <a:buChar char="-"/>
              </a:pPr>
              <a:r>
                <a:rPr lang="en-GB" sz="1000">
                  <a:solidFill>
                    <a:schemeClr val="tx1"/>
                  </a:solidFill>
                  <a:latin typeface="Montserrat Light (Body)"/>
                </a:rPr>
                <a:t>Send customer notifications on DD payments (Asperato)</a:t>
              </a:r>
            </a:p>
            <a:p>
              <a:pPr marL="171450" indent="-171450" fontAlgn="b">
                <a:buFontTx/>
                <a:buChar char="-"/>
              </a:pPr>
              <a:r>
                <a:rPr lang="en-GB" sz="1000">
                  <a:solidFill>
                    <a:schemeClr val="tx1"/>
                  </a:solidFill>
                  <a:latin typeface="Montserrat Light (Body)"/>
                </a:rPr>
                <a:t>Account for DD payments, failures and refunds (MRI)</a:t>
              </a:r>
            </a:p>
            <a:p>
              <a:pPr marL="171450" indent="-171450" fontAlgn="b">
                <a:buFontTx/>
                <a:buChar char="-"/>
              </a:pPr>
              <a:r>
                <a:rPr lang="en-GB" sz="1000">
                  <a:solidFill>
                    <a:schemeClr val="tx1"/>
                  </a:solidFill>
                  <a:latin typeface="Montserrat Light (Body)"/>
                </a:rPr>
                <a:t>Request Credit / Debit Card payments (Asperato)</a:t>
              </a:r>
            </a:p>
            <a:p>
              <a:pPr marL="171450" indent="-171450" fontAlgn="b">
                <a:buFontTx/>
                <a:buChar char="-"/>
              </a:pPr>
              <a:r>
                <a:rPr lang="en-GB" sz="1000">
                  <a:solidFill>
                    <a:schemeClr val="tx1"/>
                  </a:solidFill>
                  <a:latin typeface="Montserrat Light (Body)"/>
                </a:rPr>
                <a:t>Process card payments and refunds (Asperato)</a:t>
              </a:r>
            </a:p>
            <a:p>
              <a:pPr marL="171450" indent="-171450" fontAlgn="b">
                <a:buFontTx/>
                <a:buChar char="-"/>
              </a:pPr>
              <a:r>
                <a:rPr lang="en-GB" sz="1000">
                  <a:solidFill>
                    <a:schemeClr val="tx1"/>
                  </a:solidFill>
                  <a:latin typeface="Montserrat Light (Body)"/>
                </a:rPr>
                <a:t>Confirm card payment &amp; issue receipt (Asperato)</a:t>
              </a:r>
            </a:p>
            <a:p>
              <a:pPr marL="171450" indent="-171450" fontAlgn="b">
                <a:buFontTx/>
                <a:buChar char="-"/>
              </a:pPr>
              <a:r>
                <a:rPr lang="en-GB" sz="1000">
                  <a:solidFill>
                    <a:schemeClr val="tx1"/>
                  </a:solidFill>
                  <a:latin typeface="Montserrat Light (Body)"/>
                </a:rPr>
                <a:t>Data for reconciling card payments (Asperato)</a:t>
              </a:r>
            </a:p>
            <a:p>
              <a:pPr marL="171450" indent="-171450" fontAlgn="b">
                <a:buFontTx/>
                <a:buChar char="-"/>
              </a:pPr>
              <a:r>
                <a:rPr lang="en-GB" sz="1000">
                  <a:solidFill>
                    <a:schemeClr val="tx1"/>
                  </a:solidFill>
                  <a:latin typeface="Montserrat Light (Body)"/>
                </a:rPr>
                <a:t>Account for Bank Transfers / Standing Orders (MRI)</a:t>
              </a:r>
            </a:p>
            <a:p>
              <a:pPr marL="171450" indent="-171450" fontAlgn="b">
                <a:buFontTx/>
                <a:buChar char="-"/>
              </a:pPr>
              <a:r>
                <a:rPr lang="en-GB" sz="1000">
                  <a:solidFill>
                    <a:schemeClr val="tx1"/>
                  </a:solidFill>
                  <a:latin typeface="Montserrat Light (Body)"/>
                </a:rPr>
                <a:t>Account for payments made by Cheques, All Pay (MRI)</a:t>
              </a:r>
            </a:p>
            <a:p>
              <a:pPr marL="171450" indent="-171450" fontAlgn="b">
                <a:buFontTx/>
                <a:buChar char="-"/>
              </a:pPr>
              <a:r>
                <a:rPr lang="en-GB" sz="1000">
                  <a:solidFill>
                    <a:schemeClr val="tx1"/>
                  </a:solidFill>
                  <a:latin typeface="Montserrat Light (Body)"/>
                </a:rPr>
                <a:t>Handle Housing Benefit / Universal Credit (MRI)</a:t>
              </a:r>
            </a:p>
            <a:p>
              <a:pPr marL="171450" indent="-171450" fontAlgn="b">
                <a:buFontTx/>
                <a:buChar char="-"/>
              </a:pPr>
              <a:r>
                <a:rPr lang="en-GB" sz="1000">
                  <a:solidFill>
                    <a:schemeClr val="tx1"/>
                  </a:solidFill>
                  <a:latin typeface="Montserrat Light (Body)"/>
                </a:rPr>
                <a:t>Identify charges in arrears for specific tenures (MRI)</a:t>
              </a:r>
            </a:p>
            <a:p>
              <a:pPr marL="171450" indent="-171450" fontAlgn="b">
                <a:buFontTx/>
                <a:buChar char="-"/>
              </a:pPr>
              <a:r>
                <a:rPr lang="en-GB" sz="1000">
                  <a:solidFill>
                    <a:schemeClr val="tx1"/>
                  </a:solidFill>
                  <a:latin typeface="Montserrat Light (Body)"/>
                </a:rPr>
                <a:t>Credit Control Dashboard (CCD) (MRI)</a:t>
              </a:r>
            </a:p>
            <a:p>
              <a:pPr marL="171450" indent="-171450" fontAlgn="b">
                <a:buFontTx/>
                <a:buChar char="-"/>
              </a:pPr>
              <a:r>
                <a:rPr lang="en-GB" sz="1000">
                  <a:solidFill>
                    <a:schemeClr val="tx1"/>
                  </a:solidFill>
                  <a:latin typeface="Montserrat Light (Body)"/>
                </a:rPr>
                <a:t>Manage stages of legal process (MRI)</a:t>
              </a:r>
            </a:p>
            <a:p>
              <a:pPr marL="171450" indent="-171450" fontAlgn="b">
                <a:buFontTx/>
                <a:buChar char="-"/>
              </a:pPr>
              <a:r>
                <a:rPr lang="en-GB" sz="1000">
                  <a:solidFill>
                    <a:schemeClr val="tx1"/>
                  </a:solidFill>
                  <a:latin typeface="Montserrat Light (Body)"/>
                </a:rPr>
                <a:t>Arrears Letters templates, filtering and sending (MRI)</a:t>
              </a:r>
            </a:p>
            <a:p>
              <a:pPr marL="171450" indent="-171450" fontAlgn="b">
                <a:buFontTx/>
                <a:buChar char="-"/>
              </a:pPr>
              <a:r>
                <a:rPr lang="en-GB" sz="1000">
                  <a:solidFill>
                    <a:schemeClr val="tx1"/>
                  </a:solidFill>
                  <a:latin typeface="Montserrat Light (Body)"/>
                </a:rPr>
                <a:t>Creation &amp; Management of Payment plans (MRI)</a:t>
              </a:r>
            </a:p>
            <a:p>
              <a:pPr marL="171450" indent="-171450" fontAlgn="b">
                <a:buFontTx/>
                <a:buChar char="-"/>
              </a:pPr>
              <a:r>
                <a:rPr lang="en-GB" sz="1000">
                  <a:solidFill>
                    <a:schemeClr val="tx1"/>
                  </a:solidFill>
                  <a:latin typeface="Montserrat Light (Body)"/>
                </a:rPr>
                <a:t>Payment plans - Direct Debit collections (Asperato)</a:t>
              </a:r>
            </a:p>
            <a:p>
              <a:pPr marL="171450" indent="-171450" fontAlgn="b">
                <a:buFontTx/>
                <a:buChar char="-"/>
              </a:pPr>
              <a:r>
                <a:rPr lang="en-GB" sz="1000">
                  <a:solidFill>
                    <a:schemeClr val="tx1"/>
                  </a:solidFill>
                  <a:latin typeface="Montserrat Light (Body)"/>
                </a:rPr>
                <a:t>Amenity bookings / cancelling by on-site staff (FSI)</a:t>
              </a:r>
            </a:p>
            <a:p>
              <a:pPr marL="171450" indent="-171450" fontAlgn="b">
                <a:buFontTx/>
                <a:buChar char="-"/>
              </a:pPr>
              <a:r>
                <a:rPr lang="en-GB" sz="1000">
                  <a:solidFill>
                    <a:schemeClr val="tx1"/>
                  </a:solidFill>
                  <a:latin typeface="Montserrat Light (Body)"/>
                </a:rPr>
                <a:t>Source data on amenity bookings (FSI)</a:t>
              </a:r>
            </a:p>
            <a:p>
              <a:pPr marL="171450" indent="-171450" fontAlgn="b">
                <a:buFontTx/>
                <a:buChar char="-"/>
              </a:pPr>
              <a:r>
                <a:rPr lang="en-GB" sz="1000">
                  <a:solidFill>
                    <a:schemeClr val="tx1"/>
                  </a:solidFill>
                  <a:latin typeface="Montserrat Light (Body)"/>
                </a:rPr>
                <a:t>Manage maintenance of Amenity (FSI)</a:t>
              </a:r>
            </a:p>
            <a:p>
              <a:pPr marL="171450" indent="-171450" fontAlgn="b">
                <a:buFontTx/>
                <a:buChar char="-"/>
              </a:pPr>
              <a:r>
                <a:rPr lang="en-GB" sz="1000">
                  <a:solidFill>
                    <a:schemeClr val="tx1"/>
                  </a:solidFill>
                  <a:latin typeface="Montserrat Light (Body)"/>
                </a:rPr>
                <a:t>Take amenity payment &amp; process refunds (Asperato)</a:t>
              </a:r>
            </a:p>
            <a:p>
              <a:pPr algn="ctr" fontAlgn="b"/>
              <a:endParaRPr lang="en-GB" sz="7200">
                <a:latin typeface="Arial" panose="020B0604020202020204" pitchFamily="34" charset="0"/>
              </a:endParaRPr>
            </a:p>
            <a:p>
              <a:pPr algn="ctr" fontAlgn="b"/>
              <a:endParaRPr lang="en-GB" sz="4000">
                <a:latin typeface="Arial" panose="020B0604020202020204" pitchFamily="34" charset="0"/>
              </a:endParaRPr>
            </a:p>
            <a:p>
              <a:pPr algn="ctr" fontAlgn="b"/>
              <a:endParaRPr lang="en-GB">
                <a:latin typeface="Arial" panose="020B0604020202020204" pitchFamily="34" charset="0"/>
              </a:endParaRPr>
            </a:p>
            <a:p>
              <a:pPr marL="171450" indent="-171450" fontAlgn="b">
                <a:spcBef>
                  <a:spcPts val="400"/>
                </a:spcBef>
                <a:buFontTx/>
                <a:buChar char="-"/>
              </a:pPr>
              <a:endParaRPr lang="en-GB" sz="1000">
                <a:solidFill>
                  <a:schemeClr val="tx1"/>
                </a:solidFill>
                <a:latin typeface="Montserrat Light (Body)"/>
              </a:endParaRPr>
            </a:p>
            <a:p>
              <a:pPr marL="171450" indent="-171450" fontAlgn="b">
                <a:spcBef>
                  <a:spcPts val="400"/>
                </a:spcBef>
                <a:buFontTx/>
                <a:buChar char="-"/>
              </a:pPr>
              <a:endParaRPr lang="en-GB" sz="1000">
                <a:solidFill>
                  <a:schemeClr val="tx1"/>
                </a:solidFill>
                <a:latin typeface="Montserrat Light (Body)"/>
              </a:endParaRPr>
            </a:p>
            <a:p>
              <a:pPr algn="ctr" fontAlgn="b"/>
              <a:endParaRPr lang="en-GB">
                <a:latin typeface="Arial" panose="020B0604020202020204" pitchFamily="34" charset="0"/>
              </a:endParaRPr>
            </a:p>
            <a:p>
              <a:pPr algn="ctr" fontAlgn="b"/>
              <a:endParaRPr lang="en-GB" sz="1000">
                <a:latin typeface="Arial" panose="020B0604020202020204" pitchFamily="34" charset="0"/>
              </a:endParaRPr>
            </a:p>
            <a:p>
              <a:pPr algn="ctr" fontAlgn="b"/>
              <a:endParaRPr lang="en-GB" sz="1000">
                <a:latin typeface="Arial" panose="020B0604020202020204" pitchFamily="34" charset="0"/>
              </a:endParaRPr>
            </a:p>
            <a:p>
              <a:pPr marL="171450" indent="-171450">
                <a:spcBef>
                  <a:spcPts val="400"/>
                </a:spcBef>
                <a:buFontTx/>
                <a:buChar char="-"/>
              </a:pPr>
              <a:endParaRPr lang="en-GB" sz="1000">
                <a:solidFill>
                  <a:schemeClr val="tx1"/>
                </a:solidFill>
                <a:latin typeface="Montserrat Light (Body)"/>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47861" y="1339784"/>
            <a:ext cx="3528731" cy="919496"/>
            <a:chOff x="358772" y="2399498"/>
            <a:chExt cx="4120947" cy="752624"/>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29"/>
              <a:ext cx="4120945" cy="476293"/>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400"/>
                </a:spcBef>
                <a:buFontTx/>
                <a:buChar char="-"/>
              </a:pPr>
              <a:r>
                <a:rPr lang="en-GB" sz="1000">
                  <a:solidFill>
                    <a:schemeClr val="tx1"/>
                  </a:solidFill>
                  <a:latin typeface="Montserrat Light (Body)"/>
                </a:rPr>
                <a:t>Customer ability to setup DD mandates (MyGrainger portal)</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12</a:t>
            </a:fld>
            <a:endParaRPr lang="en-GB"/>
          </a:p>
        </p:txBody>
      </p:sp>
      <p:grpSp>
        <p:nvGrpSpPr>
          <p:cNvPr id="10" name="Group 9">
            <a:extLst>
              <a:ext uri="{FF2B5EF4-FFF2-40B4-BE49-F238E27FC236}">
                <a16:creationId xmlns:a16="http://schemas.microsoft.com/office/drawing/2014/main" id="{371C2B83-E6A5-4617-B490-462A62FEC34E}"/>
              </a:ext>
            </a:extLst>
          </p:cNvPr>
          <p:cNvGrpSpPr/>
          <p:nvPr/>
        </p:nvGrpSpPr>
        <p:grpSpPr>
          <a:xfrm>
            <a:off x="5247859" y="2389830"/>
            <a:ext cx="3520781" cy="3893525"/>
            <a:chOff x="358772" y="2399498"/>
            <a:chExt cx="4120947" cy="3186920"/>
          </a:xfrm>
        </p:grpSpPr>
        <p:sp>
          <p:nvSpPr>
            <p:cNvPr id="11" name="Rectangle 10">
              <a:extLst>
                <a:ext uri="{FF2B5EF4-FFF2-40B4-BE49-F238E27FC236}">
                  <a16:creationId xmlns:a16="http://schemas.microsoft.com/office/drawing/2014/main" id="{113E757E-07A0-4232-BB3C-2D254CD36232}"/>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F9E874E9-94D2-498A-AB1B-D90E6A52BA3E}"/>
                </a:ext>
              </a:extLst>
            </p:cNvPr>
            <p:cNvSpPr/>
            <p:nvPr/>
          </p:nvSpPr>
          <p:spPr>
            <a:xfrm>
              <a:off x="358772" y="2675830"/>
              <a:ext cx="4120945" cy="2910588"/>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400"/>
                </a:spcBef>
                <a:buFontTx/>
                <a:buChar char="-"/>
              </a:pPr>
              <a:r>
                <a:rPr lang="en-GB" sz="1000">
                  <a:solidFill>
                    <a:schemeClr val="tx1"/>
                  </a:solidFill>
                  <a:latin typeface="Montserrat Light (Body)"/>
                </a:rPr>
                <a:t>Front-end (Asperato) automatically splitting VAT component of payments</a:t>
              </a:r>
            </a:p>
            <a:p>
              <a:pPr marL="171450" indent="-171450">
                <a:spcBef>
                  <a:spcPts val="400"/>
                </a:spcBef>
                <a:buFontTx/>
                <a:buChar char="-"/>
              </a:pPr>
              <a:r>
                <a:rPr lang="en-GB" sz="1000">
                  <a:solidFill>
                    <a:schemeClr val="tx1"/>
                  </a:solidFill>
                  <a:latin typeface="Montserrat Light (Body)"/>
                </a:rPr>
                <a:t>Customer ability to create specific DD schedules via MyGrainger Portal</a:t>
              </a:r>
            </a:p>
            <a:p>
              <a:pPr marL="171450" indent="-171450">
                <a:spcBef>
                  <a:spcPts val="400"/>
                </a:spcBef>
                <a:buFontTx/>
                <a:buChar char="-"/>
              </a:pPr>
              <a:r>
                <a:rPr lang="en-GB" sz="1000">
                  <a:solidFill>
                    <a:schemeClr val="tx1"/>
                  </a:solidFill>
                  <a:latin typeface="Montserrat Light (Body)"/>
                </a:rPr>
                <a:t>Collecting one-off charges automatically via Direct Debit</a:t>
              </a:r>
            </a:p>
            <a:p>
              <a:pPr marL="171450" indent="-171450">
                <a:spcBef>
                  <a:spcPts val="400"/>
                </a:spcBef>
                <a:buFontTx/>
                <a:buChar char="-"/>
              </a:pPr>
              <a:r>
                <a:rPr lang="en-GB" sz="1000">
                  <a:solidFill>
                    <a:schemeClr val="tx1"/>
                  </a:solidFill>
                  <a:latin typeface="Montserrat Light (Body)"/>
                </a:rPr>
                <a:t>Ability to record bailiffs and injunctions as part of the legal page</a:t>
              </a:r>
            </a:p>
            <a:p>
              <a:pPr marL="171450" indent="-171450">
                <a:spcBef>
                  <a:spcPts val="400"/>
                </a:spcBef>
                <a:buFontTx/>
                <a:buChar char="-"/>
              </a:pPr>
              <a:r>
                <a:rPr lang="en-GB" sz="1000">
                  <a:solidFill>
                    <a:schemeClr val="tx1"/>
                  </a:solidFill>
                  <a:latin typeface="Montserrat Light (Body)"/>
                </a:rPr>
                <a:t>Automatic creation of DD Schedules for Payment plans when they are created / amended in MRI</a:t>
              </a:r>
            </a:p>
            <a:p>
              <a:pPr marL="171450" indent="-171450">
                <a:spcBef>
                  <a:spcPts val="400"/>
                </a:spcBef>
                <a:buFontTx/>
                <a:buChar char="-"/>
              </a:pPr>
              <a:r>
                <a:rPr lang="en-GB" sz="1000">
                  <a:solidFill>
                    <a:schemeClr val="tx1"/>
                  </a:solidFill>
                  <a:latin typeface="Montserrat Light (Body)"/>
                </a:rPr>
                <a:t>Automatic flagging that a tenancy is ‘in breach’ from MRI to other systems (manual workaround being out in place)</a:t>
              </a:r>
            </a:p>
            <a:p>
              <a:pPr marL="171450" indent="-171450">
                <a:spcBef>
                  <a:spcPts val="400"/>
                </a:spcBef>
                <a:buFontTx/>
                <a:buChar char="-"/>
              </a:pPr>
              <a:r>
                <a:rPr lang="en-GB" sz="1000">
                  <a:solidFill>
                    <a:schemeClr val="tx1"/>
                  </a:solidFill>
                  <a:latin typeface="Montserrat Light (Body)"/>
                </a:rPr>
                <a:t>Customer ability to book amenities in MyGrainger Portal and manage the amenities booking</a:t>
              </a:r>
            </a:p>
            <a:p>
              <a:pPr marL="171450" indent="-171450">
                <a:spcBef>
                  <a:spcPts val="400"/>
                </a:spcBef>
                <a:buFontTx/>
                <a:buChar char="-"/>
              </a:pPr>
              <a:r>
                <a:rPr lang="en-GB" sz="1000">
                  <a:solidFill>
                    <a:schemeClr val="tx1"/>
                  </a:solidFill>
                  <a:latin typeface="Montserrat Light (Body)"/>
                </a:rPr>
                <a:t>Customer ability to see the history of amenities booked by themselves in the MyGrainger Portal</a:t>
              </a:r>
            </a:p>
            <a:p>
              <a:pPr marL="171450" indent="-171450">
                <a:spcBef>
                  <a:spcPts val="400"/>
                </a:spcBef>
                <a:buFontTx/>
                <a:buChar char="-"/>
              </a:pPr>
              <a:r>
                <a:rPr lang="en-GB" sz="1000">
                  <a:solidFill>
                    <a:schemeClr val="tx1"/>
                  </a:solidFill>
                  <a:latin typeface="Montserrat Light (Body)"/>
                </a:rPr>
                <a:t>Posting of Amenities payments into MRI (including the VAT component)</a:t>
              </a:r>
            </a:p>
            <a:p>
              <a:pPr marL="171450" indent="-171450">
                <a:spcBef>
                  <a:spcPts val="400"/>
                </a:spcBef>
                <a:buFontTx/>
                <a:buChar char="-"/>
              </a:pPr>
              <a:endParaRPr lang="en-GB" sz="1000">
                <a:solidFill>
                  <a:schemeClr val="tx1"/>
                </a:solidFill>
                <a:latin typeface="Montserrat Light (Body)"/>
              </a:endParaRPr>
            </a:p>
            <a:p>
              <a:pPr marL="171450" indent="-171450">
                <a:spcBef>
                  <a:spcPts val="400"/>
                </a:spcBef>
                <a:buFontTx/>
                <a:buChar char="-"/>
              </a:pPr>
              <a:endParaRPr lang="en-GB" sz="1000">
                <a:solidFill>
                  <a:schemeClr val="tx1"/>
                </a:solidFill>
                <a:latin typeface="Montserrat Light (Body)"/>
              </a:endParaRPr>
            </a:p>
            <a:p>
              <a:pPr marL="171450" indent="-171450" fontAlgn="b">
                <a:spcBef>
                  <a:spcPts val="400"/>
                </a:spcBef>
                <a:buFontTx/>
                <a:buChar char="-"/>
              </a:pPr>
              <a:endParaRPr lang="en-GB" sz="1000">
                <a:solidFill>
                  <a:schemeClr val="tx1"/>
                </a:solidFill>
                <a:latin typeface="Montserrat Light (Body)"/>
              </a:endParaRPr>
            </a:p>
          </p:txBody>
        </p:sp>
      </p:grpSp>
    </p:spTree>
    <p:extLst>
      <p:ext uri="{BB962C8B-B14F-4D97-AF65-F5344CB8AC3E}">
        <p14:creationId xmlns:p14="http://schemas.microsoft.com/office/powerpoint/2010/main" val="11307214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Rounded Corners 94">
            <a:extLst>
              <a:ext uri="{FF2B5EF4-FFF2-40B4-BE49-F238E27FC236}">
                <a16:creationId xmlns:a16="http://schemas.microsoft.com/office/drawing/2014/main" id="{F5DE4B56-78BD-445D-813F-827A9617E7E8}"/>
              </a:ext>
            </a:extLst>
          </p:cNvPr>
          <p:cNvSpPr/>
          <p:nvPr/>
        </p:nvSpPr>
        <p:spPr>
          <a:xfrm>
            <a:off x="6121488" y="5880570"/>
            <a:ext cx="1240447" cy="139101"/>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Rounded Corners 93">
            <a:extLst>
              <a:ext uri="{FF2B5EF4-FFF2-40B4-BE49-F238E27FC236}">
                <a16:creationId xmlns:a16="http://schemas.microsoft.com/office/drawing/2014/main" id="{91D6623D-BF7B-40B1-9FDD-8FB0DCB7AB5F}"/>
              </a:ext>
            </a:extLst>
          </p:cNvPr>
          <p:cNvSpPr/>
          <p:nvPr/>
        </p:nvSpPr>
        <p:spPr>
          <a:xfrm>
            <a:off x="3123030" y="6149978"/>
            <a:ext cx="1436808" cy="139101"/>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Rounded Corners 92">
            <a:extLst>
              <a:ext uri="{FF2B5EF4-FFF2-40B4-BE49-F238E27FC236}">
                <a16:creationId xmlns:a16="http://schemas.microsoft.com/office/drawing/2014/main" id="{466C5714-D7BB-4C99-AB28-7EFF856E5194}"/>
              </a:ext>
            </a:extLst>
          </p:cNvPr>
          <p:cNvSpPr/>
          <p:nvPr/>
        </p:nvSpPr>
        <p:spPr>
          <a:xfrm>
            <a:off x="3123030" y="5974563"/>
            <a:ext cx="1436808" cy="139101"/>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Rounded Corners 91">
            <a:extLst>
              <a:ext uri="{FF2B5EF4-FFF2-40B4-BE49-F238E27FC236}">
                <a16:creationId xmlns:a16="http://schemas.microsoft.com/office/drawing/2014/main" id="{0D256438-3E52-4524-BF32-9D4178A307AC}"/>
              </a:ext>
            </a:extLst>
          </p:cNvPr>
          <p:cNvSpPr/>
          <p:nvPr/>
        </p:nvSpPr>
        <p:spPr>
          <a:xfrm>
            <a:off x="3128262" y="5799148"/>
            <a:ext cx="1436808" cy="139101"/>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Rounded Corners 90">
            <a:extLst>
              <a:ext uri="{FF2B5EF4-FFF2-40B4-BE49-F238E27FC236}">
                <a16:creationId xmlns:a16="http://schemas.microsoft.com/office/drawing/2014/main" id="{F6A2D157-7E43-49F3-882E-065F71D8F15A}"/>
              </a:ext>
            </a:extLst>
          </p:cNvPr>
          <p:cNvSpPr/>
          <p:nvPr/>
        </p:nvSpPr>
        <p:spPr>
          <a:xfrm>
            <a:off x="1667768" y="5565565"/>
            <a:ext cx="1363764" cy="113671"/>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Rounded Corners 89">
            <a:extLst>
              <a:ext uri="{FF2B5EF4-FFF2-40B4-BE49-F238E27FC236}">
                <a16:creationId xmlns:a16="http://schemas.microsoft.com/office/drawing/2014/main" id="{6A8E2B30-67C4-4F6A-A6E4-AD257C435D2F}"/>
              </a:ext>
            </a:extLst>
          </p:cNvPr>
          <p:cNvSpPr/>
          <p:nvPr/>
        </p:nvSpPr>
        <p:spPr>
          <a:xfrm>
            <a:off x="4513552" y="5119351"/>
            <a:ext cx="1560565" cy="136506"/>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Rounded Corners 88">
            <a:extLst>
              <a:ext uri="{FF2B5EF4-FFF2-40B4-BE49-F238E27FC236}">
                <a16:creationId xmlns:a16="http://schemas.microsoft.com/office/drawing/2014/main" id="{BC040FE5-13BB-4D32-AC9C-917181831136}"/>
              </a:ext>
            </a:extLst>
          </p:cNvPr>
          <p:cNvSpPr/>
          <p:nvPr/>
        </p:nvSpPr>
        <p:spPr>
          <a:xfrm>
            <a:off x="6149784" y="4823970"/>
            <a:ext cx="1212152" cy="354844"/>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Rounded Corners 87">
            <a:extLst>
              <a:ext uri="{FF2B5EF4-FFF2-40B4-BE49-F238E27FC236}">
                <a16:creationId xmlns:a16="http://schemas.microsoft.com/office/drawing/2014/main" id="{7BC94D6B-C50C-447C-8C36-5E607FD64E46}"/>
              </a:ext>
            </a:extLst>
          </p:cNvPr>
          <p:cNvSpPr/>
          <p:nvPr/>
        </p:nvSpPr>
        <p:spPr>
          <a:xfrm>
            <a:off x="3103655" y="4637190"/>
            <a:ext cx="1409898" cy="295633"/>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Rounded Corners 86">
            <a:extLst>
              <a:ext uri="{FF2B5EF4-FFF2-40B4-BE49-F238E27FC236}">
                <a16:creationId xmlns:a16="http://schemas.microsoft.com/office/drawing/2014/main" id="{8897ED22-06AC-4D68-B6DC-B8E14AF42C9F}"/>
              </a:ext>
            </a:extLst>
          </p:cNvPr>
          <p:cNvSpPr/>
          <p:nvPr/>
        </p:nvSpPr>
        <p:spPr>
          <a:xfrm>
            <a:off x="4515113" y="4811796"/>
            <a:ext cx="1585178" cy="138063"/>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Rounded Corners 85">
            <a:extLst>
              <a:ext uri="{FF2B5EF4-FFF2-40B4-BE49-F238E27FC236}">
                <a16:creationId xmlns:a16="http://schemas.microsoft.com/office/drawing/2014/main" id="{BB8590A2-44B9-4FF3-A93D-9B4857FA107B}"/>
              </a:ext>
            </a:extLst>
          </p:cNvPr>
          <p:cNvSpPr/>
          <p:nvPr/>
        </p:nvSpPr>
        <p:spPr>
          <a:xfrm>
            <a:off x="4542022" y="4259365"/>
            <a:ext cx="1417598" cy="156631"/>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Rounded Corners 81">
            <a:extLst>
              <a:ext uri="{FF2B5EF4-FFF2-40B4-BE49-F238E27FC236}">
                <a16:creationId xmlns:a16="http://schemas.microsoft.com/office/drawing/2014/main" id="{065A5817-2279-4190-8061-FCBCA1B8C7D6}"/>
              </a:ext>
            </a:extLst>
          </p:cNvPr>
          <p:cNvSpPr/>
          <p:nvPr/>
        </p:nvSpPr>
        <p:spPr>
          <a:xfrm>
            <a:off x="6142767" y="3701663"/>
            <a:ext cx="1169778" cy="600705"/>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Rounded Corners 77">
            <a:extLst>
              <a:ext uri="{FF2B5EF4-FFF2-40B4-BE49-F238E27FC236}">
                <a16:creationId xmlns:a16="http://schemas.microsoft.com/office/drawing/2014/main" id="{01BEA175-A084-45D7-8E12-9E372213553C}"/>
              </a:ext>
            </a:extLst>
          </p:cNvPr>
          <p:cNvSpPr/>
          <p:nvPr/>
        </p:nvSpPr>
        <p:spPr>
          <a:xfrm>
            <a:off x="6121489" y="2857725"/>
            <a:ext cx="1169778" cy="314865"/>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Rounded Corners 76">
            <a:extLst>
              <a:ext uri="{FF2B5EF4-FFF2-40B4-BE49-F238E27FC236}">
                <a16:creationId xmlns:a16="http://schemas.microsoft.com/office/drawing/2014/main" id="{13C7BD9C-E730-4CFF-9C3B-569FE6EE11FA}"/>
              </a:ext>
            </a:extLst>
          </p:cNvPr>
          <p:cNvSpPr/>
          <p:nvPr/>
        </p:nvSpPr>
        <p:spPr>
          <a:xfrm>
            <a:off x="7394420" y="4814128"/>
            <a:ext cx="1439190" cy="271051"/>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Rounded Corners 70">
            <a:extLst>
              <a:ext uri="{FF2B5EF4-FFF2-40B4-BE49-F238E27FC236}">
                <a16:creationId xmlns:a16="http://schemas.microsoft.com/office/drawing/2014/main" id="{00C26549-53B1-468D-AAB7-3F4E62FA9D54}"/>
              </a:ext>
            </a:extLst>
          </p:cNvPr>
          <p:cNvSpPr/>
          <p:nvPr/>
        </p:nvSpPr>
        <p:spPr>
          <a:xfrm>
            <a:off x="7394420" y="3086063"/>
            <a:ext cx="1439190" cy="179018"/>
          </a:xfrm>
          <a:prstGeom prst="roundRect">
            <a:avLst>
              <a:gd name="adj"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Rounded Corners 63">
            <a:extLst>
              <a:ext uri="{FF2B5EF4-FFF2-40B4-BE49-F238E27FC236}">
                <a16:creationId xmlns:a16="http://schemas.microsoft.com/office/drawing/2014/main" id="{006F9427-F511-4D87-8359-C8C0C3ABCB56}"/>
              </a:ext>
            </a:extLst>
          </p:cNvPr>
          <p:cNvSpPr/>
          <p:nvPr/>
        </p:nvSpPr>
        <p:spPr>
          <a:xfrm>
            <a:off x="1680108" y="3067874"/>
            <a:ext cx="1439190" cy="179018"/>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0" name="Picture 16" descr="Image result for fsi concept evolution">
            <a:extLst>
              <a:ext uri="{FF2B5EF4-FFF2-40B4-BE49-F238E27FC236}">
                <a16:creationId xmlns:a16="http://schemas.microsoft.com/office/drawing/2014/main" id="{F336F2A0-41A7-456B-AFF5-E0B7195F3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9623" y="5185950"/>
            <a:ext cx="652817" cy="34746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2090523E-3CB7-4F4E-A9C4-A84B003EC8B2}"/>
              </a:ext>
            </a:extLst>
          </p:cNvPr>
          <p:cNvSpPr>
            <a:spLocks noGrp="1"/>
          </p:cNvSpPr>
          <p:nvPr>
            <p:ph type="title"/>
          </p:nvPr>
        </p:nvSpPr>
        <p:spPr/>
        <p:txBody>
          <a:bodyPr/>
          <a:lstStyle/>
          <a:p>
            <a:r>
              <a:rPr lang="en-GB"/>
              <a:t>Marketing &amp; Lead-to-Lease</a:t>
            </a:r>
            <a:br>
              <a:rPr lang="en-GB"/>
            </a:br>
            <a:r>
              <a:rPr lang="en-GB" sz="2400" i="1"/>
              <a:t>Process Summary</a:t>
            </a:r>
            <a:endParaRPr lang="en-GB"/>
          </a:p>
        </p:txBody>
      </p:sp>
      <p:pic>
        <p:nvPicPr>
          <p:cNvPr id="1034" name="Picture 10" descr="Image result for mri software">
            <a:extLst>
              <a:ext uri="{FF2B5EF4-FFF2-40B4-BE49-F238E27FC236}">
                <a16:creationId xmlns:a16="http://schemas.microsoft.com/office/drawing/2014/main" id="{5641B02B-3DDF-44E3-90A3-DB9234974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515" y="1419175"/>
            <a:ext cx="833582" cy="451524"/>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A649CE11-77F7-4308-AB16-3BE5E5A71DCE}"/>
              </a:ext>
            </a:extLst>
          </p:cNvPr>
          <p:cNvGrpSpPr/>
          <p:nvPr/>
        </p:nvGrpSpPr>
        <p:grpSpPr>
          <a:xfrm>
            <a:off x="1812451" y="1178764"/>
            <a:ext cx="923243" cy="884354"/>
            <a:chOff x="2056110" y="1332034"/>
            <a:chExt cx="923243" cy="884354"/>
          </a:xfrm>
        </p:grpSpPr>
        <p:pic>
          <p:nvPicPr>
            <p:cNvPr id="1026" name="Picture 2" descr="Image result for customer icon">
              <a:extLst>
                <a:ext uri="{FF2B5EF4-FFF2-40B4-BE49-F238E27FC236}">
                  <a16:creationId xmlns:a16="http://schemas.microsoft.com/office/drawing/2014/main" id="{DF060A85-867E-4C64-B211-01E769D03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6110" y="1332034"/>
              <a:ext cx="923243" cy="6924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937EA58-3F99-4C2B-BEF1-B7BD8C8AE847}"/>
                </a:ext>
              </a:extLst>
            </p:cNvPr>
            <p:cNvSpPr txBox="1"/>
            <p:nvPr/>
          </p:nvSpPr>
          <p:spPr>
            <a:xfrm>
              <a:off x="2125155" y="1962472"/>
              <a:ext cx="785151" cy="253916"/>
            </a:xfrm>
            <a:prstGeom prst="rect">
              <a:avLst/>
            </a:prstGeom>
            <a:noFill/>
          </p:spPr>
          <p:txBody>
            <a:bodyPr wrap="none" rtlCol="0">
              <a:spAutoFit/>
            </a:bodyPr>
            <a:lstStyle/>
            <a:p>
              <a:pPr algn="ctr"/>
              <a:r>
                <a:rPr lang="en-GB" sz="1000" spc="-60"/>
                <a:t>Customer</a:t>
              </a:r>
            </a:p>
          </p:txBody>
        </p:sp>
      </p:grpSp>
      <p:grpSp>
        <p:nvGrpSpPr>
          <p:cNvPr id="11" name="Group 10">
            <a:extLst>
              <a:ext uri="{FF2B5EF4-FFF2-40B4-BE49-F238E27FC236}">
                <a16:creationId xmlns:a16="http://schemas.microsoft.com/office/drawing/2014/main" id="{6121F045-6EE4-4857-9388-61FF75D0A788}"/>
              </a:ext>
            </a:extLst>
          </p:cNvPr>
          <p:cNvGrpSpPr/>
          <p:nvPr/>
        </p:nvGrpSpPr>
        <p:grpSpPr>
          <a:xfrm>
            <a:off x="3363099" y="1175778"/>
            <a:ext cx="956672" cy="887851"/>
            <a:chOff x="3394755" y="1328537"/>
            <a:chExt cx="956672" cy="887851"/>
          </a:xfrm>
        </p:grpSpPr>
        <p:grpSp>
          <p:nvGrpSpPr>
            <p:cNvPr id="8" name="Group 7">
              <a:extLst>
                <a:ext uri="{FF2B5EF4-FFF2-40B4-BE49-F238E27FC236}">
                  <a16:creationId xmlns:a16="http://schemas.microsoft.com/office/drawing/2014/main" id="{DAF27073-C869-4D64-ADFF-4BC599EF56EE}"/>
                </a:ext>
              </a:extLst>
            </p:cNvPr>
            <p:cNvGrpSpPr/>
            <p:nvPr/>
          </p:nvGrpSpPr>
          <p:grpSpPr>
            <a:xfrm>
              <a:off x="3490606" y="1328537"/>
              <a:ext cx="763679" cy="698136"/>
              <a:chOff x="3583596" y="2595464"/>
              <a:chExt cx="1797425" cy="1643161"/>
            </a:xfrm>
          </p:grpSpPr>
          <p:pic>
            <p:nvPicPr>
              <p:cNvPr id="1028" name="Picture 4" descr="Related image">
                <a:extLst>
                  <a:ext uri="{FF2B5EF4-FFF2-40B4-BE49-F238E27FC236}">
                    <a16:creationId xmlns:a16="http://schemas.microsoft.com/office/drawing/2014/main" id="{2B5C4720-3684-4759-BE9B-D1CBB23CCA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2595464"/>
                <a:ext cx="1594833" cy="1643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rainger plc">
                <a:extLst>
                  <a:ext uri="{FF2B5EF4-FFF2-40B4-BE49-F238E27FC236}">
                    <a16:creationId xmlns:a16="http://schemas.microsoft.com/office/drawing/2014/main" id="{54FFAB99-3C85-4E12-B396-B2F29EBC62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596" y="2983424"/>
                <a:ext cx="790802" cy="15942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028D2EEA-B7D2-42A5-B8AF-9214FEE49C73}"/>
                </a:ext>
              </a:extLst>
            </p:cNvPr>
            <p:cNvSpPr txBox="1"/>
            <p:nvPr/>
          </p:nvSpPr>
          <p:spPr>
            <a:xfrm>
              <a:off x="3394755" y="1970167"/>
              <a:ext cx="956672" cy="246221"/>
            </a:xfrm>
            <a:prstGeom prst="rect">
              <a:avLst/>
            </a:prstGeom>
            <a:noFill/>
          </p:spPr>
          <p:txBody>
            <a:bodyPr wrap="none" rtlCol="0">
              <a:spAutoFit/>
            </a:bodyPr>
            <a:lstStyle/>
            <a:p>
              <a:pPr algn="ctr"/>
              <a:r>
                <a:rPr lang="en-GB" sz="1000" spc="-60"/>
                <a:t>Grainger user</a:t>
              </a:r>
            </a:p>
          </p:txBody>
        </p:sp>
      </p:grpSp>
      <p:sp>
        <p:nvSpPr>
          <p:cNvPr id="17" name="Rectangle: Rounded Corners 16">
            <a:extLst>
              <a:ext uri="{FF2B5EF4-FFF2-40B4-BE49-F238E27FC236}">
                <a16:creationId xmlns:a16="http://schemas.microsoft.com/office/drawing/2014/main" id="{39F88972-C224-46CD-90FC-130DA7DCA100}"/>
              </a:ext>
            </a:extLst>
          </p:cNvPr>
          <p:cNvSpPr/>
          <p:nvPr/>
        </p:nvSpPr>
        <p:spPr>
          <a:xfrm>
            <a:off x="358773" y="2160418"/>
            <a:ext cx="1231487" cy="506163"/>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Aft>
                <a:spcPts val="600"/>
              </a:spcAft>
            </a:pPr>
            <a:r>
              <a:rPr lang="en-GB" sz="1200" b="1">
                <a:latin typeface="+mj-lt"/>
              </a:rPr>
              <a:t>Register &amp; book viewing</a:t>
            </a:r>
          </a:p>
        </p:txBody>
      </p:sp>
      <p:sp>
        <p:nvSpPr>
          <p:cNvPr id="34" name="Rectangle: Rounded Corners 33">
            <a:extLst>
              <a:ext uri="{FF2B5EF4-FFF2-40B4-BE49-F238E27FC236}">
                <a16:creationId xmlns:a16="http://schemas.microsoft.com/office/drawing/2014/main" id="{E4A15AA2-33D4-47C6-99E8-0B5A8F13E9F6}"/>
              </a:ext>
            </a:extLst>
          </p:cNvPr>
          <p:cNvSpPr/>
          <p:nvPr/>
        </p:nvSpPr>
        <p:spPr>
          <a:xfrm>
            <a:off x="358773" y="2823786"/>
            <a:ext cx="1231487" cy="78443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Build offer &amp; pay advance</a:t>
            </a:r>
          </a:p>
        </p:txBody>
      </p:sp>
      <p:sp>
        <p:nvSpPr>
          <p:cNvPr id="35" name="Rectangle: Rounded Corners 34">
            <a:extLst>
              <a:ext uri="{FF2B5EF4-FFF2-40B4-BE49-F238E27FC236}">
                <a16:creationId xmlns:a16="http://schemas.microsoft.com/office/drawing/2014/main" id="{EB95145D-5625-4E5C-9738-B12BED2A8D21}"/>
              </a:ext>
            </a:extLst>
          </p:cNvPr>
          <p:cNvSpPr/>
          <p:nvPr/>
        </p:nvSpPr>
        <p:spPr>
          <a:xfrm>
            <a:off x="358774" y="5334777"/>
            <a:ext cx="1231487" cy="924957"/>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Move-in / Move-out / Voids</a:t>
            </a:r>
          </a:p>
        </p:txBody>
      </p:sp>
      <p:sp>
        <p:nvSpPr>
          <p:cNvPr id="36" name="Rectangle: Rounded Corners 35">
            <a:extLst>
              <a:ext uri="{FF2B5EF4-FFF2-40B4-BE49-F238E27FC236}">
                <a16:creationId xmlns:a16="http://schemas.microsoft.com/office/drawing/2014/main" id="{765AAE3B-3B7F-4B73-8E53-363674E0274A}"/>
              </a:ext>
            </a:extLst>
          </p:cNvPr>
          <p:cNvSpPr/>
          <p:nvPr/>
        </p:nvSpPr>
        <p:spPr>
          <a:xfrm>
            <a:off x="358773" y="3595207"/>
            <a:ext cx="1231487" cy="769958"/>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Referencing &amp; tenancy signature</a:t>
            </a:r>
          </a:p>
        </p:txBody>
      </p:sp>
      <p:sp>
        <p:nvSpPr>
          <p:cNvPr id="37" name="Rectangle: Rounded Corners 36">
            <a:extLst>
              <a:ext uri="{FF2B5EF4-FFF2-40B4-BE49-F238E27FC236}">
                <a16:creationId xmlns:a16="http://schemas.microsoft.com/office/drawing/2014/main" id="{EF895177-FA4B-452A-B69F-F563874DFADA}"/>
              </a:ext>
            </a:extLst>
          </p:cNvPr>
          <p:cNvSpPr/>
          <p:nvPr/>
        </p:nvSpPr>
        <p:spPr>
          <a:xfrm>
            <a:off x="358773" y="4493719"/>
            <a:ext cx="1231487" cy="7112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Renewals &amp; tenancy changes</a:t>
            </a:r>
          </a:p>
        </p:txBody>
      </p:sp>
      <p:cxnSp>
        <p:nvCxnSpPr>
          <p:cNvPr id="38" name="Straight Connector 37">
            <a:extLst>
              <a:ext uri="{FF2B5EF4-FFF2-40B4-BE49-F238E27FC236}">
                <a16:creationId xmlns:a16="http://schemas.microsoft.com/office/drawing/2014/main" id="{E4020A13-93E1-4EF1-BB53-D6BB92557520}"/>
              </a:ext>
            </a:extLst>
          </p:cNvPr>
          <p:cNvCxnSpPr>
            <a:cxnSpLocks/>
          </p:cNvCxnSpPr>
          <p:nvPr/>
        </p:nvCxnSpPr>
        <p:spPr>
          <a:xfrm>
            <a:off x="358773" y="5271030"/>
            <a:ext cx="8434051" cy="6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53DB7D0-E1CB-41AE-A41E-31AAC2D629C7}"/>
              </a:ext>
            </a:extLst>
          </p:cNvPr>
          <p:cNvCxnSpPr>
            <a:cxnSpLocks/>
          </p:cNvCxnSpPr>
          <p:nvPr/>
        </p:nvCxnSpPr>
        <p:spPr>
          <a:xfrm>
            <a:off x="358773" y="2088847"/>
            <a:ext cx="8434051" cy="729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1E18326-3A10-4302-AD41-768380C578DE}"/>
              </a:ext>
            </a:extLst>
          </p:cNvPr>
          <p:cNvCxnSpPr>
            <a:cxnSpLocks/>
          </p:cNvCxnSpPr>
          <p:nvPr/>
        </p:nvCxnSpPr>
        <p:spPr>
          <a:xfrm>
            <a:off x="358773" y="2732692"/>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106362-09F5-482D-A210-57846B1A88DE}"/>
              </a:ext>
            </a:extLst>
          </p:cNvPr>
          <p:cNvCxnSpPr>
            <a:cxnSpLocks/>
          </p:cNvCxnSpPr>
          <p:nvPr/>
        </p:nvCxnSpPr>
        <p:spPr>
          <a:xfrm>
            <a:off x="1590260" y="3595207"/>
            <a:ext cx="7202564"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3E9C540-4B95-4E47-80F3-236A566B4453}"/>
              </a:ext>
            </a:extLst>
          </p:cNvPr>
          <p:cNvCxnSpPr>
            <a:cxnSpLocks/>
          </p:cNvCxnSpPr>
          <p:nvPr/>
        </p:nvCxnSpPr>
        <p:spPr>
          <a:xfrm>
            <a:off x="358773" y="6332362"/>
            <a:ext cx="8434051" cy="623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8270735-EC7E-4275-8FA1-7467D68E67DC}"/>
              </a:ext>
            </a:extLst>
          </p:cNvPr>
          <p:cNvCxnSpPr>
            <a:cxnSpLocks/>
          </p:cNvCxnSpPr>
          <p:nvPr/>
        </p:nvCxnSpPr>
        <p:spPr>
          <a:xfrm>
            <a:off x="358773" y="4425852"/>
            <a:ext cx="8434051" cy="96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ACF16351-CAFB-4E59-BDE7-55C7E775B2EF}"/>
              </a:ext>
            </a:extLst>
          </p:cNvPr>
          <p:cNvSpPr/>
          <p:nvPr/>
        </p:nvSpPr>
        <p:spPr>
          <a:xfrm>
            <a:off x="7375326" y="5406678"/>
            <a:ext cx="1409897" cy="9319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all move out / move in tasks (reports, (inspections, inventory)</a:t>
            </a:r>
          </a:p>
          <a:p>
            <a:pPr marL="87313" indent="-87313">
              <a:spcAft>
                <a:spcPts val="400"/>
              </a:spcAft>
              <a:buFontTx/>
              <a:buChar char="-"/>
            </a:pPr>
            <a:r>
              <a:rPr lang="en-GB" sz="800">
                <a:solidFill>
                  <a:schemeClr val="tx1"/>
                </a:solidFill>
                <a:latin typeface="Montserrat" panose="00000500000000000000" pitchFamily="50" charset="0"/>
              </a:rPr>
              <a:t>Manages works and </a:t>
            </a:r>
            <a:r>
              <a:rPr lang="en-GB" sz="800" err="1">
                <a:solidFill>
                  <a:schemeClr val="tx1"/>
                </a:solidFill>
                <a:latin typeface="Montserrat" panose="00000500000000000000" pitchFamily="50" charset="0"/>
              </a:rPr>
              <a:t>wishlist</a:t>
            </a:r>
            <a:r>
              <a:rPr lang="en-GB" sz="800">
                <a:solidFill>
                  <a:schemeClr val="tx1"/>
                </a:solidFill>
                <a:latin typeface="Montserrat" panose="00000500000000000000" pitchFamily="50" charset="0"/>
              </a:rPr>
              <a:t> to get unit ready</a:t>
            </a:r>
          </a:p>
        </p:txBody>
      </p:sp>
      <p:sp>
        <p:nvSpPr>
          <p:cNvPr id="18" name="Rectangle 17">
            <a:extLst>
              <a:ext uri="{FF2B5EF4-FFF2-40B4-BE49-F238E27FC236}">
                <a16:creationId xmlns:a16="http://schemas.microsoft.com/office/drawing/2014/main" id="{BEB13436-EC24-4BA8-BDDB-8434265F4F13}"/>
              </a:ext>
            </a:extLst>
          </p:cNvPr>
          <p:cNvSpPr/>
          <p:nvPr/>
        </p:nvSpPr>
        <p:spPr>
          <a:xfrm>
            <a:off x="1686158" y="2102914"/>
            <a:ext cx="1409898" cy="629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Registers interest online from number of sources</a:t>
            </a:r>
          </a:p>
          <a:p>
            <a:pPr marL="87313" indent="-87313">
              <a:spcAft>
                <a:spcPts val="400"/>
              </a:spcAft>
              <a:buFontTx/>
              <a:buChar char="-"/>
            </a:pPr>
            <a:r>
              <a:rPr lang="en-GB" sz="800">
                <a:solidFill>
                  <a:schemeClr val="tx1"/>
                </a:solidFill>
                <a:latin typeface="Montserrat" panose="00000500000000000000" pitchFamily="50" charset="0"/>
              </a:rPr>
              <a:t>Requests viewing &amp; provide feedback</a:t>
            </a:r>
          </a:p>
        </p:txBody>
      </p:sp>
      <p:sp>
        <p:nvSpPr>
          <p:cNvPr id="41" name="Rectangle 40">
            <a:extLst>
              <a:ext uri="{FF2B5EF4-FFF2-40B4-BE49-F238E27FC236}">
                <a16:creationId xmlns:a16="http://schemas.microsoft.com/office/drawing/2014/main" id="{878C018B-C42A-4986-B3BC-9D035266408B}"/>
              </a:ext>
            </a:extLst>
          </p:cNvPr>
          <p:cNvSpPr/>
          <p:nvPr/>
        </p:nvSpPr>
        <p:spPr>
          <a:xfrm>
            <a:off x="3108451" y="2102915"/>
            <a:ext cx="1409898" cy="63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Pre-qualification &amp; R2R</a:t>
            </a:r>
          </a:p>
          <a:p>
            <a:pPr marL="87313" indent="-87313">
              <a:spcAft>
                <a:spcPts val="400"/>
              </a:spcAft>
              <a:buFontTx/>
              <a:buChar char="-"/>
            </a:pPr>
            <a:r>
              <a:rPr lang="en-GB" sz="800">
                <a:solidFill>
                  <a:schemeClr val="tx1"/>
                </a:solidFill>
                <a:latin typeface="Montserrat" panose="00000500000000000000" pitchFamily="50" charset="0"/>
              </a:rPr>
              <a:t>Book / manage viewings</a:t>
            </a:r>
          </a:p>
          <a:p>
            <a:pPr marL="87313" indent="-87313">
              <a:spcAft>
                <a:spcPts val="400"/>
              </a:spcAft>
              <a:buFontTx/>
              <a:buChar char="-"/>
            </a:pPr>
            <a:r>
              <a:rPr lang="en-GB" sz="800">
                <a:solidFill>
                  <a:schemeClr val="tx1"/>
                </a:solidFill>
                <a:latin typeface="Montserrat" panose="00000500000000000000" pitchFamily="50" charset="0"/>
              </a:rPr>
              <a:t>Capture feedback</a:t>
            </a:r>
          </a:p>
        </p:txBody>
      </p:sp>
      <p:sp>
        <p:nvSpPr>
          <p:cNvPr id="42" name="Rectangle 41">
            <a:extLst>
              <a:ext uri="{FF2B5EF4-FFF2-40B4-BE49-F238E27FC236}">
                <a16:creationId xmlns:a16="http://schemas.microsoft.com/office/drawing/2014/main" id="{1EFF5ADB-7878-4E81-854A-6BD1E528F952}"/>
              </a:ext>
            </a:extLst>
          </p:cNvPr>
          <p:cNvSpPr/>
          <p:nvPr/>
        </p:nvSpPr>
        <p:spPr>
          <a:xfrm>
            <a:off x="4530742" y="2102914"/>
            <a:ext cx="1577579" cy="838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endParaRPr lang="en-GB" sz="800">
              <a:solidFill>
                <a:srgbClr val="FF0000"/>
              </a:solidFill>
            </a:endParaRPr>
          </a:p>
        </p:txBody>
      </p:sp>
      <p:sp>
        <p:nvSpPr>
          <p:cNvPr id="43" name="Rectangle 42">
            <a:extLst>
              <a:ext uri="{FF2B5EF4-FFF2-40B4-BE49-F238E27FC236}">
                <a16:creationId xmlns:a16="http://schemas.microsoft.com/office/drawing/2014/main" id="{FDA32447-0F01-43AE-967B-324FB9106A6F}"/>
              </a:ext>
            </a:extLst>
          </p:cNvPr>
          <p:cNvSpPr/>
          <p:nvPr/>
        </p:nvSpPr>
        <p:spPr>
          <a:xfrm>
            <a:off x="4537326" y="2101032"/>
            <a:ext cx="1577579" cy="6339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prospect account &amp; preferences</a:t>
            </a:r>
          </a:p>
          <a:p>
            <a:pPr marL="87313" indent="-87313">
              <a:spcAft>
                <a:spcPts val="400"/>
              </a:spcAft>
              <a:buFontTx/>
              <a:buChar char="-"/>
            </a:pPr>
            <a:r>
              <a:rPr lang="en-GB" sz="800">
                <a:solidFill>
                  <a:schemeClr val="tx1"/>
                </a:solidFill>
                <a:latin typeface="Montserrat" panose="00000500000000000000" pitchFamily="50" charset="0"/>
              </a:rPr>
              <a:t>Customer comms</a:t>
            </a:r>
          </a:p>
        </p:txBody>
      </p:sp>
      <p:sp>
        <p:nvSpPr>
          <p:cNvPr id="44" name="Rectangle 43">
            <a:extLst>
              <a:ext uri="{FF2B5EF4-FFF2-40B4-BE49-F238E27FC236}">
                <a16:creationId xmlns:a16="http://schemas.microsoft.com/office/drawing/2014/main" id="{C73725E3-3670-456A-A8DC-E662CB1E0068}"/>
              </a:ext>
            </a:extLst>
          </p:cNvPr>
          <p:cNvSpPr/>
          <p:nvPr/>
        </p:nvSpPr>
        <p:spPr>
          <a:xfrm>
            <a:off x="7375327" y="2102914"/>
            <a:ext cx="1409898" cy="6339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endParaRPr lang="en-GB" sz="800">
              <a:solidFill>
                <a:srgbClr val="FF0000"/>
              </a:solidFill>
            </a:endParaRPr>
          </a:p>
        </p:txBody>
      </p:sp>
      <p:sp>
        <p:nvSpPr>
          <p:cNvPr id="54" name="Rectangle 53">
            <a:extLst>
              <a:ext uri="{FF2B5EF4-FFF2-40B4-BE49-F238E27FC236}">
                <a16:creationId xmlns:a16="http://schemas.microsoft.com/office/drawing/2014/main" id="{6454837F-D863-4821-A009-2CAC65CC5C3A}"/>
              </a:ext>
            </a:extLst>
          </p:cNvPr>
          <p:cNvSpPr/>
          <p:nvPr/>
        </p:nvSpPr>
        <p:spPr>
          <a:xfrm>
            <a:off x="1686158" y="2745073"/>
            <a:ext cx="1409898" cy="833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Selects offer, terms and fulfils application</a:t>
            </a:r>
          </a:p>
          <a:p>
            <a:pPr marL="87313" indent="-87313">
              <a:spcAft>
                <a:spcPts val="400"/>
              </a:spcAft>
              <a:buFontTx/>
              <a:buChar char="-"/>
            </a:pPr>
            <a:r>
              <a:rPr lang="en-GB" sz="800">
                <a:solidFill>
                  <a:schemeClr val="tx1"/>
                </a:solidFill>
                <a:latin typeface="Montserrat" panose="00000500000000000000" pitchFamily="50" charset="0"/>
              </a:rPr>
              <a:t>Requests parking license and ‘wish list’</a:t>
            </a:r>
          </a:p>
          <a:p>
            <a:pPr marL="87313" indent="-87313">
              <a:spcAft>
                <a:spcPts val="400"/>
              </a:spcAft>
              <a:buFontTx/>
              <a:buChar char="-"/>
            </a:pPr>
            <a:r>
              <a:rPr lang="en-GB" sz="800">
                <a:solidFill>
                  <a:schemeClr val="tx1"/>
                </a:solidFill>
                <a:latin typeface="Montserrat" panose="00000500000000000000" pitchFamily="50" charset="0"/>
              </a:rPr>
              <a:t>Pays advance</a:t>
            </a:r>
          </a:p>
        </p:txBody>
      </p:sp>
      <p:sp>
        <p:nvSpPr>
          <p:cNvPr id="55" name="Rectangle 54">
            <a:extLst>
              <a:ext uri="{FF2B5EF4-FFF2-40B4-BE49-F238E27FC236}">
                <a16:creationId xmlns:a16="http://schemas.microsoft.com/office/drawing/2014/main" id="{19C72B7C-CDBC-4969-8944-C7D25FD4B6C9}"/>
              </a:ext>
            </a:extLst>
          </p:cNvPr>
          <p:cNvSpPr/>
          <p:nvPr/>
        </p:nvSpPr>
        <p:spPr>
          <a:xfrm>
            <a:off x="3108451" y="2745073"/>
            <a:ext cx="1409898" cy="83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Builds and sends offers (unit, price, length, uplift)</a:t>
            </a:r>
          </a:p>
          <a:p>
            <a:pPr marL="87313" indent="-87313">
              <a:spcAft>
                <a:spcPts val="400"/>
              </a:spcAft>
              <a:buFontTx/>
              <a:buChar char="-"/>
            </a:pPr>
            <a:r>
              <a:rPr lang="en-GB" sz="800">
                <a:solidFill>
                  <a:schemeClr val="tx1"/>
                </a:solidFill>
                <a:latin typeface="Montserrat" panose="00000500000000000000" pitchFamily="50" charset="0"/>
              </a:rPr>
              <a:t>Creates opportunity and captures requests</a:t>
            </a:r>
          </a:p>
        </p:txBody>
      </p:sp>
      <p:sp>
        <p:nvSpPr>
          <p:cNvPr id="56" name="Rectangle 55">
            <a:extLst>
              <a:ext uri="{FF2B5EF4-FFF2-40B4-BE49-F238E27FC236}">
                <a16:creationId xmlns:a16="http://schemas.microsoft.com/office/drawing/2014/main" id="{182FA9C0-619F-4A41-8352-F66FDAC2359D}"/>
              </a:ext>
            </a:extLst>
          </p:cNvPr>
          <p:cNvSpPr/>
          <p:nvPr/>
        </p:nvSpPr>
        <p:spPr>
          <a:xfrm>
            <a:off x="6122504" y="2740739"/>
            <a:ext cx="1246238" cy="838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applicant ‘guest card’</a:t>
            </a:r>
          </a:p>
          <a:p>
            <a:pPr marL="87313" indent="-87313">
              <a:spcAft>
                <a:spcPts val="400"/>
              </a:spcAft>
              <a:buFontTx/>
              <a:buChar char="-"/>
            </a:pPr>
            <a:r>
              <a:rPr lang="en-GB" sz="800">
                <a:solidFill>
                  <a:schemeClr val="tx1"/>
                </a:solidFill>
                <a:latin typeface="Montserrat" panose="00000500000000000000" pitchFamily="50" charset="0"/>
              </a:rPr>
              <a:t>Allocates advance payment</a:t>
            </a:r>
          </a:p>
        </p:txBody>
      </p:sp>
      <p:sp>
        <p:nvSpPr>
          <p:cNvPr id="57" name="Rectangle 56">
            <a:extLst>
              <a:ext uri="{FF2B5EF4-FFF2-40B4-BE49-F238E27FC236}">
                <a16:creationId xmlns:a16="http://schemas.microsoft.com/office/drawing/2014/main" id="{C7DC8811-7032-4AF8-B20B-558B22A7E56F}"/>
              </a:ext>
            </a:extLst>
          </p:cNvPr>
          <p:cNvSpPr/>
          <p:nvPr/>
        </p:nvSpPr>
        <p:spPr>
          <a:xfrm>
            <a:off x="4537326" y="2743191"/>
            <a:ext cx="1577579" cy="839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opportunities with multiple sharers and related items e.g. parking</a:t>
            </a:r>
          </a:p>
          <a:p>
            <a:pPr marL="87313" indent="-87313">
              <a:spcAft>
                <a:spcPts val="400"/>
              </a:spcAft>
              <a:buFontTx/>
              <a:buChar char="-"/>
            </a:pPr>
            <a:r>
              <a:rPr lang="en-GB" sz="800">
                <a:solidFill>
                  <a:schemeClr val="tx1"/>
                </a:solidFill>
                <a:latin typeface="Montserrat" panose="00000500000000000000" pitchFamily="50" charset="0"/>
              </a:rPr>
              <a:t>Calculates all payments due; takes advance payment (time bound)</a:t>
            </a:r>
          </a:p>
        </p:txBody>
      </p:sp>
      <p:sp>
        <p:nvSpPr>
          <p:cNvPr id="58" name="Rectangle 57">
            <a:extLst>
              <a:ext uri="{FF2B5EF4-FFF2-40B4-BE49-F238E27FC236}">
                <a16:creationId xmlns:a16="http://schemas.microsoft.com/office/drawing/2014/main" id="{786191EF-A61B-4D03-BF4D-E18368142D34}"/>
              </a:ext>
            </a:extLst>
          </p:cNvPr>
          <p:cNvSpPr/>
          <p:nvPr/>
        </p:nvSpPr>
        <p:spPr>
          <a:xfrm>
            <a:off x="7480055" y="2990878"/>
            <a:ext cx="1305170" cy="357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Provides pricing input</a:t>
            </a:r>
          </a:p>
        </p:txBody>
      </p:sp>
      <p:sp>
        <p:nvSpPr>
          <p:cNvPr id="60" name="Rectangle 59">
            <a:extLst>
              <a:ext uri="{FF2B5EF4-FFF2-40B4-BE49-F238E27FC236}">
                <a16:creationId xmlns:a16="http://schemas.microsoft.com/office/drawing/2014/main" id="{5C84E2F5-46E1-4B6A-8910-91789CC2B951}"/>
              </a:ext>
            </a:extLst>
          </p:cNvPr>
          <p:cNvSpPr/>
          <p:nvPr/>
        </p:nvSpPr>
        <p:spPr>
          <a:xfrm>
            <a:off x="1686158" y="5276101"/>
            <a:ext cx="1409898" cy="4942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Notice to vacate</a:t>
            </a:r>
          </a:p>
          <a:p>
            <a:pPr marL="87313" indent="-87313">
              <a:spcAft>
                <a:spcPts val="400"/>
              </a:spcAft>
              <a:buFontTx/>
              <a:buChar char="-"/>
            </a:pPr>
            <a:r>
              <a:rPr lang="en-GB" sz="800">
                <a:solidFill>
                  <a:schemeClr val="tx1"/>
                </a:solidFill>
                <a:latin typeface="Montserrat" panose="00000500000000000000" pitchFamily="50" charset="0"/>
              </a:rPr>
              <a:t>Fills exit survey</a:t>
            </a:r>
          </a:p>
        </p:txBody>
      </p:sp>
      <p:sp>
        <p:nvSpPr>
          <p:cNvPr id="61" name="Rectangle 60">
            <a:extLst>
              <a:ext uri="{FF2B5EF4-FFF2-40B4-BE49-F238E27FC236}">
                <a16:creationId xmlns:a16="http://schemas.microsoft.com/office/drawing/2014/main" id="{1D23386B-16B3-4CC6-ADEF-1DC274EBF91A}"/>
              </a:ext>
            </a:extLst>
          </p:cNvPr>
          <p:cNvSpPr/>
          <p:nvPr/>
        </p:nvSpPr>
        <p:spPr>
          <a:xfrm>
            <a:off x="3108451" y="5276101"/>
            <a:ext cx="1409898" cy="106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Executes inspections, reports</a:t>
            </a:r>
          </a:p>
          <a:p>
            <a:pPr marL="87313" indent="-87313">
              <a:spcAft>
                <a:spcPts val="400"/>
              </a:spcAft>
              <a:buFontTx/>
              <a:buChar char="-"/>
            </a:pPr>
            <a:r>
              <a:rPr lang="en-GB" sz="800">
                <a:solidFill>
                  <a:schemeClr val="tx1"/>
                </a:solidFill>
                <a:latin typeface="Montserrat" panose="00000500000000000000" pitchFamily="50" charset="0"/>
              </a:rPr>
              <a:t>Decides deposit return</a:t>
            </a:r>
          </a:p>
          <a:p>
            <a:pPr marL="87313" indent="-87313">
              <a:spcAft>
                <a:spcPts val="400"/>
              </a:spcAft>
              <a:buFontTx/>
              <a:buChar char="-"/>
            </a:pPr>
            <a:r>
              <a:rPr lang="en-GB" sz="800">
                <a:solidFill>
                  <a:schemeClr val="tx1"/>
                </a:solidFill>
                <a:latin typeface="Montserrat" panose="00000500000000000000" pitchFamily="50" charset="0"/>
              </a:rPr>
              <a:t>Confirms move dates</a:t>
            </a:r>
          </a:p>
          <a:p>
            <a:pPr marL="87313" indent="-87313">
              <a:spcAft>
                <a:spcPts val="400"/>
              </a:spcAft>
              <a:buFontTx/>
              <a:buChar char="-"/>
            </a:pPr>
            <a:r>
              <a:rPr lang="en-GB" sz="800">
                <a:solidFill>
                  <a:schemeClr val="tx1"/>
                </a:solidFill>
                <a:latin typeface="Montserrat" panose="00000500000000000000" pitchFamily="50" charset="0"/>
              </a:rPr>
              <a:t>Issues welcome pack</a:t>
            </a:r>
          </a:p>
          <a:p>
            <a:pPr marL="87313" indent="-87313">
              <a:spcAft>
                <a:spcPts val="400"/>
              </a:spcAft>
              <a:buFontTx/>
              <a:buChar char="-"/>
            </a:pPr>
            <a:r>
              <a:rPr lang="en-GB" sz="800">
                <a:solidFill>
                  <a:schemeClr val="tx1"/>
                </a:solidFill>
                <a:latin typeface="Montserrat" panose="00000500000000000000" pitchFamily="50" charset="0"/>
              </a:rPr>
              <a:t>Onboards customer</a:t>
            </a:r>
          </a:p>
        </p:txBody>
      </p:sp>
      <p:sp>
        <p:nvSpPr>
          <p:cNvPr id="62" name="Rectangle 61">
            <a:extLst>
              <a:ext uri="{FF2B5EF4-FFF2-40B4-BE49-F238E27FC236}">
                <a16:creationId xmlns:a16="http://schemas.microsoft.com/office/drawing/2014/main" id="{FE2C506C-F60E-45C8-9403-F3CA9F0C13DF}"/>
              </a:ext>
            </a:extLst>
          </p:cNvPr>
          <p:cNvSpPr/>
          <p:nvPr/>
        </p:nvSpPr>
        <p:spPr>
          <a:xfrm>
            <a:off x="6122504" y="5271767"/>
            <a:ext cx="1246238" cy="106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Holds move in/ out dates &amp; unit statuses</a:t>
            </a:r>
          </a:p>
          <a:p>
            <a:pPr marL="87313" indent="-87313">
              <a:spcAft>
                <a:spcPts val="400"/>
              </a:spcAft>
              <a:buFontTx/>
              <a:buChar char="-"/>
            </a:pPr>
            <a:r>
              <a:rPr lang="en-GB" sz="800">
                <a:solidFill>
                  <a:schemeClr val="tx1"/>
                </a:solidFill>
                <a:latin typeface="Montserrat" panose="00000500000000000000" pitchFamily="50" charset="0"/>
              </a:rPr>
              <a:t>Returns deposits</a:t>
            </a:r>
          </a:p>
        </p:txBody>
      </p:sp>
      <p:sp>
        <p:nvSpPr>
          <p:cNvPr id="63" name="Rectangle 62">
            <a:extLst>
              <a:ext uri="{FF2B5EF4-FFF2-40B4-BE49-F238E27FC236}">
                <a16:creationId xmlns:a16="http://schemas.microsoft.com/office/drawing/2014/main" id="{7FA5A78E-13AB-4EE7-B925-CA5B011D7D83}"/>
              </a:ext>
            </a:extLst>
          </p:cNvPr>
          <p:cNvSpPr/>
          <p:nvPr/>
        </p:nvSpPr>
        <p:spPr>
          <a:xfrm>
            <a:off x="4537326" y="5274219"/>
            <a:ext cx="1577579" cy="1062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lettings / viewings in parallel with move-out</a:t>
            </a:r>
          </a:p>
          <a:p>
            <a:pPr marL="87313" indent="-87313">
              <a:spcAft>
                <a:spcPts val="400"/>
              </a:spcAft>
              <a:buFontTx/>
              <a:buChar char="-"/>
            </a:pPr>
            <a:r>
              <a:rPr lang="en-GB" sz="800">
                <a:solidFill>
                  <a:schemeClr val="tx1"/>
                </a:solidFill>
                <a:latin typeface="Montserrat" panose="00000500000000000000" pitchFamily="50" charset="0"/>
              </a:rPr>
              <a:t>Notifies PM of advance payment to trigger move-in</a:t>
            </a:r>
          </a:p>
        </p:txBody>
      </p:sp>
      <p:sp>
        <p:nvSpPr>
          <p:cNvPr id="66" name="Rectangle 65">
            <a:extLst>
              <a:ext uri="{FF2B5EF4-FFF2-40B4-BE49-F238E27FC236}">
                <a16:creationId xmlns:a16="http://schemas.microsoft.com/office/drawing/2014/main" id="{B5598C04-AB3A-4EB6-8C02-F9E277DE0143}"/>
              </a:ext>
            </a:extLst>
          </p:cNvPr>
          <p:cNvSpPr/>
          <p:nvPr/>
        </p:nvSpPr>
        <p:spPr>
          <a:xfrm>
            <a:off x="1686157" y="3601904"/>
            <a:ext cx="1409898" cy="833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All tenants / guarantors inputs into referencing</a:t>
            </a:r>
          </a:p>
          <a:p>
            <a:pPr marL="87313" indent="-87313">
              <a:spcAft>
                <a:spcPts val="400"/>
              </a:spcAft>
              <a:buFontTx/>
              <a:buChar char="-"/>
            </a:pPr>
            <a:r>
              <a:rPr lang="en-GB" sz="800">
                <a:solidFill>
                  <a:schemeClr val="tx1"/>
                </a:solidFill>
                <a:latin typeface="Montserrat" panose="00000500000000000000" pitchFamily="50" charset="0"/>
              </a:rPr>
              <a:t>Pays deposit &amp; first rent</a:t>
            </a:r>
          </a:p>
          <a:p>
            <a:pPr marL="87313" indent="-87313">
              <a:spcAft>
                <a:spcPts val="400"/>
              </a:spcAft>
              <a:buFontTx/>
              <a:buChar char="-"/>
            </a:pPr>
            <a:r>
              <a:rPr lang="en-GB" sz="800">
                <a:solidFill>
                  <a:schemeClr val="tx1"/>
                </a:solidFill>
                <a:latin typeface="Montserrat" panose="00000500000000000000" pitchFamily="50" charset="0"/>
              </a:rPr>
              <a:t>Signs tenancy digitally</a:t>
            </a:r>
          </a:p>
          <a:p>
            <a:pPr marL="87313" indent="-87313">
              <a:spcAft>
                <a:spcPts val="400"/>
              </a:spcAft>
              <a:buFontTx/>
              <a:buChar char="-"/>
            </a:pPr>
            <a:r>
              <a:rPr lang="en-GB" sz="800">
                <a:solidFill>
                  <a:schemeClr val="tx1"/>
                </a:solidFill>
                <a:latin typeface="Montserrat" panose="00000500000000000000" pitchFamily="50" charset="0"/>
              </a:rPr>
              <a:t>Setup DD instructions</a:t>
            </a:r>
          </a:p>
        </p:txBody>
      </p:sp>
      <p:sp>
        <p:nvSpPr>
          <p:cNvPr id="67" name="Rectangle 66">
            <a:extLst>
              <a:ext uri="{FF2B5EF4-FFF2-40B4-BE49-F238E27FC236}">
                <a16:creationId xmlns:a16="http://schemas.microsoft.com/office/drawing/2014/main" id="{1842E92F-4D4B-4C7F-910B-580B3786F4BA}"/>
              </a:ext>
            </a:extLst>
          </p:cNvPr>
          <p:cNvSpPr/>
          <p:nvPr/>
        </p:nvSpPr>
        <p:spPr>
          <a:xfrm>
            <a:off x="3108451" y="3601904"/>
            <a:ext cx="1409898" cy="83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Handles changes to applicants / guarantors</a:t>
            </a:r>
          </a:p>
          <a:p>
            <a:pPr marL="87313" indent="-87313">
              <a:spcAft>
                <a:spcPts val="400"/>
              </a:spcAft>
              <a:buFontTx/>
              <a:buChar char="-"/>
            </a:pPr>
            <a:r>
              <a:rPr lang="en-GB" sz="800">
                <a:solidFill>
                  <a:schemeClr val="tx1"/>
                </a:solidFill>
                <a:latin typeface="Montserrat" panose="00000500000000000000" pitchFamily="50" charset="0"/>
              </a:rPr>
              <a:t>Approves application</a:t>
            </a:r>
          </a:p>
          <a:p>
            <a:pPr marL="87313" indent="-87313">
              <a:spcAft>
                <a:spcPts val="400"/>
              </a:spcAft>
              <a:buFontTx/>
              <a:buChar char="-"/>
            </a:pPr>
            <a:r>
              <a:rPr lang="en-GB" sz="800">
                <a:solidFill>
                  <a:schemeClr val="tx1"/>
                </a:solidFill>
                <a:latin typeface="Montserrat" panose="00000500000000000000" pitchFamily="50" charset="0"/>
              </a:rPr>
              <a:t>Follows up referencing, payments, signature</a:t>
            </a:r>
          </a:p>
        </p:txBody>
      </p:sp>
      <p:sp>
        <p:nvSpPr>
          <p:cNvPr id="68" name="Rectangle 67">
            <a:extLst>
              <a:ext uri="{FF2B5EF4-FFF2-40B4-BE49-F238E27FC236}">
                <a16:creationId xmlns:a16="http://schemas.microsoft.com/office/drawing/2014/main" id="{1C8A176D-4F84-40C1-9EF2-234BF822F112}"/>
              </a:ext>
            </a:extLst>
          </p:cNvPr>
          <p:cNvSpPr/>
          <p:nvPr/>
        </p:nvSpPr>
        <p:spPr>
          <a:xfrm>
            <a:off x="6122504" y="3597570"/>
            <a:ext cx="1246238" cy="838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lease and accounts for sharers</a:t>
            </a:r>
          </a:p>
          <a:p>
            <a:pPr marL="87313" indent="-87313">
              <a:spcAft>
                <a:spcPts val="400"/>
              </a:spcAft>
              <a:buFontTx/>
              <a:buChar char="-"/>
            </a:pPr>
            <a:r>
              <a:rPr lang="en-GB" sz="800">
                <a:solidFill>
                  <a:schemeClr val="tx1"/>
                </a:solidFill>
                <a:latin typeface="Montserrat" panose="00000500000000000000" pitchFamily="50" charset="0"/>
              </a:rPr>
              <a:t>Registers deposit with TDS</a:t>
            </a:r>
          </a:p>
        </p:txBody>
      </p:sp>
      <p:sp>
        <p:nvSpPr>
          <p:cNvPr id="69" name="Rectangle 68">
            <a:extLst>
              <a:ext uri="{FF2B5EF4-FFF2-40B4-BE49-F238E27FC236}">
                <a16:creationId xmlns:a16="http://schemas.microsoft.com/office/drawing/2014/main" id="{A568926E-0FAB-427F-A2E8-0D56A3D2D311}"/>
              </a:ext>
            </a:extLst>
          </p:cNvPr>
          <p:cNvSpPr/>
          <p:nvPr/>
        </p:nvSpPr>
        <p:spPr>
          <a:xfrm>
            <a:off x="4537326" y="3600022"/>
            <a:ext cx="1577579" cy="839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300"/>
              </a:spcAft>
              <a:buFontTx/>
              <a:buChar char="-"/>
            </a:pPr>
            <a:r>
              <a:rPr lang="en-GB" sz="800">
                <a:solidFill>
                  <a:schemeClr val="tx1"/>
                </a:solidFill>
                <a:latin typeface="Montserrat" panose="00000500000000000000" pitchFamily="50" charset="0"/>
              </a:rPr>
              <a:t>Tracks referencing progress</a:t>
            </a:r>
          </a:p>
          <a:p>
            <a:pPr marL="87313" indent="-87313">
              <a:spcAft>
                <a:spcPts val="300"/>
              </a:spcAft>
              <a:buFontTx/>
              <a:buChar char="-"/>
            </a:pPr>
            <a:r>
              <a:rPr lang="en-GB" sz="800">
                <a:solidFill>
                  <a:schemeClr val="tx1"/>
                </a:solidFill>
                <a:latin typeface="Montserrat" panose="00000500000000000000" pitchFamily="50" charset="0"/>
              </a:rPr>
              <a:t>Take move-in monies</a:t>
            </a:r>
          </a:p>
          <a:p>
            <a:pPr marL="87313" indent="-87313">
              <a:spcAft>
                <a:spcPts val="300"/>
              </a:spcAft>
              <a:buFontTx/>
              <a:buChar char="-"/>
            </a:pPr>
            <a:r>
              <a:rPr lang="en-GB" sz="800">
                <a:solidFill>
                  <a:schemeClr val="tx1"/>
                </a:solidFill>
                <a:latin typeface="Montserrat" panose="00000500000000000000" pitchFamily="50" charset="0"/>
              </a:rPr>
              <a:t>Builds tenancy clauses</a:t>
            </a:r>
          </a:p>
          <a:p>
            <a:pPr marL="87313" indent="-87313">
              <a:spcAft>
                <a:spcPts val="300"/>
              </a:spcAft>
              <a:buFontTx/>
              <a:buChar char="-"/>
            </a:pPr>
            <a:r>
              <a:rPr lang="en-GB" sz="800">
                <a:solidFill>
                  <a:schemeClr val="tx1"/>
                </a:solidFill>
                <a:latin typeface="Montserrat" panose="00000500000000000000" pitchFamily="50" charset="0"/>
              </a:rPr>
              <a:t>Creates DD instructions</a:t>
            </a:r>
          </a:p>
          <a:p>
            <a:pPr marL="87313" indent="-87313">
              <a:spcAft>
                <a:spcPts val="300"/>
              </a:spcAft>
              <a:buFontTx/>
              <a:buChar char="-"/>
            </a:pPr>
            <a:r>
              <a:rPr lang="en-GB" sz="800">
                <a:solidFill>
                  <a:schemeClr val="tx1"/>
                </a:solidFill>
                <a:latin typeface="Montserrat" panose="00000500000000000000" pitchFamily="50" charset="0"/>
              </a:rPr>
              <a:t>Notifies TDS registration</a:t>
            </a:r>
          </a:p>
        </p:txBody>
      </p:sp>
      <p:sp>
        <p:nvSpPr>
          <p:cNvPr id="72" name="Rectangle 71">
            <a:extLst>
              <a:ext uri="{FF2B5EF4-FFF2-40B4-BE49-F238E27FC236}">
                <a16:creationId xmlns:a16="http://schemas.microsoft.com/office/drawing/2014/main" id="{A37790AE-F32B-422D-A4FD-6A466679B6E2}"/>
              </a:ext>
            </a:extLst>
          </p:cNvPr>
          <p:cNvSpPr/>
          <p:nvPr/>
        </p:nvSpPr>
        <p:spPr>
          <a:xfrm>
            <a:off x="1686158" y="4437408"/>
            <a:ext cx="1409898" cy="833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Requests changes to tenancy</a:t>
            </a:r>
          </a:p>
          <a:p>
            <a:pPr marL="87313" indent="-87313">
              <a:spcAft>
                <a:spcPts val="400"/>
              </a:spcAft>
              <a:buFontTx/>
              <a:buChar char="-"/>
            </a:pPr>
            <a:r>
              <a:rPr lang="en-GB" sz="800">
                <a:solidFill>
                  <a:schemeClr val="tx1"/>
                </a:solidFill>
                <a:latin typeface="Montserrat" panose="00000500000000000000" pitchFamily="50" charset="0"/>
              </a:rPr>
              <a:t>Renews tenancy online</a:t>
            </a:r>
          </a:p>
          <a:p>
            <a:pPr marL="87313" indent="-87313">
              <a:spcAft>
                <a:spcPts val="400"/>
              </a:spcAft>
              <a:buFontTx/>
              <a:buChar char="-"/>
            </a:pPr>
            <a:r>
              <a:rPr lang="en-GB" sz="800">
                <a:solidFill>
                  <a:schemeClr val="tx1"/>
                </a:solidFill>
                <a:latin typeface="Montserrat" panose="00000500000000000000" pitchFamily="50" charset="0"/>
              </a:rPr>
              <a:t>Refresh R2R, referencing</a:t>
            </a:r>
          </a:p>
        </p:txBody>
      </p:sp>
      <p:sp>
        <p:nvSpPr>
          <p:cNvPr id="73" name="Rectangle 72">
            <a:extLst>
              <a:ext uri="{FF2B5EF4-FFF2-40B4-BE49-F238E27FC236}">
                <a16:creationId xmlns:a16="http://schemas.microsoft.com/office/drawing/2014/main" id="{D0964983-77BC-43E8-B4C6-EDD3C87B6545}"/>
              </a:ext>
            </a:extLst>
          </p:cNvPr>
          <p:cNvSpPr/>
          <p:nvPr/>
        </p:nvSpPr>
        <p:spPr>
          <a:xfrm>
            <a:off x="3108451" y="4437408"/>
            <a:ext cx="1409898" cy="837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Processes change requests from customer</a:t>
            </a:r>
          </a:p>
          <a:p>
            <a:pPr marL="87313" indent="-87313">
              <a:spcAft>
                <a:spcPts val="400"/>
              </a:spcAft>
              <a:buFontTx/>
              <a:buChar char="-"/>
            </a:pPr>
            <a:r>
              <a:rPr lang="en-GB" sz="800">
                <a:solidFill>
                  <a:schemeClr val="tx1"/>
                </a:solidFill>
                <a:latin typeface="Montserrat" panose="00000500000000000000" pitchFamily="50" charset="0"/>
              </a:rPr>
              <a:t>Follows up on renewals</a:t>
            </a:r>
          </a:p>
        </p:txBody>
      </p:sp>
      <p:sp>
        <p:nvSpPr>
          <p:cNvPr id="74" name="Rectangle 73">
            <a:extLst>
              <a:ext uri="{FF2B5EF4-FFF2-40B4-BE49-F238E27FC236}">
                <a16:creationId xmlns:a16="http://schemas.microsoft.com/office/drawing/2014/main" id="{1E13137F-6ADA-404E-AB0B-3B41C0FEAE63}"/>
              </a:ext>
            </a:extLst>
          </p:cNvPr>
          <p:cNvSpPr/>
          <p:nvPr/>
        </p:nvSpPr>
        <p:spPr>
          <a:xfrm>
            <a:off x="6122504" y="4433074"/>
            <a:ext cx="1335338" cy="838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Base data for renewal schedule</a:t>
            </a:r>
          </a:p>
          <a:p>
            <a:pPr marL="87313" indent="-87313">
              <a:spcAft>
                <a:spcPts val="400"/>
              </a:spcAft>
              <a:buFontTx/>
              <a:buChar char="-"/>
            </a:pPr>
            <a:r>
              <a:rPr lang="en-GB" sz="800">
                <a:solidFill>
                  <a:schemeClr val="tx1"/>
                </a:solidFill>
                <a:latin typeface="Montserrat" panose="00000500000000000000" pitchFamily="50" charset="0"/>
              </a:rPr>
              <a:t>Updates lease and charges upon renewal</a:t>
            </a:r>
          </a:p>
        </p:txBody>
      </p:sp>
      <p:sp>
        <p:nvSpPr>
          <p:cNvPr id="75" name="Rectangle 74">
            <a:extLst>
              <a:ext uri="{FF2B5EF4-FFF2-40B4-BE49-F238E27FC236}">
                <a16:creationId xmlns:a16="http://schemas.microsoft.com/office/drawing/2014/main" id="{A9F64D37-8F1E-4092-B699-F5864DDEB67A}"/>
              </a:ext>
            </a:extLst>
          </p:cNvPr>
          <p:cNvSpPr/>
          <p:nvPr/>
        </p:nvSpPr>
        <p:spPr>
          <a:xfrm>
            <a:off x="4537326" y="4435526"/>
            <a:ext cx="1577579" cy="839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300"/>
              </a:spcAft>
              <a:buFontTx/>
              <a:buChar char="-"/>
            </a:pPr>
            <a:r>
              <a:rPr lang="en-GB" sz="800">
                <a:solidFill>
                  <a:schemeClr val="tx1"/>
                </a:solidFill>
                <a:latin typeface="Montserrat" panose="00000500000000000000" pitchFamily="50" charset="0"/>
              </a:rPr>
              <a:t>Handles change of sharers</a:t>
            </a:r>
          </a:p>
          <a:p>
            <a:pPr marL="87313" indent="-87313">
              <a:spcAft>
                <a:spcPts val="300"/>
              </a:spcAft>
              <a:buFontTx/>
              <a:buChar char="-"/>
            </a:pPr>
            <a:r>
              <a:rPr lang="en-GB" sz="800">
                <a:solidFill>
                  <a:schemeClr val="tx1"/>
                </a:solidFill>
                <a:latin typeface="Montserrat" panose="00000500000000000000" pitchFamily="50" charset="0"/>
              </a:rPr>
              <a:t>Build tenancy amendments </a:t>
            </a:r>
          </a:p>
          <a:p>
            <a:pPr marL="87313" indent="-87313">
              <a:spcAft>
                <a:spcPts val="300"/>
              </a:spcAft>
              <a:buFontTx/>
              <a:buChar char="-"/>
            </a:pPr>
            <a:r>
              <a:rPr lang="en-GB" sz="800">
                <a:solidFill>
                  <a:schemeClr val="tx1"/>
                </a:solidFill>
                <a:latin typeface="Montserrat" panose="00000500000000000000" pitchFamily="50" charset="0"/>
              </a:rPr>
              <a:t>Manages renewal schedule</a:t>
            </a:r>
          </a:p>
          <a:p>
            <a:pPr marL="87313" indent="-87313">
              <a:spcAft>
                <a:spcPts val="300"/>
              </a:spcAft>
              <a:buFontTx/>
              <a:buChar char="-"/>
            </a:pPr>
            <a:r>
              <a:rPr lang="en-GB" sz="800">
                <a:solidFill>
                  <a:schemeClr val="tx1"/>
                </a:solidFill>
                <a:latin typeface="Montserrat" panose="00000500000000000000" pitchFamily="50" charset="0"/>
              </a:rPr>
              <a:t>Creates renewal offers</a:t>
            </a:r>
          </a:p>
          <a:p>
            <a:pPr marL="87313" indent="-87313">
              <a:spcAft>
                <a:spcPts val="300"/>
              </a:spcAft>
              <a:buFontTx/>
              <a:buChar char="-"/>
            </a:pPr>
            <a:r>
              <a:rPr lang="en-GB" sz="800">
                <a:solidFill>
                  <a:schemeClr val="tx1"/>
                </a:solidFill>
                <a:latin typeface="Montserrat" panose="00000500000000000000" pitchFamily="50" charset="0"/>
              </a:rPr>
              <a:t>Updates DD schedules</a:t>
            </a:r>
          </a:p>
        </p:txBody>
      </p:sp>
      <p:sp>
        <p:nvSpPr>
          <p:cNvPr id="76" name="Rectangle 75">
            <a:extLst>
              <a:ext uri="{FF2B5EF4-FFF2-40B4-BE49-F238E27FC236}">
                <a16:creationId xmlns:a16="http://schemas.microsoft.com/office/drawing/2014/main" id="{DBA4EBEE-71B9-4E0D-AA95-5D87E512617E}"/>
              </a:ext>
            </a:extLst>
          </p:cNvPr>
          <p:cNvSpPr/>
          <p:nvPr/>
        </p:nvSpPr>
        <p:spPr>
          <a:xfrm>
            <a:off x="7480055" y="4747782"/>
            <a:ext cx="1305169" cy="38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Provides pricing input for renewal</a:t>
            </a:r>
          </a:p>
        </p:txBody>
      </p:sp>
      <p:pic>
        <p:nvPicPr>
          <p:cNvPr id="11266" name="Picture 2" descr="Image result for yieldstar realpage">
            <a:extLst>
              <a:ext uri="{FF2B5EF4-FFF2-40B4-BE49-F238E27FC236}">
                <a16:creationId xmlns:a16="http://schemas.microsoft.com/office/drawing/2014/main" id="{9F31CC5F-C55E-45CF-B620-7094E824DD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8445" y="2848637"/>
            <a:ext cx="682767" cy="211854"/>
          </a:xfrm>
          <a:prstGeom prst="rect">
            <a:avLst/>
          </a:prstGeom>
          <a:noFill/>
          <a:extLst>
            <a:ext uri="{909E8E84-426E-40DD-AFC4-6F175D3DCCD1}">
              <a14:hiddenFill xmlns:a14="http://schemas.microsoft.com/office/drawing/2010/main">
                <a:solidFill>
                  <a:srgbClr val="FFFFFF"/>
                </a:solidFill>
              </a14:hiddenFill>
            </a:ext>
          </a:extLst>
        </p:spPr>
      </p:pic>
      <p:sp>
        <p:nvSpPr>
          <p:cNvPr id="79" name="TextBox 78">
            <a:extLst>
              <a:ext uri="{FF2B5EF4-FFF2-40B4-BE49-F238E27FC236}">
                <a16:creationId xmlns:a16="http://schemas.microsoft.com/office/drawing/2014/main" id="{42BD9E08-996C-4474-B433-2D24D334208C}"/>
              </a:ext>
            </a:extLst>
          </p:cNvPr>
          <p:cNvSpPr txBox="1"/>
          <p:nvPr/>
        </p:nvSpPr>
        <p:spPr>
          <a:xfrm>
            <a:off x="7646752" y="1567936"/>
            <a:ext cx="934526" cy="276999"/>
          </a:xfrm>
          <a:prstGeom prst="rect">
            <a:avLst/>
          </a:prstGeom>
          <a:noFill/>
        </p:spPr>
        <p:txBody>
          <a:bodyPr wrap="square" rtlCol="0">
            <a:spAutoFit/>
          </a:bodyPr>
          <a:lstStyle/>
          <a:p>
            <a:pPr algn="ctr"/>
            <a:r>
              <a:rPr lang="en-GB" sz="1200" b="1" i="1" spc="-60">
                <a:solidFill>
                  <a:schemeClr val="tx1">
                    <a:lumMod val="60000"/>
                    <a:lumOff val="40000"/>
                  </a:schemeClr>
                </a:solidFill>
                <a:latin typeface="+mj-lt"/>
              </a:rPr>
              <a:t>(others)</a:t>
            </a:r>
          </a:p>
        </p:txBody>
      </p:sp>
      <p:pic>
        <p:nvPicPr>
          <p:cNvPr id="70" name="Picture 2" descr="Image result for salesforce logo">
            <a:extLst>
              <a:ext uri="{FF2B5EF4-FFF2-40B4-BE49-F238E27FC236}">
                <a16:creationId xmlns:a16="http://schemas.microsoft.com/office/drawing/2014/main" id="{D8E24CB0-B342-4B50-954F-B94F8F9A91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0449" y="1226332"/>
            <a:ext cx="848661" cy="594063"/>
          </a:xfrm>
          <a:prstGeom prst="rect">
            <a:avLst/>
          </a:prstGeom>
          <a:noFill/>
          <a:extLst>
            <a:ext uri="{909E8E84-426E-40DD-AFC4-6F175D3DCCD1}">
              <a14:hiddenFill xmlns:a14="http://schemas.microsoft.com/office/drawing/2010/main">
                <a:solidFill>
                  <a:srgbClr val="FFFFFF"/>
                </a:solidFill>
              </a14:hiddenFill>
            </a:ext>
          </a:extLst>
        </p:spPr>
      </p:pic>
      <p:pic>
        <p:nvPicPr>
          <p:cNvPr id="81" name="Graphic 80">
            <a:extLst>
              <a:ext uri="{FF2B5EF4-FFF2-40B4-BE49-F238E27FC236}">
                <a16:creationId xmlns:a16="http://schemas.microsoft.com/office/drawing/2014/main" id="{0EEDFD1C-7071-4188-A537-551F9D63F66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50449" y="1827971"/>
            <a:ext cx="848661" cy="235146"/>
          </a:xfrm>
          <a:prstGeom prst="rect">
            <a:avLst/>
          </a:prstGeom>
        </p:spPr>
      </p:pic>
      <p:sp>
        <p:nvSpPr>
          <p:cNvPr id="83" name="Rectangle 82">
            <a:extLst>
              <a:ext uri="{FF2B5EF4-FFF2-40B4-BE49-F238E27FC236}">
                <a16:creationId xmlns:a16="http://schemas.microsoft.com/office/drawing/2014/main" id="{F2C4E628-5322-4643-BDCB-14420FB84C6E}"/>
              </a:ext>
            </a:extLst>
          </p:cNvPr>
          <p:cNvSpPr/>
          <p:nvPr/>
        </p:nvSpPr>
        <p:spPr>
          <a:xfrm>
            <a:off x="7976836" y="3624650"/>
            <a:ext cx="808388" cy="357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referencing</a:t>
            </a:r>
          </a:p>
        </p:txBody>
      </p:sp>
      <p:pic>
        <p:nvPicPr>
          <p:cNvPr id="12" name="Picture 11" descr="A picture containing drawing&#10;&#10;Description automatically generated">
            <a:extLst>
              <a:ext uri="{FF2B5EF4-FFF2-40B4-BE49-F238E27FC236}">
                <a16:creationId xmlns:a16="http://schemas.microsoft.com/office/drawing/2014/main" id="{72391882-9557-4C67-973C-C7EC03CE8B9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53843" y="4073661"/>
            <a:ext cx="349204" cy="344059"/>
          </a:xfrm>
          <a:prstGeom prst="rect">
            <a:avLst/>
          </a:prstGeom>
        </p:spPr>
      </p:pic>
      <p:sp>
        <p:nvSpPr>
          <p:cNvPr id="84" name="Rectangle 83">
            <a:extLst>
              <a:ext uri="{FF2B5EF4-FFF2-40B4-BE49-F238E27FC236}">
                <a16:creationId xmlns:a16="http://schemas.microsoft.com/office/drawing/2014/main" id="{21F79708-FE56-444E-9F2A-34D88C8164D2}"/>
              </a:ext>
            </a:extLst>
          </p:cNvPr>
          <p:cNvSpPr/>
          <p:nvPr/>
        </p:nvSpPr>
        <p:spPr>
          <a:xfrm>
            <a:off x="7976836" y="4069558"/>
            <a:ext cx="808388" cy="357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Issues tenancy</a:t>
            </a:r>
          </a:p>
        </p:txBody>
      </p:sp>
      <p:pic>
        <p:nvPicPr>
          <p:cNvPr id="20" name="Picture 19" descr="A drawing of a face&#10;&#10;Description automatically generated">
            <a:extLst>
              <a:ext uri="{FF2B5EF4-FFF2-40B4-BE49-F238E27FC236}">
                <a16:creationId xmlns:a16="http://schemas.microsoft.com/office/drawing/2014/main" id="{B1D0A406-C79F-488D-BD35-07615FF1A023}"/>
              </a:ext>
            </a:extLst>
          </p:cNvPr>
          <p:cNvPicPr>
            <a:picLocks noChangeAspect="1"/>
          </p:cNvPicPr>
          <p:nvPr/>
        </p:nvPicPr>
        <p:blipFill>
          <a:blip r:embed="rId12">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7480056" y="3571595"/>
            <a:ext cx="468918" cy="446228"/>
          </a:xfrm>
          <a:prstGeom prst="rect">
            <a:avLst/>
          </a:prstGeom>
        </p:spPr>
      </p:pic>
      <p:sp>
        <p:nvSpPr>
          <p:cNvPr id="85" name="Rectangle 84">
            <a:extLst>
              <a:ext uri="{FF2B5EF4-FFF2-40B4-BE49-F238E27FC236}">
                <a16:creationId xmlns:a16="http://schemas.microsoft.com/office/drawing/2014/main" id="{419E7395-28D0-48A9-A335-9D571E34A90E}"/>
              </a:ext>
            </a:extLst>
          </p:cNvPr>
          <p:cNvSpPr/>
          <p:nvPr/>
        </p:nvSpPr>
        <p:spPr>
          <a:xfrm>
            <a:off x="1694754" y="5833069"/>
            <a:ext cx="1409898" cy="4942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Moves in</a:t>
            </a:r>
          </a:p>
          <a:p>
            <a:pPr marL="87313" indent="-87313">
              <a:spcAft>
                <a:spcPts val="400"/>
              </a:spcAft>
              <a:buFontTx/>
              <a:buChar char="-"/>
            </a:pPr>
            <a:r>
              <a:rPr lang="en-GB" sz="800">
                <a:solidFill>
                  <a:schemeClr val="tx1"/>
                </a:solidFill>
                <a:latin typeface="Montserrat" panose="00000500000000000000" pitchFamily="50" charset="0"/>
              </a:rPr>
              <a:t>Fulfils settling in documents</a:t>
            </a:r>
          </a:p>
        </p:txBody>
      </p:sp>
      <p:pic>
        <p:nvPicPr>
          <p:cNvPr id="59" name="Picture 2" descr="Image result for yieldstar realpage">
            <a:extLst>
              <a:ext uri="{FF2B5EF4-FFF2-40B4-BE49-F238E27FC236}">
                <a16:creationId xmlns:a16="http://schemas.microsoft.com/office/drawing/2014/main" id="{FF7EAC53-CB3A-4728-98B3-9AED4AB647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38890" y="4561072"/>
            <a:ext cx="682767" cy="211854"/>
          </a:xfrm>
          <a:prstGeom prst="rect">
            <a:avLst/>
          </a:prstGeom>
          <a:noFill/>
          <a:extLst>
            <a:ext uri="{909E8E84-426E-40DD-AFC4-6F175D3DCCD1}">
              <a14:hiddenFill xmlns:a14="http://schemas.microsoft.com/office/drawing/2010/main">
                <a:solidFill>
                  <a:srgbClr val="FFFFFF"/>
                </a:solidFill>
              </a14:hiddenFill>
            </a:ext>
          </a:extLst>
        </p:spPr>
      </p:pic>
      <p:sp>
        <p:nvSpPr>
          <p:cNvPr id="97" name="Rectangle: Rounded Corners 96">
            <a:extLst>
              <a:ext uri="{FF2B5EF4-FFF2-40B4-BE49-F238E27FC236}">
                <a16:creationId xmlns:a16="http://schemas.microsoft.com/office/drawing/2014/main" id="{BC9CFAA6-3AEE-42ED-8730-1EA194BDF660}"/>
              </a:ext>
            </a:extLst>
          </p:cNvPr>
          <p:cNvSpPr/>
          <p:nvPr/>
        </p:nvSpPr>
        <p:spPr>
          <a:xfrm>
            <a:off x="358774" y="1633825"/>
            <a:ext cx="1231486" cy="246222"/>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2</a:t>
            </a:r>
          </a:p>
        </p:txBody>
      </p:sp>
      <p:sp>
        <p:nvSpPr>
          <p:cNvPr id="98" name="Rectangle: Rounded Corners 97">
            <a:extLst>
              <a:ext uri="{FF2B5EF4-FFF2-40B4-BE49-F238E27FC236}">
                <a16:creationId xmlns:a16="http://schemas.microsoft.com/office/drawing/2014/main" id="{DF07822A-7E50-4A74-93BA-6F529BA9EA1D}"/>
              </a:ext>
            </a:extLst>
          </p:cNvPr>
          <p:cNvSpPr/>
          <p:nvPr/>
        </p:nvSpPr>
        <p:spPr>
          <a:xfrm>
            <a:off x="367209" y="1332782"/>
            <a:ext cx="1231486" cy="246222"/>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1 Portal /</a:t>
            </a:r>
          </a:p>
          <a:p>
            <a:pPr algn="ctr"/>
            <a:r>
              <a:rPr lang="en-GB" sz="800">
                <a:solidFill>
                  <a:schemeClr val="tx1"/>
                </a:solidFill>
              </a:rPr>
              <a:t>post-go-live</a:t>
            </a:r>
          </a:p>
        </p:txBody>
      </p:sp>
    </p:spTree>
    <p:extLst>
      <p:ext uri="{BB962C8B-B14F-4D97-AF65-F5344CB8AC3E}">
        <p14:creationId xmlns:p14="http://schemas.microsoft.com/office/powerpoint/2010/main" val="3965628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Marketing &amp; Lead-to-Lease (1/2)</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5" y="1334847"/>
            <a:ext cx="4698255"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Customer registers interest (Marketing Websites)</a:t>
              </a:r>
            </a:p>
            <a:p>
              <a:pPr marL="171450" indent="-171450" fontAlgn="b">
                <a:buFontTx/>
                <a:buChar char="-"/>
              </a:pPr>
              <a:r>
                <a:rPr lang="en-GB" sz="1000">
                  <a:solidFill>
                    <a:schemeClr val="tx1"/>
                  </a:solidFill>
                  <a:latin typeface="Montserrat Light (Body)"/>
                </a:rPr>
                <a:t>Create opportunity and run pre-qualification checks (Salesforce)</a:t>
              </a:r>
            </a:p>
            <a:p>
              <a:pPr marL="171450" indent="-171450" fontAlgn="b">
                <a:buFontTx/>
                <a:buChar char="-"/>
              </a:pPr>
              <a:r>
                <a:rPr lang="en-GB" sz="1000">
                  <a:solidFill>
                    <a:schemeClr val="tx1"/>
                  </a:solidFill>
                  <a:latin typeface="Montserrat Light (Body)"/>
                </a:rPr>
                <a:t>Book viewing &amp; Mange booking, capture feedback (Salesforce)</a:t>
              </a:r>
            </a:p>
            <a:p>
              <a:pPr marL="171450" indent="-171450" fontAlgn="b">
                <a:buFontTx/>
                <a:buChar char="-"/>
              </a:pPr>
              <a:r>
                <a:rPr lang="en-GB" sz="1000">
                  <a:solidFill>
                    <a:schemeClr val="tx1"/>
                  </a:solidFill>
                  <a:latin typeface="Montserrat Light (Body)"/>
                </a:rPr>
                <a:t>Build offers and send them to customer (Salesforce)</a:t>
              </a:r>
            </a:p>
            <a:p>
              <a:pPr marL="171450" indent="-171450" fontAlgn="b">
                <a:buFontTx/>
                <a:buChar char="-"/>
              </a:pPr>
              <a:r>
                <a:rPr lang="en-GB" sz="1000">
                  <a:solidFill>
                    <a:schemeClr val="tx1"/>
                  </a:solidFill>
                  <a:latin typeface="Montserrat Light (Body)"/>
                </a:rPr>
                <a:t>Apply standard break clauses, rent uplift, concessions (Salesforce)</a:t>
              </a:r>
            </a:p>
            <a:p>
              <a:pPr marL="171450" indent="-171450" fontAlgn="b">
                <a:buFontTx/>
                <a:buChar char="-"/>
              </a:pPr>
              <a:r>
                <a:rPr lang="en-GB" sz="1000">
                  <a:solidFill>
                    <a:schemeClr val="tx1"/>
                  </a:solidFill>
                  <a:latin typeface="Montserrat Light (Body)"/>
                </a:rPr>
                <a:t>Handle 3 different payment periodicities (Salesforce)</a:t>
              </a:r>
            </a:p>
            <a:p>
              <a:pPr marL="171450" indent="-171450" fontAlgn="b">
                <a:buFontTx/>
                <a:buChar char="-"/>
              </a:pPr>
              <a:r>
                <a:rPr lang="en-GB" sz="1000">
                  <a:solidFill>
                    <a:schemeClr val="tx1"/>
                  </a:solidFill>
                  <a:latin typeface="Montserrat Light (Body)"/>
                </a:rPr>
                <a:t>Leasing journey web-app login and application (Leasing Portal)</a:t>
              </a:r>
            </a:p>
            <a:p>
              <a:pPr marL="171450" indent="-171450" fontAlgn="b">
                <a:buFontTx/>
                <a:buChar char="-"/>
              </a:pPr>
              <a:r>
                <a:rPr lang="en-GB" sz="1000">
                  <a:solidFill>
                    <a:schemeClr val="tx1"/>
                  </a:solidFill>
                  <a:latin typeface="Montserrat Light (Body)"/>
                </a:rPr>
                <a:t>Calculate and display Initial Statement of Monies (ISM) (Salesforce)</a:t>
              </a:r>
            </a:p>
            <a:p>
              <a:pPr marL="171450" indent="-171450" fontAlgn="b">
                <a:buFontTx/>
                <a:buChar char="-"/>
              </a:pPr>
              <a:r>
                <a:rPr lang="en-GB" sz="1000">
                  <a:solidFill>
                    <a:schemeClr val="tx1"/>
                  </a:solidFill>
                  <a:latin typeface="Montserrat Light (Body)"/>
                </a:rPr>
                <a:t>Take Advance Payment – incl. 15-min timer (Salesforce / Asperato)</a:t>
              </a:r>
            </a:p>
            <a:p>
              <a:pPr marL="171450" indent="-171450" fontAlgn="b">
                <a:buFontTx/>
                <a:buChar char="-"/>
              </a:pPr>
              <a:r>
                <a:rPr lang="en-GB" sz="1000">
                  <a:solidFill>
                    <a:schemeClr val="tx1"/>
                  </a:solidFill>
                  <a:latin typeface="Montserrat Light (Body)"/>
                </a:rPr>
                <a:t>Allocation of advance payment (MRI)</a:t>
              </a:r>
            </a:p>
            <a:p>
              <a:pPr marL="171450" indent="-171450" fontAlgn="b">
                <a:buFontTx/>
                <a:buChar char="-"/>
              </a:pPr>
              <a:r>
                <a:rPr lang="en-GB" sz="1000">
                  <a:solidFill>
                    <a:schemeClr val="tx1"/>
                  </a:solidFill>
                  <a:latin typeface="Montserrat Light (Body)"/>
                </a:rPr>
                <a:t>Sharer/ Guarantor online experience (Leasing Portal)</a:t>
              </a:r>
            </a:p>
            <a:p>
              <a:pPr marL="171450" indent="-171450" fontAlgn="b">
                <a:buFontTx/>
                <a:buChar char="-"/>
              </a:pPr>
              <a:r>
                <a:rPr lang="en-GB" sz="1000">
                  <a:solidFill>
                    <a:schemeClr val="tx1"/>
                  </a:solidFill>
                  <a:latin typeface="Montserrat Light (Body)"/>
                </a:rPr>
                <a:t>Handle changes to application up to referencing stage (Salesforce)</a:t>
              </a:r>
            </a:p>
            <a:p>
              <a:pPr marL="171450" indent="-171450" fontAlgn="b">
                <a:buFontTx/>
                <a:buChar char="-"/>
              </a:pPr>
              <a:r>
                <a:rPr lang="en-GB" sz="1000">
                  <a:solidFill>
                    <a:schemeClr val="tx1"/>
                  </a:solidFill>
                  <a:latin typeface="Montserrat Light (Body)"/>
                </a:rPr>
                <a:t>Referencing prompts, tracking and outcome (Salesforce)</a:t>
              </a:r>
            </a:p>
            <a:p>
              <a:pPr marL="171450" indent="-171450" fontAlgn="b">
                <a:buFontTx/>
                <a:buChar char="-"/>
              </a:pPr>
              <a:r>
                <a:rPr lang="en-GB" sz="1000">
                  <a:solidFill>
                    <a:schemeClr val="tx1"/>
                  </a:solidFill>
                  <a:latin typeface="Montserrat Light (Body)"/>
                </a:rPr>
                <a:t>Referencing (Van Mildert)</a:t>
              </a:r>
            </a:p>
            <a:p>
              <a:pPr marL="171450" indent="-171450" fontAlgn="b">
                <a:buFontTx/>
                <a:buChar char="-"/>
              </a:pPr>
              <a:r>
                <a:rPr lang="en-GB" sz="1000">
                  <a:solidFill>
                    <a:schemeClr val="tx1"/>
                  </a:solidFill>
                  <a:latin typeface="Montserrat Light (Body)"/>
                </a:rPr>
                <a:t>Reminder messages across the entire leasing journey (Salesforce)</a:t>
              </a:r>
            </a:p>
            <a:p>
              <a:pPr marL="171450" indent="-171450" fontAlgn="b">
                <a:buFontTx/>
                <a:buChar char="-"/>
              </a:pPr>
              <a:r>
                <a:rPr lang="en-GB" sz="1000">
                  <a:solidFill>
                    <a:schemeClr val="tx1"/>
                  </a:solidFill>
                  <a:latin typeface="Montserrat Light (Body)"/>
                </a:rPr>
                <a:t>Move-in Monies payment (Asperato)</a:t>
              </a:r>
            </a:p>
            <a:p>
              <a:pPr marL="171450" indent="-171450" fontAlgn="b">
                <a:buFontTx/>
                <a:buChar char="-"/>
              </a:pPr>
              <a:r>
                <a:rPr lang="en-GB" sz="1000">
                  <a:solidFill>
                    <a:schemeClr val="tx1"/>
                  </a:solidFill>
                  <a:latin typeface="Montserrat Light (Body)"/>
                </a:rPr>
                <a:t>Allocation of move-in monies (MRI)</a:t>
              </a:r>
            </a:p>
            <a:p>
              <a:pPr marL="171450" indent="-171450" fontAlgn="b">
                <a:buFontTx/>
                <a:buChar char="-"/>
              </a:pPr>
              <a:r>
                <a:rPr lang="en-GB" sz="1000">
                  <a:solidFill>
                    <a:schemeClr val="tx1"/>
                  </a:solidFill>
                  <a:latin typeface="Montserrat Light (Body)"/>
                </a:rPr>
                <a:t>Build tenancy documents </a:t>
              </a:r>
              <a:r>
                <a:rPr lang="en-GB" sz="1000" err="1">
                  <a:solidFill>
                    <a:schemeClr val="tx1"/>
                  </a:solidFill>
                  <a:latin typeface="Montserrat Light (Body)"/>
                </a:rPr>
                <a:t>incl</a:t>
              </a:r>
              <a:r>
                <a:rPr lang="en-GB" sz="1000">
                  <a:solidFill>
                    <a:schemeClr val="tx1"/>
                  </a:solidFill>
                  <a:latin typeface="Montserrat Light (Body)"/>
                </a:rPr>
                <a:t> special clauses (Salesforce, Conga)</a:t>
              </a:r>
            </a:p>
            <a:p>
              <a:pPr marL="171450" indent="-171450" fontAlgn="b">
                <a:buFontTx/>
                <a:buChar char="-"/>
              </a:pPr>
              <a:r>
                <a:rPr lang="en-GB" sz="1000">
                  <a:solidFill>
                    <a:schemeClr val="tx1"/>
                  </a:solidFill>
                  <a:latin typeface="Montserrat Light (Body)"/>
                </a:rPr>
                <a:t>Display tenancy agreement (Leasing Portal)</a:t>
              </a:r>
            </a:p>
            <a:p>
              <a:pPr marL="171450" indent="-171450" fontAlgn="b">
                <a:buFontTx/>
                <a:buChar char="-"/>
              </a:pPr>
              <a:r>
                <a:rPr lang="en-GB" sz="1000">
                  <a:solidFill>
                    <a:schemeClr val="tx1"/>
                  </a:solidFill>
                  <a:latin typeface="Montserrat Light (Body)"/>
                </a:rPr>
                <a:t>Electronic signature of tenancy documents (Adobe Sign)</a:t>
              </a:r>
            </a:p>
            <a:p>
              <a:pPr marL="171450" indent="-171450" fontAlgn="b">
                <a:buFontTx/>
                <a:buChar char="-"/>
              </a:pPr>
              <a:r>
                <a:rPr lang="en-GB" sz="1000">
                  <a:solidFill>
                    <a:schemeClr val="tx1"/>
                  </a:solidFill>
                  <a:latin typeface="Montserrat Light (Body)"/>
                </a:rPr>
                <a:t>Signature prompts and tracking (Salesforce)</a:t>
              </a:r>
            </a:p>
            <a:p>
              <a:pPr marL="171450" indent="-171450" fontAlgn="b">
                <a:buFontTx/>
                <a:buChar char="-"/>
              </a:pPr>
              <a:r>
                <a:rPr lang="en-GB" sz="1000">
                  <a:solidFill>
                    <a:schemeClr val="tx1"/>
                  </a:solidFill>
                  <a:latin typeface="Montserrat Light (Body)"/>
                </a:rPr>
                <a:t>Direct Debit creation page (Leasing Portal)</a:t>
              </a:r>
            </a:p>
            <a:p>
              <a:pPr marL="171450" indent="-171450" fontAlgn="b">
                <a:buFontTx/>
                <a:buChar char="-"/>
              </a:pPr>
              <a:r>
                <a:rPr lang="en-GB" sz="1000">
                  <a:solidFill>
                    <a:schemeClr val="tx1"/>
                  </a:solidFill>
                  <a:latin typeface="Montserrat Light (Body)"/>
                </a:rPr>
                <a:t>Creation of DD instructions (Asperato)</a:t>
              </a:r>
            </a:p>
            <a:p>
              <a:pPr marL="171450" indent="-171450" fontAlgn="b">
                <a:buFontTx/>
                <a:buChar char="-"/>
              </a:pPr>
              <a:r>
                <a:rPr lang="en-GB" sz="1000">
                  <a:solidFill>
                    <a:schemeClr val="tx1"/>
                  </a:solidFill>
                  <a:latin typeface="Montserrat Light (Body)"/>
                </a:rPr>
                <a:t>Renewals web-app pages (Leasing Portal)</a:t>
              </a:r>
            </a:p>
            <a:p>
              <a:pPr marL="171450" indent="-171450" fontAlgn="b">
                <a:buFontTx/>
                <a:buChar char="-"/>
              </a:pPr>
              <a:r>
                <a:rPr lang="en-GB" sz="1000">
                  <a:solidFill>
                    <a:schemeClr val="tx1"/>
                  </a:solidFill>
                  <a:latin typeface="Montserrat Light (Body)"/>
                </a:rPr>
                <a:t>Renewal opportunity &amp; offers (Salesforce)</a:t>
              </a:r>
            </a:p>
            <a:p>
              <a:pPr marL="171450" indent="-171450" fontAlgn="b">
                <a:buFontTx/>
                <a:buChar char="-"/>
              </a:pPr>
              <a:r>
                <a:rPr lang="en-GB" sz="1000">
                  <a:solidFill>
                    <a:schemeClr val="tx1"/>
                  </a:solidFill>
                  <a:latin typeface="Montserrat Light (Body)"/>
                </a:rPr>
                <a:t>Features from Leasing Journey adapted for renewals (Salesforce)</a:t>
              </a:r>
            </a:p>
            <a:p>
              <a:pPr marL="171450" indent="-171450" fontAlgn="b">
                <a:buFontTx/>
                <a:buChar char="-"/>
              </a:pPr>
              <a:r>
                <a:rPr lang="en-GB" sz="1000">
                  <a:solidFill>
                    <a:schemeClr val="tx1"/>
                  </a:solidFill>
                  <a:latin typeface="Montserrat Light (Body)"/>
                </a:rPr>
                <a:t>Renewals emails (Salesforce)</a:t>
              </a: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47861" y="1339786"/>
            <a:ext cx="3528731" cy="2089214"/>
            <a:chOff x="358772" y="2399498"/>
            <a:chExt cx="4120947" cy="1710058"/>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433726"/>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Dynamic Pricing software – was put on hold to enable delivery of Phase 1 Core</a:t>
              </a:r>
            </a:p>
            <a:p>
              <a:pPr marL="171450" indent="-171450" fontAlgn="b">
                <a:spcBef>
                  <a:spcPts val="400"/>
                </a:spcBef>
                <a:buFontTx/>
                <a:buChar char="-"/>
              </a:pPr>
              <a:r>
                <a:rPr lang="en-GB" sz="1000">
                  <a:solidFill>
                    <a:schemeClr val="tx1"/>
                  </a:solidFill>
                  <a:latin typeface="Montserrat Light (Body)"/>
                </a:rPr>
                <a:t>Applicant ‘guest card’ in MRI – created manually on day 1 using dummy emails generated by Salesforce</a:t>
              </a:r>
            </a:p>
            <a:p>
              <a:pPr marL="171450" indent="-171450" fontAlgn="b">
                <a:spcBef>
                  <a:spcPts val="400"/>
                </a:spcBef>
                <a:buFontTx/>
                <a:buChar char="-"/>
              </a:pPr>
              <a:r>
                <a:rPr lang="en-GB" sz="1000">
                  <a:solidFill>
                    <a:schemeClr val="tx1"/>
                  </a:solidFill>
                  <a:latin typeface="Montserrat Light (Body)"/>
                </a:rPr>
                <a:t>Creation of lease &amp; details input in MRI</a:t>
              </a:r>
            </a:p>
            <a:p>
              <a:pPr marL="171450" indent="-171450" fontAlgn="b">
                <a:spcBef>
                  <a:spcPts val="400"/>
                </a:spcBef>
                <a:buFontTx/>
                <a:buChar char="-"/>
              </a:pPr>
              <a:r>
                <a:rPr lang="en-GB" sz="1000">
                  <a:solidFill>
                    <a:schemeClr val="tx1"/>
                  </a:solidFill>
                  <a:latin typeface="Montserrat Light (Body)"/>
                </a:rPr>
                <a:t>Input Renewal in MRI</a:t>
              </a:r>
            </a:p>
            <a:p>
              <a:pPr marL="171450" indent="-171450" fontAlgn="b">
                <a:spcBef>
                  <a:spcPts val="400"/>
                </a:spcBef>
                <a:buFontTx/>
                <a:buChar char="-"/>
              </a:pPr>
              <a:endParaRPr lang="en-GB" sz="1000">
                <a:solidFill>
                  <a:schemeClr val="tx1"/>
                </a:solidFill>
                <a:latin typeface="Montserrat Light (Body)"/>
              </a:endParaRP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14</a:t>
            </a:fld>
            <a:endParaRPr lang="en-GB"/>
          </a:p>
        </p:txBody>
      </p:sp>
      <p:grpSp>
        <p:nvGrpSpPr>
          <p:cNvPr id="10" name="Group 9">
            <a:extLst>
              <a:ext uri="{FF2B5EF4-FFF2-40B4-BE49-F238E27FC236}">
                <a16:creationId xmlns:a16="http://schemas.microsoft.com/office/drawing/2014/main" id="{194038F6-902E-4706-AE4B-EFA0064A9ADC}"/>
              </a:ext>
            </a:extLst>
          </p:cNvPr>
          <p:cNvGrpSpPr/>
          <p:nvPr/>
        </p:nvGrpSpPr>
        <p:grpSpPr>
          <a:xfrm>
            <a:off x="5264444" y="3565608"/>
            <a:ext cx="3520781" cy="2729316"/>
            <a:chOff x="358772" y="2399498"/>
            <a:chExt cx="4120947" cy="1880078"/>
          </a:xfrm>
        </p:grpSpPr>
        <p:sp>
          <p:nvSpPr>
            <p:cNvPr id="11" name="Rectangle 10">
              <a:extLst>
                <a:ext uri="{FF2B5EF4-FFF2-40B4-BE49-F238E27FC236}">
                  <a16:creationId xmlns:a16="http://schemas.microsoft.com/office/drawing/2014/main" id="{CCBBDA2A-F353-4A79-B932-B75D826EE03A}"/>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51DD2476-DC0B-41D5-AC59-203F700733AB}"/>
                </a:ext>
              </a:extLst>
            </p:cNvPr>
            <p:cNvSpPr/>
            <p:nvPr/>
          </p:nvSpPr>
          <p:spPr>
            <a:xfrm>
              <a:off x="358772" y="2675829"/>
              <a:ext cx="4120945" cy="1603747"/>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a:spcBef>
                  <a:spcPts val="400"/>
                </a:spcBef>
                <a:buFontTx/>
                <a:buChar char="-"/>
              </a:pPr>
              <a:r>
                <a:rPr lang="en-GB" sz="1000">
                  <a:solidFill>
                    <a:schemeClr val="tx1"/>
                  </a:solidFill>
                  <a:latin typeface="Montserrat Light (Body)"/>
                </a:rPr>
                <a:t>Parking / license leasing journey – in phase 1 the customer indicates the want for parking and the journey is handled offline</a:t>
              </a:r>
            </a:p>
            <a:p>
              <a:pPr marL="171450" indent="-171450">
                <a:spcBef>
                  <a:spcPts val="400"/>
                </a:spcBef>
                <a:buFontTx/>
                <a:buChar char="-"/>
              </a:pPr>
              <a:r>
                <a:rPr lang="en-GB" sz="1000">
                  <a:solidFill>
                    <a:schemeClr val="tx1"/>
                  </a:solidFill>
                  <a:latin typeface="Montserrat Light (Body)"/>
                </a:rPr>
                <a:t>Processing requests to change tenancy attributes (e.g. sharers) at renewal</a:t>
              </a:r>
            </a:p>
            <a:p>
              <a:pPr marL="171450" indent="-171450">
                <a:spcBef>
                  <a:spcPts val="400"/>
                </a:spcBef>
                <a:buFontTx/>
                <a:buChar char="-"/>
              </a:pPr>
              <a:r>
                <a:rPr lang="en-GB" sz="1000">
                  <a:solidFill>
                    <a:schemeClr val="tx1"/>
                  </a:solidFill>
                  <a:latin typeface="Montserrat Light (Body)"/>
                </a:rPr>
                <a:t>Registration of Security Deposit with TDS (point-to-point integration between MRI and TDS)</a:t>
              </a:r>
            </a:p>
            <a:p>
              <a:pPr marL="171450" indent="-171450">
                <a:spcBef>
                  <a:spcPts val="400"/>
                </a:spcBef>
                <a:buFontTx/>
                <a:buChar char="-"/>
              </a:pPr>
              <a:r>
                <a:rPr lang="en-GB" sz="1000">
                  <a:solidFill>
                    <a:schemeClr val="tx1"/>
                  </a:solidFill>
                  <a:latin typeface="Montserrat Light (Body)"/>
                </a:rPr>
                <a:t>TDS registration notification – done manually as per today’s process by the TPT</a:t>
              </a:r>
            </a:p>
            <a:p>
              <a:pPr marL="171450" indent="-171450">
                <a:spcBef>
                  <a:spcPts val="400"/>
                </a:spcBef>
                <a:buFontTx/>
                <a:buChar char="-"/>
              </a:pPr>
              <a:r>
                <a:rPr lang="en-GB" sz="1000">
                  <a:solidFill>
                    <a:schemeClr val="tx1"/>
                  </a:solidFill>
                  <a:latin typeface="Montserrat Light (Body)"/>
                </a:rPr>
                <a:t>Automatic update of DD Schedules upon renewal</a:t>
              </a:r>
            </a:p>
          </p:txBody>
        </p:sp>
      </p:grpSp>
    </p:spTree>
    <p:extLst>
      <p:ext uri="{BB962C8B-B14F-4D97-AF65-F5344CB8AC3E}">
        <p14:creationId xmlns:p14="http://schemas.microsoft.com/office/powerpoint/2010/main" val="18537316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Marketing &amp; Lead-to-Lease (1/2)</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4" y="1334847"/>
            <a:ext cx="4775287"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Advance payment triggers pre-move-in process</a:t>
              </a:r>
            </a:p>
            <a:p>
              <a:pPr marL="171450" indent="-171450" fontAlgn="b">
                <a:buFontTx/>
                <a:buChar char="-"/>
              </a:pPr>
              <a:r>
                <a:rPr lang="en-GB" sz="1000">
                  <a:solidFill>
                    <a:schemeClr val="tx1"/>
                  </a:solidFill>
                  <a:latin typeface="Montserrat Light (Body)"/>
                </a:rPr>
                <a:t>Inventory Check-in (FSI)</a:t>
              </a:r>
            </a:p>
            <a:p>
              <a:pPr marL="171450" indent="-171450" fontAlgn="b">
                <a:buFontTx/>
                <a:buChar char="-"/>
              </a:pPr>
              <a:r>
                <a:rPr lang="en-GB" sz="1000">
                  <a:solidFill>
                    <a:schemeClr val="tx1"/>
                  </a:solidFill>
                  <a:latin typeface="Montserrat Light (Body)"/>
                </a:rPr>
                <a:t>Book cleaning (FSI)</a:t>
              </a:r>
            </a:p>
            <a:p>
              <a:pPr marL="171450" indent="-171450" fontAlgn="b">
                <a:buFontTx/>
                <a:buChar char="-"/>
              </a:pPr>
              <a:r>
                <a:rPr lang="en-GB" sz="1000">
                  <a:solidFill>
                    <a:schemeClr val="tx1"/>
                  </a:solidFill>
                  <a:latin typeface="Montserrat Light (Body)"/>
                </a:rPr>
                <a:t>Delivery of the Wish List (FSI)</a:t>
              </a:r>
            </a:p>
            <a:p>
              <a:pPr marL="171450" indent="-171450" fontAlgn="b">
                <a:buFontTx/>
                <a:buChar char="-"/>
              </a:pPr>
              <a:r>
                <a:rPr lang="en-GB" sz="1000">
                  <a:solidFill>
                    <a:schemeClr val="tx1"/>
                  </a:solidFill>
                  <a:latin typeface="Montserrat Light (Body)"/>
                </a:rPr>
                <a:t>Pre-Move-In Inspection / PMI (FSI)</a:t>
              </a:r>
            </a:p>
            <a:p>
              <a:pPr marL="171450" indent="-171450" fontAlgn="b">
                <a:buFontTx/>
                <a:buChar char="-"/>
              </a:pPr>
              <a:r>
                <a:rPr lang="en-GB" sz="1000">
                  <a:solidFill>
                    <a:schemeClr val="tx1"/>
                  </a:solidFill>
                  <a:latin typeface="Montserrat Light (Body)"/>
                </a:rPr>
                <a:t>'100-point' Checklist for newly built units (FSI)</a:t>
              </a:r>
            </a:p>
            <a:p>
              <a:pPr marL="171450" indent="-171450" fontAlgn="b">
                <a:buFontTx/>
                <a:buChar char="-"/>
              </a:pPr>
              <a:r>
                <a:rPr lang="en-GB" sz="1000">
                  <a:solidFill>
                    <a:schemeClr val="tx1"/>
                  </a:solidFill>
                  <a:latin typeface="Montserrat Light (Body)"/>
                </a:rPr>
                <a:t>Home Induction for newly built units (FSI) </a:t>
              </a:r>
            </a:p>
            <a:p>
              <a:pPr marL="171450" indent="-171450" fontAlgn="b">
                <a:buFontTx/>
                <a:buChar char="-"/>
              </a:pPr>
              <a:r>
                <a:rPr lang="en-GB" sz="1000">
                  <a:solidFill>
                    <a:schemeClr val="tx1"/>
                  </a:solidFill>
                  <a:latin typeface="Montserrat Light (Body)"/>
                </a:rPr>
                <a:t>Key release (FSI)</a:t>
              </a:r>
            </a:p>
            <a:p>
              <a:pPr marL="171450" indent="-171450" fontAlgn="b">
                <a:buFontTx/>
                <a:buChar char="-"/>
              </a:pPr>
              <a:r>
                <a:rPr lang="en-GB" sz="1000">
                  <a:solidFill>
                    <a:schemeClr val="tx1"/>
                  </a:solidFill>
                  <a:latin typeface="Montserrat Light (Body)"/>
                </a:rPr>
                <a:t>Pre-Vacant inspection / PVI (FSI)</a:t>
              </a:r>
            </a:p>
            <a:p>
              <a:pPr marL="171450" indent="-171450" fontAlgn="b">
                <a:buFontTx/>
                <a:buChar char="-"/>
              </a:pPr>
              <a:r>
                <a:rPr lang="en-GB" sz="1000">
                  <a:solidFill>
                    <a:schemeClr val="tx1"/>
                  </a:solidFill>
                  <a:latin typeface="Montserrat Light (Body)"/>
                </a:rPr>
                <a:t>Future Vacant Form / Vacant Form (FSI)</a:t>
              </a:r>
            </a:p>
            <a:p>
              <a:pPr marL="171450" indent="-171450" fontAlgn="b">
                <a:buFontTx/>
                <a:buChar char="-"/>
              </a:pPr>
              <a:r>
                <a:rPr lang="en-GB" sz="1000">
                  <a:solidFill>
                    <a:schemeClr val="tx1"/>
                  </a:solidFill>
                  <a:latin typeface="Montserrat Light (Body)"/>
                </a:rPr>
                <a:t>Spec of Works (FSI)</a:t>
              </a:r>
            </a:p>
            <a:p>
              <a:pPr marL="171450" indent="-171450" fontAlgn="b">
                <a:buFontTx/>
                <a:buChar char="-"/>
              </a:pPr>
              <a:r>
                <a:rPr lang="en-GB" sz="1000">
                  <a:solidFill>
                    <a:schemeClr val="tx1"/>
                  </a:solidFill>
                  <a:latin typeface="Montserrat Light (Body)"/>
                </a:rPr>
                <a:t>Move-out Pack (various)</a:t>
              </a:r>
            </a:p>
            <a:p>
              <a:pPr marL="171450" indent="-171450" fontAlgn="b">
                <a:buFontTx/>
                <a:buChar char="-"/>
              </a:pPr>
              <a:r>
                <a:rPr lang="en-GB" sz="1000">
                  <a:solidFill>
                    <a:schemeClr val="tx1"/>
                  </a:solidFill>
                  <a:latin typeface="Montserrat Light (Body)"/>
                </a:rPr>
                <a:t>Make unit available to view (Salesforce)</a:t>
              </a:r>
            </a:p>
            <a:p>
              <a:pPr marL="171450" indent="-171450" fontAlgn="b">
                <a:buFontTx/>
                <a:buChar char="-"/>
              </a:pPr>
              <a:r>
                <a:rPr lang="en-GB" sz="1000">
                  <a:solidFill>
                    <a:schemeClr val="tx1"/>
                  </a:solidFill>
                  <a:latin typeface="Montserrat Light (Body)"/>
                </a:rPr>
                <a:t>Check Out Report (FSI)</a:t>
              </a:r>
            </a:p>
            <a:p>
              <a:pPr marL="171450" indent="-171450" fontAlgn="b">
                <a:buFontTx/>
                <a:buChar char="-"/>
              </a:pPr>
              <a:r>
                <a:rPr lang="en-GB" sz="1000">
                  <a:solidFill>
                    <a:schemeClr val="tx1"/>
                  </a:solidFill>
                  <a:latin typeface="Montserrat Light (Body)"/>
                </a:rPr>
                <a:t>Upload DRI (FSI)</a:t>
              </a:r>
            </a:p>
            <a:p>
              <a:pPr algn="ctr" fontAlgn="b"/>
              <a:endParaRPr lang="en-GB">
                <a:latin typeface="Arial" panose="020B0604020202020204" pitchFamily="34" charset="0"/>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55809" y="1339786"/>
            <a:ext cx="3520784" cy="1827740"/>
            <a:chOff x="358772" y="2399498"/>
            <a:chExt cx="4120947" cy="1487484"/>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211152"/>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N/A</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15</a:t>
            </a:fld>
            <a:endParaRPr lang="en-GB"/>
          </a:p>
        </p:txBody>
      </p:sp>
      <p:grpSp>
        <p:nvGrpSpPr>
          <p:cNvPr id="10" name="Group 9">
            <a:extLst>
              <a:ext uri="{FF2B5EF4-FFF2-40B4-BE49-F238E27FC236}">
                <a16:creationId xmlns:a16="http://schemas.microsoft.com/office/drawing/2014/main" id="{2F6F591E-9942-4CDA-AEF7-F8449BF87F0A}"/>
              </a:ext>
            </a:extLst>
          </p:cNvPr>
          <p:cNvGrpSpPr/>
          <p:nvPr/>
        </p:nvGrpSpPr>
        <p:grpSpPr>
          <a:xfrm>
            <a:off x="5255809" y="3352874"/>
            <a:ext cx="3520781" cy="2931969"/>
            <a:chOff x="358772" y="2399498"/>
            <a:chExt cx="4120947" cy="2399869"/>
          </a:xfrm>
        </p:grpSpPr>
        <p:sp>
          <p:nvSpPr>
            <p:cNvPr id="11" name="Rectangle 10">
              <a:extLst>
                <a:ext uri="{FF2B5EF4-FFF2-40B4-BE49-F238E27FC236}">
                  <a16:creationId xmlns:a16="http://schemas.microsoft.com/office/drawing/2014/main" id="{7F3DB240-F7E7-4CD5-930A-4D1A128FC6B6}"/>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0F3B9D81-6A36-4147-B787-478AD20F20F2}"/>
                </a:ext>
              </a:extLst>
            </p:cNvPr>
            <p:cNvSpPr/>
            <p:nvPr/>
          </p:nvSpPr>
          <p:spPr>
            <a:xfrm>
              <a:off x="358772" y="2675830"/>
              <a:ext cx="4120945" cy="2123537"/>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Automatic update of move-in / move-out dates in Salesforce from FSI when PM updates progress*</a:t>
              </a:r>
            </a:p>
            <a:p>
              <a:pPr marL="171450" indent="-171450" fontAlgn="b">
                <a:spcBef>
                  <a:spcPts val="400"/>
                </a:spcBef>
                <a:buFontTx/>
                <a:buChar char="-"/>
              </a:pPr>
              <a:r>
                <a:rPr lang="en-GB" sz="1000">
                  <a:solidFill>
                    <a:schemeClr val="tx1"/>
                  </a:solidFill>
                  <a:latin typeface="Montserrat Light (Body)"/>
                </a:rPr>
                <a:t>Automated Move-in Survey – relies on Salesforce functionality</a:t>
              </a:r>
            </a:p>
            <a:p>
              <a:pPr marL="171450" indent="-171450" fontAlgn="b">
                <a:spcBef>
                  <a:spcPts val="400"/>
                </a:spcBef>
                <a:buFontTx/>
                <a:buChar char="-"/>
              </a:pPr>
              <a:r>
                <a:rPr lang="en-GB" sz="1000">
                  <a:solidFill>
                    <a:schemeClr val="tx1"/>
                  </a:solidFill>
                  <a:latin typeface="Montserrat Light (Body)"/>
                </a:rPr>
                <a:t>Welcome Pack available online – part of MyGrainger Portal future development</a:t>
              </a:r>
            </a:p>
            <a:p>
              <a:pPr marL="171450" indent="-171450" fontAlgn="b">
                <a:spcBef>
                  <a:spcPts val="400"/>
                </a:spcBef>
                <a:buFontTx/>
                <a:buChar char="-"/>
              </a:pPr>
              <a:r>
                <a:rPr lang="en-GB" sz="1000">
                  <a:solidFill>
                    <a:schemeClr val="tx1"/>
                  </a:solidFill>
                  <a:latin typeface="Montserrat Light (Body)"/>
                </a:rPr>
                <a:t>Settling in documents available online – part of MyGrainger Portal future development</a:t>
              </a:r>
            </a:p>
            <a:p>
              <a:pPr marL="171450" indent="-171450" fontAlgn="b">
                <a:spcBef>
                  <a:spcPts val="400"/>
                </a:spcBef>
                <a:buFontTx/>
                <a:buChar char="-"/>
              </a:pPr>
              <a:r>
                <a:rPr lang="en-GB" sz="1000">
                  <a:solidFill>
                    <a:schemeClr val="tx1"/>
                  </a:solidFill>
                  <a:latin typeface="Montserrat Light (Body)"/>
                </a:rPr>
                <a:t>Key Management system – this is a separate component which was considered to be delivered as part of Connect decided to keep it out of  Phase 1</a:t>
              </a:r>
            </a:p>
            <a:p>
              <a:pPr marL="171450" indent="-171450" fontAlgn="b">
                <a:spcBef>
                  <a:spcPts val="400"/>
                </a:spcBef>
                <a:buFontTx/>
                <a:buChar char="-"/>
              </a:pPr>
              <a:r>
                <a:rPr lang="en-GB" sz="1000">
                  <a:solidFill>
                    <a:schemeClr val="tx1"/>
                  </a:solidFill>
                  <a:latin typeface="Montserrat Light (Body)"/>
                </a:rPr>
                <a:t>Record Energy Readings and smoke detectors</a:t>
              </a:r>
            </a:p>
            <a:p>
              <a:pPr marL="171450" indent="-171450" fontAlgn="b">
                <a:spcBef>
                  <a:spcPts val="400"/>
                </a:spcBef>
                <a:buFontTx/>
                <a:buChar char="-"/>
              </a:pPr>
              <a:r>
                <a:rPr lang="en-GB" sz="1000">
                  <a:solidFill>
                    <a:schemeClr val="tx1"/>
                  </a:solidFill>
                  <a:latin typeface="Montserrat Light (Body)"/>
                </a:rPr>
                <a:t>Automatic upload of deposit return data into MRI</a:t>
              </a:r>
            </a:p>
          </p:txBody>
        </p:sp>
      </p:grpSp>
      <p:sp>
        <p:nvSpPr>
          <p:cNvPr id="2" name="TextBox 1">
            <a:extLst>
              <a:ext uri="{FF2B5EF4-FFF2-40B4-BE49-F238E27FC236}">
                <a16:creationId xmlns:a16="http://schemas.microsoft.com/office/drawing/2014/main" id="{F96EED6A-B256-4319-8F53-147C6661C246}"/>
              </a:ext>
            </a:extLst>
          </p:cNvPr>
          <p:cNvSpPr txBox="1"/>
          <p:nvPr/>
        </p:nvSpPr>
        <p:spPr>
          <a:xfrm>
            <a:off x="1526796" y="6437777"/>
            <a:ext cx="4051109" cy="246221"/>
          </a:xfrm>
          <a:prstGeom prst="rect">
            <a:avLst/>
          </a:prstGeom>
          <a:noFill/>
        </p:spPr>
        <p:txBody>
          <a:bodyPr wrap="none" rtlCol="0">
            <a:spAutoFit/>
          </a:bodyPr>
          <a:lstStyle/>
          <a:p>
            <a:pPr algn="l"/>
            <a:r>
              <a:rPr lang="en-GB" sz="1000"/>
              <a:t>* To be brought into ‘phase 1’ if possible given detailed design</a:t>
            </a:r>
          </a:p>
        </p:txBody>
      </p:sp>
    </p:spTree>
    <p:extLst>
      <p:ext uri="{BB962C8B-B14F-4D97-AF65-F5344CB8AC3E}">
        <p14:creationId xmlns:p14="http://schemas.microsoft.com/office/powerpoint/2010/main" val="1765661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Picture 12" descr="Image result for proactis software">
            <a:extLst>
              <a:ext uri="{FF2B5EF4-FFF2-40B4-BE49-F238E27FC236}">
                <a16:creationId xmlns:a16="http://schemas.microsoft.com/office/drawing/2014/main" id="{0C6E9F37-273B-42AD-B0E4-5EBCF5AB5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4369" y="4331196"/>
            <a:ext cx="687443" cy="28460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2090523E-3CB7-4F4E-A9C4-A84B003EC8B2}"/>
              </a:ext>
            </a:extLst>
          </p:cNvPr>
          <p:cNvSpPr>
            <a:spLocks noGrp="1"/>
          </p:cNvSpPr>
          <p:nvPr>
            <p:ph type="title"/>
          </p:nvPr>
        </p:nvSpPr>
        <p:spPr/>
        <p:txBody>
          <a:bodyPr/>
          <a:lstStyle/>
          <a:p>
            <a:r>
              <a:rPr lang="en-GB"/>
              <a:t>Onboarding, invest, develop, sales</a:t>
            </a:r>
            <a:br>
              <a:rPr lang="en-GB"/>
            </a:br>
            <a:r>
              <a:rPr lang="en-GB" sz="2400" i="1"/>
              <a:t>Process Summary</a:t>
            </a:r>
            <a:endParaRPr lang="en-GB"/>
          </a:p>
        </p:txBody>
      </p:sp>
      <p:pic>
        <p:nvPicPr>
          <p:cNvPr id="1034" name="Picture 10" descr="Image result for mri software">
            <a:extLst>
              <a:ext uri="{FF2B5EF4-FFF2-40B4-BE49-F238E27FC236}">
                <a16:creationId xmlns:a16="http://schemas.microsoft.com/office/drawing/2014/main" id="{5641B02B-3DDF-44E3-90A3-DB9234974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371" y="1378196"/>
            <a:ext cx="833582" cy="451524"/>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6121F045-6EE4-4857-9388-61FF75D0A788}"/>
              </a:ext>
            </a:extLst>
          </p:cNvPr>
          <p:cNvGrpSpPr/>
          <p:nvPr/>
        </p:nvGrpSpPr>
        <p:grpSpPr>
          <a:xfrm>
            <a:off x="3830718" y="1177189"/>
            <a:ext cx="956672" cy="887851"/>
            <a:chOff x="3394755" y="1328537"/>
            <a:chExt cx="956672" cy="887851"/>
          </a:xfrm>
        </p:grpSpPr>
        <p:grpSp>
          <p:nvGrpSpPr>
            <p:cNvPr id="8" name="Group 7">
              <a:extLst>
                <a:ext uri="{FF2B5EF4-FFF2-40B4-BE49-F238E27FC236}">
                  <a16:creationId xmlns:a16="http://schemas.microsoft.com/office/drawing/2014/main" id="{DAF27073-C869-4D64-ADFF-4BC599EF56EE}"/>
                </a:ext>
              </a:extLst>
            </p:cNvPr>
            <p:cNvGrpSpPr/>
            <p:nvPr/>
          </p:nvGrpSpPr>
          <p:grpSpPr>
            <a:xfrm>
              <a:off x="3490606" y="1328537"/>
              <a:ext cx="763679" cy="698136"/>
              <a:chOff x="3583596" y="2595464"/>
              <a:chExt cx="1797425" cy="1643161"/>
            </a:xfrm>
          </p:grpSpPr>
          <p:pic>
            <p:nvPicPr>
              <p:cNvPr id="1028" name="Picture 4" descr="Related image">
                <a:extLst>
                  <a:ext uri="{FF2B5EF4-FFF2-40B4-BE49-F238E27FC236}">
                    <a16:creationId xmlns:a16="http://schemas.microsoft.com/office/drawing/2014/main" id="{2B5C4720-3684-4759-BE9B-D1CBB23CCA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6188" y="2595464"/>
                <a:ext cx="1594833" cy="1643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rainger plc">
                <a:extLst>
                  <a:ext uri="{FF2B5EF4-FFF2-40B4-BE49-F238E27FC236}">
                    <a16:creationId xmlns:a16="http://schemas.microsoft.com/office/drawing/2014/main" id="{54FFAB99-3C85-4E12-B396-B2F29EBC62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3596" y="2983424"/>
                <a:ext cx="790802" cy="15942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028D2EEA-B7D2-42A5-B8AF-9214FEE49C73}"/>
                </a:ext>
              </a:extLst>
            </p:cNvPr>
            <p:cNvSpPr txBox="1"/>
            <p:nvPr/>
          </p:nvSpPr>
          <p:spPr>
            <a:xfrm>
              <a:off x="3394755" y="1970167"/>
              <a:ext cx="956672" cy="246221"/>
            </a:xfrm>
            <a:prstGeom prst="rect">
              <a:avLst/>
            </a:prstGeom>
            <a:noFill/>
          </p:spPr>
          <p:txBody>
            <a:bodyPr wrap="none" rtlCol="0">
              <a:spAutoFit/>
            </a:bodyPr>
            <a:lstStyle/>
            <a:p>
              <a:pPr algn="ctr"/>
              <a:r>
                <a:rPr lang="en-GB" sz="1000" spc="-60"/>
                <a:t>Grainger user</a:t>
              </a:r>
            </a:p>
          </p:txBody>
        </p:sp>
      </p:grpSp>
      <p:pic>
        <p:nvPicPr>
          <p:cNvPr id="1040" name="Picture 16" descr="Image result for fsi concept evolution">
            <a:extLst>
              <a:ext uri="{FF2B5EF4-FFF2-40B4-BE49-F238E27FC236}">
                <a16:creationId xmlns:a16="http://schemas.microsoft.com/office/drawing/2014/main" id="{07227992-4DF5-448C-8D6A-DA2B13347F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63020" y="2086180"/>
            <a:ext cx="655199" cy="34873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39F88972-C224-46CD-90FC-130DA7DCA100}"/>
              </a:ext>
            </a:extLst>
          </p:cNvPr>
          <p:cNvSpPr/>
          <p:nvPr/>
        </p:nvSpPr>
        <p:spPr>
          <a:xfrm>
            <a:off x="367209" y="3590467"/>
            <a:ext cx="1231487" cy="7112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Property Sale</a:t>
            </a:r>
          </a:p>
        </p:txBody>
      </p:sp>
      <p:sp>
        <p:nvSpPr>
          <p:cNvPr id="34" name="Rectangle: Rounded Corners 33">
            <a:extLst>
              <a:ext uri="{FF2B5EF4-FFF2-40B4-BE49-F238E27FC236}">
                <a16:creationId xmlns:a16="http://schemas.microsoft.com/office/drawing/2014/main" id="{E4A15AA2-33D4-47C6-99E8-0B5A8F13E9F6}"/>
              </a:ext>
            </a:extLst>
          </p:cNvPr>
          <p:cNvSpPr/>
          <p:nvPr/>
        </p:nvSpPr>
        <p:spPr>
          <a:xfrm>
            <a:off x="358774" y="2120379"/>
            <a:ext cx="1231487" cy="1363845"/>
          </a:xfrm>
          <a:prstGeom prst="roundRect">
            <a:avLst>
              <a:gd name="adj" fmla="val 233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Onboarding</a:t>
            </a:r>
          </a:p>
        </p:txBody>
      </p:sp>
      <p:sp>
        <p:nvSpPr>
          <p:cNvPr id="36" name="Rectangle: Rounded Corners 35">
            <a:extLst>
              <a:ext uri="{FF2B5EF4-FFF2-40B4-BE49-F238E27FC236}">
                <a16:creationId xmlns:a16="http://schemas.microsoft.com/office/drawing/2014/main" id="{765AAE3B-3B7F-4B73-8E53-363674E0274A}"/>
              </a:ext>
            </a:extLst>
          </p:cNvPr>
          <p:cNvSpPr/>
          <p:nvPr/>
        </p:nvSpPr>
        <p:spPr>
          <a:xfrm>
            <a:off x="358773" y="5034185"/>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Forward Funding</a:t>
            </a:r>
          </a:p>
        </p:txBody>
      </p:sp>
      <p:sp>
        <p:nvSpPr>
          <p:cNvPr id="37" name="Rectangle: Rounded Corners 36">
            <a:extLst>
              <a:ext uri="{FF2B5EF4-FFF2-40B4-BE49-F238E27FC236}">
                <a16:creationId xmlns:a16="http://schemas.microsoft.com/office/drawing/2014/main" id="{EF895177-FA4B-452A-B69F-F563874DFADA}"/>
              </a:ext>
            </a:extLst>
          </p:cNvPr>
          <p:cNvSpPr/>
          <p:nvPr/>
        </p:nvSpPr>
        <p:spPr>
          <a:xfrm>
            <a:off x="358773" y="4410608"/>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Property Valuation</a:t>
            </a:r>
          </a:p>
        </p:txBody>
      </p:sp>
      <p:cxnSp>
        <p:nvCxnSpPr>
          <p:cNvPr id="38" name="Straight Connector 37">
            <a:extLst>
              <a:ext uri="{FF2B5EF4-FFF2-40B4-BE49-F238E27FC236}">
                <a16:creationId xmlns:a16="http://schemas.microsoft.com/office/drawing/2014/main" id="{E4020A13-93E1-4EF1-BB53-D6BB92557520}"/>
              </a:ext>
            </a:extLst>
          </p:cNvPr>
          <p:cNvCxnSpPr>
            <a:cxnSpLocks/>
          </p:cNvCxnSpPr>
          <p:nvPr/>
        </p:nvCxnSpPr>
        <p:spPr>
          <a:xfrm>
            <a:off x="358773" y="6256990"/>
            <a:ext cx="8434051" cy="65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53DB7D0-E1CB-41AE-A41E-31AAC2D629C7}"/>
              </a:ext>
            </a:extLst>
          </p:cNvPr>
          <p:cNvCxnSpPr>
            <a:cxnSpLocks/>
          </p:cNvCxnSpPr>
          <p:nvPr/>
        </p:nvCxnSpPr>
        <p:spPr>
          <a:xfrm>
            <a:off x="358773" y="2072945"/>
            <a:ext cx="8434051" cy="729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878C018B-C42A-4986-B3BC-9D035266408B}"/>
              </a:ext>
            </a:extLst>
          </p:cNvPr>
          <p:cNvSpPr/>
          <p:nvPr/>
        </p:nvSpPr>
        <p:spPr>
          <a:xfrm>
            <a:off x="1627460" y="3542420"/>
            <a:ext cx="1783127" cy="821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Decides whether / when to sell properties</a:t>
            </a:r>
          </a:p>
          <a:p>
            <a:pPr marL="87313" indent="-87313">
              <a:spcAft>
                <a:spcPts val="400"/>
              </a:spcAft>
              <a:buFontTx/>
              <a:buChar char="-"/>
            </a:pPr>
            <a:r>
              <a:rPr lang="en-GB" sz="800">
                <a:solidFill>
                  <a:schemeClr val="tx1"/>
                </a:solidFill>
                <a:latin typeface="Montserrat" panose="00000500000000000000" pitchFamily="50" charset="0"/>
              </a:rPr>
              <a:t>Decides on sales conditions / price etc</a:t>
            </a:r>
          </a:p>
        </p:txBody>
      </p:sp>
      <p:sp>
        <p:nvSpPr>
          <p:cNvPr id="42" name="Rectangle 41">
            <a:extLst>
              <a:ext uri="{FF2B5EF4-FFF2-40B4-BE49-F238E27FC236}">
                <a16:creationId xmlns:a16="http://schemas.microsoft.com/office/drawing/2014/main" id="{1EFF5ADB-7878-4E81-854A-6BD1E528F952}"/>
              </a:ext>
            </a:extLst>
          </p:cNvPr>
          <p:cNvSpPr/>
          <p:nvPr/>
        </p:nvSpPr>
        <p:spPr>
          <a:xfrm>
            <a:off x="3417491" y="3542419"/>
            <a:ext cx="1783127" cy="821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sales process</a:t>
            </a:r>
          </a:p>
          <a:p>
            <a:pPr marL="87313" indent="-87313">
              <a:spcAft>
                <a:spcPts val="400"/>
              </a:spcAft>
              <a:buFontTx/>
              <a:buChar char="-"/>
            </a:pPr>
            <a:r>
              <a:rPr lang="en-GB" sz="800">
                <a:solidFill>
                  <a:schemeClr val="tx1"/>
                </a:solidFill>
                <a:latin typeface="Montserrat" panose="00000500000000000000" pitchFamily="50" charset="0"/>
              </a:rPr>
              <a:t>Instruct solicitors</a:t>
            </a:r>
          </a:p>
          <a:p>
            <a:pPr marL="87313" indent="-87313">
              <a:spcAft>
                <a:spcPts val="400"/>
              </a:spcAft>
              <a:buFontTx/>
              <a:buChar char="-"/>
            </a:pPr>
            <a:r>
              <a:rPr lang="en-GB" sz="800">
                <a:solidFill>
                  <a:schemeClr val="tx1"/>
                </a:solidFill>
                <a:latin typeface="Montserrat" panose="00000500000000000000" pitchFamily="50" charset="0"/>
              </a:rPr>
              <a:t>Creates leasehold and onboards leasehold customers</a:t>
            </a:r>
          </a:p>
        </p:txBody>
      </p:sp>
      <p:sp>
        <p:nvSpPr>
          <p:cNvPr id="44" name="Rectangle 43">
            <a:extLst>
              <a:ext uri="{FF2B5EF4-FFF2-40B4-BE49-F238E27FC236}">
                <a16:creationId xmlns:a16="http://schemas.microsoft.com/office/drawing/2014/main" id="{C73725E3-3670-456A-A8DC-E662CB1E0068}"/>
              </a:ext>
            </a:extLst>
          </p:cNvPr>
          <p:cNvSpPr/>
          <p:nvPr/>
        </p:nvSpPr>
        <p:spPr>
          <a:xfrm>
            <a:off x="5207522" y="3544010"/>
            <a:ext cx="1783127" cy="8225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Tracks sales process and notifies Grainger departments</a:t>
            </a:r>
          </a:p>
          <a:p>
            <a:pPr marL="87313" indent="-87313">
              <a:spcAft>
                <a:spcPts val="400"/>
              </a:spcAft>
              <a:buFontTx/>
              <a:buChar char="-"/>
            </a:pPr>
            <a:r>
              <a:rPr lang="en-GB" sz="800">
                <a:solidFill>
                  <a:schemeClr val="tx1"/>
                </a:solidFill>
                <a:latin typeface="Montserrat" panose="00000500000000000000" pitchFamily="50" charset="0"/>
              </a:rPr>
              <a:t>Manages sales KPIs and financials</a:t>
            </a:r>
          </a:p>
        </p:txBody>
      </p:sp>
      <p:sp>
        <p:nvSpPr>
          <p:cNvPr id="45" name="Rectangle 44">
            <a:extLst>
              <a:ext uri="{FF2B5EF4-FFF2-40B4-BE49-F238E27FC236}">
                <a16:creationId xmlns:a16="http://schemas.microsoft.com/office/drawing/2014/main" id="{2B31F215-31B2-4974-89BA-BF22ED83B577}"/>
              </a:ext>
            </a:extLst>
          </p:cNvPr>
          <p:cNvSpPr/>
          <p:nvPr/>
        </p:nvSpPr>
        <p:spPr>
          <a:xfrm>
            <a:off x="6997554" y="3544011"/>
            <a:ext cx="1783127" cy="819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latin typeface="Montserrat" panose="00000500000000000000" pitchFamily="50" charset="0"/>
              </a:rPr>
              <a:t>Manages refurbishments via  workflow</a:t>
            </a:r>
          </a:p>
          <a:p>
            <a:pPr marL="171450" indent="-171450">
              <a:spcAft>
                <a:spcPts val="400"/>
              </a:spcAft>
              <a:buFontTx/>
              <a:buChar char="-"/>
            </a:pPr>
            <a:endParaRPr lang="en-GB" sz="800">
              <a:solidFill>
                <a:schemeClr val="tx1"/>
              </a:solidFill>
              <a:latin typeface="Montserrat" panose="00000500000000000000" pitchFamily="50" charset="0"/>
            </a:endParaRPr>
          </a:p>
        </p:txBody>
      </p:sp>
      <p:cxnSp>
        <p:nvCxnSpPr>
          <p:cNvPr id="50" name="Straight Connector 49">
            <a:extLst>
              <a:ext uri="{FF2B5EF4-FFF2-40B4-BE49-F238E27FC236}">
                <a16:creationId xmlns:a16="http://schemas.microsoft.com/office/drawing/2014/main" id="{81E18326-3A10-4302-AD41-768380C578DE}"/>
              </a:ext>
            </a:extLst>
          </p:cNvPr>
          <p:cNvCxnSpPr>
            <a:cxnSpLocks/>
          </p:cNvCxnSpPr>
          <p:nvPr/>
        </p:nvCxnSpPr>
        <p:spPr>
          <a:xfrm>
            <a:off x="367209" y="4356488"/>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106362-09F5-482D-A210-57846B1A88DE}"/>
              </a:ext>
            </a:extLst>
          </p:cNvPr>
          <p:cNvCxnSpPr>
            <a:cxnSpLocks/>
          </p:cNvCxnSpPr>
          <p:nvPr/>
        </p:nvCxnSpPr>
        <p:spPr>
          <a:xfrm>
            <a:off x="358773" y="3539045"/>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8270735-EC7E-4275-8FA1-7467D68E67DC}"/>
              </a:ext>
            </a:extLst>
          </p:cNvPr>
          <p:cNvCxnSpPr>
            <a:cxnSpLocks/>
          </p:cNvCxnSpPr>
          <p:nvPr/>
        </p:nvCxnSpPr>
        <p:spPr>
          <a:xfrm>
            <a:off x="358773" y="5619687"/>
            <a:ext cx="8434051" cy="96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19C72B7C-CDBC-4969-8944-C7D25FD4B6C9}"/>
              </a:ext>
            </a:extLst>
          </p:cNvPr>
          <p:cNvSpPr/>
          <p:nvPr/>
        </p:nvSpPr>
        <p:spPr>
          <a:xfrm>
            <a:off x="1627460" y="2086180"/>
            <a:ext cx="1783127" cy="146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Provides detailed information  about the property to be onboarded</a:t>
            </a:r>
          </a:p>
          <a:p>
            <a:pPr marL="87313" indent="-87313">
              <a:spcAft>
                <a:spcPts val="400"/>
              </a:spcAft>
              <a:buFontTx/>
              <a:buChar char="-"/>
            </a:pPr>
            <a:r>
              <a:rPr lang="en-GB" sz="800">
                <a:solidFill>
                  <a:schemeClr val="tx1"/>
                </a:solidFill>
                <a:latin typeface="Montserrat" panose="00000500000000000000" pitchFamily="50" charset="0"/>
              </a:rPr>
              <a:t>Manages key milestones on development / investment which trigger onboarding</a:t>
            </a:r>
          </a:p>
          <a:p>
            <a:pPr marL="87313" indent="-87313">
              <a:spcAft>
                <a:spcPts val="400"/>
              </a:spcAft>
              <a:buFontTx/>
              <a:buChar char="-"/>
            </a:pPr>
            <a:r>
              <a:rPr lang="en-GB" sz="800">
                <a:solidFill>
                  <a:schemeClr val="tx1"/>
                </a:solidFill>
                <a:latin typeface="Montserrat" panose="00000500000000000000" pitchFamily="50" charset="0"/>
              </a:rPr>
              <a:t>Collates relevant asset data to enable property management</a:t>
            </a:r>
          </a:p>
        </p:txBody>
      </p:sp>
      <p:sp>
        <p:nvSpPr>
          <p:cNvPr id="56" name="Rectangle 55">
            <a:extLst>
              <a:ext uri="{FF2B5EF4-FFF2-40B4-BE49-F238E27FC236}">
                <a16:creationId xmlns:a16="http://schemas.microsoft.com/office/drawing/2014/main" id="{182FA9C0-619F-4A41-8352-F66FDAC2359D}"/>
              </a:ext>
            </a:extLst>
          </p:cNvPr>
          <p:cNvSpPr/>
          <p:nvPr/>
        </p:nvSpPr>
        <p:spPr>
          <a:xfrm>
            <a:off x="3417491" y="2085665"/>
            <a:ext cx="1783127" cy="1466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Collates all information from different parts of the business</a:t>
            </a:r>
          </a:p>
          <a:p>
            <a:pPr marL="87313" indent="-87313">
              <a:spcAft>
                <a:spcPts val="400"/>
              </a:spcAft>
              <a:buFontTx/>
              <a:buChar char="-"/>
            </a:pPr>
            <a:r>
              <a:rPr lang="en-GB" sz="800">
                <a:solidFill>
                  <a:schemeClr val="tx1"/>
                </a:solidFill>
                <a:latin typeface="Montserrat" panose="00000500000000000000" pitchFamily="50" charset="0"/>
              </a:rPr>
              <a:t>Validates MRI template for completion and consistency</a:t>
            </a:r>
          </a:p>
          <a:p>
            <a:pPr marL="87313" indent="-87313">
              <a:spcAft>
                <a:spcPts val="400"/>
              </a:spcAft>
              <a:buFontTx/>
              <a:buChar char="-"/>
            </a:pPr>
            <a:r>
              <a:rPr lang="en-GB" sz="800">
                <a:solidFill>
                  <a:schemeClr val="tx1"/>
                </a:solidFill>
                <a:latin typeface="Montserrat" panose="00000500000000000000" pitchFamily="50" charset="0"/>
              </a:rPr>
              <a:t>Collates asset data into FSI template</a:t>
            </a:r>
          </a:p>
          <a:p>
            <a:pPr marL="87313" indent="-87313">
              <a:spcAft>
                <a:spcPts val="400"/>
              </a:spcAft>
              <a:buFontTx/>
              <a:buChar char="-"/>
            </a:pPr>
            <a:r>
              <a:rPr lang="en-GB" sz="800">
                <a:solidFill>
                  <a:schemeClr val="tx1"/>
                </a:solidFill>
                <a:latin typeface="Montserrat" panose="00000500000000000000" pitchFamily="50" charset="0"/>
              </a:rPr>
              <a:t>Uploads onboarding templates into systems</a:t>
            </a:r>
          </a:p>
        </p:txBody>
      </p:sp>
      <p:sp>
        <p:nvSpPr>
          <p:cNvPr id="58" name="Rectangle 57">
            <a:extLst>
              <a:ext uri="{FF2B5EF4-FFF2-40B4-BE49-F238E27FC236}">
                <a16:creationId xmlns:a16="http://schemas.microsoft.com/office/drawing/2014/main" id="{786191EF-A61B-4D03-BF4D-E18368142D34}"/>
              </a:ext>
            </a:extLst>
          </p:cNvPr>
          <p:cNvSpPr/>
          <p:nvPr/>
        </p:nvSpPr>
        <p:spPr>
          <a:xfrm>
            <a:off x="5207522" y="2094743"/>
            <a:ext cx="1783127" cy="14674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new properties / units / accounts based on onboarding template</a:t>
            </a:r>
          </a:p>
          <a:p>
            <a:pPr marL="87313" indent="-87313">
              <a:spcAft>
                <a:spcPts val="400"/>
              </a:spcAft>
              <a:buFontTx/>
              <a:buChar char="-"/>
            </a:pPr>
            <a:r>
              <a:rPr lang="en-GB" sz="800">
                <a:solidFill>
                  <a:schemeClr val="tx1"/>
                </a:solidFill>
                <a:latin typeface="Montserrat" panose="00000500000000000000" pitchFamily="50" charset="0"/>
              </a:rPr>
              <a:t>Masters the property / customer information to be populated into other systems </a:t>
            </a:r>
          </a:p>
        </p:txBody>
      </p:sp>
      <p:sp>
        <p:nvSpPr>
          <p:cNvPr id="59" name="Rectangle 58">
            <a:extLst>
              <a:ext uri="{FF2B5EF4-FFF2-40B4-BE49-F238E27FC236}">
                <a16:creationId xmlns:a16="http://schemas.microsoft.com/office/drawing/2014/main" id="{38113446-553A-4665-9677-B457E9DD9AD5}"/>
              </a:ext>
            </a:extLst>
          </p:cNvPr>
          <p:cNvSpPr/>
          <p:nvPr/>
        </p:nvSpPr>
        <p:spPr>
          <a:xfrm>
            <a:off x="6997554" y="2434915"/>
            <a:ext cx="1783127" cy="1106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latin typeface="Montserrat" panose="00000500000000000000" pitchFamily="50" charset="0"/>
              </a:rPr>
              <a:t>Configure new properties and assets from information in MRI</a:t>
            </a:r>
          </a:p>
          <a:p>
            <a:pPr marL="171450" indent="-171450">
              <a:spcAft>
                <a:spcPts val="400"/>
              </a:spcAft>
              <a:buFontTx/>
              <a:buChar char="-"/>
            </a:pPr>
            <a:r>
              <a:rPr lang="en-GB" sz="800">
                <a:solidFill>
                  <a:schemeClr val="tx1"/>
                </a:solidFill>
                <a:latin typeface="Montserrat" panose="00000500000000000000" pitchFamily="50" charset="0"/>
              </a:rPr>
              <a:t>Load asset information directly from FSI template </a:t>
            </a:r>
          </a:p>
        </p:txBody>
      </p:sp>
      <p:sp>
        <p:nvSpPr>
          <p:cNvPr id="67" name="Rectangle 66">
            <a:extLst>
              <a:ext uri="{FF2B5EF4-FFF2-40B4-BE49-F238E27FC236}">
                <a16:creationId xmlns:a16="http://schemas.microsoft.com/office/drawing/2014/main" id="{1842E92F-4D4B-4C7F-910B-580B3786F4BA}"/>
              </a:ext>
            </a:extLst>
          </p:cNvPr>
          <p:cNvSpPr/>
          <p:nvPr/>
        </p:nvSpPr>
        <p:spPr>
          <a:xfrm>
            <a:off x="1627460" y="5011014"/>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Identifies &amp; obtains approval for investment opportunities</a:t>
            </a:r>
          </a:p>
          <a:p>
            <a:pPr marL="87313" indent="-87313">
              <a:spcAft>
                <a:spcPts val="400"/>
              </a:spcAft>
              <a:buFontTx/>
              <a:buChar char="-"/>
            </a:pPr>
            <a:r>
              <a:rPr lang="en-GB" sz="800">
                <a:solidFill>
                  <a:schemeClr val="tx1"/>
                </a:solidFill>
                <a:latin typeface="Montserrat" panose="00000500000000000000" pitchFamily="50" charset="0"/>
              </a:rPr>
              <a:t>Appoints consultants, solicitors</a:t>
            </a:r>
          </a:p>
        </p:txBody>
      </p:sp>
      <p:sp>
        <p:nvSpPr>
          <p:cNvPr id="68" name="Rectangle 67">
            <a:extLst>
              <a:ext uri="{FF2B5EF4-FFF2-40B4-BE49-F238E27FC236}">
                <a16:creationId xmlns:a16="http://schemas.microsoft.com/office/drawing/2014/main" id="{1C8A176D-4F84-40C1-9EF2-234BF822F112}"/>
              </a:ext>
            </a:extLst>
          </p:cNvPr>
          <p:cNvSpPr/>
          <p:nvPr/>
        </p:nvSpPr>
        <p:spPr>
          <a:xfrm>
            <a:off x="3417491" y="5011014"/>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87313" indent="-87313">
              <a:spcAft>
                <a:spcPts val="400"/>
              </a:spcAft>
              <a:buFontTx/>
              <a:buChar char="-"/>
            </a:pPr>
            <a:r>
              <a:rPr lang="en-GB" sz="800">
                <a:solidFill>
                  <a:schemeClr val="tx1"/>
                </a:solidFill>
                <a:latin typeface="Montserrat" panose="00000500000000000000" pitchFamily="50" charset="0"/>
              </a:rPr>
              <a:t>Creates budgets</a:t>
            </a:r>
          </a:p>
          <a:p>
            <a:pPr marL="87313" indent="-87313">
              <a:spcAft>
                <a:spcPts val="400"/>
              </a:spcAft>
              <a:buFontTx/>
              <a:buChar char="-"/>
            </a:pPr>
            <a:r>
              <a:rPr lang="en-GB" sz="800">
                <a:solidFill>
                  <a:schemeClr val="tx1"/>
                </a:solidFill>
                <a:latin typeface="Montserrat" panose="00000500000000000000" pitchFamily="50" charset="0"/>
              </a:rPr>
              <a:t>Reviews and approves consultant, solicitor spend</a:t>
            </a:r>
          </a:p>
        </p:txBody>
      </p:sp>
      <p:sp>
        <p:nvSpPr>
          <p:cNvPr id="70" name="Rectangle 69">
            <a:extLst>
              <a:ext uri="{FF2B5EF4-FFF2-40B4-BE49-F238E27FC236}">
                <a16:creationId xmlns:a16="http://schemas.microsoft.com/office/drawing/2014/main" id="{08502B00-D95F-42D3-B831-7CA301CA7139}"/>
              </a:ext>
            </a:extLst>
          </p:cNvPr>
          <p:cNvSpPr/>
          <p:nvPr/>
        </p:nvSpPr>
        <p:spPr>
          <a:xfrm>
            <a:off x="5207522" y="5011014"/>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and reports expenditure vs budget via job costing module</a:t>
            </a:r>
          </a:p>
        </p:txBody>
      </p:sp>
      <p:sp>
        <p:nvSpPr>
          <p:cNvPr id="71" name="Rectangle 70">
            <a:extLst>
              <a:ext uri="{FF2B5EF4-FFF2-40B4-BE49-F238E27FC236}">
                <a16:creationId xmlns:a16="http://schemas.microsoft.com/office/drawing/2014/main" id="{AEBBAC15-A97C-452D-8B94-248BCC813165}"/>
              </a:ext>
            </a:extLst>
          </p:cNvPr>
          <p:cNvSpPr/>
          <p:nvPr/>
        </p:nvSpPr>
        <p:spPr>
          <a:xfrm>
            <a:off x="6997554" y="5632709"/>
            <a:ext cx="1783127" cy="636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latin typeface="Montserrat" panose="00000500000000000000" pitchFamily="50" charset="0"/>
              </a:rPr>
              <a:t>Processes contractor POs and invoices</a:t>
            </a:r>
          </a:p>
          <a:p>
            <a:pPr marL="171450" indent="-171450">
              <a:spcAft>
                <a:spcPts val="400"/>
              </a:spcAft>
              <a:buFontTx/>
              <a:buChar char="-"/>
            </a:pPr>
            <a:r>
              <a:rPr lang="en-GB" sz="800">
                <a:solidFill>
                  <a:schemeClr val="tx1"/>
                </a:solidFill>
                <a:latin typeface="Montserrat" panose="00000500000000000000" pitchFamily="50" charset="0"/>
              </a:rPr>
              <a:t>Handle large, multi-invoice POs</a:t>
            </a:r>
          </a:p>
        </p:txBody>
      </p:sp>
      <p:sp>
        <p:nvSpPr>
          <p:cNvPr id="73" name="Rectangle 72">
            <a:extLst>
              <a:ext uri="{FF2B5EF4-FFF2-40B4-BE49-F238E27FC236}">
                <a16:creationId xmlns:a16="http://schemas.microsoft.com/office/drawing/2014/main" id="{D0964983-77BC-43E8-B4C6-EDD3C87B6545}"/>
              </a:ext>
            </a:extLst>
          </p:cNvPr>
          <p:cNvSpPr/>
          <p:nvPr/>
        </p:nvSpPr>
        <p:spPr>
          <a:xfrm>
            <a:off x="1627460" y="4370993"/>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Provides updated parameters and information on portfolio</a:t>
            </a:r>
          </a:p>
        </p:txBody>
      </p:sp>
      <p:sp>
        <p:nvSpPr>
          <p:cNvPr id="74" name="Rectangle 73">
            <a:extLst>
              <a:ext uri="{FF2B5EF4-FFF2-40B4-BE49-F238E27FC236}">
                <a16:creationId xmlns:a16="http://schemas.microsoft.com/office/drawing/2014/main" id="{1E13137F-6ADA-404E-AB0B-3B41C0FEAE63}"/>
              </a:ext>
            </a:extLst>
          </p:cNvPr>
          <p:cNvSpPr/>
          <p:nvPr/>
        </p:nvSpPr>
        <p:spPr>
          <a:xfrm>
            <a:off x="3417491" y="4370993"/>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template and coordinates info gathering</a:t>
            </a:r>
          </a:p>
          <a:p>
            <a:pPr marL="87313" indent="-87313">
              <a:spcAft>
                <a:spcPts val="400"/>
              </a:spcAft>
              <a:buFontTx/>
              <a:buChar char="-"/>
            </a:pPr>
            <a:r>
              <a:rPr lang="en-GB" sz="800">
                <a:solidFill>
                  <a:schemeClr val="tx1"/>
                </a:solidFill>
                <a:latin typeface="Montserrat" panose="00000500000000000000" pitchFamily="50" charset="0"/>
              </a:rPr>
              <a:t>Interprets reporting and follow up on related actions</a:t>
            </a:r>
          </a:p>
        </p:txBody>
      </p:sp>
      <p:sp>
        <p:nvSpPr>
          <p:cNvPr id="76" name="Rectangle 75">
            <a:extLst>
              <a:ext uri="{FF2B5EF4-FFF2-40B4-BE49-F238E27FC236}">
                <a16:creationId xmlns:a16="http://schemas.microsoft.com/office/drawing/2014/main" id="{DBA4EBEE-71B9-4E0D-AA95-5D87E512617E}"/>
              </a:ext>
            </a:extLst>
          </p:cNvPr>
          <p:cNvSpPr/>
          <p:nvPr/>
        </p:nvSpPr>
        <p:spPr>
          <a:xfrm>
            <a:off x="5207522" y="4370993"/>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Holds valuation data and basis for reporting</a:t>
            </a:r>
          </a:p>
          <a:p>
            <a:pPr marL="87313" indent="-87313">
              <a:spcAft>
                <a:spcPts val="400"/>
              </a:spcAft>
              <a:buFontTx/>
              <a:buChar char="-"/>
            </a:pPr>
            <a:r>
              <a:rPr lang="en-GB" sz="800">
                <a:solidFill>
                  <a:schemeClr val="tx1"/>
                </a:solidFill>
                <a:latin typeface="Montserrat" panose="00000500000000000000" pitchFamily="50" charset="0"/>
              </a:rPr>
              <a:t>Runs monthly routines to update / adjust valuations</a:t>
            </a:r>
          </a:p>
        </p:txBody>
      </p:sp>
      <p:sp>
        <p:nvSpPr>
          <p:cNvPr id="77" name="Rectangle 76">
            <a:extLst>
              <a:ext uri="{FF2B5EF4-FFF2-40B4-BE49-F238E27FC236}">
                <a16:creationId xmlns:a16="http://schemas.microsoft.com/office/drawing/2014/main" id="{9607E357-BF36-41A2-B945-1B0D2C906A08}"/>
              </a:ext>
            </a:extLst>
          </p:cNvPr>
          <p:cNvSpPr/>
          <p:nvPr/>
        </p:nvSpPr>
        <p:spPr>
          <a:xfrm>
            <a:off x="6997554" y="4595085"/>
            <a:ext cx="1783127" cy="4059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latin typeface="Montserrat" panose="00000500000000000000" pitchFamily="50" charset="0"/>
              </a:rPr>
              <a:t>Processes fees from external valuers</a:t>
            </a:r>
          </a:p>
        </p:txBody>
      </p:sp>
      <p:sp>
        <p:nvSpPr>
          <p:cNvPr id="78" name="Rectangle: Rounded Corners 77">
            <a:extLst>
              <a:ext uri="{FF2B5EF4-FFF2-40B4-BE49-F238E27FC236}">
                <a16:creationId xmlns:a16="http://schemas.microsoft.com/office/drawing/2014/main" id="{2B25B529-F8FD-4246-874C-62389C0BB538}"/>
              </a:ext>
            </a:extLst>
          </p:cNvPr>
          <p:cNvSpPr/>
          <p:nvPr/>
        </p:nvSpPr>
        <p:spPr>
          <a:xfrm>
            <a:off x="351174" y="5671485"/>
            <a:ext cx="1231487" cy="540000"/>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Direct Development</a:t>
            </a:r>
          </a:p>
        </p:txBody>
      </p:sp>
      <p:cxnSp>
        <p:nvCxnSpPr>
          <p:cNvPr id="79" name="Straight Connector 78">
            <a:extLst>
              <a:ext uri="{FF2B5EF4-FFF2-40B4-BE49-F238E27FC236}">
                <a16:creationId xmlns:a16="http://schemas.microsoft.com/office/drawing/2014/main" id="{30324ABC-C2B9-4A48-8441-AD231F2906D1}"/>
              </a:ext>
            </a:extLst>
          </p:cNvPr>
          <p:cNvCxnSpPr>
            <a:cxnSpLocks/>
          </p:cNvCxnSpPr>
          <p:nvPr/>
        </p:nvCxnSpPr>
        <p:spPr>
          <a:xfrm>
            <a:off x="351174" y="4996110"/>
            <a:ext cx="8434051" cy="967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21D02EEA-91E3-4C2C-B013-CE8B9A2E97FC}"/>
              </a:ext>
            </a:extLst>
          </p:cNvPr>
          <p:cNvSpPr/>
          <p:nvPr/>
        </p:nvSpPr>
        <p:spPr>
          <a:xfrm>
            <a:off x="1627460" y="5631326"/>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Identifies &amp; obtains approval for development opportunities</a:t>
            </a:r>
          </a:p>
          <a:p>
            <a:pPr marL="87313" indent="-87313">
              <a:spcAft>
                <a:spcPts val="400"/>
              </a:spcAft>
              <a:buFontTx/>
              <a:buChar char="-"/>
            </a:pPr>
            <a:r>
              <a:rPr lang="en-GB" sz="800">
                <a:solidFill>
                  <a:schemeClr val="tx1"/>
                </a:solidFill>
                <a:latin typeface="Montserrat" panose="00000500000000000000" pitchFamily="50" charset="0"/>
              </a:rPr>
              <a:t>Appoint &amp; manage contractors</a:t>
            </a:r>
          </a:p>
        </p:txBody>
      </p:sp>
      <p:sp>
        <p:nvSpPr>
          <p:cNvPr id="82" name="Rectangle 81">
            <a:extLst>
              <a:ext uri="{FF2B5EF4-FFF2-40B4-BE49-F238E27FC236}">
                <a16:creationId xmlns:a16="http://schemas.microsoft.com/office/drawing/2014/main" id="{06452724-579E-4B2C-AB2A-1356955C5DFA}"/>
              </a:ext>
            </a:extLst>
          </p:cNvPr>
          <p:cNvSpPr/>
          <p:nvPr/>
        </p:nvSpPr>
        <p:spPr>
          <a:xfrm>
            <a:off x="3417491" y="5631326"/>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Creates budgets</a:t>
            </a:r>
          </a:p>
          <a:p>
            <a:pPr marL="87313" indent="-87313">
              <a:spcAft>
                <a:spcPts val="400"/>
              </a:spcAft>
              <a:buFontTx/>
              <a:buChar char="-"/>
            </a:pPr>
            <a:r>
              <a:rPr lang="en-GB" sz="800">
                <a:solidFill>
                  <a:schemeClr val="tx1"/>
                </a:solidFill>
                <a:latin typeface="Montserrat" panose="00000500000000000000" pitchFamily="50" charset="0"/>
              </a:rPr>
              <a:t>Reviews and approves contractor spend</a:t>
            </a:r>
          </a:p>
          <a:p>
            <a:pPr marL="87313" indent="-87313">
              <a:spcAft>
                <a:spcPts val="400"/>
              </a:spcAft>
              <a:buFontTx/>
              <a:buChar char="-"/>
            </a:pPr>
            <a:r>
              <a:rPr lang="en-GB" sz="800">
                <a:solidFill>
                  <a:schemeClr val="tx1"/>
                </a:solidFill>
                <a:latin typeface="Montserrat" panose="00000500000000000000" pitchFamily="50" charset="0"/>
              </a:rPr>
              <a:t>Manages contractors</a:t>
            </a:r>
          </a:p>
        </p:txBody>
      </p:sp>
      <p:sp>
        <p:nvSpPr>
          <p:cNvPr id="84" name="Rectangle 83">
            <a:extLst>
              <a:ext uri="{FF2B5EF4-FFF2-40B4-BE49-F238E27FC236}">
                <a16:creationId xmlns:a16="http://schemas.microsoft.com/office/drawing/2014/main" id="{156AEE6C-1EA9-41DA-901C-D3675417F451}"/>
              </a:ext>
            </a:extLst>
          </p:cNvPr>
          <p:cNvSpPr/>
          <p:nvPr/>
        </p:nvSpPr>
        <p:spPr>
          <a:xfrm>
            <a:off x="5207522" y="5640868"/>
            <a:ext cx="1783127" cy="63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87313" indent="-87313">
              <a:spcAft>
                <a:spcPts val="400"/>
              </a:spcAft>
              <a:buFontTx/>
              <a:buChar char="-"/>
            </a:pPr>
            <a:r>
              <a:rPr lang="en-GB" sz="800">
                <a:solidFill>
                  <a:schemeClr val="tx1"/>
                </a:solidFill>
                <a:latin typeface="Montserrat" panose="00000500000000000000" pitchFamily="50" charset="0"/>
              </a:rPr>
              <a:t>Manages and reports expenditure vs budget via job costing module</a:t>
            </a:r>
          </a:p>
        </p:txBody>
      </p:sp>
      <p:sp>
        <p:nvSpPr>
          <p:cNvPr id="85" name="Rectangle 84">
            <a:extLst>
              <a:ext uri="{FF2B5EF4-FFF2-40B4-BE49-F238E27FC236}">
                <a16:creationId xmlns:a16="http://schemas.microsoft.com/office/drawing/2014/main" id="{E6922633-E2CA-438A-9E8E-92D759FC4CB3}"/>
              </a:ext>
            </a:extLst>
          </p:cNvPr>
          <p:cNvSpPr/>
          <p:nvPr/>
        </p:nvSpPr>
        <p:spPr>
          <a:xfrm>
            <a:off x="6990649" y="5024892"/>
            <a:ext cx="1783127" cy="6020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latin typeface="Montserrat" panose="00000500000000000000" pitchFamily="50" charset="0"/>
              </a:rPr>
              <a:t>Processes POs for consultants and contractors</a:t>
            </a:r>
          </a:p>
        </p:txBody>
      </p:sp>
      <p:sp>
        <p:nvSpPr>
          <p:cNvPr id="89" name="Rectangle: Rounded Corners 88">
            <a:extLst>
              <a:ext uri="{FF2B5EF4-FFF2-40B4-BE49-F238E27FC236}">
                <a16:creationId xmlns:a16="http://schemas.microsoft.com/office/drawing/2014/main" id="{AEEB3148-3B98-43B3-A577-6F9B234819FF}"/>
              </a:ext>
            </a:extLst>
          </p:cNvPr>
          <p:cNvSpPr/>
          <p:nvPr/>
        </p:nvSpPr>
        <p:spPr>
          <a:xfrm>
            <a:off x="358774" y="1633825"/>
            <a:ext cx="1231486" cy="246222"/>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2</a:t>
            </a:r>
          </a:p>
        </p:txBody>
      </p:sp>
      <p:sp>
        <p:nvSpPr>
          <p:cNvPr id="90" name="Rectangle: Rounded Corners 89">
            <a:extLst>
              <a:ext uri="{FF2B5EF4-FFF2-40B4-BE49-F238E27FC236}">
                <a16:creationId xmlns:a16="http://schemas.microsoft.com/office/drawing/2014/main" id="{1A373FB6-E121-40BC-A112-3E8F9D10F83D}"/>
              </a:ext>
            </a:extLst>
          </p:cNvPr>
          <p:cNvSpPr/>
          <p:nvPr/>
        </p:nvSpPr>
        <p:spPr>
          <a:xfrm>
            <a:off x="367209" y="1332782"/>
            <a:ext cx="1231486" cy="246222"/>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1 Portal /</a:t>
            </a:r>
          </a:p>
          <a:p>
            <a:pPr algn="ctr"/>
            <a:r>
              <a:rPr lang="en-GB" sz="800">
                <a:solidFill>
                  <a:schemeClr val="tx1"/>
                </a:solidFill>
              </a:rPr>
              <a:t>post-go-live</a:t>
            </a:r>
          </a:p>
        </p:txBody>
      </p:sp>
      <p:sp>
        <p:nvSpPr>
          <p:cNvPr id="92" name="TextBox 91">
            <a:extLst>
              <a:ext uri="{FF2B5EF4-FFF2-40B4-BE49-F238E27FC236}">
                <a16:creationId xmlns:a16="http://schemas.microsoft.com/office/drawing/2014/main" id="{B19B1ED9-9615-44DD-B5F7-E6577610F723}"/>
              </a:ext>
            </a:extLst>
          </p:cNvPr>
          <p:cNvSpPr txBox="1"/>
          <p:nvPr/>
        </p:nvSpPr>
        <p:spPr>
          <a:xfrm>
            <a:off x="7007463" y="1439706"/>
            <a:ext cx="1769328" cy="276999"/>
          </a:xfrm>
          <a:prstGeom prst="rect">
            <a:avLst/>
          </a:prstGeom>
          <a:noFill/>
        </p:spPr>
        <p:txBody>
          <a:bodyPr wrap="square" rtlCol="0">
            <a:spAutoFit/>
          </a:bodyPr>
          <a:lstStyle/>
          <a:p>
            <a:pPr algn="ctr"/>
            <a:r>
              <a:rPr lang="en-GB" sz="1200" b="1" i="1" spc="-60">
                <a:solidFill>
                  <a:schemeClr val="tx1">
                    <a:lumMod val="60000"/>
                    <a:lumOff val="40000"/>
                  </a:schemeClr>
                </a:solidFill>
                <a:latin typeface="+mj-lt"/>
              </a:rPr>
              <a:t>(others)</a:t>
            </a:r>
          </a:p>
        </p:txBody>
      </p:sp>
      <p:grpSp>
        <p:nvGrpSpPr>
          <p:cNvPr id="12" name="Group 11">
            <a:extLst>
              <a:ext uri="{FF2B5EF4-FFF2-40B4-BE49-F238E27FC236}">
                <a16:creationId xmlns:a16="http://schemas.microsoft.com/office/drawing/2014/main" id="{6C8E5D89-DDDB-4A59-BBAB-02B86F1F7276}"/>
              </a:ext>
            </a:extLst>
          </p:cNvPr>
          <p:cNvGrpSpPr/>
          <p:nvPr/>
        </p:nvGrpSpPr>
        <p:grpSpPr>
          <a:xfrm>
            <a:off x="1783728" y="1177189"/>
            <a:ext cx="1470590" cy="874553"/>
            <a:chOff x="-2790683" y="1117982"/>
            <a:chExt cx="3682057" cy="2189702"/>
          </a:xfrm>
        </p:grpSpPr>
        <p:sp>
          <p:nvSpPr>
            <p:cNvPr id="7" name="Oval 6">
              <a:extLst>
                <a:ext uri="{FF2B5EF4-FFF2-40B4-BE49-F238E27FC236}">
                  <a16:creationId xmlns:a16="http://schemas.microsoft.com/office/drawing/2014/main" id="{A8662F5B-D2A4-4B57-93A4-B2B011221AED}"/>
                </a:ext>
              </a:extLst>
            </p:cNvPr>
            <p:cNvSpPr/>
            <p:nvPr/>
          </p:nvSpPr>
          <p:spPr>
            <a:xfrm>
              <a:off x="-1811193" y="1117982"/>
              <a:ext cx="1661014" cy="1661014"/>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A close up of a logo&#10;&#10;Description automatically generated">
              <a:extLst>
                <a:ext uri="{FF2B5EF4-FFF2-40B4-BE49-F238E27FC236}">
                  <a16:creationId xmlns:a16="http://schemas.microsoft.com/office/drawing/2014/main" id="{10CA3528-3136-4A26-8381-7A58C469FD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1522" y="1241484"/>
              <a:ext cx="1623734" cy="1267681"/>
            </a:xfrm>
            <a:prstGeom prst="rect">
              <a:avLst/>
            </a:prstGeom>
          </p:spPr>
        </p:pic>
        <p:sp>
          <p:nvSpPr>
            <p:cNvPr id="93" name="TextBox 92">
              <a:extLst>
                <a:ext uri="{FF2B5EF4-FFF2-40B4-BE49-F238E27FC236}">
                  <a16:creationId xmlns:a16="http://schemas.microsoft.com/office/drawing/2014/main" id="{E66D8F29-0D0C-45AC-9DB7-F5B7F0FEBA43}"/>
                </a:ext>
              </a:extLst>
            </p:cNvPr>
            <p:cNvSpPr txBox="1"/>
            <p:nvPr/>
          </p:nvSpPr>
          <p:spPr>
            <a:xfrm>
              <a:off x="-2790683" y="2691197"/>
              <a:ext cx="3682057" cy="616487"/>
            </a:xfrm>
            <a:prstGeom prst="rect">
              <a:avLst/>
            </a:prstGeom>
            <a:noFill/>
          </p:spPr>
          <p:txBody>
            <a:bodyPr wrap="square" rtlCol="0" anchor="ctr">
              <a:spAutoFit/>
            </a:bodyPr>
            <a:lstStyle/>
            <a:p>
              <a:pPr algn="ctr"/>
              <a:r>
                <a:rPr lang="en-GB" sz="1000" spc="-60"/>
                <a:t>Development / Asset</a:t>
              </a:r>
            </a:p>
          </p:txBody>
        </p:sp>
      </p:grpSp>
      <p:pic>
        <p:nvPicPr>
          <p:cNvPr id="94" name="Picture 6" descr="Image result for grainger plc">
            <a:extLst>
              <a:ext uri="{FF2B5EF4-FFF2-40B4-BE49-F238E27FC236}">
                <a16:creationId xmlns:a16="http://schemas.microsoft.com/office/drawing/2014/main" id="{52C0D912-FDB5-4008-9635-4042F160E5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190" y="1530378"/>
            <a:ext cx="546732" cy="110220"/>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2780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Onboarding, invest, develop, sales</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4" y="1334847"/>
            <a:ext cx="4775287"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MRI Onboarding template (Excel)</a:t>
              </a:r>
            </a:p>
            <a:p>
              <a:pPr marL="171450" indent="-171450" fontAlgn="b">
                <a:buFontTx/>
                <a:buChar char="-"/>
              </a:pPr>
              <a:r>
                <a:rPr lang="en-GB" sz="1000">
                  <a:solidFill>
                    <a:schemeClr val="tx1"/>
                  </a:solidFill>
                  <a:latin typeface="Montserrat Light (Body)"/>
                </a:rPr>
                <a:t>MRI bulk upload of property &amp; financial information (MRI)</a:t>
              </a:r>
            </a:p>
            <a:p>
              <a:pPr marL="171450" indent="-171450" fontAlgn="b">
                <a:buFontTx/>
                <a:buChar char="-"/>
              </a:pPr>
              <a:r>
                <a:rPr lang="en-GB" sz="1000">
                  <a:solidFill>
                    <a:schemeClr val="tx1"/>
                  </a:solidFill>
                  <a:latin typeface="Montserrat Light (Body)"/>
                </a:rPr>
                <a:t>FSI / </a:t>
              </a:r>
              <a:r>
                <a:rPr lang="en-GB" sz="1000" err="1">
                  <a:solidFill>
                    <a:schemeClr val="tx1"/>
                  </a:solidFill>
                  <a:latin typeface="Montserrat Light (Body)"/>
                </a:rPr>
                <a:t>CreateMaster</a:t>
              </a:r>
              <a:r>
                <a:rPr lang="en-GB" sz="1000">
                  <a:solidFill>
                    <a:schemeClr val="tx1"/>
                  </a:solidFill>
                  <a:latin typeface="Montserrat Light (Body)"/>
                </a:rPr>
                <a:t> onboarding template (</a:t>
              </a:r>
              <a:r>
                <a:rPr lang="en-GB" sz="1000" err="1">
                  <a:solidFill>
                    <a:schemeClr val="tx1"/>
                  </a:solidFill>
                  <a:latin typeface="Montserrat Light (Body)"/>
                </a:rPr>
                <a:t>CreateMaster</a:t>
              </a:r>
              <a:r>
                <a:rPr lang="en-GB" sz="1000">
                  <a:solidFill>
                    <a:schemeClr val="tx1"/>
                  </a:solidFill>
                  <a:latin typeface="Montserrat Light (Body)"/>
                </a:rPr>
                <a:t>)</a:t>
              </a:r>
            </a:p>
            <a:p>
              <a:pPr marL="171450" indent="-171450" fontAlgn="b">
                <a:buFontTx/>
                <a:buChar char="-"/>
              </a:pPr>
              <a:r>
                <a:rPr lang="en-GB" sz="1000">
                  <a:solidFill>
                    <a:schemeClr val="tx1"/>
                  </a:solidFill>
                  <a:latin typeface="Montserrat Light (Body)"/>
                </a:rPr>
                <a:t>FSI bulk upload of asset information (FSI)</a:t>
              </a:r>
            </a:p>
            <a:p>
              <a:pPr marL="171450" indent="-171450" fontAlgn="b">
                <a:buFontTx/>
                <a:buChar char="-"/>
              </a:pPr>
              <a:r>
                <a:rPr lang="en-GB" sz="1000">
                  <a:solidFill>
                    <a:schemeClr val="tx1"/>
                  </a:solidFill>
                  <a:latin typeface="Montserrat Light (Body)"/>
                </a:rPr>
                <a:t>Synchronisation of onboarded information across systems (MRI)</a:t>
              </a:r>
            </a:p>
            <a:p>
              <a:pPr marL="171450" indent="-171450" fontAlgn="b">
                <a:buFontTx/>
                <a:buChar char="-"/>
              </a:pPr>
              <a:r>
                <a:rPr lang="en-GB" sz="1000">
                  <a:solidFill>
                    <a:schemeClr val="tx1"/>
                  </a:solidFill>
                  <a:latin typeface="Montserrat Light (Body)"/>
                </a:rPr>
                <a:t>Sales Process workflow (MRI)</a:t>
              </a:r>
            </a:p>
            <a:p>
              <a:pPr marL="171450" indent="-171450" fontAlgn="b">
                <a:buFontTx/>
                <a:buChar char="-"/>
              </a:pPr>
              <a:r>
                <a:rPr lang="en-GB" sz="1000">
                  <a:solidFill>
                    <a:schemeClr val="tx1"/>
                  </a:solidFill>
                  <a:latin typeface="Montserrat Light (Body)"/>
                </a:rPr>
                <a:t>Property sales statuses (MRI)</a:t>
              </a:r>
            </a:p>
            <a:p>
              <a:pPr marL="171450" indent="-171450" fontAlgn="b">
                <a:buFontTx/>
                <a:buChar char="-"/>
              </a:pPr>
              <a:r>
                <a:rPr lang="en-GB" sz="1000">
                  <a:solidFill>
                    <a:schemeClr val="tx1"/>
                  </a:solidFill>
                  <a:latin typeface="Montserrat Light (Body)"/>
                </a:rPr>
                <a:t>Managing estate agents, surveyors, solicitors for sales process (MRI)</a:t>
              </a:r>
            </a:p>
            <a:p>
              <a:pPr marL="171450" indent="-171450" fontAlgn="b">
                <a:buFontTx/>
                <a:buChar char="-"/>
              </a:pPr>
              <a:r>
                <a:rPr lang="en-GB" sz="1000">
                  <a:solidFill>
                    <a:schemeClr val="tx1"/>
                  </a:solidFill>
                  <a:latin typeface="Montserrat Light (Body)"/>
                </a:rPr>
                <a:t>Refurbishment workflow (FSI)</a:t>
              </a:r>
            </a:p>
            <a:p>
              <a:pPr marL="171450" indent="-171450" fontAlgn="b">
                <a:buFontTx/>
                <a:buChar char="-"/>
              </a:pPr>
              <a:r>
                <a:rPr lang="en-GB" sz="1000">
                  <a:solidFill>
                    <a:schemeClr val="tx1"/>
                  </a:solidFill>
                  <a:latin typeface="Montserrat Light (Body)"/>
                </a:rPr>
                <a:t>Offer handling (MRI)</a:t>
              </a:r>
            </a:p>
            <a:p>
              <a:pPr marL="171450" indent="-171450" fontAlgn="b">
                <a:buFontTx/>
                <a:buChar char="-"/>
              </a:pPr>
              <a:r>
                <a:rPr lang="en-GB" sz="1000">
                  <a:solidFill>
                    <a:schemeClr val="tx1"/>
                  </a:solidFill>
                  <a:latin typeface="Montserrat Light (Body)"/>
                </a:rPr>
                <a:t>Notification to Grainger departments of relevant sale events (MRI)</a:t>
              </a:r>
            </a:p>
            <a:p>
              <a:pPr marL="171450" indent="-171450" fontAlgn="b">
                <a:buFontTx/>
                <a:buChar char="-"/>
              </a:pPr>
              <a:r>
                <a:rPr lang="en-GB" sz="1000">
                  <a:solidFill>
                    <a:schemeClr val="tx1"/>
                  </a:solidFill>
                  <a:latin typeface="Montserrat Light (Body)"/>
                </a:rPr>
                <a:t>Accounting entries relative to property sales (MRI)</a:t>
              </a:r>
            </a:p>
            <a:p>
              <a:pPr marL="171450" indent="-171450" fontAlgn="b">
                <a:buFontTx/>
                <a:buChar char="-"/>
              </a:pPr>
              <a:r>
                <a:rPr lang="en-GB" sz="1000">
                  <a:solidFill>
                    <a:schemeClr val="tx1"/>
                  </a:solidFill>
                  <a:latin typeface="Montserrat Light (Body)"/>
                </a:rPr>
                <a:t>Intercompany sales (MRI)</a:t>
              </a:r>
            </a:p>
            <a:p>
              <a:pPr marL="171450" indent="-171450" fontAlgn="b">
                <a:buFontTx/>
                <a:buChar char="-"/>
              </a:pPr>
              <a:r>
                <a:rPr lang="en-GB" sz="1000">
                  <a:solidFill>
                    <a:schemeClr val="tx1"/>
                  </a:solidFill>
                  <a:latin typeface="Montserrat Light (Body)"/>
                </a:rPr>
                <a:t>Job Costings module (MRI)</a:t>
              </a:r>
            </a:p>
            <a:p>
              <a:pPr marL="171450" indent="-171450" fontAlgn="b">
                <a:buFontTx/>
                <a:buChar char="-"/>
              </a:pPr>
              <a:r>
                <a:rPr lang="en-GB" sz="1000">
                  <a:solidFill>
                    <a:schemeClr val="tx1"/>
                  </a:solidFill>
                  <a:latin typeface="Montserrat Light (Body)"/>
                </a:rPr>
                <a:t>Job Codes / Phase codes (MRI)</a:t>
              </a:r>
            </a:p>
            <a:p>
              <a:pPr marL="171450" indent="-171450" fontAlgn="b">
                <a:buFontTx/>
                <a:buChar char="-"/>
              </a:pPr>
              <a:r>
                <a:rPr lang="en-GB" sz="1000">
                  <a:solidFill>
                    <a:schemeClr val="tx1"/>
                  </a:solidFill>
                  <a:latin typeface="Montserrat Light (Body)"/>
                </a:rPr>
                <a:t>Creation and management of project budgets (MRI)</a:t>
              </a:r>
            </a:p>
            <a:p>
              <a:pPr marL="171450" indent="-171450" fontAlgn="b">
                <a:buFontTx/>
                <a:buChar char="-"/>
              </a:pPr>
              <a:r>
                <a:rPr lang="en-GB" sz="1000">
                  <a:solidFill>
                    <a:schemeClr val="tx1"/>
                  </a:solidFill>
                  <a:latin typeface="Montserrat Light (Body)"/>
                </a:rPr>
                <a:t>Supplier-level budgeting and expense tracking (MRI / job costing)</a:t>
              </a:r>
            </a:p>
            <a:p>
              <a:pPr marL="171450" indent="-171450" fontAlgn="b">
                <a:buFontTx/>
                <a:buChar char="-"/>
              </a:pPr>
              <a:r>
                <a:rPr lang="en-GB" sz="1000">
                  <a:solidFill>
                    <a:schemeClr val="tx1"/>
                  </a:solidFill>
                  <a:latin typeface="Montserrat Light (Body)"/>
                </a:rPr>
                <a:t>Handling large POs with multiple invoices (ProActis)</a:t>
              </a:r>
            </a:p>
            <a:p>
              <a:pPr marL="171450" indent="-171450" fontAlgn="b">
                <a:buFontTx/>
                <a:buChar char="-"/>
              </a:pPr>
              <a:endParaRPr lang="en-GB" sz="1000">
                <a:solidFill>
                  <a:schemeClr val="tx1"/>
                </a:solidFill>
                <a:latin typeface="Montserrat Light (Body)"/>
              </a:endParaRPr>
            </a:p>
            <a:p>
              <a:pPr algn="ctr" fontAlgn="b"/>
              <a:endParaRPr lang="en-GB">
                <a:latin typeface="Arial" panose="020B0604020202020204" pitchFamily="34" charset="0"/>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55809" y="1339786"/>
            <a:ext cx="3520784" cy="1827740"/>
            <a:chOff x="358772" y="2399498"/>
            <a:chExt cx="4120947" cy="1487484"/>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211152"/>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N/A</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17</a:t>
            </a:fld>
            <a:endParaRPr lang="en-GB"/>
          </a:p>
        </p:txBody>
      </p:sp>
      <p:grpSp>
        <p:nvGrpSpPr>
          <p:cNvPr id="10" name="Group 9">
            <a:extLst>
              <a:ext uri="{FF2B5EF4-FFF2-40B4-BE49-F238E27FC236}">
                <a16:creationId xmlns:a16="http://schemas.microsoft.com/office/drawing/2014/main" id="{2F6F591E-9942-4CDA-AEF7-F8449BF87F0A}"/>
              </a:ext>
            </a:extLst>
          </p:cNvPr>
          <p:cNvGrpSpPr/>
          <p:nvPr/>
        </p:nvGrpSpPr>
        <p:grpSpPr>
          <a:xfrm>
            <a:off x="5255809" y="3352874"/>
            <a:ext cx="3520781" cy="2931969"/>
            <a:chOff x="358772" y="2399498"/>
            <a:chExt cx="4120947" cy="2399869"/>
          </a:xfrm>
        </p:grpSpPr>
        <p:sp>
          <p:nvSpPr>
            <p:cNvPr id="11" name="Rectangle 10">
              <a:extLst>
                <a:ext uri="{FF2B5EF4-FFF2-40B4-BE49-F238E27FC236}">
                  <a16:creationId xmlns:a16="http://schemas.microsoft.com/office/drawing/2014/main" id="{7F3DB240-F7E7-4CD5-930A-4D1A128FC6B6}"/>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0F3B9D81-6A36-4147-B787-478AD20F20F2}"/>
                </a:ext>
              </a:extLst>
            </p:cNvPr>
            <p:cNvSpPr/>
            <p:nvPr/>
          </p:nvSpPr>
          <p:spPr>
            <a:xfrm>
              <a:off x="358772" y="2675830"/>
              <a:ext cx="4120945" cy="2123537"/>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FSI to MRI interface at the move out process</a:t>
              </a:r>
            </a:p>
          </p:txBody>
        </p:sp>
      </p:grpSp>
    </p:spTree>
    <p:extLst>
      <p:ext uri="{BB962C8B-B14F-4D97-AF65-F5344CB8AC3E}">
        <p14:creationId xmlns:p14="http://schemas.microsoft.com/office/powerpoint/2010/main" val="3141403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Rounded Corners 77">
            <a:extLst>
              <a:ext uri="{FF2B5EF4-FFF2-40B4-BE49-F238E27FC236}">
                <a16:creationId xmlns:a16="http://schemas.microsoft.com/office/drawing/2014/main" id="{1FA986F5-469C-4750-851B-16E957070F17}"/>
              </a:ext>
            </a:extLst>
          </p:cNvPr>
          <p:cNvSpPr/>
          <p:nvPr/>
        </p:nvSpPr>
        <p:spPr>
          <a:xfrm>
            <a:off x="3434541" y="5357348"/>
            <a:ext cx="1785361" cy="189573"/>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a:solidFill>
                <a:schemeClr val="tx1"/>
              </a:solidFill>
            </a:endParaRPr>
          </a:p>
        </p:txBody>
      </p:sp>
      <p:sp>
        <p:nvSpPr>
          <p:cNvPr id="77" name="Rectangle: Rounded Corners 76">
            <a:extLst>
              <a:ext uri="{FF2B5EF4-FFF2-40B4-BE49-F238E27FC236}">
                <a16:creationId xmlns:a16="http://schemas.microsoft.com/office/drawing/2014/main" id="{237A4922-D467-42F9-90D8-2EF26474437F}"/>
              </a:ext>
            </a:extLst>
          </p:cNvPr>
          <p:cNvSpPr/>
          <p:nvPr/>
        </p:nvSpPr>
        <p:spPr>
          <a:xfrm>
            <a:off x="3477746" y="3518387"/>
            <a:ext cx="1785361" cy="264028"/>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a:solidFill>
                <a:schemeClr val="tx1"/>
              </a:solidFill>
            </a:endParaRPr>
          </a:p>
        </p:txBody>
      </p:sp>
      <p:sp>
        <p:nvSpPr>
          <p:cNvPr id="67" name="Rectangle: Rounded Corners 66">
            <a:extLst>
              <a:ext uri="{FF2B5EF4-FFF2-40B4-BE49-F238E27FC236}">
                <a16:creationId xmlns:a16="http://schemas.microsoft.com/office/drawing/2014/main" id="{EC569199-C62B-42F9-B7DD-8CD44D5330C4}"/>
              </a:ext>
            </a:extLst>
          </p:cNvPr>
          <p:cNvSpPr/>
          <p:nvPr/>
        </p:nvSpPr>
        <p:spPr>
          <a:xfrm>
            <a:off x="7007462" y="2953993"/>
            <a:ext cx="1785361" cy="286361"/>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a:solidFill>
                <a:schemeClr val="tx1"/>
              </a:solidFill>
            </a:endParaRPr>
          </a:p>
        </p:txBody>
      </p:sp>
      <p:sp>
        <p:nvSpPr>
          <p:cNvPr id="6" name="Title 5">
            <a:extLst>
              <a:ext uri="{FF2B5EF4-FFF2-40B4-BE49-F238E27FC236}">
                <a16:creationId xmlns:a16="http://schemas.microsoft.com/office/drawing/2014/main" id="{2090523E-3CB7-4F4E-A9C4-A84B003EC8B2}"/>
              </a:ext>
            </a:extLst>
          </p:cNvPr>
          <p:cNvSpPr>
            <a:spLocks noGrp="1"/>
          </p:cNvSpPr>
          <p:nvPr>
            <p:ph type="title"/>
          </p:nvPr>
        </p:nvSpPr>
        <p:spPr/>
        <p:txBody>
          <a:bodyPr/>
          <a:lstStyle/>
          <a:p>
            <a:r>
              <a:rPr lang="en-GB"/>
              <a:t>Finance Processes</a:t>
            </a:r>
            <a:br>
              <a:rPr lang="en-GB"/>
            </a:br>
            <a:r>
              <a:rPr lang="en-GB" sz="2400" i="1"/>
              <a:t>Process Summary</a:t>
            </a:r>
            <a:endParaRPr lang="en-GB"/>
          </a:p>
        </p:txBody>
      </p:sp>
      <p:pic>
        <p:nvPicPr>
          <p:cNvPr id="1034" name="Picture 10" descr="Image result for mri software">
            <a:extLst>
              <a:ext uri="{FF2B5EF4-FFF2-40B4-BE49-F238E27FC236}">
                <a16:creationId xmlns:a16="http://schemas.microsoft.com/office/drawing/2014/main" id="{5641B02B-3DDF-44E3-90A3-DB9234974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255" y="1333897"/>
            <a:ext cx="833582" cy="451524"/>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6121F045-6EE4-4857-9388-61FF75D0A788}"/>
              </a:ext>
            </a:extLst>
          </p:cNvPr>
          <p:cNvGrpSpPr/>
          <p:nvPr/>
        </p:nvGrpSpPr>
        <p:grpSpPr>
          <a:xfrm>
            <a:off x="2091174" y="1143791"/>
            <a:ext cx="956672" cy="887851"/>
            <a:chOff x="3394755" y="1328537"/>
            <a:chExt cx="956672" cy="887851"/>
          </a:xfrm>
        </p:grpSpPr>
        <p:grpSp>
          <p:nvGrpSpPr>
            <p:cNvPr id="8" name="Group 7">
              <a:extLst>
                <a:ext uri="{FF2B5EF4-FFF2-40B4-BE49-F238E27FC236}">
                  <a16:creationId xmlns:a16="http://schemas.microsoft.com/office/drawing/2014/main" id="{DAF27073-C869-4D64-ADFF-4BC599EF56EE}"/>
                </a:ext>
              </a:extLst>
            </p:cNvPr>
            <p:cNvGrpSpPr/>
            <p:nvPr/>
          </p:nvGrpSpPr>
          <p:grpSpPr>
            <a:xfrm>
              <a:off x="3490606" y="1328537"/>
              <a:ext cx="763679" cy="698136"/>
              <a:chOff x="3583596" y="2595464"/>
              <a:chExt cx="1797425" cy="1643161"/>
            </a:xfrm>
          </p:grpSpPr>
          <p:pic>
            <p:nvPicPr>
              <p:cNvPr id="1028" name="Picture 4" descr="Related image">
                <a:extLst>
                  <a:ext uri="{FF2B5EF4-FFF2-40B4-BE49-F238E27FC236}">
                    <a16:creationId xmlns:a16="http://schemas.microsoft.com/office/drawing/2014/main" id="{2B5C4720-3684-4759-BE9B-D1CBB23CC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8" y="2595464"/>
                <a:ext cx="1594833" cy="1643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rainger plc">
                <a:extLst>
                  <a:ext uri="{FF2B5EF4-FFF2-40B4-BE49-F238E27FC236}">
                    <a16:creationId xmlns:a16="http://schemas.microsoft.com/office/drawing/2014/main" id="{54FFAB99-3C85-4E12-B396-B2F29EBC6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3596" y="2983424"/>
                <a:ext cx="790802" cy="15942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028D2EEA-B7D2-42A5-B8AF-9214FEE49C73}"/>
                </a:ext>
              </a:extLst>
            </p:cNvPr>
            <p:cNvSpPr txBox="1"/>
            <p:nvPr/>
          </p:nvSpPr>
          <p:spPr>
            <a:xfrm>
              <a:off x="3394755" y="1970167"/>
              <a:ext cx="956672" cy="246221"/>
            </a:xfrm>
            <a:prstGeom prst="rect">
              <a:avLst/>
            </a:prstGeom>
            <a:noFill/>
          </p:spPr>
          <p:txBody>
            <a:bodyPr wrap="none" rtlCol="0">
              <a:spAutoFit/>
            </a:bodyPr>
            <a:lstStyle/>
            <a:p>
              <a:pPr algn="ctr"/>
              <a:r>
                <a:rPr lang="en-GB" sz="1000" spc="-60"/>
                <a:t>Grainger user</a:t>
              </a:r>
            </a:p>
          </p:txBody>
        </p:sp>
      </p:grpSp>
      <p:sp>
        <p:nvSpPr>
          <p:cNvPr id="17" name="Rectangle: Rounded Corners 16">
            <a:extLst>
              <a:ext uri="{FF2B5EF4-FFF2-40B4-BE49-F238E27FC236}">
                <a16:creationId xmlns:a16="http://schemas.microsoft.com/office/drawing/2014/main" id="{39F88972-C224-46CD-90FC-130DA7DCA100}"/>
              </a:ext>
            </a:extLst>
          </p:cNvPr>
          <p:cNvSpPr/>
          <p:nvPr/>
        </p:nvSpPr>
        <p:spPr>
          <a:xfrm>
            <a:off x="358773" y="2139687"/>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Aft>
                <a:spcPts val="600"/>
              </a:spcAft>
            </a:pPr>
            <a:r>
              <a:rPr lang="en-GB" sz="1200" b="1">
                <a:latin typeface="+mj-lt"/>
              </a:rPr>
              <a:t>Rent reviews</a:t>
            </a:r>
          </a:p>
        </p:txBody>
      </p:sp>
      <p:sp>
        <p:nvSpPr>
          <p:cNvPr id="34" name="Rectangle: Rounded Corners 33">
            <a:extLst>
              <a:ext uri="{FF2B5EF4-FFF2-40B4-BE49-F238E27FC236}">
                <a16:creationId xmlns:a16="http://schemas.microsoft.com/office/drawing/2014/main" id="{E4A15AA2-33D4-47C6-99E8-0B5A8F13E9F6}"/>
              </a:ext>
            </a:extLst>
          </p:cNvPr>
          <p:cNvSpPr/>
          <p:nvPr/>
        </p:nvSpPr>
        <p:spPr>
          <a:xfrm>
            <a:off x="358774" y="2736186"/>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Insurance</a:t>
            </a:r>
          </a:p>
        </p:txBody>
      </p:sp>
      <p:sp>
        <p:nvSpPr>
          <p:cNvPr id="35" name="Rectangle: Rounded Corners 34">
            <a:extLst>
              <a:ext uri="{FF2B5EF4-FFF2-40B4-BE49-F238E27FC236}">
                <a16:creationId xmlns:a16="http://schemas.microsoft.com/office/drawing/2014/main" id="{EB95145D-5625-4E5C-9738-B12BED2A8D21}"/>
              </a:ext>
            </a:extLst>
          </p:cNvPr>
          <p:cNvSpPr/>
          <p:nvPr/>
        </p:nvSpPr>
        <p:spPr>
          <a:xfrm>
            <a:off x="358774" y="3332686"/>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Service Charge</a:t>
            </a:r>
          </a:p>
        </p:txBody>
      </p:sp>
      <p:sp>
        <p:nvSpPr>
          <p:cNvPr id="36" name="Rectangle: Rounded Corners 35">
            <a:extLst>
              <a:ext uri="{FF2B5EF4-FFF2-40B4-BE49-F238E27FC236}">
                <a16:creationId xmlns:a16="http://schemas.microsoft.com/office/drawing/2014/main" id="{765AAE3B-3B7F-4B73-8E53-363674E0274A}"/>
              </a:ext>
            </a:extLst>
          </p:cNvPr>
          <p:cNvSpPr/>
          <p:nvPr/>
        </p:nvSpPr>
        <p:spPr>
          <a:xfrm>
            <a:off x="358773" y="3929186"/>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Cash Management</a:t>
            </a:r>
          </a:p>
        </p:txBody>
      </p:sp>
      <p:sp>
        <p:nvSpPr>
          <p:cNvPr id="37" name="Rectangle: Rounded Corners 36">
            <a:extLst>
              <a:ext uri="{FF2B5EF4-FFF2-40B4-BE49-F238E27FC236}">
                <a16:creationId xmlns:a16="http://schemas.microsoft.com/office/drawing/2014/main" id="{EF895177-FA4B-452A-B69F-F563874DFADA}"/>
              </a:ext>
            </a:extLst>
          </p:cNvPr>
          <p:cNvSpPr/>
          <p:nvPr/>
        </p:nvSpPr>
        <p:spPr>
          <a:xfrm>
            <a:off x="358773" y="5137936"/>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Month end / Year end </a:t>
            </a:r>
          </a:p>
        </p:txBody>
      </p:sp>
      <p:cxnSp>
        <p:nvCxnSpPr>
          <p:cNvPr id="38" name="Straight Connector 37">
            <a:extLst>
              <a:ext uri="{FF2B5EF4-FFF2-40B4-BE49-F238E27FC236}">
                <a16:creationId xmlns:a16="http://schemas.microsoft.com/office/drawing/2014/main" id="{E4020A13-93E1-4EF1-BB53-D6BB92557520}"/>
              </a:ext>
            </a:extLst>
          </p:cNvPr>
          <p:cNvCxnSpPr>
            <a:cxnSpLocks/>
          </p:cNvCxnSpPr>
          <p:nvPr/>
        </p:nvCxnSpPr>
        <p:spPr>
          <a:xfrm>
            <a:off x="358773" y="5077830"/>
            <a:ext cx="8434051" cy="462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53DB7D0-E1CB-41AE-A41E-31AAC2D629C7}"/>
              </a:ext>
            </a:extLst>
          </p:cNvPr>
          <p:cNvCxnSpPr>
            <a:cxnSpLocks/>
          </p:cNvCxnSpPr>
          <p:nvPr/>
        </p:nvCxnSpPr>
        <p:spPr>
          <a:xfrm>
            <a:off x="358773" y="2088848"/>
            <a:ext cx="8434051" cy="518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EB13436-EC24-4BA8-BDDB-8434265F4F13}"/>
              </a:ext>
            </a:extLst>
          </p:cNvPr>
          <p:cNvSpPr/>
          <p:nvPr/>
        </p:nvSpPr>
        <p:spPr>
          <a:xfrm>
            <a:off x="1686157" y="2098840"/>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rPr>
              <a:t>Propose and approves rent increases</a:t>
            </a:r>
          </a:p>
          <a:p>
            <a:pPr marL="171450" indent="-171450">
              <a:spcAft>
                <a:spcPts val="400"/>
              </a:spcAft>
              <a:buFontTx/>
              <a:buChar char="-"/>
            </a:pPr>
            <a:r>
              <a:rPr lang="en-GB" sz="800">
                <a:solidFill>
                  <a:schemeClr val="tx1"/>
                </a:solidFill>
              </a:rPr>
              <a:t>Liaises with Valuation Office</a:t>
            </a:r>
          </a:p>
        </p:txBody>
      </p:sp>
      <p:sp>
        <p:nvSpPr>
          <p:cNvPr id="42" name="Rectangle 41">
            <a:extLst>
              <a:ext uri="{FF2B5EF4-FFF2-40B4-BE49-F238E27FC236}">
                <a16:creationId xmlns:a16="http://schemas.microsoft.com/office/drawing/2014/main" id="{1EFF5ADB-7878-4E81-854A-6BD1E528F952}"/>
              </a:ext>
            </a:extLst>
          </p:cNvPr>
          <p:cNvSpPr/>
          <p:nvPr/>
        </p:nvSpPr>
        <p:spPr>
          <a:xfrm>
            <a:off x="3461046" y="2098840"/>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Tracks all events and actions across multiple users</a:t>
            </a:r>
          </a:p>
          <a:p>
            <a:pPr marL="171450" indent="-171450">
              <a:spcAft>
                <a:spcPts val="400"/>
              </a:spcAft>
              <a:buFontTx/>
              <a:buChar char="-"/>
            </a:pPr>
            <a:r>
              <a:rPr lang="en-GB" sz="800">
                <a:solidFill>
                  <a:schemeClr val="tx1"/>
                </a:solidFill>
              </a:rPr>
              <a:t>Generates documents / letters</a:t>
            </a:r>
          </a:p>
          <a:p>
            <a:pPr marL="171450" indent="-171450">
              <a:spcAft>
                <a:spcPts val="400"/>
              </a:spcAft>
              <a:buFontTx/>
              <a:buChar char="-"/>
            </a:pPr>
            <a:r>
              <a:rPr lang="en-GB" sz="800">
                <a:solidFill>
                  <a:schemeClr val="tx1"/>
                </a:solidFill>
              </a:rPr>
              <a:t>Supports appeal process</a:t>
            </a:r>
          </a:p>
        </p:txBody>
      </p:sp>
      <p:sp>
        <p:nvSpPr>
          <p:cNvPr id="44" name="Rectangle 43">
            <a:extLst>
              <a:ext uri="{FF2B5EF4-FFF2-40B4-BE49-F238E27FC236}">
                <a16:creationId xmlns:a16="http://schemas.microsoft.com/office/drawing/2014/main" id="{C73725E3-3670-456A-A8DC-E662CB1E0068}"/>
              </a:ext>
            </a:extLst>
          </p:cNvPr>
          <p:cNvSpPr/>
          <p:nvPr/>
        </p:nvSpPr>
        <p:spPr>
          <a:xfrm>
            <a:off x="5235935" y="2098840"/>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endParaRPr lang="en-GB" sz="800">
              <a:solidFill>
                <a:srgbClr val="FF0000"/>
              </a:solidFill>
            </a:endParaRPr>
          </a:p>
        </p:txBody>
      </p:sp>
      <p:cxnSp>
        <p:nvCxnSpPr>
          <p:cNvPr id="50" name="Straight Connector 49">
            <a:extLst>
              <a:ext uri="{FF2B5EF4-FFF2-40B4-BE49-F238E27FC236}">
                <a16:creationId xmlns:a16="http://schemas.microsoft.com/office/drawing/2014/main" id="{81E18326-3A10-4302-AD41-768380C578DE}"/>
              </a:ext>
            </a:extLst>
          </p:cNvPr>
          <p:cNvCxnSpPr>
            <a:cxnSpLocks/>
          </p:cNvCxnSpPr>
          <p:nvPr/>
        </p:nvCxnSpPr>
        <p:spPr>
          <a:xfrm>
            <a:off x="358773" y="2690529"/>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106362-09F5-482D-A210-57846B1A88DE}"/>
              </a:ext>
            </a:extLst>
          </p:cNvPr>
          <p:cNvCxnSpPr>
            <a:cxnSpLocks/>
          </p:cNvCxnSpPr>
          <p:nvPr/>
        </p:nvCxnSpPr>
        <p:spPr>
          <a:xfrm>
            <a:off x="358773" y="3254772"/>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3E9C540-4B95-4E47-80F3-236A566B4453}"/>
              </a:ext>
            </a:extLst>
          </p:cNvPr>
          <p:cNvCxnSpPr>
            <a:cxnSpLocks/>
          </p:cNvCxnSpPr>
          <p:nvPr/>
        </p:nvCxnSpPr>
        <p:spPr>
          <a:xfrm>
            <a:off x="358773" y="3899928"/>
            <a:ext cx="8434051" cy="442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8270735-EC7E-4275-8FA1-7467D68E67DC}"/>
              </a:ext>
            </a:extLst>
          </p:cNvPr>
          <p:cNvCxnSpPr>
            <a:cxnSpLocks/>
          </p:cNvCxnSpPr>
          <p:nvPr/>
        </p:nvCxnSpPr>
        <p:spPr>
          <a:xfrm>
            <a:off x="358773" y="4477477"/>
            <a:ext cx="8434051" cy="687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454837F-D863-4821-A009-2CAC65CC5C3A}"/>
              </a:ext>
            </a:extLst>
          </p:cNvPr>
          <p:cNvSpPr/>
          <p:nvPr/>
        </p:nvSpPr>
        <p:spPr>
          <a:xfrm>
            <a:off x="1686157" y="2696184"/>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Agrees insurance terms with insurer &amp; maintain information up to date</a:t>
            </a:r>
          </a:p>
          <a:p>
            <a:pPr marL="171450" indent="-171450">
              <a:spcAft>
                <a:spcPts val="400"/>
              </a:spcAft>
              <a:buFontTx/>
              <a:buChar char="-"/>
            </a:pPr>
            <a:r>
              <a:rPr lang="en-GB" sz="800">
                <a:solidFill>
                  <a:schemeClr val="tx1"/>
                </a:solidFill>
              </a:rPr>
              <a:t>Raises &amp; manages claims</a:t>
            </a:r>
          </a:p>
        </p:txBody>
      </p:sp>
      <p:sp>
        <p:nvSpPr>
          <p:cNvPr id="56" name="Rectangle 55">
            <a:extLst>
              <a:ext uri="{FF2B5EF4-FFF2-40B4-BE49-F238E27FC236}">
                <a16:creationId xmlns:a16="http://schemas.microsoft.com/office/drawing/2014/main" id="{182FA9C0-619F-4A41-8352-F66FDAC2359D}"/>
              </a:ext>
            </a:extLst>
          </p:cNvPr>
          <p:cNvSpPr/>
          <p:nvPr/>
        </p:nvSpPr>
        <p:spPr>
          <a:xfrm>
            <a:off x="3461046" y="2696184"/>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Holds policy &amp; claim data </a:t>
            </a:r>
          </a:p>
          <a:p>
            <a:pPr marL="171450" indent="-171450">
              <a:spcAft>
                <a:spcPts val="400"/>
              </a:spcAft>
              <a:buFontTx/>
              <a:buChar char="-"/>
            </a:pPr>
            <a:r>
              <a:rPr lang="en-GB" sz="800">
                <a:solidFill>
                  <a:schemeClr val="tx1"/>
                </a:solidFill>
              </a:rPr>
              <a:t>Creates insurance re-charges to leaseholders &amp; agents</a:t>
            </a:r>
          </a:p>
        </p:txBody>
      </p:sp>
      <p:sp>
        <p:nvSpPr>
          <p:cNvPr id="58" name="Rectangle 57">
            <a:extLst>
              <a:ext uri="{FF2B5EF4-FFF2-40B4-BE49-F238E27FC236}">
                <a16:creationId xmlns:a16="http://schemas.microsoft.com/office/drawing/2014/main" id="{786191EF-A61B-4D03-BF4D-E18368142D34}"/>
              </a:ext>
            </a:extLst>
          </p:cNvPr>
          <p:cNvSpPr/>
          <p:nvPr/>
        </p:nvSpPr>
        <p:spPr>
          <a:xfrm>
            <a:off x="5235935" y="2702012"/>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Processes payment of insurance premiums</a:t>
            </a:r>
          </a:p>
          <a:p>
            <a:pPr marL="171450" indent="-171450">
              <a:spcAft>
                <a:spcPts val="400"/>
              </a:spcAft>
              <a:buFontTx/>
              <a:buChar char="-"/>
            </a:pPr>
            <a:r>
              <a:rPr lang="en-GB" sz="800">
                <a:solidFill>
                  <a:schemeClr val="tx1"/>
                </a:solidFill>
              </a:rPr>
              <a:t>Pays supplier invoices related to claims</a:t>
            </a:r>
          </a:p>
        </p:txBody>
      </p:sp>
      <p:sp>
        <p:nvSpPr>
          <p:cNvPr id="60" name="Rectangle 59">
            <a:extLst>
              <a:ext uri="{FF2B5EF4-FFF2-40B4-BE49-F238E27FC236}">
                <a16:creationId xmlns:a16="http://schemas.microsoft.com/office/drawing/2014/main" id="{5C84E2F5-46E1-4B6A-8910-91789CC2B951}"/>
              </a:ext>
            </a:extLst>
          </p:cNvPr>
          <p:cNvSpPr/>
          <p:nvPr/>
        </p:nvSpPr>
        <p:spPr>
          <a:xfrm>
            <a:off x="1686157" y="3291006"/>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Manages S/C budgets</a:t>
            </a:r>
          </a:p>
          <a:p>
            <a:pPr marL="171450" indent="-171450">
              <a:spcAft>
                <a:spcPts val="400"/>
              </a:spcAft>
              <a:buFontTx/>
              <a:buChar char="-"/>
            </a:pPr>
            <a:r>
              <a:rPr lang="en-GB" sz="800">
                <a:solidFill>
                  <a:schemeClr val="tx1"/>
                </a:solidFill>
              </a:rPr>
              <a:t>Reviews S/C statements</a:t>
            </a:r>
          </a:p>
        </p:txBody>
      </p:sp>
      <p:sp>
        <p:nvSpPr>
          <p:cNvPr id="62" name="Rectangle 61">
            <a:extLst>
              <a:ext uri="{FF2B5EF4-FFF2-40B4-BE49-F238E27FC236}">
                <a16:creationId xmlns:a16="http://schemas.microsoft.com/office/drawing/2014/main" id="{FE2C506C-F60E-45C8-9403-F3CA9F0C13DF}"/>
              </a:ext>
            </a:extLst>
          </p:cNvPr>
          <p:cNvSpPr/>
          <p:nvPr/>
        </p:nvSpPr>
        <p:spPr>
          <a:xfrm>
            <a:off x="3461046" y="3291006"/>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200"/>
              </a:spcAft>
              <a:buFontTx/>
              <a:buChar char="-"/>
            </a:pPr>
            <a:r>
              <a:rPr lang="en-GB" sz="800">
                <a:solidFill>
                  <a:schemeClr val="tx1"/>
                </a:solidFill>
              </a:rPr>
              <a:t>Apportions spend to units based on S/C schedules / rules</a:t>
            </a:r>
          </a:p>
          <a:p>
            <a:pPr marL="171450" indent="-171450">
              <a:spcAft>
                <a:spcPts val="200"/>
              </a:spcAft>
              <a:buFontTx/>
              <a:buChar char="-"/>
            </a:pPr>
            <a:r>
              <a:rPr lang="en-GB" sz="800">
                <a:solidFill>
                  <a:schemeClr val="tx1"/>
                </a:solidFill>
              </a:rPr>
              <a:t>Consolidates S/C accounts for complex estates</a:t>
            </a:r>
          </a:p>
          <a:p>
            <a:pPr marL="171450" indent="-171450">
              <a:spcAft>
                <a:spcPts val="200"/>
              </a:spcAft>
              <a:buFontTx/>
              <a:buChar char="-"/>
            </a:pPr>
            <a:r>
              <a:rPr lang="en-GB" sz="800">
                <a:solidFill>
                  <a:schemeClr val="tx1"/>
                </a:solidFill>
              </a:rPr>
              <a:t>issues S/C statements</a:t>
            </a:r>
          </a:p>
        </p:txBody>
      </p:sp>
      <p:sp>
        <p:nvSpPr>
          <p:cNvPr id="66" name="Rectangle 65">
            <a:extLst>
              <a:ext uri="{FF2B5EF4-FFF2-40B4-BE49-F238E27FC236}">
                <a16:creationId xmlns:a16="http://schemas.microsoft.com/office/drawing/2014/main" id="{B5598C04-AB3A-4EB6-8C02-F9E277DE0143}"/>
              </a:ext>
            </a:extLst>
          </p:cNvPr>
          <p:cNvSpPr/>
          <p:nvPr/>
        </p:nvSpPr>
        <p:spPr>
          <a:xfrm>
            <a:off x="1686156" y="3892205"/>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Opens bank accounts in MRI</a:t>
            </a:r>
          </a:p>
          <a:p>
            <a:pPr marL="171450" indent="-171450">
              <a:spcAft>
                <a:spcPts val="400"/>
              </a:spcAft>
              <a:buFontTx/>
              <a:buChar char="-"/>
            </a:pPr>
            <a:r>
              <a:rPr lang="en-GB" sz="800">
                <a:solidFill>
                  <a:schemeClr val="tx1"/>
                </a:solidFill>
              </a:rPr>
              <a:t>Posts receipts &amp; payments, transfers cash across banks</a:t>
            </a:r>
          </a:p>
          <a:p>
            <a:pPr marL="171450" indent="-171450">
              <a:spcAft>
                <a:spcPts val="400"/>
              </a:spcAft>
              <a:buFontTx/>
              <a:buChar char="-"/>
            </a:pPr>
            <a:r>
              <a:rPr lang="en-GB" sz="800">
                <a:solidFill>
                  <a:schemeClr val="tx1"/>
                </a:solidFill>
              </a:rPr>
              <a:t>Perform bank reconciliation</a:t>
            </a:r>
          </a:p>
        </p:txBody>
      </p:sp>
      <p:sp>
        <p:nvSpPr>
          <p:cNvPr id="68" name="Rectangle 67">
            <a:extLst>
              <a:ext uri="{FF2B5EF4-FFF2-40B4-BE49-F238E27FC236}">
                <a16:creationId xmlns:a16="http://schemas.microsoft.com/office/drawing/2014/main" id="{1C8A176D-4F84-40C1-9EF2-234BF822F112}"/>
              </a:ext>
            </a:extLst>
          </p:cNvPr>
          <p:cNvSpPr/>
          <p:nvPr/>
        </p:nvSpPr>
        <p:spPr>
          <a:xfrm>
            <a:off x="3461045" y="3892205"/>
            <a:ext cx="1874279"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Holds banking attributes for all types od transactions</a:t>
            </a:r>
          </a:p>
          <a:p>
            <a:pPr marL="171450" indent="-171450">
              <a:spcAft>
                <a:spcPts val="400"/>
              </a:spcAft>
              <a:buFontTx/>
              <a:buChar char="-"/>
            </a:pPr>
            <a:r>
              <a:rPr lang="en-GB" sz="800">
                <a:solidFill>
                  <a:schemeClr val="tx1"/>
                </a:solidFill>
              </a:rPr>
              <a:t>Identifies &amp; corrects banking errors for tenant ledger receipts</a:t>
            </a:r>
          </a:p>
        </p:txBody>
      </p:sp>
      <p:sp>
        <p:nvSpPr>
          <p:cNvPr id="72" name="Rectangle 71">
            <a:extLst>
              <a:ext uri="{FF2B5EF4-FFF2-40B4-BE49-F238E27FC236}">
                <a16:creationId xmlns:a16="http://schemas.microsoft.com/office/drawing/2014/main" id="{A37790AE-F32B-422D-A4FD-6A466679B6E2}"/>
              </a:ext>
            </a:extLst>
          </p:cNvPr>
          <p:cNvSpPr/>
          <p:nvPr/>
        </p:nvSpPr>
        <p:spPr>
          <a:xfrm>
            <a:off x="1686157" y="5097937"/>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Inputs into transaction adjustments and management reporting</a:t>
            </a:r>
          </a:p>
        </p:txBody>
      </p:sp>
      <p:sp>
        <p:nvSpPr>
          <p:cNvPr id="74" name="Rectangle 73">
            <a:extLst>
              <a:ext uri="{FF2B5EF4-FFF2-40B4-BE49-F238E27FC236}">
                <a16:creationId xmlns:a16="http://schemas.microsoft.com/office/drawing/2014/main" id="{1E13137F-6ADA-404E-AB0B-3B41C0FEAE63}"/>
              </a:ext>
            </a:extLst>
          </p:cNvPr>
          <p:cNvSpPr/>
          <p:nvPr/>
        </p:nvSpPr>
        <p:spPr>
          <a:xfrm>
            <a:off x="3461046" y="5097937"/>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Posts journal adjustments to accounts</a:t>
            </a:r>
          </a:p>
          <a:p>
            <a:pPr marL="171450" indent="-171450">
              <a:spcAft>
                <a:spcPts val="400"/>
              </a:spcAft>
              <a:buFontTx/>
              <a:buChar char="-"/>
            </a:pPr>
            <a:r>
              <a:rPr lang="en-GB" sz="800">
                <a:solidFill>
                  <a:schemeClr val="tx1"/>
                </a:solidFill>
              </a:rPr>
              <a:t>Posts accruals from P2P</a:t>
            </a:r>
          </a:p>
          <a:p>
            <a:pPr marL="171450" indent="-171450">
              <a:spcAft>
                <a:spcPts val="400"/>
              </a:spcAft>
              <a:buFontTx/>
              <a:buChar char="-"/>
            </a:pPr>
            <a:r>
              <a:rPr lang="en-GB" sz="800">
                <a:solidFill>
                  <a:schemeClr val="tx1"/>
                </a:solidFill>
              </a:rPr>
              <a:t>Closes financial periods</a:t>
            </a:r>
          </a:p>
        </p:txBody>
      </p:sp>
      <p:sp>
        <p:nvSpPr>
          <p:cNvPr id="76" name="Rectangle 75">
            <a:extLst>
              <a:ext uri="{FF2B5EF4-FFF2-40B4-BE49-F238E27FC236}">
                <a16:creationId xmlns:a16="http://schemas.microsoft.com/office/drawing/2014/main" id="{DBA4EBEE-71B9-4E0D-AA95-5D87E512617E}"/>
              </a:ext>
            </a:extLst>
          </p:cNvPr>
          <p:cNvSpPr/>
          <p:nvPr/>
        </p:nvSpPr>
        <p:spPr>
          <a:xfrm>
            <a:off x="5235935" y="5103765"/>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Provides information for month end adjustments</a:t>
            </a:r>
          </a:p>
        </p:txBody>
      </p:sp>
      <p:sp>
        <p:nvSpPr>
          <p:cNvPr id="64" name="Rectangle: Rounded Corners 63">
            <a:extLst>
              <a:ext uri="{FF2B5EF4-FFF2-40B4-BE49-F238E27FC236}">
                <a16:creationId xmlns:a16="http://schemas.microsoft.com/office/drawing/2014/main" id="{3EC34B0B-F749-4329-9C46-E0938B2E8761}"/>
              </a:ext>
            </a:extLst>
          </p:cNvPr>
          <p:cNvSpPr/>
          <p:nvPr/>
        </p:nvSpPr>
        <p:spPr>
          <a:xfrm>
            <a:off x="351174" y="5751915"/>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Aft>
                <a:spcPts val="600"/>
              </a:spcAft>
            </a:pPr>
            <a:r>
              <a:rPr lang="en-GB" sz="1200" b="1">
                <a:latin typeface="+mj-lt"/>
              </a:rPr>
              <a:t>Internal Finance</a:t>
            </a:r>
          </a:p>
        </p:txBody>
      </p:sp>
      <p:sp>
        <p:nvSpPr>
          <p:cNvPr id="70" name="Rectangle: Rounded Corners 69">
            <a:extLst>
              <a:ext uri="{FF2B5EF4-FFF2-40B4-BE49-F238E27FC236}">
                <a16:creationId xmlns:a16="http://schemas.microsoft.com/office/drawing/2014/main" id="{69413BAA-CC71-4D52-8135-E365F0EA2F1F}"/>
              </a:ext>
            </a:extLst>
          </p:cNvPr>
          <p:cNvSpPr/>
          <p:nvPr/>
        </p:nvSpPr>
        <p:spPr>
          <a:xfrm>
            <a:off x="351175" y="4519615"/>
            <a:ext cx="1231487" cy="505184"/>
          </a:xfrm>
          <a:prstGeom prst="roundRect">
            <a:avLst>
              <a:gd name="adj" fmla="val 506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spcAft>
                <a:spcPts val="600"/>
              </a:spcAft>
            </a:pPr>
            <a:r>
              <a:rPr lang="en-GB" sz="1200" b="1">
                <a:latin typeface="+mj-lt"/>
              </a:rPr>
              <a:t>Staff Expenses</a:t>
            </a:r>
          </a:p>
        </p:txBody>
      </p:sp>
      <p:sp>
        <p:nvSpPr>
          <p:cNvPr id="79" name="Rectangle 78">
            <a:extLst>
              <a:ext uri="{FF2B5EF4-FFF2-40B4-BE49-F238E27FC236}">
                <a16:creationId xmlns:a16="http://schemas.microsoft.com/office/drawing/2014/main" id="{23F29DB4-A278-4FB3-8F1F-36820D0AD9F0}"/>
              </a:ext>
            </a:extLst>
          </p:cNvPr>
          <p:cNvSpPr/>
          <p:nvPr/>
        </p:nvSpPr>
        <p:spPr>
          <a:xfrm>
            <a:off x="1678558" y="5711068"/>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rPr>
              <a:t>Manages payroll, taxation, budgeting and forecasting</a:t>
            </a:r>
          </a:p>
        </p:txBody>
      </p:sp>
      <p:sp>
        <p:nvSpPr>
          <p:cNvPr id="82" name="Rectangle 81">
            <a:extLst>
              <a:ext uri="{FF2B5EF4-FFF2-40B4-BE49-F238E27FC236}">
                <a16:creationId xmlns:a16="http://schemas.microsoft.com/office/drawing/2014/main" id="{B27832CA-68D3-4161-ACF0-BB47610758A8}"/>
              </a:ext>
            </a:extLst>
          </p:cNvPr>
          <p:cNvSpPr/>
          <p:nvPr/>
        </p:nvSpPr>
        <p:spPr>
          <a:xfrm>
            <a:off x="3461046" y="5711068"/>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Apportions correct tax amounts</a:t>
            </a:r>
          </a:p>
          <a:p>
            <a:pPr marL="171450" indent="-171450">
              <a:spcAft>
                <a:spcPts val="400"/>
              </a:spcAft>
              <a:buFontTx/>
              <a:buChar char="-"/>
            </a:pPr>
            <a:r>
              <a:rPr lang="en-GB" sz="800">
                <a:solidFill>
                  <a:schemeClr val="tx1"/>
                </a:solidFill>
              </a:rPr>
              <a:t>Supports budgeting and forecasting for service charges</a:t>
            </a:r>
          </a:p>
        </p:txBody>
      </p:sp>
      <p:sp>
        <p:nvSpPr>
          <p:cNvPr id="84" name="Rectangle 83">
            <a:extLst>
              <a:ext uri="{FF2B5EF4-FFF2-40B4-BE49-F238E27FC236}">
                <a16:creationId xmlns:a16="http://schemas.microsoft.com/office/drawing/2014/main" id="{D8805B3A-BFCE-4EDE-9A78-379B2265F118}"/>
              </a:ext>
            </a:extLst>
          </p:cNvPr>
          <p:cNvSpPr/>
          <p:nvPr/>
        </p:nvSpPr>
        <p:spPr>
          <a:xfrm>
            <a:off x="5228336" y="5931973"/>
            <a:ext cx="1782000" cy="32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marL="171450" indent="-171450">
              <a:spcAft>
                <a:spcPts val="400"/>
              </a:spcAft>
              <a:buFontTx/>
              <a:buChar char="-"/>
            </a:pPr>
            <a:r>
              <a:rPr lang="en-GB" sz="800">
                <a:solidFill>
                  <a:schemeClr val="tx1"/>
                </a:solidFill>
              </a:rPr>
              <a:t>Bulk invoice download  to support audit (supported by DMS)</a:t>
            </a:r>
          </a:p>
        </p:txBody>
      </p:sp>
      <p:cxnSp>
        <p:nvCxnSpPr>
          <p:cNvPr id="86" name="Straight Connector 85">
            <a:extLst>
              <a:ext uri="{FF2B5EF4-FFF2-40B4-BE49-F238E27FC236}">
                <a16:creationId xmlns:a16="http://schemas.microsoft.com/office/drawing/2014/main" id="{F6E820BD-D49A-4F6B-9E6B-A2AA9FF6866F}"/>
              </a:ext>
            </a:extLst>
          </p:cNvPr>
          <p:cNvCxnSpPr>
            <a:cxnSpLocks/>
          </p:cNvCxnSpPr>
          <p:nvPr/>
        </p:nvCxnSpPr>
        <p:spPr>
          <a:xfrm>
            <a:off x="351174" y="5690506"/>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54444F2-217A-4FEE-AFC1-AACDEDBC032F}"/>
              </a:ext>
            </a:extLst>
          </p:cNvPr>
          <p:cNvCxnSpPr>
            <a:cxnSpLocks/>
          </p:cNvCxnSpPr>
          <p:nvPr/>
        </p:nvCxnSpPr>
        <p:spPr>
          <a:xfrm>
            <a:off x="351174" y="6288305"/>
            <a:ext cx="8434051"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DDCB0B15-D86E-4071-BBCC-0A7308DFA332}"/>
              </a:ext>
            </a:extLst>
          </p:cNvPr>
          <p:cNvSpPr/>
          <p:nvPr/>
        </p:nvSpPr>
        <p:spPr>
          <a:xfrm>
            <a:off x="1678558" y="4479613"/>
            <a:ext cx="1782000" cy="592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Submits expense claims, attaches doc’s</a:t>
            </a:r>
          </a:p>
          <a:p>
            <a:pPr marL="171450" indent="-171450">
              <a:spcAft>
                <a:spcPts val="400"/>
              </a:spcAft>
              <a:buFontTx/>
              <a:buChar char="-"/>
            </a:pPr>
            <a:r>
              <a:rPr lang="en-GB" sz="800">
                <a:solidFill>
                  <a:schemeClr val="tx1"/>
                </a:solidFill>
              </a:rPr>
              <a:t>Approves claims for payment</a:t>
            </a:r>
          </a:p>
        </p:txBody>
      </p:sp>
      <p:sp>
        <p:nvSpPr>
          <p:cNvPr id="90" name="Rectangle 89">
            <a:extLst>
              <a:ext uri="{FF2B5EF4-FFF2-40B4-BE49-F238E27FC236}">
                <a16:creationId xmlns:a16="http://schemas.microsoft.com/office/drawing/2014/main" id="{87AAC105-3A4A-4472-8F7E-172C999A7047}"/>
              </a:ext>
            </a:extLst>
          </p:cNvPr>
          <p:cNvSpPr/>
          <p:nvPr/>
        </p:nvSpPr>
        <p:spPr>
          <a:xfrm>
            <a:off x="3461046" y="4479613"/>
            <a:ext cx="1782000" cy="595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Holds employees as suppliers for expense payments</a:t>
            </a:r>
          </a:p>
          <a:p>
            <a:pPr marL="171450" indent="-171450">
              <a:spcAft>
                <a:spcPts val="400"/>
              </a:spcAft>
              <a:buFontTx/>
              <a:buChar char="-"/>
            </a:pPr>
            <a:r>
              <a:rPr lang="en-GB" sz="800">
                <a:solidFill>
                  <a:schemeClr val="tx1"/>
                </a:solidFill>
              </a:rPr>
              <a:t>Processes payment of expenses via BACS</a:t>
            </a:r>
          </a:p>
        </p:txBody>
      </p:sp>
      <p:sp>
        <p:nvSpPr>
          <p:cNvPr id="92" name="Rectangle 91">
            <a:extLst>
              <a:ext uri="{FF2B5EF4-FFF2-40B4-BE49-F238E27FC236}">
                <a16:creationId xmlns:a16="http://schemas.microsoft.com/office/drawing/2014/main" id="{C295467E-7A3A-4017-BF40-1FCD61F45B06}"/>
              </a:ext>
            </a:extLst>
          </p:cNvPr>
          <p:cNvSpPr/>
          <p:nvPr/>
        </p:nvSpPr>
        <p:spPr>
          <a:xfrm>
            <a:off x="5228336" y="4485441"/>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Stores documents / receipts attached to a claim</a:t>
            </a:r>
          </a:p>
          <a:p>
            <a:pPr marL="171450" indent="-171450">
              <a:spcAft>
                <a:spcPts val="400"/>
              </a:spcAft>
              <a:buFontTx/>
              <a:buChar char="-"/>
            </a:pPr>
            <a:r>
              <a:rPr lang="en-GB" sz="800">
                <a:solidFill>
                  <a:schemeClr val="tx1"/>
                </a:solidFill>
              </a:rPr>
              <a:t>Manages approval workflow</a:t>
            </a:r>
          </a:p>
          <a:p>
            <a:pPr marL="171450" indent="-171450">
              <a:spcAft>
                <a:spcPts val="400"/>
              </a:spcAft>
              <a:buFontTx/>
              <a:buChar char="-"/>
            </a:pPr>
            <a:r>
              <a:rPr lang="en-GB" sz="800">
                <a:solidFill>
                  <a:schemeClr val="tx1"/>
                </a:solidFill>
              </a:rPr>
              <a:t>Supports audit approvals</a:t>
            </a:r>
          </a:p>
        </p:txBody>
      </p:sp>
      <p:pic>
        <p:nvPicPr>
          <p:cNvPr id="94" name="Picture 12" descr="Image result for proactis software">
            <a:extLst>
              <a:ext uri="{FF2B5EF4-FFF2-40B4-BE49-F238E27FC236}">
                <a16:creationId xmlns:a16="http://schemas.microsoft.com/office/drawing/2014/main" id="{0BB69093-E3B2-49AF-9D13-6EDA80FAD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4014" y="1279597"/>
            <a:ext cx="1090644" cy="451524"/>
          </a:xfrm>
          <a:prstGeom prst="rect">
            <a:avLst/>
          </a:prstGeom>
          <a:noFill/>
          <a:extLst>
            <a:ext uri="{909E8E84-426E-40DD-AFC4-6F175D3DCCD1}">
              <a14:hiddenFill xmlns:a14="http://schemas.microsoft.com/office/drawing/2010/main">
                <a:solidFill>
                  <a:srgbClr val="FFFFFF"/>
                </a:solidFill>
              </a14:hiddenFill>
            </a:ext>
          </a:extLst>
        </p:spPr>
      </p:pic>
      <p:sp>
        <p:nvSpPr>
          <p:cNvPr id="95" name="Rectangle 94">
            <a:extLst>
              <a:ext uri="{FF2B5EF4-FFF2-40B4-BE49-F238E27FC236}">
                <a16:creationId xmlns:a16="http://schemas.microsoft.com/office/drawing/2014/main" id="{C67B4284-3075-4D63-89D3-8C693DBD2C08}"/>
              </a:ext>
            </a:extLst>
          </p:cNvPr>
          <p:cNvSpPr/>
          <p:nvPr/>
        </p:nvSpPr>
        <p:spPr>
          <a:xfrm>
            <a:off x="5243535" y="3295834"/>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Ensures payments are processed within the right approvals and into right ledger accounts.</a:t>
            </a:r>
          </a:p>
        </p:txBody>
      </p:sp>
      <p:sp>
        <p:nvSpPr>
          <p:cNvPr id="96" name="Rectangle 95">
            <a:extLst>
              <a:ext uri="{FF2B5EF4-FFF2-40B4-BE49-F238E27FC236}">
                <a16:creationId xmlns:a16="http://schemas.microsoft.com/office/drawing/2014/main" id="{82D0B0DD-4A27-40DA-95B4-C6BC08762E2C}"/>
              </a:ext>
            </a:extLst>
          </p:cNvPr>
          <p:cNvSpPr/>
          <p:nvPr/>
        </p:nvSpPr>
        <p:spPr>
          <a:xfrm>
            <a:off x="5243535" y="3893178"/>
            <a:ext cx="1782000" cy="596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endParaRPr lang="en-GB" sz="800">
              <a:solidFill>
                <a:schemeClr val="tx1"/>
              </a:solidFill>
            </a:endParaRPr>
          </a:p>
        </p:txBody>
      </p:sp>
      <p:sp>
        <p:nvSpPr>
          <p:cNvPr id="46" name="Rectangle 45">
            <a:extLst>
              <a:ext uri="{FF2B5EF4-FFF2-40B4-BE49-F238E27FC236}">
                <a16:creationId xmlns:a16="http://schemas.microsoft.com/office/drawing/2014/main" id="{96550745-AFBD-4A0C-BE71-1353A3A6FA94}"/>
              </a:ext>
            </a:extLst>
          </p:cNvPr>
          <p:cNvSpPr/>
          <p:nvPr/>
        </p:nvSpPr>
        <p:spPr>
          <a:xfrm>
            <a:off x="6994791" y="3923733"/>
            <a:ext cx="1782000" cy="601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Routes payments to correct bank accounts</a:t>
            </a:r>
          </a:p>
          <a:p>
            <a:pPr marL="171450" indent="-171450">
              <a:spcAft>
                <a:spcPts val="400"/>
              </a:spcAft>
              <a:buFontTx/>
              <a:buChar char="-"/>
            </a:pPr>
            <a:r>
              <a:rPr lang="en-GB" sz="800">
                <a:solidFill>
                  <a:schemeClr val="tx1"/>
                </a:solidFill>
              </a:rPr>
              <a:t>Automatically feeds MRI of refunds and concessions</a:t>
            </a:r>
          </a:p>
        </p:txBody>
      </p:sp>
      <p:sp>
        <p:nvSpPr>
          <p:cNvPr id="47" name="Rectangle 46">
            <a:extLst>
              <a:ext uri="{FF2B5EF4-FFF2-40B4-BE49-F238E27FC236}">
                <a16:creationId xmlns:a16="http://schemas.microsoft.com/office/drawing/2014/main" id="{722736EE-34D5-41D3-8F62-859B300BEEE8}"/>
              </a:ext>
            </a:extLst>
          </p:cNvPr>
          <p:cNvSpPr/>
          <p:nvPr/>
        </p:nvSpPr>
        <p:spPr>
          <a:xfrm>
            <a:off x="6994791" y="2306709"/>
            <a:ext cx="1782000" cy="385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Reports units due for rent review</a:t>
            </a:r>
          </a:p>
        </p:txBody>
      </p:sp>
      <p:sp>
        <p:nvSpPr>
          <p:cNvPr id="48" name="Rectangle 47">
            <a:extLst>
              <a:ext uri="{FF2B5EF4-FFF2-40B4-BE49-F238E27FC236}">
                <a16:creationId xmlns:a16="http://schemas.microsoft.com/office/drawing/2014/main" id="{17D051D5-3C1B-4CFA-86EE-F5E9EC60402D}"/>
              </a:ext>
            </a:extLst>
          </p:cNvPr>
          <p:cNvSpPr/>
          <p:nvPr/>
        </p:nvSpPr>
        <p:spPr>
          <a:xfrm>
            <a:off x="6994791" y="5712492"/>
            <a:ext cx="1782000" cy="3753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Holds and updates budgets</a:t>
            </a:r>
          </a:p>
          <a:p>
            <a:pPr marL="171450" indent="-171450">
              <a:spcAft>
                <a:spcPts val="400"/>
              </a:spcAft>
              <a:buFontTx/>
              <a:buChar char="-"/>
            </a:pPr>
            <a:endParaRPr lang="en-GB" sz="800">
              <a:solidFill>
                <a:schemeClr val="tx1"/>
              </a:solidFill>
            </a:endParaRPr>
          </a:p>
        </p:txBody>
      </p:sp>
      <p:sp>
        <p:nvSpPr>
          <p:cNvPr id="49" name="Rectangle 48">
            <a:extLst>
              <a:ext uri="{FF2B5EF4-FFF2-40B4-BE49-F238E27FC236}">
                <a16:creationId xmlns:a16="http://schemas.microsoft.com/office/drawing/2014/main" id="{BD440019-FB24-4345-B549-8F114FBCB07A}"/>
              </a:ext>
            </a:extLst>
          </p:cNvPr>
          <p:cNvSpPr/>
          <p:nvPr/>
        </p:nvSpPr>
        <p:spPr>
          <a:xfrm>
            <a:off x="6994791" y="5320829"/>
            <a:ext cx="1782000" cy="375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Consolidates accounts</a:t>
            </a:r>
          </a:p>
          <a:p>
            <a:pPr marL="171450" indent="-171450">
              <a:spcAft>
                <a:spcPts val="400"/>
              </a:spcAft>
              <a:buFontTx/>
              <a:buChar char="-"/>
            </a:pPr>
            <a:r>
              <a:rPr lang="en-GB" sz="800">
                <a:solidFill>
                  <a:schemeClr val="tx1"/>
                </a:solidFill>
              </a:rPr>
              <a:t>Create statutory/management accounts reporting  </a:t>
            </a:r>
          </a:p>
        </p:txBody>
      </p:sp>
      <p:sp>
        <p:nvSpPr>
          <p:cNvPr id="57" name="Rectangle 56">
            <a:extLst>
              <a:ext uri="{FF2B5EF4-FFF2-40B4-BE49-F238E27FC236}">
                <a16:creationId xmlns:a16="http://schemas.microsoft.com/office/drawing/2014/main" id="{9B01B36F-18FE-4642-B5DB-EA413079A73C}"/>
              </a:ext>
            </a:extLst>
          </p:cNvPr>
          <p:cNvSpPr/>
          <p:nvPr/>
        </p:nvSpPr>
        <p:spPr>
          <a:xfrm>
            <a:off x="6994791" y="2899283"/>
            <a:ext cx="1782000" cy="3963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ctr" anchorCtr="0" forceAA="0" compatLnSpc="1">
            <a:prstTxWarp prst="textNoShape">
              <a:avLst/>
            </a:prstTxWarp>
            <a:noAutofit/>
          </a:bodyPr>
          <a:lstStyle/>
          <a:p>
            <a:pPr marL="171450" indent="-171450">
              <a:spcAft>
                <a:spcPts val="400"/>
              </a:spcAft>
              <a:buFontTx/>
              <a:buChar char="-"/>
            </a:pPr>
            <a:r>
              <a:rPr lang="en-GB" sz="800">
                <a:solidFill>
                  <a:schemeClr val="tx1"/>
                </a:solidFill>
              </a:rPr>
              <a:t>Hold information to raise claims</a:t>
            </a:r>
          </a:p>
        </p:txBody>
      </p:sp>
      <p:sp>
        <p:nvSpPr>
          <p:cNvPr id="59" name="Rectangle 58">
            <a:extLst>
              <a:ext uri="{FF2B5EF4-FFF2-40B4-BE49-F238E27FC236}">
                <a16:creationId xmlns:a16="http://schemas.microsoft.com/office/drawing/2014/main" id="{F50DA175-7BCA-4440-97DE-5532136881A1}"/>
              </a:ext>
            </a:extLst>
          </p:cNvPr>
          <p:cNvSpPr/>
          <p:nvPr/>
        </p:nvSpPr>
        <p:spPr>
          <a:xfrm>
            <a:off x="6994791" y="3296406"/>
            <a:ext cx="1782000" cy="601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 tIns="45720" rIns="18000" bIns="45720" numCol="1" spcCol="0" rtlCol="0" fromWordArt="0" anchor="t" anchorCtr="0" forceAA="0" compatLnSpc="1">
            <a:prstTxWarp prst="textNoShape">
              <a:avLst/>
            </a:prstTxWarp>
            <a:noAutofit/>
          </a:bodyPr>
          <a:lstStyle/>
          <a:p>
            <a:pPr marL="171450" indent="-171450">
              <a:spcAft>
                <a:spcPts val="400"/>
              </a:spcAft>
              <a:buFontTx/>
              <a:buChar char="-"/>
            </a:pPr>
            <a:r>
              <a:rPr lang="en-GB" sz="800">
                <a:solidFill>
                  <a:schemeClr val="tx1"/>
                </a:solidFill>
              </a:rPr>
              <a:t>Assigns jobs to S/C codes</a:t>
            </a:r>
          </a:p>
          <a:p>
            <a:pPr marL="171450" indent="-171450">
              <a:spcAft>
                <a:spcPts val="400"/>
              </a:spcAft>
              <a:buFontTx/>
              <a:buChar char="-"/>
            </a:pPr>
            <a:r>
              <a:rPr lang="en-GB" sz="800">
                <a:solidFill>
                  <a:schemeClr val="tx1"/>
                </a:solidFill>
              </a:rPr>
              <a:t>Support multi S/C schedules and entity-level schedules</a:t>
            </a:r>
          </a:p>
        </p:txBody>
      </p:sp>
      <p:pic>
        <p:nvPicPr>
          <p:cNvPr id="61" name="Picture 60">
            <a:extLst>
              <a:ext uri="{FF2B5EF4-FFF2-40B4-BE49-F238E27FC236}">
                <a16:creationId xmlns:a16="http://schemas.microsoft.com/office/drawing/2014/main" id="{CDDD4047-59AB-4B8E-80CF-B0DD7BEA2E0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61807" y="4929773"/>
            <a:ext cx="1007184" cy="527093"/>
          </a:xfrm>
          <a:prstGeom prst="rect">
            <a:avLst/>
          </a:prstGeom>
        </p:spPr>
      </p:pic>
      <p:sp>
        <p:nvSpPr>
          <p:cNvPr id="69" name="TextBox 68">
            <a:extLst>
              <a:ext uri="{FF2B5EF4-FFF2-40B4-BE49-F238E27FC236}">
                <a16:creationId xmlns:a16="http://schemas.microsoft.com/office/drawing/2014/main" id="{D7099668-12E5-4509-94F4-8C8E21662FB8}"/>
              </a:ext>
            </a:extLst>
          </p:cNvPr>
          <p:cNvSpPr txBox="1"/>
          <p:nvPr/>
        </p:nvSpPr>
        <p:spPr>
          <a:xfrm>
            <a:off x="7007463" y="1439706"/>
            <a:ext cx="1769328" cy="276999"/>
          </a:xfrm>
          <a:prstGeom prst="rect">
            <a:avLst/>
          </a:prstGeom>
          <a:noFill/>
        </p:spPr>
        <p:txBody>
          <a:bodyPr wrap="square" rtlCol="0">
            <a:spAutoFit/>
          </a:bodyPr>
          <a:lstStyle/>
          <a:p>
            <a:pPr algn="ctr"/>
            <a:r>
              <a:rPr lang="en-GB" sz="1200" b="1" i="1" spc="-60">
                <a:solidFill>
                  <a:schemeClr val="tx1">
                    <a:lumMod val="60000"/>
                    <a:lumOff val="40000"/>
                  </a:schemeClr>
                </a:solidFill>
                <a:latin typeface="+mj-lt"/>
              </a:rPr>
              <a:t>(others)</a:t>
            </a:r>
          </a:p>
        </p:txBody>
      </p:sp>
      <p:pic>
        <p:nvPicPr>
          <p:cNvPr id="71" name="Picture 16" descr="Image result for fsi concept evolution">
            <a:extLst>
              <a:ext uri="{FF2B5EF4-FFF2-40B4-BE49-F238E27FC236}">
                <a16:creationId xmlns:a16="http://schemas.microsoft.com/office/drawing/2014/main" id="{1E92AF58-706A-47E2-8F82-41FD41640ED6}"/>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05027" y="2591747"/>
            <a:ext cx="720744" cy="383622"/>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0456C428-0DAE-4FC9-B25E-BEB300D161CA}"/>
              </a:ext>
            </a:extLst>
          </p:cNvPr>
          <p:cNvPicPr>
            <a:picLocks noChangeAspect="1"/>
          </p:cNvPicPr>
          <p:nvPr/>
        </p:nvPicPr>
        <p:blipFill rotWithShape="1">
          <a:blip r:embed="rId8">
            <a:clrChange>
              <a:clrFrom>
                <a:srgbClr val="FFFFFF"/>
              </a:clrFrom>
              <a:clrTo>
                <a:srgbClr val="FFFFFF">
                  <a:alpha val="0"/>
                </a:srgbClr>
              </a:clrTo>
            </a:clrChange>
          </a:blip>
          <a:srcRect l="16572" r="20242" b="26084"/>
          <a:stretch/>
        </p:blipFill>
        <p:spPr>
          <a:xfrm>
            <a:off x="7625861" y="1990228"/>
            <a:ext cx="490522" cy="439933"/>
          </a:xfrm>
          <a:prstGeom prst="rect">
            <a:avLst/>
          </a:prstGeom>
        </p:spPr>
      </p:pic>
      <p:pic>
        <p:nvPicPr>
          <p:cNvPr id="75" name="Graphic 74">
            <a:extLst>
              <a:ext uri="{FF2B5EF4-FFF2-40B4-BE49-F238E27FC236}">
                <a16:creationId xmlns:a16="http://schemas.microsoft.com/office/drawing/2014/main" id="{9BE37A80-7CB7-4359-9FCF-92EB18D4D4D3}"/>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t="-1" b="22319"/>
          <a:stretch/>
        </p:blipFill>
        <p:spPr>
          <a:xfrm>
            <a:off x="7441068" y="3815971"/>
            <a:ext cx="848661" cy="182664"/>
          </a:xfrm>
          <a:prstGeom prst="rect">
            <a:avLst/>
          </a:prstGeom>
        </p:spPr>
      </p:pic>
      <p:sp>
        <p:nvSpPr>
          <p:cNvPr id="63" name="Rectangle: Rounded Corners 62">
            <a:extLst>
              <a:ext uri="{FF2B5EF4-FFF2-40B4-BE49-F238E27FC236}">
                <a16:creationId xmlns:a16="http://schemas.microsoft.com/office/drawing/2014/main" id="{81785BE6-0296-4CDA-87C2-2CC98ACE5BDA}"/>
              </a:ext>
            </a:extLst>
          </p:cNvPr>
          <p:cNvSpPr/>
          <p:nvPr/>
        </p:nvSpPr>
        <p:spPr>
          <a:xfrm>
            <a:off x="358774" y="1633825"/>
            <a:ext cx="1231486" cy="246222"/>
          </a:xfrm>
          <a:prstGeom prst="roundRect">
            <a:avLst>
              <a:gd name="adj" fmla="val 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2</a:t>
            </a:r>
          </a:p>
        </p:txBody>
      </p:sp>
      <p:sp>
        <p:nvSpPr>
          <p:cNvPr id="65" name="Rectangle: Rounded Corners 64">
            <a:extLst>
              <a:ext uri="{FF2B5EF4-FFF2-40B4-BE49-F238E27FC236}">
                <a16:creationId xmlns:a16="http://schemas.microsoft.com/office/drawing/2014/main" id="{F54A4DB9-EF5E-4B40-9688-48BB2C1039C0}"/>
              </a:ext>
            </a:extLst>
          </p:cNvPr>
          <p:cNvSpPr/>
          <p:nvPr/>
        </p:nvSpPr>
        <p:spPr>
          <a:xfrm>
            <a:off x="367209" y="1332782"/>
            <a:ext cx="1231486" cy="246222"/>
          </a:xfrm>
          <a:prstGeom prst="roundRect">
            <a:avLst>
              <a:gd name="adj"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Phase 1 Portal /</a:t>
            </a:r>
          </a:p>
          <a:p>
            <a:pPr algn="ctr"/>
            <a:r>
              <a:rPr lang="en-GB" sz="800">
                <a:solidFill>
                  <a:schemeClr val="tx1"/>
                </a:solidFill>
              </a:rPr>
              <a:t>post-go-live</a:t>
            </a:r>
          </a:p>
        </p:txBody>
      </p:sp>
      <p:pic>
        <p:nvPicPr>
          <p:cNvPr id="80" name="Picture 79">
            <a:extLst>
              <a:ext uri="{FF2B5EF4-FFF2-40B4-BE49-F238E27FC236}">
                <a16:creationId xmlns:a16="http://schemas.microsoft.com/office/drawing/2014/main" id="{22D410D1-C0EB-4AFA-8AC0-2E7BE457C3F8}"/>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61997" y="5664118"/>
            <a:ext cx="1345076" cy="330632"/>
          </a:xfrm>
          <a:prstGeom prst="rect">
            <a:avLst/>
          </a:prstGeom>
        </p:spPr>
      </p:pic>
    </p:spTree>
    <p:extLst>
      <p:ext uri="{BB962C8B-B14F-4D97-AF65-F5344CB8AC3E}">
        <p14:creationId xmlns:p14="http://schemas.microsoft.com/office/powerpoint/2010/main" val="26611170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Finance Processes (1/2)</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4" y="1334848"/>
            <a:ext cx="5032210" cy="4960076"/>
            <a:chOff x="358772" y="2399499"/>
            <a:chExt cx="3946351" cy="4473531"/>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9"/>
              <a:ext cx="3946349" cy="276332"/>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3946351"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Identification of properties due a rent review (</a:t>
              </a:r>
              <a:r>
                <a:rPr lang="en-GB" sz="1000" err="1">
                  <a:solidFill>
                    <a:schemeClr val="tx1"/>
                  </a:solidFill>
                  <a:latin typeface="Montserrat Light (Body)"/>
                </a:rPr>
                <a:t>PowerBI</a:t>
              </a:r>
              <a:r>
                <a:rPr lang="en-GB" sz="1000">
                  <a:solidFill>
                    <a:schemeClr val="tx1"/>
                  </a:solidFill>
                  <a:latin typeface="Montserrat Light (Body)"/>
                </a:rPr>
                <a:t>)</a:t>
              </a:r>
            </a:p>
            <a:p>
              <a:pPr marL="171450" indent="-171450" fontAlgn="b">
                <a:buFontTx/>
                <a:buChar char="-"/>
              </a:pPr>
              <a:r>
                <a:rPr lang="en-GB" sz="1000">
                  <a:solidFill>
                    <a:schemeClr val="tx1"/>
                  </a:solidFill>
                  <a:latin typeface="Montserrat Light (Body)"/>
                </a:rPr>
                <a:t>Rent review automation for different tenures (MRI)</a:t>
              </a:r>
            </a:p>
            <a:p>
              <a:pPr marL="171450" indent="-171450" fontAlgn="b">
                <a:buFontTx/>
                <a:buChar char="-"/>
              </a:pPr>
              <a:r>
                <a:rPr lang="en-GB" sz="1000">
                  <a:solidFill>
                    <a:schemeClr val="tx1"/>
                  </a:solidFill>
                  <a:latin typeface="Montserrat Light (Body)"/>
                </a:rPr>
                <a:t>Automatic update of rent charges at the end of rent review (MRI)</a:t>
              </a:r>
            </a:p>
            <a:p>
              <a:pPr marL="171450" indent="-171450" fontAlgn="b">
                <a:buFontTx/>
                <a:buChar char="-"/>
              </a:pPr>
              <a:r>
                <a:rPr lang="en-GB" sz="1000">
                  <a:solidFill>
                    <a:schemeClr val="tx1"/>
                  </a:solidFill>
                  <a:latin typeface="Montserrat Light (Body)"/>
                </a:rPr>
                <a:t>Production of all rent review documentation (MRI)</a:t>
              </a:r>
            </a:p>
            <a:p>
              <a:pPr marL="171450" indent="-171450" fontAlgn="b">
                <a:buFontTx/>
                <a:buChar char="-"/>
              </a:pPr>
              <a:r>
                <a:rPr lang="en-GB" sz="1000">
                  <a:solidFill>
                    <a:schemeClr val="tx1"/>
                  </a:solidFill>
                  <a:latin typeface="Montserrat Light (Body)"/>
                </a:rPr>
                <a:t>Support to rent review appeals (MRI)</a:t>
              </a:r>
            </a:p>
            <a:p>
              <a:pPr marL="171450" indent="-171450" fontAlgn="b">
                <a:buFontTx/>
                <a:buChar char="-"/>
              </a:pPr>
              <a:r>
                <a:rPr lang="en-GB" sz="1000">
                  <a:solidFill>
                    <a:schemeClr val="tx1"/>
                  </a:solidFill>
                  <a:latin typeface="Montserrat Light (Body)"/>
                </a:rPr>
                <a:t>Handle insurance information (MRI)</a:t>
              </a:r>
            </a:p>
            <a:p>
              <a:pPr marL="171450" indent="-171450" fontAlgn="b">
                <a:buFontTx/>
                <a:buChar char="-"/>
              </a:pPr>
              <a:r>
                <a:rPr lang="en-GB" sz="1000">
                  <a:solidFill>
                    <a:schemeClr val="tx1"/>
                  </a:solidFill>
                  <a:latin typeface="Montserrat Light (Body)"/>
                </a:rPr>
                <a:t>Payment of insurance invoice with specific coding for recharging (Proactis)</a:t>
              </a:r>
            </a:p>
            <a:p>
              <a:pPr marL="171450" indent="-171450" fontAlgn="b">
                <a:buFontTx/>
                <a:buChar char="-"/>
              </a:pPr>
              <a:r>
                <a:rPr lang="en-GB" sz="1000">
                  <a:solidFill>
                    <a:schemeClr val="tx1"/>
                  </a:solidFill>
                  <a:latin typeface="Montserrat Light (Body)"/>
                </a:rPr>
                <a:t>Automatic re-charge of insurance costs based on insurance invoice (MRI) </a:t>
              </a:r>
            </a:p>
            <a:p>
              <a:pPr marL="171450" indent="-171450" fontAlgn="b">
                <a:buFontTx/>
                <a:buChar char="-"/>
              </a:pPr>
              <a:r>
                <a:rPr lang="en-GB" sz="1000">
                  <a:solidFill>
                    <a:schemeClr val="tx1"/>
                  </a:solidFill>
                  <a:latin typeface="Montserrat Light (Body)"/>
                </a:rPr>
                <a:t>Service Charge Budgets and Schedules (MRI)</a:t>
              </a:r>
            </a:p>
            <a:p>
              <a:pPr marL="171450" indent="-171450" fontAlgn="b">
                <a:buFontTx/>
                <a:buChar char="-"/>
              </a:pPr>
              <a:r>
                <a:rPr lang="en-GB" sz="1000">
                  <a:solidFill>
                    <a:schemeClr val="tx1"/>
                  </a:solidFill>
                  <a:latin typeface="Montserrat Light (Body)"/>
                </a:rPr>
                <a:t>End of Year service charge reconciliation, including sinking funds (MRI)</a:t>
              </a:r>
            </a:p>
            <a:p>
              <a:pPr marL="171450" indent="-171450" fontAlgn="b">
                <a:buFontTx/>
                <a:buChar char="-"/>
              </a:pPr>
              <a:r>
                <a:rPr lang="en-GB" sz="1000">
                  <a:solidFill>
                    <a:schemeClr val="tx1"/>
                  </a:solidFill>
                  <a:latin typeface="Montserrat Light (Body)"/>
                </a:rPr>
                <a:t>Service Charge statements and individual invoices (MRI)</a:t>
              </a:r>
            </a:p>
            <a:p>
              <a:pPr marL="171450" indent="-171450" fontAlgn="b">
                <a:buFontTx/>
                <a:buChar char="-"/>
              </a:pPr>
              <a:r>
                <a:rPr lang="en-GB" sz="1000">
                  <a:solidFill>
                    <a:schemeClr val="tx1"/>
                  </a:solidFill>
                  <a:latin typeface="Montserrat Light (Body)"/>
                </a:rPr>
                <a:t>Processing of service charge spend, including approval pathways and mixed spend (FSI, Proactis)</a:t>
              </a:r>
            </a:p>
            <a:p>
              <a:pPr marL="171450" indent="-171450" fontAlgn="b">
                <a:buFontTx/>
                <a:buChar char="-"/>
              </a:pPr>
              <a:r>
                <a:rPr lang="en-GB" sz="1000">
                  <a:solidFill>
                    <a:schemeClr val="tx1"/>
                  </a:solidFill>
                  <a:latin typeface="Montserrat Light (Body)"/>
                </a:rPr>
                <a:t>Collection of service charge payments via DD into segregated bank accounts (Asperato)</a:t>
              </a:r>
            </a:p>
            <a:p>
              <a:pPr marL="171450" indent="-171450" fontAlgn="b">
                <a:buFontTx/>
                <a:buChar char="-"/>
              </a:pPr>
              <a:r>
                <a:rPr lang="en-GB" sz="1000">
                  <a:solidFill>
                    <a:schemeClr val="tx1"/>
                  </a:solidFill>
                  <a:latin typeface="Montserrat Light (Body)"/>
                </a:rPr>
                <a:t>Major Works – handled using same functionality of Service Charge (MRI)</a:t>
              </a:r>
            </a:p>
            <a:p>
              <a:pPr marL="171450" indent="-171450" fontAlgn="b">
                <a:buFontTx/>
                <a:buChar char="-"/>
              </a:pPr>
              <a:r>
                <a:rPr lang="en-GB" sz="1000">
                  <a:solidFill>
                    <a:schemeClr val="tx1"/>
                  </a:solidFill>
                  <a:latin typeface="Montserrat Light (Body)"/>
                </a:rPr>
                <a:t>Management of bank accounts (MRI)</a:t>
              </a:r>
            </a:p>
            <a:p>
              <a:pPr marL="171450" indent="-171450" fontAlgn="b">
                <a:buFontTx/>
                <a:buChar char="-"/>
              </a:pPr>
              <a:r>
                <a:rPr lang="en-GB" sz="1000">
                  <a:solidFill>
                    <a:schemeClr val="tx1"/>
                  </a:solidFill>
                  <a:latin typeface="Montserrat Light (Body)"/>
                </a:rPr>
                <a:t>Handling multiple ‘cash types’ (MRI)</a:t>
              </a:r>
            </a:p>
            <a:p>
              <a:pPr marL="171450" indent="-171450" fontAlgn="b">
                <a:buFontTx/>
                <a:buChar char="-"/>
              </a:pPr>
              <a:r>
                <a:rPr lang="en-GB" sz="1000">
                  <a:solidFill>
                    <a:schemeClr val="tx1"/>
                  </a:solidFill>
                  <a:latin typeface="Montserrat Light (Body)"/>
                </a:rPr>
                <a:t>Bank Error Report &amp; automatic fund reallocation (MRI)</a:t>
              </a:r>
            </a:p>
            <a:p>
              <a:pPr marL="171450" indent="-171450" fontAlgn="b">
                <a:buFontTx/>
                <a:buChar char="-"/>
              </a:pPr>
              <a:r>
                <a:rPr lang="en-GB" sz="1000">
                  <a:solidFill>
                    <a:schemeClr val="tx1"/>
                  </a:solidFill>
                  <a:latin typeface="Montserrat Light (Body)"/>
                </a:rPr>
                <a:t>Bank reconciliation screens (MRI)</a:t>
              </a:r>
            </a:p>
            <a:p>
              <a:pPr marL="171450" indent="-171450" fontAlgn="b">
                <a:buFontTx/>
                <a:buChar char="-"/>
              </a:pPr>
              <a:r>
                <a:rPr lang="en-GB" sz="1000">
                  <a:solidFill>
                    <a:schemeClr val="tx1"/>
                  </a:solidFill>
                  <a:latin typeface="Montserrat Light (Body)"/>
                </a:rPr>
                <a:t>Mobile app to assemble expense claims (Proactis)</a:t>
              </a:r>
            </a:p>
            <a:p>
              <a:pPr marL="171450" indent="-171450" fontAlgn="b">
                <a:buFontTx/>
                <a:buChar char="-"/>
              </a:pPr>
              <a:r>
                <a:rPr lang="en-GB" sz="1000">
                  <a:solidFill>
                    <a:schemeClr val="tx1"/>
                  </a:solidFill>
                  <a:latin typeface="Montserrat Light (Body)"/>
                </a:rPr>
                <a:t>Management and validation of expense claims (Proactis)</a:t>
              </a:r>
            </a:p>
            <a:p>
              <a:pPr marL="171450" indent="-171450" fontAlgn="b">
                <a:buFontTx/>
                <a:buChar char="-"/>
              </a:pPr>
              <a:r>
                <a:rPr lang="en-GB" sz="1000">
                  <a:solidFill>
                    <a:schemeClr val="tx1"/>
                  </a:solidFill>
                  <a:latin typeface="Montserrat Light (Body)"/>
                </a:rPr>
                <a:t>Approval of expense claims (Proactis)</a:t>
              </a:r>
            </a:p>
            <a:p>
              <a:pPr marL="171450" indent="-171450" fontAlgn="b">
                <a:buFontTx/>
                <a:buChar char="-"/>
              </a:pPr>
              <a:r>
                <a:rPr lang="en-GB" sz="1000">
                  <a:solidFill>
                    <a:schemeClr val="tx1"/>
                  </a:solidFill>
                  <a:latin typeface="Montserrat Light (Body)"/>
                </a:rPr>
                <a:t>Expense module - support for Audit (MRI)</a:t>
              </a:r>
            </a:p>
            <a:p>
              <a:pPr marL="171450" indent="-171450" fontAlgn="b">
                <a:buFontTx/>
                <a:buChar char="-"/>
              </a:pPr>
              <a:r>
                <a:rPr lang="en-GB" sz="1000">
                  <a:solidFill>
                    <a:schemeClr val="tx1"/>
                  </a:solidFill>
                  <a:latin typeface="Montserrat Light (Body)"/>
                </a:rPr>
                <a:t>Employees setup as suppliers for expense reimbursements (MRI)</a:t>
              </a:r>
            </a:p>
            <a:p>
              <a:pPr marL="171450" indent="-171450" fontAlgn="b">
                <a:buFontTx/>
                <a:buChar char="-"/>
              </a:pPr>
              <a:r>
                <a:rPr lang="en-GB" sz="1000">
                  <a:solidFill>
                    <a:schemeClr val="tx1"/>
                  </a:solidFill>
                  <a:latin typeface="Montserrat Light (Body)"/>
                </a:rPr>
                <a:t>Payment of expense claims (MRI)</a:t>
              </a:r>
            </a:p>
            <a:p>
              <a:pPr marL="171450" indent="-171450" fontAlgn="b">
                <a:buFontTx/>
                <a:buChar char="-"/>
              </a:pPr>
              <a:endParaRPr lang="en-GB" sz="1000">
                <a:solidFill>
                  <a:schemeClr val="tx1"/>
                </a:solidFill>
                <a:latin typeface="Montserrat Light (Body)"/>
              </a:endParaRPr>
            </a:p>
            <a:p>
              <a:pPr algn="ctr" fontAlgn="b"/>
              <a:endParaRPr lang="en-GB">
                <a:latin typeface="Arial" panose="020B0604020202020204" pitchFamily="34" charset="0"/>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478449" y="1339786"/>
            <a:ext cx="3298144" cy="1827740"/>
            <a:chOff x="358772" y="2399498"/>
            <a:chExt cx="4120947" cy="1487484"/>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211152"/>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N/A</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19</a:t>
            </a:fld>
            <a:endParaRPr lang="en-GB"/>
          </a:p>
        </p:txBody>
      </p:sp>
      <p:grpSp>
        <p:nvGrpSpPr>
          <p:cNvPr id="10" name="Group 9">
            <a:extLst>
              <a:ext uri="{FF2B5EF4-FFF2-40B4-BE49-F238E27FC236}">
                <a16:creationId xmlns:a16="http://schemas.microsoft.com/office/drawing/2014/main" id="{2F6F591E-9942-4CDA-AEF7-F8449BF87F0A}"/>
              </a:ext>
            </a:extLst>
          </p:cNvPr>
          <p:cNvGrpSpPr/>
          <p:nvPr/>
        </p:nvGrpSpPr>
        <p:grpSpPr>
          <a:xfrm>
            <a:off x="5478449" y="3352874"/>
            <a:ext cx="3298141" cy="2931969"/>
            <a:chOff x="358772" y="2399498"/>
            <a:chExt cx="4120947" cy="2399869"/>
          </a:xfrm>
        </p:grpSpPr>
        <p:sp>
          <p:nvSpPr>
            <p:cNvPr id="11" name="Rectangle 10">
              <a:extLst>
                <a:ext uri="{FF2B5EF4-FFF2-40B4-BE49-F238E27FC236}">
                  <a16:creationId xmlns:a16="http://schemas.microsoft.com/office/drawing/2014/main" id="{7F3DB240-F7E7-4CD5-930A-4D1A128FC6B6}"/>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0F3B9D81-6A36-4147-B787-478AD20F20F2}"/>
                </a:ext>
              </a:extLst>
            </p:cNvPr>
            <p:cNvSpPr/>
            <p:nvPr/>
          </p:nvSpPr>
          <p:spPr>
            <a:xfrm>
              <a:off x="358772" y="2675830"/>
              <a:ext cx="4120945" cy="2123537"/>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Integration of insurance data to FSI</a:t>
              </a:r>
            </a:p>
            <a:p>
              <a:pPr marL="171450" indent="-171450" fontAlgn="b">
                <a:spcBef>
                  <a:spcPts val="400"/>
                </a:spcBef>
                <a:buFontTx/>
                <a:buChar char="-"/>
              </a:pPr>
              <a:r>
                <a:rPr lang="en-GB" sz="1000">
                  <a:solidFill>
                    <a:schemeClr val="tx1"/>
                  </a:solidFill>
                  <a:latin typeface="Montserrat Light (Body)"/>
                </a:rPr>
                <a:t>Consolidation of service charge accounting for complex estates</a:t>
              </a:r>
            </a:p>
          </p:txBody>
        </p:sp>
      </p:grpSp>
      <p:sp>
        <p:nvSpPr>
          <p:cNvPr id="2" name="TextBox 1">
            <a:extLst>
              <a:ext uri="{FF2B5EF4-FFF2-40B4-BE49-F238E27FC236}">
                <a16:creationId xmlns:a16="http://schemas.microsoft.com/office/drawing/2014/main" id="{F96EED6A-B256-4319-8F53-147C6661C246}"/>
              </a:ext>
            </a:extLst>
          </p:cNvPr>
          <p:cNvSpPr txBox="1"/>
          <p:nvPr/>
        </p:nvSpPr>
        <p:spPr>
          <a:xfrm>
            <a:off x="1526796" y="6437777"/>
            <a:ext cx="2957861" cy="246221"/>
          </a:xfrm>
          <a:prstGeom prst="rect">
            <a:avLst/>
          </a:prstGeom>
          <a:noFill/>
        </p:spPr>
        <p:txBody>
          <a:bodyPr wrap="none" rtlCol="0">
            <a:spAutoFit/>
          </a:bodyPr>
          <a:lstStyle/>
          <a:p>
            <a:pPr algn="l"/>
            <a:r>
              <a:rPr lang="en-GB" sz="1000"/>
              <a:t>* Subject to confirmation at detailed design</a:t>
            </a:r>
          </a:p>
        </p:txBody>
      </p:sp>
    </p:spTree>
    <p:extLst>
      <p:ext uri="{BB962C8B-B14F-4D97-AF65-F5344CB8AC3E}">
        <p14:creationId xmlns:p14="http://schemas.microsoft.com/office/powerpoint/2010/main" val="8936722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Finance Processes (2/2)</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4" y="1334847"/>
            <a:ext cx="5254847"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buFontTx/>
                <a:buChar char="-"/>
              </a:pPr>
              <a:r>
                <a:rPr lang="en-GB" sz="1000">
                  <a:solidFill>
                    <a:schemeClr val="tx1"/>
                  </a:solidFill>
                  <a:latin typeface="Montserrat Light (Body)"/>
                </a:rPr>
                <a:t>Accruals upload template (MRI)</a:t>
              </a:r>
            </a:p>
            <a:p>
              <a:pPr marL="171450" indent="-171450" fontAlgn="b">
                <a:buFontTx/>
                <a:buChar char="-"/>
              </a:pPr>
              <a:r>
                <a:rPr lang="en-GB" sz="1000">
                  <a:solidFill>
                    <a:schemeClr val="tx1"/>
                  </a:solidFill>
                  <a:latin typeface="Montserrat Light (Body)"/>
                </a:rPr>
                <a:t>Apportionment of pre-payments across financial periods (MRI)</a:t>
              </a:r>
            </a:p>
            <a:p>
              <a:pPr marL="171450" indent="-171450" fontAlgn="b">
                <a:buFontTx/>
                <a:buChar char="-"/>
              </a:pPr>
              <a:r>
                <a:rPr lang="en-GB" sz="1000">
                  <a:solidFill>
                    <a:schemeClr val="tx1"/>
                  </a:solidFill>
                  <a:latin typeface="Montserrat Light (Body)"/>
                </a:rPr>
                <a:t>Straight-lining (apportionment of rent income across financial periods) (MRI)</a:t>
              </a:r>
            </a:p>
            <a:p>
              <a:pPr marL="171450" indent="-171450" fontAlgn="b">
                <a:buFontTx/>
                <a:buChar char="-"/>
              </a:pPr>
              <a:r>
                <a:rPr lang="en-GB" sz="1000">
                  <a:solidFill>
                    <a:schemeClr val="tx1"/>
                  </a:solidFill>
                  <a:latin typeface="Montserrat Light (Body)"/>
                </a:rPr>
                <a:t>Revenue Recognition – CM Module (MRI)</a:t>
              </a:r>
            </a:p>
            <a:p>
              <a:pPr marL="171450" indent="-171450" fontAlgn="b">
                <a:buFontTx/>
                <a:buChar char="-"/>
              </a:pPr>
              <a:r>
                <a:rPr lang="en-GB" sz="1000">
                  <a:solidFill>
                    <a:schemeClr val="tx1"/>
                  </a:solidFill>
                  <a:latin typeface="Montserrat Light (Body)"/>
                </a:rPr>
                <a:t>Segmentation of accounts for more efficient reporting (MRI)</a:t>
              </a:r>
            </a:p>
            <a:p>
              <a:pPr marL="171450" indent="-171450" fontAlgn="b">
                <a:buFontTx/>
                <a:buChar char="-"/>
              </a:pPr>
              <a:r>
                <a:rPr lang="en-GB" sz="1000">
                  <a:solidFill>
                    <a:schemeClr val="tx1"/>
                  </a:solidFill>
                  <a:latin typeface="Montserrat Light (Body)"/>
                </a:rPr>
                <a:t>Journal Import Template (MRI)</a:t>
              </a:r>
            </a:p>
            <a:p>
              <a:pPr marL="171450" indent="-171450" fontAlgn="b">
                <a:buFontTx/>
                <a:buChar char="-"/>
              </a:pPr>
              <a:r>
                <a:rPr lang="en-GB" sz="1000">
                  <a:solidFill>
                    <a:schemeClr val="tx1"/>
                  </a:solidFill>
                  <a:latin typeface="Montserrat Light (Body)"/>
                </a:rPr>
                <a:t>Fixed Assets Module (for corporate assets) (MRI)</a:t>
              </a:r>
            </a:p>
            <a:p>
              <a:pPr marL="171450" indent="-171450" fontAlgn="b">
                <a:buFontTx/>
                <a:buChar char="-"/>
              </a:pPr>
              <a:r>
                <a:rPr lang="en-GB" sz="1000">
                  <a:solidFill>
                    <a:schemeClr val="tx1"/>
                  </a:solidFill>
                  <a:latin typeface="Montserrat Light (Body)"/>
                </a:rPr>
                <a:t>Valuation of Grainger properties (MRI)</a:t>
              </a:r>
            </a:p>
            <a:p>
              <a:pPr marL="171450" indent="-171450" fontAlgn="b">
                <a:buFontTx/>
                <a:buChar char="-"/>
              </a:pPr>
              <a:r>
                <a:rPr lang="en-GB" sz="1000">
                  <a:solidFill>
                    <a:schemeClr val="tx1"/>
                  </a:solidFill>
                  <a:latin typeface="Montserrat Light (Body)"/>
                </a:rPr>
                <a:t>Month-end Close / Year-end Rollover (MRI)</a:t>
              </a:r>
            </a:p>
            <a:p>
              <a:pPr marL="171450" indent="-171450" fontAlgn="b">
                <a:buFontTx/>
                <a:buChar char="-"/>
              </a:pPr>
              <a:r>
                <a:rPr lang="en-GB" sz="1000">
                  <a:solidFill>
                    <a:schemeClr val="tx1"/>
                  </a:solidFill>
                  <a:latin typeface="Montserrat Light (Body)"/>
                </a:rPr>
                <a:t>Reporting Dimensions (OneStream)</a:t>
              </a:r>
            </a:p>
            <a:p>
              <a:pPr marL="171450" indent="-171450" fontAlgn="b">
                <a:buFontTx/>
                <a:buChar char="-"/>
              </a:pPr>
              <a:r>
                <a:rPr lang="en-GB" sz="1000">
                  <a:solidFill>
                    <a:schemeClr val="tx1"/>
                  </a:solidFill>
                  <a:latin typeface="Montserrat Light (Body)"/>
                </a:rPr>
                <a:t>MIP (Management Information Pack) (OneStream) </a:t>
              </a:r>
            </a:p>
            <a:p>
              <a:pPr marL="171450" indent="-171450" fontAlgn="b">
                <a:buFontTx/>
                <a:buChar char="-"/>
              </a:pPr>
              <a:r>
                <a:rPr lang="en-GB" sz="1000">
                  <a:solidFill>
                    <a:schemeClr val="tx1"/>
                  </a:solidFill>
                  <a:latin typeface="Montserrat Light (Body)"/>
                </a:rPr>
                <a:t>Statutory Reporting (OneStream)</a:t>
              </a:r>
            </a:p>
            <a:p>
              <a:pPr marL="171450" indent="-171450" fontAlgn="b">
                <a:buFontTx/>
                <a:buChar char="-"/>
              </a:pPr>
              <a:r>
                <a:rPr lang="en-GB" sz="1000">
                  <a:solidFill>
                    <a:schemeClr val="tx1"/>
                  </a:solidFill>
                  <a:latin typeface="Montserrat Light (Body)"/>
                </a:rPr>
                <a:t>Direct link to FP&amp;A Module (OneStream)</a:t>
              </a:r>
            </a:p>
            <a:p>
              <a:pPr marL="171450" indent="-171450" fontAlgn="b">
                <a:buFontTx/>
                <a:buChar char="-"/>
              </a:pPr>
              <a:r>
                <a:rPr lang="en-GB" sz="1000">
                  <a:solidFill>
                    <a:schemeClr val="tx1"/>
                  </a:solidFill>
                  <a:latin typeface="Montserrat Light (Body)"/>
                </a:rPr>
                <a:t>Link of financial base data to the Data Warehouse (OneStream)</a:t>
              </a:r>
            </a:p>
            <a:p>
              <a:pPr marL="171450" indent="-171450" fontAlgn="b">
                <a:buFontTx/>
                <a:buChar char="-"/>
              </a:pPr>
              <a:r>
                <a:rPr lang="en-GB" sz="1000">
                  <a:solidFill>
                    <a:schemeClr val="tx1"/>
                  </a:solidFill>
                  <a:latin typeface="Montserrat Light (Body)"/>
                </a:rPr>
                <a:t>Financial Consolidation across Grainger legal entities (OneStream)</a:t>
              </a:r>
            </a:p>
            <a:p>
              <a:pPr marL="171450" indent="-171450" fontAlgn="b">
                <a:buFontTx/>
                <a:buChar char="-"/>
              </a:pPr>
              <a:r>
                <a:rPr lang="en-GB" sz="1000">
                  <a:solidFill>
                    <a:schemeClr val="tx1"/>
                  </a:solidFill>
                  <a:latin typeface="Montserrat Light (Body)"/>
                </a:rPr>
                <a:t>Validation rules for financial data input to the system (OneStream)</a:t>
              </a:r>
            </a:p>
            <a:p>
              <a:pPr marL="171450" indent="-171450" fontAlgn="b">
                <a:buFontTx/>
                <a:buChar char="-"/>
              </a:pPr>
              <a:r>
                <a:rPr lang="en-GB" sz="1000">
                  <a:solidFill>
                    <a:schemeClr val="tx1"/>
                  </a:solidFill>
                  <a:latin typeface="Montserrat Light (Body)"/>
                </a:rPr>
                <a:t>FP&amp;A Workflows (OneStream)</a:t>
              </a:r>
            </a:p>
            <a:p>
              <a:pPr marL="171450" indent="-171450" fontAlgn="b">
                <a:buFontTx/>
                <a:buChar char="-"/>
              </a:pPr>
              <a:r>
                <a:rPr lang="en-GB" sz="1000">
                  <a:solidFill>
                    <a:schemeClr val="tx1"/>
                  </a:solidFill>
                  <a:latin typeface="Montserrat Light (Body)"/>
                </a:rPr>
                <a:t>Standardised FP&amp;A forms (OneStream)</a:t>
              </a:r>
            </a:p>
            <a:p>
              <a:pPr marL="171450" indent="-171450" fontAlgn="b">
                <a:buFontTx/>
                <a:buChar char="-"/>
              </a:pPr>
              <a:r>
                <a:rPr lang="en-GB" sz="1000">
                  <a:solidFill>
                    <a:schemeClr val="tx1"/>
                  </a:solidFill>
                  <a:latin typeface="Montserrat Light (Body)"/>
                </a:rPr>
                <a:t>Multiple Scenarios for FP&amp;A (OneStream)</a:t>
              </a:r>
            </a:p>
            <a:p>
              <a:pPr marL="171450" indent="-171450" fontAlgn="b">
                <a:buFontTx/>
                <a:buChar char="-"/>
              </a:pPr>
              <a:r>
                <a:rPr lang="en-GB" sz="1000">
                  <a:solidFill>
                    <a:schemeClr val="tx1"/>
                  </a:solidFill>
                  <a:latin typeface="Montserrat Light (Body)"/>
                </a:rPr>
                <a:t>People planning (OneStream)</a:t>
              </a:r>
            </a:p>
            <a:p>
              <a:pPr marL="171450" indent="-171450" fontAlgn="b">
                <a:buFontTx/>
                <a:buChar char="-"/>
              </a:pPr>
              <a:r>
                <a:rPr lang="en-GB" sz="1000">
                  <a:solidFill>
                    <a:schemeClr val="tx1"/>
                  </a:solidFill>
                  <a:latin typeface="Montserrat Light (Body)"/>
                </a:rPr>
                <a:t>Payroll upload template (MRI)</a:t>
              </a:r>
            </a:p>
            <a:p>
              <a:pPr marL="171450" indent="-171450" fontAlgn="b">
                <a:buFontTx/>
                <a:buChar char="-"/>
              </a:pPr>
              <a:r>
                <a:rPr lang="en-GB" sz="1000">
                  <a:solidFill>
                    <a:schemeClr val="tx1"/>
                  </a:solidFill>
                  <a:latin typeface="Montserrat Light (Body)"/>
                </a:rPr>
                <a:t>Taxation – handling of VAT and CIS according to charge codes (MRI)</a:t>
              </a:r>
            </a:p>
            <a:p>
              <a:pPr marL="171450" indent="-171450" fontAlgn="b">
                <a:buFontTx/>
                <a:buChar char="-"/>
              </a:pPr>
              <a:r>
                <a:rPr lang="en-GB" sz="1000">
                  <a:solidFill>
                    <a:schemeClr val="tx1"/>
                  </a:solidFill>
                  <a:latin typeface="Montserrat Light (Body)"/>
                </a:rPr>
                <a:t>Audit Module (MRI)</a:t>
              </a:r>
            </a:p>
            <a:p>
              <a:pPr marL="171450" indent="-171450" fontAlgn="b">
                <a:buFontTx/>
                <a:buChar char="-"/>
              </a:pPr>
              <a:r>
                <a:rPr lang="en-GB" sz="1000">
                  <a:solidFill>
                    <a:schemeClr val="tx1"/>
                  </a:solidFill>
                  <a:latin typeface="Montserrat Light (Body)"/>
                </a:rPr>
                <a:t>Bulk invoice download to support audit (Proactis / DMS)</a:t>
              </a:r>
            </a:p>
            <a:p>
              <a:pPr marL="171450" indent="-171450" fontAlgn="b">
                <a:buFontTx/>
                <a:buChar char="-"/>
              </a:pPr>
              <a:r>
                <a:rPr lang="en-GB" sz="1000">
                  <a:solidFill>
                    <a:schemeClr val="tx1"/>
                  </a:solidFill>
                  <a:latin typeface="Montserrat Light (Body)"/>
                </a:rPr>
                <a:t>Management of Accounting codes (e.g. bank IDs, Chart of Account nominals) (MRI)</a:t>
              </a:r>
            </a:p>
            <a:p>
              <a:pPr algn="ctr" fontAlgn="b"/>
              <a:endParaRPr lang="en-GB">
                <a:latin typeface="Arial" panose="020B0604020202020204" pitchFamily="34" charset="0"/>
              </a:endParaRP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724939" y="1339786"/>
            <a:ext cx="3051654" cy="1827740"/>
            <a:chOff x="358772" y="2399498"/>
            <a:chExt cx="4120947" cy="1487484"/>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Phase 1 Portal / Post-go-live</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30"/>
              <a:ext cx="4120945" cy="1211152"/>
            </a:xfrm>
            <a:prstGeom prst="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N/A</a:t>
              </a: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20</a:t>
            </a:fld>
            <a:endParaRPr lang="en-GB"/>
          </a:p>
        </p:txBody>
      </p:sp>
      <p:grpSp>
        <p:nvGrpSpPr>
          <p:cNvPr id="10" name="Group 9">
            <a:extLst>
              <a:ext uri="{FF2B5EF4-FFF2-40B4-BE49-F238E27FC236}">
                <a16:creationId xmlns:a16="http://schemas.microsoft.com/office/drawing/2014/main" id="{2F6F591E-9942-4CDA-AEF7-F8449BF87F0A}"/>
              </a:ext>
            </a:extLst>
          </p:cNvPr>
          <p:cNvGrpSpPr/>
          <p:nvPr/>
        </p:nvGrpSpPr>
        <p:grpSpPr>
          <a:xfrm>
            <a:off x="5724939" y="3352874"/>
            <a:ext cx="3051651" cy="2931969"/>
            <a:chOff x="358772" y="2399498"/>
            <a:chExt cx="4120947" cy="2399869"/>
          </a:xfrm>
        </p:grpSpPr>
        <p:sp>
          <p:nvSpPr>
            <p:cNvPr id="11" name="Rectangle 10">
              <a:extLst>
                <a:ext uri="{FF2B5EF4-FFF2-40B4-BE49-F238E27FC236}">
                  <a16:creationId xmlns:a16="http://schemas.microsoft.com/office/drawing/2014/main" id="{7F3DB240-F7E7-4CD5-930A-4D1A128FC6B6}"/>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2" name="Rectangle 11">
              <a:extLst>
                <a:ext uri="{FF2B5EF4-FFF2-40B4-BE49-F238E27FC236}">
                  <a16:creationId xmlns:a16="http://schemas.microsoft.com/office/drawing/2014/main" id="{0F3B9D81-6A36-4147-B787-478AD20F20F2}"/>
                </a:ext>
              </a:extLst>
            </p:cNvPr>
            <p:cNvSpPr/>
            <p:nvPr/>
          </p:nvSpPr>
          <p:spPr>
            <a:xfrm>
              <a:off x="358772" y="2675830"/>
              <a:ext cx="4120945" cy="2123537"/>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Integration to automatically post the journals into MRI</a:t>
              </a:r>
            </a:p>
          </p:txBody>
        </p:sp>
      </p:grpSp>
      <p:sp>
        <p:nvSpPr>
          <p:cNvPr id="2" name="TextBox 1">
            <a:extLst>
              <a:ext uri="{FF2B5EF4-FFF2-40B4-BE49-F238E27FC236}">
                <a16:creationId xmlns:a16="http://schemas.microsoft.com/office/drawing/2014/main" id="{F96EED6A-B256-4319-8F53-147C6661C246}"/>
              </a:ext>
            </a:extLst>
          </p:cNvPr>
          <p:cNvSpPr txBox="1"/>
          <p:nvPr/>
        </p:nvSpPr>
        <p:spPr>
          <a:xfrm>
            <a:off x="1526796" y="6437777"/>
            <a:ext cx="2957861" cy="246221"/>
          </a:xfrm>
          <a:prstGeom prst="rect">
            <a:avLst/>
          </a:prstGeom>
          <a:noFill/>
        </p:spPr>
        <p:txBody>
          <a:bodyPr wrap="none" rtlCol="0">
            <a:spAutoFit/>
          </a:bodyPr>
          <a:lstStyle/>
          <a:p>
            <a:pPr algn="l"/>
            <a:r>
              <a:rPr lang="en-GB" sz="1000"/>
              <a:t>* Subject to confirmation at detailed design</a:t>
            </a:r>
          </a:p>
        </p:txBody>
      </p:sp>
    </p:spTree>
    <p:extLst>
      <p:ext uri="{BB962C8B-B14F-4D97-AF65-F5344CB8AC3E}">
        <p14:creationId xmlns:p14="http://schemas.microsoft.com/office/powerpoint/2010/main" val="15548926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4A81B7-37C4-47E5-8394-FF5548A68510}"/>
              </a:ext>
            </a:extLst>
          </p:cNvPr>
          <p:cNvSpPr>
            <a:spLocks noGrp="1"/>
          </p:cNvSpPr>
          <p:nvPr>
            <p:ph type="ctrTitle"/>
          </p:nvPr>
        </p:nvSpPr>
        <p:spPr/>
        <p:txBody>
          <a:bodyPr/>
          <a:lstStyle/>
          <a:p>
            <a:r>
              <a:rPr lang="en-GB"/>
              <a:t>Phase 1 Capability summary: </a:t>
            </a:r>
            <a:br>
              <a:rPr lang="en-GB"/>
            </a:br>
            <a:br>
              <a:rPr lang="en-GB"/>
            </a:br>
            <a:r>
              <a:rPr lang="en-GB"/>
              <a:t>Integration</a:t>
            </a:r>
          </a:p>
        </p:txBody>
      </p:sp>
      <p:sp>
        <p:nvSpPr>
          <p:cNvPr id="3" name="Footer Placeholder 2">
            <a:extLst>
              <a:ext uri="{FF2B5EF4-FFF2-40B4-BE49-F238E27FC236}">
                <a16:creationId xmlns:a16="http://schemas.microsoft.com/office/drawing/2014/main" id="{1FD910CB-0276-4B05-8C2B-A2491E1A8739}"/>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DA56A54C-FA0C-4E6A-83EE-30BB0997E270}"/>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21</a:t>
            </a:fld>
            <a:endParaRPr lang="en-GB"/>
          </a:p>
        </p:txBody>
      </p:sp>
    </p:spTree>
    <p:extLst>
      <p:ext uri="{BB962C8B-B14F-4D97-AF65-F5344CB8AC3E}">
        <p14:creationId xmlns:p14="http://schemas.microsoft.com/office/powerpoint/2010/main" val="3539367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ectangle: Rounded Corners 88">
            <a:extLst>
              <a:ext uri="{FF2B5EF4-FFF2-40B4-BE49-F238E27FC236}">
                <a16:creationId xmlns:a16="http://schemas.microsoft.com/office/drawing/2014/main" id="{D4695EAB-AD2A-4449-9CE7-4938E0B2B210}"/>
              </a:ext>
            </a:extLst>
          </p:cNvPr>
          <p:cNvSpPr/>
          <p:nvPr/>
        </p:nvSpPr>
        <p:spPr>
          <a:xfrm>
            <a:off x="4310608" y="2829983"/>
            <a:ext cx="4415885" cy="599017"/>
          </a:xfrm>
          <a:prstGeom prst="roundRect">
            <a:avLst>
              <a:gd name="adj" fmla="val 16667"/>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Master Data integrations</a:t>
            </a:r>
          </a:p>
        </p:txBody>
      </p:sp>
      <p:grpSp>
        <p:nvGrpSpPr>
          <p:cNvPr id="6" name="Group 5">
            <a:extLst>
              <a:ext uri="{FF2B5EF4-FFF2-40B4-BE49-F238E27FC236}">
                <a16:creationId xmlns:a16="http://schemas.microsoft.com/office/drawing/2014/main" id="{5009A7BF-2D0C-415D-959D-D1497E39156F}"/>
              </a:ext>
            </a:extLst>
          </p:cNvPr>
          <p:cNvGrpSpPr/>
          <p:nvPr/>
        </p:nvGrpSpPr>
        <p:grpSpPr>
          <a:xfrm>
            <a:off x="358775" y="2248374"/>
            <a:ext cx="3507169" cy="2972302"/>
            <a:chOff x="358775" y="2125761"/>
            <a:chExt cx="8426450" cy="2972302"/>
          </a:xfrm>
        </p:grpSpPr>
        <p:sp>
          <p:nvSpPr>
            <p:cNvPr id="4" name="Rectangle 3">
              <a:extLst>
                <a:ext uri="{FF2B5EF4-FFF2-40B4-BE49-F238E27FC236}">
                  <a16:creationId xmlns:a16="http://schemas.microsoft.com/office/drawing/2014/main" id="{0DE607AF-664A-44FB-B95F-F1178AD57902}"/>
                </a:ext>
              </a:extLst>
            </p:cNvPr>
            <p:cNvSpPr/>
            <p:nvPr/>
          </p:nvSpPr>
          <p:spPr>
            <a:xfrm>
              <a:off x="358775" y="3334576"/>
              <a:ext cx="8426450" cy="566354"/>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5" name="Rectangle 4">
              <a:extLst>
                <a:ext uri="{FF2B5EF4-FFF2-40B4-BE49-F238E27FC236}">
                  <a16:creationId xmlns:a16="http://schemas.microsoft.com/office/drawing/2014/main" id="{E4AD130D-F7AC-4F71-8DE2-D9C5A063B6C3}"/>
                </a:ext>
              </a:extLst>
            </p:cNvPr>
            <p:cNvSpPr/>
            <p:nvPr/>
          </p:nvSpPr>
          <p:spPr>
            <a:xfrm>
              <a:off x="562062" y="4426944"/>
              <a:ext cx="3816991"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0" name="Rectangle 9">
              <a:extLst>
                <a:ext uri="{FF2B5EF4-FFF2-40B4-BE49-F238E27FC236}">
                  <a16:creationId xmlns:a16="http://schemas.microsoft.com/office/drawing/2014/main" id="{3129E607-BD68-48F8-BBAF-AD63BE925A5D}"/>
                </a:ext>
              </a:extLst>
            </p:cNvPr>
            <p:cNvSpPr/>
            <p:nvPr/>
          </p:nvSpPr>
          <p:spPr>
            <a:xfrm>
              <a:off x="4764947" y="4426943"/>
              <a:ext cx="3816991"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ProActis</a:t>
              </a:r>
            </a:p>
          </p:txBody>
        </p:sp>
        <p:sp>
          <p:nvSpPr>
            <p:cNvPr id="11" name="Rectangle 10">
              <a:extLst>
                <a:ext uri="{FF2B5EF4-FFF2-40B4-BE49-F238E27FC236}">
                  <a16:creationId xmlns:a16="http://schemas.microsoft.com/office/drawing/2014/main" id="{0B37F336-8A85-4EDB-A255-C521100DBCBE}"/>
                </a:ext>
              </a:extLst>
            </p:cNvPr>
            <p:cNvSpPr/>
            <p:nvPr/>
          </p:nvSpPr>
          <p:spPr>
            <a:xfrm>
              <a:off x="4764945" y="2141970"/>
              <a:ext cx="3816991"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FSI</a:t>
              </a:r>
            </a:p>
          </p:txBody>
        </p:sp>
        <p:sp>
          <p:nvSpPr>
            <p:cNvPr id="12" name="Rectangle 11">
              <a:extLst>
                <a:ext uri="{FF2B5EF4-FFF2-40B4-BE49-F238E27FC236}">
                  <a16:creationId xmlns:a16="http://schemas.microsoft.com/office/drawing/2014/main" id="{AF0D2BFC-6FDA-40C3-AC14-15875ECA52AB}"/>
                </a:ext>
              </a:extLst>
            </p:cNvPr>
            <p:cNvSpPr/>
            <p:nvPr/>
          </p:nvSpPr>
          <p:spPr>
            <a:xfrm>
              <a:off x="562062" y="2125761"/>
              <a:ext cx="3816991"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Salesforce</a:t>
              </a:r>
            </a:p>
          </p:txBody>
        </p:sp>
      </p:grpSp>
      <p:grpSp>
        <p:nvGrpSpPr>
          <p:cNvPr id="56" name="Group 55">
            <a:extLst>
              <a:ext uri="{FF2B5EF4-FFF2-40B4-BE49-F238E27FC236}">
                <a16:creationId xmlns:a16="http://schemas.microsoft.com/office/drawing/2014/main" id="{0CC76307-126B-4341-9857-5957269D9C02}"/>
              </a:ext>
            </a:extLst>
          </p:cNvPr>
          <p:cNvGrpSpPr/>
          <p:nvPr/>
        </p:nvGrpSpPr>
        <p:grpSpPr>
          <a:xfrm>
            <a:off x="567940" y="4023542"/>
            <a:ext cx="186653" cy="526013"/>
            <a:chOff x="724353" y="4885405"/>
            <a:chExt cx="194900" cy="620438"/>
          </a:xfrm>
        </p:grpSpPr>
        <p:cxnSp>
          <p:nvCxnSpPr>
            <p:cNvPr id="16" name="Straight Arrow Connector 15">
              <a:extLst>
                <a:ext uri="{FF2B5EF4-FFF2-40B4-BE49-F238E27FC236}">
                  <a16:creationId xmlns:a16="http://schemas.microsoft.com/office/drawing/2014/main" id="{17ED0697-E084-48E2-A835-8D251BCB7A2C}"/>
                </a:ext>
              </a:extLst>
            </p:cNvPr>
            <p:cNvCxnSpPr>
              <a:cxnSpLocks/>
            </p:cNvCxnSpPr>
            <p:nvPr/>
          </p:nvCxnSpPr>
          <p:spPr>
            <a:xfrm flipV="1">
              <a:off x="821803" y="4885405"/>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3D3F52F-EE00-4DD3-8025-62852A9AC489}"/>
                </a:ext>
              </a:extLst>
            </p:cNvPr>
            <p:cNvSpPr/>
            <p:nvPr/>
          </p:nvSpPr>
          <p:spPr>
            <a:xfrm>
              <a:off x="724353" y="5178356"/>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a:t>
              </a:r>
            </a:p>
          </p:txBody>
        </p:sp>
      </p:grpSp>
      <p:grpSp>
        <p:nvGrpSpPr>
          <p:cNvPr id="55" name="Group 54">
            <a:extLst>
              <a:ext uri="{FF2B5EF4-FFF2-40B4-BE49-F238E27FC236}">
                <a16:creationId xmlns:a16="http://schemas.microsoft.com/office/drawing/2014/main" id="{2615E608-8A31-415D-8796-DB80244EFD6B}"/>
              </a:ext>
            </a:extLst>
          </p:cNvPr>
          <p:cNvGrpSpPr/>
          <p:nvPr/>
        </p:nvGrpSpPr>
        <p:grpSpPr>
          <a:xfrm>
            <a:off x="567940" y="2919493"/>
            <a:ext cx="170686" cy="521487"/>
            <a:chOff x="724353" y="3875780"/>
            <a:chExt cx="194900" cy="620438"/>
          </a:xfrm>
        </p:grpSpPr>
        <p:cxnSp>
          <p:nvCxnSpPr>
            <p:cNvPr id="18" name="Straight Arrow Connector 17">
              <a:extLst>
                <a:ext uri="{FF2B5EF4-FFF2-40B4-BE49-F238E27FC236}">
                  <a16:creationId xmlns:a16="http://schemas.microsoft.com/office/drawing/2014/main" id="{A7129E21-D7BC-4985-AB72-4789B82ABEF2}"/>
                </a:ext>
              </a:extLst>
            </p:cNvPr>
            <p:cNvCxnSpPr>
              <a:cxnSpLocks/>
            </p:cNvCxnSpPr>
            <p:nvPr/>
          </p:nvCxnSpPr>
          <p:spPr>
            <a:xfrm flipV="1">
              <a:off x="82180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4BBE7E55-86C8-4780-93A0-634F93DB9A29}"/>
                </a:ext>
              </a:extLst>
            </p:cNvPr>
            <p:cNvSpPr/>
            <p:nvPr/>
          </p:nvSpPr>
          <p:spPr>
            <a:xfrm>
              <a:off x="724353" y="4120819"/>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a:t>
              </a:r>
            </a:p>
          </p:txBody>
        </p:sp>
      </p:grpSp>
      <p:grpSp>
        <p:nvGrpSpPr>
          <p:cNvPr id="69" name="Group 68">
            <a:extLst>
              <a:ext uri="{FF2B5EF4-FFF2-40B4-BE49-F238E27FC236}">
                <a16:creationId xmlns:a16="http://schemas.microsoft.com/office/drawing/2014/main" id="{F47AE2E0-DCA7-4730-8852-E7BE49266EB7}"/>
              </a:ext>
            </a:extLst>
          </p:cNvPr>
          <p:cNvGrpSpPr/>
          <p:nvPr/>
        </p:nvGrpSpPr>
        <p:grpSpPr>
          <a:xfrm>
            <a:off x="2307341" y="2919493"/>
            <a:ext cx="170685" cy="534691"/>
            <a:chOff x="2379533" y="3875780"/>
            <a:chExt cx="194900" cy="620438"/>
          </a:xfrm>
        </p:grpSpPr>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247698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2379533" y="4114473"/>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a:t>
              </a:r>
            </a:p>
          </p:txBody>
        </p:sp>
      </p:grpSp>
      <p:grpSp>
        <p:nvGrpSpPr>
          <p:cNvPr id="27" name="Group 26">
            <a:extLst>
              <a:ext uri="{FF2B5EF4-FFF2-40B4-BE49-F238E27FC236}">
                <a16:creationId xmlns:a16="http://schemas.microsoft.com/office/drawing/2014/main" id="{B719E6D5-7B1B-4D38-87F0-99C3E32447AE}"/>
              </a:ext>
            </a:extLst>
          </p:cNvPr>
          <p:cNvGrpSpPr/>
          <p:nvPr/>
        </p:nvGrpSpPr>
        <p:grpSpPr>
          <a:xfrm>
            <a:off x="4096454" y="2153283"/>
            <a:ext cx="4669450" cy="1314657"/>
            <a:chOff x="4474550" y="2309053"/>
            <a:chExt cx="4669450" cy="1314657"/>
          </a:xfrm>
        </p:grpSpPr>
        <p:sp>
          <p:nvSpPr>
            <p:cNvPr id="26" name="Rectangle: Rounded Corners 25">
              <a:extLst>
                <a:ext uri="{FF2B5EF4-FFF2-40B4-BE49-F238E27FC236}">
                  <a16:creationId xmlns:a16="http://schemas.microsoft.com/office/drawing/2014/main" id="{108C1A2C-5086-4801-BC6A-F4BE1ED5088C}"/>
                </a:ext>
              </a:extLst>
            </p:cNvPr>
            <p:cNvSpPr/>
            <p:nvPr/>
          </p:nvSpPr>
          <p:spPr>
            <a:xfrm>
              <a:off x="4474550" y="2309053"/>
              <a:ext cx="4669450" cy="1314657"/>
            </a:xfrm>
            <a:prstGeom prst="roundRect">
              <a:avLst>
                <a:gd name="adj" fmla="val 6735"/>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t" anchorCtr="0" forceAA="0" compatLnSpc="1">
              <a:prstTxWarp prst="textNoShape">
                <a:avLst/>
              </a:prstTxWarp>
              <a:noAutofit/>
            </a:bodyPr>
            <a:lstStyle/>
            <a:p>
              <a:r>
                <a:rPr lang="en-GB" sz="1000">
                  <a:solidFill>
                    <a:schemeClr val="tx1"/>
                  </a:solidFill>
                  <a:latin typeface="+mj-lt"/>
                </a:rPr>
                <a:t>Tenant Upserted – </a:t>
              </a:r>
              <a:r>
                <a:rPr lang="en-GB" sz="1000">
                  <a:solidFill>
                    <a:schemeClr val="tx1"/>
                  </a:solidFill>
                </a:rPr>
                <a:t>On day 1 this in integration will update the Connect Cross reference table (XREF) with a new customer when one is added into MRI. That allows us to maintain a single view of the customer across all applications.</a:t>
              </a:r>
            </a:p>
            <a:p>
              <a:pPr>
                <a:spcBef>
                  <a:spcPts val="400"/>
                </a:spcBef>
              </a:pPr>
              <a:r>
                <a:rPr lang="en-GB" sz="1000">
                  <a:solidFill>
                    <a:schemeClr val="tx1"/>
                  </a:solidFill>
                </a:rPr>
                <a:t>In Phase 2 this integration can be enhanced to ensure updates to a broad set of tenant information in MRI is pushed into SalesForce, FSI and ProActis.</a:t>
              </a:r>
            </a:p>
          </p:txBody>
        </p:sp>
        <p:sp>
          <p:nvSpPr>
            <p:cNvPr id="25" name="Oval 24">
              <a:extLst>
                <a:ext uri="{FF2B5EF4-FFF2-40B4-BE49-F238E27FC236}">
                  <a16:creationId xmlns:a16="http://schemas.microsoft.com/office/drawing/2014/main" id="{AFB43D6F-7809-42B4-A285-6B3A8BB7F9E8}"/>
                </a:ext>
              </a:extLst>
            </p:cNvPr>
            <p:cNvSpPr/>
            <p:nvPr/>
          </p:nvSpPr>
          <p:spPr>
            <a:xfrm>
              <a:off x="4474550" y="2311817"/>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a:t>
              </a:r>
            </a:p>
          </p:txBody>
        </p:sp>
      </p:grpSp>
      <p:grpSp>
        <p:nvGrpSpPr>
          <p:cNvPr id="58" name="Group 57">
            <a:extLst>
              <a:ext uri="{FF2B5EF4-FFF2-40B4-BE49-F238E27FC236}">
                <a16:creationId xmlns:a16="http://schemas.microsoft.com/office/drawing/2014/main" id="{EC279A5D-BE95-4F85-93D9-96D9EF248929}"/>
              </a:ext>
            </a:extLst>
          </p:cNvPr>
          <p:cNvGrpSpPr/>
          <p:nvPr/>
        </p:nvGrpSpPr>
        <p:grpSpPr>
          <a:xfrm>
            <a:off x="948345" y="4023542"/>
            <a:ext cx="186653" cy="526013"/>
            <a:chOff x="1187382" y="4885405"/>
            <a:chExt cx="194900" cy="620438"/>
          </a:xfrm>
        </p:grpSpPr>
        <p:cxnSp>
          <p:nvCxnSpPr>
            <p:cNvPr id="28" name="Straight Arrow Connector 27">
              <a:extLst>
                <a:ext uri="{FF2B5EF4-FFF2-40B4-BE49-F238E27FC236}">
                  <a16:creationId xmlns:a16="http://schemas.microsoft.com/office/drawing/2014/main" id="{BEC0CC02-0A5E-465C-A4A0-63A4CED97221}"/>
                </a:ext>
              </a:extLst>
            </p:cNvPr>
            <p:cNvCxnSpPr>
              <a:cxnSpLocks/>
            </p:cNvCxnSpPr>
            <p:nvPr/>
          </p:nvCxnSpPr>
          <p:spPr>
            <a:xfrm flipV="1">
              <a:off x="1284832" y="4885405"/>
              <a:ext cx="0" cy="620438"/>
            </a:xfrm>
            <a:prstGeom prst="straightConnector1">
              <a:avLst/>
            </a:prstGeom>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F6F79739-1B78-4E7B-911A-8BD6D72CDD91}"/>
                </a:ext>
              </a:extLst>
            </p:cNvPr>
            <p:cNvSpPr/>
            <p:nvPr/>
          </p:nvSpPr>
          <p:spPr>
            <a:xfrm>
              <a:off x="1187382" y="5178356"/>
              <a:ext cx="194900" cy="194900"/>
            </a:xfrm>
            <a:prstGeom prst="ellipse">
              <a:avLst/>
            </a:prstGeom>
            <a:solidFill>
              <a:schemeClr val="bg1"/>
            </a:solidFill>
            <a:ln w="254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chemeClr val="tx1">
                      <a:lumMod val="40000"/>
                      <a:lumOff val="60000"/>
                    </a:schemeClr>
                  </a:solidFill>
                  <a:latin typeface="+mj-lt"/>
                </a:rPr>
                <a:t>2</a:t>
              </a:r>
            </a:p>
          </p:txBody>
        </p:sp>
      </p:grpSp>
      <p:grpSp>
        <p:nvGrpSpPr>
          <p:cNvPr id="57" name="Group 56">
            <a:extLst>
              <a:ext uri="{FF2B5EF4-FFF2-40B4-BE49-F238E27FC236}">
                <a16:creationId xmlns:a16="http://schemas.microsoft.com/office/drawing/2014/main" id="{59D56388-1241-4550-AA8B-625E473652A5}"/>
              </a:ext>
            </a:extLst>
          </p:cNvPr>
          <p:cNvGrpSpPr/>
          <p:nvPr/>
        </p:nvGrpSpPr>
        <p:grpSpPr>
          <a:xfrm>
            <a:off x="948345" y="2919493"/>
            <a:ext cx="170686" cy="521487"/>
            <a:chOff x="1187382" y="3875780"/>
            <a:chExt cx="194900" cy="620438"/>
          </a:xfrm>
        </p:grpSpPr>
        <p:cxnSp>
          <p:nvCxnSpPr>
            <p:cNvPr id="29" name="Straight Arrow Connector 28">
              <a:extLst>
                <a:ext uri="{FF2B5EF4-FFF2-40B4-BE49-F238E27FC236}">
                  <a16:creationId xmlns:a16="http://schemas.microsoft.com/office/drawing/2014/main" id="{73EEC0F4-0048-41F7-A25E-69947F1501F4}"/>
                </a:ext>
              </a:extLst>
            </p:cNvPr>
            <p:cNvCxnSpPr>
              <a:cxnSpLocks/>
            </p:cNvCxnSpPr>
            <p:nvPr/>
          </p:nvCxnSpPr>
          <p:spPr>
            <a:xfrm flipV="1">
              <a:off x="1284832" y="3875780"/>
              <a:ext cx="0" cy="620438"/>
            </a:xfrm>
            <a:prstGeom prst="straightConnector1">
              <a:avLst/>
            </a:prstGeom>
            <a:ln w="12700">
              <a:solidFill>
                <a:schemeClr val="tx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A3E6194-4F7D-4231-A867-6D1561C0B9BA}"/>
                </a:ext>
              </a:extLst>
            </p:cNvPr>
            <p:cNvSpPr/>
            <p:nvPr/>
          </p:nvSpPr>
          <p:spPr>
            <a:xfrm>
              <a:off x="1187382" y="4120819"/>
              <a:ext cx="194900" cy="194900"/>
            </a:xfrm>
            <a:prstGeom prst="ellipse">
              <a:avLst/>
            </a:prstGeom>
            <a:solidFill>
              <a:schemeClr val="bg1"/>
            </a:solid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chemeClr val="tx1">
                      <a:lumMod val="40000"/>
                      <a:lumOff val="60000"/>
                    </a:schemeClr>
                  </a:solidFill>
                  <a:latin typeface="+mj-lt"/>
                </a:rPr>
                <a:t>2</a:t>
              </a:r>
            </a:p>
          </p:txBody>
        </p:sp>
      </p:grpSp>
      <p:grpSp>
        <p:nvGrpSpPr>
          <p:cNvPr id="68" name="Group 67">
            <a:extLst>
              <a:ext uri="{FF2B5EF4-FFF2-40B4-BE49-F238E27FC236}">
                <a16:creationId xmlns:a16="http://schemas.microsoft.com/office/drawing/2014/main" id="{733CE18A-09F7-409B-BB5F-27C4B1D49F05}"/>
              </a:ext>
            </a:extLst>
          </p:cNvPr>
          <p:cNvGrpSpPr/>
          <p:nvPr/>
        </p:nvGrpSpPr>
        <p:grpSpPr>
          <a:xfrm>
            <a:off x="2695973" y="2919493"/>
            <a:ext cx="170685" cy="534691"/>
            <a:chOff x="2842562" y="3875780"/>
            <a:chExt cx="194900" cy="620438"/>
          </a:xfrm>
        </p:grpSpPr>
        <p:cxnSp>
          <p:nvCxnSpPr>
            <p:cNvPr id="30" name="Straight Arrow Connector 29">
              <a:extLst>
                <a:ext uri="{FF2B5EF4-FFF2-40B4-BE49-F238E27FC236}">
                  <a16:creationId xmlns:a16="http://schemas.microsoft.com/office/drawing/2014/main" id="{71F61685-5F81-400B-B9D4-5876A1BA6FB5}"/>
                </a:ext>
              </a:extLst>
            </p:cNvPr>
            <p:cNvCxnSpPr>
              <a:cxnSpLocks/>
            </p:cNvCxnSpPr>
            <p:nvPr/>
          </p:nvCxnSpPr>
          <p:spPr>
            <a:xfrm flipV="1">
              <a:off x="2940012" y="3875780"/>
              <a:ext cx="0" cy="620438"/>
            </a:xfrm>
            <a:prstGeom prst="straightConnector1">
              <a:avLst/>
            </a:prstGeom>
            <a:ln w="12700">
              <a:solidFill>
                <a:schemeClr val="tx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9B6B7C9C-3BC0-4E4C-A43D-9E5B138CE85F}"/>
                </a:ext>
              </a:extLst>
            </p:cNvPr>
            <p:cNvSpPr/>
            <p:nvPr/>
          </p:nvSpPr>
          <p:spPr>
            <a:xfrm>
              <a:off x="2842562" y="4114473"/>
              <a:ext cx="194900" cy="194900"/>
            </a:xfrm>
            <a:prstGeom prst="ellipse">
              <a:avLst/>
            </a:prstGeom>
            <a:solidFill>
              <a:schemeClr val="bg1"/>
            </a:solid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chemeClr val="tx1">
                      <a:lumMod val="40000"/>
                      <a:lumOff val="60000"/>
                    </a:schemeClr>
                  </a:solidFill>
                  <a:latin typeface="+mj-lt"/>
                </a:rPr>
                <a:t>2</a:t>
              </a:r>
            </a:p>
          </p:txBody>
        </p:sp>
      </p:grpSp>
      <p:grpSp>
        <p:nvGrpSpPr>
          <p:cNvPr id="65" name="Group 64">
            <a:extLst>
              <a:ext uri="{FF2B5EF4-FFF2-40B4-BE49-F238E27FC236}">
                <a16:creationId xmlns:a16="http://schemas.microsoft.com/office/drawing/2014/main" id="{7A104D35-A69E-4E0C-AA6C-2C50E621848E}"/>
              </a:ext>
            </a:extLst>
          </p:cNvPr>
          <p:cNvGrpSpPr/>
          <p:nvPr/>
        </p:nvGrpSpPr>
        <p:grpSpPr>
          <a:xfrm>
            <a:off x="2720809" y="4039752"/>
            <a:ext cx="170064" cy="509804"/>
            <a:chOff x="2842562" y="4885405"/>
            <a:chExt cx="194900" cy="620438"/>
          </a:xfrm>
        </p:grpSpPr>
        <p:cxnSp>
          <p:nvCxnSpPr>
            <p:cNvPr id="31" name="Straight Arrow Connector 30">
              <a:extLst>
                <a:ext uri="{FF2B5EF4-FFF2-40B4-BE49-F238E27FC236}">
                  <a16:creationId xmlns:a16="http://schemas.microsoft.com/office/drawing/2014/main" id="{7A8899A0-D56A-4423-B860-FE453CD70797}"/>
                </a:ext>
              </a:extLst>
            </p:cNvPr>
            <p:cNvCxnSpPr>
              <a:cxnSpLocks/>
            </p:cNvCxnSpPr>
            <p:nvPr/>
          </p:nvCxnSpPr>
          <p:spPr>
            <a:xfrm>
              <a:off x="2940012" y="4885405"/>
              <a:ext cx="0" cy="620438"/>
            </a:xfrm>
            <a:prstGeom prst="straightConnector1">
              <a:avLst/>
            </a:prstGeom>
            <a:ln w="12700">
              <a:solidFill>
                <a:schemeClr val="tx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1FC1EFD3-0EB6-4987-8899-EE6EB33A1BE7}"/>
                </a:ext>
              </a:extLst>
            </p:cNvPr>
            <p:cNvSpPr/>
            <p:nvPr/>
          </p:nvSpPr>
          <p:spPr>
            <a:xfrm>
              <a:off x="2842562" y="5178356"/>
              <a:ext cx="194900" cy="194900"/>
            </a:xfrm>
            <a:prstGeom prst="ellipse">
              <a:avLst/>
            </a:prstGeom>
            <a:solidFill>
              <a:schemeClr val="bg1"/>
            </a:solid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chemeClr val="tx1">
                      <a:lumMod val="40000"/>
                      <a:lumOff val="60000"/>
                    </a:schemeClr>
                  </a:solidFill>
                  <a:latin typeface="+mj-lt"/>
                </a:rPr>
                <a:t>2</a:t>
              </a:r>
            </a:p>
          </p:txBody>
        </p:sp>
      </p:grpSp>
      <p:grpSp>
        <p:nvGrpSpPr>
          <p:cNvPr id="60" name="Group 59">
            <a:extLst>
              <a:ext uri="{FF2B5EF4-FFF2-40B4-BE49-F238E27FC236}">
                <a16:creationId xmlns:a16="http://schemas.microsoft.com/office/drawing/2014/main" id="{ECB59A7F-317A-4992-B0C2-A91E6B879B2E}"/>
              </a:ext>
            </a:extLst>
          </p:cNvPr>
          <p:cNvGrpSpPr/>
          <p:nvPr/>
        </p:nvGrpSpPr>
        <p:grpSpPr>
          <a:xfrm>
            <a:off x="1328750" y="4023542"/>
            <a:ext cx="186653" cy="526013"/>
            <a:chOff x="1650347" y="4885405"/>
            <a:chExt cx="194900" cy="620438"/>
          </a:xfrm>
        </p:grpSpPr>
        <p:cxnSp>
          <p:nvCxnSpPr>
            <p:cNvPr id="39" name="Straight Arrow Connector 38">
              <a:extLst>
                <a:ext uri="{FF2B5EF4-FFF2-40B4-BE49-F238E27FC236}">
                  <a16:creationId xmlns:a16="http://schemas.microsoft.com/office/drawing/2014/main" id="{8548CEE2-F14D-40C8-AD3E-D377D2D461A7}"/>
                </a:ext>
              </a:extLst>
            </p:cNvPr>
            <p:cNvCxnSpPr>
              <a:cxnSpLocks/>
            </p:cNvCxnSpPr>
            <p:nvPr/>
          </p:nvCxnSpPr>
          <p:spPr>
            <a:xfrm flipV="1">
              <a:off x="1747797" y="4885405"/>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1ACA938-CC44-470A-88BA-10B480791CA5}"/>
                </a:ext>
              </a:extLst>
            </p:cNvPr>
            <p:cNvSpPr/>
            <p:nvPr/>
          </p:nvSpPr>
          <p:spPr>
            <a:xfrm>
              <a:off x="1650347" y="5178356"/>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a:t>
              </a:r>
            </a:p>
          </p:txBody>
        </p:sp>
      </p:grpSp>
      <p:grpSp>
        <p:nvGrpSpPr>
          <p:cNvPr id="59" name="Group 58">
            <a:extLst>
              <a:ext uri="{FF2B5EF4-FFF2-40B4-BE49-F238E27FC236}">
                <a16:creationId xmlns:a16="http://schemas.microsoft.com/office/drawing/2014/main" id="{5B622E25-A06A-46DC-8AD4-12643C21A0AF}"/>
              </a:ext>
            </a:extLst>
          </p:cNvPr>
          <p:cNvGrpSpPr/>
          <p:nvPr/>
        </p:nvGrpSpPr>
        <p:grpSpPr>
          <a:xfrm>
            <a:off x="1328750" y="2919493"/>
            <a:ext cx="170686" cy="521487"/>
            <a:chOff x="1650347" y="3875780"/>
            <a:chExt cx="194900" cy="620438"/>
          </a:xfrm>
        </p:grpSpPr>
        <p:cxnSp>
          <p:nvCxnSpPr>
            <p:cNvPr id="40" name="Straight Arrow Connector 39">
              <a:extLst>
                <a:ext uri="{FF2B5EF4-FFF2-40B4-BE49-F238E27FC236}">
                  <a16:creationId xmlns:a16="http://schemas.microsoft.com/office/drawing/2014/main" id="{65D8C32D-1B60-4781-A7BA-570A9A429D54}"/>
                </a:ext>
              </a:extLst>
            </p:cNvPr>
            <p:cNvCxnSpPr>
              <a:cxnSpLocks/>
            </p:cNvCxnSpPr>
            <p:nvPr/>
          </p:nvCxnSpPr>
          <p:spPr>
            <a:xfrm flipV="1">
              <a:off x="1747797"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42F1FB30-B8D7-499E-90D7-9039587A0305}"/>
                </a:ext>
              </a:extLst>
            </p:cNvPr>
            <p:cNvSpPr/>
            <p:nvPr/>
          </p:nvSpPr>
          <p:spPr>
            <a:xfrm>
              <a:off x="1650347" y="4120819"/>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3</a:t>
              </a:r>
            </a:p>
          </p:txBody>
        </p:sp>
      </p:grpSp>
      <p:grpSp>
        <p:nvGrpSpPr>
          <p:cNvPr id="67" name="Group 66">
            <a:extLst>
              <a:ext uri="{FF2B5EF4-FFF2-40B4-BE49-F238E27FC236}">
                <a16:creationId xmlns:a16="http://schemas.microsoft.com/office/drawing/2014/main" id="{96F21B7F-6827-4FCA-9685-822401C5A81D}"/>
              </a:ext>
            </a:extLst>
          </p:cNvPr>
          <p:cNvGrpSpPr/>
          <p:nvPr/>
        </p:nvGrpSpPr>
        <p:grpSpPr>
          <a:xfrm>
            <a:off x="3084605" y="2931175"/>
            <a:ext cx="170685" cy="534691"/>
            <a:chOff x="3305527" y="3887462"/>
            <a:chExt cx="194900" cy="620438"/>
          </a:xfrm>
        </p:grpSpPr>
        <p:cxnSp>
          <p:nvCxnSpPr>
            <p:cNvPr id="44" name="Straight Arrow Connector 43">
              <a:extLst>
                <a:ext uri="{FF2B5EF4-FFF2-40B4-BE49-F238E27FC236}">
                  <a16:creationId xmlns:a16="http://schemas.microsoft.com/office/drawing/2014/main" id="{0AFEF369-06D6-4CE0-B8BC-F3D38EFD8483}"/>
                </a:ext>
              </a:extLst>
            </p:cNvPr>
            <p:cNvCxnSpPr>
              <a:cxnSpLocks/>
            </p:cNvCxnSpPr>
            <p:nvPr/>
          </p:nvCxnSpPr>
          <p:spPr>
            <a:xfrm flipV="1">
              <a:off x="3402977" y="3887462"/>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E4EE4DC7-EAB0-4888-B5C5-17A6DE90C0DA}"/>
                </a:ext>
              </a:extLst>
            </p:cNvPr>
            <p:cNvSpPr/>
            <p:nvPr/>
          </p:nvSpPr>
          <p:spPr>
            <a:xfrm>
              <a:off x="3305527" y="4132501"/>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3</a:t>
              </a:r>
            </a:p>
          </p:txBody>
        </p:sp>
      </p:grpSp>
      <p:grpSp>
        <p:nvGrpSpPr>
          <p:cNvPr id="66" name="Group 65">
            <a:extLst>
              <a:ext uri="{FF2B5EF4-FFF2-40B4-BE49-F238E27FC236}">
                <a16:creationId xmlns:a16="http://schemas.microsoft.com/office/drawing/2014/main" id="{11B12CDA-B08E-457D-B6A4-00A01282FBD4}"/>
              </a:ext>
            </a:extLst>
          </p:cNvPr>
          <p:cNvGrpSpPr/>
          <p:nvPr/>
        </p:nvGrpSpPr>
        <p:grpSpPr>
          <a:xfrm>
            <a:off x="3109441" y="4039752"/>
            <a:ext cx="170064" cy="509804"/>
            <a:chOff x="3305527" y="4885405"/>
            <a:chExt cx="194900" cy="620438"/>
          </a:xfrm>
        </p:grpSpPr>
        <p:cxnSp>
          <p:nvCxnSpPr>
            <p:cNvPr id="47" name="Straight Arrow Connector 46">
              <a:extLst>
                <a:ext uri="{FF2B5EF4-FFF2-40B4-BE49-F238E27FC236}">
                  <a16:creationId xmlns:a16="http://schemas.microsoft.com/office/drawing/2014/main" id="{C9036BEF-8E5D-41C4-B91F-E01008E73B4E}"/>
                </a:ext>
              </a:extLst>
            </p:cNvPr>
            <p:cNvCxnSpPr>
              <a:cxnSpLocks/>
            </p:cNvCxnSpPr>
            <p:nvPr/>
          </p:nvCxnSpPr>
          <p:spPr>
            <a:xfrm>
              <a:off x="339525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17E83489-5E9B-420C-A570-48565E0B674E}"/>
                </a:ext>
              </a:extLst>
            </p:cNvPr>
            <p:cNvSpPr/>
            <p:nvPr/>
          </p:nvSpPr>
          <p:spPr>
            <a:xfrm>
              <a:off x="3305527"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a:t>
              </a:r>
            </a:p>
          </p:txBody>
        </p:sp>
      </p:grpSp>
      <p:grpSp>
        <p:nvGrpSpPr>
          <p:cNvPr id="48" name="Group 47">
            <a:extLst>
              <a:ext uri="{FF2B5EF4-FFF2-40B4-BE49-F238E27FC236}">
                <a16:creationId xmlns:a16="http://schemas.microsoft.com/office/drawing/2014/main" id="{849466B6-22E9-4DD7-AD04-89087B7351DE}"/>
              </a:ext>
            </a:extLst>
          </p:cNvPr>
          <p:cNvGrpSpPr/>
          <p:nvPr/>
        </p:nvGrpSpPr>
        <p:grpSpPr>
          <a:xfrm>
            <a:off x="4096453" y="3532743"/>
            <a:ext cx="4669451" cy="1459579"/>
            <a:chOff x="4474550" y="2309053"/>
            <a:chExt cx="4669451" cy="1459579"/>
          </a:xfrm>
        </p:grpSpPr>
        <p:sp>
          <p:nvSpPr>
            <p:cNvPr id="49" name="Rectangle: Rounded Corners 48">
              <a:extLst>
                <a:ext uri="{FF2B5EF4-FFF2-40B4-BE49-F238E27FC236}">
                  <a16:creationId xmlns:a16="http://schemas.microsoft.com/office/drawing/2014/main" id="{DF793013-61E5-4B85-9642-36C6979AB48A}"/>
                </a:ext>
              </a:extLst>
            </p:cNvPr>
            <p:cNvSpPr/>
            <p:nvPr/>
          </p:nvSpPr>
          <p:spPr>
            <a:xfrm>
              <a:off x="4474550" y="2309053"/>
              <a:ext cx="4669451" cy="1459579"/>
            </a:xfrm>
            <a:prstGeom prst="roundRect">
              <a:avLst>
                <a:gd name="adj" fmla="val 6583"/>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t" anchorCtr="0" forceAA="0" compatLnSpc="1">
              <a:prstTxWarp prst="textNoShape">
                <a:avLst/>
              </a:prstTxWarp>
              <a:noAutofit/>
            </a:bodyPr>
            <a:lstStyle/>
            <a:p>
              <a:r>
                <a:rPr lang="en-GB" sz="1000">
                  <a:solidFill>
                    <a:schemeClr val="tx1"/>
                  </a:solidFill>
                  <a:latin typeface="+mj-lt"/>
                </a:rPr>
                <a:t>Chart of Accounts Upserted – </a:t>
              </a:r>
              <a:r>
                <a:rPr lang="en-GB" sz="1000">
                  <a:solidFill>
                    <a:schemeClr val="tx1"/>
                  </a:solidFill>
                </a:rPr>
                <a:t>this integration was originally planned to transfer changes in the Chart of Accounts to the other systems to enable MRI allocate financial records.</a:t>
              </a:r>
            </a:p>
            <a:p>
              <a:pPr>
                <a:spcBef>
                  <a:spcPts val="400"/>
                </a:spcBef>
              </a:pPr>
              <a:r>
                <a:rPr lang="en-GB" sz="1000">
                  <a:solidFill>
                    <a:schemeClr val="tx1"/>
                  </a:solidFill>
                </a:rPr>
                <a:t>During detailed design, the scope of this integration expanded to support other types of information, so it currently includes: </a:t>
              </a:r>
            </a:p>
            <a:p>
              <a:pPr marL="171450" indent="-171450">
                <a:buFontTx/>
                <a:buChar char="-"/>
              </a:pPr>
              <a:r>
                <a:rPr lang="en-GB" sz="1000">
                  <a:solidFill>
                    <a:schemeClr val="tx1"/>
                  </a:solidFill>
                </a:rPr>
                <a:t>Basic customer / tenant data*</a:t>
              </a:r>
            </a:p>
            <a:p>
              <a:pPr marL="171450" indent="-171450">
                <a:buFontTx/>
                <a:buChar char="-"/>
              </a:pPr>
              <a:r>
                <a:rPr lang="en-GB" sz="1000">
                  <a:solidFill>
                    <a:schemeClr val="tx1"/>
                  </a:solidFill>
                </a:rPr>
                <a:t>Property data*</a:t>
              </a:r>
            </a:p>
            <a:p>
              <a:pPr marL="171450" indent="-171450">
                <a:buFontTx/>
                <a:buChar char="-"/>
              </a:pPr>
              <a:r>
                <a:rPr lang="en-GB" sz="1000">
                  <a:solidFill>
                    <a:schemeClr val="tx1"/>
                  </a:solidFill>
                </a:rPr>
                <a:t>Chart of Accounts data</a:t>
              </a:r>
            </a:p>
          </p:txBody>
        </p:sp>
        <p:sp>
          <p:nvSpPr>
            <p:cNvPr id="50" name="Oval 49">
              <a:extLst>
                <a:ext uri="{FF2B5EF4-FFF2-40B4-BE49-F238E27FC236}">
                  <a16:creationId xmlns:a16="http://schemas.microsoft.com/office/drawing/2014/main" id="{5BB76C22-E543-42F8-9D6A-6A172F4AF036}"/>
                </a:ext>
              </a:extLst>
            </p:cNvPr>
            <p:cNvSpPr/>
            <p:nvPr/>
          </p:nvSpPr>
          <p:spPr>
            <a:xfrm>
              <a:off x="4474550" y="2309054"/>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a:t>
              </a:r>
            </a:p>
          </p:txBody>
        </p:sp>
      </p:grpSp>
      <p:grpSp>
        <p:nvGrpSpPr>
          <p:cNvPr id="63" name="Group 62">
            <a:extLst>
              <a:ext uri="{FF2B5EF4-FFF2-40B4-BE49-F238E27FC236}">
                <a16:creationId xmlns:a16="http://schemas.microsoft.com/office/drawing/2014/main" id="{34D2A7FF-C5AF-48E2-BE55-24452906C76C}"/>
              </a:ext>
            </a:extLst>
          </p:cNvPr>
          <p:cNvGrpSpPr/>
          <p:nvPr/>
        </p:nvGrpSpPr>
        <p:grpSpPr>
          <a:xfrm>
            <a:off x="1709154" y="4019048"/>
            <a:ext cx="186653" cy="526013"/>
            <a:chOff x="2009948" y="4880911"/>
            <a:chExt cx="194900" cy="620438"/>
          </a:xfrm>
        </p:grpSpPr>
        <p:cxnSp>
          <p:nvCxnSpPr>
            <p:cNvPr id="51" name="Straight Arrow Connector 50">
              <a:extLst>
                <a:ext uri="{FF2B5EF4-FFF2-40B4-BE49-F238E27FC236}">
                  <a16:creationId xmlns:a16="http://schemas.microsoft.com/office/drawing/2014/main" id="{A845F022-C870-488F-BB0C-2AB39C3B36E4}"/>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AFAA9653-63F3-4FD3-B794-4884C5ADE9D0}"/>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4</a:t>
              </a:r>
            </a:p>
          </p:txBody>
        </p:sp>
      </p:grpSp>
      <p:grpSp>
        <p:nvGrpSpPr>
          <p:cNvPr id="70" name="Group 69">
            <a:extLst>
              <a:ext uri="{FF2B5EF4-FFF2-40B4-BE49-F238E27FC236}">
                <a16:creationId xmlns:a16="http://schemas.microsoft.com/office/drawing/2014/main" id="{F48E634C-47C1-4C17-9B6D-490B6E9EA967}"/>
              </a:ext>
            </a:extLst>
          </p:cNvPr>
          <p:cNvGrpSpPr/>
          <p:nvPr/>
        </p:nvGrpSpPr>
        <p:grpSpPr>
          <a:xfrm>
            <a:off x="3473237" y="2938707"/>
            <a:ext cx="170685" cy="534691"/>
            <a:chOff x="2009948" y="3871286"/>
            <a:chExt cx="194900" cy="620438"/>
          </a:xfrm>
        </p:grpSpPr>
        <p:cxnSp>
          <p:nvCxnSpPr>
            <p:cNvPr id="71" name="Straight Arrow Connector 70">
              <a:extLst>
                <a:ext uri="{FF2B5EF4-FFF2-40B4-BE49-F238E27FC236}">
                  <a16:creationId xmlns:a16="http://schemas.microsoft.com/office/drawing/2014/main" id="{4FC9C5FA-1302-4506-9E79-C4CEE380B7F0}"/>
                </a:ext>
              </a:extLst>
            </p:cNvPr>
            <p:cNvCxnSpPr>
              <a:cxnSpLocks/>
            </p:cNvCxnSpPr>
            <p:nvPr/>
          </p:nvCxnSpPr>
          <p:spPr>
            <a:xfrm flipV="1">
              <a:off x="2107398" y="3871286"/>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7EDD7CBB-EEF8-479B-BE15-A0D6FE82DBCC}"/>
                </a:ext>
              </a:extLst>
            </p:cNvPr>
            <p:cNvSpPr/>
            <p:nvPr/>
          </p:nvSpPr>
          <p:spPr>
            <a:xfrm>
              <a:off x="2009948" y="4116325"/>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4</a:t>
              </a:r>
            </a:p>
          </p:txBody>
        </p:sp>
      </p:grpSp>
      <p:grpSp>
        <p:nvGrpSpPr>
          <p:cNvPr id="73" name="Group 72">
            <a:extLst>
              <a:ext uri="{FF2B5EF4-FFF2-40B4-BE49-F238E27FC236}">
                <a16:creationId xmlns:a16="http://schemas.microsoft.com/office/drawing/2014/main" id="{31C7679E-03F4-4BD2-AF1F-197209DF5CC3}"/>
              </a:ext>
            </a:extLst>
          </p:cNvPr>
          <p:cNvGrpSpPr/>
          <p:nvPr/>
        </p:nvGrpSpPr>
        <p:grpSpPr>
          <a:xfrm>
            <a:off x="3498073" y="4051434"/>
            <a:ext cx="170064" cy="509804"/>
            <a:chOff x="3305527" y="4885405"/>
            <a:chExt cx="194900" cy="620438"/>
          </a:xfrm>
        </p:grpSpPr>
        <p:cxnSp>
          <p:nvCxnSpPr>
            <p:cNvPr id="74" name="Straight Arrow Connector 73">
              <a:extLst>
                <a:ext uri="{FF2B5EF4-FFF2-40B4-BE49-F238E27FC236}">
                  <a16:creationId xmlns:a16="http://schemas.microsoft.com/office/drawing/2014/main" id="{8ECA011D-649B-4255-ABB1-894D9B0EF0E7}"/>
                </a:ext>
              </a:extLst>
            </p:cNvPr>
            <p:cNvCxnSpPr>
              <a:cxnSpLocks/>
            </p:cNvCxnSpPr>
            <p:nvPr/>
          </p:nvCxnSpPr>
          <p:spPr>
            <a:xfrm>
              <a:off x="339525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F093FC65-D997-4378-A535-FFAB6E64E8AE}"/>
                </a:ext>
              </a:extLst>
            </p:cNvPr>
            <p:cNvSpPr/>
            <p:nvPr/>
          </p:nvSpPr>
          <p:spPr>
            <a:xfrm>
              <a:off x="3305527"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4</a:t>
              </a:r>
            </a:p>
          </p:txBody>
        </p:sp>
      </p:grpSp>
      <p:grpSp>
        <p:nvGrpSpPr>
          <p:cNvPr id="76" name="Group 75">
            <a:extLst>
              <a:ext uri="{FF2B5EF4-FFF2-40B4-BE49-F238E27FC236}">
                <a16:creationId xmlns:a16="http://schemas.microsoft.com/office/drawing/2014/main" id="{EB6A95BD-A385-4F23-9841-DE21F2004EAF}"/>
              </a:ext>
            </a:extLst>
          </p:cNvPr>
          <p:cNvGrpSpPr/>
          <p:nvPr/>
        </p:nvGrpSpPr>
        <p:grpSpPr>
          <a:xfrm>
            <a:off x="4098007" y="5057023"/>
            <a:ext cx="4667896" cy="620439"/>
            <a:chOff x="4474550" y="2309054"/>
            <a:chExt cx="4667896" cy="620439"/>
          </a:xfrm>
          <a:solidFill>
            <a:schemeClr val="bg1"/>
          </a:solidFill>
        </p:grpSpPr>
        <p:sp>
          <p:nvSpPr>
            <p:cNvPr id="77" name="Rectangle: Rounded Corners 76">
              <a:extLst>
                <a:ext uri="{FF2B5EF4-FFF2-40B4-BE49-F238E27FC236}">
                  <a16:creationId xmlns:a16="http://schemas.microsoft.com/office/drawing/2014/main" id="{1FA516AC-5ADD-44F6-BFBC-98D7259065AF}"/>
                </a:ext>
              </a:extLst>
            </p:cNvPr>
            <p:cNvSpPr/>
            <p:nvPr/>
          </p:nvSpPr>
          <p:spPr>
            <a:xfrm>
              <a:off x="4474550" y="2309055"/>
              <a:ext cx="4667896" cy="620438"/>
            </a:xfrm>
            <a:prstGeom prst="roundRect">
              <a:avLst>
                <a:gd name="adj" fmla="val 16610"/>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t" anchorCtr="0" forceAA="0" compatLnSpc="1">
              <a:prstTxWarp prst="textNoShape">
                <a:avLst/>
              </a:prstTxWarp>
              <a:noAutofit/>
            </a:bodyPr>
            <a:lstStyle/>
            <a:p>
              <a:r>
                <a:rPr lang="en-GB" sz="1000">
                  <a:solidFill>
                    <a:schemeClr val="tx1"/>
                  </a:solidFill>
                  <a:latin typeface="+mj-lt"/>
                </a:rPr>
                <a:t>Supplier Upserted – </a:t>
              </a:r>
              <a:r>
                <a:rPr lang="en-GB" sz="1000">
                  <a:solidFill>
                    <a:schemeClr val="tx1"/>
                  </a:solidFill>
                </a:rPr>
                <a:t>with MRI as the master of supplier data, this integration will ensure every creation of or update to supplier records in MRI is reflected in FSI and ProActis. </a:t>
              </a:r>
            </a:p>
          </p:txBody>
        </p:sp>
        <p:sp>
          <p:nvSpPr>
            <p:cNvPr id="78" name="Oval 77">
              <a:extLst>
                <a:ext uri="{FF2B5EF4-FFF2-40B4-BE49-F238E27FC236}">
                  <a16:creationId xmlns:a16="http://schemas.microsoft.com/office/drawing/2014/main" id="{B0CE31D0-6DA1-45DD-8F34-ED6EBD8444B4}"/>
                </a:ext>
              </a:extLst>
            </p:cNvPr>
            <p:cNvSpPr/>
            <p:nvPr/>
          </p:nvSpPr>
          <p:spPr>
            <a:xfrm>
              <a:off x="4474550" y="2309054"/>
              <a:ext cx="194900" cy="194900"/>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4</a:t>
              </a:r>
            </a:p>
          </p:txBody>
        </p:sp>
      </p:grpSp>
      <p:sp>
        <p:nvSpPr>
          <p:cNvPr id="79" name="Content Placeholder 5">
            <a:extLst>
              <a:ext uri="{FF2B5EF4-FFF2-40B4-BE49-F238E27FC236}">
                <a16:creationId xmlns:a16="http://schemas.microsoft.com/office/drawing/2014/main" id="{D90D3E5F-071F-4147-882E-62A01F552D53}"/>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On day 1, MRI will hold the master data for most information that will flow across the Connect systems: customer, property, supplier, landlord and financial records.</a:t>
            </a:r>
          </a:p>
          <a:p>
            <a:pPr>
              <a:lnSpc>
                <a:spcPct val="100000"/>
              </a:lnSpc>
              <a:spcBef>
                <a:spcPts val="400"/>
              </a:spcBef>
            </a:pPr>
            <a:r>
              <a:rPr lang="en-GB" spc="0">
                <a:latin typeface="Montserrat "/>
              </a:rPr>
              <a:t>Other information will be mastered in systems most likely to use them, e.g.  Prospect / applicant data and marketing attributes in Salesforce, Asset data in FSI Direct Debit mandates in Asperato.</a:t>
            </a:r>
          </a:p>
        </p:txBody>
      </p:sp>
      <p:grpSp>
        <p:nvGrpSpPr>
          <p:cNvPr id="64" name="Group 63">
            <a:extLst>
              <a:ext uri="{FF2B5EF4-FFF2-40B4-BE49-F238E27FC236}">
                <a16:creationId xmlns:a16="http://schemas.microsoft.com/office/drawing/2014/main" id="{B891E9AF-58A1-47E2-BEEF-5381BE6B2A81}"/>
              </a:ext>
            </a:extLst>
          </p:cNvPr>
          <p:cNvGrpSpPr/>
          <p:nvPr/>
        </p:nvGrpSpPr>
        <p:grpSpPr>
          <a:xfrm>
            <a:off x="2332177" y="4039752"/>
            <a:ext cx="170064" cy="509804"/>
            <a:chOff x="2379533" y="4885405"/>
            <a:chExt cx="194900" cy="620438"/>
          </a:xfrm>
        </p:grpSpPr>
        <p:cxnSp>
          <p:nvCxnSpPr>
            <p:cNvPr id="20" name="Straight Arrow Connector 19">
              <a:extLst>
                <a:ext uri="{FF2B5EF4-FFF2-40B4-BE49-F238E27FC236}">
                  <a16:creationId xmlns:a16="http://schemas.microsoft.com/office/drawing/2014/main" id="{EB153B82-3E53-4CF6-8079-8E5F59595923}"/>
                </a:ext>
              </a:extLst>
            </p:cNvPr>
            <p:cNvCxnSpPr>
              <a:cxnSpLocks/>
            </p:cNvCxnSpPr>
            <p:nvPr/>
          </p:nvCxnSpPr>
          <p:spPr>
            <a:xfrm>
              <a:off x="2476983"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D092F46-5AF0-4CC9-A73D-063924A66E54}"/>
                </a:ext>
              </a:extLst>
            </p:cNvPr>
            <p:cNvSpPr/>
            <p:nvPr/>
          </p:nvSpPr>
          <p:spPr>
            <a:xfrm>
              <a:off x="2379533"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a:t>
              </a:r>
            </a:p>
          </p:txBody>
        </p:sp>
      </p:grpSp>
      <p:grpSp>
        <p:nvGrpSpPr>
          <p:cNvPr id="7" name="Group 6">
            <a:extLst>
              <a:ext uri="{FF2B5EF4-FFF2-40B4-BE49-F238E27FC236}">
                <a16:creationId xmlns:a16="http://schemas.microsoft.com/office/drawing/2014/main" id="{D6BD057B-298F-40E6-999E-84419655BCB4}"/>
              </a:ext>
            </a:extLst>
          </p:cNvPr>
          <p:cNvGrpSpPr/>
          <p:nvPr/>
        </p:nvGrpSpPr>
        <p:grpSpPr>
          <a:xfrm>
            <a:off x="289244" y="5418280"/>
            <a:ext cx="3649649" cy="878439"/>
            <a:chOff x="289244" y="5418280"/>
            <a:chExt cx="3649649" cy="878439"/>
          </a:xfrm>
        </p:grpSpPr>
        <p:sp>
          <p:nvSpPr>
            <p:cNvPr id="3" name="Rectangle 2">
              <a:extLst>
                <a:ext uri="{FF2B5EF4-FFF2-40B4-BE49-F238E27FC236}">
                  <a16:creationId xmlns:a16="http://schemas.microsoft.com/office/drawing/2014/main" id="{73C6B17E-7AD4-4424-81A3-417BB50961EF}"/>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0" name="Group 79">
              <a:extLst>
                <a:ext uri="{FF2B5EF4-FFF2-40B4-BE49-F238E27FC236}">
                  <a16:creationId xmlns:a16="http://schemas.microsoft.com/office/drawing/2014/main" id="{4A6F570F-CB10-40C7-BE0E-A36E9E403AE5}"/>
                </a:ext>
              </a:extLst>
            </p:cNvPr>
            <p:cNvGrpSpPr/>
            <p:nvPr/>
          </p:nvGrpSpPr>
          <p:grpSpPr>
            <a:xfrm>
              <a:off x="361773" y="5476571"/>
              <a:ext cx="3444371" cy="250772"/>
              <a:chOff x="-1487335" y="2073671"/>
              <a:chExt cx="3503665" cy="250772"/>
            </a:xfrm>
          </p:grpSpPr>
          <p:cxnSp>
            <p:nvCxnSpPr>
              <p:cNvPr id="81" name="Straight Arrow Connector 80">
                <a:extLst>
                  <a:ext uri="{FF2B5EF4-FFF2-40B4-BE49-F238E27FC236}">
                    <a16:creationId xmlns:a16="http://schemas.microsoft.com/office/drawing/2014/main" id="{5DE774BB-8395-420C-9C27-715B1F8A7287}"/>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022DB7B-C96F-4269-8C46-3EA7DD1AD1D7}"/>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6924CA89-3334-4591-B64E-65669EF2894F}"/>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84" name="TextBox 83">
                <a:extLst>
                  <a:ext uri="{FF2B5EF4-FFF2-40B4-BE49-F238E27FC236}">
                    <a16:creationId xmlns:a16="http://schemas.microsoft.com/office/drawing/2014/main" id="{FF32A516-D786-4E58-819C-AEA1C4713CAE}"/>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85" name="TextBox 84">
                <a:extLst>
                  <a:ext uri="{FF2B5EF4-FFF2-40B4-BE49-F238E27FC236}">
                    <a16:creationId xmlns:a16="http://schemas.microsoft.com/office/drawing/2014/main" id="{154D0DDF-E1D8-4373-9414-774BFED73748}"/>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sp>
          <p:nvSpPr>
            <p:cNvPr id="86" name="Rectangle: Rounded Corners 85">
              <a:extLst>
                <a:ext uri="{FF2B5EF4-FFF2-40B4-BE49-F238E27FC236}">
                  <a16:creationId xmlns:a16="http://schemas.microsoft.com/office/drawing/2014/main" id="{60154611-D4B3-42FC-A65E-ABE1C4DF9230}"/>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87" name="Rectangle: Rounded Corners 86">
              <a:extLst>
                <a:ext uri="{FF2B5EF4-FFF2-40B4-BE49-F238E27FC236}">
                  <a16:creationId xmlns:a16="http://schemas.microsoft.com/office/drawing/2014/main" id="{0522592B-4447-4CF1-A7DE-F884020C4F59}"/>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88" name="Rectangle: Rounded Corners 87">
              <a:extLst>
                <a:ext uri="{FF2B5EF4-FFF2-40B4-BE49-F238E27FC236}">
                  <a16:creationId xmlns:a16="http://schemas.microsoft.com/office/drawing/2014/main" id="{86A50F3E-134A-41E6-AD85-D16C2EE12729}"/>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grpSp>
      <p:sp>
        <p:nvSpPr>
          <p:cNvPr id="2" name="TextBox 1">
            <a:extLst>
              <a:ext uri="{FF2B5EF4-FFF2-40B4-BE49-F238E27FC236}">
                <a16:creationId xmlns:a16="http://schemas.microsoft.com/office/drawing/2014/main" id="{C611B749-5E47-490C-BDDC-3954A31DACC8}"/>
              </a:ext>
            </a:extLst>
          </p:cNvPr>
          <p:cNvSpPr txBox="1"/>
          <p:nvPr/>
        </p:nvSpPr>
        <p:spPr>
          <a:xfrm>
            <a:off x="4096453" y="5744193"/>
            <a:ext cx="4685354" cy="553998"/>
          </a:xfrm>
          <a:prstGeom prst="rect">
            <a:avLst/>
          </a:prstGeom>
          <a:noFill/>
        </p:spPr>
        <p:txBody>
          <a:bodyPr wrap="square" rtlCol="0">
            <a:spAutoFit/>
          </a:bodyPr>
          <a:lstStyle/>
          <a:p>
            <a:pPr algn="l"/>
            <a:r>
              <a:rPr lang="en-GB" sz="1000" i="1"/>
              <a:t>* With the expansion of the ‘Chart of Accounts’ integration to include tenant and property info, ‘Property Upserted’ integration (#2) became redundant, and ‘Tenant Upserted’ can be completed in Phase 2. </a:t>
            </a:r>
          </a:p>
        </p:txBody>
      </p:sp>
    </p:spTree>
    <p:extLst>
      <p:ext uri="{BB962C8B-B14F-4D97-AF65-F5344CB8AC3E}">
        <p14:creationId xmlns:p14="http://schemas.microsoft.com/office/powerpoint/2010/main" val="815788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Property Management integrations</a:t>
            </a:r>
          </a:p>
        </p:txBody>
      </p:sp>
      <p:grpSp>
        <p:nvGrpSpPr>
          <p:cNvPr id="6" name="Group 5">
            <a:extLst>
              <a:ext uri="{FF2B5EF4-FFF2-40B4-BE49-F238E27FC236}">
                <a16:creationId xmlns:a16="http://schemas.microsoft.com/office/drawing/2014/main" id="{5009A7BF-2D0C-415D-959D-D1497E39156F}"/>
              </a:ext>
            </a:extLst>
          </p:cNvPr>
          <p:cNvGrpSpPr/>
          <p:nvPr/>
        </p:nvGrpSpPr>
        <p:grpSpPr>
          <a:xfrm>
            <a:off x="359391" y="2888744"/>
            <a:ext cx="3507169" cy="2455927"/>
            <a:chOff x="358775" y="2477978"/>
            <a:chExt cx="8426450" cy="2455927"/>
          </a:xfrm>
        </p:grpSpPr>
        <p:sp>
          <p:nvSpPr>
            <p:cNvPr id="4" name="Rectangle 3">
              <a:extLst>
                <a:ext uri="{FF2B5EF4-FFF2-40B4-BE49-F238E27FC236}">
                  <a16:creationId xmlns:a16="http://schemas.microsoft.com/office/drawing/2014/main" id="{0DE607AF-664A-44FB-B95F-F1178AD57902}"/>
                </a:ext>
              </a:extLst>
            </p:cNvPr>
            <p:cNvSpPr/>
            <p:nvPr/>
          </p:nvSpPr>
          <p:spPr>
            <a:xfrm>
              <a:off x="358775" y="3595603"/>
              <a:ext cx="8426450" cy="377505"/>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5" name="Rectangle 4">
              <a:extLst>
                <a:ext uri="{FF2B5EF4-FFF2-40B4-BE49-F238E27FC236}">
                  <a16:creationId xmlns:a16="http://schemas.microsoft.com/office/drawing/2014/main" id="{E4AD130D-F7AC-4F71-8DE2-D9C5A063B6C3}"/>
                </a:ext>
              </a:extLst>
            </p:cNvPr>
            <p:cNvSpPr/>
            <p:nvPr/>
          </p:nvSpPr>
          <p:spPr>
            <a:xfrm>
              <a:off x="562062" y="4426945"/>
              <a:ext cx="3816991" cy="50696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0" name="Rectangle 9">
              <a:extLst>
                <a:ext uri="{FF2B5EF4-FFF2-40B4-BE49-F238E27FC236}">
                  <a16:creationId xmlns:a16="http://schemas.microsoft.com/office/drawing/2014/main" id="{3129E607-BD68-48F8-BBAF-AD63BE925A5D}"/>
                </a:ext>
              </a:extLst>
            </p:cNvPr>
            <p:cNvSpPr/>
            <p:nvPr/>
          </p:nvSpPr>
          <p:spPr>
            <a:xfrm>
              <a:off x="4764947" y="4426944"/>
              <a:ext cx="3816991" cy="50696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ProActis</a:t>
              </a:r>
            </a:p>
          </p:txBody>
        </p:sp>
        <p:sp>
          <p:nvSpPr>
            <p:cNvPr id="11" name="Rectangle 10">
              <a:extLst>
                <a:ext uri="{FF2B5EF4-FFF2-40B4-BE49-F238E27FC236}">
                  <a16:creationId xmlns:a16="http://schemas.microsoft.com/office/drawing/2014/main" id="{0B37F336-8A85-4EDB-A255-C521100DBCBE}"/>
                </a:ext>
              </a:extLst>
            </p:cNvPr>
            <p:cNvSpPr/>
            <p:nvPr/>
          </p:nvSpPr>
          <p:spPr>
            <a:xfrm>
              <a:off x="4764945" y="2494187"/>
              <a:ext cx="3816991" cy="56387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FSI</a:t>
              </a:r>
            </a:p>
          </p:txBody>
        </p:sp>
        <p:sp>
          <p:nvSpPr>
            <p:cNvPr id="12" name="Rectangle 11">
              <a:extLst>
                <a:ext uri="{FF2B5EF4-FFF2-40B4-BE49-F238E27FC236}">
                  <a16:creationId xmlns:a16="http://schemas.microsoft.com/office/drawing/2014/main" id="{AF0D2BFC-6FDA-40C3-AC14-15875ECA52AB}"/>
                </a:ext>
              </a:extLst>
            </p:cNvPr>
            <p:cNvSpPr/>
            <p:nvPr/>
          </p:nvSpPr>
          <p:spPr>
            <a:xfrm>
              <a:off x="562062" y="2477978"/>
              <a:ext cx="3816991" cy="56387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Salesforce</a:t>
              </a:r>
            </a:p>
          </p:txBody>
        </p:sp>
      </p:grpSp>
      <p:grpSp>
        <p:nvGrpSpPr>
          <p:cNvPr id="69" name="Group 68">
            <a:extLst>
              <a:ext uri="{FF2B5EF4-FFF2-40B4-BE49-F238E27FC236}">
                <a16:creationId xmlns:a16="http://schemas.microsoft.com/office/drawing/2014/main" id="{F47AE2E0-DCA7-4730-8852-E7BE49266EB7}"/>
              </a:ext>
            </a:extLst>
          </p:cNvPr>
          <p:cNvGrpSpPr/>
          <p:nvPr/>
        </p:nvGrpSpPr>
        <p:grpSpPr>
          <a:xfrm>
            <a:off x="2485141" y="3460768"/>
            <a:ext cx="254876" cy="534510"/>
            <a:chOff x="2379533" y="3875780"/>
            <a:chExt cx="194900" cy="620438"/>
          </a:xfrm>
        </p:grpSpPr>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247698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2379533" y="4114473"/>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10</a:t>
              </a:r>
            </a:p>
          </p:txBody>
        </p:sp>
      </p:grpSp>
      <p:grpSp>
        <p:nvGrpSpPr>
          <p:cNvPr id="65" name="Group 64">
            <a:extLst>
              <a:ext uri="{FF2B5EF4-FFF2-40B4-BE49-F238E27FC236}">
                <a16:creationId xmlns:a16="http://schemas.microsoft.com/office/drawing/2014/main" id="{7A104D35-A69E-4E0C-AA6C-2C50E621848E}"/>
              </a:ext>
            </a:extLst>
          </p:cNvPr>
          <p:cNvGrpSpPr/>
          <p:nvPr/>
        </p:nvGrpSpPr>
        <p:grpSpPr>
          <a:xfrm>
            <a:off x="2904660" y="4399624"/>
            <a:ext cx="229085" cy="441782"/>
            <a:chOff x="2842562" y="4885405"/>
            <a:chExt cx="194900" cy="620438"/>
          </a:xfrm>
        </p:grpSpPr>
        <p:cxnSp>
          <p:nvCxnSpPr>
            <p:cNvPr id="31" name="Straight Arrow Connector 30">
              <a:extLst>
                <a:ext uri="{FF2B5EF4-FFF2-40B4-BE49-F238E27FC236}">
                  <a16:creationId xmlns:a16="http://schemas.microsoft.com/office/drawing/2014/main" id="{7A8899A0-D56A-4423-B860-FE453CD70797}"/>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1FC1EFD3-0EB6-4987-8899-EE6EB33A1BE7}"/>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8</a:t>
              </a:r>
            </a:p>
          </p:txBody>
        </p:sp>
      </p:grpSp>
      <p:grpSp>
        <p:nvGrpSpPr>
          <p:cNvPr id="59" name="Group 58">
            <a:extLst>
              <a:ext uri="{FF2B5EF4-FFF2-40B4-BE49-F238E27FC236}">
                <a16:creationId xmlns:a16="http://schemas.microsoft.com/office/drawing/2014/main" id="{5B622E25-A06A-46DC-8AD4-12643C21A0AF}"/>
              </a:ext>
            </a:extLst>
          </p:cNvPr>
          <p:cNvGrpSpPr/>
          <p:nvPr/>
        </p:nvGrpSpPr>
        <p:grpSpPr>
          <a:xfrm>
            <a:off x="1275422" y="3460768"/>
            <a:ext cx="394351" cy="534510"/>
            <a:chOff x="1597020" y="3875780"/>
            <a:chExt cx="301554" cy="620438"/>
          </a:xfrm>
        </p:grpSpPr>
        <p:cxnSp>
          <p:nvCxnSpPr>
            <p:cNvPr id="40" name="Straight Arrow Connector 39">
              <a:extLst>
                <a:ext uri="{FF2B5EF4-FFF2-40B4-BE49-F238E27FC236}">
                  <a16:creationId xmlns:a16="http://schemas.microsoft.com/office/drawing/2014/main" id="{65D8C32D-1B60-4781-A7BA-570A9A429D54}"/>
                </a:ext>
              </a:extLst>
            </p:cNvPr>
            <p:cNvCxnSpPr>
              <a:cxnSpLocks/>
            </p:cNvCxnSpPr>
            <p:nvPr/>
          </p:nvCxnSpPr>
          <p:spPr>
            <a:xfrm flipV="1">
              <a:off x="1747797"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42F1FB30-B8D7-499E-90D7-9039587A0305}"/>
                </a:ext>
              </a:extLst>
            </p:cNvPr>
            <p:cNvSpPr/>
            <p:nvPr/>
          </p:nvSpPr>
          <p:spPr>
            <a:xfrm>
              <a:off x="1597020" y="4120819"/>
              <a:ext cx="301554"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6,7</a:t>
              </a:r>
            </a:p>
          </p:txBody>
        </p:sp>
      </p:grpSp>
      <p:grpSp>
        <p:nvGrpSpPr>
          <p:cNvPr id="64" name="Group 63">
            <a:extLst>
              <a:ext uri="{FF2B5EF4-FFF2-40B4-BE49-F238E27FC236}">
                <a16:creationId xmlns:a16="http://schemas.microsoft.com/office/drawing/2014/main" id="{B891E9AF-58A1-47E2-BEEF-5381BE6B2A81}"/>
              </a:ext>
            </a:extLst>
          </p:cNvPr>
          <p:cNvGrpSpPr/>
          <p:nvPr/>
        </p:nvGrpSpPr>
        <p:grpSpPr>
          <a:xfrm>
            <a:off x="1197114" y="4390456"/>
            <a:ext cx="229085" cy="441782"/>
            <a:chOff x="2379533" y="4885405"/>
            <a:chExt cx="194900" cy="620438"/>
          </a:xfrm>
        </p:grpSpPr>
        <p:cxnSp>
          <p:nvCxnSpPr>
            <p:cNvPr id="20" name="Straight Arrow Connector 19">
              <a:extLst>
                <a:ext uri="{FF2B5EF4-FFF2-40B4-BE49-F238E27FC236}">
                  <a16:creationId xmlns:a16="http://schemas.microsoft.com/office/drawing/2014/main" id="{EB153B82-3E53-4CF6-8079-8E5F59595923}"/>
                </a:ext>
              </a:extLst>
            </p:cNvPr>
            <p:cNvCxnSpPr>
              <a:cxnSpLocks/>
            </p:cNvCxnSpPr>
            <p:nvPr/>
          </p:nvCxnSpPr>
          <p:spPr>
            <a:xfrm>
              <a:off x="2476983"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D092F46-5AF0-4CC9-A73D-063924A66E54}"/>
                </a:ext>
              </a:extLst>
            </p:cNvPr>
            <p:cNvSpPr/>
            <p:nvPr/>
          </p:nvSpPr>
          <p:spPr>
            <a:xfrm>
              <a:off x="2379533"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8</a:t>
              </a:r>
            </a:p>
          </p:txBody>
        </p:sp>
      </p:grpSp>
      <p:grpSp>
        <p:nvGrpSpPr>
          <p:cNvPr id="70" name="Group 69">
            <a:extLst>
              <a:ext uri="{FF2B5EF4-FFF2-40B4-BE49-F238E27FC236}">
                <a16:creationId xmlns:a16="http://schemas.microsoft.com/office/drawing/2014/main" id="{F48E634C-47C1-4C17-9B6D-490B6E9EA967}"/>
              </a:ext>
            </a:extLst>
          </p:cNvPr>
          <p:cNvGrpSpPr/>
          <p:nvPr/>
        </p:nvGrpSpPr>
        <p:grpSpPr>
          <a:xfrm>
            <a:off x="3536737" y="3479982"/>
            <a:ext cx="254876" cy="534510"/>
            <a:chOff x="2009948" y="3871286"/>
            <a:chExt cx="194900" cy="620438"/>
          </a:xfrm>
        </p:grpSpPr>
        <p:cxnSp>
          <p:nvCxnSpPr>
            <p:cNvPr id="71" name="Straight Arrow Connector 70">
              <a:extLst>
                <a:ext uri="{FF2B5EF4-FFF2-40B4-BE49-F238E27FC236}">
                  <a16:creationId xmlns:a16="http://schemas.microsoft.com/office/drawing/2014/main" id="{4FC9C5FA-1302-4506-9E79-C4CEE380B7F0}"/>
                </a:ext>
              </a:extLst>
            </p:cNvPr>
            <p:cNvCxnSpPr>
              <a:cxnSpLocks/>
            </p:cNvCxnSpPr>
            <p:nvPr/>
          </p:nvCxnSpPr>
          <p:spPr>
            <a:xfrm flipV="1">
              <a:off x="2107398" y="3871286"/>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7EDD7CBB-EEF8-479B-BE15-A0D6FE82DBCC}"/>
                </a:ext>
              </a:extLst>
            </p:cNvPr>
            <p:cNvSpPr/>
            <p:nvPr/>
          </p:nvSpPr>
          <p:spPr>
            <a:xfrm>
              <a:off x="2009948" y="4116325"/>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5</a:t>
              </a:r>
            </a:p>
          </p:txBody>
        </p:sp>
      </p:grpSp>
      <p:sp>
        <p:nvSpPr>
          <p:cNvPr id="79" name="Content Placeholder 5">
            <a:extLst>
              <a:ext uri="{FF2B5EF4-FFF2-40B4-BE49-F238E27FC236}">
                <a16:creationId xmlns:a16="http://schemas.microsoft.com/office/drawing/2014/main" id="{2D1B1027-62A0-411E-9CBA-332ECB4A0CC8}"/>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The property management integrations will be delivered for Phase 1 – of course noting that those related to MyGrainger Portal will come with the Portal development. These support mostly the ‘Process Group 1’ and should enable the whole maintenance journey from a customer raising a fault online to a supplier being paid.</a:t>
            </a:r>
            <a:endParaRPr lang="en-GB" spc="0">
              <a:solidFill>
                <a:srgbClr val="002060"/>
              </a:solidFill>
              <a:latin typeface="Montserrat "/>
            </a:endParaRPr>
          </a:p>
        </p:txBody>
      </p:sp>
      <p:sp>
        <p:nvSpPr>
          <p:cNvPr id="80" name="Rectangle 79">
            <a:extLst>
              <a:ext uri="{FF2B5EF4-FFF2-40B4-BE49-F238E27FC236}">
                <a16:creationId xmlns:a16="http://schemas.microsoft.com/office/drawing/2014/main" id="{FBDF3DA1-A213-4BE9-9595-212C3EE5BC0E}"/>
              </a:ext>
            </a:extLst>
          </p:cNvPr>
          <p:cNvSpPr/>
          <p:nvPr/>
        </p:nvSpPr>
        <p:spPr>
          <a:xfrm>
            <a:off x="2436277" y="2158165"/>
            <a:ext cx="1102675" cy="465814"/>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err="1">
                <a:latin typeface="+mj-lt"/>
              </a:rPr>
              <a:t>MyGrainger</a:t>
            </a:r>
            <a:r>
              <a:rPr lang="en-GB" sz="1200">
                <a:latin typeface="+mj-lt"/>
              </a:rPr>
              <a:t> Portal</a:t>
            </a:r>
          </a:p>
        </p:txBody>
      </p:sp>
      <p:grpSp>
        <p:nvGrpSpPr>
          <p:cNvPr id="94" name="Group 93">
            <a:extLst>
              <a:ext uri="{FF2B5EF4-FFF2-40B4-BE49-F238E27FC236}">
                <a16:creationId xmlns:a16="http://schemas.microsoft.com/office/drawing/2014/main" id="{63C65245-07E2-4CC5-9AA4-9871929EE058}"/>
              </a:ext>
            </a:extLst>
          </p:cNvPr>
          <p:cNvGrpSpPr/>
          <p:nvPr/>
        </p:nvGrpSpPr>
        <p:grpSpPr>
          <a:xfrm>
            <a:off x="3538952" y="2390699"/>
            <a:ext cx="651911" cy="1804423"/>
            <a:chOff x="3538952" y="2390699"/>
            <a:chExt cx="651911" cy="1804423"/>
          </a:xfrm>
        </p:grpSpPr>
        <p:cxnSp>
          <p:nvCxnSpPr>
            <p:cNvPr id="82" name="Connector: Elbow 81">
              <a:extLst>
                <a:ext uri="{FF2B5EF4-FFF2-40B4-BE49-F238E27FC236}">
                  <a16:creationId xmlns:a16="http://schemas.microsoft.com/office/drawing/2014/main" id="{DF7DE17E-839A-4F5F-B51C-B2928370B51E}"/>
                </a:ext>
              </a:extLst>
            </p:cNvPr>
            <p:cNvCxnSpPr>
              <a:cxnSpLocks/>
            </p:cNvCxnSpPr>
            <p:nvPr/>
          </p:nvCxnSpPr>
          <p:spPr>
            <a:xfrm>
              <a:off x="3538952" y="2390699"/>
              <a:ext cx="327608" cy="1804423"/>
            </a:xfrm>
            <a:prstGeom prst="bentConnector3">
              <a:avLst>
                <a:gd name="adj1" fmla="val 169779"/>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7AD8861A-58E3-4126-A6F5-2C4EBB6E03FF}"/>
                </a:ext>
              </a:extLst>
            </p:cNvPr>
            <p:cNvSpPr/>
            <p:nvPr/>
          </p:nvSpPr>
          <p:spPr>
            <a:xfrm>
              <a:off x="3995963" y="3262188"/>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5</a:t>
              </a:r>
            </a:p>
          </p:txBody>
        </p:sp>
      </p:grpSp>
      <p:grpSp>
        <p:nvGrpSpPr>
          <p:cNvPr id="84" name="Group 83">
            <a:extLst>
              <a:ext uri="{FF2B5EF4-FFF2-40B4-BE49-F238E27FC236}">
                <a16:creationId xmlns:a16="http://schemas.microsoft.com/office/drawing/2014/main" id="{F9943DB4-9B55-4B09-9EBE-17DE329441A2}"/>
              </a:ext>
            </a:extLst>
          </p:cNvPr>
          <p:cNvGrpSpPr/>
          <p:nvPr/>
        </p:nvGrpSpPr>
        <p:grpSpPr>
          <a:xfrm>
            <a:off x="3162077" y="3466609"/>
            <a:ext cx="408357" cy="534510"/>
            <a:chOff x="1951266" y="4880911"/>
            <a:chExt cx="312264" cy="620438"/>
          </a:xfrm>
        </p:grpSpPr>
        <p:cxnSp>
          <p:nvCxnSpPr>
            <p:cNvPr id="85" name="Straight Arrow Connector 84">
              <a:extLst>
                <a:ext uri="{FF2B5EF4-FFF2-40B4-BE49-F238E27FC236}">
                  <a16:creationId xmlns:a16="http://schemas.microsoft.com/office/drawing/2014/main" id="{16F4B336-859E-4EAD-B270-226FD1278AD6}"/>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5EB4EB21-6B46-40BC-8DCE-C3BD08FE1C4C}"/>
                </a:ext>
              </a:extLst>
            </p:cNvPr>
            <p:cNvSpPr/>
            <p:nvPr/>
          </p:nvSpPr>
          <p:spPr>
            <a:xfrm>
              <a:off x="1951266" y="5029481"/>
              <a:ext cx="312264"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6,7</a:t>
              </a:r>
            </a:p>
          </p:txBody>
        </p:sp>
      </p:grpSp>
      <p:grpSp>
        <p:nvGrpSpPr>
          <p:cNvPr id="102" name="Group 101">
            <a:extLst>
              <a:ext uri="{FF2B5EF4-FFF2-40B4-BE49-F238E27FC236}">
                <a16:creationId xmlns:a16="http://schemas.microsoft.com/office/drawing/2014/main" id="{B190A58A-70CD-4825-98F3-7D369DA86D5C}"/>
              </a:ext>
            </a:extLst>
          </p:cNvPr>
          <p:cNvGrpSpPr/>
          <p:nvPr/>
        </p:nvGrpSpPr>
        <p:grpSpPr>
          <a:xfrm>
            <a:off x="3492844" y="2519014"/>
            <a:ext cx="531101" cy="2137847"/>
            <a:chOff x="3492874" y="2519108"/>
            <a:chExt cx="531101" cy="2137847"/>
          </a:xfrm>
        </p:grpSpPr>
        <p:sp>
          <p:nvSpPr>
            <p:cNvPr id="95" name="Rectangle 94">
              <a:extLst>
                <a:ext uri="{FF2B5EF4-FFF2-40B4-BE49-F238E27FC236}">
                  <a16:creationId xmlns:a16="http://schemas.microsoft.com/office/drawing/2014/main" id="{5C696675-A5C6-4805-A5B7-7320182AB298}"/>
                </a:ext>
              </a:extLst>
            </p:cNvPr>
            <p:cNvSpPr/>
            <p:nvPr/>
          </p:nvSpPr>
          <p:spPr>
            <a:xfrm>
              <a:off x="3822528" y="4515432"/>
              <a:ext cx="45719" cy="1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a:extLst>
                <a:ext uri="{FF2B5EF4-FFF2-40B4-BE49-F238E27FC236}">
                  <a16:creationId xmlns:a16="http://schemas.microsoft.com/office/drawing/2014/main" id="{AC335301-C6C9-422C-8880-C590994BCFDD}"/>
                </a:ext>
              </a:extLst>
            </p:cNvPr>
            <p:cNvSpPr/>
            <p:nvPr/>
          </p:nvSpPr>
          <p:spPr>
            <a:xfrm>
              <a:off x="3492874" y="2639186"/>
              <a:ext cx="45719" cy="141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8" name="Connector: Elbow 97">
              <a:extLst>
                <a:ext uri="{FF2B5EF4-FFF2-40B4-BE49-F238E27FC236}">
                  <a16:creationId xmlns:a16="http://schemas.microsoft.com/office/drawing/2014/main" id="{3C5C2BD5-3400-4283-93F2-D6E26E52E23D}"/>
                </a:ext>
              </a:extLst>
            </p:cNvPr>
            <p:cNvCxnSpPr>
              <a:cxnSpLocks/>
            </p:cNvCxnSpPr>
            <p:nvPr/>
          </p:nvCxnSpPr>
          <p:spPr>
            <a:xfrm rot="16200000" flipV="1">
              <a:off x="2974491" y="3092827"/>
              <a:ext cx="1472351" cy="324914"/>
            </a:xfrm>
            <a:prstGeom prst="bentConnector3">
              <a:avLst>
                <a:gd name="adj1" fmla="val 99909"/>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1E807620-C1BF-4F75-B6D9-9EC10BADD56E}"/>
                </a:ext>
              </a:extLst>
            </p:cNvPr>
            <p:cNvSpPr/>
            <p:nvPr/>
          </p:nvSpPr>
          <p:spPr>
            <a:xfrm>
              <a:off x="3703981" y="2625596"/>
              <a:ext cx="319994"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6,7</a:t>
              </a:r>
            </a:p>
          </p:txBody>
        </p:sp>
      </p:grpSp>
      <p:grpSp>
        <p:nvGrpSpPr>
          <p:cNvPr id="103" name="Group 102">
            <a:extLst>
              <a:ext uri="{FF2B5EF4-FFF2-40B4-BE49-F238E27FC236}">
                <a16:creationId xmlns:a16="http://schemas.microsoft.com/office/drawing/2014/main" id="{C3B5B2F8-CD9D-49D9-A939-E8A87C15F4B8}"/>
              </a:ext>
            </a:extLst>
          </p:cNvPr>
          <p:cNvGrpSpPr/>
          <p:nvPr/>
        </p:nvGrpSpPr>
        <p:grpSpPr>
          <a:xfrm>
            <a:off x="2907865" y="3478036"/>
            <a:ext cx="260118" cy="534510"/>
            <a:chOff x="2007944" y="4880911"/>
            <a:chExt cx="198908" cy="620438"/>
          </a:xfrm>
        </p:grpSpPr>
        <p:cxnSp>
          <p:nvCxnSpPr>
            <p:cNvPr id="104" name="Straight Arrow Connector 103">
              <a:extLst>
                <a:ext uri="{FF2B5EF4-FFF2-40B4-BE49-F238E27FC236}">
                  <a16:creationId xmlns:a16="http://schemas.microsoft.com/office/drawing/2014/main" id="{1D741AF3-2F6A-46FF-857D-BE502F7F1425}"/>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D278BFCF-422E-4CB1-869A-338C807FC980}"/>
                </a:ext>
              </a:extLst>
            </p:cNvPr>
            <p:cNvSpPr/>
            <p:nvPr/>
          </p:nvSpPr>
          <p:spPr>
            <a:xfrm>
              <a:off x="2007944" y="502948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8</a:t>
              </a:r>
            </a:p>
          </p:txBody>
        </p:sp>
      </p:grpSp>
      <p:grpSp>
        <p:nvGrpSpPr>
          <p:cNvPr id="106" name="Group 105">
            <a:extLst>
              <a:ext uri="{FF2B5EF4-FFF2-40B4-BE49-F238E27FC236}">
                <a16:creationId xmlns:a16="http://schemas.microsoft.com/office/drawing/2014/main" id="{F8EED94C-8EDC-40BA-8DB8-B301FB607722}"/>
              </a:ext>
            </a:extLst>
          </p:cNvPr>
          <p:cNvGrpSpPr/>
          <p:nvPr/>
        </p:nvGrpSpPr>
        <p:grpSpPr>
          <a:xfrm>
            <a:off x="2660453" y="4378877"/>
            <a:ext cx="229085" cy="441782"/>
            <a:chOff x="2009948" y="4880911"/>
            <a:chExt cx="194900" cy="620438"/>
          </a:xfrm>
        </p:grpSpPr>
        <p:cxnSp>
          <p:nvCxnSpPr>
            <p:cNvPr id="107" name="Straight Arrow Connector 106">
              <a:extLst>
                <a:ext uri="{FF2B5EF4-FFF2-40B4-BE49-F238E27FC236}">
                  <a16:creationId xmlns:a16="http://schemas.microsoft.com/office/drawing/2014/main" id="{14FD8053-6DAF-4CD7-B6AF-5A029BA6B66E}"/>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47EFB3AE-FF46-4172-80C3-D66D641E6F38}"/>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9</a:t>
              </a:r>
            </a:p>
          </p:txBody>
        </p:sp>
      </p:grpSp>
      <p:grpSp>
        <p:nvGrpSpPr>
          <p:cNvPr id="109" name="Group 108">
            <a:extLst>
              <a:ext uri="{FF2B5EF4-FFF2-40B4-BE49-F238E27FC236}">
                <a16:creationId xmlns:a16="http://schemas.microsoft.com/office/drawing/2014/main" id="{AD2F557C-0754-444C-8FEC-4997EE707255}"/>
              </a:ext>
            </a:extLst>
          </p:cNvPr>
          <p:cNvGrpSpPr/>
          <p:nvPr/>
        </p:nvGrpSpPr>
        <p:grpSpPr>
          <a:xfrm>
            <a:off x="955823" y="4397946"/>
            <a:ext cx="229085" cy="441782"/>
            <a:chOff x="2379533" y="4885405"/>
            <a:chExt cx="194900" cy="620438"/>
          </a:xfrm>
        </p:grpSpPr>
        <p:cxnSp>
          <p:nvCxnSpPr>
            <p:cNvPr id="110" name="Straight Arrow Connector 109">
              <a:extLst>
                <a:ext uri="{FF2B5EF4-FFF2-40B4-BE49-F238E27FC236}">
                  <a16:creationId xmlns:a16="http://schemas.microsoft.com/office/drawing/2014/main" id="{7BCBECBB-48B6-4E9F-8533-456042068169}"/>
                </a:ext>
              </a:extLst>
            </p:cNvPr>
            <p:cNvCxnSpPr>
              <a:cxnSpLocks/>
            </p:cNvCxnSpPr>
            <p:nvPr/>
          </p:nvCxnSpPr>
          <p:spPr>
            <a:xfrm>
              <a:off x="2476983"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1797E3FE-0057-4C56-A20A-0A30DEF8F06C}"/>
                </a:ext>
              </a:extLst>
            </p:cNvPr>
            <p:cNvSpPr/>
            <p:nvPr/>
          </p:nvSpPr>
          <p:spPr>
            <a:xfrm>
              <a:off x="2379533"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9</a:t>
              </a:r>
            </a:p>
          </p:txBody>
        </p:sp>
      </p:grpSp>
      <p:grpSp>
        <p:nvGrpSpPr>
          <p:cNvPr id="112" name="Group 111">
            <a:extLst>
              <a:ext uri="{FF2B5EF4-FFF2-40B4-BE49-F238E27FC236}">
                <a16:creationId xmlns:a16="http://schemas.microsoft.com/office/drawing/2014/main" id="{B5721674-4819-44D7-B820-CBB0862A5117}"/>
              </a:ext>
            </a:extLst>
          </p:cNvPr>
          <p:cNvGrpSpPr/>
          <p:nvPr/>
        </p:nvGrpSpPr>
        <p:grpSpPr>
          <a:xfrm>
            <a:off x="707349" y="4390456"/>
            <a:ext cx="229085" cy="441782"/>
            <a:chOff x="2009948" y="4880911"/>
            <a:chExt cx="194900" cy="620438"/>
          </a:xfrm>
        </p:grpSpPr>
        <p:cxnSp>
          <p:nvCxnSpPr>
            <p:cNvPr id="113" name="Straight Arrow Connector 112">
              <a:extLst>
                <a:ext uri="{FF2B5EF4-FFF2-40B4-BE49-F238E27FC236}">
                  <a16:creationId xmlns:a16="http://schemas.microsoft.com/office/drawing/2014/main" id="{08C182A7-37C1-46D4-A378-9F69BDAECDEC}"/>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38FEF46D-9486-4E96-B243-75E76BF6446D}"/>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10</a:t>
              </a:r>
            </a:p>
          </p:txBody>
        </p:sp>
      </p:grpSp>
      <p:grpSp>
        <p:nvGrpSpPr>
          <p:cNvPr id="115" name="Group 114">
            <a:extLst>
              <a:ext uri="{FF2B5EF4-FFF2-40B4-BE49-F238E27FC236}">
                <a16:creationId xmlns:a16="http://schemas.microsoft.com/office/drawing/2014/main" id="{310899F3-0969-4417-9245-1E29EC99538D}"/>
              </a:ext>
            </a:extLst>
          </p:cNvPr>
          <p:cNvGrpSpPr/>
          <p:nvPr/>
        </p:nvGrpSpPr>
        <p:grpSpPr>
          <a:xfrm>
            <a:off x="2408940" y="4391288"/>
            <a:ext cx="229085" cy="441782"/>
            <a:chOff x="2842562" y="4885405"/>
            <a:chExt cx="194900" cy="620438"/>
          </a:xfrm>
        </p:grpSpPr>
        <p:cxnSp>
          <p:nvCxnSpPr>
            <p:cNvPr id="116" name="Straight Arrow Connector 115">
              <a:extLst>
                <a:ext uri="{FF2B5EF4-FFF2-40B4-BE49-F238E27FC236}">
                  <a16:creationId xmlns:a16="http://schemas.microsoft.com/office/drawing/2014/main" id="{A002628B-778E-4A81-8D15-56B9F3EA2AAA}"/>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0615A0EB-2139-4577-8BB7-238DB214B934}"/>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10</a:t>
              </a:r>
            </a:p>
          </p:txBody>
        </p:sp>
      </p:grpSp>
      <p:grpSp>
        <p:nvGrpSpPr>
          <p:cNvPr id="118" name="Group 117">
            <a:extLst>
              <a:ext uri="{FF2B5EF4-FFF2-40B4-BE49-F238E27FC236}">
                <a16:creationId xmlns:a16="http://schemas.microsoft.com/office/drawing/2014/main" id="{E9B7D5B3-872F-4EA7-85F2-7D3DB26259AF}"/>
              </a:ext>
            </a:extLst>
          </p:cNvPr>
          <p:cNvGrpSpPr/>
          <p:nvPr/>
        </p:nvGrpSpPr>
        <p:grpSpPr>
          <a:xfrm>
            <a:off x="2240755" y="3472449"/>
            <a:ext cx="260118" cy="534510"/>
            <a:chOff x="2007944" y="4880911"/>
            <a:chExt cx="198908" cy="620438"/>
          </a:xfrm>
        </p:grpSpPr>
        <p:cxnSp>
          <p:nvCxnSpPr>
            <p:cNvPr id="119" name="Straight Arrow Connector 118">
              <a:extLst>
                <a:ext uri="{FF2B5EF4-FFF2-40B4-BE49-F238E27FC236}">
                  <a16:creationId xmlns:a16="http://schemas.microsoft.com/office/drawing/2014/main" id="{CA7F8DF0-624C-4BAB-A3BC-BFE6EF2CA9FE}"/>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8648FC73-FBB5-4C4B-98FE-A28FB4A95E81}"/>
                </a:ext>
              </a:extLst>
            </p:cNvPr>
            <p:cNvSpPr/>
            <p:nvPr/>
          </p:nvSpPr>
          <p:spPr>
            <a:xfrm>
              <a:off x="2007944" y="502948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11</a:t>
              </a:r>
            </a:p>
          </p:txBody>
        </p:sp>
      </p:grpSp>
      <p:grpSp>
        <p:nvGrpSpPr>
          <p:cNvPr id="121" name="Group 120">
            <a:extLst>
              <a:ext uri="{FF2B5EF4-FFF2-40B4-BE49-F238E27FC236}">
                <a16:creationId xmlns:a16="http://schemas.microsoft.com/office/drawing/2014/main" id="{4054627F-8B57-4800-8AD1-BCE0AEB1374B}"/>
              </a:ext>
            </a:extLst>
          </p:cNvPr>
          <p:cNvGrpSpPr/>
          <p:nvPr/>
        </p:nvGrpSpPr>
        <p:grpSpPr>
          <a:xfrm>
            <a:off x="452996" y="4397946"/>
            <a:ext cx="229085" cy="441782"/>
            <a:chOff x="2842562" y="4885405"/>
            <a:chExt cx="194900" cy="620438"/>
          </a:xfrm>
        </p:grpSpPr>
        <p:cxnSp>
          <p:nvCxnSpPr>
            <p:cNvPr id="122" name="Straight Arrow Connector 121">
              <a:extLst>
                <a:ext uri="{FF2B5EF4-FFF2-40B4-BE49-F238E27FC236}">
                  <a16:creationId xmlns:a16="http://schemas.microsoft.com/office/drawing/2014/main" id="{26AC4B86-FA09-4A48-8CF3-3A82052C139E}"/>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179BEBF6-1EED-40BD-8C0B-BBE38DFFD27C}"/>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11</a:t>
              </a:r>
            </a:p>
          </p:txBody>
        </p:sp>
      </p:grpSp>
      <p:sp>
        <p:nvSpPr>
          <p:cNvPr id="26" name="Rectangle: Rounded Corners 25">
            <a:extLst>
              <a:ext uri="{FF2B5EF4-FFF2-40B4-BE49-F238E27FC236}">
                <a16:creationId xmlns:a16="http://schemas.microsoft.com/office/drawing/2014/main" id="{108C1A2C-5086-4801-BC6A-F4BE1ED5088C}"/>
              </a:ext>
            </a:extLst>
          </p:cNvPr>
          <p:cNvSpPr/>
          <p:nvPr/>
        </p:nvSpPr>
        <p:spPr>
          <a:xfrm>
            <a:off x="4475038" y="2146852"/>
            <a:ext cx="4310675" cy="497070"/>
          </a:xfrm>
          <a:prstGeom prst="roundRect">
            <a:avLst>
              <a:gd name="adj" fmla="val 18463"/>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Post Fault Reported – </a:t>
            </a:r>
            <a:r>
              <a:rPr lang="en-GB" sz="1000">
                <a:solidFill>
                  <a:schemeClr val="tx1"/>
                </a:solidFill>
              </a:rPr>
              <a:t>enables the customer to report a fault in the customer portal, which creates a Work Order in FSI.</a:t>
            </a:r>
          </a:p>
        </p:txBody>
      </p:sp>
      <p:sp>
        <p:nvSpPr>
          <p:cNvPr id="25" name="Oval 24">
            <a:extLst>
              <a:ext uri="{FF2B5EF4-FFF2-40B4-BE49-F238E27FC236}">
                <a16:creationId xmlns:a16="http://schemas.microsoft.com/office/drawing/2014/main" id="{AFB43D6F-7809-42B4-A285-6B3A8BB7F9E8}"/>
              </a:ext>
            </a:extLst>
          </p:cNvPr>
          <p:cNvSpPr/>
          <p:nvPr/>
        </p:nvSpPr>
        <p:spPr>
          <a:xfrm>
            <a:off x="4475038" y="2146851"/>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5</a:t>
            </a:r>
          </a:p>
        </p:txBody>
      </p:sp>
      <p:sp>
        <p:nvSpPr>
          <p:cNvPr id="37" name="Rectangle: Rounded Corners 36">
            <a:extLst>
              <a:ext uri="{FF2B5EF4-FFF2-40B4-BE49-F238E27FC236}">
                <a16:creationId xmlns:a16="http://schemas.microsoft.com/office/drawing/2014/main" id="{9B232BFD-B7F9-43E3-A90C-6540CE9C56F3}"/>
              </a:ext>
            </a:extLst>
          </p:cNvPr>
          <p:cNvSpPr/>
          <p:nvPr/>
        </p:nvSpPr>
        <p:spPr>
          <a:xfrm>
            <a:off x="4475038" y="2709302"/>
            <a:ext cx="4310675" cy="497070"/>
          </a:xfrm>
          <a:prstGeom prst="roundRect">
            <a:avLst>
              <a:gd name="adj" fmla="val 20884"/>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List Work Orders (WOs) – </a:t>
            </a:r>
            <a:r>
              <a:rPr lang="en-GB" sz="1000">
                <a:solidFill>
                  <a:schemeClr val="tx1"/>
                </a:solidFill>
              </a:rPr>
              <a:t>enables the Customer Portal and Salesforce to display all open Work Orders a customer has on their property </a:t>
            </a:r>
          </a:p>
        </p:txBody>
      </p:sp>
      <p:sp>
        <p:nvSpPr>
          <p:cNvPr id="38" name="Oval 37">
            <a:extLst>
              <a:ext uri="{FF2B5EF4-FFF2-40B4-BE49-F238E27FC236}">
                <a16:creationId xmlns:a16="http://schemas.microsoft.com/office/drawing/2014/main" id="{E530DFD6-BA86-42EA-B1DF-D5044D5EB896}"/>
              </a:ext>
            </a:extLst>
          </p:cNvPr>
          <p:cNvSpPr/>
          <p:nvPr/>
        </p:nvSpPr>
        <p:spPr>
          <a:xfrm>
            <a:off x="4475038" y="2709301"/>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6</a:t>
            </a:r>
          </a:p>
        </p:txBody>
      </p:sp>
      <p:sp>
        <p:nvSpPr>
          <p:cNvPr id="49" name="Rectangle: Rounded Corners 48">
            <a:extLst>
              <a:ext uri="{FF2B5EF4-FFF2-40B4-BE49-F238E27FC236}">
                <a16:creationId xmlns:a16="http://schemas.microsoft.com/office/drawing/2014/main" id="{DF793013-61E5-4B85-9642-36C6979AB48A}"/>
              </a:ext>
            </a:extLst>
          </p:cNvPr>
          <p:cNvSpPr/>
          <p:nvPr/>
        </p:nvSpPr>
        <p:spPr>
          <a:xfrm>
            <a:off x="4475038" y="3276015"/>
            <a:ext cx="4310675" cy="375614"/>
          </a:xfrm>
          <a:prstGeom prst="roundRect">
            <a:avLst>
              <a:gd name="adj" fmla="val 18464"/>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WO Status Update– </a:t>
            </a:r>
            <a:r>
              <a:rPr lang="en-GB" sz="1000">
                <a:solidFill>
                  <a:schemeClr val="tx1"/>
                </a:solidFill>
              </a:rPr>
              <a:t>enables the Portal and Salesforce to display the level of completion of an outstanding Work Order</a:t>
            </a:r>
          </a:p>
        </p:txBody>
      </p:sp>
      <p:sp>
        <p:nvSpPr>
          <p:cNvPr id="50" name="Oval 49">
            <a:extLst>
              <a:ext uri="{FF2B5EF4-FFF2-40B4-BE49-F238E27FC236}">
                <a16:creationId xmlns:a16="http://schemas.microsoft.com/office/drawing/2014/main" id="{5BB76C22-E543-42F8-9D6A-6A172F4AF036}"/>
              </a:ext>
            </a:extLst>
          </p:cNvPr>
          <p:cNvSpPr/>
          <p:nvPr/>
        </p:nvSpPr>
        <p:spPr>
          <a:xfrm>
            <a:off x="4475038" y="3276014"/>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7</a:t>
            </a:r>
          </a:p>
        </p:txBody>
      </p:sp>
      <p:sp>
        <p:nvSpPr>
          <p:cNvPr id="77" name="Rectangle: Rounded Corners 76">
            <a:extLst>
              <a:ext uri="{FF2B5EF4-FFF2-40B4-BE49-F238E27FC236}">
                <a16:creationId xmlns:a16="http://schemas.microsoft.com/office/drawing/2014/main" id="{1FA516AC-5ADD-44F6-BFBC-98D7259065AF}"/>
              </a:ext>
            </a:extLst>
          </p:cNvPr>
          <p:cNvSpPr/>
          <p:nvPr/>
        </p:nvSpPr>
        <p:spPr>
          <a:xfrm>
            <a:off x="4476591" y="3705327"/>
            <a:ext cx="4310675" cy="497070"/>
          </a:xfrm>
          <a:prstGeom prst="roundRect">
            <a:avLst>
              <a:gd name="adj" fmla="val 16043"/>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WO completed – </a:t>
            </a:r>
            <a:r>
              <a:rPr lang="en-GB" sz="1000">
                <a:solidFill>
                  <a:schemeClr val="tx1"/>
                </a:solidFill>
              </a:rPr>
              <a:t>informs </a:t>
            </a:r>
            <a:r>
              <a:rPr lang="en-GB" sz="1000" err="1">
                <a:solidFill>
                  <a:schemeClr val="tx1"/>
                </a:solidFill>
              </a:rPr>
              <a:t>ProActhis</a:t>
            </a:r>
            <a:r>
              <a:rPr lang="en-GB" sz="1000">
                <a:solidFill>
                  <a:schemeClr val="tx1"/>
                </a:solidFill>
              </a:rPr>
              <a:t> that a WO has been completed in FSI, so ProActis can create a Purchase order (PO) and expect the supplier invoice</a:t>
            </a:r>
          </a:p>
        </p:txBody>
      </p:sp>
      <p:sp>
        <p:nvSpPr>
          <p:cNvPr id="78" name="Oval 77">
            <a:extLst>
              <a:ext uri="{FF2B5EF4-FFF2-40B4-BE49-F238E27FC236}">
                <a16:creationId xmlns:a16="http://schemas.microsoft.com/office/drawing/2014/main" id="{B0CE31D0-6DA1-45DD-8F34-ED6EBD8444B4}"/>
              </a:ext>
            </a:extLst>
          </p:cNvPr>
          <p:cNvSpPr/>
          <p:nvPr/>
        </p:nvSpPr>
        <p:spPr>
          <a:xfrm>
            <a:off x="4476591" y="3705326"/>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8</a:t>
            </a:r>
          </a:p>
        </p:txBody>
      </p:sp>
      <p:sp>
        <p:nvSpPr>
          <p:cNvPr id="125" name="Rectangle: Rounded Corners 124">
            <a:extLst>
              <a:ext uri="{FF2B5EF4-FFF2-40B4-BE49-F238E27FC236}">
                <a16:creationId xmlns:a16="http://schemas.microsoft.com/office/drawing/2014/main" id="{3D2DB699-7512-42B4-9ED5-9E33B43668B0}"/>
              </a:ext>
            </a:extLst>
          </p:cNvPr>
          <p:cNvSpPr/>
          <p:nvPr/>
        </p:nvSpPr>
        <p:spPr>
          <a:xfrm>
            <a:off x="4470767" y="4265633"/>
            <a:ext cx="4310675" cy="497070"/>
          </a:xfrm>
          <a:prstGeom prst="roundRect">
            <a:avLst>
              <a:gd name="adj" fmla="val 16043"/>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Supplier invoice processed – </a:t>
            </a:r>
            <a:r>
              <a:rPr lang="en-GB" sz="1000">
                <a:solidFill>
                  <a:schemeClr val="tx1"/>
                </a:solidFill>
              </a:rPr>
              <a:t>informs MRI that the supplier invoice has been authorised for payment, so MRI can execute the payment</a:t>
            </a:r>
          </a:p>
        </p:txBody>
      </p:sp>
      <p:sp>
        <p:nvSpPr>
          <p:cNvPr id="126" name="Oval 125">
            <a:extLst>
              <a:ext uri="{FF2B5EF4-FFF2-40B4-BE49-F238E27FC236}">
                <a16:creationId xmlns:a16="http://schemas.microsoft.com/office/drawing/2014/main" id="{37992514-ACE7-4DEF-94C8-4E701762A847}"/>
              </a:ext>
            </a:extLst>
          </p:cNvPr>
          <p:cNvSpPr/>
          <p:nvPr/>
        </p:nvSpPr>
        <p:spPr>
          <a:xfrm>
            <a:off x="4470767" y="4265632"/>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9</a:t>
            </a:r>
          </a:p>
        </p:txBody>
      </p:sp>
      <p:sp>
        <p:nvSpPr>
          <p:cNvPr id="128" name="Rectangle: Rounded Corners 127">
            <a:extLst>
              <a:ext uri="{FF2B5EF4-FFF2-40B4-BE49-F238E27FC236}">
                <a16:creationId xmlns:a16="http://schemas.microsoft.com/office/drawing/2014/main" id="{72214CCD-B0F7-422A-B6EA-05F0F8939750}"/>
              </a:ext>
            </a:extLst>
          </p:cNvPr>
          <p:cNvSpPr/>
          <p:nvPr/>
        </p:nvSpPr>
        <p:spPr>
          <a:xfrm>
            <a:off x="4470767" y="4832346"/>
            <a:ext cx="4310675" cy="497070"/>
          </a:xfrm>
          <a:prstGeom prst="roundRect">
            <a:avLst>
              <a:gd name="adj" fmla="val 1362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Supplier Payment Updated – </a:t>
            </a:r>
            <a:r>
              <a:rPr lang="en-GB" sz="1000">
                <a:solidFill>
                  <a:schemeClr val="tx1"/>
                </a:solidFill>
              </a:rPr>
              <a:t>confirms back to FSI and ProActis that the payment has been made to the supplier</a:t>
            </a:r>
          </a:p>
        </p:txBody>
      </p:sp>
      <p:sp>
        <p:nvSpPr>
          <p:cNvPr id="129" name="Oval 128">
            <a:extLst>
              <a:ext uri="{FF2B5EF4-FFF2-40B4-BE49-F238E27FC236}">
                <a16:creationId xmlns:a16="http://schemas.microsoft.com/office/drawing/2014/main" id="{B6A4F7A8-0E7D-4903-A610-2A34AA2F14ED}"/>
              </a:ext>
            </a:extLst>
          </p:cNvPr>
          <p:cNvSpPr/>
          <p:nvPr/>
        </p:nvSpPr>
        <p:spPr>
          <a:xfrm>
            <a:off x="4470767" y="4832345"/>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10</a:t>
            </a:r>
          </a:p>
        </p:txBody>
      </p:sp>
      <p:sp>
        <p:nvSpPr>
          <p:cNvPr id="131" name="Rectangle: Rounded Corners 130">
            <a:extLst>
              <a:ext uri="{FF2B5EF4-FFF2-40B4-BE49-F238E27FC236}">
                <a16:creationId xmlns:a16="http://schemas.microsoft.com/office/drawing/2014/main" id="{A67E2A16-8312-4E50-8CD3-B42721EC26F6}"/>
              </a:ext>
            </a:extLst>
          </p:cNvPr>
          <p:cNvSpPr/>
          <p:nvPr/>
        </p:nvSpPr>
        <p:spPr>
          <a:xfrm>
            <a:off x="4472320" y="5389674"/>
            <a:ext cx="4309122" cy="435681"/>
          </a:xfrm>
          <a:prstGeom prst="roundRect">
            <a:avLst>
              <a:gd name="adj" fmla="val 20884"/>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Supplier Suspended – </a:t>
            </a:r>
            <a:r>
              <a:rPr lang="en-GB" sz="1000">
                <a:solidFill>
                  <a:schemeClr val="tx1"/>
                </a:solidFill>
              </a:rPr>
              <a:t>when a PM suspends a supplier using the FSI system, that status is updated in the MRI system</a:t>
            </a:r>
          </a:p>
        </p:txBody>
      </p:sp>
      <p:sp>
        <p:nvSpPr>
          <p:cNvPr id="132" name="Oval 131">
            <a:extLst>
              <a:ext uri="{FF2B5EF4-FFF2-40B4-BE49-F238E27FC236}">
                <a16:creationId xmlns:a16="http://schemas.microsoft.com/office/drawing/2014/main" id="{F74C4BF1-D33A-47D6-A8A4-FE4A42DA0D96}"/>
              </a:ext>
            </a:extLst>
          </p:cNvPr>
          <p:cNvSpPr/>
          <p:nvPr/>
        </p:nvSpPr>
        <p:spPr>
          <a:xfrm>
            <a:off x="4472320" y="5389673"/>
            <a:ext cx="194900" cy="1944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11</a:t>
            </a:r>
          </a:p>
        </p:txBody>
      </p:sp>
      <p:grpSp>
        <p:nvGrpSpPr>
          <p:cNvPr id="73" name="Group 72">
            <a:extLst>
              <a:ext uri="{FF2B5EF4-FFF2-40B4-BE49-F238E27FC236}">
                <a16:creationId xmlns:a16="http://schemas.microsoft.com/office/drawing/2014/main" id="{0ED1DBE4-868A-4628-995D-9F08C86C3ED4}"/>
              </a:ext>
            </a:extLst>
          </p:cNvPr>
          <p:cNvGrpSpPr/>
          <p:nvPr/>
        </p:nvGrpSpPr>
        <p:grpSpPr>
          <a:xfrm>
            <a:off x="289244" y="5418280"/>
            <a:ext cx="3649649" cy="878439"/>
            <a:chOff x="289244" y="5418280"/>
            <a:chExt cx="3649649" cy="878439"/>
          </a:xfrm>
        </p:grpSpPr>
        <p:sp>
          <p:nvSpPr>
            <p:cNvPr id="74" name="Rectangle 73">
              <a:extLst>
                <a:ext uri="{FF2B5EF4-FFF2-40B4-BE49-F238E27FC236}">
                  <a16:creationId xmlns:a16="http://schemas.microsoft.com/office/drawing/2014/main" id="{C8C8027B-C344-4BB4-9E06-989281EAC73A}"/>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5" name="Group 74">
              <a:extLst>
                <a:ext uri="{FF2B5EF4-FFF2-40B4-BE49-F238E27FC236}">
                  <a16:creationId xmlns:a16="http://schemas.microsoft.com/office/drawing/2014/main" id="{A0F5DD0D-A9DD-4F55-8825-2EEB49511E12}"/>
                </a:ext>
              </a:extLst>
            </p:cNvPr>
            <p:cNvGrpSpPr/>
            <p:nvPr/>
          </p:nvGrpSpPr>
          <p:grpSpPr>
            <a:xfrm>
              <a:off x="361773" y="5476571"/>
              <a:ext cx="3444371" cy="250772"/>
              <a:chOff x="-1487335" y="2073671"/>
              <a:chExt cx="3503665" cy="250772"/>
            </a:xfrm>
          </p:grpSpPr>
          <p:cxnSp>
            <p:nvCxnSpPr>
              <p:cNvPr id="88" name="Straight Arrow Connector 87">
                <a:extLst>
                  <a:ext uri="{FF2B5EF4-FFF2-40B4-BE49-F238E27FC236}">
                    <a16:creationId xmlns:a16="http://schemas.microsoft.com/office/drawing/2014/main" id="{13EF62A9-D23C-448E-9A71-F5754ECC03EA}"/>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CB7F7BD7-B801-44D6-B536-0BAF92007B8B}"/>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0AF70692-020A-4AAE-A532-38BB41FAE0D2}"/>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91" name="TextBox 90">
                <a:extLst>
                  <a:ext uri="{FF2B5EF4-FFF2-40B4-BE49-F238E27FC236}">
                    <a16:creationId xmlns:a16="http://schemas.microsoft.com/office/drawing/2014/main" id="{2F215906-F53D-40DB-A75F-DEEEB6FC34A8}"/>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92" name="TextBox 91">
                <a:extLst>
                  <a:ext uri="{FF2B5EF4-FFF2-40B4-BE49-F238E27FC236}">
                    <a16:creationId xmlns:a16="http://schemas.microsoft.com/office/drawing/2014/main" id="{A9763A9E-BEBA-477A-9EBE-BE0B23E13349}"/>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grpSp>
      <p:grpSp>
        <p:nvGrpSpPr>
          <p:cNvPr id="100" name="Group 99">
            <a:extLst>
              <a:ext uri="{FF2B5EF4-FFF2-40B4-BE49-F238E27FC236}">
                <a16:creationId xmlns:a16="http://schemas.microsoft.com/office/drawing/2014/main" id="{1C597112-0A31-45FA-B708-54733D7B6225}"/>
              </a:ext>
            </a:extLst>
          </p:cNvPr>
          <p:cNvGrpSpPr/>
          <p:nvPr/>
        </p:nvGrpSpPr>
        <p:grpSpPr>
          <a:xfrm>
            <a:off x="3382583" y="4386983"/>
            <a:ext cx="229085" cy="441782"/>
            <a:chOff x="2009948" y="4880911"/>
            <a:chExt cx="194900" cy="620438"/>
          </a:xfrm>
        </p:grpSpPr>
        <p:cxnSp>
          <p:nvCxnSpPr>
            <p:cNvPr id="124" name="Straight Arrow Connector 123">
              <a:extLst>
                <a:ext uri="{FF2B5EF4-FFF2-40B4-BE49-F238E27FC236}">
                  <a16:creationId xmlns:a16="http://schemas.microsoft.com/office/drawing/2014/main" id="{48DA1C72-1F58-4B76-B70B-BE410982D1B1}"/>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4065F66C-1F64-4097-82B6-ED3DFF650269}"/>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32</a:t>
              </a:r>
            </a:p>
          </p:txBody>
        </p:sp>
      </p:grpSp>
      <p:grpSp>
        <p:nvGrpSpPr>
          <p:cNvPr id="130" name="Group 129">
            <a:extLst>
              <a:ext uri="{FF2B5EF4-FFF2-40B4-BE49-F238E27FC236}">
                <a16:creationId xmlns:a16="http://schemas.microsoft.com/office/drawing/2014/main" id="{02BEA427-26D9-4920-BDDA-B08058520C50}"/>
              </a:ext>
            </a:extLst>
          </p:cNvPr>
          <p:cNvGrpSpPr/>
          <p:nvPr/>
        </p:nvGrpSpPr>
        <p:grpSpPr>
          <a:xfrm>
            <a:off x="1698736" y="4399624"/>
            <a:ext cx="229085" cy="441782"/>
            <a:chOff x="2379533" y="4885405"/>
            <a:chExt cx="194900" cy="620438"/>
          </a:xfrm>
        </p:grpSpPr>
        <p:cxnSp>
          <p:nvCxnSpPr>
            <p:cNvPr id="133" name="Straight Arrow Connector 132">
              <a:extLst>
                <a:ext uri="{FF2B5EF4-FFF2-40B4-BE49-F238E27FC236}">
                  <a16:creationId xmlns:a16="http://schemas.microsoft.com/office/drawing/2014/main" id="{E20A33F4-3197-49C9-910B-8509DD770C68}"/>
                </a:ext>
              </a:extLst>
            </p:cNvPr>
            <p:cNvCxnSpPr>
              <a:cxnSpLocks/>
            </p:cNvCxnSpPr>
            <p:nvPr/>
          </p:nvCxnSpPr>
          <p:spPr>
            <a:xfrm>
              <a:off x="2476983"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2154256C-87C8-4517-86D8-64E7F8D4545C}"/>
                </a:ext>
              </a:extLst>
            </p:cNvPr>
            <p:cNvSpPr/>
            <p:nvPr/>
          </p:nvSpPr>
          <p:spPr>
            <a:xfrm>
              <a:off x="2379533"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32</a:t>
              </a:r>
            </a:p>
          </p:txBody>
        </p:sp>
      </p:grpSp>
      <p:sp>
        <p:nvSpPr>
          <p:cNvPr id="135" name="Rectangle: Rounded Corners 134">
            <a:extLst>
              <a:ext uri="{FF2B5EF4-FFF2-40B4-BE49-F238E27FC236}">
                <a16:creationId xmlns:a16="http://schemas.microsoft.com/office/drawing/2014/main" id="{D8EA0689-96B4-43E1-B50F-00D5C8A10E16}"/>
              </a:ext>
            </a:extLst>
          </p:cNvPr>
          <p:cNvSpPr/>
          <p:nvPr/>
        </p:nvSpPr>
        <p:spPr>
          <a:xfrm>
            <a:off x="4472320" y="5879592"/>
            <a:ext cx="4309122" cy="413588"/>
          </a:xfrm>
          <a:prstGeom prst="roundRect">
            <a:avLst>
              <a:gd name="adj" fmla="val 20884"/>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Purchase Order Upserted – </a:t>
            </a:r>
            <a:r>
              <a:rPr lang="en-GB" sz="1000">
                <a:solidFill>
                  <a:schemeClr val="tx1"/>
                </a:solidFill>
              </a:rPr>
              <a:t>ProActis sends updates on a Purchase order to the Job Costing Module in MRI</a:t>
            </a:r>
          </a:p>
        </p:txBody>
      </p:sp>
      <p:sp>
        <p:nvSpPr>
          <p:cNvPr id="136" name="Oval 135">
            <a:extLst>
              <a:ext uri="{FF2B5EF4-FFF2-40B4-BE49-F238E27FC236}">
                <a16:creationId xmlns:a16="http://schemas.microsoft.com/office/drawing/2014/main" id="{DC766FF9-C579-4180-9AFF-8EC7447744E7}"/>
              </a:ext>
            </a:extLst>
          </p:cNvPr>
          <p:cNvSpPr/>
          <p:nvPr/>
        </p:nvSpPr>
        <p:spPr>
          <a:xfrm>
            <a:off x="4470766" y="5882156"/>
            <a:ext cx="220105" cy="207747"/>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32</a:t>
            </a:r>
          </a:p>
        </p:txBody>
      </p:sp>
      <p:sp>
        <p:nvSpPr>
          <p:cNvPr id="93" name="Rectangle: Rounded Corners 92">
            <a:extLst>
              <a:ext uri="{FF2B5EF4-FFF2-40B4-BE49-F238E27FC236}">
                <a16:creationId xmlns:a16="http://schemas.microsoft.com/office/drawing/2014/main" id="{8997B73C-27F0-47C6-B825-C0F52FF28E08}"/>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97" name="Rectangle: Rounded Corners 96">
            <a:extLst>
              <a:ext uri="{FF2B5EF4-FFF2-40B4-BE49-F238E27FC236}">
                <a16:creationId xmlns:a16="http://schemas.microsoft.com/office/drawing/2014/main" id="{90867A9D-CA24-4D5E-BCC5-B7F68101B758}"/>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99" name="Rectangle: Rounded Corners 98">
            <a:extLst>
              <a:ext uri="{FF2B5EF4-FFF2-40B4-BE49-F238E27FC236}">
                <a16:creationId xmlns:a16="http://schemas.microsoft.com/office/drawing/2014/main" id="{63AC45F5-D930-466B-8F71-C671D0BB9FAB}"/>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spTree>
    <p:extLst>
      <p:ext uri="{BB962C8B-B14F-4D97-AF65-F5344CB8AC3E}">
        <p14:creationId xmlns:p14="http://schemas.microsoft.com/office/powerpoint/2010/main" val="29145556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Rounded Corners 70">
            <a:extLst>
              <a:ext uri="{FF2B5EF4-FFF2-40B4-BE49-F238E27FC236}">
                <a16:creationId xmlns:a16="http://schemas.microsoft.com/office/drawing/2014/main" id="{AB8BBC45-4093-4FCB-B30B-A6CB15B08BE1}"/>
              </a:ext>
            </a:extLst>
          </p:cNvPr>
          <p:cNvSpPr/>
          <p:nvPr/>
        </p:nvSpPr>
        <p:spPr>
          <a:xfrm>
            <a:off x="4310608" y="2625721"/>
            <a:ext cx="4415885" cy="527244"/>
          </a:xfrm>
          <a:prstGeom prst="roundRect">
            <a:avLst>
              <a:gd name="adj" fmla="val 18258"/>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Payment integrations</a:t>
            </a:r>
          </a:p>
        </p:txBody>
      </p:sp>
      <p:grpSp>
        <p:nvGrpSpPr>
          <p:cNvPr id="6" name="Group 5">
            <a:extLst>
              <a:ext uri="{FF2B5EF4-FFF2-40B4-BE49-F238E27FC236}">
                <a16:creationId xmlns:a16="http://schemas.microsoft.com/office/drawing/2014/main" id="{5009A7BF-2D0C-415D-959D-D1497E39156F}"/>
              </a:ext>
            </a:extLst>
          </p:cNvPr>
          <p:cNvGrpSpPr/>
          <p:nvPr/>
        </p:nvGrpSpPr>
        <p:grpSpPr>
          <a:xfrm>
            <a:off x="358775" y="3092435"/>
            <a:ext cx="3507169" cy="2222264"/>
            <a:chOff x="358775" y="2635327"/>
            <a:chExt cx="8426450" cy="2222264"/>
          </a:xfrm>
        </p:grpSpPr>
        <p:sp>
          <p:nvSpPr>
            <p:cNvPr id="4" name="Rectangle 3">
              <a:extLst>
                <a:ext uri="{FF2B5EF4-FFF2-40B4-BE49-F238E27FC236}">
                  <a16:creationId xmlns:a16="http://schemas.microsoft.com/office/drawing/2014/main" id="{0DE607AF-664A-44FB-B95F-F1178AD57902}"/>
                </a:ext>
              </a:extLst>
            </p:cNvPr>
            <p:cNvSpPr/>
            <p:nvPr/>
          </p:nvSpPr>
          <p:spPr>
            <a:xfrm>
              <a:off x="358775" y="3538892"/>
              <a:ext cx="8426450" cy="377505"/>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5" name="Rectangle 4">
              <a:extLst>
                <a:ext uri="{FF2B5EF4-FFF2-40B4-BE49-F238E27FC236}">
                  <a16:creationId xmlns:a16="http://schemas.microsoft.com/office/drawing/2014/main" id="{E4AD130D-F7AC-4F71-8DE2-D9C5A063B6C3}"/>
                </a:ext>
              </a:extLst>
            </p:cNvPr>
            <p:cNvSpPr/>
            <p:nvPr/>
          </p:nvSpPr>
          <p:spPr>
            <a:xfrm>
              <a:off x="562060" y="4426945"/>
              <a:ext cx="8019838" cy="43064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1" name="Rectangle 10">
              <a:extLst>
                <a:ext uri="{FF2B5EF4-FFF2-40B4-BE49-F238E27FC236}">
                  <a16:creationId xmlns:a16="http://schemas.microsoft.com/office/drawing/2014/main" id="{0B37F336-8A85-4EDB-A255-C521100DBCBE}"/>
                </a:ext>
              </a:extLst>
            </p:cNvPr>
            <p:cNvSpPr/>
            <p:nvPr/>
          </p:nvSpPr>
          <p:spPr>
            <a:xfrm>
              <a:off x="5344485" y="2636312"/>
              <a:ext cx="3237451" cy="43064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Comms platform</a:t>
              </a:r>
            </a:p>
          </p:txBody>
        </p:sp>
        <p:sp>
          <p:nvSpPr>
            <p:cNvPr id="12" name="Rectangle 11">
              <a:extLst>
                <a:ext uri="{FF2B5EF4-FFF2-40B4-BE49-F238E27FC236}">
                  <a16:creationId xmlns:a16="http://schemas.microsoft.com/office/drawing/2014/main" id="{AF0D2BFC-6FDA-40C3-AC14-15875ECA52AB}"/>
                </a:ext>
              </a:extLst>
            </p:cNvPr>
            <p:cNvSpPr/>
            <p:nvPr/>
          </p:nvSpPr>
          <p:spPr>
            <a:xfrm>
              <a:off x="562917" y="2635327"/>
              <a:ext cx="3237451" cy="43064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Salesforce</a:t>
              </a:r>
            </a:p>
          </p:txBody>
        </p:sp>
      </p:grpSp>
      <p:grpSp>
        <p:nvGrpSpPr>
          <p:cNvPr id="69" name="Group 68">
            <a:extLst>
              <a:ext uri="{FF2B5EF4-FFF2-40B4-BE49-F238E27FC236}">
                <a16:creationId xmlns:a16="http://schemas.microsoft.com/office/drawing/2014/main" id="{F47AE2E0-DCA7-4730-8852-E7BE49266EB7}"/>
              </a:ext>
            </a:extLst>
          </p:cNvPr>
          <p:cNvGrpSpPr/>
          <p:nvPr/>
        </p:nvGrpSpPr>
        <p:grpSpPr>
          <a:xfrm>
            <a:off x="606127" y="3521407"/>
            <a:ext cx="273213" cy="511003"/>
            <a:chOff x="2379533" y="3875780"/>
            <a:chExt cx="194900" cy="620438"/>
          </a:xfrm>
        </p:grpSpPr>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247698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2379533" y="4114473"/>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12</a:t>
              </a:r>
            </a:p>
          </p:txBody>
        </p:sp>
      </p:grpSp>
      <p:grpSp>
        <p:nvGrpSpPr>
          <p:cNvPr id="64" name="Group 63">
            <a:extLst>
              <a:ext uri="{FF2B5EF4-FFF2-40B4-BE49-F238E27FC236}">
                <a16:creationId xmlns:a16="http://schemas.microsoft.com/office/drawing/2014/main" id="{B891E9AF-58A1-47E2-BEEF-5381BE6B2A81}"/>
              </a:ext>
            </a:extLst>
          </p:cNvPr>
          <p:cNvGrpSpPr/>
          <p:nvPr/>
        </p:nvGrpSpPr>
        <p:grpSpPr>
          <a:xfrm>
            <a:off x="944822" y="4367358"/>
            <a:ext cx="273213" cy="511003"/>
            <a:chOff x="2379533" y="4885405"/>
            <a:chExt cx="194900" cy="620438"/>
          </a:xfrm>
        </p:grpSpPr>
        <p:cxnSp>
          <p:nvCxnSpPr>
            <p:cNvPr id="20" name="Straight Arrow Connector 19">
              <a:extLst>
                <a:ext uri="{FF2B5EF4-FFF2-40B4-BE49-F238E27FC236}">
                  <a16:creationId xmlns:a16="http://schemas.microsoft.com/office/drawing/2014/main" id="{EB153B82-3E53-4CF6-8079-8E5F59595923}"/>
                </a:ext>
              </a:extLst>
            </p:cNvPr>
            <p:cNvCxnSpPr>
              <a:cxnSpLocks/>
            </p:cNvCxnSpPr>
            <p:nvPr/>
          </p:nvCxnSpPr>
          <p:spPr>
            <a:xfrm>
              <a:off x="2476983"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D092F46-5AF0-4CC9-A73D-063924A66E54}"/>
                </a:ext>
              </a:extLst>
            </p:cNvPr>
            <p:cNvSpPr/>
            <p:nvPr/>
          </p:nvSpPr>
          <p:spPr>
            <a:xfrm>
              <a:off x="2379533"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13</a:t>
              </a:r>
            </a:p>
          </p:txBody>
        </p:sp>
      </p:grpSp>
      <p:sp>
        <p:nvSpPr>
          <p:cNvPr id="79" name="Content Placeholder 5">
            <a:extLst>
              <a:ext uri="{FF2B5EF4-FFF2-40B4-BE49-F238E27FC236}">
                <a16:creationId xmlns:a16="http://schemas.microsoft.com/office/drawing/2014/main" id="{2D1B1027-62A0-411E-9CBA-332ECB4A0CC8}"/>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The payments integrations will be mostly in place for day 1, fulfilling the aim to handle standard payments with minimal human intervention, by ensuring all information MRI needs to allocate the payments is transferred together with the payment itself. A few enhancements can be done post go-live to update Direct Debit instructions automatically for rent reviews, payment plans and one-off charges.</a:t>
            </a:r>
          </a:p>
        </p:txBody>
      </p:sp>
      <p:grpSp>
        <p:nvGrpSpPr>
          <p:cNvPr id="103" name="Group 102">
            <a:extLst>
              <a:ext uri="{FF2B5EF4-FFF2-40B4-BE49-F238E27FC236}">
                <a16:creationId xmlns:a16="http://schemas.microsoft.com/office/drawing/2014/main" id="{C3B5B2F8-CD9D-49D9-A939-E8A87C15F4B8}"/>
              </a:ext>
            </a:extLst>
          </p:cNvPr>
          <p:cNvGrpSpPr/>
          <p:nvPr/>
        </p:nvGrpSpPr>
        <p:grpSpPr>
          <a:xfrm>
            <a:off x="937926" y="3513291"/>
            <a:ext cx="278831" cy="511003"/>
            <a:chOff x="2007944" y="4880911"/>
            <a:chExt cx="198908" cy="620438"/>
          </a:xfrm>
        </p:grpSpPr>
        <p:cxnSp>
          <p:nvCxnSpPr>
            <p:cNvPr id="104" name="Straight Arrow Connector 103">
              <a:extLst>
                <a:ext uri="{FF2B5EF4-FFF2-40B4-BE49-F238E27FC236}">
                  <a16:creationId xmlns:a16="http://schemas.microsoft.com/office/drawing/2014/main" id="{1D741AF3-2F6A-46FF-857D-BE502F7F1425}"/>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D278BFCF-422E-4CB1-869A-338C807FC980}"/>
                </a:ext>
              </a:extLst>
            </p:cNvPr>
            <p:cNvSpPr/>
            <p:nvPr/>
          </p:nvSpPr>
          <p:spPr>
            <a:xfrm>
              <a:off x="2007944" y="502948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13</a:t>
              </a:r>
            </a:p>
          </p:txBody>
        </p:sp>
      </p:grpSp>
      <p:grpSp>
        <p:nvGrpSpPr>
          <p:cNvPr id="112" name="Group 111">
            <a:extLst>
              <a:ext uri="{FF2B5EF4-FFF2-40B4-BE49-F238E27FC236}">
                <a16:creationId xmlns:a16="http://schemas.microsoft.com/office/drawing/2014/main" id="{B5721674-4819-44D7-B820-CBB0862A5117}"/>
              </a:ext>
            </a:extLst>
          </p:cNvPr>
          <p:cNvGrpSpPr/>
          <p:nvPr/>
        </p:nvGrpSpPr>
        <p:grpSpPr>
          <a:xfrm>
            <a:off x="611093" y="4367358"/>
            <a:ext cx="273213" cy="511003"/>
            <a:chOff x="2009948" y="4880911"/>
            <a:chExt cx="194900" cy="620438"/>
          </a:xfrm>
        </p:grpSpPr>
        <p:cxnSp>
          <p:nvCxnSpPr>
            <p:cNvPr id="113" name="Straight Arrow Connector 112">
              <a:extLst>
                <a:ext uri="{FF2B5EF4-FFF2-40B4-BE49-F238E27FC236}">
                  <a16:creationId xmlns:a16="http://schemas.microsoft.com/office/drawing/2014/main" id="{08C182A7-37C1-46D4-A378-9F69BDAECDEC}"/>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38FEF46D-9486-4E96-B243-75E76BF6446D}"/>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12</a:t>
              </a:r>
            </a:p>
          </p:txBody>
        </p:sp>
      </p:grpSp>
      <p:grpSp>
        <p:nvGrpSpPr>
          <p:cNvPr id="118" name="Group 117">
            <a:extLst>
              <a:ext uri="{FF2B5EF4-FFF2-40B4-BE49-F238E27FC236}">
                <a16:creationId xmlns:a16="http://schemas.microsoft.com/office/drawing/2014/main" id="{E9B7D5B3-872F-4EA7-85F2-7D3DB26259AF}"/>
              </a:ext>
            </a:extLst>
          </p:cNvPr>
          <p:cNvGrpSpPr/>
          <p:nvPr/>
        </p:nvGrpSpPr>
        <p:grpSpPr>
          <a:xfrm>
            <a:off x="939975" y="2683046"/>
            <a:ext cx="198908" cy="428096"/>
            <a:chOff x="2007944" y="4880911"/>
            <a:chExt cx="198908" cy="428096"/>
          </a:xfrm>
        </p:grpSpPr>
        <p:cxnSp>
          <p:nvCxnSpPr>
            <p:cNvPr id="119" name="Straight Arrow Connector 118">
              <a:extLst>
                <a:ext uri="{FF2B5EF4-FFF2-40B4-BE49-F238E27FC236}">
                  <a16:creationId xmlns:a16="http://schemas.microsoft.com/office/drawing/2014/main" id="{CA7F8DF0-624C-4BAB-A3BC-BFE6EF2CA9FE}"/>
                </a:ext>
              </a:extLst>
            </p:cNvPr>
            <p:cNvCxnSpPr>
              <a:cxnSpLocks/>
            </p:cNvCxnSpPr>
            <p:nvPr/>
          </p:nvCxnSpPr>
          <p:spPr>
            <a:xfrm flipV="1">
              <a:off x="2107398" y="4880911"/>
              <a:ext cx="0" cy="428096"/>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8648FC73-FBB5-4C4B-98FE-A28FB4A95E81}"/>
                </a:ext>
              </a:extLst>
            </p:cNvPr>
            <p:cNvSpPr/>
            <p:nvPr/>
          </p:nvSpPr>
          <p:spPr>
            <a:xfrm>
              <a:off x="2007944" y="490916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13</a:t>
              </a:r>
            </a:p>
          </p:txBody>
        </p:sp>
      </p:grpSp>
      <p:sp>
        <p:nvSpPr>
          <p:cNvPr id="74" name="Rectangle 73">
            <a:extLst>
              <a:ext uri="{FF2B5EF4-FFF2-40B4-BE49-F238E27FC236}">
                <a16:creationId xmlns:a16="http://schemas.microsoft.com/office/drawing/2014/main" id="{9FB5B09F-2BBB-440A-B8A1-622FB226DBF6}"/>
              </a:ext>
            </a:extLst>
          </p:cNvPr>
          <p:cNvSpPr/>
          <p:nvPr/>
        </p:nvSpPr>
        <p:spPr>
          <a:xfrm>
            <a:off x="471419" y="2199326"/>
            <a:ext cx="1102675" cy="465814"/>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err="1">
                <a:latin typeface="+mj-lt"/>
              </a:rPr>
              <a:t>Asperato</a:t>
            </a:r>
            <a:endParaRPr lang="en-GB" sz="1200">
              <a:latin typeface="+mj-lt"/>
            </a:endParaRPr>
          </a:p>
        </p:txBody>
      </p:sp>
      <p:grpSp>
        <p:nvGrpSpPr>
          <p:cNvPr id="75" name="Group 74">
            <a:extLst>
              <a:ext uri="{FF2B5EF4-FFF2-40B4-BE49-F238E27FC236}">
                <a16:creationId xmlns:a16="http://schemas.microsoft.com/office/drawing/2014/main" id="{5EA4FBA6-9E5C-478D-A872-E40D3CE77DA8}"/>
              </a:ext>
            </a:extLst>
          </p:cNvPr>
          <p:cNvGrpSpPr/>
          <p:nvPr/>
        </p:nvGrpSpPr>
        <p:grpSpPr>
          <a:xfrm>
            <a:off x="606902" y="2660225"/>
            <a:ext cx="194900" cy="434708"/>
            <a:chOff x="2379533" y="3875780"/>
            <a:chExt cx="194900" cy="434708"/>
          </a:xfrm>
        </p:grpSpPr>
        <p:cxnSp>
          <p:nvCxnSpPr>
            <p:cNvPr id="76" name="Straight Arrow Connector 75">
              <a:extLst>
                <a:ext uri="{FF2B5EF4-FFF2-40B4-BE49-F238E27FC236}">
                  <a16:creationId xmlns:a16="http://schemas.microsoft.com/office/drawing/2014/main" id="{419FAC68-414C-418C-B84C-3A29891C3BA1}"/>
                </a:ext>
              </a:extLst>
            </p:cNvPr>
            <p:cNvCxnSpPr>
              <a:cxnSpLocks/>
            </p:cNvCxnSpPr>
            <p:nvPr/>
          </p:nvCxnSpPr>
          <p:spPr>
            <a:xfrm flipV="1">
              <a:off x="2476983" y="3875780"/>
              <a:ext cx="0" cy="43470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78F0306F-20BB-4F73-890A-81589857EB86}"/>
                </a:ext>
              </a:extLst>
            </p:cNvPr>
            <p:cNvSpPr/>
            <p:nvPr/>
          </p:nvSpPr>
          <p:spPr>
            <a:xfrm>
              <a:off x="2379533" y="4018217"/>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12</a:t>
              </a:r>
            </a:p>
          </p:txBody>
        </p:sp>
      </p:grpSp>
      <p:sp>
        <p:nvSpPr>
          <p:cNvPr id="130" name="Rectangle 129">
            <a:extLst>
              <a:ext uri="{FF2B5EF4-FFF2-40B4-BE49-F238E27FC236}">
                <a16:creationId xmlns:a16="http://schemas.microsoft.com/office/drawing/2014/main" id="{8C65CC9B-03D1-4F79-A9CD-CF360471D8F2}"/>
              </a:ext>
            </a:extLst>
          </p:cNvPr>
          <p:cNvSpPr/>
          <p:nvPr/>
        </p:nvSpPr>
        <p:spPr>
          <a:xfrm>
            <a:off x="1682648" y="2210090"/>
            <a:ext cx="1102675" cy="465814"/>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a:latin typeface="+mj-lt"/>
              </a:rPr>
              <a:t>GoCardless</a:t>
            </a:r>
          </a:p>
        </p:txBody>
      </p:sp>
      <p:grpSp>
        <p:nvGrpSpPr>
          <p:cNvPr id="133" name="Group 132">
            <a:extLst>
              <a:ext uri="{FF2B5EF4-FFF2-40B4-BE49-F238E27FC236}">
                <a16:creationId xmlns:a16="http://schemas.microsoft.com/office/drawing/2014/main" id="{E95664EB-095E-46BA-9CAD-C6A73D8494DC}"/>
              </a:ext>
            </a:extLst>
          </p:cNvPr>
          <p:cNvGrpSpPr/>
          <p:nvPr/>
        </p:nvGrpSpPr>
        <p:grpSpPr>
          <a:xfrm>
            <a:off x="2045078" y="2675904"/>
            <a:ext cx="198908" cy="1335964"/>
            <a:chOff x="2007944" y="5278605"/>
            <a:chExt cx="198908" cy="1335964"/>
          </a:xfrm>
        </p:grpSpPr>
        <p:cxnSp>
          <p:nvCxnSpPr>
            <p:cNvPr id="134" name="Straight Arrow Connector 133">
              <a:extLst>
                <a:ext uri="{FF2B5EF4-FFF2-40B4-BE49-F238E27FC236}">
                  <a16:creationId xmlns:a16="http://schemas.microsoft.com/office/drawing/2014/main" id="{EDB1B58A-C8E4-427D-A78F-3E17EB02D4E4}"/>
                </a:ext>
              </a:extLst>
            </p:cNvPr>
            <p:cNvCxnSpPr>
              <a:cxnSpLocks/>
            </p:cNvCxnSpPr>
            <p:nvPr/>
          </p:nvCxnSpPr>
          <p:spPr>
            <a:xfrm flipV="1">
              <a:off x="2107398" y="5278605"/>
              <a:ext cx="0" cy="1335964"/>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35" name="Oval 134">
              <a:extLst>
                <a:ext uri="{FF2B5EF4-FFF2-40B4-BE49-F238E27FC236}">
                  <a16:creationId xmlns:a16="http://schemas.microsoft.com/office/drawing/2014/main" id="{9FA8D46A-EF42-4153-AF20-66AF65C6F664}"/>
                </a:ext>
              </a:extLst>
            </p:cNvPr>
            <p:cNvSpPr/>
            <p:nvPr/>
          </p:nvSpPr>
          <p:spPr>
            <a:xfrm>
              <a:off x="2007944" y="6154193"/>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14</a:t>
              </a:r>
            </a:p>
          </p:txBody>
        </p:sp>
      </p:grpSp>
      <p:grpSp>
        <p:nvGrpSpPr>
          <p:cNvPr id="136" name="Group 135">
            <a:extLst>
              <a:ext uri="{FF2B5EF4-FFF2-40B4-BE49-F238E27FC236}">
                <a16:creationId xmlns:a16="http://schemas.microsoft.com/office/drawing/2014/main" id="{B06F90D2-EC2B-49E3-AE9B-FA57E2FCE2DA}"/>
              </a:ext>
            </a:extLst>
          </p:cNvPr>
          <p:cNvGrpSpPr/>
          <p:nvPr/>
        </p:nvGrpSpPr>
        <p:grpSpPr>
          <a:xfrm>
            <a:off x="3015038" y="3521407"/>
            <a:ext cx="273213" cy="511003"/>
            <a:chOff x="2379533" y="3875780"/>
            <a:chExt cx="194900" cy="620438"/>
          </a:xfrm>
        </p:grpSpPr>
        <p:cxnSp>
          <p:nvCxnSpPr>
            <p:cNvPr id="137" name="Straight Arrow Connector 136">
              <a:extLst>
                <a:ext uri="{FF2B5EF4-FFF2-40B4-BE49-F238E27FC236}">
                  <a16:creationId xmlns:a16="http://schemas.microsoft.com/office/drawing/2014/main" id="{2932C6DE-D98B-499E-A7BE-B8FA2101EC7B}"/>
                </a:ext>
              </a:extLst>
            </p:cNvPr>
            <p:cNvCxnSpPr>
              <a:cxnSpLocks/>
            </p:cNvCxnSpPr>
            <p:nvPr/>
          </p:nvCxnSpPr>
          <p:spPr>
            <a:xfrm flipV="1">
              <a:off x="247698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8" name="Oval 137">
              <a:extLst>
                <a:ext uri="{FF2B5EF4-FFF2-40B4-BE49-F238E27FC236}">
                  <a16:creationId xmlns:a16="http://schemas.microsoft.com/office/drawing/2014/main" id="{5F889BE3-C51C-4F64-8BC2-1457F8DAEFA1}"/>
                </a:ext>
              </a:extLst>
            </p:cNvPr>
            <p:cNvSpPr/>
            <p:nvPr/>
          </p:nvSpPr>
          <p:spPr>
            <a:xfrm>
              <a:off x="2379533" y="4114473"/>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14</a:t>
              </a:r>
            </a:p>
          </p:txBody>
        </p:sp>
      </p:grpSp>
      <p:grpSp>
        <p:nvGrpSpPr>
          <p:cNvPr id="139" name="Group 138">
            <a:extLst>
              <a:ext uri="{FF2B5EF4-FFF2-40B4-BE49-F238E27FC236}">
                <a16:creationId xmlns:a16="http://schemas.microsoft.com/office/drawing/2014/main" id="{DF20A007-3D16-434F-8091-85D9459CB54B}"/>
              </a:ext>
            </a:extLst>
          </p:cNvPr>
          <p:cNvGrpSpPr/>
          <p:nvPr/>
        </p:nvGrpSpPr>
        <p:grpSpPr>
          <a:xfrm>
            <a:off x="1282516" y="4367358"/>
            <a:ext cx="273213" cy="511003"/>
            <a:chOff x="2379533" y="4885405"/>
            <a:chExt cx="194900" cy="620438"/>
          </a:xfrm>
        </p:grpSpPr>
        <p:cxnSp>
          <p:nvCxnSpPr>
            <p:cNvPr id="140" name="Straight Arrow Connector 139">
              <a:extLst>
                <a:ext uri="{FF2B5EF4-FFF2-40B4-BE49-F238E27FC236}">
                  <a16:creationId xmlns:a16="http://schemas.microsoft.com/office/drawing/2014/main" id="{E7CAC146-FBC4-455B-9C58-0EF167F14A13}"/>
                </a:ext>
              </a:extLst>
            </p:cNvPr>
            <p:cNvCxnSpPr>
              <a:cxnSpLocks/>
            </p:cNvCxnSpPr>
            <p:nvPr/>
          </p:nvCxnSpPr>
          <p:spPr>
            <a:xfrm>
              <a:off x="2476983" y="4885405"/>
              <a:ext cx="0" cy="620438"/>
            </a:xfrm>
            <a:prstGeom prst="straightConnector1">
              <a:avLst/>
            </a:prstGeom>
            <a:ln w="12700">
              <a:solidFill>
                <a:schemeClr val="tx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B752C83A-ADFA-4271-B189-9E1C78571E16}"/>
                </a:ext>
              </a:extLst>
            </p:cNvPr>
            <p:cNvSpPr/>
            <p:nvPr/>
          </p:nvSpPr>
          <p:spPr>
            <a:xfrm>
              <a:off x="2379533" y="5178356"/>
              <a:ext cx="194900" cy="194900"/>
            </a:xfrm>
            <a:prstGeom prst="ellipse">
              <a:avLst/>
            </a:prstGeom>
            <a:solidFill>
              <a:schemeClr val="bg1"/>
            </a:solid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chemeClr val="tx1">
                      <a:lumMod val="40000"/>
                      <a:lumOff val="60000"/>
                    </a:schemeClr>
                  </a:solidFill>
                  <a:latin typeface="+mj-lt"/>
                </a:rPr>
                <a:t>15</a:t>
              </a:r>
            </a:p>
          </p:txBody>
        </p:sp>
      </p:grpSp>
      <p:grpSp>
        <p:nvGrpSpPr>
          <p:cNvPr id="142" name="Group 141">
            <a:extLst>
              <a:ext uri="{FF2B5EF4-FFF2-40B4-BE49-F238E27FC236}">
                <a16:creationId xmlns:a16="http://schemas.microsoft.com/office/drawing/2014/main" id="{80E9B287-B94D-46FF-A618-BE25F2529973}"/>
              </a:ext>
            </a:extLst>
          </p:cNvPr>
          <p:cNvGrpSpPr/>
          <p:nvPr/>
        </p:nvGrpSpPr>
        <p:grpSpPr>
          <a:xfrm>
            <a:off x="1275620" y="3513291"/>
            <a:ext cx="278831" cy="511003"/>
            <a:chOff x="2007944" y="4880911"/>
            <a:chExt cx="198908" cy="620438"/>
          </a:xfrm>
        </p:grpSpPr>
        <p:cxnSp>
          <p:nvCxnSpPr>
            <p:cNvPr id="143" name="Straight Arrow Connector 142">
              <a:extLst>
                <a:ext uri="{FF2B5EF4-FFF2-40B4-BE49-F238E27FC236}">
                  <a16:creationId xmlns:a16="http://schemas.microsoft.com/office/drawing/2014/main" id="{0E770DD0-50A6-4197-B3C5-25000E91FBF0}"/>
                </a:ext>
              </a:extLst>
            </p:cNvPr>
            <p:cNvCxnSpPr>
              <a:cxnSpLocks/>
            </p:cNvCxnSpPr>
            <p:nvPr/>
          </p:nvCxnSpPr>
          <p:spPr>
            <a:xfrm flipV="1">
              <a:off x="2107398" y="4880911"/>
              <a:ext cx="0" cy="620438"/>
            </a:xfrm>
            <a:prstGeom prst="straightConnector1">
              <a:avLst/>
            </a:prstGeom>
            <a:ln w="57150">
              <a:solidFill>
                <a:schemeClr val="tx1">
                  <a:lumMod val="40000"/>
                  <a:lumOff val="60000"/>
                </a:schemeClr>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6C96C2D3-3A78-479B-B547-B7B1F73F4F2A}"/>
                </a:ext>
              </a:extLst>
            </p:cNvPr>
            <p:cNvSpPr/>
            <p:nvPr/>
          </p:nvSpPr>
          <p:spPr>
            <a:xfrm>
              <a:off x="2007944" y="5029481"/>
              <a:ext cx="198908" cy="194900"/>
            </a:xfrm>
            <a:prstGeom prst="ellipse">
              <a:avLst/>
            </a:prstGeom>
            <a:solidFill>
              <a:schemeClr val="bg1"/>
            </a:solidFill>
            <a:ln w="254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chemeClr val="tx1">
                      <a:lumMod val="40000"/>
                      <a:lumOff val="60000"/>
                    </a:schemeClr>
                  </a:solidFill>
                  <a:latin typeface="+mj-lt"/>
                </a:rPr>
                <a:t>15</a:t>
              </a:r>
            </a:p>
          </p:txBody>
        </p:sp>
      </p:grpSp>
      <p:grpSp>
        <p:nvGrpSpPr>
          <p:cNvPr id="145" name="Group 144">
            <a:extLst>
              <a:ext uri="{FF2B5EF4-FFF2-40B4-BE49-F238E27FC236}">
                <a16:creationId xmlns:a16="http://schemas.microsoft.com/office/drawing/2014/main" id="{3A65E1DB-BDCF-4ABC-8CB4-C5B1DD2FE2A6}"/>
              </a:ext>
            </a:extLst>
          </p:cNvPr>
          <p:cNvGrpSpPr/>
          <p:nvPr/>
        </p:nvGrpSpPr>
        <p:grpSpPr>
          <a:xfrm>
            <a:off x="1277669" y="2683046"/>
            <a:ext cx="198908" cy="428096"/>
            <a:chOff x="2007944" y="4880911"/>
            <a:chExt cx="198908" cy="428096"/>
          </a:xfrm>
        </p:grpSpPr>
        <p:cxnSp>
          <p:nvCxnSpPr>
            <p:cNvPr id="146" name="Straight Arrow Connector 145">
              <a:extLst>
                <a:ext uri="{FF2B5EF4-FFF2-40B4-BE49-F238E27FC236}">
                  <a16:creationId xmlns:a16="http://schemas.microsoft.com/office/drawing/2014/main" id="{B32EE354-FEAB-4065-B823-E500D6201C9F}"/>
                </a:ext>
              </a:extLst>
            </p:cNvPr>
            <p:cNvCxnSpPr>
              <a:cxnSpLocks/>
            </p:cNvCxnSpPr>
            <p:nvPr/>
          </p:nvCxnSpPr>
          <p:spPr>
            <a:xfrm flipV="1">
              <a:off x="2107398" y="4880911"/>
              <a:ext cx="0" cy="428096"/>
            </a:xfrm>
            <a:prstGeom prst="straightConnector1">
              <a:avLst/>
            </a:prstGeom>
            <a:ln w="57150">
              <a:solidFill>
                <a:schemeClr val="tx1">
                  <a:lumMod val="40000"/>
                  <a:lumOff val="60000"/>
                </a:schemeClr>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2D516E48-C283-45EE-A141-7A484B3A143F}"/>
                </a:ext>
              </a:extLst>
            </p:cNvPr>
            <p:cNvSpPr/>
            <p:nvPr/>
          </p:nvSpPr>
          <p:spPr>
            <a:xfrm>
              <a:off x="2007944" y="4909161"/>
              <a:ext cx="198908" cy="194900"/>
            </a:xfrm>
            <a:prstGeom prst="ellipse">
              <a:avLst/>
            </a:prstGeom>
            <a:solidFill>
              <a:schemeClr val="bg1"/>
            </a:solidFill>
            <a:ln w="254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chemeClr val="tx1">
                      <a:lumMod val="40000"/>
                      <a:lumOff val="60000"/>
                    </a:schemeClr>
                  </a:solidFill>
                  <a:latin typeface="+mj-lt"/>
                </a:rPr>
                <a:t>15</a:t>
              </a:r>
            </a:p>
          </p:txBody>
        </p:sp>
      </p:grpSp>
      <p:grpSp>
        <p:nvGrpSpPr>
          <p:cNvPr id="56" name="Group 55">
            <a:extLst>
              <a:ext uri="{FF2B5EF4-FFF2-40B4-BE49-F238E27FC236}">
                <a16:creationId xmlns:a16="http://schemas.microsoft.com/office/drawing/2014/main" id="{33B5B96D-6DC6-4687-AA4A-911EAC17B7C1}"/>
              </a:ext>
            </a:extLst>
          </p:cNvPr>
          <p:cNvGrpSpPr/>
          <p:nvPr/>
        </p:nvGrpSpPr>
        <p:grpSpPr>
          <a:xfrm>
            <a:off x="289244" y="5418280"/>
            <a:ext cx="3649649" cy="878439"/>
            <a:chOff x="289244" y="5418280"/>
            <a:chExt cx="3649649" cy="878439"/>
          </a:xfrm>
        </p:grpSpPr>
        <p:sp>
          <p:nvSpPr>
            <p:cNvPr id="57" name="Rectangle 56">
              <a:extLst>
                <a:ext uri="{FF2B5EF4-FFF2-40B4-BE49-F238E27FC236}">
                  <a16:creationId xmlns:a16="http://schemas.microsoft.com/office/drawing/2014/main" id="{A0765381-C3CF-4E15-8AEC-70793196EB88}"/>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8" name="Group 57">
              <a:extLst>
                <a:ext uri="{FF2B5EF4-FFF2-40B4-BE49-F238E27FC236}">
                  <a16:creationId xmlns:a16="http://schemas.microsoft.com/office/drawing/2014/main" id="{7A20A912-E9DF-40B4-9BFA-CB957FDA5E06}"/>
                </a:ext>
              </a:extLst>
            </p:cNvPr>
            <p:cNvGrpSpPr/>
            <p:nvPr/>
          </p:nvGrpSpPr>
          <p:grpSpPr>
            <a:xfrm>
              <a:off x="361773" y="5476571"/>
              <a:ext cx="3444371" cy="250772"/>
              <a:chOff x="-1487335" y="2073671"/>
              <a:chExt cx="3503665" cy="250772"/>
            </a:xfrm>
          </p:grpSpPr>
          <p:cxnSp>
            <p:nvCxnSpPr>
              <p:cNvPr id="62" name="Straight Arrow Connector 61">
                <a:extLst>
                  <a:ext uri="{FF2B5EF4-FFF2-40B4-BE49-F238E27FC236}">
                    <a16:creationId xmlns:a16="http://schemas.microsoft.com/office/drawing/2014/main" id="{96EDD2C6-780F-453E-8D36-9168B3DAC52D}"/>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0A73F32-D55B-4FEF-9AD9-8DE0B9C2009B}"/>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80DEDC9-4ACF-4D16-974A-66918AF91CDF}"/>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66" name="TextBox 65">
                <a:extLst>
                  <a:ext uri="{FF2B5EF4-FFF2-40B4-BE49-F238E27FC236}">
                    <a16:creationId xmlns:a16="http://schemas.microsoft.com/office/drawing/2014/main" id="{D64B6587-CEC3-4101-B3CA-34584CE83A4E}"/>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67" name="TextBox 66">
                <a:extLst>
                  <a:ext uri="{FF2B5EF4-FFF2-40B4-BE49-F238E27FC236}">
                    <a16:creationId xmlns:a16="http://schemas.microsoft.com/office/drawing/2014/main" id="{6C1BA538-7233-4F0D-B976-C0A7C5A0AE2F}"/>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grpSp>
      <p:grpSp>
        <p:nvGrpSpPr>
          <p:cNvPr id="87" name="Group 86">
            <a:extLst>
              <a:ext uri="{FF2B5EF4-FFF2-40B4-BE49-F238E27FC236}">
                <a16:creationId xmlns:a16="http://schemas.microsoft.com/office/drawing/2014/main" id="{DEB8FC63-8D66-48C1-8208-A6101D54727A}"/>
              </a:ext>
            </a:extLst>
          </p:cNvPr>
          <p:cNvGrpSpPr/>
          <p:nvPr/>
        </p:nvGrpSpPr>
        <p:grpSpPr>
          <a:xfrm>
            <a:off x="4210695" y="2146851"/>
            <a:ext cx="4572131" cy="1092717"/>
            <a:chOff x="4474550" y="2309054"/>
            <a:chExt cx="4310675" cy="880562"/>
          </a:xfrm>
        </p:grpSpPr>
        <p:sp>
          <p:nvSpPr>
            <p:cNvPr id="88" name="Rectangle: Rounded Corners 87">
              <a:extLst>
                <a:ext uri="{FF2B5EF4-FFF2-40B4-BE49-F238E27FC236}">
                  <a16:creationId xmlns:a16="http://schemas.microsoft.com/office/drawing/2014/main" id="{0541E0D5-D162-4678-B399-E712A6597323}"/>
                </a:ext>
              </a:extLst>
            </p:cNvPr>
            <p:cNvSpPr/>
            <p:nvPr/>
          </p:nvSpPr>
          <p:spPr>
            <a:xfrm>
              <a:off x="4474550" y="2309054"/>
              <a:ext cx="4310675" cy="880562"/>
            </a:xfrm>
            <a:prstGeom prst="roundRect">
              <a:avLst>
                <a:gd name="adj" fmla="val 11202"/>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Charge Upserted – </a:t>
              </a:r>
              <a:r>
                <a:rPr lang="en-GB" sz="1000">
                  <a:solidFill>
                    <a:schemeClr val="tx1"/>
                  </a:solidFill>
                </a:rPr>
                <a:t>this integration on day 1 will create card payment requests in Asperato when MRI raises a one-off charge. </a:t>
              </a:r>
            </a:p>
            <a:p>
              <a:pPr>
                <a:spcBef>
                  <a:spcPts val="600"/>
                </a:spcBef>
              </a:pPr>
              <a:r>
                <a:rPr lang="en-GB" sz="1000">
                  <a:solidFill>
                    <a:schemeClr val="tx1"/>
                  </a:solidFill>
                </a:rPr>
                <a:t>A few uses can be automated in Phase 2, like </a:t>
              </a:r>
              <a:r>
                <a:rPr lang="en-GB" sz="1000" err="1">
                  <a:solidFill>
                    <a:schemeClr val="tx1"/>
                  </a:solidFill>
                </a:rPr>
                <a:t>upserting</a:t>
              </a:r>
              <a:r>
                <a:rPr lang="en-GB" sz="1000">
                  <a:solidFill>
                    <a:schemeClr val="tx1"/>
                  </a:solidFill>
                </a:rPr>
                <a:t> recurring charges from rent review and payment plans, and the ability to create DD payments from one-off charges.</a:t>
              </a:r>
            </a:p>
          </p:txBody>
        </p:sp>
        <p:sp>
          <p:nvSpPr>
            <p:cNvPr id="89" name="Oval 88">
              <a:extLst>
                <a:ext uri="{FF2B5EF4-FFF2-40B4-BE49-F238E27FC236}">
                  <a16:creationId xmlns:a16="http://schemas.microsoft.com/office/drawing/2014/main" id="{C3BC4CF9-3579-4385-9E7F-E1532B89C742}"/>
                </a:ext>
              </a:extLst>
            </p:cNvPr>
            <p:cNvSpPr/>
            <p:nvPr/>
          </p:nvSpPr>
          <p:spPr>
            <a:xfrm>
              <a:off x="4474550" y="2309054"/>
              <a:ext cx="194900" cy="1653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12</a:t>
              </a:r>
            </a:p>
          </p:txBody>
        </p:sp>
      </p:grpSp>
      <p:grpSp>
        <p:nvGrpSpPr>
          <p:cNvPr id="90" name="Group 89">
            <a:extLst>
              <a:ext uri="{FF2B5EF4-FFF2-40B4-BE49-F238E27FC236}">
                <a16:creationId xmlns:a16="http://schemas.microsoft.com/office/drawing/2014/main" id="{3FEC48F7-06EC-471B-8ED1-A2E47FFCC7A0}"/>
              </a:ext>
            </a:extLst>
          </p:cNvPr>
          <p:cNvGrpSpPr/>
          <p:nvPr/>
        </p:nvGrpSpPr>
        <p:grpSpPr>
          <a:xfrm>
            <a:off x="4210695" y="3383294"/>
            <a:ext cx="4572131" cy="1092717"/>
            <a:chOff x="4474550" y="2309054"/>
            <a:chExt cx="4310675" cy="880562"/>
          </a:xfrm>
          <a:solidFill>
            <a:schemeClr val="bg1"/>
          </a:solidFill>
        </p:grpSpPr>
        <p:sp>
          <p:nvSpPr>
            <p:cNvPr id="91" name="Rectangle: Rounded Corners 90">
              <a:extLst>
                <a:ext uri="{FF2B5EF4-FFF2-40B4-BE49-F238E27FC236}">
                  <a16:creationId xmlns:a16="http://schemas.microsoft.com/office/drawing/2014/main" id="{B4A1D3F3-043C-496B-92D3-D9F6EA217643}"/>
                </a:ext>
              </a:extLst>
            </p:cNvPr>
            <p:cNvSpPr/>
            <p:nvPr/>
          </p:nvSpPr>
          <p:spPr>
            <a:xfrm>
              <a:off x="4474550" y="2309054"/>
              <a:ext cx="4310675" cy="880562"/>
            </a:xfrm>
            <a:prstGeom prst="roundRect">
              <a:avLst>
                <a:gd name="adj" fmla="val 11202"/>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Customer Payment Updated – </a:t>
              </a:r>
              <a:r>
                <a:rPr lang="en-GB" sz="1000">
                  <a:solidFill>
                    <a:schemeClr val="tx1"/>
                  </a:solidFill>
                </a:rPr>
                <a:t>enables MRI to correctly match a payment against the correct customer / charge, by informing MRI not only that a payment has been made but all the additional information MRI needs to allocate it. This integration will also record failed and refunded payments.</a:t>
              </a:r>
            </a:p>
          </p:txBody>
        </p:sp>
        <p:sp>
          <p:nvSpPr>
            <p:cNvPr id="92" name="Oval 91">
              <a:extLst>
                <a:ext uri="{FF2B5EF4-FFF2-40B4-BE49-F238E27FC236}">
                  <a16:creationId xmlns:a16="http://schemas.microsoft.com/office/drawing/2014/main" id="{E8DA384D-757E-4859-AD0E-72C72EA1F2F4}"/>
                </a:ext>
              </a:extLst>
            </p:cNvPr>
            <p:cNvSpPr/>
            <p:nvPr/>
          </p:nvSpPr>
          <p:spPr>
            <a:xfrm>
              <a:off x="4474550" y="2309054"/>
              <a:ext cx="194900" cy="165360"/>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13</a:t>
              </a:r>
            </a:p>
          </p:txBody>
        </p:sp>
      </p:grpSp>
      <p:grpSp>
        <p:nvGrpSpPr>
          <p:cNvPr id="93" name="Group 92">
            <a:extLst>
              <a:ext uri="{FF2B5EF4-FFF2-40B4-BE49-F238E27FC236}">
                <a16:creationId xmlns:a16="http://schemas.microsoft.com/office/drawing/2014/main" id="{DBA30064-2AA3-4558-879A-0EBFD5BFC0FB}"/>
              </a:ext>
            </a:extLst>
          </p:cNvPr>
          <p:cNvGrpSpPr/>
          <p:nvPr/>
        </p:nvGrpSpPr>
        <p:grpSpPr>
          <a:xfrm>
            <a:off x="4210695" y="4629110"/>
            <a:ext cx="4572131" cy="1092717"/>
            <a:chOff x="4474550" y="2309054"/>
            <a:chExt cx="4310675" cy="880562"/>
          </a:xfrm>
          <a:solidFill>
            <a:schemeClr val="bg1"/>
          </a:solidFill>
        </p:grpSpPr>
        <p:sp>
          <p:nvSpPr>
            <p:cNvPr id="97" name="Rectangle: Rounded Corners 96">
              <a:extLst>
                <a:ext uri="{FF2B5EF4-FFF2-40B4-BE49-F238E27FC236}">
                  <a16:creationId xmlns:a16="http://schemas.microsoft.com/office/drawing/2014/main" id="{A52F7310-E94A-4037-AAC1-FB856526CAEC}"/>
                </a:ext>
              </a:extLst>
            </p:cNvPr>
            <p:cNvSpPr/>
            <p:nvPr/>
          </p:nvSpPr>
          <p:spPr>
            <a:xfrm>
              <a:off x="4474550" y="2309054"/>
              <a:ext cx="4310675" cy="880562"/>
            </a:xfrm>
            <a:prstGeom prst="roundRect">
              <a:avLst>
                <a:gd name="adj" fmla="val 11202"/>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Payment Notification Sent – </a:t>
              </a:r>
              <a:r>
                <a:rPr lang="en-GB" sz="1000">
                  <a:solidFill>
                    <a:schemeClr val="tx1"/>
                  </a:solidFill>
                </a:rPr>
                <a:t>this is the only integration that happens straight from GoCardless (everything else from the payment engines will flow through </a:t>
              </a:r>
              <a:r>
                <a:rPr lang="en-GB" sz="1000" err="1">
                  <a:solidFill>
                    <a:schemeClr val="tx1"/>
                  </a:solidFill>
                </a:rPr>
                <a:t>Asperato</a:t>
              </a:r>
              <a:r>
                <a:rPr lang="en-GB" sz="1000">
                  <a:solidFill>
                    <a:schemeClr val="tx1"/>
                  </a:solidFill>
                </a:rPr>
                <a:t> / Salesforce) – enables our Communications Engine (Twillio) to send out confirmations to the customer</a:t>
              </a:r>
            </a:p>
          </p:txBody>
        </p:sp>
        <p:sp>
          <p:nvSpPr>
            <p:cNvPr id="99" name="Oval 98">
              <a:extLst>
                <a:ext uri="{FF2B5EF4-FFF2-40B4-BE49-F238E27FC236}">
                  <a16:creationId xmlns:a16="http://schemas.microsoft.com/office/drawing/2014/main" id="{CADD7A9F-5F3C-4D3D-A6A2-D7B8BC171DC3}"/>
                </a:ext>
              </a:extLst>
            </p:cNvPr>
            <p:cNvSpPr/>
            <p:nvPr/>
          </p:nvSpPr>
          <p:spPr>
            <a:xfrm>
              <a:off x="4474550" y="2309054"/>
              <a:ext cx="194900" cy="165360"/>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14</a:t>
              </a:r>
            </a:p>
          </p:txBody>
        </p:sp>
      </p:grpSp>
      <p:sp>
        <p:nvSpPr>
          <p:cNvPr id="70" name="TextBox 69">
            <a:extLst>
              <a:ext uri="{FF2B5EF4-FFF2-40B4-BE49-F238E27FC236}">
                <a16:creationId xmlns:a16="http://schemas.microsoft.com/office/drawing/2014/main" id="{D9A308AE-DA90-40AC-8741-04056B56C308}"/>
              </a:ext>
            </a:extLst>
          </p:cNvPr>
          <p:cNvSpPr txBox="1"/>
          <p:nvPr/>
        </p:nvSpPr>
        <p:spPr>
          <a:xfrm>
            <a:off x="4210096" y="5813489"/>
            <a:ext cx="4572131" cy="483229"/>
          </a:xfrm>
          <a:prstGeom prst="rect">
            <a:avLst/>
          </a:prstGeom>
          <a:noFill/>
        </p:spPr>
        <p:txBody>
          <a:bodyPr wrap="square" rtlCol="0">
            <a:noAutofit/>
          </a:bodyPr>
          <a:lstStyle/>
          <a:p>
            <a:pPr algn="l"/>
            <a:r>
              <a:rPr lang="en-GB" sz="1000" i="1"/>
              <a:t>Integration #15 ‘Customer Refund Processed’ has been incorporated into #13 ‘Customer Payment updated’ and will no longer be needed.</a:t>
            </a:r>
          </a:p>
        </p:txBody>
      </p:sp>
      <p:sp>
        <p:nvSpPr>
          <p:cNvPr id="72" name="Rectangle: Rounded Corners 71">
            <a:extLst>
              <a:ext uri="{FF2B5EF4-FFF2-40B4-BE49-F238E27FC236}">
                <a16:creationId xmlns:a16="http://schemas.microsoft.com/office/drawing/2014/main" id="{6A4306C0-05B5-4376-AFDD-EB0287225581}"/>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73" name="Rectangle: Rounded Corners 72">
            <a:extLst>
              <a:ext uri="{FF2B5EF4-FFF2-40B4-BE49-F238E27FC236}">
                <a16:creationId xmlns:a16="http://schemas.microsoft.com/office/drawing/2014/main" id="{4073F877-4552-40CE-9027-135EFFC7B980}"/>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77" name="Rectangle: Rounded Corners 76">
            <a:extLst>
              <a:ext uri="{FF2B5EF4-FFF2-40B4-BE49-F238E27FC236}">
                <a16:creationId xmlns:a16="http://schemas.microsoft.com/office/drawing/2014/main" id="{F8E8BB1A-03C4-40C9-B440-941672F323DC}"/>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spTree>
    <p:extLst>
      <p:ext uri="{BB962C8B-B14F-4D97-AF65-F5344CB8AC3E}">
        <p14:creationId xmlns:p14="http://schemas.microsoft.com/office/powerpoint/2010/main" val="38397727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Leasing Journey</a:t>
            </a:r>
          </a:p>
        </p:txBody>
      </p:sp>
      <p:sp>
        <p:nvSpPr>
          <p:cNvPr id="4" name="Rectangle 3">
            <a:extLst>
              <a:ext uri="{FF2B5EF4-FFF2-40B4-BE49-F238E27FC236}">
                <a16:creationId xmlns:a16="http://schemas.microsoft.com/office/drawing/2014/main" id="{0DE607AF-664A-44FB-B95F-F1178AD57902}"/>
              </a:ext>
            </a:extLst>
          </p:cNvPr>
          <p:cNvSpPr/>
          <p:nvPr/>
        </p:nvSpPr>
        <p:spPr>
          <a:xfrm>
            <a:off x="358775" y="3950595"/>
            <a:ext cx="3507169"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5" name="Rectangle 4">
            <a:extLst>
              <a:ext uri="{FF2B5EF4-FFF2-40B4-BE49-F238E27FC236}">
                <a16:creationId xmlns:a16="http://schemas.microsoft.com/office/drawing/2014/main" id="{E4AD130D-F7AC-4F71-8DE2-D9C5A063B6C3}"/>
              </a:ext>
            </a:extLst>
          </p:cNvPr>
          <p:cNvSpPr/>
          <p:nvPr/>
        </p:nvSpPr>
        <p:spPr>
          <a:xfrm>
            <a:off x="443385" y="4821320"/>
            <a:ext cx="1588668"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1" name="Rectangle 10">
            <a:extLst>
              <a:ext uri="{FF2B5EF4-FFF2-40B4-BE49-F238E27FC236}">
                <a16:creationId xmlns:a16="http://schemas.microsoft.com/office/drawing/2014/main" id="{0B37F336-8A85-4EDB-A255-C521100DBCBE}"/>
              </a:ext>
            </a:extLst>
          </p:cNvPr>
          <p:cNvSpPr/>
          <p:nvPr/>
        </p:nvSpPr>
        <p:spPr>
          <a:xfrm>
            <a:off x="2187257" y="3112515"/>
            <a:ext cx="1588668"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err="1">
                <a:latin typeface="+mj-lt"/>
              </a:rPr>
              <a:t>YieldStar</a:t>
            </a:r>
            <a:endParaRPr lang="en-GB" sz="1400">
              <a:latin typeface="+mj-lt"/>
            </a:endParaRPr>
          </a:p>
        </p:txBody>
      </p:sp>
      <p:sp>
        <p:nvSpPr>
          <p:cNvPr id="12" name="Rectangle 11">
            <a:extLst>
              <a:ext uri="{FF2B5EF4-FFF2-40B4-BE49-F238E27FC236}">
                <a16:creationId xmlns:a16="http://schemas.microsoft.com/office/drawing/2014/main" id="{AF0D2BFC-6FDA-40C3-AC14-15875ECA52AB}"/>
              </a:ext>
            </a:extLst>
          </p:cNvPr>
          <p:cNvSpPr/>
          <p:nvPr/>
        </p:nvSpPr>
        <p:spPr>
          <a:xfrm>
            <a:off x="443385" y="3112515"/>
            <a:ext cx="1588668"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Salesforce</a:t>
            </a:r>
          </a:p>
        </p:txBody>
      </p:sp>
      <p:sp>
        <p:nvSpPr>
          <p:cNvPr id="152" name="Rectangle 151">
            <a:extLst>
              <a:ext uri="{FF2B5EF4-FFF2-40B4-BE49-F238E27FC236}">
                <a16:creationId xmlns:a16="http://schemas.microsoft.com/office/drawing/2014/main" id="{896611D8-5BB1-4F0F-80BA-F9A0DF063A9D}"/>
              </a:ext>
            </a:extLst>
          </p:cNvPr>
          <p:cNvSpPr/>
          <p:nvPr/>
        </p:nvSpPr>
        <p:spPr>
          <a:xfrm>
            <a:off x="2187257" y="4833001"/>
            <a:ext cx="1588668"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FSI</a:t>
            </a:r>
          </a:p>
        </p:txBody>
      </p:sp>
      <p:grpSp>
        <p:nvGrpSpPr>
          <p:cNvPr id="69" name="Group 68">
            <a:extLst>
              <a:ext uri="{FF2B5EF4-FFF2-40B4-BE49-F238E27FC236}">
                <a16:creationId xmlns:a16="http://schemas.microsoft.com/office/drawing/2014/main" id="{F47AE2E0-DCA7-4730-8852-E7BE49266EB7}"/>
              </a:ext>
            </a:extLst>
          </p:cNvPr>
          <p:cNvGrpSpPr/>
          <p:nvPr/>
        </p:nvGrpSpPr>
        <p:grpSpPr>
          <a:xfrm>
            <a:off x="2280602" y="3489433"/>
            <a:ext cx="194900" cy="454141"/>
            <a:chOff x="2379533" y="3875780"/>
            <a:chExt cx="194900" cy="620438"/>
          </a:xfrm>
        </p:grpSpPr>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2476983"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2379533" y="4114473"/>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16</a:t>
              </a:r>
            </a:p>
          </p:txBody>
        </p:sp>
      </p:grpSp>
      <p:sp>
        <p:nvSpPr>
          <p:cNvPr id="79" name="Content Placeholder 5">
            <a:extLst>
              <a:ext uri="{FF2B5EF4-FFF2-40B4-BE49-F238E27FC236}">
                <a16:creationId xmlns:a16="http://schemas.microsoft.com/office/drawing/2014/main" id="{2D1B1027-62A0-411E-9CBA-332ECB4A0CC8}"/>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As agreed as part of ‘Delivery Option 4’ in late 2019, the integrations from Salesforce to MRI / FSI at the end of the leasing journey will not be ready on day 1. That means that the creation of new accounts in MRI and the coordination of the move-in / move-out process with the leasing journey will be manual (see ‘manual processes’ slide).  </a:t>
            </a:r>
          </a:p>
        </p:txBody>
      </p:sp>
      <p:grpSp>
        <p:nvGrpSpPr>
          <p:cNvPr id="112" name="Group 111">
            <a:extLst>
              <a:ext uri="{FF2B5EF4-FFF2-40B4-BE49-F238E27FC236}">
                <a16:creationId xmlns:a16="http://schemas.microsoft.com/office/drawing/2014/main" id="{B5721674-4819-44D7-B820-CBB0862A5117}"/>
              </a:ext>
            </a:extLst>
          </p:cNvPr>
          <p:cNvGrpSpPr/>
          <p:nvPr/>
        </p:nvGrpSpPr>
        <p:grpSpPr>
          <a:xfrm>
            <a:off x="1769002" y="4339779"/>
            <a:ext cx="194900" cy="469794"/>
            <a:chOff x="2009948" y="4880911"/>
            <a:chExt cx="194900" cy="620438"/>
          </a:xfrm>
        </p:grpSpPr>
        <p:cxnSp>
          <p:nvCxnSpPr>
            <p:cNvPr id="113" name="Straight Arrow Connector 112">
              <a:extLst>
                <a:ext uri="{FF2B5EF4-FFF2-40B4-BE49-F238E27FC236}">
                  <a16:creationId xmlns:a16="http://schemas.microsoft.com/office/drawing/2014/main" id="{08C182A7-37C1-46D4-A378-9F69BDAECDEC}"/>
                </a:ext>
              </a:extLst>
            </p:cNvPr>
            <p:cNvCxnSpPr>
              <a:cxnSpLocks/>
            </p:cNvCxnSpPr>
            <p:nvPr/>
          </p:nvCxnSpPr>
          <p:spPr>
            <a:xfrm flipV="1">
              <a:off x="2107398" y="4880911"/>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38FEF46D-9486-4E96-B243-75E76BF6446D}"/>
                </a:ext>
              </a:extLst>
            </p:cNvPr>
            <p:cNvSpPr/>
            <p:nvPr/>
          </p:nvSpPr>
          <p:spPr>
            <a:xfrm>
              <a:off x="2009948" y="5173862"/>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16</a:t>
              </a:r>
            </a:p>
          </p:txBody>
        </p:sp>
      </p:grpSp>
      <p:grpSp>
        <p:nvGrpSpPr>
          <p:cNvPr id="121" name="Group 120">
            <a:extLst>
              <a:ext uri="{FF2B5EF4-FFF2-40B4-BE49-F238E27FC236}">
                <a16:creationId xmlns:a16="http://schemas.microsoft.com/office/drawing/2014/main" id="{4054627F-8B57-4800-8AD1-BCE0AEB1374B}"/>
              </a:ext>
            </a:extLst>
          </p:cNvPr>
          <p:cNvGrpSpPr/>
          <p:nvPr/>
        </p:nvGrpSpPr>
        <p:grpSpPr>
          <a:xfrm>
            <a:off x="622652" y="4367611"/>
            <a:ext cx="194900" cy="454141"/>
            <a:chOff x="2842562" y="4885405"/>
            <a:chExt cx="194900" cy="620438"/>
          </a:xfrm>
        </p:grpSpPr>
        <p:cxnSp>
          <p:nvCxnSpPr>
            <p:cNvPr id="122" name="Straight Arrow Connector 121">
              <a:extLst>
                <a:ext uri="{FF2B5EF4-FFF2-40B4-BE49-F238E27FC236}">
                  <a16:creationId xmlns:a16="http://schemas.microsoft.com/office/drawing/2014/main" id="{26AC4B86-FA09-4A48-8CF3-3A82052C139E}"/>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179BEBF6-1EED-40BD-8C0B-BBE38DFFD27C}"/>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17</a:t>
              </a:r>
            </a:p>
          </p:txBody>
        </p:sp>
      </p:grpSp>
      <p:sp>
        <p:nvSpPr>
          <p:cNvPr id="73" name="Rectangle 72">
            <a:extLst>
              <a:ext uri="{FF2B5EF4-FFF2-40B4-BE49-F238E27FC236}">
                <a16:creationId xmlns:a16="http://schemas.microsoft.com/office/drawing/2014/main" id="{F841B177-F141-4633-9B5D-8DAAE5E99474}"/>
              </a:ext>
            </a:extLst>
          </p:cNvPr>
          <p:cNvSpPr/>
          <p:nvPr/>
        </p:nvSpPr>
        <p:spPr>
          <a:xfrm>
            <a:off x="471420" y="2309544"/>
            <a:ext cx="1042874"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err="1">
                <a:latin typeface="+mj-lt"/>
              </a:rPr>
              <a:t>Asperato</a:t>
            </a:r>
            <a:endParaRPr lang="en-GB" sz="1200">
              <a:latin typeface="+mj-lt"/>
            </a:endParaRPr>
          </a:p>
        </p:txBody>
      </p:sp>
      <p:grpSp>
        <p:nvGrpSpPr>
          <p:cNvPr id="3" name="Group 2">
            <a:extLst>
              <a:ext uri="{FF2B5EF4-FFF2-40B4-BE49-F238E27FC236}">
                <a16:creationId xmlns:a16="http://schemas.microsoft.com/office/drawing/2014/main" id="{445F7DCA-33D1-4AE6-976F-1716E178F229}"/>
              </a:ext>
            </a:extLst>
          </p:cNvPr>
          <p:cNvGrpSpPr/>
          <p:nvPr/>
        </p:nvGrpSpPr>
        <p:grpSpPr>
          <a:xfrm>
            <a:off x="4463880" y="2146851"/>
            <a:ext cx="4318347" cy="3796686"/>
            <a:chOff x="4474550" y="2309054"/>
            <a:chExt cx="4318347" cy="4108167"/>
          </a:xfrm>
        </p:grpSpPr>
        <p:grpSp>
          <p:nvGrpSpPr>
            <p:cNvPr id="74" name="Group 73">
              <a:extLst>
                <a:ext uri="{FF2B5EF4-FFF2-40B4-BE49-F238E27FC236}">
                  <a16:creationId xmlns:a16="http://schemas.microsoft.com/office/drawing/2014/main" id="{6187A24B-1050-4CD5-B0D4-4FFCC6C26910}"/>
                </a:ext>
              </a:extLst>
            </p:cNvPr>
            <p:cNvGrpSpPr/>
            <p:nvPr/>
          </p:nvGrpSpPr>
          <p:grpSpPr>
            <a:xfrm>
              <a:off x="4474550" y="2309054"/>
              <a:ext cx="4310675" cy="638882"/>
              <a:chOff x="4474550" y="2309054"/>
              <a:chExt cx="4310675" cy="638882"/>
            </a:xfrm>
          </p:grpSpPr>
          <p:sp>
            <p:nvSpPr>
              <p:cNvPr id="75" name="Rectangle: Rounded Corners 74">
                <a:extLst>
                  <a:ext uri="{FF2B5EF4-FFF2-40B4-BE49-F238E27FC236}">
                    <a16:creationId xmlns:a16="http://schemas.microsoft.com/office/drawing/2014/main" id="{46599417-568A-495C-9939-991B28652B72}"/>
                  </a:ext>
                </a:extLst>
              </p:cNvPr>
              <p:cNvSpPr/>
              <p:nvPr/>
            </p:nvSpPr>
            <p:spPr>
              <a:xfrm>
                <a:off x="4474550" y="2309054"/>
                <a:ext cx="4310675" cy="638882"/>
              </a:xfrm>
              <a:prstGeom prst="roundRect">
                <a:avLst>
                  <a:gd name="adj" fmla="val 11202"/>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Property Information – </a:t>
                </a:r>
                <a:r>
                  <a:rPr lang="en-GB" sz="1000">
                    <a:solidFill>
                      <a:schemeClr val="tx1"/>
                    </a:solidFill>
                  </a:rPr>
                  <a:t>In the Future, for portfolios supported by Dynamic Pricing, this integration will send latest pricing inputs from MRI into YieldStar</a:t>
                </a:r>
              </a:p>
            </p:txBody>
          </p:sp>
          <p:sp>
            <p:nvSpPr>
              <p:cNvPr id="76" name="Oval 75">
                <a:extLst>
                  <a:ext uri="{FF2B5EF4-FFF2-40B4-BE49-F238E27FC236}">
                    <a16:creationId xmlns:a16="http://schemas.microsoft.com/office/drawing/2014/main" id="{DCDBB144-86FE-4675-8206-CB53D309A878}"/>
                  </a:ext>
                </a:extLst>
              </p:cNvPr>
              <p:cNvSpPr/>
              <p:nvPr/>
            </p:nvSpPr>
            <p:spPr>
              <a:xfrm>
                <a:off x="4474550" y="2309054"/>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16</a:t>
                </a:r>
              </a:p>
            </p:txBody>
          </p:sp>
        </p:grpSp>
        <p:grpSp>
          <p:nvGrpSpPr>
            <p:cNvPr id="81" name="Group 80">
              <a:extLst>
                <a:ext uri="{FF2B5EF4-FFF2-40B4-BE49-F238E27FC236}">
                  <a16:creationId xmlns:a16="http://schemas.microsoft.com/office/drawing/2014/main" id="{81D0ABB9-75AC-4556-8AA5-241AC954D446}"/>
                </a:ext>
              </a:extLst>
            </p:cNvPr>
            <p:cNvGrpSpPr/>
            <p:nvPr/>
          </p:nvGrpSpPr>
          <p:grpSpPr>
            <a:xfrm>
              <a:off x="4474550" y="3038729"/>
              <a:ext cx="4310675" cy="765229"/>
              <a:chOff x="4474550" y="2042346"/>
              <a:chExt cx="4310675" cy="765229"/>
            </a:xfrm>
          </p:grpSpPr>
          <p:sp>
            <p:nvSpPr>
              <p:cNvPr id="87" name="Rectangle: Rounded Corners 86">
                <a:extLst>
                  <a:ext uri="{FF2B5EF4-FFF2-40B4-BE49-F238E27FC236}">
                    <a16:creationId xmlns:a16="http://schemas.microsoft.com/office/drawing/2014/main" id="{5E51E604-B835-4571-8A82-32591EB4BD0F}"/>
                  </a:ext>
                </a:extLst>
              </p:cNvPr>
              <p:cNvSpPr/>
              <p:nvPr/>
            </p:nvSpPr>
            <p:spPr>
              <a:xfrm>
                <a:off x="4474550" y="2042346"/>
                <a:ext cx="4310675" cy="765229"/>
              </a:xfrm>
              <a:prstGeom prst="roundRect">
                <a:avLst>
                  <a:gd name="adj" fmla="val 11202"/>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Applicant Upserted – </a:t>
                </a:r>
                <a:r>
                  <a:rPr lang="en-GB" sz="1000">
                    <a:solidFill>
                      <a:schemeClr val="tx1"/>
                    </a:solidFill>
                  </a:rPr>
                  <a:t>when the applicant pays the advance payment via Asperato, MRI is triggered to create an applicant account and allocate that payment as rent in advance. This also triggers the pre-move-in checklists in FSI</a:t>
                </a:r>
              </a:p>
            </p:txBody>
          </p:sp>
          <p:sp>
            <p:nvSpPr>
              <p:cNvPr id="88" name="Oval 87">
                <a:extLst>
                  <a:ext uri="{FF2B5EF4-FFF2-40B4-BE49-F238E27FC236}">
                    <a16:creationId xmlns:a16="http://schemas.microsoft.com/office/drawing/2014/main" id="{3B59C826-DF04-480D-9998-702DAD55ED22}"/>
                  </a:ext>
                </a:extLst>
              </p:cNvPr>
              <p:cNvSpPr/>
              <p:nvPr/>
            </p:nvSpPr>
            <p:spPr>
              <a:xfrm>
                <a:off x="4474550" y="2042347"/>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17</a:t>
                </a:r>
              </a:p>
            </p:txBody>
          </p:sp>
        </p:grpSp>
        <p:grpSp>
          <p:nvGrpSpPr>
            <p:cNvPr id="89" name="Group 88">
              <a:extLst>
                <a:ext uri="{FF2B5EF4-FFF2-40B4-BE49-F238E27FC236}">
                  <a16:creationId xmlns:a16="http://schemas.microsoft.com/office/drawing/2014/main" id="{18325BA3-EF61-450E-B5C3-9235CC66A496}"/>
                </a:ext>
              </a:extLst>
            </p:cNvPr>
            <p:cNvGrpSpPr/>
            <p:nvPr/>
          </p:nvGrpSpPr>
          <p:grpSpPr>
            <a:xfrm>
              <a:off x="4474550" y="3887806"/>
              <a:ext cx="4310675" cy="964894"/>
              <a:chOff x="4474550" y="1887487"/>
              <a:chExt cx="4310675" cy="964894"/>
            </a:xfrm>
          </p:grpSpPr>
          <p:sp>
            <p:nvSpPr>
              <p:cNvPr id="90" name="Rectangle: Rounded Corners 89">
                <a:extLst>
                  <a:ext uri="{FF2B5EF4-FFF2-40B4-BE49-F238E27FC236}">
                    <a16:creationId xmlns:a16="http://schemas.microsoft.com/office/drawing/2014/main" id="{FA2BF603-32CF-4E52-B5B7-3C11DA8CAA43}"/>
                  </a:ext>
                </a:extLst>
              </p:cNvPr>
              <p:cNvSpPr/>
              <p:nvPr/>
            </p:nvSpPr>
            <p:spPr>
              <a:xfrm>
                <a:off x="4474550" y="1887488"/>
                <a:ext cx="4310675" cy="964893"/>
              </a:xfrm>
              <a:prstGeom prst="roundRect">
                <a:avLst>
                  <a:gd name="adj" fmla="val 11202"/>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Lease Signed / Lease Agreed – </a:t>
                </a:r>
                <a:r>
                  <a:rPr lang="en-GB" sz="1000">
                    <a:solidFill>
                      <a:schemeClr val="tx1"/>
                    </a:solidFill>
                  </a:rPr>
                  <a:t>when the tenancy agreement is signed in Salesforce, MRI updates all relevant lease details and creates accounts for the other members of the household. The confirmation that move-in monies have been paid will also link to FSI to enable handing in of keys to the new tenants.</a:t>
                </a:r>
              </a:p>
            </p:txBody>
          </p:sp>
          <p:sp>
            <p:nvSpPr>
              <p:cNvPr id="91" name="Oval 90">
                <a:extLst>
                  <a:ext uri="{FF2B5EF4-FFF2-40B4-BE49-F238E27FC236}">
                    <a16:creationId xmlns:a16="http://schemas.microsoft.com/office/drawing/2014/main" id="{43611811-BE55-4351-A39C-6693365EDFAC}"/>
                  </a:ext>
                </a:extLst>
              </p:cNvPr>
              <p:cNvSpPr/>
              <p:nvPr/>
            </p:nvSpPr>
            <p:spPr>
              <a:xfrm>
                <a:off x="4474550" y="1887487"/>
                <a:ext cx="19490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19</a:t>
                </a:r>
              </a:p>
            </p:txBody>
          </p:sp>
        </p:grpSp>
        <p:grpSp>
          <p:nvGrpSpPr>
            <p:cNvPr id="92" name="Group 91">
              <a:extLst>
                <a:ext uri="{FF2B5EF4-FFF2-40B4-BE49-F238E27FC236}">
                  <a16:creationId xmlns:a16="http://schemas.microsoft.com/office/drawing/2014/main" id="{D90CC81D-911A-48FD-9C07-9B1CE99A38FA}"/>
                </a:ext>
              </a:extLst>
            </p:cNvPr>
            <p:cNvGrpSpPr/>
            <p:nvPr/>
          </p:nvGrpSpPr>
          <p:grpSpPr>
            <a:xfrm>
              <a:off x="4476103" y="4935338"/>
              <a:ext cx="4316794" cy="1481883"/>
              <a:chOff x="4474550" y="1947709"/>
              <a:chExt cx="4316794" cy="1481883"/>
            </a:xfrm>
          </p:grpSpPr>
          <p:sp>
            <p:nvSpPr>
              <p:cNvPr id="93" name="Rectangle: Rounded Corners 92">
                <a:extLst>
                  <a:ext uri="{FF2B5EF4-FFF2-40B4-BE49-F238E27FC236}">
                    <a16:creationId xmlns:a16="http://schemas.microsoft.com/office/drawing/2014/main" id="{82B79549-BF38-4773-878E-0D75CD268A99}"/>
                  </a:ext>
                </a:extLst>
              </p:cNvPr>
              <p:cNvSpPr/>
              <p:nvPr/>
            </p:nvSpPr>
            <p:spPr>
              <a:xfrm>
                <a:off x="4474550" y="1947710"/>
                <a:ext cx="4310675" cy="765229"/>
              </a:xfrm>
              <a:prstGeom prst="roundRect">
                <a:avLst>
                  <a:gd name="adj" fmla="val 1120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Leasing Portal – </a:t>
                </a:r>
                <a:r>
                  <a:rPr lang="en-GB" sz="1000">
                    <a:solidFill>
                      <a:schemeClr val="tx1"/>
                    </a:solidFill>
                  </a:rPr>
                  <a:t>The customer leasing experience is enabled by the point-to-point integration between Salesforce and the Leasing Portal web-app. Information is updated in both systems as the journey evolves.</a:t>
                </a:r>
              </a:p>
            </p:txBody>
          </p:sp>
          <p:sp>
            <p:nvSpPr>
              <p:cNvPr id="97" name="Oval 96">
                <a:extLst>
                  <a:ext uri="{FF2B5EF4-FFF2-40B4-BE49-F238E27FC236}">
                    <a16:creationId xmlns:a16="http://schemas.microsoft.com/office/drawing/2014/main" id="{C559B7D6-C41F-446D-B0C0-74455541D1E8}"/>
                  </a:ext>
                </a:extLst>
              </p:cNvPr>
              <p:cNvSpPr/>
              <p:nvPr/>
            </p:nvSpPr>
            <p:spPr>
              <a:xfrm>
                <a:off x="4474550" y="1947709"/>
                <a:ext cx="224046"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33</a:t>
                </a:r>
              </a:p>
            </p:txBody>
          </p:sp>
          <p:sp>
            <p:nvSpPr>
              <p:cNvPr id="94" name="Rectangle: Rounded Corners 93">
                <a:extLst>
                  <a:ext uri="{FF2B5EF4-FFF2-40B4-BE49-F238E27FC236}">
                    <a16:creationId xmlns:a16="http://schemas.microsoft.com/office/drawing/2014/main" id="{DE652B39-5171-42DA-A103-93AEE05BA269}"/>
                  </a:ext>
                </a:extLst>
              </p:cNvPr>
              <p:cNvSpPr/>
              <p:nvPr/>
            </p:nvSpPr>
            <p:spPr>
              <a:xfrm>
                <a:off x="4480669" y="2790710"/>
                <a:ext cx="4310675" cy="638882"/>
              </a:xfrm>
              <a:prstGeom prst="roundRect">
                <a:avLst>
                  <a:gd name="adj" fmla="val 1120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45720" rIns="0" bIns="45720" numCol="1" spcCol="0" rtlCol="0" fromWordArt="0" anchor="ctr" anchorCtr="0" forceAA="0" compatLnSpc="1">
                <a:prstTxWarp prst="textNoShape">
                  <a:avLst/>
                </a:prstTxWarp>
                <a:noAutofit/>
              </a:bodyPr>
              <a:lstStyle/>
              <a:p>
                <a:r>
                  <a:rPr lang="en-GB" sz="1000">
                    <a:solidFill>
                      <a:schemeClr val="tx1"/>
                    </a:solidFill>
                    <a:latin typeface="+mj-lt"/>
                  </a:rPr>
                  <a:t>Check References – </a:t>
                </a:r>
                <a:r>
                  <a:rPr lang="en-GB" sz="1000">
                    <a:solidFill>
                      <a:schemeClr val="tx1"/>
                    </a:solidFill>
                  </a:rPr>
                  <a:t>Link between the Van Mildert referencing system to ensure customer information / documents are captured and statuses updated accordingly</a:t>
                </a:r>
              </a:p>
            </p:txBody>
          </p:sp>
          <p:sp>
            <p:nvSpPr>
              <p:cNvPr id="95" name="Oval 94">
                <a:extLst>
                  <a:ext uri="{FF2B5EF4-FFF2-40B4-BE49-F238E27FC236}">
                    <a16:creationId xmlns:a16="http://schemas.microsoft.com/office/drawing/2014/main" id="{3A30163E-34E2-4F17-B8FF-34808D3DFECF}"/>
                  </a:ext>
                </a:extLst>
              </p:cNvPr>
              <p:cNvSpPr/>
              <p:nvPr/>
            </p:nvSpPr>
            <p:spPr>
              <a:xfrm>
                <a:off x="4480669" y="2790709"/>
                <a:ext cx="224046"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33</a:t>
                </a:r>
              </a:p>
            </p:txBody>
          </p:sp>
        </p:grpSp>
      </p:grpSp>
      <p:grpSp>
        <p:nvGrpSpPr>
          <p:cNvPr id="100" name="Group 99">
            <a:extLst>
              <a:ext uri="{FF2B5EF4-FFF2-40B4-BE49-F238E27FC236}">
                <a16:creationId xmlns:a16="http://schemas.microsoft.com/office/drawing/2014/main" id="{FBB38DF5-B520-41EF-9730-18CCF9A434C3}"/>
              </a:ext>
            </a:extLst>
          </p:cNvPr>
          <p:cNvGrpSpPr/>
          <p:nvPr/>
        </p:nvGrpSpPr>
        <p:grpSpPr>
          <a:xfrm>
            <a:off x="625863" y="3513497"/>
            <a:ext cx="198908" cy="454141"/>
            <a:chOff x="2007944" y="4880911"/>
            <a:chExt cx="198908" cy="620438"/>
          </a:xfrm>
        </p:grpSpPr>
        <p:cxnSp>
          <p:nvCxnSpPr>
            <p:cNvPr id="124" name="Straight Arrow Connector 123">
              <a:extLst>
                <a:ext uri="{FF2B5EF4-FFF2-40B4-BE49-F238E27FC236}">
                  <a16:creationId xmlns:a16="http://schemas.microsoft.com/office/drawing/2014/main" id="{C24DA061-E1EB-4322-97FF-BB8BD0E64964}"/>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E65A1FEC-A781-4660-B459-8250CA53C355}"/>
                </a:ext>
              </a:extLst>
            </p:cNvPr>
            <p:cNvSpPr/>
            <p:nvPr/>
          </p:nvSpPr>
          <p:spPr>
            <a:xfrm>
              <a:off x="2007944" y="502948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17</a:t>
              </a:r>
            </a:p>
          </p:txBody>
        </p:sp>
      </p:grpSp>
      <p:grpSp>
        <p:nvGrpSpPr>
          <p:cNvPr id="130" name="Group 129">
            <a:extLst>
              <a:ext uri="{FF2B5EF4-FFF2-40B4-BE49-F238E27FC236}">
                <a16:creationId xmlns:a16="http://schemas.microsoft.com/office/drawing/2014/main" id="{53CC9A90-E73E-4702-B59E-F9BF9CC31226}"/>
              </a:ext>
            </a:extLst>
          </p:cNvPr>
          <p:cNvGrpSpPr/>
          <p:nvPr/>
        </p:nvGrpSpPr>
        <p:grpSpPr>
          <a:xfrm>
            <a:off x="925311" y="4359408"/>
            <a:ext cx="194900" cy="454141"/>
            <a:chOff x="2842562" y="4885405"/>
            <a:chExt cx="194900" cy="620438"/>
          </a:xfrm>
        </p:grpSpPr>
        <p:cxnSp>
          <p:nvCxnSpPr>
            <p:cNvPr id="133" name="Straight Arrow Connector 132">
              <a:extLst>
                <a:ext uri="{FF2B5EF4-FFF2-40B4-BE49-F238E27FC236}">
                  <a16:creationId xmlns:a16="http://schemas.microsoft.com/office/drawing/2014/main" id="{70048E23-A6E1-4FBC-81D5-CBEE8226296E}"/>
                </a:ext>
              </a:extLst>
            </p:cNvPr>
            <p:cNvCxnSpPr>
              <a:cxnSpLocks/>
            </p:cNvCxnSpPr>
            <p:nvPr/>
          </p:nvCxnSpPr>
          <p:spPr>
            <a:xfrm>
              <a:off x="2940012" y="4885405"/>
              <a:ext cx="0" cy="620438"/>
            </a:xfrm>
            <a:prstGeom prst="straightConnector1">
              <a:avLst/>
            </a:prstGeom>
            <a:ln w="12700">
              <a:solidFill>
                <a:schemeClr val="tx1">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4526F70B-B677-4A2E-9713-1A27C90EF9B6}"/>
                </a:ext>
              </a:extLst>
            </p:cNvPr>
            <p:cNvSpPr/>
            <p:nvPr/>
          </p:nvSpPr>
          <p:spPr>
            <a:xfrm>
              <a:off x="2842562" y="5178356"/>
              <a:ext cx="194900" cy="194900"/>
            </a:xfrm>
            <a:prstGeom prst="ellipse">
              <a:avLst/>
            </a:prstGeom>
            <a:solidFill>
              <a:schemeClr val="bg1"/>
            </a:solidFill>
            <a:ln w="127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chemeClr val="tx1">
                      <a:lumMod val="40000"/>
                      <a:lumOff val="60000"/>
                    </a:schemeClr>
                  </a:solidFill>
                  <a:latin typeface="+mj-lt"/>
                </a:rPr>
                <a:t>18</a:t>
              </a:r>
            </a:p>
          </p:txBody>
        </p:sp>
      </p:grpSp>
      <p:grpSp>
        <p:nvGrpSpPr>
          <p:cNvPr id="135" name="Group 134">
            <a:extLst>
              <a:ext uri="{FF2B5EF4-FFF2-40B4-BE49-F238E27FC236}">
                <a16:creationId xmlns:a16="http://schemas.microsoft.com/office/drawing/2014/main" id="{EE217FDA-14D7-44B0-B5FB-C4F681D94CF8}"/>
              </a:ext>
            </a:extLst>
          </p:cNvPr>
          <p:cNvGrpSpPr/>
          <p:nvPr/>
        </p:nvGrpSpPr>
        <p:grpSpPr>
          <a:xfrm>
            <a:off x="928522" y="3505294"/>
            <a:ext cx="198908" cy="454141"/>
            <a:chOff x="2007944" y="4880911"/>
            <a:chExt cx="198908" cy="620438"/>
          </a:xfrm>
        </p:grpSpPr>
        <p:cxnSp>
          <p:nvCxnSpPr>
            <p:cNvPr id="136" name="Straight Arrow Connector 135">
              <a:extLst>
                <a:ext uri="{FF2B5EF4-FFF2-40B4-BE49-F238E27FC236}">
                  <a16:creationId xmlns:a16="http://schemas.microsoft.com/office/drawing/2014/main" id="{83AB1D80-922D-47A0-B9C0-41040758216A}"/>
                </a:ext>
              </a:extLst>
            </p:cNvPr>
            <p:cNvCxnSpPr>
              <a:cxnSpLocks/>
            </p:cNvCxnSpPr>
            <p:nvPr/>
          </p:nvCxnSpPr>
          <p:spPr>
            <a:xfrm flipV="1">
              <a:off x="2107398" y="4880911"/>
              <a:ext cx="0" cy="620438"/>
            </a:xfrm>
            <a:prstGeom prst="straightConnector1">
              <a:avLst/>
            </a:prstGeom>
            <a:ln w="57150">
              <a:solidFill>
                <a:schemeClr val="tx1">
                  <a:lumMod val="40000"/>
                  <a:lumOff val="60000"/>
                </a:schemeClr>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F8327A04-E48A-4298-9D50-00BBEAD0FEDC}"/>
                </a:ext>
              </a:extLst>
            </p:cNvPr>
            <p:cNvSpPr/>
            <p:nvPr/>
          </p:nvSpPr>
          <p:spPr>
            <a:xfrm>
              <a:off x="2007944" y="5029481"/>
              <a:ext cx="198908" cy="194900"/>
            </a:xfrm>
            <a:prstGeom prst="ellipse">
              <a:avLst/>
            </a:prstGeom>
            <a:solidFill>
              <a:schemeClr val="bg1"/>
            </a:solidFill>
            <a:ln w="25400">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chemeClr val="tx1">
                      <a:lumMod val="40000"/>
                      <a:lumOff val="60000"/>
                    </a:schemeClr>
                  </a:solidFill>
                  <a:latin typeface="+mj-lt"/>
                </a:rPr>
                <a:t>18</a:t>
              </a:r>
            </a:p>
          </p:txBody>
        </p:sp>
      </p:grpSp>
      <p:grpSp>
        <p:nvGrpSpPr>
          <p:cNvPr id="138" name="Group 137">
            <a:extLst>
              <a:ext uri="{FF2B5EF4-FFF2-40B4-BE49-F238E27FC236}">
                <a16:creationId xmlns:a16="http://schemas.microsoft.com/office/drawing/2014/main" id="{CD8CB75B-CEB0-4AB6-8422-664478FB802B}"/>
              </a:ext>
            </a:extLst>
          </p:cNvPr>
          <p:cNvGrpSpPr/>
          <p:nvPr/>
        </p:nvGrpSpPr>
        <p:grpSpPr>
          <a:xfrm>
            <a:off x="1216134" y="4350240"/>
            <a:ext cx="194900" cy="454141"/>
            <a:chOff x="2842562" y="4885405"/>
            <a:chExt cx="194900" cy="620438"/>
          </a:xfrm>
        </p:grpSpPr>
        <p:cxnSp>
          <p:nvCxnSpPr>
            <p:cNvPr id="139" name="Straight Arrow Connector 138">
              <a:extLst>
                <a:ext uri="{FF2B5EF4-FFF2-40B4-BE49-F238E27FC236}">
                  <a16:creationId xmlns:a16="http://schemas.microsoft.com/office/drawing/2014/main" id="{D0EAC3E8-A012-49E6-A70E-C4463E943792}"/>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0" name="Oval 139">
              <a:extLst>
                <a:ext uri="{FF2B5EF4-FFF2-40B4-BE49-F238E27FC236}">
                  <a16:creationId xmlns:a16="http://schemas.microsoft.com/office/drawing/2014/main" id="{91C8DEC3-0C38-423A-A82A-92558A4973E9}"/>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19</a:t>
              </a:r>
            </a:p>
          </p:txBody>
        </p:sp>
      </p:grpSp>
      <p:grpSp>
        <p:nvGrpSpPr>
          <p:cNvPr id="141" name="Group 140">
            <a:extLst>
              <a:ext uri="{FF2B5EF4-FFF2-40B4-BE49-F238E27FC236}">
                <a16:creationId xmlns:a16="http://schemas.microsoft.com/office/drawing/2014/main" id="{DCABB398-8BE5-4E62-912D-35D841E309C1}"/>
              </a:ext>
            </a:extLst>
          </p:cNvPr>
          <p:cNvGrpSpPr/>
          <p:nvPr/>
        </p:nvGrpSpPr>
        <p:grpSpPr>
          <a:xfrm>
            <a:off x="1219345" y="3496126"/>
            <a:ext cx="198908" cy="454141"/>
            <a:chOff x="2007944" y="4880911"/>
            <a:chExt cx="198908" cy="620438"/>
          </a:xfrm>
        </p:grpSpPr>
        <p:cxnSp>
          <p:nvCxnSpPr>
            <p:cNvPr id="142" name="Straight Arrow Connector 141">
              <a:extLst>
                <a:ext uri="{FF2B5EF4-FFF2-40B4-BE49-F238E27FC236}">
                  <a16:creationId xmlns:a16="http://schemas.microsoft.com/office/drawing/2014/main" id="{BA975802-1D0C-4EC9-AC4A-50E0ABEFB927}"/>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FD414A9A-7173-43C0-AA9B-E538BCCA1466}"/>
                </a:ext>
              </a:extLst>
            </p:cNvPr>
            <p:cNvSpPr/>
            <p:nvPr/>
          </p:nvSpPr>
          <p:spPr>
            <a:xfrm>
              <a:off x="2007944" y="5029481"/>
              <a:ext cx="198908"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19</a:t>
              </a:r>
            </a:p>
          </p:txBody>
        </p:sp>
      </p:grpSp>
      <p:grpSp>
        <p:nvGrpSpPr>
          <p:cNvPr id="144" name="Group 143">
            <a:extLst>
              <a:ext uri="{FF2B5EF4-FFF2-40B4-BE49-F238E27FC236}">
                <a16:creationId xmlns:a16="http://schemas.microsoft.com/office/drawing/2014/main" id="{5F3FC2D4-D6AA-40AC-BBE9-9A34035A6FE7}"/>
              </a:ext>
            </a:extLst>
          </p:cNvPr>
          <p:cNvGrpSpPr/>
          <p:nvPr/>
        </p:nvGrpSpPr>
        <p:grpSpPr>
          <a:xfrm>
            <a:off x="624383" y="2693486"/>
            <a:ext cx="194900" cy="409617"/>
            <a:chOff x="2842562" y="5096226"/>
            <a:chExt cx="194900" cy="409617"/>
          </a:xfrm>
        </p:grpSpPr>
        <p:cxnSp>
          <p:nvCxnSpPr>
            <p:cNvPr id="145" name="Straight Arrow Connector 144">
              <a:extLst>
                <a:ext uri="{FF2B5EF4-FFF2-40B4-BE49-F238E27FC236}">
                  <a16:creationId xmlns:a16="http://schemas.microsoft.com/office/drawing/2014/main" id="{D4A89A51-0982-41E4-AA7A-C7AD610932F9}"/>
                </a:ext>
              </a:extLst>
            </p:cNvPr>
            <p:cNvCxnSpPr>
              <a:cxnSpLocks/>
            </p:cNvCxnSpPr>
            <p:nvPr/>
          </p:nvCxnSpPr>
          <p:spPr>
            <a:xfrm>
              <a:off x="2940012" y="5096226"/>
              <a:ext cx="0" cy="409617"/>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46" name="Oval 145">
              <a:extLst>
                <a:ext uri="{FF2B5EF4-FFF2-40B4-BE49-F238E27FC236}">
                  <a16:creationId xmlns:a16="http://schemas.microsoft.com/office/drawing/2014/main" id="{33291F84-BB3B-4A85-B2A3-2BEE19C1EEC8}"/>
                </a:ext>
              </a:extLst>
            </p:cNvPr>
            <p:cNvSpPr/>
            <p:nvPr/>
          </p:nvSpPr>
          <p:spPr>
            <a:xfrm>
              <a:off x="2842562" y="5202420"/>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17</a:t>
              </a:r>
            </a:p>
          </p:txBody>
        </p:sp>
      </p:grpSp>
      <p:grpSp>
        <p:nvGrpSpPr>
          <p:cNvPr id="147" name="Group 146">
            <a:extLst>
              <a:ext uri="{FF2B5EF4-FFF2-40B4-BE49-F238E27FC236}">
                <a16:creationId xmlns:a16="http://schemas.microsoft.com/office/drawing/2014/main" id="{CEBF4963-17CD-4C33-9199-195EB92E9EFB}"/>
              </a:ext>
            </a:extLst>
          </p:cNvPr>
          <p:cNvGrpSpPr/>
          <p:nvPr/>
        </p:nvGrpSpPr>
        <p:grpSpPr>
          <a:xfrm>
            <a:off x="1211975" y="2694400"/>
            <a:ext cx="194900" cy="409617"/>
            <a:chOff x="2842562" y="5096226"/>
            <a:chExt cx="194900" cy="409617"/>
          </a:xfrm>
        </p:grpSpPr>
        <p:cxnSp>
          <p:nvCxnSpPr>
            <p:cNvPr id="148" name="Straight Arrow Connector 147">
              <a:extLst>
                <a:ext uri="{FF2B5EF4-FFF2-40B4-BE49-F238E27FC236}">
                  <a16:creationId xmlns:a16="http://schemas.microsoft.com/office/drawing/2014/main" id="{92DD4D06-6411-47D8-9866-FFAB83A7E521}"/>
                </a:ext>
              </a:extLst>
            </p:cNvPr>
            <p:cNvCxnSpPr>
              <a:cxnSpLocks/>
            </p:cNvCxnSpPr>
            <p:nvPr/>
          </p:nvCxnSpPr>
          <p:spPr>
            <a:xfrm>
              <a:off x="2940012" y="5096226"/>
              <a:ext cx="0" cy="409617"/>
            </a:xfrm>
            <a:prstGeom prst="straightConnector1">
              <a:avLst/>
            </a:prstGeom>
            <a:ln w="127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49" name="Oval 148">
              <a:extLst>
                <a:ext uri="{FF2B5EF4-FFF2-40B4-BE49-F238E27FC236}">
                  <a16:creationId xmlns:a16="http://schemas.microsoft.com/office/drawing/2014/main" id="{EB7EDC36-B3CB-4EBB-A21B-59AA1765760E}"/>
                </a:ext>
              </a:extLst>
            </p:cNvPr>
            <p:cNvSpPr/>
            <p:nvPr/>
          </p:nvSpPr>
          <p:spPr>
            <a:xfrm>
              <a:off x="2842562" y="5202420"/>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19</a:t>
              </a:r>
            </a:p>
          </p:txBody>
        </p:sp>
      </p:grpSp>
      <p:grpSp>
        <p:nvGrpSpPr>
          <p:cNvPr id="153" name="Group 152">
            <a:extLst>
              <a:ext uri="{FF2B5EF4-FFF2-40B4-BE49-F238E27FC236}">
                <a16:creationId xmlns:a16="http://schemas.microsoft.com/office/drawing/2014/main" id="{1F1D9745-C86A-45BD-AA98-DB224F16C0C5}"/>
              </a:ext>
            </a:extLst>
          </p:cNvPr>
          <p:cNvGrpSpPr/>
          <p:nvPr/>
        </p:nvGrpSpPr>
        <p:grpSpPr>
          <a:xfrm>
            <a:off x="2860946" y="4367611"/>
            <a:ext cx="194900" cy="454141"/>
            <a:chOff x="2842562" y="4885405"/>
            <a:chExt cx="194900" cy="620438"/>
          </a:xfrm>
        </p:grpSpPr>
        <p:cxnSp>
          <p:nvCxnSpPr>
            <p:cNvPr id="154" name="Straight Arrow Connector 153">
              <a:extLst>
                <a:ext uri="{FF2B5EF4-FFF2-40B4-BE49-F238E27FC236}">
                  <a16:creationId xmlns:a16="http://schemas.microsoft.com/office/drawing/2014/main" id="{C3512A06-BE1A-434F-955F-274320385D79}"/>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5" name="Oval 154">
              <a:extLst>
                <a:ext uri="{FF2B5EF4-FFF2-40B4-BE49-F238E27FC236}">
                  <a16:creationId xmlns:a16="http://schemas.microsoft.com/office/drawing/2014/main" id="{8CC7A5D4-A50D-4990-AE02-3C0296C83F9D}"/>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17</a:t>
              </a:r>
            </a:p>
          </p:txBody>
        </p:sp>
      </p:grpSp>
      <p:grpSp>
        <p:nvGrpSpPr>
          <p:cNvPr id="156" name="Group 155">
            <a:extLst>
              <a:ext uri="{FF2B5EF4-FFF2-40B4-BE49-F238E27FC236}">
                <a16:creationId xmlns:a16="http://schemas.microsoft.com/office/drawing/2014/main" id="{CF97750A-4923-463A-B98F-6835A889040C}"/>
              </a:ext>
            </a:extLst>
          </p:cNvPr>
          <p:cNvGrpSpPr/>
          <p:nvPr/>
        </p:nvGrpSpPr>
        <p:grpSpPr>
          <a:xfrm>
            <a:off x="3454428" y="4370120"/>
            <a:ext cx="194900" cy="454141"/>
            <a:chOff x="2842562" y="4885405"/>
            <a:chExt cx="194900" cy="620438"/>
          </a:xfrm>
        </p:grpSpPr>
        <p:cxnSp>
          <p:nvCxnSpPr>
            <p:cNvPr id="157" name="Straight Arrow Connector 156">
              <a:extLst>
                <a:ext uri="{FF2B5EF4-FFF2-40B4-BE49-F238E27FC236}">
                  <a16:creationId xmlns:a16="http://schemas.microsoft.com/office/drawing/2014/main" id="{2EE6671B-8863-4EBA-B8D5-9EBA874E04B2}"/>
                </a:ext>
              </a:extLst>
            </p:cNvPr>
            <p:cNvCxnSpPr>
              <a:cxnSpLocks/>
            </p:cNvCxnSpPr>
            <p:nvPr/>
          </p:nvCxnSpPr>
          <p:spPr>
            <a:xfrm>
              <a:off x="2940012" y="488540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8" name="Oval 157">
              <a:extLst>
                <a:ext uri="{FF2B5EF4-FFF2-40B4-BE49-F238E27FC236}">
                  <a16:creationId xmlns:a16="http://schemas.microsoft.com/office/drawing/2014/main" id="{0CE1AD2A-0779-4662-A57B-9A1AD67D5DFB}"/>
                </a:ext>
              </a:extLst>
            </p:cNvPr>
            <p:cNvSpPr/>
            <p:nvPr/>
          </p:nvSpPr>
          <p:spPr>
            <a:xfrm>
              <a:off x="2842562" y="5178356"/>
              <a:ext cx="194900" cy="1949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19</a:t>
              </a:r>
            </a:p>
          </p:txBody>
        </p:sp>
      </p:grpSp>
      <p:sp>
        <p:nvSpPr>
          <p:cNvPr id="2" name="TextBox 1">
            <a:extLst>
              <a:ext uri="{FF2B5EF4-FFF2-40B4-BE49-F238E27FC236}">
                <a16:creationId xmlns:a16="http://schemas.microsoft.com/office/drawing/2014/main" id="{10E2BE4E-3374-4E94-B185-70405D7B1E26}"/>
              </a:ext>
            </a:extLst>
          </p:cNvPr>
          <p:cNvSpPr txBox="1"/>
          <p:nvPr/>
        </p:nvSpPr>
        <p:spPr>
          <a:xfrm>
            <a:off x="4463879" y="5936738"/>
            <a:ext cx="4310675" cy="461665"/>
          </a:xfrm>
          <a:prstGeom prst="rect">
            <a:avLst/>
          </a:prstGeom>
          <a:noFill/>
        </p:spPr>
        <p:txBody>
          <a:bodyPr wrap="square" rtlCol="0">
            <a:spAutoFit/>
          </a:bodyPr>
          <a:lstStyle/>
          <a:p>
            <a:pPr algn="l"/>
            <a:r>
              <a:rPr lang="en-GB" sz="800" i="1"/>
              <a:t>There may be further integrations in Phase 2 to coordinate aspects of move-in / move=out with the leasing journey. We are presenting Lease Signed and Lease Agreed as one integration in this slide but they may be separate. </a:t>
            </a:r>
          </a:p>
        </p:txBody>
      </p:sp>
      <p:grpSp>
        <p:nvGrpSpPr>
          <p:cNvPr id="61" name="Group 60">
            <a:extLst>
              <a:ext uri="{FF2B5EF4-FFF2-40B4-BE49-F238E27FC236}">
                <a16:creationId xmlns:a16="http://schemas.microsoft.com/office/drawing/2014/main" id="{6A8FD415-9ACD-498D-93C2-F2AB61888B45}"/>
              </a:ext>
            </a:extLst>
          </p:cNvPr>
          <p:cNvGrpSpPr/>
          <p:nvPr/>
        </p:nvGrpSpPr>
        <p:grpSpPr>
          <a:xfrm>
            <a:off x="289244" y="5418280"/>
            <a:ext cx="3649649" cy="878439"/>
            <a:chOff x="289244" y="5418280"/>
            <a:chExt cx="3649649" cy="878439"/>
          </a:xfrm>
        </p:grpSpPr>
        <p:sp>
          <p:nvSpPr>
            <p:cNvPr id="62" name="Rectangle 61">
              <a:extLst>
                <a:ext uri="{FF2B5EF4-FFF2-40B4-BE49-F238E27FC236}">
                  <a16:creationId xmlns:a16="http://schemas.microsoft.com/office/drawing/2014/main" id="{60C42025-87F0-48A0-85A3-68C2D8D0D674}"/>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3" name="Group 62">
              <a:extLst>
                <a:ext uri="{FF2B5EF4-FFF2-40B4-BE49-F238E27FC236}">
                  <a16:creationId xmlns:a16="http://schemas.microsoft.com/office/drawing/2014/main" id="{9548C81B-7FFD-46DF-A87E-3A50688046CD}"/>
                </a:ext>
              </a:extLst>
            </p:cNvPr>
            <p:cNvGrpSpPr/>
            <p:nvPr/>
          </p:nvGrpSpPr>
          <p:grpSpPr>
            <a:xfrm>
              <a:off x="361773" y="5476571"/>
              <a:ext cx="3444371" cy="250772"/>
              <a:chOff x="-1487335" y="2073671"/>
              <a:chExt cx="3503665" cy="250772"/>
            </a:xfrm>
          </p:grpSpPr>
          <p:cxnSp>
            <p:nvCxnSpPr>
              <p:cNvPr id="67" name="Straight Arrow Connector 66">
                <a:extLst>
                  <a:ext uri="{FF2B5EF4-FFF2-40B4-BE49-F238E27FC236}">
                    <a16:creationId xmlns:a16="http://schemas.microsoft.com/office/drawing/2014/main" id="{24B58169-614A-4857-ABE2-2575B9B3085E}"/>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4F1B8E7-7749-4814-AB84-F050DA174C71}"/>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D03F422-F7E9-422F-B769-FD9BFEE5CA28}"/>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71" name="TextBox 70">
                <a:extLst>
                  <a:ext uri="{FF2B5EF4-FFF2-40B4-BE49-F238E27FC236}">
                    <a16:creationId xmlns:a16="http://schemas.microsoft.com/office/drawing/2014/main" id="{874F4008-87ED-4BDE-BEDA-E59F7400FAE2}"/>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72" name="TextBox 71">
                <a:extLst>
                  <a:ext uri="{FF2B5EF4-FFF2-40B4-BE49-F238E27FC236}">
                    <a16:creationId xmlns:a16="http://schemas.microsoft.com/office/drawing/2014/main" id="{022F22E6-5A49-4847-B57E-835891291237}"/>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grpSp>
      <p:sp>
        <p:nvSpPr>
          <p:cNvPr id="77" name="Rectangle 76">
            <a:extLst>
              <a:ext uri="{FF2B5EF4-FFF2-40B4-BE49-F238E27FC236}">
                <a16:creationId xmlns:a16="http://schemas.microsoft.com/office/drawing/2014/main" id="{92D9099A-9154-4A2A-A5DB-873FBC501482}"/>
              </a:ext>
            </a:extLst>
          </p:cNvPr>
          <p:cNvSpPr/>
          <p:nvPr/>
        </p:nvSpPr>
        <p:spPr>
          <a:xfrm>
            <a:off x="2731246" y="2309544"/>
            <a:ext cx="1042874"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a:latin typeface="+mj-lt"/>
              </a:rPr>
              <a:t>Van Mildert</a:t>
            </a:r>
          </a:p>
        </p:txBody>
      </p:sp>
      <p:sp>
        <p:nvSpPr>
          <p:cNvPr id="78" name="Rectangle 77">
            <a:extLst>
              <a:ext uri="{FF2B5EF4-FFF2-40B4-BE49-F238E27FC236}">
                <a16:creationId xmlns:a16="http://schemas.microsoft.com/office/drawing/2014/main" id="{DB9C8E7E-0D9A-41E7-8581-C9CE3CFF3891}"/>
              </a:ext>
            </a:extLst>
          </p:cNvPr>
          <p:cNvSpPr/>
          <p:nvPr/>
        </p:nvSpPr>
        <p:spPr>
          <a:xfrm>
            <a:off x="1601333" y="2309544"/>
            <a:ext cx="1042874" cy="378000"/>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algn="ctr"/>
            <a:r>
              <a:rPr lang="en-GB" sz="1200">
                <a:latin typeface="+mj-lt"/>
              </a:rPr>
              <a:t>L2L Portal</a:t>
            </a:r>
          </a:p>
        </p:txBody>
      </p:sp>
      <p:grpSp>
        <p:nvGrpSpPr>
          <p:cNvPr id="80" name="Group 79">
            <a:extLst>
              <a:ext uri="{FF2B5EF4-FFF2-40B4-BE49-F238E27FC236}">
                <a16:creationId xmlns:a16="http://schemas.microsoft.com/office/drawing/2014/main" id="{45272950-9910-4B24-B842-D2D89055D953}"/>
              </a:ext>
            </a:extLst>
          </p:cNvPr>
          <p:cNvGrpSpPr/>
          <p:nvPr/>
        </p:nvGrpSpPr>
        <p:grpSpPr>
          <a:xfrm>
            <a:off x="1652239" y="2687544"/>
            <a:ext cx="289530" cy="421086"/>
            <a:chOff x="1962633" y="4945235"/>
            <a:chExt cx="289530" cy="556111"/>
          </a:xfrm>
        </p:grpSpPr>
        <p:cxnSp>
          <p:nvCxnSpPr>
            <p:cNvPr id="82" name="Straight Arrow Connector 81">
              <a:extLst>
                <a:ext uri="{FF2B5EF4-FFF2-40B4-BE49-F238E27FC236}">
                  <a16:creationId xmlns:a16="http://schemas.microsoft.com/office/drawing/2014/main" id="{3F94C7F6-2A93-4BD5-85C0-D049D37860F2}"/>
                </a:ext>
              </a:extLst>
            </p:cNvPr>
            <p:cNvCxnSpPr>
              <a:cxnSpLocks/>
            </p:cNvCxnSpPr>
            <p:nvPr/>
          </p:nvCxnSpPr>
          <p:spPr>
            <a:xfrm flipV="1">
              <a:off x="2107398" y="4945235"/>
              <a:ext cx="0" cy="55611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BF635744-2283-4C24-8599-BC2DB55EBC04}"/>
                </a:ext>
              </a:extLst>
            </p:cNvPr>
            <p:cNvSpPr/>
            <p:nvPr/>
          </p:nvSpPr>
          <p:spPr>
            <a:xfrm>
              <a:off x="1962633" y="5225152"/>
              <a:ext cx="289530" cy="1949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33</a:t>
              </a:r>
            </a:p>
          </p:txBody>
        </p:sp>
      </p:grpSp>
      <p:grpSp>
        <p:nvGrpSpPr>
          <p:cNvPr id="16" name="Group 15">
            <a:extLst>
              <a:ext uri="{FF2B5EF4-FFF2-40B4-BE49-F238E27FC236}">
                <a16:creationId xmlns:a16="http://schemas.microsoft.com/office/drawing/2014/main" id="{C261D719-08F5-45C6-A9E6-2CECA291DF06}"/>
              </a:ext>
            </a:extLst>
          </p:cNvPr>
          <p:cNvGrpSpPr/>
          <p:nvPr/>
        </p:nvGrpSpPr>
        <p:grpSpPr>
          <a:xfrm>
            <a:off x="2129120" y="2681196"/>
            <a:ext cx="1129913" cy="305969"/>
            <a:chOff x="2129120" y="2681196"/>
            <a:chExt cx="1129913" cy="305969"/>
          </a:xfrm>
        </p:grpSpPr>
        <p:cxnSp>
          <p:nvCxnSpPr>
            <p:cNvPr id="14" name="Connector: Elbow 13">
              <a:extLst>
                <a:ext uri="{FF2B5EF4-FFF2-40B4-BE49-F238E27FC236}">
                  <a16:creationId xmlns:a16="http://schemas.microsoft.com/office/drawing/2014/main" id="{3BDE0832-D380-434A-930C-DE91F9B1CE76}"/>
                </a:ext>
              </a:extLst>
            </p:cNvPr>
            <p:cNvCxnSpPr>
              <a:cxnSpLocks/>
            </p:cNvCxnSpPr>
            <p:nvPr/>
          </p:nvCxnSpPr>
          <p:spPr>
            <a:xfrm rot="5400000">
              <a:off x="2687727" y="2122589"/>
              <a:ext cx="12700" cy="1129913"/>
            </a:xfrm>
            <a:prstGeom prst="bentConnector3">
              <a:avLst>
                <a:gd name="adj1" fmla="val 18000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7CB090A5-FC6F-4FCC-A3CA-3FA9DFDE07A8}"/>
                </a:ext>
              </a:extLst>
            </p:cNvPr>
            <p:cNvSpPr/>
            <p:nvPr/>
          </p:nvSpPr>
          <p:spPr>
            <a:xfrm>
              <a:off x="2602458" y="2839587"/>
              <a:ext cx="289530" cy="147578"/>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34</a:t>
              </a:r>
            </a:p>
          </p:txBody>
        </p:sp>
      </p:grpSp>
      <p:sp>
        <p:nvSpPr>
          <p:cNvPr id="84" name="Rectangle: Rounded Corners 83">
            <a:extLst>
              <a:ext uri="{FF2B5EF4-FFF2-40B4-BE49-F238E27FC236}">
                <a16:creationId xmlns:a16="http://schemas.microsoft.com/office/drawing/2014/main" id="{8A28AD3F-494A-4A9B-A41E-486398D4B6B2}"/>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85" name="Rectangle: Rounded Corners 84">
            <a:extLst>
              <a:ext uri="{FF2B5EF4-FFF2-40B4-BE49-F238E27FC236}">
                <a16:creationId xmlns:a16="http://schemas.microsoft.com/office/drawing/2014/main" id="{E7497798-F3E9-4A50-96A4-5A274C3DAB1E}"/>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96" name="Rectangle: Rounded Corners 95">
            <a:extLst>
              <a:ext uri="{FF2B5EF4-FFF2-40B4-BE49-F238E27FC236}">
                <a16:creationId xmlns:a16="http://schemas.microsoft.com/office/drawing/2014/main" id="{DE319930-0FED-4AF2-A999-B3E27ABC5600}"/>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spTree>
    <p:extLst>
      <p:ext uri="{BB962C8B-B14F-4D97-AF65-F5344CB8AC3E}">
        <p14:creationId xmlns:p14="http://schemas.microsoft.com/office/powerpoint/2010/main" val="608876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Transactional Comms integrations</a:t>
            </a:r>
          </a:p>
        </p:txBody>
      </p:sp>
      <p:sp>
        <p:nvSpPr>
          <p:cNvPr id="4" name="Rectangle 3">
            <a:extLst>
              <a:ext uri="{FF2B5EF4-FFF2-40B4-BE49-F238E27FC236}">
                <a16:creationId xmlns:a16="http://schemas.microsoft.com/office/drawing/2014/main" id="{0DE607AF-664A-44FB-B95F-F1178AD57902}"/>
              </a:ext>
            </a:extLst>
          </p:cNvPr>
          <p:cNvSpPr/>
          <p:nvPr/>
        </p:nvSpPr>
        <p:spPr>
          <a:xfrm>
            <a:off x="357222" y="3553132"/>
            <a:ext cx="3507169" cy="377505"/>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11" name="Rectangle 10">
            <a:extLst>
              <a:ext uri="{FF2B5EF4-FFF2-40B4-BE49-F238E27FC236}">
                <a16:creationId xmlns:a16="http://schemas.microsoft.com/office/drawing/2014/main" id="{0B37F336-8A85-4EDB-A255-C521100DBCBE}"/>
              </a:ext>
            </a:extLst>
          </p:cNvPr>
          <p:cNvSpPr/>
          <p:nvPr/>
        </p:nvSpPr>
        <p:spPr>
          <a:xfrm>
            <a:off x="2191112" y="2393675"/>
            <a:ext cx="1588668" cy="54354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err="1">
                <a:latin typeface="+mj-lt"/>
              </a:rPr>
              <a:t>MiTel</a:t>
            </a:r>
            <a:endParaRPr lang="en-GB" sz="1400">
              <a:latin typeface="+mj-lt"/>
            </a:endParaRPr>
          </a:p>
        </p:txBody>
      </p:sp>
      <p:sp>
        <p:nvSpPr>
          <p:cNvPr id="12" name="Rectangle 11">
            <a:extLst>
              <a:ext uri="{FF2B5EF4-FFF2-40B4-BE49-F238E27FC236}">
                <a16:creationId xmlns:a16="http://schemas.microsoft.com/office/drawing/2014/main" id="{AF0D2BFC-6FDA-40C3-AC14-15875ECA52AB}"/>
              </a:ext>
            </a:extLst>
          </p:cNvPr>
          <p:cNvSpPr/>
          <p:nvPr/>
        </p:nvSpPr>
        <p:spPr>
          <a:xfrm>
            <a:off x="441832" y="2377466"/>
            <a:ext cx="1588668" cy="543546"/>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Comms Platform</a:t>
            </a:r>
          </a:p>
        </p:txBody>
      </p:sp>
      <p:grpSp>
        <p:nvGrpSpPr>
          <p:cNvPr id="2" name="Group 1">
            <a:extLst>
              <a:ext uri="{FF2B5EF4-FFF2-40B4-BE49-F238E27FC236}">
                <a16:creationId xmlns:a16="http://schemas.microsoft.com/office/drawing/2014/main" id="{4A7DBBCC-0BE1-4224-9C40-8B7C9A7B892C}"/>
              </a:ext>
            </a:extLst>
          </p:cNvPr>
          <p:cNvGrpSpPr/>
          <p:nvPr/>
        </p:nvGrpSpPr>
        <p:grpSpPr>
          <a:xfrm>
            <a:off x="441834" y="4551075"/>
            <a:ext cx="3337946" cy="672564"/>
            <a:chOff x="443385" y="5505843"/>
            <a:chExt cx="6795605" cy="672564"/>
          </a:xfrm>
        </p:grpSpPr>
        <p:sp>
          <p:nvSpPr>
            <p:cNvPr id="5" name="Rectangle: Rounded Corners 4">
              <a:extLst>
                <a:ext uri="{FF2B5EF4-FFF2-40B4-BE49-F238E27FC236}">
                  <a16:creationId xmlns:a16="http://schemas.microsoft.com/office/drawing/2014/main" id="{E4AD130D-F7AC-4F71-8DE2-D9C5A063B6C3}"/>
                </a:ext>
              </a:extLst>
            </p:cNvPr>
            <p:cNvSpPr/>
            <p:nvPr/>
          </p:nvSpPr>
          <p:spPr>
            <a:xfrm>
              <a:off x="443385" y="5505844"/>
              <a:ext cx="1588668"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0" name="Rectangle: Rounded Corners 9">
              <a:extLst>
                <a:ext uri="{FF2B5EF4-FFF2-40B4-BE49-F238E27FC236}">
                  <a16:creationId xmlns:a16="http://schemas.microsoft.com/office/drawing/2014/main" id="{3129E607-BD68-48F8-BBAF-AD63BE925A5D}"/>
                </a:ext>
              </a:extLst>
            </p:cNvPr>
            <p:cNvSpPr/>
            <p:nvPr/>
          </p:nvSpPr>
          <p:spPr>
            <a:xfrm>
              <a:off x="2192666" y="5505843"/>
              <a:ext cx="1588668"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Pro</a:t>
              </a:r>
            </a:p>
            <a:p>
              <a:pPr algn="ctr"/>
              <a:r>
                <a:rPr lang="en-GB" sz="1400" err="1">
                  <a:latin typeface="+mj-lt"/>
                </a:rPr>
                <a:t>Actis</a:t>
              </a:r>
              <a:endParaRPr lang="en-GB" sz="1400">
                <a:latin typeface="+mj-lt"/>
              </a:endParaRPr>
            </a:p>
          </p:txBody>
        </p:sp>
        <p:sp>
          <p:nvSpPr>
            <p:cNvPr id="73" name="Rectangle: Rounded Corners 72">
              <a:extLst>
                <a:ext uri="{FF2B5EF4-FFF2-40B4-BE49-F238E27FC236}">
                  <a16:creationId xmlns:a16="http://schemas.microsoft.com/office/drawing/2014/main" id="{B0242900-B58A-4725-911E-32764CACF46A}"/>
                </a:ext>
              </a:extLst>
            </p:cNvPr>
            <p:cNvSpPr/>
            <p:nvPr/>
          </p:nvSpPr>
          <p:spPr>
            <a:xfrm>
              <a:off x="3932932" y="5505843"/>
              <a:ext cx="1588668"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FSI</a:t>
              </a:r>
            </a:p>
          </p:txBody>
        </p:sp>
        <p:sp>
          <p:nvSpPr>
            <p:cNvPr id="93" name="Rectangle: Rounded Corners 92">
              <a:extLst>
                <a:ext uri="{FF2B5EF4-FFF2-40B4-BE49-F238E27FC236}">
                  <a16:creationId xmlns:a16="http://schemas.microsoft.com/office/drawing/2014/main" id="{1DE0850B-E3C8-4B36-8853-82C887AB2076}"/>
                </a:ext>
              </a:extLst>
            </p:cNvPr>
            <p:cNvSpPr/>
            <p:nvPr/>
          </p:nvSpPr>
          <p:spPr>
            <a:xfrm>
              <a:off x="5650322" y="5507288"/>
              <a:ext cx="1588668" cy="671119"/>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a:t>
              </a:r>
            </a:p>
            <a:p>
              <a:pPr algn="ctr"/>
              <a:r>
                <a:rPr lang="en-GB" sz="1400">
                  <a:latin typeface="+mj-lt"/>
                </a:rPr>
                <a:t>force</a:t>
              </a:r>
            </a:p>
          </p:txBody>
        </p:sp>
      </p:grpSp>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679438" y="2927658"/>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549904" y="3134267"/>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20</a:t>
            </a:r>
          </a:p>
        </p:txBody>
      </p:sp>
      <p:sp>
        <p:nvSpPr>
          <p:cNvPr id="79" name="Content Placeholder 5">
            <a:extLst>
              <a:ext uri="{FF2B5EF4-FFF2-40B4-BE49-F238E27FC236}">
                <a16:creationId xmlns:a16="http://schemas.microsoft.com/office/drawing/2014/main" id="{2D1B1027-62A0-411E-9CBA-332ECB4A0CC8}"/>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The ability for Connect to send out messages to customers will be there for day 1. Most of that will use our transactional communications platform, with the exceptions of the leasing journey messages (from Salesforce), card payment receipts (from Salesforce), Direct Debit confirmations (from GoCardless), and supplier remittances (from MRI). The ‘phase 2’ integrations here relate mostly to Salesforce as per ‘option 4’.</a:t>
            </a:r>
          </a:p>
        </p:txBody>
      </p:sp>
      <p:cxnSp>
        <p:nvCxnSpPr>
          <p:cNvPr id="107" name="Straight Arrow Connector 106">
            <a:extLst>
              <a:ext uri="{FF2B5EF4-FFF2-40B4-BE49-F238E27FC236}">
                <a16:creationId xmlns:a16="http://schemas.microsoft.com/office/drawing/2014/main" id="{14FD8053-6DAF-4CD7-B6AF-5A029BA6B66E}"/>
              </a:ext>
            </a:extLst>
          </p:cNvPr>
          <p:cNvCxnSpPr>
            <a:cxnSpLocks/>
          </p:cNvCxnSpPr>
          <p:nvPr/>
        </p:nvCxnSpPr>
        <p:spPr>
          <a:xfrm flipV="1">
            <a:off x="1692612" y="3930637"/>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47EFB3AE-FF46-4172-80C3-D66D641E6F38}"/>
              </a:ext>
            </a:extLst>
          </p:cNvPr>
          <p:cNvSpPr/>
          <p:nvPr/>
        </p:nvSpPr>
        <p:spPr>
          <a:xfrm>
            <a:off x="1563078" y="4191504"/>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21</a:t>
            </a:r>
          </a:p>
        </p:txBody>
      </p:sp>
      <p:cxnSp>
        <p:nvCxnSpPr>
          <p:cNvPr id="113" name="Straight Arrow Connector 112">
            <a:extLst>
              <a:ext uri="{FF2B5EF4-FFF2-40B4-BE49-F238E27FC236}">
                <a16:creationId xmlns:a16="http://schemas.microsoft.com/office/drawing/2014/main" id="{08C182A7-37C1-46D4-A378-9F69BDAECDEC}"/>
              </a:ext>
            </a:extLst>
          </p:cNvPr>
          <p:cNvCxnSpPr>
            <a:cxnSpLocks/>
          </p:cNvCxnSpPr>
          <p:nvPr/>
        </p:nvCxnSpPr>
        <p:spPr>
          <a:xfrm flipV="1">
            <a:off x="821600" y="3932688"/>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38FEF46D-9486-4E96-B243-75E76BF6446D}"/>
              </a:ext>
            </a:extLst>
          </p:cNvPr>
          <p:cNvSpPr/>
          <p:nvPr/>
        </p:nvSpPr>
        <p:spPr>
          <a:xfrm>
            <a:off x="692066" y="4193555"/>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20</a:t>
            </a:r>
          </a:p>
        </p:txBody>
      </p:sp>
      <p:grpSp>
        <p:nvGrpSpPr>
          <p:cNvPr id="118" name="Group 117">
            <a:extLst>
              <a:ext uri="{FF2B5EF4-FFF2-40B4-BE49-F238E27FC236}">
                <a16:creationId xmlns:a16="http://schemas.microsoft.com/office/drawing/2014/main" id="{E9B7D5B3-872F-4EA7-85F2-7D3DB26259AF}"/>
              </a:ext>
            </a:extLst>
          </p:cNvPr>
          <p:cNvGrpSpPr/>
          <p:nvPr/>
        </p:nvGrpSpPr>
        <p:grpSpPr>
          <a:xfrm>
            <a:off x="1694806" y="2926853"/>
            <a:ext cx="252000" cy="620438"/>
            <a:chOff x="1983881" y="4880911"/>
            <a:chExt cx="252000" cy="620438"/>
          </a:xfrm>
        </p:grpSpPr>
        <p:cxnSp>
          <p:nvCxnSpPr>
            <p:cNvPr id="119" name="Straight Arrow Connector 118">
              <a:extLst>
                <a:ext uri="{FF2B5EF4-FFF2-40B4-BE49-F238E27FC236}">
                  <a16:creationId xmlns:a16="http://schemas.microsoft.com/office/drawing/2014/main" id="{CA7F8DF0-624C-4BAB-A3BC-BFE6EF2CA9FE}"/>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8648FC73-FBB5-4C4B-98FE-A28FB4A95E81}"/>
                </a:ext>
              </a:extLst>
            </p:cNvPr>
            <p:cNvSpPr/>
            <p:nvPr/>
          </p:nvSpPr>
          <p:spPr>
            <a:xfrm>
              <a:off x="1983881" y="4989376"/>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23</a:t>
              </a:r>
            </a:p>
          </p:txBody>
        </p:sp>
      </p:grpSp>
      <p:cxnSp>
        <p:nvCxnSpPr>
          <p:cNvPr id="76" name="Straight Arrow Connector 75">
            <a:extLst>
              <a:ext uri="{FF2B5EF4-FFF2-40B4-BE49-F238E27FC236}">
                <a16:creationId xmlns:a16="http://schemas.microsoft.com/office/drawing/2014/main" id="{30835346-06FC-4174-8326-455506DA3416}"/>
              </a:ext>
            </a:extLst>
          </p:cNvPr>
          <p:cNvCxnSpPr>
            <a:cxnSpLocks/>
          </p:cNvCxnSpPr>
          <p:nvPr/>
        </p:nvCxnSpPr>
        <p:spPr>
          <a:xfrm flipV="1">
            <a:off x="2538907" y="3916594"/>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8C2E07BC-E53C-433A-96E9-373A5354EBDF}"/>
              </a:ext>
            </a:extLst>
          </p:cNvPr>
          <p:cNvSpPr/>
          <p:nvPr/>
        </p:nvSpPr>
        <p:spPr>
          <a:xfrm>
            <a:off x="2409373" y="4177461"/>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22</a:t>
            </a:r>
          </a:p>
        </p:txBody>
      </p:sp>
      <p:cxnSp>
        <p:nvCxnSpPr>
          <p:cNvPr id="88" name="Straight Arrow Connector 87">
            <a:extLst>
              <a:ext uri="{FF2B5EF4-FFF2-40B4-BE49-F238E27FC236}">
                <a16:creationId xmlns:a16="http://schemas.microsoft.com/office/drawing/2014/main" id="{1EE3ED2A-2678-474D-8E35-B8353BF7087D}"/>
              </a:ext>
            </a:extLst>
          </p:cNvPr>
          <p:cNvCxnSpPr>
            <a:cxnSpLocks/>
          </p:cNvCxnSpPr>
          <p:nvPr/>
        </p:nvCxnSpPr>
        <p:spPr>
          <a:xfrm flipV="1">
            <a:off x="965264" y="2921012"/>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F0751FF4-46F8-43E5-B837-A3C03E111794}"/>
              </a:ext>
            </a:extLst>
          </p:cNvPr>
          <p:cNvSpPr/>
          <p:nvPr/>
        </p:nvSpPr>
        <p:spPr>
          <a:xfrm>
            <a:off x="835730" y="3127621"/>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21</a:t>
            </a:r>
          </a:p>
        </p:txBody>
      </p:sp>
      <p:cxnSp>
        <p:nvCxnSpPr>
          <p:cNvPr id="91" name="Straight Arrow Connector 90">
            <a:extLst>
              <a:ext uri="{FF2B5EF4-FFF2-40B4-BE49-F238E27FC236}">
                <a16:creationId xmlns:a16="http://schemas.microsoft.com/office/drawing/2014/main" id="{9624914F-AD62-4379-A42A-EB47E9726F4C}"/>
              </a:ext>
            </a:extLst>
          </p:cNvPr>
          <p:cNvCxnSpPr>
            <a:cxnSpLocks/>
          </p:cNvCxnSpPr>
          <p:nvPr/>
        </p:nvCxnSpPr>
        <p:spPr>
          <a:xfrm flipV="1">
            <a:off x="1247348" y="2921012"/>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9A3F1C48-B49C-4EE6-BCA5-AA467099E33C}"/>
              </a:ext>
            </a:extLst>
          </p:cNvPr>
          <p:cNvSpPr/>
          <p:nvPr/>
        </p:nvSpPr>
        <p:spPr>
          <a:xfrm>
            <a:off x="1117814" y="3127621"/>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22</a:t>
            </a:r>
          </a:p>
        </p:txBody>
      </p:sp>
      <p:grpSp>
        <p:nvGrpSpPr>
          <p:cNvPr id="97" name="Group 96">
            <a:extLst>
              <a:ext uri="{FF2B5EF4-FFF2-40B4-BE49-F238E27FC236}">
                <a16:creationId xmlns:a16="http://schemas.microsoft.com/office/drawing/2014/main" id="{8F7D1174-2E30-4C1D-94F0-D9176E838730}"/>
              </a:ext>
            </a:extLst>
          </p:cNvPr>
          <p:cNvGrpSpPr/>
          <p:nvPr/>
        </p:nvGrpSpPr>
        <p:grpSpPr>
          <a:xfrm>
            <a:off x="2964930" y="3926110"/>
            <a:ext cx="252000" cy="620438"/>
            <a:chOff x="1983881" y="4880911"/>
            <a:chExt cx="252000" cy="620438"/>
          </a:xfrm>
        </p:grpSpPr>
        <p:cxnSp>
          <p:nvCxnSpPr>
            <p:cNvPr id="99" name="Straight Arrow Connector 98">
              <a:extLst>
                <a:ext uri="{FF2B5EF4-FFF2-40B4-BE49-F238E27FC236}">
                  <a16:creationId xmlns:a16="http://schemas.microsoft.com/office/drawing/2014/main" id="{70FE86FA-FD81-426D-AA67-C630219FCD0D}"/>
                </a:ext>
              </a:extLst>
            </p:cNvPr>
            <p:cNvCxnSpPr>
              <a:cxnSpLocks/>
            </p:cNvCxnSpPr>
            <p:nvPr/>
          </p:nvCxnSpPr>
          <p:spPr>
            <a:xfrm flipV="1">
              <a:off x="2107398" y="4880911"/>
              <a:ext cx="0" cy="620438"/>
            </a:xfrm>
            <a:prstGeom prst="straightConnector1">
              <a:avLst/>
            </a:prstGeom>
            <a:ln w="12700">
              <a:solidFill>
                <a:schemeClr val="tx1"/>
              </a:solidFill>
              <a:prstDash val="dash"/>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9CAB04A1-A37A-4CC4-A1AB-C73D3B7B0CEF}"/>
                </a:ext>
              </a:extLst>
            </p:cNvPr>
            <p:cNvSpPr/>
            <p:nvPr/>
          </p:nvSpPr>
          <p:spPr>
            <a:xfrm>
              <a:off x="1983881" y="5093649"/>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23</a:t>
              </a:r>
            </a:p>
          </p:txBody>
        </p:sp>
      </p:grpSp>
      <p:grpSp>
        <p:nvGrpSpPr>
          <p:cNvPr id="124" name="Group 123">
            <a:extLst>
              <a:ext uri="{FF2B5EF4-FFF2-40B4-BE49-F238E27FC236}">
                <a16:creationId xmlns:a16="http://schemas.microsoft.com/office/drawing/2014/main" id="{178006BF-9F4C-4DFD-B4F1-BFA3AED2E88A}"/>
              </a:ext>
            </a:extLst>
          </p:cNvPr>
          <p:cNvGrpSpPr/>
          <p:nvPr/>
        </p:nvGrpSpPr>
        <p:grpSpPr>
          <a:xfrm>
            <a:off x="2447459" y="2927658"/>
            <a:ext cx="252000" cy="620438"/>
            <a:chOff x="1983881" y="4880911"/>
            <a:chExt cx="252000" cy="620438"/>
          </a:xfrm>
        </p:grpSpPr>
        <p:cxnSp>
          <p:nvCxnSpPr>
            <p:cNvPr id="127" name="Straight Arrow Connector 126">
              <a:extLst>
                <a:ext uri="{FF2B5EF4-FFF2-40B4-BE49-F238E27FC236}">
                  <a16:creationId xmlns:a16="http://schemas.microsoft.com/office/drawing/2014/main" id="{C0C139EE-3067-4717-B9D9-846BBFEC6A42}"/>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D44CF07E-E711-421E-A887-CF05648F743C}"/>
                </a:ext>
              </a:extLst>
            </p:cNvPr>
            <p:cNvSpPr/>
            <p:nvPr/>
          </p:nvSpPr>
          <p:spPr>
            <a:xfrm>
              <a:off x="1983881" y="4989376"/>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24</a:t>
              </a:r>
            </a:p>
          </p:txBody>
        </p:sp>
      </p:grpSp>
      <p:grpSp>
        <p:nvGrpSpPr>
          <p:cNvPr id="133" name="Group 132">
            <a:extLst>
              <a:ext uri="{FF2B5EF4-FFF2-40B4-BE49-F238E27FC236}">
                <a16:creationId xmlns:a16="http://schemas.microsoft.com/office/drawing/2014/main" id="{63A4C920-E14C-4F40-B5B3-3853D9BB7198}"/>
              </a:ext>
            </a:extLst>
          </p:cNvPr>
          <p:cNvGrpSpPr/>
          <p:nvPr/>
        </p:nvGrpSpPr>
        <p:grpSpPr>
          <a:xfrm>
            <a:off x="3201074" y="3926110"/>
            <a:ext cx="252000" cy="620438"/>
            <a:chOff x="1983881" y="4880911"/>
            <a:chExt cx="252000" cy="620438"/>
          </a:xfrm>
        </p:grpSpPr>
        <p:cxnSp>
          <p:nvCxnSpPr>
            <p:cNvPr id="134" name="Straight Arrow Connector 133">
              <a:extLst>
                <a:ext uri="{FF2B5EF4-FFF2-40B4-BE49-F238E27FC236}">
                  <a16:creationId xmlns:a16="http://schemas.microsoft.com/office/drawing/2014/main" id="{07B2BEB9-456E-4695-ABEA-EB3F9F4EC3A0}"/>
                </a:ext>
              </a:extLst>
            </p:cNvPr>
            <p:cNvCxnSpPr>
              <a:cxnSpLocks/>
            </p:cNvCxnSpPr>
            <p:nvPr/>
          </p:nvCxnSpPr>
          <p:spPr>
            <a:xfrm flipV="1">
              <a:off x="2107398" y="4880911"/>
              <a:ext cx="0" cy="620438"/>
            </a:xfrm>
            <a:prstGeom prst="straightConnector1">
              <a:avLst/>
            </a:prstGeom>
            <a:ln w="12700">
              <a:solidFill>
                <a:schemeClr val="tx1"/>
              </a:solidFill>
              <a:prstDash val="dash"/>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35" name="Oval 134">
              <a:extLst>
                <a:ext uri="{FF2B5EF4-FFF2-40B4-BE49-F238E27FC236}">
                  <a16:creationId xmlns:a16="http://schemas.microsoft.com/office/drawing/2014/main" id="{9C48A53B-DA39-406E-93A4-193E9F968BE0}"/>
                </a:ext>
              </a:extLst>
            </p:cNvPr>
            <p:cNvSpPr/>
            <p:nvPr/>
          </p:nvSpPr>
          <p:spPr>
            <a:xfrm>
              <a:off x="1983881" y="5093649"/>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24</a:t>
              </a:r>
            </a:p>
          </p:txBody>
        </p:sp>
      </p:grpSp>
      <p:cxnSp>
        <p:nvCxnSpPr>
          <p:cNvPr id="136" name="Straight Arrow Connector 135">
            <a:extLst>
              <a:ext uri="{FF2B5EF4-FFF2-40B4-BE49-F238E27FC236}">
                <a16:creationId xmlns:a16="http://schemas.microsoft.com/office/drawing/2014/main" id="{EE58B034-1F5D-4008-8849-241EBAD2CEDA}"/>
              </a:ext>
            </a:extLst>
          </p:cNvPr>
          <p:cNvCxnSpPr>
            <a:cxnSpLocks/>
          </p:cNvCxnSpPr>
          <p:nvPr/>
        </p:nvCxnSpPr>
        <p:spPr>
          <a:xfrm flipV="1">
            <a:off x="3703425" y="3932688"/>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C42C9D55-79C8-4936-A725-9EB9363EC337}"/>
              </a:ext>
            </a:extLst>
          </p:cNvPr>
          <p:cNvSpPr/>
          <p:nvPr/>
        </p:nvSpPr>
        <p:spPr>
          <a:xfrm>
            <a:off x="3491434" y="4193555"/>
            <a:ext cx="430824"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25,31</a:t>
            </a:r>
          </a:p>
        </p:txBody>
      </p:sp>
      <p:cxnSp>
        <p:nvCxnSpPr>
          <p:cNvPr id="138" name="Straight Arrow Connector 137">
            <a:extLst>
              <a:ext uri="{FF2B5EF4-FFF2-40B4-BE49-F238E27FC236}">
                <a16:creationId xmlns:a16="http://schemas.microsoft.com/office/drawing/2014/main" id="{2DE9F721-CFC5-4ABB-BF5C-5984BBA62EAD}"/>
              </a:ext>
            </a:extLst>
          </p:cNvPr>
          <p:cNvCxnSpPr>
            <a:cxnSpLocks/>
          </p:cNvCxnSpPr>
          <p:nvPr/>
        </p:nvCxnSpPr>
        <p:spPr>
          <a:xfrm flipV="1">
            <a:off x="3220166" y="2915003"/>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55641F0B-1C61-4101-B018-2554DDB6C18E}"/>
              </a:ext>
            </a:extLst>
          </p:cNvPr>
          <p:cNvSpPr/>
          <p:nvPr/>
        </p:nvSpPr>
        <p:spPr>
          <a:xfrm>
            <a:off x="3090632" y="3121612"/>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25</a:t>
            </a:r>
          </a:p>
        </p:txBody>
      </p:sp>
      <p:grpSp>
        <p:nvGrpSpPr>
          <p:cNvPr id="3" name="Group 2">
            <a:extLst>
              <a:ext uri="{FF2B5EF4-FFF2-40B4-BE49-F238E27FC236}">
                <a16:creationId xmlns:a16="http://schemas.microsoft.com/office/drawing/2014/main" id="{155602B0-384D-4773-90A5-32212C60F18D}"/>
              </a:ext>
            </a:extLst>
          </p:cNvPr>
          <p:cNvGrpSpPr/>
          <p:nvPr/>
        </p:nvGrpSpPr>
        <p:grpSpPr>
          <a:xfrm>
            <a:off x="4470279" y="2393675"/>
            <a:ext cx="4316499" cy="3903044"/>
            <a:chOff x="4470279" y="2958496"/>
            <a:chExt cx="4316499" cy="3813945"/>
          </a:xfrm>
        </p:grpSpPr>
        <p:sp>
          <p:nvSpPr>
            <p:cNvPr id="26" name="Rectangle: Rounded Corners 25">
              <a:extLst>
                <a:ext uri="{FF2B5EF4-FFF2-40B4-BE49-F238E27FC236}">
                  <a16:creationId xmlns:a16="http://schemas.microsoft.com/office/drawing/2014/main" id="{108C1A2C-5086-4801-BC6A-F4BE1ED5088C}"/>
                </a:ext>
              </a:extLst>
            </p:cNvPr>
            <p:cNvSpPr/>
            <p:nvPr/>
          </p:nvSpPr>
          <p:spPr>
            <a:xfrm>
              <a:off x="4470279" y="2965460"/>
              <a:ext cx="4310675" cy="572207"/>
            </a:xfrm>
            <a:prstGeom prst="roundRect">
              <a:avLst>
                <a:gd name="adj" fmla="val 18463"/>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MRI Send message – </a:t>
              </a:r>
              <a:r>
                <a:rPr lang="en-GB" sz="1000">
                  <a:solidFill>
                    <a:schemeClr val="tx1"/>
                  </a:solidFill>
                </a:rPr>
                <a:t>MRI will send invoices, statements, arrears letters, supplier remittances  etc through the GREP email listener.</a:t>
              </a:r>
            </a:p>
          </p:txBody>
        </p:sp>
        <p:sp>
          <p:nvSpPr>
            <p:cNvPr id="49" name="Rectangle: Rounded Corners 48">
              <a:extLst>
                <a:ext uri="{FF2B5EF4-FFF2-40B4-BE49-F238E27FC236}">
                  <a16:creationId xmlns:a16="http://schemas.microsoft.com/office/drawing/2014/main" id="{DF793013-61E5-4B85-9642-36C6979AB48A}"/>
                </a:ext>
              </a:extLst>
            </p:cNvPr>
            <p:cNvSpPr/>
            <p:nvPr/>
          </p:nvSpPr>
          <p:spPr>
            <a:xfrm>
              <a:off x="4474550" y="3608903"/>
              <a:ext cx="4310675" cy="572207"/>
            </a:xfrm>
            <a:prstGeom prst="roundRect">
              <a:avLst>
                <a:gd name="adj" fmla="val 18464"/>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FSI Send Message – </a:t>
              </a:r>
              <a:r>
                <a:rPr lang="en-GB" sz="1000">
                  <a:solidFill>
                    <a:schemeClr val="tx1"/>
                  </a:solidFill>
                </a:rPr>
                <a:t>updates to the customer about status of jobs, supplier appointments; and to the supplier around assignment of work</a:t>
              </a:r>
            </a:p>
          </p:txBody>
        </p:sp>
        <p:sp>
          <p:nvSpPr>
            <p:cNvPr id="77" name="Rectangle: Rounded Corners 76">
              <a:extLst>
                <a:ext uri="{FF2B5EF4-FFF2-40B4-BE49-F238E27FC236}">
                  <a16:creationId xmlns:a16="http://schemas.microsoft.com/office/drawing/2014/main" id="{1FA516AC-5ADD-44F6-BFBC-98D7259065AF}"/>
                </a:ext>
              </a:extLst>
            </p:cNvPr>
            <p:cNvSpPr/>
            <p:nvPr/>
          </p:nvSpPr>
          <p:spPr>
            <a:xfrm>
              <a:off x="4476103" y="4250476"/>
              <a:ext cx="4310675" cy="572207"/>
            </a:xfrm>
            <a:prstGeom prst="roundRect">
              <a:avLst>
                <a:gd name="adj" fmla="val 16043"/>
              </a:avLst>
            </a:prstGeom>
            <a:solidFill>
              <a:schemeClr val="accent3">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Message Sent – </a:t>
              </a:r>
              <a:r>
                <a:rPr lang="en-GB" sz="1000">
                  <a:solidFill>
                    <a:schemeClr val="tx1"/>
                  </a:solidFill>
                </a:rPr>
                <a:t>Salesforce keeps a record of all relevant communication events so they can be seen as part of the customer history</a:t>
              </a:r>
            </a:p>
          </p:txBody>
        </p:sp>
        <p:sp>
          <p:nvSpPr>
            <p:cNvPr id="125" name="Rectangle: Rounded Corners 124">
              <a:extLst>
                <a:ext uri="{FF2B5EF4-FFF2-40B4-BE49-F238E27FC236}">
                  <a16:creationId xmlns:a16="http://schemas.microsoft.com/office/drawing/2014/main" id="{3D2DB699-7512-42B4-9ED5-9E33B43668B0}"/>
                </a:ext>
              </a:extLst>
            </p:cNvPr>
            <p:cNvSpPr/>
            <p:nvPr/>
          </p:nvSpPr>
          <p:spPr>
            <a:xfrm>
              <a:off x="4470279" y="4895478"/>
              <a:ext cx="4310675" cy="572207"/>
            </a:xfrm>
            <a:prstGeom prst="roundRect">
              <a:avLst>
                <a:gd name="adj" fmla="val 16043"/>
              </a:avLst>
            </a:prstGeom>
            <a:solidFill>
              <a:schemeClr val="accent3">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Call Received – </a:t>
              </a:r>
              <a:r>
                <a:rPr lang="en-GB" sz="1000">
                  <a:solidFill>
                    <a:schemeClr val="tx1"/>
                  </a:solidFill>
                </a:rPr>
                <a:t>when a customer calls us, this enables Salesforce to open the correct screen showing customer info</a:t>
              </a:r>
            </a:p>
          </p:txBody>
        </p:sp>
        <p:sp>
          <p:nvSpPr>
            <p:cNvPr id="128" name="Rectangle: Rounded Corners 127">
              <a:extLst>
                <a:ext uri="{FF2B5EF4-FFF2-40B4-BE49-F238E27FC236}">
                  <a16:creationId xmlns:a16="http://schemas.microsoft.com/office/drawing/2014/main" id="{72214CCD-B0F7-422A-B6EA-05F0F8939750}"/>
                </a:ext>
              </a:extLst>
            </p:cNvPr>
            <p:cNvSpPr/>
            <p:nvPr/>
          </p:nvSpPr>
          <p:spPr>
            <a:xfrm>
              <a:off x="4470279" y="5547856"/>
              <a:ext cx="4310675" cy="572207"/>
            </a:xfrm>
            <a:prstGeom prst="roundRect">
              <a:avLst>
                <a:gd name="adj" fmla="val 13622"/>
              </a:avLst>
            </a:prstGeom>
            <a:solidFill>
              <a:schemeClr val="accent3">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Click to Call – </a:t>
              </a:r>
              <a:r>
                <a:rPr lang="en-GB" sz="1000">
                  <a:solidFill>
                    <a:schemeClr val="tx1"/>
                  </a:solidFill>
                </a:rPr>
                <a:t>ability for a Salesforce user to call a customer by clicking a specific button in the customer’s page</a:t>
              </a:r>
            </a:p>
          </p:txBody>
        </p:sp>
        <p:sp>
          <p:nvSpPr>
            <p:cNvPr id="25" name="Oval 24">
              <a:extLst>
                <a:ext uri="{FF2B5EF4-FFF2-40B4-BE49-F238E27FC236}">
                  <a16:creationId xmlns:a16="http://schemas.microsoft.com/office/drawing/2014/main" id="{AFB43D6F-7809-42B4-A285-6B3A8BB7F9E8}"/>
                </a:ext>
              </a:extLst>
            </p:cNvPr>
            <p:cNvSpPr/>
            <p:nvPr/>
          </p:nvSpPr>
          <p:spPr>
            <a:xfrm>
              <a:off x="4474550" y="2958496"/>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20</a:t>
              </a:r>
            </a:p>
          </p:txBody>
        </p:sp>
        <p:sp>
          <p:nvSpPr>
            <p:cNvPr id="50" name="Oval 49">
              <a:extLst>
                <a:ext uri="{FF2B5EF4-FFF2-40B4-BE49-F238E27FC236}">
                  <a16:creationId xmlns:a16="http://schemas.microsoft.com/office/drawing/2014/main" id="{5BB76C22-E543-42F8-9D6A-6A172F4AF036}"/>
                </a:ext>
              </a:extLst>
            </p:cNvPr>
            <p:cNvSpPr/>
            <p:nvPr/>
          </p:nvSpPr>
          <p:spPr>
            <a:xfrm>
              <a:off x="4474550" y="3608901"/>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22</a:t>
              </a:r>
            </a:p>
          </p:txBody>
        </p:sp>
        <p:sp>
          <p:nvSpPr>
            <p:cNvPr id="78" name="Oval 77">
              <a:extLst>
                <a:ext uri="{FF2B5EF4-FFF2-40B4-BE49-F238E27FC236}">
                  <a16:creationId xmlns:a16="http://schemas.microsoft.com/office/drawing/2014/main" id="{B0CE31D0-6DA1-45DD-8F34-ED6EBD8444B4}"/>
                </a:ext>
              </a:extLst>
            </p:cNvPr>
            <p:cNvSpPr/>
            <p:nvPr/>
          </p:nvSpPr>
          <p:spPr>
            <a:xfrm>
              <a:off x="4476103" y="4250475"/>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23</a:t>
              </a:r>
            </a:p>
          </p:txBody>
        </p:sp>
        <p:sp>
          <p:nvSpPr>
            <p:cNvPr id="126" name="Oval 125">
              <a:extLst>
                <a:ext uri="{FF2B5EF4-FFF2-40B4-BE49-F238E27FC236}">
                  <a16:creationId xmlns:a16="http://schemas.microsoft.com/office/drawing/2014/main" id="{37992514-ACE7-4DEF-94C8-4E701762A847}"/>
                </a:ext>
              </a:extLst>
            </p:cNvPr>
            <p:cNvSpPr/>
            <p:nvPr/>
          </p:nvSpPr>
          <p:spPr>
            <a:xfrm>
              <a:off x="4470279" y="4895477"/>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24</a:t>
              </a:r>
            </a:p>
          </p:txBody>
        </p:sp>
        <p:sp>
          <p:nvSpPr>
            <p:cNvPr id="129" name="Oval 128">
              <a:extLst>
                <a:ext uri="{FF2B5EF4-FFF2-40B4-BE49-F238E27FC236}">
                  <a16:creationId xmlns:a16="http://schemas.microsoft.com/office/drawing/2014/main" id="{B6A4F7A8-0E7D-4903-A610-2A34AA2F14ED}"/>
                </a:ext>
              </a:extLst>
            </p:cNvPr>
            <p:cNvSpPr/>
            <p:nvPr/>
          </p:nvSpPr>
          <p:spPr>
            <a:xfrm>
              <a:off x="4470279" y="5547855"/>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25</a:t>
              </a:r>
            </a:p>
          </p:txBody>
        </p:sp>
        <p:sp>
          <p:nvSpPr>
            <p:cNvPr id="52" name="Rectangle: Rounded Corners 51">
              <a:extLst>
                <a:ext uri="{FF2B5EF4-FFF2-40B4-BE49-F238E27FC236}">
                  <a16:creationId xmlns:a16="http://schemas.microsoft.com/office/drawing/2014/main" id="{C8853E8F-FB30-4568-A9DF-24AE9416A804}"/>
                </a:ext>
              </a:extLst>
            </p:cNvPr>
            <p:cNvSpPr/>
            <p:nvPr/>
          </p:nvSpPr>
          <p:spPr>
            <a:xfrm>
              <a:off x="4470279" y="6200234"/>
              <a:ext cx="4310675" cy="572207"/>
            </a:xfrm>
            <a:prstGeom prst="roundRect">
              <a:avLst>
                <a:gd name="adj" fmla="val 16043"/>
              </a:avLst>
            </a:prstGeom>
            <a:solidFill>
              <a:schemeClr val="accent3">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Preferences Lookup – </a:t>
              </a:r>
              <a:r>
                <a:rPr lang="en-GB" sz="1000">
                  <a:solidFill>
                    <a:schemeClr val="tx1"/>
                  </a:solidFill>
                </a:rPr>
                <a:t>reading customer preferred channel of communication in Salesforce before sending the message </a:t>
              </a:r>
            </a:p>
          </p:txBody>
        </p:sp>
        <p:sp>
          <p:nvSpPr>
            <p:cNvPr id="53" name="Oval 52">
              <a:extLst>
                <a:ext uri="{FF2B5EF4-FFF2-40B4-BE49-F238E27FC236}">
                  <a16:creationId xmlns:a16="http://schemas.microsoft.com/office/drawing/2014/main" id="{63AB98D2-9613-4015-A3A8-FA2FD66357E2}"/>
                </a:ext>
              </a:extLst>
            </p:cNvPr>
            <p:cNvSpPr/>
            <p:nvPr/>
          </p:nvSpPr>
          <p:spPr>
            <a:xfrm>
              <a:off x="4470279" y="6200233"/>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31</a:t>
              </a:r>
            </a:p>
          </p:txBody>
        </p:sp>
      </p:grpSp>
      <p:cxnSp>
        <p:nvCxnSpPr>
          <p:cNvPr id="55" name="Straight Arrow Connector 54">
            <a:extLst>
              <a:ext uri="{FF2B5EF4-FFF2-40B4-BE49-F238E27FC236}">
                <a16:creationId xmlns:a16="http://schemas.microsoft.com/office/drawing/2014/main" id="{F72FDD07-A3E3-4209-A9A8-F2F5B42DE05F}"/>
              </a:ext>
            </a:extLst>
          </p:cNvPr>
          <p:cNvCxnSpPr>
            <a:cxnSpLocks/>
          </p:cNvCxnSpPr>
          <p:nvPr/>
        </p:nvCxnSpPr>
        <p:spPr>
          <a:xfrm flipV="1">
            <a:off x="1526964" y="2914385"/>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31C8C7BD-81CA-4AD4-AB99-9F0B123876D3}"/>
              </a:ext>
            </a:extLst>
          </p:cNvPr>
          <p:cNvSpPr/>
          <p:nvPr/>
        </p:nvSpPr>
        <p:spPr>
          <a:xfrm>
            <a:off x="1397430" y="3120994"/>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31</a:t>
            </a:r>
          </a:p>
        </p:txBody>
      </p:sp>
      <p:grpSp>
        <p:nvGrpSpPr>
          <p:cNvPr id="58" name="Group 57">
            <a:extLst>
              <a:ext uri="{FF2B5EF4-FFF2-40B4-BE49-F238E27FC236}">
                <a16:creationId xmlns:a16="http://schemas.microsoft.com/office/drawing/2014/main" id="{D1C0DC6A-F19E-47FF-AABB-001947EE0F7C}"/>
              </a:ext>
            </a:extLst>
          </p:cNvPr>
          <p:cNvGrpSpPr/>
          <p:nvPr/>
        </p:nvGrpSpPr>
        <p:grpSpPr>
          <a:xfrm>
            <a:off x="289244" y="5418280"/>
            <a:ext cx="3649649" cy="878439"/>
            <a:chOff x="289244" y="5418280"/>
            <a:chExt cx="3649649" cy="878439"/>
          </a:xfrm>
        </p:grpSpPr>
        <p:sp>
          <p:nvSpPr>
            <p:cNvPr id="59" name="Rectangle 58">
              <a:extLst>
                <a:ext uri="{FF2B5EF4-FFF2-40B4-BE49-F238E27FC236}">
                  <a16:creationId xmlns:a16="http://schemas.microsoft.com/office/drawing/2014/main" id="{CF06E4E9-1BE1-4B6B-9B29-7479D7C3AE8A}"/>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0" name="Group 59">
              <a:extLst>
                <a:ext uri="{FF2B5EF4-FFF2-40B4-BE49-F238E27FC236}">
                  <a16:creationId xmlns:a16="http://schemas.microsoft.com/office/drawing/2014/main" id="{6F6950DA-8795-4F12-93E2-0746C44FD742}"/>
                </a:ext>
              </a:extLst>
            </p:cNvPr>
            <p:cNvGrpSpPr/>
            <p:nvPr/>
          </p:nvGrpSpPr>
          <p:grpSpPr>
            <a:xfrm>
              <a:off x="361773" y="5476571"/>
              <a:ext cx="3444371" cy="250772"/>
              <a:chOff x="-1487335" y="2073671"/>
              <a:chExt cx="3503665" cy="250772"/>
            </a:xfrm>
          </p:grpSpPr>
          <p:cxnSp>
            <p:nvCxnSpPr>
              <p:cNvPr id="64" name="Straight Arrow Connector 63">
                <a:extLst>
                  <a:ext uri="{FF2B5EF4-FFF2-40B4-BE49-F238E27FC236}">
                    <a16:creationId xmlns:a16="http://schemas.microsoft.com/office/drawing/2014/main" id="{D0AB0607-A24B-4F3F-BD8C-5234D9EDDDF4}"/>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59BA2FB-5960-4771-A99C-163EB76BD493}"/>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1BC6EFCB-F20D-4896-8EA2-48D70900153D}"/>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67" name="TextBox 66">
                <a:extLst>
                  <a:ext uri="{FF2B5EF4-FFF2-40B4-BE49-F238E27FC236}">
                    <a16:creationId xmlns:a16="http://schemas.microsoft.com/office/drawing/2014/main" id="{3425DB89-BEAB-4F9E-91E4-D284E3B78058}"/>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68" name="TextBox 67">
                <a:extLst>
                  <a:ext uri="{FF2B5EF4-FFF2-40B4-BE49-F238E27FC236}">
                    <a16:creationId xmlns:a16="http://schemas.microsoft.com/office/drawing/2014/main" id="{E8BFB7F8-BC2B-48B7-8A30-55292B84271F}"/>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grpSp>
      <p:sp>
        <p:nvSpPr>
          <p:cNvPr id="70" name="Rectangle: Rounded Corners 69">
            <a:extLst>
              <a:ext uri="{FF2B5EF4-FFF2-40B4-BE49-F238E27FC236}">
                <a16:creationId xmlns:a16="http://schemas.microsoft.com/office/drawing/2014/main" id="{8B374BE1-F35E-4689-BDBF-6607B7BFE976}"/>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71" name="Rectangle: Rounded Corners 70">
            <a:extLst>
              <a:ext uri="{FF2B5EF4-FFF2-40B4-BE49-F238E27FC236}">
                <a16:creationId xmlns:a16="http://schemas.microsoft.com/office/drawing/2014/main" id="{49E40C59-F3A5-40E7-9D68-6445147E0BDC}"/>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72" name="Rectangle: Rounded Corners 71">
            <a:extLst>
              <a:ext uri="{FF2B5EF4-FFF2-40B4-BE49-F238E27FC236}">
                <a16:creationId xmlns:a16="http://schemas.microsoft.com/office/drawing/2014/main" id="{9DF140DC-B376-4B1A-AF23-FBBA819FB326}"/>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spTree>
    <p:extLst>
      <p:ext uri="{BB962C8B-B14F-4D97-AF65-F5344CB8AC3E}">
        <p14:creationId xmlns:p14="http://schemas.microsoft.com/office/powerpoint/2010/main" val="3002463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1CB4F6-4321-4E88-AA5C-6C4C0D52C478}"/>
              </a:ext>
            </a:extLst>
          </p:cNvPr>
          <p:cNvSpPr>
            <a:spLocks noGrp="1"/>
          </p:cNvSpPr>
          <p:nvPr>
            <p:ph type="title"/>
          </p:nvPr>
        </p:nvSpPr>
        <p:spPr/>
        <p:txBody>
          <a:bodyPr/>
          <a:lstStyle/>
          <a:p>
            <a:r>
              <a:rPr lang="en-GB"/>
              <a:t>Document Integrations</a:t>
            </a:r>
          </a:p>
        </p:txBody>
      </p:sp>
      <p:sp>
        <p:nvSpPr>
          <p:cNvPr id="4" name="Rectangle 3">
            <a:extLst>
              <a:ext uri="{FF2B5EF4-FFF2-40B4-BE49-F238E27FC236}">
                <a16:creationId xmlns:a16="http://schemas.microsoft.com/office/drawing/2014/main" id="{0DE607AF-664A-44FB-B95F-F1178AD57902}"/>
              </a:ext>
            </a:extLst>
          </p:cNvPr>
          <p:cNvSpPr/>
          <p:nvPr/>
        </p:nvSpPr>
        <p:spPr>
          <a:xfrm>
            <a:off x="358775" y="3939247"/>
            <a:ext cx="3507169" cy="377505"/>
          </a:xfrm>
          <a:prstGeom prst="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GREP</a:t>
            </a:r>
          </a:p>
        </p:txBody>
      </p:sp>
      <p:sp>
        <p:nvSpPr>
          <p:cNvPr id="11" name="Rectangle: Rounded Corners 10">
            <a:extLst>
              <a:ext uri="{FF2B5EF4-FFF2-40B4-BE49-F238E27FC236}">
                <a16:creationId xmlns:a16="http://schemas.microsoft.com/office/drawing/2014/main" id="{0B37F336-8A85-4EDB-A255-C521100DBCBE}"/>
              </a:ext>
            </a:extLst>
          </p:cNvPr>
          <p:cNvSpPr/>
          <p:nvPr/>
        </p:nvSpPr>
        <p:spPr>
          <a:xfrm>
            <a:off x="2192665" y="3026568"/>
            <a:ext cx="1588668" cy="436049"/>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Salesforce</a:t>
            </a:r>
          </a:p>
        </p:txBody>
      </p:sp>
      <p:sp>
        <p:nvSpPr>
          <p:cNvPr id="12" name="Rectangle: Rounded Corners 11">
            <a:extLst>
              <a:ext uri="{FF2B5EF4-FFF2-40B4-BE49-F238E27FC236}">
                <a16:creationId xmlns:a16="http://schemas.microsoft.com/office/drawing/2014/main" id="{AF0D2BFC-6FDA-40C3-AC14-15875ECA52AB}"/>
              </a:ext>
            </a:extLst>
          </p:cNvPr>
          <p:cNvSpPr/>
          <p:nvPr/>
        </p:nvSpPr>
        <p:spPr>
          <a:xfrm>
            <a:off x="443385" y="3010359"/>
            <a:ext cx="1588668" cy="436049"/>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err="1">
                <a:latin typeface="+mj-lt"/>
              </a:rPr>
              <a:t>Docushare</a:t>
            </a:r>
            <a:endParaRPr lang="en-GB" sz="1400">
              <a:latin typeface="+mj-lt"/>
            </a:endParaRPr>
          </a:p>
        </p:txBody>
      </p:sp>
      <p:grpSp>
        <p:nvGrpSpPr>
          <p:cNvPr id="2" name="Group 1">
            <a:extLst>
              <a:ext uri="{FF2B5EF4-FFF2-40B4-BE49-F238E27FC236}">
                <a16:creationId xmlns:a16="http://schemas.microsoft.com/office/drawing/2014/main" id="{4A7DBBCC-0BE1-4224-9C40-8B7C9A7B892C}"/>
              </a:ext>
            </a:extLst>
          </p:cNvPr>
          <p:cNvGrpSpPr/>
          <p:nvPr/>
        </p:nvGrpSpPr>
        <p:grpSpPr>
          <a:xfrm>
            <a:off x="443386" y="4791852"/>
            <a:ext cx="3337944" cy="480579"/>
            <a:chOff x="443385" y="5505844"/>
            <a:chExt cx="5078215" cy="480579"/>
          </a:xfrm>
        </p:grpSpPr>
        <p:sp>
          <p:nvSpPr>
            <p:cNvPr id="5" name="Rectangle: Rounded Corners 4">
              <a:extLst>
                <a:ext uri="{FF2B5EF4-FFF2-40B4-BE49-F238E27FC236}">
                  <a16:creationId xmlns:a16="http://schemas.microsoft.com/office/drawing/2014/main" id="{E4AD130D-F7AC-4F71-8DE2-D9C5A063B6C3}"/>
                </a:ext>
              </a:extLst>
            </p:cNvPr>
            <p:cNvSpPr/>
            <p:nvPr/>
          </p:nvSpPr>
          <p:spPr>
            <a:xfrm>
              <a:off x="443385" y="5505845"/>
              <a:ext cx="1588668" cy="480578"/>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MRI</a:t>
              </a:r>
            </a:p>
          </p:txBody>
        </p:sp>
        <p:sp>
          <p:nvSpPr>
            <p:cNvPr id="10" name="Rectangle: Rounded Corners 9">
              <a:extLst>
                <a:ext uri="{FF2B5EF4-FFF2-40B4-BE49-F238E27FC236}">
                  <a16:creationId xmlns:a16="http://schemas.microsoft.com/office/drawing/2014/main" id="{3129E607-BD68-48F8-BBAF-AD63BE925A5D}"/>
                </a:ext>
              </a:extLst>
            </p:cNvPr>
            <p:cNvSpPr/>
            <p:nvPr/>
          </p:nvSpPr>
          <p:spPr>
            <a:xfrm>
              <a:off x="2192666" y="5505844"/>
              <a:ext cx="1588668" cy="480578"/>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Pro</a:t>
              </a:r>
            </a:p>
            <a:p>
              <a:pPr algn="ctr"/>
              <a:r>
                <a:rPr lang="en-GB" sz="1400" err="1">
                  <a:latin typeface="+mj-lt"/>
                </a:rPr>
                <a:t>Actis</a:t>
              </a:r>
              <a:endParaRPr lang="en-GB" sz="1400">
                <a:latin typeface="+mj-lt"/>
              </a:endParaRPr>
            </a:p>
          </p:txBody>
        </p:sp>
        <p:sp>
          <p:nvSpPr>
            <p:cNvPr id="73" name="Rectangle: Rounded Corners 72">
              <a:extLst>
                <a:ext uri="{FF2B5EF4-FFF2-40B4-BE49-F238E27FC236}">
                  <a16:creationId xmlns:a16="http://schemas.microsoft.com/office/drawing/2014/main" id="{B0242900-B58A-4725-911E-32764CACF46A}"/>
                </a:ext>
              </a:extLst>
            </p:cNvPr>
            <p:cNvSpPr/>
            <p:nvPr/>
          </p:nvSpPr>
          <p:spPr>
            <a:xfrm>
              <a:off x="3932932" y="5505844"/>
              <a:ext cx="1588668" cy="480578"/>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FSI</a:t>
              </a:r>
            </a:p>
          </p:txBody>
        </p:sp>
      </p:grpSp>
      <p:grpSp>
        <p:nvGrpSpPr>
          <p:cNvPr id="16" name="Group 15">
            <a:extLst>
              <a:ext uri="{FF2B5EF4-FFF2-40B4-BE49-F238E27FC236}">
                <a16:creationId xmlns:a16="http://schemas.microsoft.com/office/drawing/2014/main" id="{5FBCB250-C96C-44AE-92C6-F9EAC23D49A4}"/>
              </a:ext>
            </a:extLst>
          </p:cNvPr>
          <p:cNvGrpSpPr/>
          <p:nvPr/>
        </p:nvGrpSpPr>
        <p:grpSpPr>
          <a:xfrm>
            <a:off x="441287" y="3464985"/>
            <a:ext cx="252000" cy="469225"/>
            <a:chOff x="441287" y="3882426"/>
            <a:chExt cx="252000" cy="620438"/>
          </a:xfrm>
        </p:grpSpPr>
        <p:cxnSp>
          <p:nvCxnSpPr>
            <p:cNvPr id="19" name="Straight Arrow Connector 18">
              <a:extLst>
                <a:ext uri="{FF2B5EF4-FFF2-40B4-BE49-F238E27FC236}">
                  <a16:creationId xmlns:a16="http://schemas.microsoft.com/office/drawing/2014/main" id="{931E6B91-1BEF-4608-B0B5-6344977E20C8}"/>
                </a:ext>
              </a:extLst>
            </p:cNvPr>
            <p:cNvCxnSpPr>
              <a:cxnSpLocks/>
            </p:cNvCxnSpPr>
            <p:nvPr/>
          </p:nvCxnSpPr>
          <p:spPr>
            <a:xfrm flipV="1">
              <a:off x="570821" y="3882426"/>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58462DB-7BD8-4C79-BD4F-68C8E66499ED}"/>
                </a:ext>
              </a:extLst>
            </p:cNvPr>
            <p:cNvSpPr/>
            <p:nvPr/>
          </p:nvSpPr>
          <p:spPr>
            <a:xfrm>
              <a:off x="441287" y="4089035"/>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26</a:t>
              </a:r>
            </a:p>
          </p:txBody>
        </p:sp>
      </p:grpSp>
      <p:sp>
        <p:nvSpPr>
          <p:cNvPr id="79" name="Content Placeholder 5">
            <a:extLst>
              <a:ext uri="{FF2B5EF4-FFF2-40B4-BE49-F238E27FC236}">
                <a16:creationId xmlns:a16="http://schemas.microsoft.com/office/drawing/2014/main" id="{2D1B1027-62A0-411E-9CBA-332ECB4A0CC8}"/>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The Document Management process – which will work on the background of all our business processes – is supported by a set of integrations which will in place for day 1. Documents generated in MRI, FSI and Proactis will be sent automatically to DocuShare and placed in the correct location with relevant metadata. The element to enhance at Phase 2 is Salesforce registering the documents as part of the customer history. </a:t>
            </a:r>
          </a:p>
        </p:txBody>
      </p:sp>
      <p:grpSp>
        <p:nvGrpSpPr>
          <p:cNvPr id="21" name="Group 20">
            <a:extLst>
              <a:ext uri="{FF2B5EF4-FFF2-40B4-BE49-F238E27FC236}">
                <a16:creationId xmlns:a16="http://schemas.microsoft.com/office/drawing/2014/main" id="{01D06693-5C50-4F59-A4F7-9DD128A6A31A}"/>
              </a:ext>
            </a:extLst>
          </p:cNvPr>
          <p:cNvGrpSpPr/>
          <p:nvPr/>
        </p:nvGrpSpPr>
        <p:grpSpPr>
          <a:xfrm>
            <a:off x="1981723" y="4322625"/>
            <a:ext cx="252000" cy="469225"/>
            <a:chOff x="1981723" y="4885405"/>
            <a:chExt cx="252000" cy="620438"/>
          </a:xfrm>
        </p:grpSpPr>
        <p:cxnSp>
          <p:nvCxnSpPr>
            <p:cNvPr id="107" name="Straight Arrow Connector 106">
              <a:extLst>
                <a:ext uri="{FF2B5EF4-FFF2-40B4-BE49-F238E27FC236}">
                  <a16:creationId xmlns:a16="http://schemas.microsoft.com/office/drawing/2014/main" id="{14FD8053-6DAF-4CD7-B6AF-5A029BA6B66E}"/>
                </a:ext>
              </a:extLst>
            </p:cNvPr>
            <p:cNvCxnSpPr>
              <a:cxnSpLocks/>
            </p:cNvCxnSpPr>
            <p:nvPr/>
          </p:nvCxnSpPr>
          <p:spPr>
            <a:xfrm flipV="1">
              <a:off x="2111257" y="4885405"/>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47EFB3AE-FF46-4172-80C3-D66D641E6F38}"/>
                </a:ext>
              </a:extLst>
            </p:cNvPr>
            <p:cNvSpPr/>
            <p:nvPr/>
          </p:nvSpPr>
          <p:spPr>
            <a:xfrm>
              <a:off x="1981723" y="5146272"/>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27</a:t>
              </a:r>
            </a:p>
          </p:txBody>
        </p:sp>
      </p:grpSp>
      <p:grpSp>
        <p:nvGrpSpPr>
          <p:cNvPr id="17" name="Group 16">
            <a:extLst>
              <a:ext uri="{FF2B5EF4-FFF2-40B4-BE49-F238E27FC236}">
                <a16:creationId xmlns:a16="http://schemas.microsoft.com/office/drawing/2014/main" id="{F9944466-D58D-431F-BA07-BC48BAB91641}"/>
              </a:ext>
            </a:extLst>
          </p:cNvPr>
          <p:cNvGrpSpPr/>
          <p:nvPr/>
        </p:nvGrpSpPr>
        <p:grpSpPr>
          <a:xfrm>
            <a:off x="821955" y="4324676"/>
            <a:ext cx="252000" cy="469225"/>
            <a:chOff x="821955" y="4887456"/>
            <a:chExt cx="252000" cy="620438"/>
          </a:xfrm>
        </p:grpSpPr>
        <p:cxnSp>
          <p:nvCxnSpPr>
            <p:cNvPr id="113" name="Straight Arrow Connector 112">
              <a:extLst>
                <a:ext uri="{FF2B5EF4-FFF2-40B4-BE49-F238E27FC236}">
                  <a16:creationId xmlns:a16="http://schemas.microsoft.com/office/drawing/2014/main" id="{08C182A7-37C1-46D4-A378-9F69BDAECDEC}"/>
                </a:ext>
              </a:extLst>
            </p:cNvPr>
            <p:cNvCxnSpPr>
              <a:cxnSpLocks/>
            </p:cNvCxnSpPr>
            <p:nvPr/>
          </p:nvCxnSpPr>
          <p:spPr>
            <a:xfrm flipV="1">
              <a:off x="951489" y="4887456"/>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38FEF46D-9486-4E96-B243-75E76BF6446D}"/>
                </a:ext>
              </a:extLst>
            </p:cNvPr>
            <p:cNvSpPr/>
            <p:nvPr/>
          </p:nvSpPr>
          <p:spPr>
            <a:xfrm>
              <a:off x="821955" y="5148323"/>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26</a:t>
              </a:r>
            </a:p>
          </p:txBody>
        </p:sp>
      </p:grpSp>
      <p:grpSp>
        <p:nvGrpSpPr>
          <p:cNvPr id="118" name="Group 117">
            <a:extLst>
              <a:ext uri="{FF2B5EF4-FFF2-40B4-BE49-F238E27FC236}">
                <a16:creationId xmlns:a16="http://schemas.microsoft.com/office/drawing/2014/main" id="{E9B7D5B3-872F-4EA7-85F2-7D3DB26259AF}"/>
              </a:ext>
            </a:extLst>
          </p:cNvPr>
          <p:cNvGrpSpPr/>
          <p:nvPr/>
        </p:nvGrpSpPr>
        <p:grpSpPr>
          <a:xfrm>
            <a:off x="1332798" y="3464180"/>
            <a:ext cx="252000" cy="469225"/>
            <a:chOff x="1983881" y="4880911"/>
            <a:chExt cx="252000" cy="620438"/>
          </a:xfrm>
        </p:grpSpPr>
        <p:cxnSp>
          <p:nvCxnSpPr>
            <p:cNvPr id="119" name="Straight Arrow Connector 118">
              <a:extLst>
                <a:ext uri="{FF2B5EF4-FFF2-40B4-BE49-F238E27FC236}">
                  <a16:creationId xmlns:a16="http://schemas.microsoft.com/office/drawing/2014/main" id="{CA7F8DF0-624C-4BAB-A3BC-BFE6EF2CA9FE}"/>
                </a:ext>
              </a:extLst>
            </p:cNvPr>
            <p:cNvCxnSpPr>
              <a:cxnSpLocks/>
            </p:cNvCxnSpPr>
            <p:nvPr/>
          </p:nvCxnSpPr>
          <p:spPr>
            <a:xfrm flipV="1">
              <a:off x="2107398" y="4880911"/>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8648FC73-FBB5-4C4B-98FE-A28FB4A95E81}"/>
                </a:ext>
              </a:extLst>
            </p:cNvPr>
            <p:cNvSpPr/>
            <p:nvPr/>
          </p:nvSpPr>
          <p:spPr>
            <a:xfrm>
              <a:off x="1983881" y="4989376"/>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29</a:t>
              </a:r>
            </a:p>
          </p:txBody>
        </p:sp>
      </p:grpSp>
      <p:sp>
        <p:nvSpPr>
          <p:cNvPr id="26" name="Rectangle: Rounded Corners 25">
            <a:extLst>
              <a:ext uri="{FF2B5EF4-FFF2-40B4-BE49-F238E27FC236}">
                <a16:creationId xmlns:a16="http://schemas.microsoft.com/office/drawing/2014/main" id="{108C1A2C-5086-4801-BC6A-F4BE1ED5088C}"/>
              </a:ext>
            </a:extLst>
          </p:cNvPr>
          <p:cNvSpPr/>
          <p:nvPr/>
        </p:nvSpPr>
        <p:spPr>
          <a:xfrm>
            <a:off x="4474550" y="2309056"/>
            <a:ext cx="4310675" cy="700038"/>
          </a:xfrm>
          <a:prstGeom prst="roundRect">
            <a:avLst>
              <a:gd name="adj" fmla="val 18463"/>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MRI Document </a:t>
            </a:r>
            <a:r>
              <a:rPr lang="en-GB" sz="1000" err="1">
                <a:solidFill>
                  <a:schemeClr val="tx1"/>
                </a:solidFill>
                <a:latin typeface="+mj-lt"/>
              </a:rPr>
              <a:t>Upserted</a:t>
            </a:r>
            <a:r>
              <a:rPr lang="en-GB" sz="1000">
                <a:solidFill>
                  <a:schemeClr val="tx1"/>
                </a:solidFill>
                <a:latin typeface="+mj-lt"/>
              </a:rPr>
              <a:t> – </a:t>
            </a:r>
            <a:r>
              <a:rPr lang="en-GB" sz="1000">
                <a:solidFill>
                  <a:schemeClr val="tx1"/>
                </a:solidFill>
              </a:rPr>
              <a:t>GREP will capture relevant documents from MRI (</a:t>
            </a:r>
            <a:r>
              <a:rPr lang="en-GB" sz="1000" err="1">
                <a:solidFill>
                  <a:schemeClr val="tx1"/>
                </a:solidFill>
              </a:rPr>
              <a:t>eg</a:t>
            </a:r>
            <a:r>
              <a:rPr lang="en-GB" sz="1000">
                <a:solidFill>
                  <a:schemeClr val="tx1"/>
                </a:solidFill>
              </a:rPr>
              <a:t> invoices, statements) and forward them to </a:t>
            </a:r>
            <a:r>
              <a:rPr lang="en-GB" sz="1000" err="1">
                <a:solidFill>
                  <a:schemeClr val="tx1"/>
                </a:solidFill>
              </a:rPr>
              <a:t>DocuShare</a:t>
            </a:r>
            <a:r>
              <a:rPr lang="en-GB" sz="1000">
                <a:solidFill>
                  <a:schemeClr val="tx1"/>
                </a:solidFill>
              </a:rPr>
              <a:t> with the appropriate metadata. MRI will keep a link to the document.</a:t>
            </a:r>
          </a:p>
        </p:txBody>
      </p:sp>
      <p:sp>
        <p:nvSpPr>
          <p:cNvPr id="37" name="Rectangle: Rounded Corners 36">
            <a:extLst>
              <a:ext uri="{FF2B5EF4-FFF2-40B4-BE49-F238E27FC236}">
                <a16:creationId xmlns:a16="http://schemas.microsoft.com/office/drawing/2014/main" id="{9B232BFD-B7F9-43E3-A90C-6540CE9C56F3}"/>
              </a:ext>
            </a:extLst>
          </p:cNvPr>
          <p:cNvSpPr/>
          <p:nvPr/>
        </p:nvSpPr>
        <p:spPr>
          <a:xfrm>
            <a:off x="4474550" y="3101171"/>
            <a:ext cx="4310675" cy="700038"/>
          </a:xfrm>
          <a:prstGeom prst="roundRect">
            <a:avLst>
              <a:gd name="adj" fmla="val 20884"/>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ProActis Document </a:t>
            </a:r>
            <a:r>
              <a:rPr lang="en-GB" sz="1000" err="1">
                <a:solidFill>
                  <a:schemeClr val="tx1"/>
                </a:solidFill>
                <a:latin typeface="+mj-lt"/>
              </a:rPr>
              <a:t>Upserted</a:t>
            </a:r>
            <a:r>
              <a:rPr lang="en-GB" sz="1000">
                <a:solidFill>
                  <a:schemeClr val="tx1"/>
                </a:solidFill>
                <a:latin typeface="+mj-lt"/>
              </a:rPr>
              <a:t> – </a:t>
            </a:r>
            <a:r>
              <a:rPr lang="en-GB" sz="1000">
                <a:solidFill>
                  <a:schemeClr val="tx1"/>
                </a:solidFill>
              </a:rPr>
              <a:t>Invoices and other documents managed in the P2P process will be stored in </a:t>
            </a:r>
            <a:r>
              <a:rPr lang="en-GB" sz="1000" err="1">
                <a:solidFill>
                  <a:schemeClr val="tx1"/>
                </a:solidFill>
              </a:rPr>
              <a:t>DocuShare</a:t>
            </a:r>
            <a:r>
              <a:rPr lang="en-GB" sz="1000">
                <a:solidFill>
                  <a:schemeClr val="tx1"/>
                </a:solidFill>
              </a:rPr>
              <a:t>.</a:t>
            </a:r>
          </a:p>
        </p:txBody>
      </p:sp>
      <p:sp>
        <p:nvSpPr>
          <p:cNvPr id="49" name="Rectangle: Rounded Corners 48">
            <a:extLst>
              <a:ext uri="{FF2B5EF4-FFF2-40B4-BE49-F238E27FC236}">
                <a16:creationId xmlns:a16="http://schemas.microsoft.com/office/drawing/2014/main" id="{DF793013-61E5-4B85-9642-36C6979AB48A}"/>
              </a:ext>
            </a:extLst>
          </p:cNvPr>
          <p:cNvSpPr/>
          <p:nvPr/>
        </p:nvSpPr>
        <p:spPr>
          <a:xfrm>
            <a:off x="4474550" y="3899290"/>
            <a:ext cx="4310675" cy="700038"/>
          </a:xfrm>
          <a:prstGeom prst="roundRect">
            <a:avLst>
              <a:gd name="adj" fmla="val 18464"/>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FSI Document </a:t>
            </a:r>
            <a:r>
              <a:rPr lang="en-GB" sz="1000" err="1">
                <a:solidFill>
                  <a:schemeClr val="tx1"/>
                </a:solidFill>
                <a:latin typeface="+mj-lt"/>
              </a:rPr>
              <a:t>Upserted</a:t>
            </a:r>
            <a:r>
              <a:rPr lang="en-GB" sz="1000">
                <a:solidFill>
                  <a:schemeClr val="tx1"/>
                </a:solidFill>
                <a:latin typeface="+mj-lt"/>
              </a:rPr>
              <a:t> – </a:t>
            </a:r>
            <a:r>
              <a:rPr lang="en-GB" sz="1000">
                <a:solidFill>
                  <a:schemeClr val="tx1"/>
                </a:solidFill>
              </a:rPr>
              <a:t>relevant documents from the various processes managed in FSI – including property-related / H&amp;S documents – will also be sent to </a:t>
            </a:r>
            <a:r>
              <a:rPr lang="en-GB" sz="1000" err="1">
                <a:solidFill>
                  <a:schemeClr val="tx1"/>
                </a:solidFill>
              </a:rPr>
              <a:t>DocuShare</a:t>
            </a:r>
            <a:endParaRPr lang="en-GB" sz="1000">
              <a:solidFill>
                <a:schemeClr val="tx1"/>
              </a:solidFill>
            </a:endParaRPr>
          </a:p>
        </p:txBody>
      </p:sp>
      <p:sp>
        <p:nvSpPr>
          <p:cNvPr id="77" name="Rectangle: Rounded Corners 76">
            <a:extLst>
              <a:ext uri="{FF2B5EF4-FFF2-40B4-BE49-F238E27FC236}">
                <a16:creationId xmlns:a16="http://schemas.microsoft.com/office/drawing/2014/main" id="{1FA516AC-5ADD-44F6-BFBC-98D7259065AF}"/>
              </a:ext>
            </a:extLst>
          </p:cNvPr>
          <p:cNvSpPr/>
          <p:nvPr/>
        </p:nvSpPr>
        <p:spPr>
          <a:xfrm>
            <a:off x="4476103" y="4684191"/>
            <a:ext cx="4310675" cy="700038"/>
          </a:xfrm>
          <a:prstGeom prst="roundRect">
            <a:avLst>
              <a:gd name="adj" fmla="val 16043"/>
            </a:avLst>
          </a:prstGeom>
          <a:solidFill>
            <a:schemeClr val="accent3">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Document Saved – </a:t>
            </a:r>
            <a:r>
              <a:rPr lang="en-GB" sz="1000">
                <a:solidFill>
                  <a:schemeClr val="tx1"/>
                </a:solidFill>
              </a:rPr>
              <a:t>Salesforce keeps a record of all relevant documentation that relates to a customer, and will have a link to the document in </a:t>
            </a:r>
            <a:r>
              <a:rPr lang="en-GB" sz="1000" err="1">
                <a:solidFill>
                  <a:schemeClr val="tx1"/>
                </a:solidFill>
              </a:rPr>
              <a:t>DocuShare</a:t>
            </a:r>
            <a:r>
              <a:rPr lang="en-GB" sz="1000">
                <a:solidFill>
                  <a:schemeClr val="tx1"/>
                </a:solidFill>
              </a:rPr>
              <a:t>. </a:t>
            </a:r>
          </a:p>
        </p:txBody>
      </p:sp>
      <p:sp>
        <p:nvSpPr>
          <p:cNvPr id="25" name="Oval 24">
            <a:extLst>
              <a:ext uri="{FF2B5EF4-FFF2-40B4-BE49-F238E27FC236}">
                <a16:creationId xmlns:a16="http://schemas.microsoft.com/office/drawing/2014/main" id="{AFB43D6F-7809-42B4-A285-6B3A8BB7F9E8}"/>
              </a:ext>
            </a:extLst>
          </p:cNvPr>
          <p:cNvSpPr/>
          <p:nvPr/>
        </p:nvSpPr>
        <p:spPr>
          <a:xfrm>
            <a:off x="4474550" y="2309054"/>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26</a:t>
            </a:r>
          </a:p>
        </p:txBody>
      </p:sp>
      <p:sp>
        <p:nvSpPr>
          <p:cNvPr id="38" name="Oval 37">
            <a:extLst>
              <a:ext uri="{FF2B5EF4-FFF2-40B4-BE49-F238E27FC236}">
                <a16:creationId xmlns:a16="http://schemas.microsoft.com/office/drawing/2014/main" id="{E530DFD6-BA86-42EA-B1DF-D5044D5EB896}"/>
              </a:ext>
            </a:extLst>
          </p:cNvPr>
          <p:cNvSpPr/>
          <p:nvPr/>
        </p:nvSpPr>
        <p:spPr>
          <a:xfrm>
            <a:off x="4474550" y="3101169"/>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27</a:t>
            </a:r>
          </a:p>
        </p:txBody>
      </p:sp>
      <p:sp>
        <p:nvSpPr>
          <p:cNvPr id="50" name="Oval 49">
            <a:extLst>
              <a:ext uri="{FF2B5EF4-FFF2-40B4-BE49-F238E27FC236}">
                <a16:creationId xmlns:a16="http://schemas.microsoft.com/office/drawing/2014/main" id="{5BB76C22-E543-42F8-9D6A-6A172F4AF036}"/>
              </a:ext>
            </a:extLst>
          </p:cNvPr>
          <p:cNvSpPr/>
          <p:nvPr/>
        </p:nvSpPr>
        <p:spPr>
          <a:xfrm>
            <a:off x="4474550" y="3899287"/>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28</a:t>
            </a:r>
          </a:p>
        </p:txBody>
      </p:sp>
      <p:sp>
        <p:nvSpPr>
          <p:cNvPr id="78" name="Oval 77">
            <a:extLst>
              <a:ext uri="{FF2B5EF4-FFF2-40B4-BE49-F238E27FC236}">
                <a16:creationId xmlns:a16="http://schemas.microsoft.com/office/drawing/2014/main" id="{B0CE31D0-6DA1-45DD-8F34-ED6EBD8444B4}"/>
              </a:ext>
            </a:extLst>
          </p:cNvPr>
          <p:cNvSpPr/>
          <p:nvPr/>
        </p:nvSpPr>
        <p:spPr>
          <a:xfrm>
            <a:off x="4476103" y="4684190"/>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29</a:t>
            </a:r>
          </a:p>
        </p:txBody>
      </p:sp>
      <p:sp>
        <p:nvSpPr>
          <p:cNvPr id="39" name="Rectangle: Rounded Corners 38">
            <a:extLst>
              <a:ext uri="{FF2B5EF4-FFF2-40B4-BE49-F238E27FC236}">
                <a16:creationId xmlns:a16="http://schemas.microsoft.com/office/drawing/2014/main" id="{2D5769BF-229E-465A-B8ED-F575789899B9}"/>
              </a:ext>
            </a:extLst>
          </p:cNvPr>
          <p:cNvSpPr/>
          <p:nvPr/>
        </p:nvSpPr>
        <p:spPr>
          <a:xfrm>
            <a:off x="4474550" y="5505843"/>
            <a:ext cx="4310675" cy="700038"/>
          </a:xfrm>
          <a:prstGeom prst="roundRect">
            <a:avLst>
              <a:gd name="adj" fmla="val 16043"/>
            </a:avLst>
          </a:prstGeom>
          <a:solidFill>
            <a:schemeClr val="accent2">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0000" tIns="0" rIns="0" bIns="0" numCol="1" spcCol="0" rtlCol="0" fromWordArt="0" anchor="ctr" anchorCtr="0" forceAA="0" compatLnSpc="1">
            <a:prstTxWarp prst="textNoShape">
              <a:avLst/>
            </a:prstTxWarp>
            <a:noAutofit/>
          </a:bodyPr>
          <a:lstStyle/>
          <a:p>
            <a:r>
              <a:rPr lang="en-GB" sz="1000">
                <a:solidFill>
                  <a:schemeClr val="tx1"/>
                </a:solidFill>
                <a:latin typeface="+mj-lt"/>
              </a:rPr>
              <a:t>List Customer Documents – </a:t>
            </a:r>
            <a:r>
              <a:rPr lang="en-GB" sz="1000">
                <a:solidFill>
                  <a:schemeClr val="tx1"/>
                </a:solidFill>
              </a:rPr>
              <a:t>Relevant documents related to the customer, tenancy or property are displayed to the customer through the web portal</a:t>
            </a:r>
          </a:p>
        </p:txBody>
      </p:sp>
      <p:sp>
        <p:nvSpPr>
          <p:cNvPr id="40" name="Oval 39">
            <a:extLst>
              <a:ext uri="{FF2B5EF4-FFF2-40B4-BE49-F238E27FC236}">
                <a16:creationId xmlns:a16="http://schemas.microsoft.com/office/drawing/2014/main" id="{B7E03219-4BFC-4AD3-B1A3-8D4674CD8008}"/>
              </a:ext>
            </a:extLst>
          </p:cNvPr>
          <p:cNvSpPr/>
          <p:nvPr/>
        </p:nvSpPr>
        <p:spPr>
          <a:xfrm>
            <a:off x="4474550" y="5505842"/>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30</a:t>
            </a:r>
          </a:p>
        </p:txBody>
      </p:sp>
      <p:grpSp>
        <p:nvGrpSpPr>
          <p:cNvPr id="24" name="Group 23">
            <a:extLst>
              <a:ext uri="{FF2B5EF4-FFF2-40B4-BE49-F238E27FC236}">
                <a16:creationId xmlns:a16="http://schemas.microsoft.com/office/drawing/2014/main" id="{1705F936-474E-4B41-97F0-C929189FEF55}"/>
              </a:ext>
            </a:extLst>
          </p:cNvPr>
          <p:cNvGrpSpPr/>
          <p:nvPr/>
        </p:nvGrpSpPr>
        <p:grpSpPr>
          <a:xfrm>
            <a:off x="3100732" y="4308582"/>
            <a:ext cx="252000" cy="469225"/>
            <a:chOff x="3100732" y="4871362"/>
            <a:chExt cx="252000" cy="620438"/>
          </a:xfrm>
        </p:grpSpPr>
        <p:cxnSp>
          <p:nvCxnSpPr>
            <p:cNvPr id="76" name="Straight Arrow Connector 75">
              <a:extLst>
                <a:ext uri="{FF2B5EF4-FFF2-40B4-BE49-F238E27FC236}">
                  <a16:creationId xmlns:a16="http://schemas.microsoft.com/office/drawing/2014/main" id="{30835346-06FC-4174-8326-455506DA3416}"/>
                </a:ext>
              </a:extLst>
            </p:cNvPr>
            <p:cNvCxnSpPr>
              <a:cxnSpLocks/>
            </p:cNvCxnSpPr>
            <p:nvPr/>
          </p:nvCxnSpPr>
          <p:spPr>
            <a:xfrm flipV="1">
              <a:off x="3230266" y="4871362"/>
              <a:ext cx="0" cy="6204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8C2E07BC-E53C-433A-96E9-373A5354EBDF}"/>
                </a:ext>
              </a:extLst>
            </p:cNvPr>
            <p:cNvSpPr/>
            <p:nvPr/>
          </p:nvSpPr>
          <p:spPr>
            <a:xfrm>
              <a:off x="3100732" y="5132229"/>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28</a:t>
              </a:r>
            </a:p>
          </p:txBody>
        </p:sp>
      </p:grpSp>
      <p:grpSp>
        <p:nvGrpSpPr>
          <p:cNvPr id="18" name="Group 17">
            <a:extLst>
              <a:ext uri="{FF2B5EF4-FFF2-40B4-BE49-F238E27FC236}">
                <a16:creationId xmlns:a16="http://schemas.microsoft.com/office/drawing/2014/main" id="{F4918F0C-0A9C-433E-BC60-B153A0756C34}"/>
              </a:ext>
            </a:extLst>
          </p:cNvPr>
          <p:cNvGrpSpPr/>
          <p:nvPr/>
        </p:nvGrpSpPr>
        <p:grpSpPr>
          <a:xfrm>
            <a:off x="712356" y="3458339"/>
            <a:ext cx="252000" cy="469225"/>
            <a:chOff x="712356" y="3875780"/>
            <a:chExt cx="252000" cy="620438"/>
          </a:xfrm>
        </p:grpSpPr>
        <p:cxnSp>
          <p:nvCxnSpPr>
            <p:cNvPr id="88" name="Straight Arrow Connector 87">
              <a:extLst>
                <a:ext uri="{FF2B5EF4-FFF2-40B4-BE49-F238E27FC236}">
                  <a16:creationId xmlns:a16="http://schemas.microsoft.com/office/drawing/2014/main" id="{1EE3ED2A-2678-474D-8E35-B8353BF7087D}"/>
                </a:ext>
              </a:extLst>
            </p:cNvPr>
            <p:cNvCxnSpPr>
              <a:cxnSpLocks/>
            </p:cNvCxnSpPr>
            <p:nvPr/>
          </p:nvCxnSpPr>
          <p:spPr>
            <a:xfrm flipV="1">
              <a:off x="841890"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9" name="Oval 88">
              <a:extLst>
                <a:ext uri="{FF2B5EF4-FFF2-40B4-BE49-F238E27FC236}">
                  <a16:creationId xmlns:a16="http://schemas.microsoft.com/office/drawing/2014/main" id="{F0751FF4-46F8-43E5-B837-A3C03E111794}"/>
                </a:ext>
              </a:extLst>
            </p:cNvPr>
            <p:cNvSpPr/>
            <p:nvPr/>
          </p:nvSpPr>
          <p:spPr>
            <a:xfrm>
              <a:off x="712356" y="4082389"/>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27</a:t>
              </a:r>
            </a:p>
          </p:txBody>
        </p:sp>
      </p:grpSp>
      <p:grpSp>
        <p:nvGrpSpPr>
          <p:cNvPr id="20" name="Group 19">
            <a:extLst>
              <a:ext uri="{FF2B5EF4-FFF2-40B4-BE49-F238E27FC236}">
                <a16:creationId xmlns:a16="http://schemas.microsoft.com/office/drawing/2014/main" id="{87A5C53A-F09B-4736-812B-48C9BF306DD6}"/>
              </a:ext>
            </a:extLst>
          </p:cNvPr>
          <p:cNvGrpSpPr/>
          <p:nvPr/>
        </p:nvGrpSpPr>
        <p:grpSpPr>
          <a:xfrm>
            <a:off x="1007848" y="3458339"/>
            <a:ext cx="252000" cy="469225"/>
            <a:chOff x="1007848" y="3875780"/>
            <a:chExt cx="252000" cy="620438"/>
          </a:xfrm>
        </p:grpSpPr>
        <p:cxnSp>
          <p:nvCxnSpPr>
            <p:cNvPr id="91" name="Straight Arrow Connector 90">
              <a:extLst>
                <a:ext uri="{FF2B5EF4-FFF2-40B4-BE49-F238E27FC236}">
                  <a16:creationId xmlns:a16="http://schemas.microsoft.com/office/drawing/2014/main" id="{9624914F-AD62-4379-A42A-EB47E9726F4C}"/>
                </a:ext>
              </a:extLst>
            </p:cNvPr>
            <p:cNvCxnSpPr>
              <a:cxnSpLocks/>
            </p:cNvCxnSpPr>
            <p:nvPr/>
          </p:nvCxnSpPr>
          <p:spPr>
            <a:xfrm flipV="1">
              <a:off x="1137382" y="3875780"/>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9A3F1C48-B49C-4EE6-BCA5-AA467099E33C}"/>
                </a:ext>
              </a:extLst>
            </p:cNvPr>
            <p:cNvSpPr/>
            <p:nvPr/>
          </p:nvSpPr>
          <p:spPr>
            <a:xfrm>
              <a:off x="1007848" y="4082389"/>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28</a:t>
              </a:r>
            </a:p>
          </p:txBody>
        </p:sp>
      </p:grpSp>
      <p:grpSp>
        <p:nvGrpSpPr>
          <p:cNvPr id="22" name="Group 21">
            <a:extLst>
              <a:ext uri="{FF2B5EF4-FFF2-40B4-BE49-F238E27FC236}">
                <a16:creationId xmlns:a16="http://schemas.microsoft.com/office/drawing/2014/main" id="{69DE8312-EDD8-4874-859A-3F81C6A1BE2A}"/>
              </a:ext>
            </a:extLst>
          </p:cNvPr>
          <p:cNvGrpSpPr/>
          <p:nvPr/>
        </p:nvGrpSpPr>
        <p:grpSpPr>
          <a:xfrm>
            <a:off x="3092185" y="3452330"/>
            <a:ext cx="252000" cy="469225"/>
            <a:chOff x="3092185" y="3869771"/>
            <a:chExt cx="252000" cy="620438"/>
          </a:xfrm>
        </p:grpSpPr>
        <p:cxnSp>
          <p:nvCxnSpPr>
            <p:cNvPr id="138" name="Straight Arrow Connector 137">
              <a:extLst>
                <a:ext uri="{FF2B5EF4-FFF2-40B4-BE49-F238E27FC236}">
                  <a16:creationId xmlns:a16="http://schemas.microsoft.com/office/drawing/2014/main" id="{2DE9F721-CFC5-4ABB-BF5C-5984BBA62EAD}"/>
                </a:ext>
              </a:extLst>
            </p:cNvPr>
            <p:cNvCxnSpPr>
              <a:cxnSpLocks/>
            </p:cNvCxnSpPr>
            <p:nvPr/>
          </p:nvCxnSpPr>
          <p:spPr>
            <a:xfrm flipV="1">
              <a:off x="3221719" y="3869771"/>
              <a:ext cx="0" cy="62043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55641F0B-1C61-4101-B018-2554DDB6C18E}"/>
                </a:ext>
              </a:extLst>
            </p:cNvPr>
            <p:cNvSpPr/>
            <p:nvPr/>
          </p:nvSpPr>
          <p:spPr>
            <a:xfrm>
              <a:off x="3092185" y="4076380"/>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29</a:t>
              </a:r>
            </a:p>
          </p:txBody>
        </p:sp>
      </p:grpSp>
      <p:sp>
        <p:nvSpPr>
          <p:cNvPr id="36" name="Rectangle: Rounded Corners 35">
            <a:extLst>
              <a:ext uri="{FF2B5EF4-FFF2-40B4-BE49-F238E27FC236}">
                <a16:creationId xmlns:a16="http://schemas.microsoft.com/office/drawing/2014/main" id="{69D59435-7EEB-4811-BAAC-BD1963C64B92}"/>
              </a:ext>
            </a:extLst>
          </p:cNvPr>
          <p:cNvSpPr/>
          <p:nvPr/>
        </p:nvSpPr>
        <p:spPr>
          <a:xfrm>
            <a:off x="446348" y="2344715"/>
            <a:ext cx="3337945" cy="355014"/>
          </a:xfrm>
          <a:prstGeom prst="roundRect">
            <a:avLst/>
          </a:prstGeom>
          <a:solidFill>
            <a:srgbClr val="4D858D"/>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a:latin typeface="+mj-lt"/>
              </a:rPr>
              <a:t>MyGrainger Portal</a:t>
            </a:r>
          </a:p>
        </p:txBody>
      </p:sp>
      <p:grpSp>
        <p:nvGrpSpPr>
          <p:cNvPr id="28" name="Group 27">
            <a:extLst>
              <a:ext uri="{FF2B5EF4-FFF2-40B4-BE49-F238E27FC236}">
                <a16:creationId xmlns:a16="http://schemas.microsoft.com/office/drawing/2014/main" id="{504C24E4-4989-4610-B1E3-4F71B74B0462}"/>
              </a:ext>
            </a:extLst>
          </p:cNvPr>
          <p:cNvGrpSpPr/>
          <p:nvPr/>
        </p:nvGrpSpPr>
        <p:grpSpPr>
          <a:xfrm>
            <a:off x="1981723" y="2698362"/>
            <a:ext cx="252000" cy="1240886"/>
            <a:chOff x="1981723" y="2205119"/>
            <a:chExt cx="252000" cy="1607333"/>
          </a:xfrm>
        </p:grpSpPr>
        <p:cxnSp>
          <p:nvCxnSpPr>
            <p:cNvPr id="41" name="Straight Arrow Connector 40">
              <a:extLst>
                <a:ext uri="{FF2B5EF4-FFF2-40B4-BE49-F238E27FC236}">
                  <a16:creationId xmlns:a16="http://schemas.microsoft.com/office/drawing/2014/main" id="{47441852-025E-4D97-BA9D-C74618289A63}"/>
                </a:ext>
              </a:extLst>
            </p:cNvPr>
            <p:cNvCxnSpPr>
              <a:cxnSpLocks/>
              <a:stCxn id="4" idx="0"/>
            </p:cNvCxnSpPr>
            <p:nvPr/>
          </p:nvCxnSpPr>
          <p:spPr>
            <a:xfrm flipV="1">
              <a:off x="2112360" y="2205119"/>
              <a:ext cx="0" cy="1607333"/>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F471B253-F12C-4465-A7C5-43575D5A0D79}"/>
                </a:ext>
              </a:extLst>
            </p:cNvPr>
            <p:cNvSpPr/>
            <p:nvPr/>
          </p:nvSpPr>
          <p:spPr>
            <a:xfrm>
              <a:off x="1981723" y="2360319"/>
              <a:ext cx="252000" cy="252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i="1">
                  <a:solidFill>
                    <a:srgbClr val="4D858D"/>
                  </a:solidFill>
                  <a:latin typeface="+mj-lt"/>
                </a:rPr>
                <a:t>30</a:t>
              </a:r>
            </a:p>
          </p:txBody>
        </p:sp>
      </p:grpSp>
      <p:grpSp>
        <p:nvGrpSpPr>
          <p:cNvPr id="43" name="Group 42">
            <a:extLst>
              <a:ext uri="{FF2B5EF4-FFF2-40B4-BE49-F238E27FC236}">
                <a16:creationId xmlns:a16="http://schemas.microsoft.com/office/drawing/2014/main" id="{C25BDA2F-CA94-4B11-B5C8-A1CF29ED0991}"/>
              </a:ext>
            </a:extLst>
          </p:cNvPr>
          <p:cNvGrpSpPr/>
          <p:nvPr/>
        </p:nvGrpSpPr>
        <p:grpSpPr>
          <a:xfrm>
            <a:off x="1659090" y="3463347"/>
            <a:ext cx="252000" cy="469225"/>
            <a:chOff x="1983881" y="4891928"/>
            <a:chExt cx="252000" cy="620438"/>
          </a:xfrm>
        </p:grpSpPr>
        <p:cxnSp>
          <p:nvCxnSpPr>
            <p:cNvPr id="44" name="Straight Arrow Connector 43">
              <a:extLst>
                <a:ext uri="{FF2B5EF4-FFF2-40B4-BE49-F238E27FC236}">
                  <a16:creationId xmlns:a16="http://schemas.microsoft.com/office/drawing/2014/main" id="{A4D69DB4-688D-4164-8A8A-6C807A12F743}"/>
                </a:ext>
              </a:extLst>
            </p:cNvPr>
            <p:cNvCxnSpPr>
              <a:cxnSpLocks/>
            </p:cNvCxnSpPr>
            <p:nvPr/>
          </p:nvCxnSpPr>
          <p:spPr>
            <a:xfrm flipV="1">
              <a:off x="2107398" y="4891928"/>
              <a:ext cx="0" cy="620438"/>
            </a:xfrm>
            <a:prstGeom prst="straightConnector1">
              <a:avLst/>
            </a:prstGeom>
            <a:ln w="57150">
              <a:solidFill>
                <a:schemeClr val="tx1"/>
              </a:solidFill>
              <a:headEnd type="triangle"/>
              <a:tailEnd type="none" w="med" len="me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126719FA-FD81-4E2B-9BC9-694CABDD6984}"/>
                </a:ext>
              </a:extLst>
            </p:cNvPr>
            <p:cNvSpPr/>
            <p:nvPr/>
          </p:nvSpPr>
          <p:spPr>
            <a:xfrm>
              <a:off x="1983881" y="5000393"/>
              <a:ext cx="252000" cy="2520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000">
                  <a:solidFill>
                    <a:srgbClr val="4D858D"/>
                  </a:solidFill>
                  <a:latin typeface="+mj-lt"/>
                </a:rPr>
                <a:t>30</a:t>
              </a:r>
            </a:p>
          </p:txBody>
        </p:sp>
      </p:grpSp>
      <p:grpSp>
        <p:nvGrpSpPr>
          <p:cNvPr id="61" name="Group 60">
            <a:extLst>
              <a:ext uri="{FF2B5EF4-FFF2-40B4-BE49-F238E27FC236}">
                <a16:creationId xmlns:a16="http://schemas.microsoft.com/office/drawing/2014/main" id="{117CF9EC-6094-4A8E-A854-66608B760865}"/>
              </a:ext>
            </a:extLst>
          </p:cNvPr>
          <p:cNvGrpSpPr/>
          <p:nvPr/>
        </p:nvGrpSpPr>
        <p:grpSpPr>
          <a:xfrm>
            <a:off x="289244" y="5418280"/>
            <a:ext cx="3649649" cy="878439"/>
            <a:chOff x="289244" y="5418280"/>
            <a:chExt cx="3649649" cy="878439"/>
          </a:xfrm>
        </p:grpSpPr>
        <p:sp>
          <p:nvSpPr>
            <p:cNvPr id="62" name="Rectangle 61">
              <a:extLst>
                <a:ext uri="{FF2B5EF4-FFF2-40B4-BE49-F238E27FC236}">
                  <a16:creationId xmlns:a16="http://schemas.microsoft.com/office/drawing/2014/main" id="{33EFC411-E39F-4172-9482-727DCA8E28DC}"/>
                </a:ext>
              </a:extLst>
            </p:cNvPr>
            <p:cNvSpPr/>
            <p:nvPr/>
          </p:nvSpPr>
          <p:spPr>
            <a:xfrm>
              <a:off x="289244" y="5418280"/>
              <a:ext cx="3649649" cy="87843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3" name="Group 62">
              <a:extLst>
                <a:ext uri="{FF2B5EF4-FFF2-40B4-BE49-F238E27FC236}">
                  <a16:creationId xmlns:a16="http://schemas.microsoft.com/office/drawing/2014/main" id="{267CBAA7-8E1A-4238-9E47-2804C7FF4925}"/>
                </a:ext>
              </a:extLst>
            </p:cNvPr>
            <p:cNvGrpSpPr/>
            <p:nvPr/>
          </p:nvGrpSpPr>
          <p:grpSpPr>
            <a:xfrm>
              <a:off x="361773" y="5476571"/>
              <a:ext cx="3444371" cy="250772"/>
              <a:chOff x="-1487335" y="2073671"/>
              <a:chExt cx="3503665" cy="250772"/>
            </a:xfrm>
          </p:grpSpPr>
          <p:cxnSp>
            <p:nvCxnSpPr>
              <p:cNvPr id="67" name="Straight Arrow Connector 66">
                <a:extLst>
                  <a:ext uri="{FF2B5EF4-FFF2-40B4-BE49-F238E27FC236}">
                    <a16:creationId xmlns:a16="http://schemas.microsoft.com/office/drawing/2014/main" id="{F8606DD6-8567-41FD-BB99-884A4798C619}"/>
                  </a:ext>
                </a:extLst>
              </p:cNvPr>
              <p:cNvCxnSpPr>
                <a:cxnSpLocks/>
              </p:cNvCxnSpPr>
              <p:nvPr/>
            </p:nvCxnSpPr>
            <p:spPr>
              <a:xfrm flipV="1">
                <a:off x="-953374" y="2073671"/>
                <a:ext cx="0" cy="250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556C9B8-CB07-4501-9419-A622AAE8EF41}"/>
                  </a:ext>
                </a:extLst>
              </p:cNvPr>
              <p:cNvCxnSpPr>
                <a:cxnSpLocks/>
              </p:cNvCxnSpPr>
              <p:nvPr/>
            </p:nvCxnSpPr>
            <p:spPr>
              <a:xfrm flipV="1">
                <a:off x="635455" y="2079823"/>
                <a:ext cx="0" cy="238469"/>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98D9DC9-AFC1-47A4-A689-514A1E7E766D}"/>
                  </a:ext>
                </a:extLst>
              </p:cNvPr>
              <p:cNvSpPr txBox="1"/>
              <p:nvPr/>
            </p:nvSpPr>
            <p:spPr>
              <a:xfrm>
                <a:off x="-856106" y="2075947"/>
                <a:ext cx="1312958"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From source / master</a:t>
                </a:r>
              </a:p>
            </p:txBody>
          </p:sp>
          <p:sp>
            <p:nvSpPr>
              <p:cNvPr id="70" name="TextBox 69">
                <a:extLst>
                  <a:ext uri="{FF2B5EF4-FFF2-40B4-BE49-F238E27FC236}">
                    <a16:creationId xmlns:a16="http://schemas.microsoft.com/office/drawing/2014/main" id="{453617BD-6FD7-46D8-ACDB-BF9D50689A44}"/>
                  </a:ext>
                </a:extLst>
              </p:cNvPr>
              <p:cNvSpPr txBox="1"/>
              <p:nvPr/>
            </p:nvSpPr>
            <p:spPr>
              <a:xfrm>
                <a:off x="732723" y="2075947"/>
                <a:ext cx="1283607" cy="215444"/>
              </a:xfrm>
              <a:prstGeom prst="rect">
                <a:avLst/>
              </a:prstGeom>
              <a:noFill/>
            </p:spPr>
            <p:txBody>
              <a:bodyPr wrap="none" rtlCol="0">
                <a:spAutoFit/>
              </a:bodyPr>
              <a:lstStyle/>
              <a:p>
                <a:pPr algn="l"/>
                <a:r>
                  <a:rPr lang="en-GB" sz="800">
                    <a:solidFill>
                      <a:srgbClr val="4D858D"/>
                    </a:solidFill>
                    <a:latin typeface="Montserrat" panose="00000500000000000000" pitchFamily="50" charset="0"/>
                  </a:rPr>
                  <a:t>To destination / slave</a:t>
                </a:r>
              </a:p>
            </p:txBody>
          </p:sp>
          <p:sp>
            <p:nvSpPr>
              <p:cNvPr id="71" name="TextBox 70">
                <a:extLst>
                  <a:ext uri="{FF2B5EF4-FFF2-40B4-BE49-F238E27FC236}">
                    <a16:creationId xmlns:a16="http://schemas.microsoft.com/office/drawing/2014/main" id="{51FC013C-EC6F-4977-B630-EE0783804529}"/>
                  </a:ext>
                </a:extLst>
              </p:cNvPr>
              <p:cNvSpPr txBox="1"/>
              <p:nvPr/>
            </p:nvSpPr>
            <p:spPr>
              <a:xfrm>
                <a:off x="-1487335" y="2075947"/>
                <a:ext cx="405239" cy="246221"/>
              </a:xfrm>
              <a:prstGeom prst="rect">
                <a:avLst/>
              </a:prstGeom>
              <a:noFill/>
            </p:spPr>
            <p:txBody>
              <a:bodyPr wrap="none" rtlCol="0">
                <a:spAutoFit/>
              </a:bodyPr>
              <a:lstStyle/>
              <a:p>
                <a:pPr algn="l"/>
                <a:r>
                  <a:rPr lang="en-GB" sz="1000" b="1" spc="-60">
                    <a:solidFill>
                      <a:srgbClr val="4D858D"/>
                    </a:solidFill>
                    <a:latin typeface="+mj-lt"/>
                  </a:rPr>
                  <a:t>Key</a:t>
                </a:r>
              </a:p>
            </p:txBody>
          </p:sp>
        </p:grpSp>
      </p:grpSp>
      <p:sp>
        <p:nvSpPr>
          <p:cNvPr id="74" name="Rectangle: Rounded Corners 73">
            <a:extLst>
              <a:ext uri="{FF2B5EF4-FFF2-40B4-BE49-F238E27FC236}">
                <a16:creationId xmlns:a16="http://schemas.microsoft.com/office/drawing/2014/main" id="{6A0FCEB9-882C-4EA0-BBCE-CEDA46C98111}"/>
              </a:ext>
            </a:extLst>
          </p:cNvPr>
          <p:cNvSpPr/>
          <p:nvPr/>
        </p:nvSpPr>
        <p:spPr>
          <a:xfrm>
            <a:off x="446382" y="5813489"/>
            <a:ext cx="1080000" cy="433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Core</a:t>
            </a:r>
          </a:p>
        </p:txBody>
      </p:sp>
      <p:sp>
        <p:nvSpPr>
          <p:cNvPr id="75" name="Rectangle: Rounded Corners 74">
            <a:extLst>
              <a:ext uri="{FF2B5EF4-FFF2-40B4-BE49-F238E27FC236}">
                <a16:creationId xmlns:a16="http://schemas.microsoft.com/office/drawing/2014/main" id="{874656E0-63D3-4FD1-AD75-A931BF83717F}"/>
              </a:ext>
            </a:extLst>
          </p:cNvPr>
          <p:cNvSpPr/>
          <p:nvPr/>
        </p:nvSpPr>
        <p:spPr>
          <a:xfrm>
            <a:off x="1594549" y="5813489"/>
            <a:ext cx="1080000" cy="433066"/>
          </a:xfrm>
          <a:prstGeom prst="round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ontserrat" panose="00000500000000000000" pitchFamily="50" charset="0"/>
              </a:rPr>
              <a:t>Phase 1 </a:t>
            </a:r>
            <a:r>
              <a:rPr lang="en-GB" sz="800">
                <a:solidFill>
                  <a:schemeClr val="tx1"/>
                </a:solidFill>
                <a:latin typeface="+mj-lt"/>
              </a:rPr>
              <a:t>Portal / post-go-live</a:t>
            </a:r>
            <a:endParaRPr lang="en-GB" sz="800">
              <a:solidFill>
                <a:schemeClr val="tx1"/>
              </a:solidFill>
              <a:latin typeface="Montserrat" panose="00000500000000000000" pitchFamily="50" charset="0"/>
            </a:endParaRPr>
          </a:p>
        </p:txBody>
      </p:sp>
      <p:sp>
        <p:nvSpPr>
          <p:cNvPr id="80" name="Rectangle: Rounded Corners 79">
            <a:extLst>
              <a:ext uri="{FF2B5EF4-FFF2-40B4-BE49-F238E27FC236}">
                <a16:creationId xmlns:a16="http://schemas.microsoft.com/office/drawing/2014/main" id="{F289B22E-8544-41A5-8C72-FAEB1CCC8979}"/>
              </a:ext>
            </a:extLst>
          </p:cNvPr>
          <p:cNvSpPr/>
          <p:nvPr/>
        </p:nvSpPr>
        <p:spPr>
          <a:xfrm>
            <a:off x="2731567" y="5813489"/>
            <a:ext cx="1080000" cy="433066"/>
          </a:xfrm>
          <a:prstGeom prst="round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latin typeface="+mj-lt"/>
              </a:rPr>
              <a:t>Phase 2</a:t>
            </a:r>
          </a:p>
        </p:txBody>
      </p:sp>
    </p:spTree>
    <p:extLst>
      <p:ext uri="{BB962C8B-B14F-4D97-AF65-F5344CB8AC3E}">
        <p14:creationId xmlns:p14="http://schemas.microsoft.com/office/powerpoint/2010/main" val="20391601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265949E-2C6C-4B2D-9608-B35337CB8DC5}"/>
              </a:ext>
            </a:extLst>
          </p:cNvPr>
          <p:cNvGraphicFramePr>
            <a:graphicFrameLocks noGrp="1"/>
          </p:cNvGraphicFramePr>
          <p:nvPr>
            <p:ph idx="1"/>
          </p:nvPr>
        </p:nvGraphicFramePr>
        <p:xfrm>
          <a:off x="358775" y="2253916"/>
          <a:ext cx="8426450" cy="3900398"/>
        </p:xfrm>
        <a:graphic>
          <a:graphicData uri="http://schemas.openxmlformats.org/drawingml/2006/table">
            <a:tbl>
              <a:tblPr>
                <a:tableStyleId>{5C22544A-7EE6-4342-B048-85BDC9FD1C3A}</a:tableStyleId>
              </a:tblPr>
              <a:tblGrid>
                <a:gridCol w="2387751">
                  <a:extLst>
                    <a:ext uri="{9D8B030D-6E8A-4147-A177-3AD203B41FA5}">
                      <a16:colId xmlns:a16="http://schemas.microsoft.com/office/drawing/2014/main" val="2874488204"/>
                    </a:ext>
                  </a:extLst>
                </a:gridCol>
                <a:gridCol w="3822716">
                  <a:extLst>
                    <a:ext uri="{9D8B030D-6E8A-4147-A177-3AD203B41FA5}">
                      <a16:colId xmlns:a16="http://schemas.microsoft.com/office/drawing/2014/main" val="832972501"/>
                    </a:ext>
                  </a:extLst>
                </a:gridCol>
                <a:gridCol w="2215983">
                  <a:extLst>
                    <a:ext uri="{9D8B030D-6E8A-4147-A177-3AD203B41FA5}">
                      <a16:colId xmlns:a16="http://schemas.microsoft.com/office/drawing/2014/main" val="1727536703"/>
                    </a:ext>
                  </a:extLst>
                </a:gridCol>
              </a:tblGrid>
              <a:tr h="230742">
                <a:tc>
                  <a:txBody>
                    <a:bodyPr/>
                    <a:lstStyle/>
                    <a:p>
                      <a:pPr algn="l" fontAlgn="b"/>
                      <a:r>
                        <a:rPr lang="en-GB" sz="1400" u="none" strike="noStrike">
                          <a:solidFill>
                            <a:schemeClr val="bg1"/>
                          </a:solidFill>
                          <a:effectLst/>
                          <a:latin typeface="+mj-lt"/>
                        </a:rPr>
                        <a:t>Integration Name</a:t>
                      </a:r>
                      <a:endParaRPr lang="en-GB" sz="1400" b="1" i="0" u="none" strike="noStrike">
                        <a:solidFill>
                          <a:schemeClr val="bg1"/>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pPr algn="l" fontAlgn="b"/>
                      <a:r>
                        <a:rPr lang="en-GB" sz="1400" u="none" strike="noStrike">
                          <a:solidFill>
                            <a:schemeClr val="bg1"/>
                          </a:solidFill>
                          <a:effectLst/>
                          <a:latin typeface="+mj-lt"/>
                        </a:rPr>
                        <a:t> Purpose</a:t>
                      </a:r>
                      <a:endParaRPr lang="en-GB" sz="1400" b="1" i="0" u="none" strike="noStrike">
                        <a:solidFill>
                          <a:schemeClr val="bg1"/>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tc>
                  <a:txBody>
                    <a:bodyPr/>
                    <a:lstStyle/>
                    <a:p>
                      <a:pPr algn="l" fontAlgn="b"/>
                      <a:r>
                        <a:rPr lang="en-GB" sz="1400" u="none" strike="noStrike">
                          <a:solidFill>
                            <a:schemeClr val="bg1"/>
                          </a:solidFill>
                          <a:effectLst/>
                          <a:latin typeface="+mj-lt"/>
                        </a:rPr>
                        <a:t>Rationale for Phase 2</a:t>
                      </a:r>
                      <a:endParaRPr lang="en-GB" sz="1400" b="1" i="0" u="none" strike="noStrike">
                        <a:solidFill>
                          <a:schemeClr val="bg1"/>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rgbClr val="4D858D"/>
                    </a:solidFill>
                  </a:tcPr>
                </a:tc>
                <a:extLst>
                  <a:ext uri="{0D108BD9-81ED-4DB2-BD59-A6C34878D82A}">
                    <a16:rowId xmlns:a16="http://schemas.microsoft.com/office/drawing/2014/main" val="750373291"/>
                  </a:ext>
                </a:extLst>
              </a:tr>
              <a:tr h="458707">
                <a:tc>
                  <a:txBody>
                    <a:bodyPr/>
                    <a:lstStyle/>
                    <a:p>
                      <a:pPr algn="l" fontAlgn="b"/>
                      <a:r>
                        <a:rPr lang="en-GB" sz="1100" u="none" strike="noStrike">
                          <a:effectLst/>
                          <a:latin typeface="+mj-lt"/>
                        </a:rPr>
                        <a:t>List Amenities</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List all Amenities available for a particular Estate.</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rowSpan="5">
                  <a:txBody>
                    <a:bodyPr/>
                    <a:lstStyle/>
                    <a:p>
                      <a:pPr marL="0" algn="ctr" defTabSz="685800" rtl="0" eaLnBrk="1" fontAlgn="b" latinLnBrk="0" hangingPunct="1"/>
                      <a:r>
                        <a:rPr lang="en-GB" sz="1100" u="none" strike="noStrike" kern="1200">
                          <a:solidFill>
                            <a:schemeClr val="dk1"/>
                          </a:solidFill>
                          <a:effectLst/>
                          <a:latin typeface="+mn-lt"/>
                          <a:ea typeface="+mn-ea"/>
                          <a:cs typeface="+mn-cs"/>
                        </a:rPr>
                        <a:t>The ‘portal’ element of the Amenity process will be out of scope for day 1, even though the Amenity process itself is fully supported by Connect.</a:t>
                      </a: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699468758"/>
                  </a:ext>
                </a:extLst>
              </a:tr>
              <a:tr h="458707">
                <a:tc>
                  <a:txBody>
                    <a:bodyPr/>
                    <a:lstStyle/>
                    <a:p>
                      <a:pPr algn="l" fontAlgn="b"/>
                      <a:r>
                        <a:rPr lang="en-GB" sz="1100" u="none" strike="noStrike">
                          <a:effectLst/>
                          <a:latin typeface="+mj-lt"/>
                        </a:rPr>
                        <a:t>Get Amenity Availability</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Get the availability of a specific Amenity.</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vMerge="1">
                  <a:txBody>
                    <a:bodyPr/>
                    <a:lstStyle/>
                    <a:p>
                      <a:pPr algn="l" fontAlgn="b"/>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423563822"/>
                  </a:ext>
                </a:extLst>
              </a:tr>
              <a:tr h="458707">
                <a:tc>
                  <a:txBody>
                    <a:bodyPr/>
                    <a:lstStyle/>
                    <a:p>
                      <a:pPr algn="l" fontAlgn="b"/>
                      <a:r>
                        <a:rPr lang="en-GB" sz="1100" u="none" strike="noStrike">
                          <a:effectLst/>
                          <a:latin typeface="+mj-lt"/>
                        </a:rPr>
                        <a:t>Post Amenity Booked</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Book a specific amenity for a specified period of time. </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vMerge="1">
                  <a:txBody>
                    <a:bodyPr/>
                    <a:lstStyle/>
                    <a:p>
                      <a:pPr algn="l" fontAlgn="b"/>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502050221"/>
                  </a:ext>
                </a:extLst>
              </a:tr>
              <a:tr h="458707">
                <a:tc>
                  <a:txBody>
                    <a:bodyPr/>
                    <a:lstStyle/>
                    <a:p>
                      <a:pPr algn="l" fontAlgn="b"/>
                      <a:r>
                        <a:rPr lang="en-GB" sz="1100" u="none" strike="noStrike">
                          <a:effectLst/>
                          <a:latin typeface="+mj-lt"/>
                        </a:rPr>
                        <a:t>List Amenity Bookings</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List all Amenity bookings for a specific Customer. </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vMerge="1">
                  <a:txBody>
                    <a:bodyPr/>
                    <a:lstStyle/>
                    <a:p>
                      <a:pPr algn="l" fontAlgn="b"/>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56686364"/>
                  </a:ext>
                </a:extLst>
              </a:tr>
              <a:tr h="458707">
                <a:tc>
                  <a:txBody>
                    <a:bodyPr/>
                    <a:lstStyle/>
                    <a:p>
                      <a:pPr algn="l" fontAlgn="b"/>
                      <a:r>
                        <a:rPr lang="en-GB" sz="1100" u="none" strike="noStrike">
                          <a:effectLst/>
                          <a:latin typeface="+mj-lt"/>
                        </a:rPr>
                        <a:t>Post Amenity Cancelled</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Cancel a specific Amenity Booking.</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vMerge="1">
                  <a:txBody>
                    <a:bodyPr/>
                    <a:lstStyle/>
                    <a:p>
                      <a:pPr algn="l" fontAlgn="b"/>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481208597"/>
                  </a:ext>
                </a:extLst>
              </a:tr>
              <a:tr h="458707">
                <a:tc>
                  <a:txBody>
                    <a:bodyPr/>
                    <a:lstStyle/>
                    <a:p>
                      <a:pPr algn="l" fontAlgn="b"/>
                      <a:r>
                        <a:rPr lang="en-GB" sz="1100" u="none" strike="noStrike">
                          <a:effectLst/>
                          <a:latin typeface="+mj-lt"/>
                        </a:rPr>
                        <a:t>Get Account</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Get the status of the Customer's financial account with Grainger.</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100" u="none" strike="noStrike">
                          <a:effectLst/>
                        </a:rPr>
                        <a:t>Integration to MyGrainger Portal not built for day 1</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015554723"/>
                  </a:ext>
                </a:extLst>
              </a:tr>
              <a:tr h="458707">
                <a:tc>
                  <a:txBody>
                    <a:bodyPr/>
                    <a:lstStyle/>
                    <a:p>
                      <a:pPr algn="l" fontAlgn="b"/>
                      <a:r>
                        <a:rPr lang="en-GB" sz="1100" u="none" strike="noStrike">
                          <a:effectLst/>
                          <a:latin typeface="+mj-lt"/>
                        </a:rPr>
                        <a:t>Market Property</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Send a Unit's marketing particulars to a Property Portal (e.g. Rightmove, Zoopla)</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rowSpan="2">
                  <a:txBody>
                    <a:bodyPr/>
                    <a:lstStyle/>
                    <a:p>
                      <a:pPr algn="ctr" fontAlgn="b"/>
                      <a:r>
                        <a:rPr lang="en-GB" sz="1100" u="none" strike="noStrike">
                          <a:effectLst/>
                        </a:rPr>
                        <a:t>Prioritising the core Leasing Journey at this moment</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238879896"/>
                  </a:ext>
                </a:extLst>
              </a:tr>
              <a:tr h="458707">
                <a:tc>
                  <a:txBody>
                    <a:bodyPr/>
                    <a:lstStyle/>
                    <a:p>
                      <a:pPr algn="l" fontAlgn="b"/>
                      <a:r>
                        <a:rPr lang="en-GB" sz="1100" u="none" strike="noStrike">
                          <a:effectLst/>
                          <a:latin typeface="+mj-lt"/>
                        </a:rPr>
                        <a:t>Property Portal Lead </a:t>
                      </a:r>
                      <a:r>
                        <a:rPr lang="en-GB" sz="1100" u="none" strike="noStrike" err="1">
                          <a:effectLst/>
                          <a:latin typeface="+mj-lt"/>
                        </a:rPr>
                        <a:t>Upserted</a:t>
                      </a:r>
                      <a:endParaRPr lang="en-GB" sz="1100" b="0" i="0" u="none" strike="noStrike">
                        <a:solidFill>
                          <a:srgbClr val="000000"/>
                        </a:solidFill>
                        <a:effectLst/>
                        <a:latin typeface="+mj-lt"/>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r>
                        <a:rPr lang="en-GB" sz="1100" u="none" strike="noStrike">
                          <a:effectLst/>
                        </a:rPr>
                        <a:t>Automatically ingest Leads from Property Portals into the CRM</a:t>
                      </a:r>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vMerge="1">
                  <a:txBody>
                    <a:bodyPr/>
                    <a:lstStyle/>
                    <a:p>
                      <a:pPr algn="l" fontAlgn="b"/>
                      <a:endParaRPr lang="en-GB" sz="1100" b="0" i="0" u="none" strike="noStrike">
                        <a:solidFill>
                          <a:srgbClr val="000000"/>
                        </a:solidFill>
                        <a:effectLst/>
                        <a:latin typeface="Calibri" panose="020F0502020204030204" pitchFamily="34" charset="0"/>
                      </a:endParaRPr>
                    </a:p>
                  </a:txBody>
                  <a:tcPr marL="90000" marR="90000" marT="635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847067794"/>
                  </a:ext>
                </a:extLst>
              </a:tr>
            </a:tbl>
          </a:graphicData>
        </a:graphic>
      </p:graphicFrame>
      <p:sp>
        <p:nvSpPr>
          <p:cNvPr id="3" name="Footer Placeholder 2">
            <a:extLst>
              <a:ext uri="{FF2B5EF4-FFF2-40B4-BE49-F238E27FC236}">
                <a16:creationId xmlns:a16="http://schemas.microsoft.com/office/drawing/2014/main" id="{0D13DADC-1960-4110-9785-E0C526609E31}"/>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15457D2-9C64-4204-919F-18093D2095DD}"/>
              </a:ext>
            </a:extLst>
          </p:cNvPr>
          <p:cNvSpPr>
            <a:spLocks noGrp="1"/>
          </p:cNvSpPr>
          <p:nvPr>
            <p:ph type="sldNum" sz="quarter" idx="12"/>
          </p:nvPr>
        </p:nvSpPr>
        <p:spPr/>
        <p:txBody>
          <a:bodyPr/>
          <a:lstStyle/>
          <a:p>
            <a:fld id="{0D32313A-DEBC-4CA4-B008-A02D4ABE2C72}" type="slidenum">
              <a:rPr lang="en-GB" smtClean="0"/>
              <a:t>28</a:t>
            </a:fld>
            <a:endParaRPr lang="en-GB"/>
          </a:p>
        </p:txBody>
      </p:sp>
      <p:sp>
        <p:nvSpPr>
          <p:cNvPr id="5" name="Title 4">
            <a:extLst>
              <a:ext uri="{FF2B5EF4-FFF2-40B4-BE49-F238E27FC236}">
                <a16:creationId xmlns:a16="http://schemas.microsoft.com/office/drawing/2014/main" id="{9A903FD2-6A61-4331-A097-E992770ACEA9}"/>
              </a:ext>
            </a:extLst>
          </p:cNvPr>
          <p:cNvSpPr>
            <a:spLocks noGrp="1"/>
          </p:cNvSpPr>
          <p:nvPr>
            <p:ph type="title"/>
          </p:nvPr>
        </p:nvSpPr>
        <p:spPr/>
        <p:txBody>
          <a:bodyPr/>
          <a:lstStyle/>
          <a:p>
            <a:r>
              <a:rPr lang="en-GB"/>
              <a:t>Items out of scope for Phase 1</a:t>
            </a:r>
          </a:p>
        </p:txBody>
      </p:sp>
      <p:sp>
        <p:nvSpPr>
          <p:cNvPr id="7" name="Content Placeholder 5">
            <a:extLst>
              <a:ext uri="{FF2B5EF4-FFF2-40B4-BE49-F238E27FC236}">
                <a16:creationId xmlns:a16="http://schemas.microsoft.com/office/drawing/2014/main" id="{A39776C5-A9C4-4C13-869E-B73747E28A06}"/>
              </a:ext>
            </a:extLst>
          </p:cNvPr>
          <p:cNvSpPr txBox="1">
            <a:spLocks/>
          </p:cNvSpPr>
          <p:nvPr/>
        </p:nvSpPr>
        <p:spPr>
          <a:xfrm>
            <a:off x="358775" y="1268412"/>
            <a:ext cx="8426450" cy="87843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noAutofit/>
          </a:bodyPr>
          <a:lstStyle>
            <a:defPPr>
              <a:defRPr lang="en-US"/>
            </a:defPPr>
            <a:lvl1pPr indent="0" defTabSz="685796">
              <a:lnSpc>
                <a:spcPct val="90000"/>
              </a:lnSpc>
              <a:spcBef>
                <a:spcPts val="1200"/>
              </a:spcBef>
              <a:buFont typeface="Arial" panose="020B0604020202020204" pitchFamily="34" charset="0"/>
              <a:buNone/>
              <a:defRPr sz="1200" b="0" spc="-80" baseline="0">
                <a:solidFill>
                  <a:schemeClr val="accent2"/>
                </a:solidFill>
                <a:latin typeface="Montserrat Light (body)"/>
              </a:defRPr>
            </a:lvl1pPr>
            <a:lvl2pPr marL="177799" indent="-177799" defTabSz="685796">
              <a:lnSpc>
                <a:spcPct val="90000"/>
              </a:lnSpc>
              <a:spcBef>
                <a:spcPts val="300"/>
              </a:spcBef>
              <a:spcAft>
                <a:spcPts val="300"/>
              </a:spcAft>
              <a:buSzPct val="80000"/>
              <a:buFontTx/>
              <a:buBlip>
                <a:blip r:embed="rId2"/>
              </a:buBlip>
              <a:defRPr sz="1600" spc="-80" baseline="0"/>
            </a:lvl2pPr>
            <a:lvl3pPr marL="358773" indent="-180974" defTabSz="685796">
              <a:lnSpc>
                <a:spcPct val="90000"/>
              </a:lnSpc>
              <a:spcBef>
                <a:spcPts val="300"/>
              </a:spcBef>
              <a:spcAft>
                <a:spcPts val="300"/>
              </a:spcAft>
              <a:buClr>
                <a:schemeClr val="accent2"/>
              </a:buClr>
              <a:buSzPct val="80000"/>
              <a:buFont typeface="Arial" panose="020B0604020202020204" pitchFamily="34" charset="0"/>
              <a:buChar char="‒"/>
              <a:defRPr sz="1400" spc="-80" baseline="0"/>
            </a:lvl3pPr>
            <a:lvl4pPr marL="536572" indent="-177799"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4pPr>
            <a:lvl5pPr marL="717546" indent="-180974" defTabSz="685796">
              <a:lnSpc>
                <a:spcPct val="90000"/>
              </a:lnSpc>
              <a:spcBef>
                <a:spcPts val="300"/>
              </a:spcBef>
              <a:spcAft>
                <a:spcPts val="300"/>
              </a:spcAft>
              <a:buClr>
                <a:schemeClr val="accent2"/>
              </a:buClr>
              <a:buSzPct val="80000"/>
              <a:buFont typeface="Arial" panose="020B0604020202020204" pitchFamily="34" charset="0"/>
              <a:buChar char="‒"/>
              <a:defRPr sz="1200" spc="-80" baseline="0"/>
            </a:lvl5pPr>
            <a:lvl6pPr marL="1885939" indent="-171449" defTabSz="685796">
              <a:lnSpc>
                <a:spcPct val="90000"/>
              </a:lnSpc>
              <a:spcBef>
                <a:spcPts val="375"/>
              </a:spcBef>
              <a:buFont typeface="Arial" panose="020B0604020202020204" pitchFamily="34" charset="0"/>
              <a:buChar char="•"/>
              <a:defRPr sz="1350"/>
            </a:lvl6pPr>
            <a:lvl7pPr marL="2228837" indent="-171449" defTabSz="685796">
              <a:lnSpc>
                <a:spcPct val="90000"/>
              </a:lnSpc>
              <a:spcBef>
                <a:spcPts val="375"/>
              </a:spcBef>
              <a:buFont typeface="Arial" panose="020B0604020202020204" pitchFamily="34" charset="0"/>
              <a:buChar char="•"/>
              <a:defRPr sz="1350"/>
            </a:lvl7pPr>
            <a:lvl8pPr marL="2571735" indent="-171449" defTabSz="685796">
              <a:lnSpc>
                <a:spcPct val="90000"/>
              </a:lnSpc>
              <a:spcBef>
                <a:spcPts val="375"/>
              </a:spcBef>
              <a:buFont typeface="Arial" panose="020B0604020202020204" pitchFamily="34" charset="0"/>
              <a:buChar char="•"/>
              <a:defRPr sz="1350"/>
            </a:lvl8pPr>
            <a:lvl9pPr marL="2914633" indent="-171449" defTabSz="685796">
              <a:lnSpc>
                <a:spcPct val="90000"/>
              </a:lnSpc>
              <a:spcBef>
                <a:spcPts val="375"/>
              </a:spcBef>
              <a:buFont typeface="Arial" panose="020B0604020202020204" pitchFamily="34" charset="0"/>
              <a:buChar char="•"/>
              <a:defRPr sz="1350"/>
            </a:lvl9pPr>
          </a:lstStyle>
          <a:p>
            <a:pPr>
              <a:lnSpc>
                <a:spcPct val="100000"/>
              </a:lnSpc>
            </a:pPr>
            <a:r>
              <a:rPr lang="en-GB" spc="0">
                <a:latin typeface="Montserrat "/>
              </a:rPr>
              <a:t>In order to keep to the delivery timelines and go-live in June / July 2020, we are having to prioritise some items of the integration scope and leave some to be delivered as part of a continuous improvement effort after go-live. The table below shows which items are proposed to be de-prioritised and the main reasons.</a:t>
            </a:r>
          </a:p>
        </p:txBody>
      </p:sp>
    </p:spTree>
    <p:extLst>
      <p:ext uri="{BB962C8B-B14F-4D97-AF65-F5344CB8AC3E}">
        <p14:creationId xmlns:p14="http://schemas.microsoft.com/office/powerpoint/2010/main" val="2292887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4A81B7-37C4-47E5-8394-FF5548A68510}"/>
              </a:ext>
            </a:extLst>
          </p:cNvPr>
          <p:cNvSpPr>
            <a:spLocks noGrp="1"/>
          </p:cNvSpPr>
          <p:nvPr>
            <p:ph type="ctrTitle"/>
          </p:nvPr>
        </p:nvSpPr>
        <p:spPr/>
        <p:txBody>
          <a:bodyPr/>
          <a:lstStyle/>
          <a:p>
            <a:r>
              <a:rPr lang="en-GB"/>
              <a:t>Phase 1 Capability summary: </a:t>
            </a:r>
            <a:br>
              <a:rPr lang="en-GB"/>
            </a:br>
            <a:br>
              <a:rPr lang="en-GB"/>
            </a:br>
            <a:r>
              <a:rPr lang="en-GB"/>
              <a:t>MyGrainger Portal</a:t>
            </a:r>
          </a:p>
        </p:txBody>
      </p:sp>
      <p:sp>
        <p:nvSpPr>
          <p:cNvPr id="3" name="Footer Placeholder 2">
            <a:extLst>
              <a:ext uri="{FF2B5EF4-FFF2-40B4-BE49-F238E27FC236}">
                <a16:creationId xmlns:a16="http://schemas.microsoft.com/office/drawing/2014/main" id="{1FD910CB-0276-4B05-8C2B-A2491E1A8739}"/>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DA56A54C-FA0C-4E6A-83EE-30BB0997E270}"/>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29</a:t>
            </a:fld>
            <a:endParaRPr lang="en-GB"/>
          </a:p>
        </p:txBody>
      </p:sp>
    </p:spTree>
    <p:extLst>
      <p:ext uri="{BB962C8B-B14F-4D97-AF65-F5344CB8AC3E}">
        <p14:creationId xmlns:p14="http://schemas.microsoft.com/office/powerpoint/2010/main" val="30286207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75B644-7A59-42C6-BA3E-A468B2A5A035}"/>
              </a:ext>
            </a:extLst>
          </p:cNvPr>
          <p:cNvSpPr>
            <a:spLocks noGrp="1"/>
          </p:cNvSpPr>
          <p:nvPr>
            <p:ph type="sldNum" sz="quarter" idx="12"/>
          </p:nvPr>
        </p:nvSpPr>
        <p:spPr/>
        <p:txBody>
          <a:bodyPr/>
          <a:lstStyle/>
          <a:p>
            <a:fld id="{0D32313A-DEBC-4CA4-B008-A02D4ABE2C72}" type="slidenum">
              <a:rPr lang="en-GB" smtClean="0"/>
              <a:t>30</a:t>
            </a:fld>
            <a:endParaRPr lang="en-GB"/>
          </a:p>
        </p:txBody>
      </p:sp>
      <p:sp>
        <p:nvSpPr>
          <p:cNvPr id="5" name="Title 4">
            <a:extLst>
              <a:ext uri="{FF2B5EF4-FFF2-40B4-BE49-F238E27FC236}">
                <a16:creationId xmlns:a16="http://schemas.microsoft.com/office/drawing/2014/main" id="{2A2155C0-7AAA-4CD7-894C-692216146EEA}"/>
              </a:ext>
            </a:extLst>
          </p:cNvPr>
          <p:cNvSpPr>
            <a:spLocks noGrp="1"/>
          </p:cNvSpPr>
          <p:nvPr>
            <p:ph type="title"/>
          </p:nvPr>
        </p:nvSpPr>
        <p:spPr/>
        <p:txBody>
          <a:bodyPr/>
          <a:lstStyle/>
          <a:p>
            <a:r>
              <a:rPr lang="en-GB"/>
              <a:t>Portal – Phase 1 Principles </a:t>
            </a:r>
          </a:p>
        </p:txBody>
      </p:sp>
      <p:sp>
        <p:nvSpPr>
          <p:cNvPr id="3" name="Straight Connector 2">
            <a:extLst>
              <a:ext uri="{FF2B5EF4-FFF2-40B4-BE49-F238E27FC236}">
                <a16:creationId xmlns:a16="http://schemas.microsoft.com/office/drawing/2014/main" id="{A0A9F2DB-56CB-4EF0-B304-6274C3215BDE}"/>
              </a:ext>
            </a:extLst>
          </p:cNvPr>
          <p:cNvSpPr/>
          <p:nvPr/>
        </p:nvSpPr>
        <p:spPr>
          <a:xfrm>
            <a:off x="427839" y="1381123"/>
            <a:ext cx="8357385"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Freeform: Shape 7">
            <a:extLst>
              <a:ext uri="{FF2B5EF4-FFF2-40B4-BE49-F238E27FC236}">
                <a16:creationId xmlns:a16="http://schemas.microsoft.com/office/drawing/2014/main" id="{381681F0-75CB-4FA3-97FB-6D2E810540A2}"/>
              </a:ext>
            </a:extLst>
          </p:cNvPr>
          <p:cNvSpPr/>
          <p:nvPr/>
        </p:nvSpPr>
        <p:spPr>
          <a:xfrm>
            <a:off x="358776" y="1381123"/>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Minimal customisation</a:t>
            </a:r>
          </a:p>
        </p:txBody>
      </p:sp>
      <p:sp>
        <p:nvSpPr>
          <p:cNvPr id="13" name="Straight Connector 12">
            <a:extLst>
              <a:ext uri="{FF2B5EF4-FFF2-40B4-BE49-F238E27FC236}">
                <a16:creationId xmlns:a16="http://schemas.microsoft.com/office/drawing/2014/main" id="{DC31FA80-FABB-4C05-94C3-144AA03646A5}"/>
              </a:ext>
            </a:extLst>
          </p:cNvPr>
          <p:cNvSpPr/>
          <p:nvPr/>
        </p:nvSpPr>
        <p:spPr>
          <a:xfrm>
            <a:off x="427839" y="2184689"/>
            <a:ext cx="8357385"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Freeform: Shape 13">
            <a:extLst>
              <a:ext uri="{FF2B5EF4-FFF2-40B4-BE49-F238E27FC236}">
                <a16:creationId xmlns:a16="http://schemas.microsoft.com/office/drawing/2014/main" id="{65E9F343-92DC-4FAB-A3D4-40DAD23CACBF}"/>
              </a:ext>
            </a:extLst>
          </p:cNvPr>
          <p:cNvSpPr/>
          <p:nvPr/>
        </p:nvSpPr>
        <p:spPr>
          <a:xfrm>
            <a:off x="358776" y="2184689"/>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Mobile first</a:t>
            </a:r>
          </a:p>
        </p:txBody>
      </p:sp>
      <p:sp>
        <p:nvSpPr>
          <p:cNvPr id="17" name="Straight Connector 16">
            <a:extLst>
              <a:ext uri="{FF2B5EF4-FFF2-40B4-BE49-F238E27FC236}">
                <a16:creationId xmlns:a16="http://schemas.microsoft.com/office/drawing/2014/main" id="{96C829BA-86A6-4D2C-95D5-B4A1FFDCAA11}"/>
              </a:ext>
            </a:extLst>
          </p:cNvPr>
          <p:cNvSpPr/>
          <p:nvPr/>
        </p:nvSpPr>
        <p:spPr>
          <a:xfrm>
            <a:off x="358775" y="2988255"/>
            <a:ext cx="8426449"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Freeform: Shape 17">
            <a:extLst>
              <a:ext uri="{FF2B5EF4-FFF2-40B4-BE49-F238E27FC236}">
                <a16:creationId xmlns:a16="http://schemas.microsoft.com/office/drawing/2014/main" id="{011D2E26-0581-46B3-B1CC-352663A941B1}"/>
              </a:ext>
            </a:extLst>
          </p:cNvPr>
          <p:cNvSpPr/>
          <p:nvPr/>
        </p:nvSpPr>
        <p:spPr>
          <a:xfrm>
            <a:off x="358776" y="2988255"/>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Testing</a:t>
            </a:r>
          </a:p>
        </p:txBody>
      </p:sp>
      <p:sp>
        <p:nvSpPr>
          <p:cNvPr id="21" name="Straight Connector 20">
            <a:extLst>
              <a:ext uri="{FF2B5EF4-FFF2-40B4-BE49-F238E27FC236}">
                <a16:creationId xmlns:a16="http://schemas.microsoft.com/office/drawing/2014/main" id="{29B22C55-9179-4B9A-947A-6E0817BA42BF}"/>
              </a:ext>
            </a:extLst>
          </p:cNvPr>
          <p:cNvSpPr/>
          <p:nvPr/>
        </p:nvSpPr>
        <p:spPr>
          <a:xfrm>
            <a:off x="358775" y="3791821"/>
            <a:ext cx="8426449"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2" name="Freeform: Shape 21">
            <a:extLst>
              <a:ext uri="{FF2B5EF4-FFF2-40B4-BE49-F238E27FC236}">
                <a16:creationId xmlns:a16="http://schemas.microsoft.com/office/drawing/2014/main" id="{EE847455-3ECA-4301-ACA6-6B5A038AEB35}"/>
              </a:ext>
            </a:extLst>
          </p:cNvPr>
          <p:cNvSpPr/>
          <p:nvPr/>
        </p:nvSpPr>
        <p:spPr>
          <a:xfrm>
            <a:off x="358776" y="3791821"/>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Amenities</a:t>
            </a:r>
          </a:p>
        </p:txBody>
      </p:sp>
      <p:sp>
        <p:nvSpPr>
          <p:cNvPr id="25" name="Straight Connector 24">
            <a:extLst>
              <a:ext uri="{FF2B5EF4-FFF2-40B4-BE49-F238E27FC236}">
                <a16:creationId xmlns:a16="http://schemas.microsoft.com/office/drawing/2014/main" id="{2C6E3068-F1E5-47F4-A944-999B8D0BC657}"/>
              </a:ext>
            </a:extLst>
          </p:cNvPr>
          <p:cNvSpPr/>
          <p:nvPr/>
        </p:nvSpPr>
        <p:spPr>
          <a:xfrm>
            <a:off x="358775" y="4595387"/>
            <a:ext cx="8426449"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Freeform: Shape 25">
            <a:extLst>
              <a:ext uri="{FF2B5EF4-FFF2-40B4-BE49-F238E27FC236}">
                <a16:creationId xmlns:a16="http://schemas.microsoft.com/office/drawing/2014/main" id="{0447D921-CC81-4618-926A-E00BAFC4E095}"/>
              </a:ext>
            </a:extLst>
          </p:cNvPr>
          <p:cNvSpPr/>
          <p:nvPr/>
        </p:nvSpPr>
        <p:spPr>
          <a:xfrm>
            <a:off x="358776" y="4595387"/>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My account</a:t>
            </a:r>
          </a:p>
        </p:txBody>
      </p:sp>
      <p:sp>
        <p:nvSpPr>
          <p:cNvPr id="31" name="Straight Connector 30">
            <a:extLst>
              <a:ext uri="{FF2B5EF4-FFF2-40B4-BE49-F238E27FC236}">
                <a16:creationId xmlns:a16="http://schemas.microsoft.com/office/drawing/2014/main" id="{8334DD6A-79BC-4839-B2D4-4EAFF5048DC7}"/>
              </a:ext>
            </a:extLst>
          </p:cNvPr>
          <p:cNvSpPr/>
          <p:nvPr/>
        </p:nvSpPr>
        <p:spPr>
          <a:xfrm>
            <a:off x="358775" y="5398953"/>
            <a:ext cx="8426449"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2" name="Freeform: Shape 31">
            <a:extLst>
              <a:ext uri="{FF2B5EF4-FFF2-40B4-BE49-F238E27FC236}">
                <a16:creationId xmlns:a16="http://schemas.microsoft.com/office/drawing/2014/main" id="{C92B42F9-55D4-41AD-9EEE-84608303024B}"/>
              </a:ext>
            </a:extLst>
          </p:cNvPr>
          <p:cNvSpPr/>
          <p:nvPr/>
        </p:nvSpPr>
        <p:spPr>
          <a:xfrm>
            <a:off x="358776" y="5398953"/>
            <a:ext cx="1486802" cy="803566"/>
          </a:xfrm>
          <a:custGeom>
            <a:avLst/>
            <a:gdLst>
              <a:gd name="connsiteX0" fmla="*/ 0 w 1322493"/>
              <a:gd name="connsiteY0" fmla="*/ 0 h 803566"/>
              <a:gd name="connsiteX1" fmla="*/ 1322493 w 1322493"/>
              <a:gd name="connsiteY1" fmla="*/ 0 h 803566"/>
              <a:gd name="connsiteX2" fmla="*/ 1322493 w 1322493"/>
              <a:gd name="connsiteY2" fmla="*/ 803566 h 803566"/>
              <a:gd name="connsiteX3" fmla="*/ 0 w 1322493"/>
              <a:gd name="connsiteY3" fmla="*/ 803566 h 803566"/>
              <a:gd name="connsiteX4" fmla="*/ 0 w 1322493"/>
              <a:gd name="connsiteY4" fmla="*/ 0 h 80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493" h="803566">
                <a:moveTo>
                  <a:pt x="0" y="0"/>
                </a:moveTo>
                <a:lnTo>
                  <a:pt x="1322493" y="0"/>
                </a:lnTo>
                <a:lnTo>
                  <a:pt x="1322493" y="803566"/>
                </a:lnTo>
                <a:lnTo>
                  <a:pt x="0" y="803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kern="1200">
                <a:latin typeface="+mj-lt"/>
              </a:rPr>
              <a:t>CMS-rich</a:t>
            </a:r>
          </a:p>
        </p:txBody>
      </p:sp>
      <p:sp>
        <p:nvSpPr>
          <p:cNvPr id="9" name="Freeform: Shape 8">
            <a:extLst>
              <a:ext uri="{FF2B5EF4-FFF2-40B4-BE49-F238E27FC236}">
                <a16:creationId xmlns:a16="http://schemas.microsoft.com/office/drawing/2014/main" id="{53602DEF-99D0-4942-BE79-FE1FD4F91B38}"/>
              </a:ext>
            </a:extLst>
          </p:cNvPr>
          <p:cNvSpPr/>
          <p:nvPr/>
        </p:nvSpPr>
        <p:spPr>
          <a:xfrm>
            <a:off x="1937857" y="1408188"/>
            <a:ext cx="6847367" cy="376453"/>
          </a:xfrm>
          <a:custGeom>
            <a:avLst/>
            <a:gdLst>
              <a:gd name="connsiteX0" fmla="*/ 0 w 5190786"/>
              <a:gd name="connsiteY0" fmla="*/ 0 h 373532"/>
              <a:gd name="connsiteX1" fmla="*/ 5190786 w 5190786"/>
              <a:gd name="connsiteY1" fmla="*/ 0 h 373532"/>
              <a:gd name="connsiteX2" fmla="*/ 5190786 w 5190786"/>
              <a:gd name="connsiteY2" fmla="*/ 373532 h 373532"/>
              <a:gd name="connsiteX3" fmla="*/ 0 w 5190786"/>
              <a:gd name="connsiteY3" fmla="*/ 373532 h 373532"/>
              <a:gd name="connsiteX4" fmla="*/ 0 w 5190786"/>
              <a:gd name="connsiteY4" fmla="*/ 0 h 37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373532">
                <a:moveTo>
                  <a:pt x="0" y="0"/>
                </a:moveTo>
                <a:lnTo>
                  <a:pt x="5190786" y="0"/>
                </a:lnTo>
                <a:lnTo>
                  <a:pt x="5190786" y="373532"/>
                </a:lnTo>
                <a:lnTo>
                  <a:pt x="0" y="3735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We will focus on content that is not customised to Unit or Property level</a:t>
            </a:r>
          </a:p>
        </p:txBody>
      </p:sp>
      <p:sp>
        <p:nvSpPr>
          <p:cNvPr id="10" name="Straight Connector 9">
            <a:extLst>
              <a:ext uri="{FF2B5EF4-FFF2-40B4-BE49-F238E27FC236}">
                <a16:creationId xmlns:a16="http://schemas.microsoft.com/office/drawing/2014/main" id="{431277D3-5830-4E14-924F-89C2A10BDA55}"/>
              </a:ext>
            </a:extLst>
          </p:cNvPr>
          <p:cNvSpPr/>
          <p:nvPr/>
        </p:nvSpPr>
        <p:spPr>
          <a:xfrm>
            <a:off x="1824347" y="1784641"/>
            <a:ext cx="6978208"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nchor="ctr"/>
          <a:lstStyle/>
          <a:p>
            <a:endParaRPr lang="en-GB"/>
          </a:p>
        </p:txBody>
      </p:sp>
      <p:sp>
        <p:nvSpPr>
          <p:cNvPr id="11" name="Freeform: Shape 10">
            <a:extLst>
              <a:ext uri="{FF2B5EF4-FFF2-40B4-BE49-F238E27FC236}">
                <a16:creationId xmlns:a16="http://schemas.microsoft.com/office/drawing/2014/main" id="{3082A3CD-F3BE-4686-B00B-56FDA7F0C597}"/>
              </a:ext>
            </a:extLst>
          </p:cNvPr>
          <p:cNvSpPr/>
          <p:nvPr/>
        </p:nvSpPr>
        <p:spPr>
          <a:xfrm>
            <a:off x="1937857" y="1803464"/>
            <a:ext cx="6847367" cy="376453"/>
          </a:xfrm>
          <a:custGeom>
            <a:avLst/>
            <a:gdLst>
              <a:gd name="connsiteX0" fmla="*/ 0 w 5190786"/>
              <a:gd name="connsiteY0" fmla="*/ 0 h 373532"/>
              <a:gd name="connsiteX1" fmla="*/ 5190786 w 5190786"/>
              <a:gd name="connsiteY1" fmla="*/ 0 h 373532"/>
              <a:gd name="connsiteX2" fmla="*/ 5190786 w 5190786"/>
              <a:gd name="connsiteY2" fmla="*/ 373532 h 373532"/>
              <a:gd name="connsiteX3" fmla="*/ 0 w 5190786"/>
              <a:gd name="connsiteY3" fmla="*/ 373532 h 373532"/>
              <a:gd name="connsiteX4" fmla="*/ 0 w 5190786"/>
              <a:gd name="connsiteY4" fmla="*/ 0 h 37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373532">
                <a:moveTo>
                  <a:pt x="0" y="0"/>
                </a:moveTo>
                <a:lnTo>
                  <a:pt x="5190786" y="0"/>
                </a:lnTo>
                <a:lnTo>
                  <a:pt x="5190786" y="373532"/>
                </a:lnTo>
                <a:lnTo>
                  <a:pt x="0" y="3735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We will provide Unit or Property customisation only where it is implicit in the technology (e.g. documents)</a:t>
            </a:r>
          </a:p>
        </p:txBody>
      </p:sp>
      <p:sp>
        <p:nvSpPr>
          <p:cNvPr id="15" name="Freeform: Shape 14">
            <a:extLst>
              <a:ext uri="{FF2B5EF4-FFF2-40B4-BE49-F238E27FC236}">
                <a16:creationId xmlns:a16="http://schemas.microsoft.com/office/drawing/2014/main" id="{878F1893-15C7-41B4-A7FA-44B3E45FB151}"/>
              </a:ext>
            </a:extLst>
          </p:cNvPr>
          <p:cNvSpPr/>
          <p:nvPr/>
        </p:nvSpPr>
        <p:spPr>
          <a:xfrm>
            <a:off x="1937857" y="2219212"/>
            <a:ext cx="6847367" cy="735508"/>
          </a:xfrm>
          <a:custGeom>
            <a:avLst/>
            <a:gdLst>
              <a:gd name="connsiteX0" fmla="*/ 0 w 5190786"/>
              <a:gd name="connsiteY0" fmla="*/ 0 h 729801"/>
              <a:gd name="connsiteX1" fmla="*/ 5190786 w 5190786"/>
              <a:gd name="connsiteY1" fmla="*/ 0 h 729801"/>
              <a:gd name="connsiteX2" fmla="*/ 5190786 w 5190786"/>
              <a:gd name="connsiteY2" fmla="*/ 729801 h 729801"/>
              <a:gd name="connsiteX3" fmla="*/ 0 w 5190786"/>
              <a:gd name="connsiteY3" fmla="*/ 729801 h 729801"/>
              <a:gd name="connsiteX4" fmla="*/ 0 w 5190786"/>
              <a:gd name="connsiteY4" fmla="*/ 0 h 729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729801">
                <a:moveTo>
                  <a:pt x="0" y="0"/>
                </a:moveTo>
                <a:lnTo>
                  <a:pt x="5190786" y="0"/>
                </a:lnTo>
                <a:lnTo>
                  <a:pt x="5190786" y="729801"/>
                </a:lnTo>
                <a:lnTo>
                  <a:pt x="0" y="7298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All functionality will be developed to be mobile first, to ensure good performance on most client devices</a:t>
            </a:r>
          </a:p>
        </p:txBody>
      </p:sp>
      <p:sp>
        <p:nvSpPr>
          <p:cNvPr id="19" name="Freeform: Shape 18">
            <a:extLst>
              <a:ext uri="{FF2B5EF4-FFF2-40B4-BE49-F238E27FC236}">
                <a16:creationId xmlns:a16="http://schemas.microsoft.com/office/drawing/2014/main" id="{94A70F09-20DF-4A0B-AC35-4C11990D0E29}"/>
              </a:ext>
            </a:extLst>
          </p:cNvPr>
          <p:cNvSpPr/>
          <p:nvPr/>
        </p:nvSpPr>
        <p:spPr>
          <a:xfrm>
            <a:off x="1937857" y="3020673"/>
            <a:ext cx="6847367" cy="735508"/>
          </a:xfrm>
          <a:custGeom>
            <a:avLst/>
            <a:gdLst>
              <a:gd name="connsiteX0" fmla="*/ 0 w 5190786"/>
              <a:gd name="connsiteY0" fmla="*/ 0 h 729801"/>
              <a:gd name="connsiteX1" fmla="*/ 5190786 w 5190786"/>
              <a:gd name="connsiteY1" fmla="*/ 0 h 729801"/>
              <a:gd name="connsiteX2" fmla="*/ 5190786 w 5190786"/>
              <a:gd name="connsiteY2" fmla="*/ 729801 h 729801"/>
              <a:gd name="connsiteX3" fmla="*/ 0 w 5190786"/>
              <a:gd name="connsiteY3" fmla="*/ 729801 h 729801"/>
              <a:gd name="connsiteX4" fmla="*/ 0 w 5190786"/>
              <a:gd name="connsiteY4" fmla="*/ 0 h 729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729801">
                <a:moveTo>
                  <a:pt x="0" y="0"/>
                </a:moveTo>
                <a:lnTo>
                  <a:pt x="5190786" y="0"/>
                </a:lnTo>
                <a:lnTo>
                  <a:pt x="5190786" y="729801"/>
                </a:lnTo>
                <a:lnTo>
                  <a:pt x="0" y="7298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All Phase 1 functionality will be thoroughly testing and fully working</a:t>
            </a:r>
          </a:p>
        </p:txBody>
      </p:sp>
      <p:sp>
        <p:nvSpPr>
          <p:cNvPr id="23" name="Freeform: Shape 22">
            <a:extLst>
              <a:ext uri="{FF2B5EF4-FFF2-40B4-BE49-F238E27FC236}">
                <a16:creationId xmlns:a16="http://schemas.microsoft.com/office/drawing/2014/main" id="{0BA5C2D7-8259-4DF7-8712-130D30F078F1}"/>
              </a:ext>
            </a:extLst>
          </p:cNvPr>
          <p:cNvSpPr/>
          <p:nvPr/>
        </p:nvSpPr>
        <p:spPr>
          <a:xfrm>
            <a:off x="1937857" y="3830524"/>
            <a:ext cx="6847367" cy="735508"/>
          </a:xfrm>
          <a:custGeom>
            <a:avLst/>
            <a:gdLst>
              <a:gd name="connsiteX0" fmla="*/ 0 w 5190786"/>
              <a:gd name="connsiteY0" fmla="*/ 0 h 729801"/>
              <a:gd name="connsiteX1" fmla="*/ 5190786 w 5190786"/>
              <a:gd name="connsiteY1" fmla="*/ 0 h 729801"/>
              <a:gd name="connsiteX2" fmla="*/ 5190786 w 5190786"/>
              <a:gd name="connsiteY2" fmla="*/ 729801 h 729801"/>
              <a:gd name="connsiteX3" fmla="*/ 0 w 5190786"/>
              <a:gd name="connsiteY3" fmla="*/ 729801 h 729801"/>
              <a:gd name="connsiteX4" fmla="*/ 0 w 5190786"/>
              <a:gd name="connsiteY4" fmla="*/ 0 h 729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729801">
                <a:moveTo>
                  <a:pt x="0" y="0"/>
                </a:moveTo>
                <a:lnTo>
                  <a:pt x="5190786" y="0"/>
                </a:lnTo>
                <a:lnTo>
                  <a:pt x="5190786" y="729801"/>
                </a:lnTo>
                <a:lnTo>
                  <a:pt x="0" y="7298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As agreed at Design Authority, we will not include Amenities in Phase 1</a:t>
            </a:r>
          </a:p>
        </p:txBody>
      </p:sp>
      <p:sp>
        <p:nvSpPr>
          <p:cNvPr id="27" name="Freeform: Shape 26">
            <a:extLst>
              <a:ext uri="{FF2B5EF4-FFF2-40B4-BE49-F238E27FC236}">
                <a16:creationId xmlns:a16="http://schemas.microsoft.com/office/drawing/2014/main" id="{81228F82-5C10-40B0-912D-854E5898243A}"/>
              </a:ext>
            </a:extLst>
          </p:cNvPr>
          <p:cNvSpPr/>
          <p:nvPr/>
        </p:nvSpPr>
        <p:spPr>
          <a:xfrm>
            <a:off x="1937857" y="4647588"/>
            <a:ext cx="6847367" cy="376453"/>
          </a:xfrm>
          <a:custGeom>
            <a:avLst/>
            <a:gdLst>
              <a:gd name="connsiteX0" fmla="*/ 0 w 5190786"/>
              <a:gd name="connsiteY0" fmla="*/ 0 h 373532"/>
              <a:gd name="connsiteX1" fmla="*/ 5190786 w 5190786"/>
              <a:gd name="connsiteY1" fmla="*/ 0 h 373532"/>
              <a:gd name="connsiteX2" fmla="*/ 5190786 w 5190786"/>
              <a:gd name="connsiteY2" fmla="*/ 373532 h 373532"/>
              <a:gd name="connsiteX3" fmla="*/ 0 w 5190786"/>
              <a:gd name="connsiteY3" fmla="*/ 373532 h 373532"/>
              <a:gd name="connsiteX4" fmla="*/ 0 w 5190786"/>
              <a:gd name="connsiteY4" fmla="*/ 0 h 37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373532">
                <a:moveTo>
                  <a:pt x="0" y="0"/>
                </a:moveTo>
                <a:lnTo>
                  <a:pt x="5190786" y="0"/>
                </a:lnTo>
                <a:lnTo>
                  <a:pt x="5190786" y="373532"/>
                </a:lnTo>
                <a:lnTo>
                  <a:pt x="0" y="3735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We will not link to MRI to get a view of the Customer’s account for Phase 1</a:t>
            </a:r>
          </a:p>
        </p:txBody>
      </p:sp>
      <p:sp>
        <p:nvSpPr>
          <p:cNvPr id="28" name="Straight Connector 27">
            <a:extLst>
              <a:ext uri="{FF2B5EF4-FFF2-40B4-BE49-F238E27FC236}">
                <a16:creationId xmlns:a16="http://schemas.microsoft.com/office/drawing/2014/main" id="{97EA80A3-54F9-4E01-9A50-250C31D27956}"/>
              </a:ext>
            </a:extLst>
          </p:cNvPr>
          <p:cNvSpPr/>
          <p:nvPr/>
        </p:nvSpPr>
        <p:spPr>
          <a:xfrm>
            <a:off x="1824347" y="5024041"/>
            <a:ext cx="6978208"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nchor="ctr"/>
          <a:lstStyle/>
          <a:p>
            <a:endParaRPr lang="en-GB"/>
          </a:p>
        </p:txBody>
      </p:sp>
      <p:sp>
        <p:nvSpPr>
          <p:cNvPr id="29" name="Freeform: Shape 28">
            <a:extLst>
              <a:ext uri="{FF2B5EF4-FFF2-40B4-BE49-F238E27FC236}">
                <a16:creationId xmlns:a16="http://schemas.microsoft.com/office/drawing/2014/main" id="{2A21119E-6BC3-42A6-B409-80C46122D28A}"/>
              </a:ext>
            </a:extLst>
          </p:cNvPr>
          <p:cNvSpPr/>
          <p:nvPr/>
        </p:nvSpPr>
        <p:spPr>
          <a:xfrm>
            <a:off x="1937857" y="5042865"/>
            <a:ext cx="6847367" cy="376453"/>
          </a:xfrm>
          <a:custGeom>
            <a:avLst/>
            <a:gdLst>
              <a:gd name="connsiteX0" fmla="*/ 0 w 5190786"/>
              <a:gd name="connsiteY0" fmla="*/ 0 h 373532"/>
              <a:gd name="connsiteX1" fmla="*/ 5190786 w 5190786"/>
              <a:gd name="connsiteY1" fmla="*/ 0 h 373532"/>
              <a:gd name="connsiteX2" fmla="*/ 5190786 w 5190786"/>
              <a:gd name="connsiteY2" fmla="*/ 373532 h 373532"/>
              <a:gd name="connsiteX3" fmla="*/ 0 w 5190786"/>
              <a:gd name="connsiteY3" fmla="*/ 373532 h 373532"/>
              <a:gd name="connsiteX4" fmla="*/ 0 w 5190786"/>
              <a:gd name="connsiteY4" fmla="*/ 0 h 373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373532">
                <a:moveTo>
                  <a:pt x="0" y="0"/>
                </a:moveTo>
                <a:lnTo>
                  <a:pt x="5190786" y="0"/>
                </a:lnTo>
                <a:lnTo>
                  <a:pt x="5190786" y="373532"/>
                </a:lnTo>
                <a:lnTo>
                  <a:pt x="0" y="3735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We will use as much functionality as we can from </a:t>
            </a:r>
            <a:r>
              <a:rPr lang="en-GB" sz="1200" kern="1200" err="1"/>
              <a:t>Asperato</a:t>
            </a:r>
            <a:r>
              <a:rPr lang="en-GB" sz="1200" kern="1200"/>
              <a:t> to provide additional value around Payments</a:t>
            </a:r>
          </a:p>
        </p:txBody>
      </p:sp>
      <p:sp>
        <p:nvSpPr>
          <p:cNvPr id="33" name="Freeform: Shape 32">
            <a:extLst>
              <a:ext uri="{FF2B5EF4-FFF2-40B4-BE49-F238E27FC236}">
                <a16:creationId xmlns:a16="http://schemas.microsoft.com/office/drawing/2014/main" id="{07F1D497-B3F3-4F42-96C8-E69663E3A8FB}"/>
              </a:ext>
            </a:extLst>
          </p:cNvPr>
          <p:cNvSpPr/>
          <p:nvPr/>
        </p:nvSpPr>
        <p:spPr>
          <a:xfrm>
            <a:off x="1937857" y="5450224"/>
            <a:ext cx="6847367" cy="735508"/>
          </a:xfrm>
          <a:custGeom>
            <a:avLst/>
            <a:gdLst>
              <a:gd name="connsiteX0" fmla="*/ 0 w 5190786"/>
              <a:gd name="connsiteY0" fmla="*/ 0 h 729801"/>
              <a:gd name="connsiteX1" fmla="*/ 5190786 w 5190786"/>
              <a:gd name="connsiteY1" fmla="*/ 0 h 729801"/>
              <a:gd name="connsiteX2" fmla="*/ 5190786 w 5190786"/>
              <a:gd name="connsiteY2" fmla="*/ 729801 h 729801"/>
              <a:gd name="connsiteX3" fmla="*/ 0 w 5190786"/>
              <a:gd name="connsiteY3" fmla="*/ 729801 h 729801"/>
              <a:gd name="connsiteX4" fmla="*/ 0 w 5190786"/>
              <a:gd name="connsiteY4" fmla="*/ 0 h 729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786" h="729801">
                <a:moveTo>
                  <a:pt x="0" y="0"/>
                </a:moveTo>
                <a:lnTo>
                  <a:pt x="5190786" y="0"/>
                </a:lnTo>
                <a:lnTo>
                  <a:pt x="5190786" y="729801"/>
                </a:lnTo>
                <a:lnTo>
                  <a:pt x="0" y="72980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GB" sz="1200" kern="1200"/>
              <a:t>We will leverage Content Management System (CMS) functionality to add value where possible</a:t>
            </a:r>
          </a:p>
        </p:txBody>
      </p:sp>
      <p:sp>
        <p:nvSpPr>
          <p:cNvPr id="7" name="Footer Placeholder 4">
            <a:extLst>
              <a:ext uri="{FF2B5EF4-FFF2-40B4-BE49-F238E27FC236}">
                <a16:creationId xmlns:a16="http://schemas.microsoft.com/office/drawing/2014/main" id="{EEBD411A-6774-4097-9102-786B2FC82B76}"/>
              </a:ext>
            </a:extLst>
          </p:cNvPr>
          <p:cNvSpPr>
            <a:spLocks noGrp="1"/>
          </p:cNvSpPr>
          <p:nvPr>
            <p:ph type="ftr" sz="quarter" idx="11"/>
          </p:nvPr>
        </p:nvSpPr>
        <p:spPr>
          <a:xfrm>
            <a:off x="1392774" y="6480640"/>
            <a:ext cx="4788177" cy="227300"/>
          </a:xfrm>
        </p:spPr>
        <p:txBody>
          <a:bodyPr/>
          <a:lstStyle/>
          <a:p>
            <a:r>
              <a:rPr lang="en-GB"/>
              <a:t>Grainger Plc  |  www.graingerplc.co.uk    |  Connect Programme |  May 2020</a:t>
            </a:r>
          </a:p>
        </p:txBody>
      </p:sp>
      <p:sp>
        <p:nvSpPr>
          <p:cNvPr id="36" name="Straight Connector 35">
            <a:extLst>
              <a:ext uri="{FF2B5EF4-FFF2-40B4-BE49-F238E27FC236}">
                <a16:creationId xmlns:a16="http://schemas.microsoft.com/office/drawing/2014/main" id="{5DD29E61-3150-4BF2-A093-013D908B79CD}"/>
              </a:ext>
            </a:extLst>
          </p:cNvPr>
          <p:cNvSpPr/>
          <p:nvPr/>
        </p:nvSpPr>
        <p:spPr>
          <a:xfrm>
            <a:off x="358775" y="6202519"/>
            <a:ext cx="8443779"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Tree>
    <p:extLst>
      <p:ext uri="{BB962C8B-B14F-4D97-AF65-F5344CB8AC3E}">
        <p14:creationId xmlns:p14="http://schemas.microsoft.com/office/powerpoint/2010/main" val="2996296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D6F20D-E009-4E57-91EB-244E432E67FC}"/>
              </a:ext>
            </a:extLst>
          </p:cNvPr>
          <p:cNvSpPr>
            <a:spLocks noGrp="1"/>
          </p:cNvSpPr>
          <p:nvPr>
            <p:ph type="title"/>
          </p:nvPr>
        </p:nvSpPr>
        <p:spPr>
          <a:xfrm>
            <a:off x="358775" y="270088"/>
            <a:ext cx="6588119" cy="581897"/>
          </a:xfrm>
        </p:spPr>
        <p:txBody>
          <a:bodyPr/>
          <a:lstStyle/>
          <a:p>
            <a:r>
              <a:rPr lang="en-GB"/>
              <a:t>MyGrainger Portal</a:t>
            </a:r>
            <a:br>
              <a:rPr lang="en-GB"/>
            </a:br>
            <a:r>
              <a:rPr lang="en-GB" sz="2400" i="1"/>
              <a:t>Phase 1 / Phase 2 Summary</a:t>
            </a:r>
            <a:endParaRPr lang="en-GB" i="1"/>
          </a:p>
        </p:txBody>
      </p:sp>
      <p:grpSp>
        <p:nvGrpSpPr>
          <p:cNvPr id="14" name="Group 13">
            <a:extLst>
              <a:ext uri="{FF2B5EF4-FFF2-40B4-BE49-F238E27FC236}">
                <a16:creationId xmlns:a16="http://schemas.microsoft.com/office/drawing/2014/main" id="{FB0296B3-222C-4AE3-ACD5-A674EB52CD4C}"/>
              </a:ext>
            </a:extLst>
          </p:cNvPr>
          <p:cNvGrpSpPr/>
          <p:nvPr/>
        </p:nvGrpSpPr>
        <p:grpSpPr>
          <a:xfrm>
            <a:off x="358775" y="1334847"/>
            <a:ext cx="4698255" cy="4960077"/>
            <a:chOff x="358772" y="2399498"/>
            <a:chExt cx="4120947" cy="4473532"/>
          </a:xfrm>
        </p:grpSpPr>
        <p:sp>
          <p:nvSpPr>
            <p:cNvPr id="15" name="Rectangle 14">
              <a:extLst>
                <a:ext uri="{FF2B5EF4-FFF2-40B4-BE49-F238E27FC236}">
                  <a16:creationId xmlns:a16="http://schemas.microsoft.com/office/drawing/2014/main" id="{597FC784-D5A0-4E56-B3E9-9565E60B4750}"/>
                </a:ext>
              </a:extLst>
            </p:cNvPr>
            <p:cNvSpPr/>
            <p:nvPr/>
          </p:nvSpPr>
          <p:spPr>
            <a:xfrm>
              <a:off x="358774" y="2399498"/>
              <a:ext cx="4120945" cy="27633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bg1"/>
                  </a:solidFill>
                  <a:latin typeface="+mj-lt"/>
                </a:rPr>
                <a:t>Functionality coming live on Phase 1 Portal</a:t>
              </a:r>
            </a:p>
          </p:txBody>
        </p:sp>
        <p:sp>
          <p:nvSpPr>
            <p:cNvPr id="16" name="Rectangle 15">
              <a:extLst>
                <a:ext uri="{FF2B5EF4-FFF2-40B4-BE49-F238E27FC236}">
                  <a16:creationId xmlns:a16="http://schemas.microsoft.com/office/drawing/2014/main" id="{60799F3B-4CB5-4F10-BC64-0481CB30AECF}"/>
                </a:ext>
              </a:extLst>
            </p:cNvPr>
            <p:cNvSpPr/>
            <p:nvPr/>
          </p:nvSpPr>
          <p:spPr>
            <a:xfrm>
              <a:off x="358772" y="2675830"/>
              <a:ext cx="4120945" cy="4197200"/>
            </a:xfrm>
            <a:prstGeom prst="rect">
              <a:avLst/>
            </a:prstGeom>
            <a:solidFill>
              <a:schemeClr val="accent1">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MyGrainger branding</a:t>
              </a:r>
            </a:p>
            <a:p>
              <a:pPr marL="171450" indent="-171450" fontAlgn="b">
                <a:spcBef>
                  <a:spcPts val="400"/>
                </a:spcBef>
                <a:buFontTx/>
                <a:buChar char="-"/>
              </a:pPr>
              <a:r>
                <a:rPr lang="en-GB" sz="1000">
                  <a:solidFill>
                    <a:schemeClr val="tx1"/>
                  </a:solidFill>
                  <a:latin typeface="Montserrat Light (Body)"/>
                </a:rPr>
                <a:t>Home Page / Dashboard</a:t>
              </a:r>
            </a:p>
            <a:p>
              <a:pPr marL="171450" indent="-171450" fontAlgn="b">
                <a:spcBef>
                  <a:spcPts val="400"/>
                </a:spcBef>
                <a:buFontTx/>
                <a:buChar char="-"/>
              </a:pPr>
              <a:r>
                <a:rPr lang="en-GB" sz="1000">
                  <a:solidFill>
                    <a:schemeClr val="tx1"/>
                  </a:solidFill>
                  <a:latin typeface="Montserrat Light (Body)"/>
                </a:rPr>
                <a:t>Navigation Bar</a:t>
              </a:r>
            </a:p>
            <a:p>
              <a:pPr marL="171450" indent="-171450" fontAlgn="b">
                <a:spcBef>
                  <a:spcPts val="400"/>
                </a:spcBef>
                <a:buFontTx/>
                <a:buChar char="-"/>
              </a:pPr>
              <a:r>
                <a:rPr lang="en-GB" sz="1000">
                  <a:solidFill>
                    <a:schemeClr val="tx1"/>
                  </a:solidFill>
                  <a:latin typeface="Montserrat Light (Body)"/>
                </a:rPr>
                <a:t>Payments</a:t>
              </a:r>
            </a:p>
            <a:p>
              <a:pPr marL="628650" lvl="1" indent="-171450" fontAlgn="b">
                <a:buFontTx/>
                <a:buChar char="-"/>
              </a:pPr>
              <a:r>
                <a:rPr lang="en-GB" sz="1000">
                  <a:solidFill>
                    <a:schemeClr val="tx1"/>
                  </a:solidFill>
                  <a:latin typeface="Montserrat Light (Body)"/>
                </a:rPr>
                <a:t>Make a Payment</a:t>
              </a:r>
            </a:p>
            <a:p>
              <a:pPr marL="628650" lvl="1" indent="-171450" fontAlgn="b">
                <a:buFontTx/>
                <a:buChar char="-"/>
              </a:pPr>
              <a:r>
                <a:rPr lang="en-GB" sz="1000">
                  <a:solidFill>
                    <a:schemeClr val="tx1"/>
                  </a:solidFill>
                  <a:latin typeface="Montserrat Light (Body)"/>
                </a:rPr>
                <a:t>Add or update a Direct Debit mandate</a:t>
              </a:r>
            </a:p>
            <a:p>
              <a:pPr marL="628650" lvl="1" indent="-171450" fontAlgn="b">
                <a:buFontTx/>
                <a:buChar char="-"/>
              </a:pPr>
              <a:r>
                <a:rPr lang="en-GB" sz="1000">
                  <a:solidFill>
                    <a:schemeClr val="tx1"/>
                  </a:solidFill>
                  <a:latin typeface="Montserrat Light (Body)"/>
                </a:rPr>
                <a:t>Limited Payments History</a:t>
              </a:r>
            </a:p>
            <a:p>
              <a:pPr marL="171450" indent="-171450" fontAlgn="b">
                <a:spcBef>
                  <a:spcPts val="400"/>
                </a:spcBef>
                <a:buFontTx/>
                <a:buChar char="-"/>
              </a:pPr>
              <a:r>
                <a:rPr lang="en-GB" sz="1000">
                  <a:solidFill>
                    <a:schemeClr val="tx1"/>
                  </a:solidFill>
                  <a:latin typeface="Montserrat Light (Body)"/>
                </a:rPr>
                <a:t>Service Requests</a:t>
              </a:r>
            </a:p>
            <a:p>
              <a:pPr marL="628650" lvl="1" indent="-171450" fontAlgn="b">
                <a:buFontTx/>
                <a:buChar char="-"/>
              </a:pPr>
              <a:r>
                <a:rPr lang="en-GB" sz="1000">
                  <a:solidFill>
                    <a:schemeClr val="tx1"/>
                  </a:solidFill>
                  <a:latin typeface="Montserrat Light (Body)"/>
                </a:rPr>
                <a:t>Report a Fault / Raise a Request</a:t>
              </a:r>
            </a:p>
            <a:p>
              <a:pPr marL="628650" lvl="1" indent="-171450" fontAlgn="b">
                <a:buFontTx/>
                <a:buChar char="-"/>
              </a:pPr>
              <a:r>
                <a:rPr lang="en-GB" sz="1000">
                  <a:solidFill>
                    <a:schemeClr val="tx1"/>
                  </a:solidFill>
                  <a:latin typeface="Montserrat Light (Body)"/>
                </a:rPr>
                <a:t>Request Status</a:t>
              </a:r>
            </a:p>
            <a:p>
              <a:pPr marL="171450" indent="-171450" fontAlgn="b">
                <a:spcBef>
                  <a:spcPts val="400"/>
                </a:spcBef>
                <a:buFontTx/>
                <a:buChar char="-"/>
              </a:pPr>
              <a:r>
                <a:rPr lang="en-GB" sz="1000">
                  <a:solidFill>
                    <a:schemeClr val="tx1"/>
                  </a:solidFill>
                  <a:latin typeface="Montserrat Light (Body)"/>
                </a:rPr>
                <a:t>Documents – specific to customer’s</a:t>
              </a:r>
            </a:p>
            <a:p>
              <a:pPr marL="628650" lvl="1" indent="-171450" fontAlgn="b">
                <a:buFontTx/>
                <a:buChar char="-"/>
              </a:pPr>
              <a:r>
                <a:rPr lang="en-GB" sz="1000">
                  <a:solidFill>
                    <a:schemeClr val="tx1"/>
                  </a:solidFill>
                  <a:latin typeface="Montserrat Light (Body)"/>
                </a:rPr>
                <a:t>Lease</a:t>
              </a:r>
            </a:p>
            <a:p>
              <a:pPr marL="628650" lvl="1" indent="-171450" fontAlgn="b">
                <a:buFontTx/>
                <a:buChar char="-"/>
              </a:pPr>
              <a:r>
                <a:rPr lang="en-GB" sz="1000">
                  <a:solidFill>
                    <a:schemeClr val="tx1"/>
                  </a:solidFill>
                  <a:latin typeface="Montserrat Light (Body)"/>
                </a:rPr>
                <a:t>Unit</a:t>
              </a:r>
            </a:p>
            <a:p>
              <a:pPr marL="628650" lvl="1" indent="-171450" fontAlgn="b">
                <a:buFontTx/>
                <a:buChar char="-"/>
              </a:pPr>
              <a:r>
                <a:rPr lang="en-GB" sz="1000">
                  <a:solidFill>
                    <a:schemeClr val="tx1"/>
                  </a:solidFill>
                  <a:latin typeface="Montserrat Light (Body)"/>
                </a:rPr>
                <a:t>Property</a:t>
              </a:r>
            </a:p>
            <a:p>
              <a:pPr marL="171450" indent="-171450" fontAlgn="b">
                <a:spcBef>
                  <a:spcPts val="400"/>
                </a:spcBef>
                <a:buFontTx/>
                <a:buChar char="-"/>
              </a:pPr>
              <a:r>
                <a:rPr lang="en-GB" sz="1000">
                  <a:solidFill>
                    <a:schemeClr val="tx1"/>
                  </a:solidFill>
                  <a:latin typeface="Montserrat Light (Body)"/>
                </a:rPr>
                <a:t>Any Content Management System (CMS) content pages</a:t>
              </a:r>
            </a:p>
          </p:txBody>
        </p:sp>
      </p:grpSp>
      <p:grpSp>
        <p:nvGrpSpPr>
          <p:cNvPr id="17" name="Group 16">
            <a:extLst>
              <a:ext uri="{FF2B5EF4-FFF2-40B4-BE49-F238E27FC236}">
                <a16:creationId xmlns:a16="http://schemas.microsoft.com/office/drawing/2014/main" id="{8BF05ACD-03AC-4BEB-9CFA-43D2A2420C49}"/>
              </a:ext>
            </a:extLst>
          </p:cNvPr>
          <p:cNvGrpSpPr/>
          <p:nvPr/>
        </p:nvGrpSpPr>
        <p:grpSpPr>
          <a:xfrm>
            <a:off x="5247861" y="1339785"/>
            <a:ext cx="3528731" cy="4955138"/>
            <a:chOff x="358772" y="2399498"/>
            <a:chExt cx="4120947" cy="4055869"/>
          </a:xfrm>
        </p:grpSpPr>
        <p:sp>
          <p:nvSpPr>
            <p:cNvPr id="18" name="Rectangle 17">
              <a:extLst>
                <a:ext uri="{FF2B5EF4-FFF2-40B4-BE49-F238E27FC236}">
                  <a16:creationId xmlns:a16="http://schemas.microsoft.com/office/drawing/2014/main" id="{C97A181D-F297-4FD3-94D4-009413D1E4E0}"/>
                </a:ext>
              </a:extLst>
            </p:cNvPr>
            <p:cNvSpPr/>
            <p:nvPr/>
          </p:nvSpPr>
          <p:spPr>
            <a:xfrm>
              <a:off x="358774" y="2399498"/>
              <a:ext cx="4120945" cy="276334"/>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r>
                <a:rPr lang="en-GB" sz="1200">
                  <a:solidFill>
                    <a:schemeClr val="bg1"/>
                  </a:solidFill>
                  <a:latin typeface="+mj-lt"/>
                </a:rPr>
                <a:t>Enhancements for Phase 2 and later</a:t>
              </a:r>
            </a:p>
          </p:txBody>
        </p:sp>
        <p:sp>
          <p:nvSpPr>
            <p:cNvPr id="19" name="Rectangle 18">
              <a:extLst>
                <a:ext uri="{FF2B5EF4-FFF2-40B4-BE49-F238E27FC236}">
                  <a16:creationId xmlns:a16="http://schemas.microsoft.com/office/drawing/2014/main" id="{8DB17384-6757-4B1E-AFC5-207086E243EE}"/>
                </a:ext>
              </a:extLst>
            </p:cNvPr>
            <p:cNvSpPr/>
            <p:nvPr/>
          </p:nvSpPr>
          <p:spPr>
            <a:xfrm>
              <a:off x="358772" y="2675829"/>
              <a:ext cx="4120945" cy="3779538"/>
            </a:xfrm>
            <a:prstGeom prst="rect">
              <a:avLst/>
            </a:prstGeom>
            <a:solidFill>
              <a:schemeClr val="accent3">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lstStyle/>
            <a:p>
              <a:pPr marL="171450" indent="-171450" fontAlgn="b">
                <a:spcBef>
                  <a:spcPts val="400"/>
                </a:spcBef>
                <a:buFontTx/>
                <a:buChar char="-"/>
              </a:pPr>
              <a:r>
                <a:rPr lang="en-GB" sz="1000">
                  <a:solidFill>
                    <a:schemeClr val="tx1"/>
                  </a:solidFill>
                  <a:latin typeface="Montserrat Light (Body)"/>
                </a:rPr>
                <a:t>Property or Unit-Specific Content or Branding (e.g. My Unit Info, My General Manager)</a:t>
              </a:r>
            </a:p>
            <a:p>
              <a:pPr marL="171450" indent="-171450" fontAlgn="b">
                <a:spcBef>
                  <a:spcPts val="400"/>
                </a:spcBef>
                <a:buFontTx/>
                <a:buChar char="-"/>
              </a:pPr>
              <a:r>
                <a:rPr lang="en-GB" sz="1000">
                  <a:solidFill>
                    <a:schemeClr val="tx1"/>
                  </a:solidFill>
                  <a:latin typeface="Montserrat Light (Body)"/>
                </a:rPr>
                <a:t>Amenities Booking</a:t>
              </a:r>
            </a:p>
            <a:p>
              <a:pPr marL="171450" indent="-171450" fontAlgn="b">
                <a:spcBef>
                  <a:spcPts val="400"/>
                </a:spcBef>
                <a:buFontTx/>
                <a:buChar char="-"/>
              </a:pPr>
              <a:r>
                <a:rPr lang="en-GB" sz="1000">
                  <a:solidFill>
                    <a:schemeClr val="tx1"/>
                  </a:solidFill>
                  <a:latin typeface="Montserrat Light (Body)"/>
                </a:rPr>
                <a:t>Full Account Management, including</a:t>
              </a:r>
            </a:p>
            <a:p>
              <a:pPr marL="628650" lvl="1" indent="-171450" fontAlgn="b">
                <a:spcBef>
                  <a:spcPts val="400"/>
                </a:spcBef>
                <a:buFontTx/>
                <a:buChar char="-"/>
              </a:pPr>
              <a:r>
                <a:rPr lang="en-GB" sz="1000">
                  <a:solidFill>
                    <a:schemeClr val="tx1"/>
                  </a:solidFill>
                  <a:latin typeface="Montserrat Light (Body)"/>
                </a:rPr>
                <a:t>Overdue Payments notifications</a:t>
              </a:r>
            </a:p>
            <a:p>
              <a:pPr marL="628650" lvl="1" indent="-171450" fontAlgn="b">
                <a:spcBef>
                  <a:spcPts val="400"/>
                </a:spcBef>
                <a:buFontTx/>
                <a:buChar char="-"/>
              </a:pPr>
              <a:r>
                <a:rPr lang="en-GB" sz="1000">
                  <a:solidFill>
                    <a:schemeClr val="tx1"/>
                  </a:solidFill>
                  <a:latin typeface="Montserrat Light (Body)"/>
                </a:rPr>
                <a:t>Contact Details / Comms Preferences management</a:t>
              </a:r>
            </a:p>
            <a:p>
              <a:pPr marL="628650" lvl="1" indent="-171450" fontAlgn="b">
                <a:spcBef>
                  <a:spcPts val="400"/>
                </a:spcBef>
                <a:buFontTx/>
                <a:buChar char="-"/>
              </a:pPr>
              <a:r>
                <a:rPr lang="en-GB" sz="1000">
                  <a:solidFill>
                    <a:schemeClr val="tx1"/>
                  </a:solidFill>
                  <a:latin typeface="Montserrat Light (Body)"/>
                </a:rPr>
                <a:t>Any other MRI information</a:t>
              </a:r>
            </a:p>
            <a:p>
              <a:pPr marL="171450" indent="-171450" fontAlgn="b">
                <a:spcBef>
                  <a:spcPts val="400"/>
                </a:spcBef>
                <a:buFontTx/>
                <a:buChar char="-"/>
              </a:pPr>
              <a:endParaRPr lang="en-GB" sz="1000">
                <a:solidFill>
                  <a:schemeClr val="tx1"/>
                </a:solidFill>
                <a:latin typeface="Montserrat Light (Body)"/>
              </a:endParaRPr>
            </a:p>
          </p:txBody>
        </p:sp>
      </p:grpSp>
      <p:sp>
        <p:nvSpPr>
          <p:cNvPr id="23" name="Slide Number Placeholder 3">
            <a:extLst>
              <a:ext uri="{FF2B5EF4-FFF2-40B4-BE49-F238E27FC236}">
                <a16:creationId xmlns:a16="http://schemas.microsoft.com/office/drawing/2014/main" id="{13B465D3-B3B2-4A5D-8994-5B7912997689}"/>
              </a:ext>
            </a:extLst>
          </p:cNvPr>
          <p:cNvSpPr>
            <a:spLocks noGrp="1"/>
          </p:cNvSpPr>
          <p:nvPr>
            <p:ph type="sldNum" sz="quarter" idx="12"/>
          </p:nvPr>
        </p:nvSpPr>
        <p:spPr>
          <a:xfrm>
            <a:off x="8357153" y="6480642"/>
            <a:ext cx="428072" cy="228601"/>
          </a:xfrm>
        </p:spPr>
        <p:txBody>
          <a:bodyPr/>
          <a:lstStyle/>
          <a:p>
            <a:fld id="{0D32313A-DEBC-4CA4-B008-A02D4ABE2C72}" type="slidenum">
              <a:rPr lang="en-GB" smtClean="0"/>
              <a:t>31</a:t>
            </a:fld>
            <a:endParaRPr lang="en-GB"/>
          </a:p>
        </p:txBody>
      </p:sp>
    </p:spTree>
    <p:extLst>
      <p:ext uri="{BB962C8B-B14F-4D97-AF65-F5344CB8AC3E}">
        <p14:creationId xmlns:p14="http://schemas.microsoft.com/office/powerpoint/2010/main" val="953440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nvPr>
        </p:nvGraphicFramePr>
        <p:xfrm>
          <a:off x="358773" y="1320246"/>
          <a:ext cx="8426450" cy="4961284"/>
        </p:xfrm>
        <a:graphic>
          <a:graphicData uri="http://schemas.openxmlformats.org/drawingml/2006/table">
            <a:tbl>
              <a:tblPr>
                <a:tableStyleId>{5C22544A-7EE6-4342-B048-85BDC9FD1C3A}</a:tableStyleId>
              </a:tblPr>
              <a:tblGrid>
                <a:gridCol w="1285469">
                  <a:extLst>
                    <a:ext uri="{9D8B030D-6E8A-4147-A177-3AD203B41FA5}">
                      <a16:colId xmlns:a16="http://schemas.microsoft.com/office/drawing/2014/main" val="39590646"/>
                    </a:ext>
                  </a:extLst>
                </a:gridCol>
                <a:gridCol w="1350628">
                  <a:extLst>
                    <a:ext uri="{9D8B030D-6E8A-4147-A177-3AD203B41FA5}">
                      <a16:colId xmlns:a16="http://schemas.microsoft.com/office/drawing/2014/main" val="394621022"/>
                    </a:ext>
                  </a:extLst>
                </a:gridCol>
                <a:gridCol w="3816991">
                  <a:extLst>
                    <a:ext uri="{9D8B030D-6E8A-4147-A177-3AD203B41FA5}">
                      <a16:colId xmlns:a16="http://schemas.microsoft.com/office/drawing/2014/main" val="2373659524"/>
                    </a:ext>
                  </a:extLst>
                </a:gridCol>
                <a:gridCol w="1973362">
                  <a:extLst>
                    <a:ext uri="{9D8B030D-6E8A-4147-A177-3AD203B41FA5}">
                      <a16:colId xmlns:a16="http://schemas.microsoft.com/office/drawing/2014/main" val="2058356255"/>
                    </a:ext>
                  </a:extLst>
                </a:gridCol>
              </a:tblGrid>
              <a:tr h="234052">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877019">
                <a:tc rowSpan="5">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Branding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any Clippers Quay / development-specific branding</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Create generic My Grainger branding (working with Leesa) and apply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322375">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General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overdue payments hints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266415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Dashboard</a:t>
                      </a:r>
                    </a:p>
                    <a:p>
                      <a:pPr marL="0" algn="ctr" defTabSz="685800" rtl="0" eaLnBrk="1" fontAlgn="b" latinLnBrk="0" hangingPunct="1"/>
                      <a:r>
                        <a:rPr lang="en-GB" sz="1000" b="1" u="none" strike="noStrike" kern="1200" baseline="0">
                          <a:solidFill>
                            <a:schemeClr val="tx1"/>
                          </a:solidFill>
                          <a:effectLst/>
                          <a:latin typeface="+mj-lt"/>
                          <a:ea typeface="+mn-ea"/>
                          <a:cs typeface="+mn-cs"/>
                        </a:rPr>
                        <a:t>(Home Screen)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Keep Hero image with user’s name – remove apartment number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Keep Button Bar – it will link to Direct Debit form, Report a Fault, Payments, Documents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Keep “Just one thing!” widget, but make a CMS component – add a link to a CMS page for content specific to this component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“Report a Problem” widget as it’s in the Button Bar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Rebadge “NOTIFICATIONS” as “MY REQUESTS”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“Quick Links” section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“General Manager” section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“My Account” widget – link to payments is in the Button Bar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link list (blue background) section comprising (Community – local events; Amenities; Concierge; Events)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“Add-On Services” / “View Upgrades”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322375">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My Requests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Rebrand “Notifications” to be “My Requests”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54131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pt-BR" sz="1000" b="1" u="none" strike="noStrike" baseline="0">
                          <a:solidFill>
                            <a:schemeClr val="tx1"/>
                          </a:solidFill>
                          <a:effectLst/>
                          <a:latin typeface="+mj-lt"/>
                        </a:rPr>
                        <a:t>Amenities / My Bookings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Sections to be removed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32</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MyGrainger Portal (1/2)</a:t>
            </a:r>
            <a:br>
              <a:rPr lang="en-GB"/>
            </a:br>
            <a:r>
              <a:rPr lang="en-GB" sz="2400" i="1"/>
              <a:t>Changes required for Phase 1 go-live</a:t>
            </a:r>
            <a:endParaRPr lang="en-GB" i="1"/>
          </a:p>
        </p:txBody>
      </p:sp>
      <p:sp>
        <p:nvSpPr>
          <p:cNvPr id="12" name="TextBox 11">
            <a:extLst>
              <a:ext uri="{FF2B5EF4-FFF2-40B4-BE49-F238E27FC236}">
                <a16:creationId xmlns:a16="http://schemas.microsoft.com/office/drawing/2014/main" id="{730557EE-0B2D-4A2D-B68E-591CC8E02011}"/>
              </a:ext>
            </a:extLst>
          </p:cNvPr>
          <p:cNvSpPr txBox="1"/>
          <p:nvPr/>
        </p:nvSpPr>
        <p:spPr>
          <a:xfrm>
            <a:off x="7470215" y="3834516"/>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pic>
        <p:nvPicPr>
          <p:cNvPr id="13" name="Picture 12">
            <a:extLst>
              <a:ext uri="{FF2B5EF4-FFF2-40B4-BE49-F238E27FC236}">
                <a16:creationId xmlns:a16="http://schemas.microsoft.com/office/drawing/2014/main" id="{7F4989CB-6F84-4C2C-8010-B76CEBF45563}"/>
              </a:ext>
            </a:extLst>
          </p:cNvPr>
          <p:cNvPicPr>
            <a:picLocks noChangeAspect="1"/>
          </p:cNvPicPr>
          <p:nvPr/>
        </p:nvPicPr>
        <p:blipFill rotWithShape="1">
          <a:blip r:embed="rId2"/>
          <a:srcRect l="6573" r="2854"/>
          <a:stretch/>
        </p:blipFill>
        <p:spPr>
          <a:xfrm>
            <a:off x="468831" y="3653541"/>
            <a:ext cx="1104268" cy="361950"/>
          </a:xfrm>
          <a:prstGeom prst="rect">
            <a:avLst/>
          </a:prstGeom>
        </p:spPr>
      </p:pic>
    </p:spTree>
    <p:extLst>
      <p:ext uri="{BB962C8B-B14F-4D97-AF65-F5344CB8AC3E}">
        <p14:creationId xmlns:p14="http://schemas.microsoft.com/office/powerpoint/2010/main" val="11973414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458877816"/>
              </p:ext>
            </p:extLst>
          </p:nvPr>
        </p:nvGraphicFramePr>
        <p:xfrm>
          <a:off x="358773" y="1320245"/>
          <a:ext cx="8426450" cy="4963108"/>
        </p:xfrm>
        <a:graphic>
          <a:graphicData uri="http://schemas.openxmlformats.org/drawingml/2006/table">
            <a:tbl>
              <a:tblPr>
                <a:tableStyleId>{5C22544A-7EE6-4342-B048-85BDC9FD1C3A}</a:tableStyleId>
              </a:tblPr>
              <a:tblGrid>
                <a:gridCol w="1285469">
                  <a:extLst>
                    <a:ext uri="{9D8B030D-6E8A-4147-A177-3AD203B41FA5}">
                      <a16:colId xmlns:a16="http://schemas.microsoft.com/office/drawing/2014/main" val="39590646"/>
                    </a:ext>
                  </a:extLst>
                </a:gridCol>
                <a:gridCol w="1350628">
                  <a:extLst>
                    <a:ext uri="{9D8B030D-6E8A-4147-A177-3AD203B41FA5}">
                      <a16:colId xmlns:a16="http://schemas.microsoft.com/office/drawing/2014/main" val="394621022"/>
                    </a:ext>
                  </a:extLst>
                </a:gridCol>
                <a:gridCol w="3816991">
                  <a:extLst>
                    <a:ext uri="{9D8B030D-6E8A-4147-A177-3AD203B41FA5}">
                      <a16:colId xmlns:a16="http://schemas.microsoft.com/office/drawing/2014/main" val="2373659524"/>
                    </a:ext>
                  </a:extLst>
                </a:gridCol>
                <a:gridCol w="1973362">
                  <a:extLst>
                    <a:ext uri="{9D8B030D-6E8A-4147-A177-3AD203B41FA5}">
                      <a16:colId xmlns:a16="http://schemas.microsoft.com/office/drawing/2014/main" val="2058356255"/>
                    </a:ext>
                  </a:extLst>
                </a:gridCol>
              </a:tblGrid>
              <a:tr h="262706">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587473">
                <a:tc rowSpan="5">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Help &amp; Contact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Keep “Raise a New Request” widget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Keep “My Dashboard” widget, but rename to “My Requests”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782828">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Documents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Leave documents section broadly as-is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May require UI improvement once API is developed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Remove “Available Services” section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82559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My Account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Change this to “Payments”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Use native Asperato digital components in the best way possible (investigation required)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Allow “Make a Payment” and “Create a DD Mandate” at a minimum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86422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My Profile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Password reset journey starts from here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We will hide notification preferences for Phase 1</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Add a widget to raise an account request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164028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pt-BR" sz="1000" b="1" u="none" strike="noStrike" baseline="0">
                          <a:solidFill>
                            <a:schemeClr val="tx1"/>
                          </a:solidFill>
                          <a:effectLst/>
                          <a:latin typeface="+mj-lt"/>
                        </a:rPr>
                        <a:t>Navigation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Change Header Link Bar to include</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Home (link to dashboard)</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Help &amp; Contact</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My Requests</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Payments</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Documents</a:t>
                      </a:r>
                    </a:p>
                    <a:p>
                      <a:pPr marL="539750" marR="0" lvl="1" indent="-196850" algn="l" defTabSz="685800" rtl="0" eaLnBrk="1" fontAlgn="b" latinLnBrk="0" hangingPunct="1">
                        <a:lnSpc>
                          <a:spcPct val="100000"/>
                        </a:lnSpc>
                        <a:spcBef>
                          <a:spcPts val="400"/>
                        </a:spcBef>
                        <a:spcAft>
                          <a:spcPts val="0"/>
                        </a:spcAft>
                        <a:buClrTx/>
                        <a:buSzTx/>
                        <a:buFont typeface="+mj-lt"/>
                        <a:buAutoNum type="romanLcPeriod"/>
                        <a:tabLst/>
                        <a:defRPr/>
                      </a:pPr>
                      <a:r>
                        <a:rPr lang="en-GB" sz="800" i="1" u="none" strike="noStrike" kern="1200" baseline="0">
                          <a:solidFill>
                            <a:schemeClr val="tx1"/>
                          </a:solidFill>
                          <a:effectLst/>
                          <a:latin typeface="Montserrat" panose="00000500000000000000" pitchFamily="50" charset="0"/>
                          <a:ea typeface="+mn-ea"/>
                          <a:cs typeface="+mn-cs"/>
                        </a:rPr>
                        <a:t>My Account (TBD – leave as account icon, include in navbar, or both)</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33</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MyGrainger Portal (2/2)</a:t>
            </a:r>
            <a:br>
              <a:rPr lang="en-GB"/>
            </a:br>
            <a:r>
              <a:rPr lang="en-GB" sz="2400" i="1"/>
              <a:t>Changes required for Phase 1 go-live</a:t>
            </a:r>
            <a:endParaRPr lang="en-GB" i="1"/>
          </a:p>
        </p:txBody>
      </p:sp>
      <p:sp>
        <p:nvSpPr>
          <p:cNvPr id="12" name="TextBox 11">
            <a:extLst>
              <a:ext uri="{FF2B5EF4-FFF2-40B4-BE49-F238E27FC236}">
                <a16:creationId xmlns:a16="http://schemas.microsoft.com/office/drawing/2014/main" id="{730557EE-0B2D-4A2D-B68E-591CC8E02011}"/>
              </a:ext>
            </a:extLst>
          </p:cNvPr>
          <p:cNvSpPr txBox="1"/>
          <p:nvPr/>
        </p:nvSpPr>
        <p:spPr>
          <a:xfrm>
            <a:off x="7470215" y="3834516"/>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pic>
        <p:nvPicPr>
          <p:cNvPr id="13" name="Picture 12">
            <a:extLst>
              <a:ext uri="{FF2B5EF4-FFF2-40B4-BE49-F238E27FC236}">
                <a16:creationId xmlns:a16="http://schemas.microsoft.com/office/drawing/2014/main" id="{7F4989CB-6F84-4C2C-8010-B76CEBF45563}"/>
              </a:ext>
            </a:extLst>
          </p:cNvPr>
          <p:cNvPicPr>
            <a:picLocks noChangeAspect="1"/>
          </p:cNvPicPr>
          <p:nvPr/>
        </p:nvPicPr>
        <p:blipFill rotWithShape="1">
          <a:blip r:embed="rId2"/>
          <a:srcRect l="6573" r="2854"/>
          <a:stretch/>
        </p:blipFill>
        <p:spPr>
          <a:xfrm>
            <a:off x="468831" y="3653541"/>
            <a:ext cx="1104268" cy="361950"/>
          </a:xfrm>
          <a:prstGeom prst="rect">
            <a:avLst/>
          </a:prstGeom>
        </p:spPr>
      </p:pic>
    </p:spTree>
    <p:extLst>
      <p:ext uri="{BB962C8B-B14F-4D97-AF65-F5344CB8AC3E}">
        <p14:creationId xmlns:p14="http://schemas.microsoft.com/office/powerpoint/2010/main" val="10453777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4A81B7-37C4-47E5-8394-FF5548A68510}"/>
              </a:ext>
            </a:extLst>
          </p:cNvPr>
          <p:cNvSpPr>
            <a:spLocks noGrp="1"/>
          </p:cNvSpPr>
          <p:nvPr>
            <p:ph type="ctrTitle"/>
          </p:nvPr>
        </p:nvSpPr>
        <p:spPr/>
        <p:txBody>
          <a:bodyPr/>
          <a:lstStyle/>
          <a:p>
            <a:r>
              <a:rPr lang="en-GB"/>
              <a:t>APPENDIX</a:t>
            </a:r>
            <a:br>
              <a:rPr lang="en-GB"/>
            </a:br>
            <a:br>
              <a:rPr lang="en-GB"/>
            </a:br>
            <a:r>
              <a:rPr lang="en-GB"/>
              <a:t>Phase 1 Functionality Catalogue</a:t>
            </a:r>
          </a:p>
        </p:txBody>
      </p:sp>
      <p:sp>
        <p:nvSpPr>
          <p:cNvPr id="3" name="Footer Placeholder 2">
            <a:extLst>
              <a:ext uri="{FF2B5EF4-FFF2-40B4-BE49-F238E27FC236}">
                <a16:creationId xmlns:a16="http://schemas.microsoft.com/office/drawing/2014/main" id="{1FD910CB-0276-4B05-8C2B-A2491E1A8739}"/>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DA56A54C-FA0C-4E6A-83EE-30BB0997E270}"/>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34</a:t>
            </a:fld>
            <a:endParaRPr lang="en-GB"/>
          </a:p>
        </p:txBody>
      </p:sp>
    </p:spTree>
    <p:extLst>
      <p:ext uri="{BB962C8B-B14F-4D97-AF65-F5344CB8AC3E}">
        <p14:creationId xmlns:p14="http://schemas.microsoft.com/office/powerpoint/2010/main" val="1628719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E580B78-9C50-4E0F-9B58-6C1A4CCAFF2F}"/>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6956" r="6956"/>
          <a:stretch>
            <a:fillRect/>
          </a:stretch>
        </p:blipFill>
        <p:spPr>
          <a:xfrm>
            <a:off x="6022975" y="403225"/>
            <a:ext cx="2762250" cy="4100513"/>
          </a:xfrm>
          <a:ln>
            <a:solidFill>
              <a:schemeClr val="bg1"/>
            </a:solidFill>
          </a:ln>
        </p:spPr>
      </p:pic>
      <p:sp>
        <p:nvSpPr>
          <p:cNvPr id="6" name="Title 5">
            <a:extLst>
              <a:ext uri="{FF2B5EF4-FFF2-40B4-BE49-F238E27FC236}">
                <a16:creationId xmlns:a16="http://schemas.microsoft.com/office/drawing/2014/main" id="{3B001709-B3B3-493C-BE2B-565B8EA1AB13}"/>
              </a:ext>
            </a:extLst>
          </p:cNvPr>
          <p:cNvSpPr>
            <a:spLocks noGrp="1"/>
          </p:cNvSpPr>
          <p:nvPr>
            <p:ph type="ctrTitle"/>
          </p:nvPr>
        </p:nvSpPr>
        <p:spPr/>
        <p:txBody>
          <a:bodyPr/>
          <a:lstStyle/>
          <a:p>
            <a:r>
              <a:rPr lang="en-GB"/>
              <a:t>Functionality Catalogue</a:t>
            </a:r>
            <a:br>
              <a:rPr lang="en-GB"/>
            </a:br>
            <a:br>
              <a:rPr lang="en-GB"/>
            </a:br>
            <a:r>
              <a:rPr lang="en-GB"/>
              <a:t>Managing Property &amp; Supplier</a:t>
            </a:r>
          </a:p>
        </p:txBody>
      </p:sp>
      <p:sp>
        <p:nvSpPr>
          <p:cNvPr id="3" name="Footer Placeholder 2">
            <a:extLst>
              <a:ext uri="{FF2B5EF4-FFF2-40B4-BE49-F238E27FC236}">
                <a16:creationId xmlns:a16="http://schemas.microsoft.com/office/drawing/2014/main" id="{9E00C884-1D70-4751-8308-745B2D68B4C7}"/>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CE8F6C27-0003-44DE-8767-30B4D89EA994}"/>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35</a:t>
            </a:fld>
            <a:endParaRPr lang="en-GB"/>
          </a:p>
        </p:txBody>
      </p:sp>
    </p:spTree>
    <p:extLst>
      <p:ext uri="{BB962C8B-B14F-4D97-AF65-F5344CB8AC3E}">
        <p14:creationId xmlns:p14="http://schemas.microsoft.com/office/powerpoint/2010/main" val="1358231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999991508"/>
              </p:ext>
            </p:extLst>
          </p:nvPr>
        </p:nvGraphicFramePr>
        <p:xfrm>
          <a:off x="358774" y="1320248"/>
          <a:ext cx="8426449" cy="4963225"/>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518699">
                  <a:extLst>
                    <a:ext uri="{9D8B030D-6E8A-4147-A177-3AD203B41FA5}">
                      <a16:colId xmlns:a16="http://schemas.microsoft.com/office/drawing/2014/main" val="394621022"/>
                    </a:ext>
                  </a:extLst>
                </a:gridCol>
                <a:gridCol w="3069204">
                  <a:extLst>
                    <a:ext uri="{9D8B030D-6E8A-4147-A177-3AD203B41FA5}">
                      <a16:colId xmlns:a16="http://schemas.microsoft.com/office/drawing/2014/main" val="2373659524"/>
                    </a:ext>
                  </a:extLst>
                </a:gridCol>
                <a:gridCol w="914400">
                  <a:extLst>
                    <a:ext uri="{9D8B030D-6E8A-4147-A177-3AD203B41FA5}">
                      <a16:colId xmlns:a16="http://schemas.microsoft.com/office/drawing/2014/main" val="3700481437"/>
                    </a:ext>
                  </a:extLst>
                </a:gridCol>
                <a:gridCol w="1788075">
                  <a:extLst>
                    <a:ext uri="{9D8B030D-6E8A-4147-A177-3AD203B41FA5}">
                      <a16:colId xmlns:a16="http://schemas.microsoft.com/office/drawing/2014/main" val="2058356255"/>
                    </a:ext>
                  </a:extLst>
                </a:gridCol>
              </a:tblGrid>
              <a:tr h="444471">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054643">
                <a:tc rowSpan="3">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Create &amp; approve new supplier</a:t>
                      </a:r>
                      <a:endParaRPr lang="en-GB" sz="1000" b="1" i="0" u="none" strike="noStrike" baseline="0">
                        <a:solidFill>
                          <a:schemeClr val="tx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fontAlgn="b">
                        <a:spcBef>
                          <a:spcPts val="400"/>
                        </a:spcBef>
                        <a:buFontTx/>
                        <a:buChar char="-"/>
                      </a:pPr>
                      <a:r>
                        <a:rPr lang="en-GB" sz="800" u="none" strike="noStrike" baseline="0">
                          <a:solidFill>
                            <a:schemeClr val="tx1"/>
                          </a:solidFill>
                          <a:effectLst/>
                          <a:latin typeface="Montserrat" panose="00000500000000000000" pitchFamily="50" charset="0"/>
                        </a:rPr>
                        <a:t>Once supplier application is reviewed and approved by Operations and Tax teams.</a:t>
                      </a:r>
                    </a:p>
                    <a:p>
                      <a:pPr marL="171450" indent="-171450" algn="l" fontAlgn="b">
                        <a:spcBef>
                          <a:spcPts val="400"/>
                        </a:spcBef>
                        <a:buFontTx/>
                        <a:buChar char="-"/>
                      </a:pPr>
                      <a:r>
                        <a:rPr lang="en-GB" sz="800" u="none" strike="noStrike" baseline="0">
                          <a:solidFill>
                            <a:schemeClr val="tx1"/>
                          </a:solidFill>
                          <a:effectLst/>
                          <a:latin typeface="Montserrat" panose="00000500000000000000" pitchFamily="50" charset="0"/>
                        </a:rPr>
                        <a:t>AP team created supplier account in MRI with relevant information and supplier type.</a:t>
                      </a:r>
                    </a:p>
                    <a:p>
                      <a:pPr marL="171450" indent="-171450" algn="l" fontAlgn="b">
                        <a:spcBef>
                          <a:spcPts val="400"/>
                        </a:spcBef>
                        <a:buFontTx/>
                        <a:buChar char="-"/>
                      </a:pPr>
                      <a:r>
                        <a:rPr lang="en-GB" sz="800" u="none" strike="noStrike" baseline="0">
                          <a:solidFill>
                            <a:schemeClr val="tx1"/>
                          </a:solidFill>
                          <a:effectLst/>
                          <a:latin typeface="Montserrat" panose="00000500000000000000" pitchFamily="50" charset="0"/>
                        </a:rPr>
                        <a:t>This is then pushed to FSI and Proactis through integrations</a:t>
                      </a:r>
                      <a:endParaRPr lang="en-GB" sz="800" b="0" i="0" u="none" strike="noStrike" baseline="0">
                        <a:solidFill>
                          <a:schemeClr val="tx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917749">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Amend supplier records</a:t>
                      </a:r>
                      <a:endParaRPr lang="en-GB" sz="1000" b="1" i="0" u="none" strike="noStrike" baseline="0">
                        <a:solidFill>
                          <a:schemeClr val="tx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Change of address/bank details/CIS details are received as and when and supplier record is updated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Changes to bank details are verified by AP using contact details other than those stated on the request for change - this is done to combat fraudulent requests for routing of payments to incorrect details.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747422">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Manage supplier status</a:t>
                      </a:r>
                      <a:endParaRPr lang="en-GB" sz="1000" b="1" i="0" u="none" strike="noStrike" baseline="0">
                        <a:solidFill>
                          <a:schemeClr val="tx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supplier can be placed on hold in both FSI and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 placed on hold in MRI will stop payment and invoices from being processed and will block suppliers on FSI and Proactis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GB" sz="1000" u="sng" strike="noStrike" baseline="0">
                          <a:effectLst/>
                          <a:latin typeface="Montserrat" panose="00000500000000000000" pitchFamily="50" charset="0"/>
                          <a:hlinkClick r:id="rId2"/>
                        </a:rPr>
                        <a:t>Supplier Status Validation</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89382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Check supplier application &amp; assigns to category</a:t>
                      </a:r>
                      <a:endParaRPr lang="en-GB" sz="1000" b="1" i="0" u="none" strike="noStrike" baseline="0">
                        <a:solidFill>
                          <a:schemeClr val="tx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Suppliers are setup on FSI and allocated to a contract which allows them to attend specific buildings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We allocate suppliers to disciplines in FSI, to control what type of work they carry out (e.g. gas)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We will add skills; certification work - dependent on construction line API.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GB" sz="1000" u="sng" strike="noStrike" baseline="0">
                          <a:effectLst/>
                          <a:latin typeface="Montserrat" panose="00000500000000000000" pitchFamily="50" charset="0"/>
                          <a:hlinkClick r:id="rId3"/>
                        </a:rPr>
                        <a:t>FSI Grainger integration</a:t>
                      </a:r>
                      <a:endParaRPr lang="en-GB" sz="1000" u="sng" strike="noStrike" baseline="0">
                        <a:effectLst/>
                        <a:latin typeface="Montserrat" panose="00000500000000000000" pitchFamily="50" charset="0"/>
                      </a:endParaRPr>
                    </a:p>
                    <a:p>
                      <a:pPr algn="l" fontAlgn="b"/>
                      <a:endParaRPr lang="en-GB" sz="1000" u="sng" strike="noStrike" baseline="0">
                        <a:effectLst/>
                        <a:latin typeface="Montserrat" panose="00000500000000000000" pitchFamily="50" charset="0"/>
                      </a:endParaRPr>
                    </a:p>
                    <a:p>
                      <a:pPr marL="0" marR="0" lvl="0" indent="0" algn="l" defTabSz="685800" rtl="0" eaLnBrk="1" fontAlgn="b" latinLnBrk="0" hangingPunct="1">
                        <a:lnSpc>
                          <a:spcPct val="100000"/>
                        </a:lnSpc>
                        <a:spcBef>
                          <a:spcPts val="0"/>
                        </a:spcBef>
                        <a:spcAft>
                          <a:spcPts val="0"/>
                        </a:spcAft>
                        <a:buClrTx/>
                        <a:buSzTx/>
                        <a:buFontTx/>
                        <a:buNone/>
                        <a:tabLst/>
                        <a:defRPr/>
                      </a:pPr>
                      <a:r>
                        <a:rPr lang="en-GB" sz="1000" u="sng" strike="noStrike" baseline="0">
                          <a:effectLst/>
                          <a:latin typeface="Montserrat" panose="00000500000000000000" pitchFamily="50" charset="0"/>
                          <a:hlinkClick r:id="rId4"/>
                        </a:rPr>
                        <a:t>Supplier Management Business Process</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31776183"/>
                  </a:ext>
                </a:extLst>
              </a:tr>
              <a:tr h="89382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Suspend supplier if certificates expire </a:t>
                      </a:r>
                      <a:endParaRPr lang="en-GB" sz="1000" b="1" i="0" u="none" strike="noStrike" baseline="0">
                        <a:solidFill>
                          <a:schemeClr val="tx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will suspend a supplier if their certifications are outdated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supplier status will pass back to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will prevent new orders from being raised but will not stop any invoices or payments being made.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r>
                        <a:rPr lang="en-GB" sz="1000" u="sng" strike="noStrike" baseline="0">
                          <a:effectLst/>
                          <a:latin typeface="Montserrat" panose="00000500000000000000" pitchFamily="50" charset="0"/>
                          <a:hlinkClick r:id="rId5"/>
                        </a:rPr>
                        <a:t>Supplier Management - Process Document</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36</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5.01, 5.02 – Supplier Management</a:t>
            </a:r>
            <a:br>
              <a:rPr lang="en-GB"/>
            </a:br>
            <a:r>
              <a:rPr lang="en-GB" sz="2400" i="1"/>
              <a:t>Capability Summary</a:t>
            </a:r>
            <a:endParaRPr lang="en-GB" i="1"/>
          </a:p>
        </p:txBody>
      </p:sp>
      <p:pic>
        <p:nvPicPr>
          <p:cNvPr id="7" name="Picture 10" descr="Image result for mri software">
            <a:extLst>
              <a:ext uri="{FF2B5EF4-FFF2-40B4-BE49-F238E27FC236}">
                <a16:creationId xmlns:a16="http://schemas.microsoft.com/office/drawing/2014/main" id="{3021707D-AA55-45D9-B120-9DDACF52BCE2}"/>
              </a:ext>
            </a:extLst>
          </p:cNvPr>
          <p:cNvPicPr>
            <a:picLocks noChangeAspect="1" noChangeArrowheads="1"/>
          </p:cNvPicPr>
          <p:nvPr/>
        </p:nvPicPr>
        <p:blipFill>
          <a:blip r:embed="rId6">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3766" y="2968398"/>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Image result for fsi concept evolution">
            <a:extLst>
              <a:ext uri="{FF2B5EF4-FFF2-40B4-BE49-F238E27FC236}">
                <a16:creationId xmlns:a16="http://schemas.microsoft.com/office/drawing/2014/main" id="{D1CAC96B-05FA-44BF-BB6C-0698A8290145}"/>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8916" y="5130212"/>
            <a:ext cx="855307" cy="455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992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535094643"/>
              </p:ext>
            </p:extLst>
          </p:nvPr>
        </p:nvGraphicFramePr>
        <p:xfrm>
          <a:off x="358774" y="1320248"/>
          <a:ext cx="8426449" cy="4940471"/>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518699">
                  <a:extLst>
                    <a:ext uri="{9D8B030D-6E8A-4147-A177-3AD203B41FA5}">
                      <a16:colId xmlns:a16="http://schemas.microsoft.com/office/drawing/2014/main" val="394621022"/>
                    </a:ext>
                  </a:extLst>
                </a:gridCol>
                <a:gridCol w="3069204">
                  <a:extLst>
                    <a:ext uri="{9D8B030D-6E8A-4147-A177-3AD203B41FA5}">
                      <a16:colId xmlns:a16="http://schemas.microsoft.com/office/drawing/2014/main" val="2373659524"/>
                    </a:ext>
                  </a:extLst>
                </a:gridCol>
                <a:gridCol w="1383527">
                  <a:extLst>
                    <a:ext uri="{9D8B030D-6E8A-4147-A177-3AD203B41FA5}">
                      <a16:colId xmlns:a16="http://schemas.microsoft.com/office/drawing/2014/main" val="3700481437"/>
                    </a:ext>
                  </a:extLst>
                </a:gridCol>
                <a:gridCol w="1318948">
                  <a:extLst>
                    <a:ext uri="{9D8B030D-6E8A-4147-A177-3AD203B41FA5}">
                      <a16:colId xmlns:a16="http://schemas.microsoft.com/office/drawing/2014/main" val="2058356255"/>
                    </a:ext>
                  </a:extLst>
                </a:gridCol>
              </a:tblGrid>
              <a:tr h="444471">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731581">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Create &amp; Manage maintenance plan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fontAlgn="b">
                        <a:spcBef>
                          <a:spcPts val="400"/>
                        </a:spcBef>
                        <a:buFontTx/>
                        <a:buChar char="-"/>
                      </a:pPr>
                      <a:r>
                        <a:rPr lang="en-GB" sz="800" u="none" strike="noStrike" baseline="0">
                          <a:solidFill>
                            <a:schemeClr val="tx1"/>
                          </a:solidFill>
                          <a:effectLst/>
                          <a:latin typeface="Montserrat" panose="00000500000000000000" pitchFamily="50" charset="0"/>
                        </a:rPr>
                        <a:t>Once maintenance planning is completed the Grainger employee can schedule works in FSI up to 5 years in advance</a:t>
                      </a:r>
                    </a:p>
                    <a:p>
                      <a:pPr marL="171450" indent="-171450" algn="l" fontAlgn="b">
                        <a:spcBef>
                          <a:spcPts val="400"/>
                        </a:spcBef>
                        <a:buFontTx/>
                        <a:buChar char="-"/>
                      </a:pPr>
                      <a:r>
                        <a:rPr lang="en-GB" sz="800" u="none" strike="noStrike" baseline="0">
                          <a:solidFill>
                            <a:schemeClr val="tx1"/>
                          </a:solidFill>
                          <a:effectLst/>
                          <a:latin typeface="Montserrat" panose="00000500000000000000" pitchFamily="50" charset="0"/>
                        </a:rPr>
                        <a:t>This including all inspections and planned maintenance reflected in the maintenance plan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905120">
                <a:tc vMerge="1">
                  <a:txBody>
                    <a:bodyPr/>
                    <a:lstStyle/>
                    <a:p>
                      <a:endParaRPr lang="en-GB"/>
                    </a:p>
                  </a:txBody>
                  <a:tcPr/>
                </a:tc>
                <a:tc>
                  <a:txBody>
                    <a:bodyPr/>
                    <a:lstStyle/>
                    <a:p>
                      <a:pPr algn="ctr" fontAlgn="b"/>
                      <a:r>
                        <a:rPr lang="en-GB" sz="1000" b="1" u="none" strike="noStrike" baseline="0">
                          <a:solidFill>
                            <a:schemeClr val="tx1"/>
                          </a:solidFill>
                          <a:effectLst/>
                          <a:latin typeface="+mj-lt"/>
                        </a:rPr>
                        <a:t>Manage building works / common areas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manages central / common building spending in the same way it does unit-level spending.</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specific problem codes for common areas.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can also differentiate whether a spend should be capitalised, whether it is part of a service charge schedule, and whether it is covered by insurance.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10576279"/>
                  </a:ext>
                </a:extLst>
              </a:tr>
              <a:tr h="428961">
                <a:tc>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Manages budgets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Maintenance budgets will be handled through MRI, to ensure the correct allocation / apportionment rules of common area / service charge works are used.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Budgets can be then managed as the activities are completed in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89382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Carry out inspections and update registers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 actions suppliers to complete the tasks relative to planned maintenance in a similar way they are engaged to complete reactive maintenance work.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Suppliers receive all information about the job, and report levels of completion (LoC)</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Through FSI they also update registers directly.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28231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pt-BR" sz="1000" b="1" u="none" strike="noStrike" baseline="0">
                          <a:solidFill>
                            <a:schemeClr val="tx1"/>
                          </a:solidFill>
                          <a:effectLst/>
                          <a:latin typeface="+mj-lt"/>
                        </a:rPr>
                        <a:t>Uploads Gas / H&amp;S certificates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Suppliers performing inspections can produce and upload certificates into FSI.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will be stored in DMS against the unit and will be available for consultation in MyGrainger portal.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282314">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Notify customer of gas checks &amp; major works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will generate notices to customers on upcoming gas checks and major works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 some cases the customer will need to arrange a time to give access to the property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Customer access will be portal development, Major works notification will be part of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17439944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37</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6.05 – Planned Maintenance</a:t>
            </a:r>
            <a:br>
              <a:rPr lang="en-GB"/>
            </a:br>
            <a:r>
              <a:rPr lang="en-GB" sz="2400" i="1"/>
              <a:t>Capability Summary</a:t>
            </a:r>
            <a:endParaRPr lang="en-GB" i="1"/>
          </a:p>
        </p:txBody>
      </p:sp>
      <p:pic>
        <p:nvPicPr>
          <p:cNvPr id="8" name="Picture 16" descr="Image result for fsi concept evolution">
            <a:extLst>
              <a:ext uri="{FF2B5EF4-FFF2-40B4-BE49-F238E27FC236}">
                <a16:creationId xmlns:a16="http://schemas.microsoft.com/office/drawing/2014/main" id="{D1CAC96B-05FA-44BF-BB6C-0698A829014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5259" y="2358929"/>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close up of a sign&#10;&#10;Description automatically generated">
            <a:extLst>
              <a:ext uri="{FF2B5EF4-FFF2-40B4-BE49-F238E27FC236}">
                <a16:creationId xmlns:a16="http://schemas.microsoft.com/office/drawing/2014/main" id="{52348B5D-BBE4-43C5-9426-5CC6065C7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59" y="4767582"/>
            <a:ext cx="853062" cy="853062"/>
          </a:xfrm>
          <a:prstGeom prst="rect">
            <a:avLst/>
          </a:prstGeom>
        </p:spPr>
      </p:pic>
      <p:pic>
        <p:nvPicPr>
          <p:cNvPr id="10" name="Picture 16" descr="Image result for fsi concept evolution">
            <a:extLst>
              <a:ext uri="{FF2B5EF4-FFF2-40B4-BE49-F238E27FC236}">
                <a16:creationId xmlns:a16="http://schemas.microsoft.com/office/drawing/2014/main" id="{58B452F0-40AF-4AAC-AB0B-75DAF57D470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8774" y="5644871"/>
            <a:ext cx="666944" cy="3549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icture containing drawing&#10;&#10;Description automatically generated">
            <a:extLst>
              <a:ext uri="{FF2B5EF4-FFF2-40B4-BE49-F238E27FC236}">
                <a16:creationId xmlns:a16="http://schemas.microsoft.com/office/drawing/2014/main" id="{DFF52941-5136-42FA-84EB-5BC58BC9F4D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669" y="5765374"/>
            <a:ext cx="953003" cy="595627"/>
          </a:xfrm>
          <a:prstGeom prst="rect">
            <a:avLst/>
          </a:prstGeom>
        </p:spPr>
      </p:pic>
      <p:sp>
        <p:nvSpPr>
          <p:cNvPr id="12" name="TextBox 11">
            <a:extLst>
              <a:ext uri="{FF2B5EF4-FFF2-40B4-BE49-F238E27FC236}">
                <a16:creationId xmlns:a16="http://schemas.microsoft.com/office/drawing/2014/main" id="{730557EE-0B2D-4A2D-B68E-591CC8E02011}"/>
              </a:ext>
            </a:extLst>
          </p:cNvPr>
          <p:cNvSpPr txBox="1"/>
          <p:nvPr/>
        </p:nvSpPr>
        <p:spPr>
          <a:xfrm>
            <a:off x="7597436" y="3766541"/>
            <a:ext cx="1023728" cy="215444"/>
          </a:xfrm>
          <a:prstGeom prst="rect">
            <a:avLst/>
          </a:prstGeom>
          <a:solidFill>
            <a:srgbClr val="FFFF00"/>
          </a:solidFill>
          <a:ln>
            <a:solidFill>
              <a:schemeClr val="tx1"/>
            </a:solidFill>
          </a:ln>
        </p:spPr>
        <p:txBody>
          <a:bodyPr wrap="square" rtlCol="0">
            <a:spAutoFit/>
          </a:bodyPr>
          <a:lstStyle/>
          <a:p>
            <a:pPr algn="ctr"/>
            <a:r>
              <a:rPr lang="en-GB" sz="800">
                <a:latin typeface="+mj-lt"/>
              </a:rPr>
              <a:t>Populate links</a:t>
            </a:r>
          </a:p>
        </p:txBody>
      </p:sp>
      <p:grpSp>
        <p:nvGrpSpPr>
          <p:cNvPr id="15" name="Group 14">
            <a:extLst>
              <a:ext uri="{FF2B5EF4-FFF2-40B4-BE49-F238E27FC236}">
                <a16:creationId xmlns:a16="http://schemas.microsoft.com/office/drawing/2014/main" id="{02CCE5B2-BE92-402C-89E1-25472E82E762}"/>
              </a:ext>
            </a:extLst>
          </p:cNvPr>
          <p:cNvGrpSpPr/>
          <p:nvPr/>
        </p:nvGrpSpPr>
        <p:grpSpPr>
          <a:xfrm>
            <a:off x="439772" y="4224202"/>
            <a:ext cx="988243" cy="595627"/>
            <a:chOff x="473014" y="4000073"/>
            <a:chExt cx="1295101" cy="853062"/>
          </a:xfrm>
        </p:grpSpPr>
        <p:pic>
          <p:nvPicPr>
            <p:cNvPr id="13" name="Picture 12" descr="A close up of a sign&#10;&#10;Description automatically generated">
              <a:extLst>
                <a:ext uri="{FF2B5EF4-FFF2-40B4-BE49-F238E27FC236}">
                  <a16:creationId xmlns:a16="http://schemas.microsoft.com/office/drawing/2014/main" id="{E49EE4BA-0621-431B-BDDE-A3BAFECAAD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14" y="4000073"/>
              <a:ext cx="853062" cy="853062"/>
            </a:xfrm>
            <a:prstGeom prst="rect">
              <a:avLst/>
            </a:prstGeom>
          </p:spPr>
        </p:pic>
        <p:sp>
          <p:nvSpPr>
            <p:cNvPr id="14" name="TextBox 13">
              <a:extLst>
                <a:ext uri="{FF2B5EF4-FFF2-40B4-BE49-F238E27FC236}">
                  <a16:creationId xmlns:a16="http://schemas.microsoft.com/office/drawing/2014/main" id="{2B3CD58F-7B3C-48D9-A3D8-BA798FC27886}"/>
                </a:ext>
              </a:extLst>
            </p:cNvPr>
            <p:cNvSpPr txBox="1"/>
            <p:nvPr/>
          </p:nvSpPr>
          <p:spPr>
            <a:xfrm>
              <a:off x="868870" y="4204390"/>
              <a:ext cx="899245" cy="440801"/>
            </a:xfrm>
            <a:prstGeom prst="rect">
              <a:avLst/>
            </a:prstGeom>
            <a:solidFill>
              <a:schemeClr val="bg1"/>
            </a:solidFill>
          </p:spPr>
          <p:txBody>
            <a:bodyPr wrap="square" lIns="0" rIns="0" rtlCol="0">
              <a:spAutoFit/>
            </a:bodyPr>
            <a:lstStyle/>
            <a:p>
              <a:r>
                <a:rPr lang="en-GB" sz="1400">
                  <a:solidFill>
                    <a:srgbClr val="009BC0"/>
                  </a:solidFill>
                  <a:latin typeface="Arial" panose="020B0604020202020204" pitchFamily="34" charset="0"/>
                  <a:cs typeface="Arial" panose="020B0604020202020204" pitchFamily="34" charset="0"/>
                </a:rPr>
                <a:t>Connect</a:t>
              </a:r>
            </a:p>
          </p:txBody>
        </p:sp>
      </p:grpSp>
      <p:pic>
        <p:nvPicPr>
          <p:cNvPr id="16" name="Picture 10" descr="Image result for mri software">
            <a:extLst>
              <a:ext uri="{FF2B5EF4-FFF2-40B4-BE49-F238E27FC236}">
                <a16:creationId xmlns:a16="http://schemas.microsoft.com/office/drawing/2014/main" id="{F0F82442-1B3D-4A3F-8FC5-98311D625965}"/>
              </a:ext>
            </a:extLst>
          </p:cNvPr>
          <p:cNvPicPr>
            <a:picLocks noChangeAspect="1" noChangeArrowheads="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78986" y="3591689"/>
            <a:ext cx="645608" cy="34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611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918363992"/>
              </p:ext>
            </p:extLst>
          </p:nvPr>
        </p:nvGraphicFramePr>
        <p:xfrm>
          <a:off x="358774" y="1320248"/>
          <a:ext cx="8426449" cy="477120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383527">
                  <a:extLst>
                    <a:ext uri="{9D8B030D-6E8A-4147-A177-3AD203B41FA5}">
                      <a16:colId xmlns:a16="http://schemas.microsoft.com/office/drawing/2014/main" val="394621022"/>
                    </a:ext>
                  </a:extLst>
                </a:gridCol>
                <a:gridCol w="3204376">
                  <a:extLst>
                    <a:ext uri="{9D8B030D-6E8A-4147-A177-3AD203B41FA5}">
                      <a16:colId xmlns:a16="http://schemas.microsoft.com/office/drawing/2014/main" val="2373659524"/>
                    </a:ext>
                  </a:extLst>
                </a:gridCol>
                <a:gridCol w="1248355">
                  <a:extLst>
                    <a:ext uri="{9D8B030D-6E8A-4147-A177-3AD203B41FA5}">
                      <a16:colId xmlns:a16="http://schemas.microsoft.com/office/drawing/2014/main" val="3700481437"/>
                    </a:ext>
                  </a:extLst>
                </a:gridCol>
                <a:gridCol w="1454120">
                  <a:extLst>
                    <a:ext uri="{9D8B030D-6E8A-4147-A177-3AD203B41FA5}">
                      <a16:colId xmlns:a16="http://schemas.microsoft.com/office/drawing/2014/main" val="2058356255"/>
                    </a:ext>
                  </a:extLst>
                </a:gridCol>
              </a:tblGrid>
              <a:tr h="142792">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731581">
                <a:tc rowSpan="5">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Triage and Log problem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Grainger staff triages requests and logs the job in FSI.- speaking to the customer, adjusting problem code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pre-selected list of probing questions is available for each problem code, so the Grainger user can gather relevant information to progressing the request.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42896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Selects supplier by problem code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Grainger staff selects a supplier for each job, except PPP</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presents suppliers suitable for the job based on the problem code, location of customer, skills &amp; limitations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only present suppliers with active certifications, and well evaluated by Grainger and its customers.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747422">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Generates</a:t>
                      </a:r>
                    </a:p>
                    <a:p>
                      <a:pPr marL="0" algn="ctr" defTabSz="685800" rtl="0" eaLnBrk="1" fontAlgn="b" latinLnBrk="0" hangingPunct="1"/>
                      <a:r>
                        <a:rPr lang="en-GB" sz="1000" b="1" u="none" strike="noStrike" kern="1200" baseline="0">
                          <a:solidFill>
                            <a:schemeClr val="tx1"/>
                          </a:solidFill>
                          <a:effectLst/>
                          <a:latin typeface="+mj-lt"/>
                          <a:ea typeface="+mn-ea"/>
                          <a:cs typeface="+mn-cs"/>
                        </a:rPr>
                        <a:t>Work Order (WO)</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generate a Work Order (WO) for each job assigned to a supplier – each WO is populated with expected cost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a list of default values for job costs based on problem code, region, etc - The Grainger user can override the value of the expected cost</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WO’s are approved before sent to supplier. FSI ensures we seek approval from the correct authority levels.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290025">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Tracks ‘level of completion’ (LoC)</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uses a standard set of "Levels of Completion“ (LoC) to convey the status of each job</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event related to that job is captured in FSI with the relevant change in </a:t>
                      </a:r>
                      <a:r>
                        <a:rPr lang="en-GB" sz="800" u="none" strike="noStrike" kern="1200" baseline="0" err="1">
                          <a:solidFill>
                            <a:schemeClr val="tx1"/>
                          </a:solidFill>
                          <a:effectLst/>
                          <a:latin typeface="Montserrat" panose="00000500000000000000" pitchFamily="50" charset="0"/>
                          <a:ea typeface="+mn-ea"/>
                          <a:cs typeface="+mn-cs"/>
                        </a:rPr>
                        <a:t>LoC.</a:t>
                      </a:r>
                      <a:endParaRPr lang="en-GB" sz="800" u="none" strike="noStrike" kern="1200" baseline="0">
                        <a:solidFill>
                          <a:schemeClr val="tx1"/>
                        </a:solidFill>
                        <a:effectLst/>
                        <a:latin typeface="Montserrat" panose="00000500000000000000" pitchFamily="50" charset="0"/>
                        <a:ea typeface="+mn-ea"/>
                        <a:cs typeface="+mn-cs"/>
                      </a:endParaRP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LoC's also drive auto-responders (moves assigned status to customer, </a:t>
                      </a:r>
                      <a:r>
                        <a:rPr lang="en-GB" sz="800" u="none" strike="noStrike" kern="1200" baseline="0" err="1">
                          <a:solidFill>
                            <a:schemeClr val="tx1"/>
                          </a:solidFill>
                          <a:effectLst/>
                          <a:latin typeface="Montserrat" panose="00000500000000000000" pitchFamily="50" charset="0"/>
                          <a:ea typeface="+mn-ea"/>
                          <a:cs typeface="+mn-cs"/>
                        </a:rPr>
                        <a:t>eg.</a:t>
                      </a:r>
                      <a:r>
                        <a:rPr lang="en-GB" sz="800" u="none" strike="noStrike" kern="1200" baseline="0">
                          <a:solidFill>
                            <a:schemeClr val="tx1"/>
                          </a:solidFill>
                          <a:effectLst/>
                          <a:latin typeface="Montserrat" panose="00000500000000000000" pitchFamily="50" charset="0"/>
                          <a:ea typeface="+mn-ea"/>
                          <a:cs typeface="+mn-cs"/>
                        </a:rPr>
                        <a:t> booked)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28231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pt-BR" sz="1000" b="1" u="none" strike="noStrike" baseline="0">
                          <a:solidFill>
                            <a:schemeClr val="tx1"/>
                          </a:solidFill>
                          <a:effectLst/>
                          <a:latin typeface="+mj-lt"/>
                        </a:rPr>
                        <a:t>Receipt works / </a:t>
                      </a:r>
                    </a:p>
                    <a:p>
                      <a:pPr algn="ctr" fontAlgn="b"/>
                      <a:r>
                        <a:rPr lang="pt-BR" sz="1000" b="1" u="none" strike="noStrike" baseline="0">
                          <a:solidFill>
                            <a:schemeClr val="tx1"/>
                          </a:solidFill>
                          <a:effectLst/>
                          <a:latin typeface="+mj-lt"/>
                        </a:rPr>
                        <a:t>Approval Pathways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Jobs below a threshold are receipted automatically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Jobs that exceed a cost threshold or the original cost estimate will need to be receipted by Grainger staff</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282314">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baseline="0">
                          <a:solidFill>
                            <a:schemeClr val="tx1"/>
                          </a:solidFill>
                          <a:effectLst/>
                          <a:latin typeface="+mj-lt"/>
                        </a:rPr>
                        <a:t>Comms to supplier &amp;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generates transactional communications to customers and suppliers throughout the process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messages are generated by FSI but sent via our transactional communications platform"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38</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6.09 – Reactive Maintenance (1/2)</a:t>
            </a:r>
            <a:br>
              <a:rPr lang="en-GB"/>
            </a:br>
            <a:r>
              <a:rPr lang="en-GB" sz="2400" i="1"/>
              <a:t>Capability Summary</a:t>
            </a:r>
            <a:endParaRPr lang="en-GB" i="1"/>
          </a:p>
        </p:txBody>
      </p:sp>
      <p:pic>
        <p:nvPicPr>
          <p:cNvPr id="8" name="Picture 16" descr="Image result for fsi concept evolution">
            <a:extLst>
              <a:ext uri="{FF2B5EF4-FFF2-40B4-BE49-F238E27FC236}">
                <a16:creationId xmlns:a16="http://schemas.microsoft.com/office/drawing/2014/main" id="{D1CAC96B-05FA-44BF-BB6C-0698A829014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9759" y="3537138"/>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descr="Image result for fsi concept evolution">
            <a:extLst>
              <a:ext uri="{FF2B5EF4-FFF2-40B4-BE49-F238E27FC236}">
                <a16:creationId xmlns:a16="http://schemas.microsoft.com/office/drawing/2014/main" id="{58B452F0-40AF-4AAC-AB0B-75DAF57D470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8774" y="5501742"/>
            <a:ext cx="666944" cy="3549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icture containing drawing&#10;&#10;Description automatically generated">
            <a:extLst>
              <a:ext uri="{FF2B5EF4-FFF2-40B4-BE49-F238E27FC236}">
                <a16:creationId xmlns:a16="http://schemas.microsoft.com/office/drawing/2014/main" id="{DFF52941-5136-42FA-84EB-5BC58BC9F4D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669" y="5622245"/>
            <a:ext cx="953003" cy="595627"/>
          </a:xfrm>
          <a:prstGeom prst="rect">
            <a:avLst/>
          </a:prstGeom>
        </p:spPr>
      </p:pic>
      <p:sp>
        <p:nvSpPr>
          <p:cNvPr id="12" name="TextBox 11">
            <a:extLst>
              <a:ext uri="{FF2B5EF4-FFF2-40B4-BE49-F238E27FC236}">
                <a16:creationId xmlns:a16="http://schemas.microsoft.com/office/drawing/2014/main" id="{730557EE-0B2D-4A2D-B68E-591CC8E02011}"/>
              </a:ext>
            </a:extLst>
          </p:cNvPr>
          <p:cNvSpPr txBox="1"/>
          <p:nvPr/>
        </p:nvSpPr>
        <p:spPr>
          <a:xfrm>
            <a:off x="7470215" y="3834516"/>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22217563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4200395321"/>
              </p:ext>
            </p:extLst>
          </p:nvPr>
        </p:nvGraphicFramePr>
        <p:xfrm>
          <a:off x="358774" y="1169180"/>
          <a:ext cx="8426449" cy="5177746"/>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415332">
                  <a:extLst>
                    <a:ext uri="{9D8B030D-6E8A-4147-A177-3AD203B41FA5}">
                      <a16:colId xmlns:a16="http://schemas.microsoft.com/office/drawing/2014/main" val="394621022"/>
                    </a:ext>
                  </a:extLst>
                </a:gridCol>
                <a:gridCol w="3172571">
                  <a:extLst>
                    <a:ext uri="{9D8B030D-6E8A-4147-A177-3AD203B41FA5}">
                      <a16:colId xmlns:a16="http://schemas.microsoft.com/office/drawing/2014/main" val="2373659524"/>
                    </a:ext>
                  </a:extLst>
                </a:gridCol>
                <a:gridCol w="1375575">
                  <a:extLst>
                    <a:ext uri="{9D8B030D-6E8A-4147-A177-3AD203B41FA5}">
                      <a16:colId xmlns:a16="http://schemas.microsoft.com/office/drawing/2014/main" val="3700481437"/>
                    </a:ext>
                  </a:extLst>
                </a:gridCol>
                <a:gridCol w="1326900">
                  <a:extLst>
                    <a:ext uri="{9D8B030D-6E8A-4147-A177-3AD203B41FA5}">
                      <a16:colId xmlns:a16="http://schemas.microsoft.com/office/drawing/2014/main" val="2058356255"/>
                    </a:ext>
                  </a:extLst>
                </a:gridCol>
              </a:tblGrid>
              <a:tr h="36398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756568">
                <a:tc rowSpan="2">
                  <a:txBody>
                    <a:bodyPr/>
                    <a:lstStyle/>
                    <a:p>
                      <a:pPr algn="ctr" fontAlgn="b"/>
                      <a:r>
                        <a:rPr lang="en-GB" sz="1000" b="1" i="0" u="none" strike="noStrike">
                          <a:solidFill>
                            <a:srgbClr val="000000"/>
                          </a:solidFill>
                          <a:effectLst/>
                          <a:latin typeface="Montserrat" panose="00000500000000000000" pitchFamily="50" charset="0"/>
                        </a:rPr>
                        <a:t>My</a:t>
                      </a:r>
                      <a:r>
                        <a:rPr lang="en-GB" sz="1000" b="1" i="0" u="none" strike="noStrike">
                          <a:solidFill>
                            <a:schemeClr val="bg1">
                              <a:lumMod val="50000"/>
                            </a:schemeClr>
                          </a:solidFill>
                          <a:effectLst/>
                          <a:latin typeface="Montserrat" panose="00000500000000000000" pitchFamily="50" charset="0"/>
                        </a:rPr>
                        <a:t>Grainger</a:t>
                      </a:r>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Report incident / request service via portal</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Customer is able to report a fault / request a service via MyGrainger portal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reduced list of problem codes is presented.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the problem is an emergency, customer is advised to call the OOH Helpdesk</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422874">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Customer feedback</a:t>
                      </a:r>
                    </a:p>
                    <a:p>
                      <a:pPr marL="0" algn="ctr" defTabSz="685800" rtl="0" eaLnBrk="1" fontAlgn="b" latinLnBrk="0" hangingPunct="1"/>
                      <a:r>
                        <a:rPr lang="en-GB" sz="1000" b="1" u="none" strike="noStrike" kern="1200" baseline="0">
                          <a:solidFill>
                            <a:schemeClr val="tx1"/>
                          </a:solidFill>
                          <a:effectLst/>
                          <a:latin typeface="+mj-lt"/>
                          <a:ea typeface="+mn-ea"/>
                          <a:cs typeface="+mn-cs"/>
                        </a:rPr>
                        <a:t>on service</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survey is sent to the customer upon completion of the job. On ‘day 1’, Grainger staff can also contact the customer directly to confirm completion of job</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Phase 2 scope – relies on Salesforce functionality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53199453"/>
                  </a:ext>
                </a:extLst>
              </a:tr>
              <a:tr h="799523">
                <a:tc rowSpan="5">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Receive / Accept</a:t>
                      </a:r>
                    </a:p>
                    <a:p>
                      <a:pPr marL="0" algn="ctr" defTabSz="685800" rtl="0" eaLnBrk="1" fontAlgn="b" latinLnBrk="0" hangingPunct="1"/>
                      <a:r>
                        <a:rPr lang="en-GB" sz="1000" b="1" u="none" strike="noStrike" kern="1200" baseline="0">
                          <a:solidFill>
                            <a:schemeClr val="tx1"/>
                          </a:solidFill>
                          <a:effectLst/>
                          <a:latin typeface="+mj-lt"/>
                          <a:ea typeface="+mn-ea"/>
                          <a:cs typeface="+mn-cs"/>
                        </a:rPr>
                        <a:t>Work Order</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notifies the supplier that they've been invited to complete a job.</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Supplier's instance of FSI (FSI Connect) provides the detail of the job to the supplier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 is able to accept / reject the job via FSI Connect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514902">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Orders parts</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supplier needs to procure parts to complete a service, FSI allows them to post quotes for the part in question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Granger approves quote through the 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64085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FSI Mobile Application</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Individual employees of the supplier can be assigned a job and receive instructions in their FSI Mobile app</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Info </a:t>
                      </a:r>
                      <a:r>
                        <a:rPr lang="en-GB" sz="800" u="none" strike="noStrike" kern="1200" baseline="0" err="1">
                          <a:solidFill>
                            <a:schemeClr val="tx1"/>
                          </a:solidFill>
                          <a:effectLst/>
                          <a:latin typeface="Montserrat" panose="00000500000000000000" pitchFamily="50" charset="0"/>
                          <a:ea typeface="+mn-ea"/>
                          <a:cs typeface="+mn-cs"/>
                        </a:rPr>
                        <a:t>iclude</a:t>
                      </a:r>
                      <a:r>
                        <a:rPr lang="en-GB" sz="800" u="none" strike="noStrike" kern="1200" baseline="0">
                          <a:solidFill>
                            <a:schemeClr val="tx1"/>
                          </a:solidFill>
                          <a:effectLst/>
                          <a:latin typeface="Montserrat" panose="00000500000000000000" pitchFamily="50" charset="0"/>
                          <a:ea typeface="+mn-ea"/>
                          <a:cs typeface="+mn-cs"/>
                        </a:rPr>
                        <a:t> customer's address, job instructions, access / hazard instructions, date and time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58972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Updates LoC</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 and Grainger can update the job status and change the LoC as events happen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 can provide updates straight from the FSI mobile application.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99211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Updates costs</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Upon completion, Supplier provides the actual cost of the service in FSI.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is the amount which will feature in the Purchase Order (PO - please see P2P process), and the amount Grainger will expect to see in the invoice.</a:t>
                      </a:r>
                    </a:p>
                    <a:p>
                      <a:pPr marL="171450" indent="-171450" algn="l" defTabSz="685800" rtl="0" eaLnBrk="1" fontAlgn="b" latinLnBrk="0" hangingPunct="1">
                        <a:spcBef>
                          <a:spcPts val="400"/>
                        </a:spcBef>
                        <a:buFontTx/>
                        <a:buChar char="-"/>
                      </a:pPr>
                      <a:r>
                        <a:rPr lang="en-GB" sz="800" b="1" i="1" u="none" strike="noStrike" kern="1200" baseline="0">
                          <a:solidFill>
                            <a:schemeClr val="tx1"/>
                          </a:solidFill>
                          <a:effectLst/>
                          <a:latin typeface="Montserrat" panose="00000500000000000000" pitchFamily="50" charset="0"/>
                          <a:ea typeface="+mn-ea"/>
                          <a:cs typeface="+mn-cs"/>
                        </a:rPr>
                        <a:t>It is vital that the supplier inputs the actual service amount in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39</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6.09 – Reactive Maintenance (2/2)</a:t>
            </a:r>
            <a:br>
              <a:rPr lang="en-GB"/>
            </a:br>
            <a:r>
              <a:rPr lang="en-GB" sz="2400" i="1"/>
              <a:t>Capability Summary</a:t>
            </a:r>
            <a:endParaRPr lang="en-GB" i="1"/>
          </a:p>
        </p:txBody>
      </p:sp>
      <p:sp>
        <p:nvSpPr>
          <p:cNvPr id="12" name="TextBox 11">
            <a:extLst>
              <a:ext uri="{FF2B5EF4-FFF2-40B4-BE49-F238E27FC236}">
                <a16:creationId xmlns:a16="http://schemas.microsoft.com/office/drawing/2014/main" id="{730557EE-0B2D-4A2D-B68E-591CC8E02011}"/>
              </a:ext>
            </a:extLst>
          </p:cNvPr>
          <p:cNvSpPr txBox="1"/>
          <p:nvPr/>
        </p:nvSpPr>
        <p:spPr>
          <a:xfrm>
            <a:off x="7470215" y="3683447"/>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pic>
        <p:nvPicPr>
          <p:cNvPr id="13" name="Picture 12" descr="A close up of a sign&#10;&#10;Description automatically generated">
            <a:extLst>
              <a:ext uri="{FF2B5EF4-FFF2-40B4-BE49-F238E27FC236}">
                <a16:creationId xmlns:a16="http://schemas.microsoft.com/office/drawing/2014/main" id="{B2FD0538-F257-463E-B49E-4CF0E5469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259" y="4521095"/>
            <a:ext cx="853062" cy="853062"/>
          </a:xfrm>
          <a:prstGeom prst="rect">
            <a:avLst/>
          </a:prstGeom>
        </p:spPr>
      </p:pic>
      <p:grpSp>
        <p:nvGrpSpPr>
          <p:cNvPr id="14" name="Group 13">
            <a:extLst>
              <a:ext uri="{FF2B5EF4-FFF2-40B4-BE49-F238E27FC236}">
                <a16:creationId xmlns:a16="http://schemas.microsoft.com/office/drawing/2014/main" id="{A0BA84DB-BD3E-43ED-9A2D-2C55EE6A8297}"/>
              </a:ext>
            </a:extLst>
          </p:cNvPr>
          <p:cNvGrpSpPr/>
          <p:nvPr/>
        </p:nvGrpSpPr>
        <p:grpSpPr>
          <a:xfrm>
            <a:off x="439772" y="3977715"/>
            <a:ext cx="988243" cy="595627"/>
            <a:chOff x="473014" y="4000073"/>
            <a:chExt cx="1295101" cy="853062"/>
          </a:xfrm>
        </p:grpSpPr>
        <p:pic>
          <p:nvPicPr>
            <p:cNvPr id="15" name="Picture 14" descr="A close up of a sign&#10;&#10;Description automatically generated">
              <a:extLst>
                <a:ext uri="{FF2B5EF4-FFF2-40B4-BE49-F238E27FC236}">
                  <a16:creationId xmlns:a16="http://schemas.microsoft.com/office/drawing/2014/main" id="{193AD871-B704-46A8-8383-7457A9461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014" y="4000073"/>
              <a:ext cx="853062" cy="853062"/>
            </a:xfrm>
            <a:prstGeom prst="rect">
              <a:avLst/>
            </a:prstGeom>
          </p:spPr>
        </p:pic>
        <p:sp>
          <p:nvSpPr>
            <p:cNvPr id="16" name="TextBox 15">
              <a:extLst>
                <a:ext uri="{FF2B5EF4-FFF2-40B4-BE49-F238E27FC236}">
                  <a16:creationId xmlns:a16="http://schemas.microsoft.com/office/drawing/2014/main" id="{BD1491FC-534A-48B7-8019-F3F20EA4B788}"/>
                </a:ext>
              </a:extLst>
            </p:cNvPr>
            <p:cNvSpPr txBox="1"/>
            <p:nvPr/>
          </p:nvSpPr>
          <p:spPr>
            <a:xfrm>
              <a:off x="868870" y="4204390"/>
              <a:ext cx="899245" cy="440801"/>
            </a:xfrm>
            <a:prstGeom prst="rect">
              <a:avLst/>
            </a:prstGeom>
            <a:solidFill>
              <a:schemeClr val="bg1"/>
            </a:solidFill>
          </p:spPr>
          <p:txBody>
            <a:bodyPr wrap="square" lIns="0" rIns="0" rtlCol="0">
              <a:spAutoFit/>
            </a:bodyPr>
            <a:lstStyle/>
            <a:p>
              <a:r>
                <a:rPr lang="en-GB" sz="1400">
                  <a:solidFill>
                    <a:srgbClr val="009BC0"/>
                  </a:solidFill>
                  <a:latin typeface="Arial" panose="020B0604020202020204" pitchFamily="34" charset="0"/>
                  <a:cs typeface="Arial" panose="020B0604020202020204" pitchFamily="34" charset="0"/>
                </a:rPr>
                <a:t>Connect</a:t>
              </a:r>
            </a:p>
          </p:txBody>
        </p:sp>
      </p:grpSp>
    </p:spTree>
    <p:extLst>
      <p:ext uri="{BB962C8B-B14F-4D97-AF65-F5344CB8AC3E}">
        <p14:creationId xmlns:p14="http://schemas.microsoft.com/office/powerpoint/2010/main" val="27861947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685555579"/>
              </p:ext>
            </p:extLst>
          </p:nvPr>
        </p:nvGraphicFramePr>
        <p:xfrm>
          <a:off x="358774" y="1169180"/>
          <a:ext cx="8426449" cy="5076867"/>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415332">
                  <a:extLst>
                    <a:ext uri="{9D8B030D-6E8A-4147-A177-3AD203B41FA5}">
                      <a16:colId xmlns:a16="http://schemas.microsoft.com/office/drawing/2014/main" val="394621022"/>
                    </a:ext>
                  </a:extLst>
                </a:gridCol>
                <a:gridCol w="3172571">
                  <a:extLst>
                    <a:ext uri="{9D8B030D-6E8A-4147-A177-3AD203B41FA5}">
                      <a16:colId xmlns:a16="http://schemas.microsoft.com/office/drawing/2014/main" val="2373659524"/>
                    </a:ext>
                  </a:extLst>
                </a:gridCol>
                <a:gridCol w="1304014">
                  <a:extLst>
                    <a:ext uri="{9D8B030D-6E8A-4147-A177-3AD203B41FA5}">
                      <a16:colId xmlns:a16="http://schemas.microsoft.com/office/drawing/2014/main" val="3700481437"/>
                    </a:ext>
                  </a:extLst>
                </a:gridCol>
                <a:gridCol w="1398461">
                  <a:extLst>
                    <a:ext uri="{9D8B030D-6E8A-4147-A177-3AD203B41FA5}">
                      <a16:colId xmlns:a16="http://schemas.microsoft.com/office/drawing/2014/main" val="2058356255"/>
                    </a:ext>
                  </a:extLst>
                </a:gridCol>
              </a:tblGrid>
              <a:tr h="36398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0">
                <a:tc rowSpan="2">
                  <a:txBody>
                    <a:bodyPr/>
                    <a:lstStyle/>
                    <a:p>
                      <a:pPr algn="ctr" fontAlgn="b"/>
                      <a:endParaRPr lang="en-GB" sz="700" b="1" i="0" u="none" strike="noStrike">
                        <a:solidFill>
                          <a:schemeClr val="bg1">
                            <a:lumMod val="50000"/>
                          </a:schemeClr>
                        </a:solidFill>
                        <a:effectLst/>
                        <a:latin typeface="Montserrat" panose="00000500000000000000" pitchFamily="50" charset="0"/>
                      </a:endParaRPr>
                    </a:p>
                    <a:p>
                      <a:pPr algn="ctr" fontAlgn="b"/>
                      <a:endParaRPr lang="en-GB" sz="700" b="1" i="0" u="none" strike="noStrike">
                        <a:solidFill>
                          <a:schemeClr val="bg1">
                            <a:lumMod val="50000"/>
                          </a:schemeClr>
                        </a:solidFill>
                        <a:effectLst/>
                        <a:latin typeface="Montserrat" panose="00000500000000000000" pitchFamily="50" charset="0"/>
                      </a:endParaRPr>
                    </a:p>
                    <a:p>
                      <a:pPr algn="ctr" fontAlgn="b"/>
                      <a:endParaRPr lang="en-GB" sz="700" b="1" i="0" u="none" strike="noStrike">
                        <a:solidFill>
                          <a:schemeClr val="bg1">
                            <a:lumMod val="50000"/>
                          </a:schemeClr>
                        </a:solidFill>
                        <a:effectLst/>
                        <a:latin typeface="Montserrat" panose="00000500000000000000" pitchFamily="50" charset="0"/>
                      </a:endParaRPr>
                    </a:p>
                    <a:p>
                      <a:pPr algn="ctr" fontAlgn="b"/>
                      <a:r>
                        <a:rPr lang="en-GB" sz="700" b="1" i="0" u="none" strike="noStrike" err="1">
                          <a:solidFill>
                            <a:schemeClr val="bg1">
                              <a:lumMod val="50000"/>
                            </a:schemeClr>
                          </a:solidFill>
                          <a:effectLst/>
                          <a:latin typeface="Montserrat" panose="00000500000000000000" pitchFamily="50" charset="0"/>
                        </a:rPr>
                        <a:t>Kier’s</a:t>
                      </a:r>
                      <a:r>
                        <a:rPr lang="en-GB" sz="700" b="1" i="0" u="none" strike="noStrike">
                          <a:solidFill>
                            <a:schemeClr val="bg1">
                              <a:lumMod val="50000"/>
                            </a:schemeClr>
                          </a:solidFill>
                          <a:effectLst/>
                          <a:latin typeface="Montserrat" panose="00000500000000000000" pitchFamily="50" charset="0"/>
                        </a:rPr>
                        <a:t> 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Handle Inbound comms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holds calls from all customers within the M25 and logs all reactive maintenance jobs directly in their 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rowSpan="10">
                  <a:txBody>
                    <a:bodyPr/>
                    <a:lstStyle/>
                    <a:p>
                      <a:pPr algn="ctr"/>
                      <a:r>
                        <a:rPr lang="en-GB" sz="1000" baseline="0">
                          <a:latin typeface="Montserrat" panose="00000500000000000000" pitchFamily="50" charset="0"/>
                          <a:hlinkClick r:id="rId2" action="ppaction://hlinkfile"/>
                        </a:rPr>
                        <a:t>Helpdesk - Confluence page</a:t>
                      </a:r>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94931517"/>
                  </a:ext>
                </a:extLst>
              </a:tr>
              <a:tr h="0">
                <a:tc vMerge="1">
                  <a:txBody>
                    <a:bodyPr/>
                    <a:lstStyle/>
                    <a:p>
                      <a:pPr algn="ctr" fontAlgn="b"/>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Handle bookings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will  book appointments directly with the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1921924958"/>
                  </a:ext>
                </a:extLst>
              </a:tr>
              <a:tr h="0">
                <a:tc rowSpan="2">
                  <a:txBody>
                    <a:bodyPr/>
                    <a:lstStyle/>
                    <a:p>
                      <a:pPr algn="ctr" fontAlgn="b"/>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Transfer customer data to Kier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will send update customer &amp; property data to the Kier system every night so Kier can deliver the services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1 – maintains today’s data link  with Kier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459503132"/>
                  </a:ext>
                </a:extLst>
              </a:tr>
              <a:tr h="0">
                <a:tc vMerge="1">
                  <a:txBody>
                    <a:bodyPr/>
                    <a:lstStyle/>
                    <a:p>
                      <a:pPr algn="ctr" fontAlgn="b"/>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Transfer jobs data to Kier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Calls to Grainger helpdesk from customers within the M25 are logged in FSI and details sent to </a:t>
                      </a:r>
                      <a:r>
                        <a:rPr lang="en-GB" sz="800" u="none" strike="noStrike" kern="1200" baseline="0" err="1">
                          <a:solidFill>
                            <a:schemeClr val="tx1"/>
                          </a:solidFill>
                          <a:effectLst/>
                          <a:latin typeface="Montserrat" panose="00000500000000000000" pitchFamily="50" charset="0"/>
                          <a:ea typeface="+mn-ea"/>
                          <a:cs typeface="+mn-cs"/>
                        </a:rPr>
                        <a:t>Kier's</a:t>
                      </a:r>
                      <a:r>
                        <a:rPr lang="en-GB" sz="800" u="none" strike="noStrike" kern="1200" baseline="0">
                          <a:solidFill>
                            <a:schemeClr val="tx1"/>
                          </a:solidFill>
                          <a:effectLst/>
                          <a:latin typeface="Montserrat" panose="00000500000000000000" pitchFamily="50" charset="0"/>
                          <a:ea typeface="+mn-ea"/>
                          <a:cs typeface="+mn-cs"/>
                        </a:rPr>
                        <a:t> system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Other cases raised in FSI within the M25 also sent to Kier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1 – maintains today’s data link  with Kier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lang="en-GB"/>
                    </a:p>
                  </a:txBody>
                  <a:tcPr/>
                </a:tc>
                <a:extLst>
                  <a:ext uri="{0D108BD9-81ED-4DB2-BD59-A6C34878D82A}">
                    <a16:rowId xmlns:a16="http://schemas.microsoft.com/office/drawing/2014/main" val="1983153505"/>
                  </a:ext>
                </a:extLst>
              </a:tr>
              <a:tr h="0">
                <a:tc rowSpan="6">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r>
                        <a:rPr lang="en-GB" sz="700" b="1" i="0" u="none" strike="noStrike" err="1">
                          <a:solidFill>
                            <a:schemeClr val="bg1">
                              <a:lumMod val="50000"/>
                            </a:schemeClr>
                          </a:solidFill>
                          <a:effectLst/>
                          <a:latin typeface="Montserrat" panose="00000500000000000000" pitchFamily="50" charset="0"/>
                        </a:rPr>
                        <a:t>Kier’s</a:t>
                      </a:r>
                      <a:r>
                        <a:rPr lang="en-GB" sz="700" b="1" i="0" u="none" strike="noStrike">
                          <a:solidFill>
                            <a:schemeClr val="bg1">
                              <a:lumMod val="50000"/>
                            </a:schemeClr>
                          </a:solidFill>
                          <a:effectLst/>
                          <a:latin typeface="Montserrat" panose="00000500000000000000" pitchFamily="50" charset="0"/>
                        </a:rPr>
                        <a:t> new</a:t>
                      </a:r>
                    </a:p>
                    <a:p>
                      <a:pPr marL="0" marR="0" lvl="0" indent="0" algn="ctr" defTabSz="685800" rtl="0" eaLnBrk="1" fontAlgn="b" latinLnBrk="0" hangingPunct="1">
                        <a:lnSpc>
                          <a:spcPct val="100000"/>
                        </a:lnSpc>
                        <a:spcBef>
                          <a:spcPts val="0"/>
                        </a:spcBef>
                        <a:spcAft>
                          <a:spcPts val="0"/>
                        </a:spcAft>
                        <a:buClrTx/>
                        <a:buSzTx/>
                        <a:buFontTx/>
                        <a:buNone/>
                        <a:tabLst/>
                        <a:defRPr/>
                      </a:pPr>
                      <a:r>
                        <a:rPr lang="en-GB" sz="700" b="1" i="0" u="none" strike="noStrike">
                          <a:solidFill>
                            <a:schemeClr val="bg1">
                              <a:lumMod val="50000"/>
                            </a:schemeClr>
                          </a:solidFill>
                          <a:effectLst/>
                          <a:latin typeface="Montserrat" panose="00000500000000000000" pitchFamily="50" charset="0"/>
                        </a:rPr>
                        <a:t>system</a:t>
                      </a:r>
                    </a:p>
                  </a:txBody>
                  <a:tcPr marL="108000" marR="360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Visibility of Kier jobs in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can log a ticket in their system which will automatically generate a Task in FSI for the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19575876"/>
                  </a:ext>
                </a:extLst>
              </a:tr>
              <a:tr h="0">
                <a:tc vMerge="1">
                  <a:txBody>
                    <a:bodyPr/>
                    <a:lstStyle/>
                    <a:p>
                      <a:pPr algn="ctr" fontAlgn="b"/>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Real time update on bookings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Bookings logged through Kier helpdesk will be send to FSI so that the customer portal can be updated.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82600808"/>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Updates LoC</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and Grainger can update the job and change the level of completion (LoC) as events happen.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can provide updates from their system into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61048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Quotes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jobs above a threshold, Kier submits a quote through their system that can be approved in FSI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Once the quote is approved, FSI will pass the approval onto </a:t>
                      </a:r>
                      <a:r>
                        <a:rPr lang="en-GB" sz="800" u="none" strike="noStrike" kern="1200" baseline="0" err="1">
                          <a:solidFill>
                            <a:schemeClr val="tx1"/>
                          </a:solidFill>
                          <a:effectLst/>
                          <a:latin typeface="Montserrat" panose="00000500000000000000" pitchFamily="50" charset="0"/>
                          <a:ea typeface="+mn-ea"/>
                          <a:cs typeface="+mn-cs"/>
                        </a:rPr>
                        <a:t>Kier's</a:t>
                      </a:r>
                      <a:r>
                        <a:rPr lang="en-GB" sz="800" u="none" strike="noStrike" kern="1200" baseline="0">
                          <a:solidFill>
                            <a:schemeClr val="tx1"/>
                          </a:solidFill>
                          <a:effectLst/>
                          <a:latin typeface="Montserrat" panose="00000500000000000000" pitchFamily="50" charset="0"/>
                          <a:ea typeface="+mn-ea"/>
                          <a:cs typeface="+mn-cs"/>
                        </a:rPr>
                        <a:t> system so works can progress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Updates costs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Upon completion, Kier provides the actual cost of the service in their system which will flow through to FSI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non-PPP jobs, this amount will feature in the PO from Granger and in the invoice from Kier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r h="0">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Gas Process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Planned Gas inspections logged into FSI will trigger a request into </a:t>
                      </a:r>
                      <a:r>
                        <a:rPr lang="en-GB" sz="800" u="none" strike="noStrike" kern="1200" baseline="0" err="1">
                          <a:solidFill>
                            <a:schemeClr val="tx1"/>
                          </a:solidFill>
                          <a:effectLst/>
                          <a:latin typeface="Montserrat" panose="00000500000000000000" pitchFamily="50" charset="0"/>
                          <a:ea typeface="+mn-ea"/>
                          <a:cs typeface="+mn-cs"/>
                        </a:rPr>
                        <a:t>Kier's</a:t>
                      </a:r>
                      <a:r>
                        <a:rPr lang="en-GB" sz="800" u="none" strike="noStrike" kern="1200" baseline="0">
                          <a:solidFill>
                            <a:schemeClr val="tx1"/>
                          </a:solidFill>
                          <a:effectLst/>
                          <a:latin typeface="Montserrat" panose="00000500000000000000" pitchFamily="50" charset="0"/>
                          <a:ea typeface="+mn-ea"/>
                          <a:cs typeface="+mn-cs"/>
                        </a:rPr>
                        <a:t> system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Kier assigns the job to their staff and updates LoC’s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can manage the process (e.g. send letters to the customer requesting access)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Full integration will be built after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vMerge="1">
                  <a:txBody>
                    <a:bodyPr/>
                    <a:lstStyle/>
                    <a:p>
                      <a:endParaRPr lang="en-GB"/>
                    </a:p>
                  </a:txBody>
                  <a:tcPr/>
                </a:tc>
                <a:extLst>
                  <a:ext uri="{0D108BD9-81ED-4DB2-BD59-A6C34878D82A}">
                    <a16:rowId xmlns:a16="http://schemas.microsoft.com/office/drawing/2014/main" val="1933699790"/>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40</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6.10 – 3</a:t>
            </a:r>
            <a:r>
              <a:rPr lang="en-GB" baseline="30000"/>
              <a:t>rd</a:t>
            </a:r>
            <a:r>
              <a:rPr lang="en-GB"/>
              <a:t> party Supplier (Kier)</a:t>
            </a:r>
            <a:br>
              <a:rPr lang="en-GB"/>
            </a:br>
            <a:r>
              <a:rPr lang="en-GB" sz="2400" i="1"/>
              <a:t>Capability Summary</a:t>
            </a:r>
            <a:endParaRPr lang="en-GB" i="1"/>
          </a:p>
        </p:txBody>
      </p:sp>
      <p:pic>
        <p:nvPicPr>
          <p:cNvPr id="11" name="Picture 16" descr="Image result for fsi concept evolution">
            <a:extLst>
              <a:ext uri="{FF2B5EF4-FFF2-40B4-BE49-F238E27FC236}">
                <a16:creationId xmlns:a16="http://schemas.microsoft.com/office/drawing/2014/main" id="{D071C881-C09A-46E2-8283-7444579FFC5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3855" y="2352393"/>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close up of a logo&#10;&#10;Description automatically generated">
            <a:extLst>
              <a:ext uri="{FF2B5EF4-FFF2-40B4-BE49-F238E27FC236}">
                <a16:creationId xmlns:a16="http://schemas.microsoft.com/office/drawing/2014/main" id="{440F9022-2288-44B6-8BE9-456A3E2181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855" y="1642469"/>
            <a:ext cx="855307" cy="236635"/>
          </a:xfrm>
          <a:prstGeom prst="rect">
            <a:avLst/>
          </a:prstGeom>
        </p:spPr>
      </p:pic>
      <p:pic>
        <p:nvPicPr>
          <p:cNvPr id="18" name="Picture 16" descr="Image result for fsi concept evolution">
            <a:extLst>
              <a:ext uri="{FF2B5EF4-FFF2-40B4-BE49-F238E27FC236}">
                <a16:creationId xmlns:a16="http://schemas.microsoft.com/office/drawing/2014/main" id="{04B8A47C-8812-403C-A01E-FA5FD38B1C6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1125" y="3982775"/>
            <a:ext cx="578037" cy="30766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close up of a logo&#10;&#10;Description automatically generated">
            <a:extLst>
              <a:ext uri="{FF2B5EF4-FFF2-40B4-BE49-F238E27FC236}">
                <a16:creationId xmlns:a16="http://schemas.microsoft.com/office/drawing/2014/main" id="{C4D8D2B6-1478-4013-96F8-386596DBC6A5}"/>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5289" y="4407737"/>
            <a:ext cx="940819" cy="571160"/>
          </a:xfrm>
          <a:prstGeom prst="rect">
            <a:avLst/>
          </a:prstGeom>
        </p:spPr>
      </p:pic>
      <p:cxnSp>
        <p:nvCxnSpPr>
          <p:cNvPr id="7" name="Straight Connector 6">
            <a:extLst>
              <a:ext uri="{FF2B5EF4-FFF2-40B4-BE49-F238E27FC236}">
                <a16:creationId xmlns:a16="http://schemas.microsoft.com/office/drawing/2014/main" id="{E31ED7F8-4031-4040-B915-5B0AE62AE589}"/>
              </a:ext>
            </a:extLst>
          </p:cNvPr>
          <p:cNvCxnSpPr>
            <a:endCxn id="19" idx="3"/>
          </p:cNvCxnSpPr>
          <p:nvPr/>
        </p:nvCxnSpPr>
        <p:spPr>
          <a:xfrm>
            <a:off x="572494" y="4269850"/>
            <a:ext cx="723614" cy="423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386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693673612"/>
              </p:ext>
            </p:extLst>
          </p:nvPr>
        </p:nvGraphicFramePr>
        <p:xfrm>
          <a:off x="358774" y="1169180"/>
          <a:ext cx="8426449" cy="5016934"/>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415332">
                  <a:extLst>
                    <a:ext uri="{9D8B030D-6E8A-4147-A177-3AD203B41FA5}">
                      <a16:colId xmlns:a16="http://schemas.microsoft.com/office/drawing/2014/main" val="394621022"/>
                    </a:ext>
                  </a:extLst>
                </a:gridCol>
                <a:gridCol w="3172571">
                  <a:extLst>
                    <a:ext uri="{9D8B030D-6E8A-4147-A177-3AD203B41FA5}">
                      <a16:colId xmlns:a16="http://schemas.microsoft.com/office/drawing/2014/main" val="2373659524"/>
                    </a:ext>
                  </a:extLst>
                </a:gridCol>
                <a:gridCol w="1359673">
                  <a:extLst>
                    <a:ext uri="{9D8B030D-6E8A-4147-A177-3AD203B41FA5}">
                      <a16:colId xmlns:a16="http://schemas.microsoft.com/office/drawing/2014/main" val="3700481437"/>
                    </a:ext>
                  </a:extLst>
                </a:gridCol>
                <a:gridCol w="1342802">
                  <a:extLst>
                    <a:ext uri="{9D8B030D-6E8A-4147-A177-3AD203B41FA5}">
                      <a16:colId xmlns:a16="http://schemas.microsoft.com/office/drawing/2014/main" val="2058356255"/>
                    </a:ext>
                  </a:extLst>
                </a:gridCol>
              </a:tblGrid>
              <a:tr h="282371">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138947">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200" b="1" i="0" u="none" strike="noStrike">
                          <a:solidFill>
                            <a:srgbClr val="000000"/>
                          </a:solidFill>
                          <a:effectLst/>
                          <a:latin typeface="Montserrat" panose="00000500000000000000" pitchFamily="50" charset="0"/>
                        </a:rPr>
                        <a:t>My</a:t>
                      </a:r>
                      <a:r>
                        <a:rPr lang="en-GB" sz="1200" b="1" i="0" u="none" strike="noStrike">
                          <a:solidFill>
                            <a:schemeClr val="bg1">
                              <a:lumMod val="50000"/>
                            </a:schemeClr>
                          </a:solidFill>
                          <a:effectLst/>
                          <a:latin typeface="Montserrat" panose="00000500000000000000" pitchFamily="50" charset="0"/>
                        </a:rPr>
                        <a:t>Grainger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Customer logs complaint</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MyGrainger portal will allow customer to make complaints using text box</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Grainger staff capture complaints from residents via phone / email / on-site</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Grainger staff triages MyGrainger complaints, logs them into FSI if not able to respond immediately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The triage of complaints from portal is not being planned for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296760743"/>
                  </a:ext>
                </a:extLst>
              </a:tr>
              <a:tr h="665913">
                <a:tc rowSpan="4">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Assign investigator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manages each complaint as if it were a job, with specific 'levels of completion' and a individual 'investigator' within Grainger.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768190">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Tracks status of complaint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captures every step of the investigation of the complaint with supporting detail.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At the end the investigator recommends whether the complaint is Upheld or Not Upheld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81002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Comms with customer and staff</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investigation is complete, the outcome will be informed to customers and staff</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is automated; but not every resolution will have a communication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76819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Approves compensation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investigator recommends a compensation is paid as a result of the complaint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approval for payment follow the same approval pathways / authorisation levels for works done in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583302">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Processes compensation payment</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process for paying compensation is similar to that of generating a refund from FSI. Compensation is allocated against a specific GL account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sng" strike="noStrike" baseline="0">
                          <a:solidFill>
                            <a:srgbClr val="0563C1"/>
                          </a:solidFill>
                          <a:effectLst/>
                          <a:latin typeface="Montserrat" panose="00000500000000000000" pitchFamily="50" charset="0"/>
                          <a:hlinkClick r:id="rId2"/>
                        </a:rPr>
                        <a:t>DDA decision</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41</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4.02 – Compliments &amp; Complaints</a:t>
            </a:r>
            <a:br>
              <a:rPr lang="en-GB"/>
            </a:br>
            <a:r>
              <a:rPr lang="en-GB" sz="2400" i="1"/>
              <a:t>Capability Summary</a:t>
            </a:r>
            <a:endParaRPr lang="en-GB" i="1"/>
          </a:p>
        </p:txBody>
      </p:sp>
      <p:pic>
        <p:nvPicPr>
          <p:cNvPr id="11" name="Picture 16" descr="Image result for fsi concept evolution">
            <a:extLst>
              <a:ext uri="{FF2B5EF4-FFF2-40B4-BE49-F238E27FC236}">
                <a16:creationId xmlns:a16="http://schemas.microsoft.com/office/drawing/2014/main" id="{E8794412-9B9A-46E3-A4D4-0EC3DA86D5E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9759" y="3965494"/>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Image result for proactis software">
            <a:extLst>
              <a:ext uri="{FF2B5EF4-FFF2-40B4-BE49-F238E27FC236}">
                <a16:creationId xmlns:a16="http://schemas.microsoft.com/office/drawing/2014/main" id="{061E2875-6653-4509-BED1-0AEFF70FBEDC}"/>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1483" y="5688820"/>
            <a:ext cx="833583" cy="34510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0DF8A7D-DCE8-4340-A775-DFDBDC68B952}"/>
              </a:ext>
            </a:extLst>
          </p:cNvPr>
          <p:cNvSpPr txBox="1"/>
          <p:nvPr/>
        </p:nvSpPr>
        <p:spPr>
          <a:xfrm>
            <a:off x="7438410" y="3481960"/>
            <a:ext cx="1023728" cy="338554"/>
          </a:xfrm>
          <a:prstGeom prst="rect">
            <a:avLst/>
          </a:prstGeom>
          <a:solidFill>
            <a:srgbClr val="FFFF00"/>
          </a:solidFill>
          <a:ln>
            <a:solidFill>
              <a:schemeClr val="tx1"/>
            </a:solidFill>
          </a:ln>
        </p:spPr>
        <p:txBody>
          <a:bodyPr wrap="square" rtlCol="0">
            <a:spAutoFit/>
          </a:bodyPr>
          <a:lstStyle/>
          <a:p>
            <a:pPr algn="ctr"/>
            <a:r>
              <a:rPr lang="en-GB" sz="800">
                <a:latin typeface="+mj-lt"/>
              </a:rPr>
              <a:t>Obtain links from Scott</a:t>
            </a:r>
          </a:p>
        </p:txBody>
      </p:sp>
    </p:spTree>
    <p:extLst>
      <p:ext uri="{BB962C8B-B14F-4D97-AF65-F5344CB8AC3E}">
        <p14:creationId xmlns:p14="http://schemas.microsoft.com/office/powerpoint/2010/main" val="19922289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545469435"/>
              </p:ext>
            </p:extLst>
          </p:nvPr>
        </p:nvGraphicFramePr>
        <p:xfrm>
          <a:off x="358774" y="1169180"/>
          <a:ext cx="8426449" cy="5040234"/>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415332">
                  <a:extLst>
                    <a:ext uri="{9D8B030D-6E8A-4147-A177-3AD203B41FA5}">
                      <a16:colId xmlns:a16="http://schemas.microsoft.com/office/drawing/2014/main" val="394621022"/>
                    </a:ext>
                  </a:extLst>
                </a:gridCol>
                <a:gridCol w="3172571">
                  <a:extLst>
                    <a:ext uri="{9D8B030D-6E8A-4147-A177-3AD203B41FA5}">
                      <a16:colId xmlns:a16="http://schemas.microsoft.com/office/drawing/2014/main" val="2373659524"/>
                    </a:ext>
                  </a:extLst>
                </a:gridCol>
                <a:gridCol w="914400">
                  <a:extLst>
                    <a:ext uri="{9D8B030D-6E8A-4147-A177-3AD203B41FA5}">
                      <a16:colId xmlns:a16="http://schemas.microsoft.com/office/drawing/2014/main" val="3700481437"/>
                    </a:ext>
                  </a:extLst>
                </a:gridCol>
                <a:gridCol w="1788075">
                  <a:extLst>
                    <a:ext uri="{9D8B030D-6E8A-4147-A177-3AD203B41FA5}">
                      <a16:colId xmlns:a16="http://schemas.microsoft.com/office/drawing/2014/main" val="2058356255"/>
                    </a:ext>
                  </a:extLst>
                </a:gridCol>
              </a:tblGrid>
              <a:tr h="38088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653461">
                <a:tc rowSpan="5">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Generates PO automatically from FSI work order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GREP delivers the FSI-approved WO to ProActis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automatically creates a Purchase Order (PO) to the supplier, with the same reference number and the same amount as the original WO</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65346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Creating and approving POs manually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Non-RM POs are created directly within ProActis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POs must be approved by a person with the right level of authority - if the creator of the PO doesn't have the authority the PO moves to higher levels.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783964">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Sending PO to supplier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send the PO via email to the supplier, advising the supplier to ensure their invoice quotes the PO number and matches the PO amount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also generates a PDF copy of the PO to store in the DMS for future reference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165399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Matches invoices to PO’s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scans the invoice received from the supplier to identify the PO number and invoice amount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attempts the automatic '3-way match’:</a:t>
                      </a:r>
                    </a:p>
                    <a:p>
                      <a:pPr marL="446088" lvl="1" indent="-103188" algn="l" defTabSz="685800" rtl="0" eaLnBrk="1" fontAlgn="b" latinLnBrk="0" hangingPunct="1">
                        <a:spcBef>
                          <a:spcPts val="40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the reference number in the invoice matches the PO in ProActis</a:t>
                      </a:r>
                    </a:p>
                    <a:p>
                      <a:pPr marL="446088" lvl="1" indent="-103188" algn="l" defTabSz="685800" rtl="0" eaLnBrk="1" fontAlgn="b" latinLnBrk="0" hangingPunct="1">
                        <a:spcBef>
                          <a:spcPts val="40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the amount in the invoice is equal or lower than what's outstanding against the PO (5% tolerance)</a:t>
                      </a:r>
                    </a:p>
                    <a:p>
                      <a:pPr marL="446088" lvl="1" indent="-103188" algn="l" defTabSz="685800" rtl="0" eaLnBrk="1" fontAlgn="b" latinLnBrk="0" hangingPunct="1">
                        <a:spcBef>
                          <a:spcPts val="40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the PO is approved for payment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the 3-way match is successful then the invoice is automatically sent to MRI for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91446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Manage Discrepancies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an invoice fails the '3-way match' - i.e. there is a discrepancy between the invoice and the PO - ProActis directs it to the last person to have approved it (i.e. the highest level approval in the PO)</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That person will be tasked to resolving the discrepancy (e.g. by requesting a new invoice or changing PO details)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42</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8.05 – Purchase to Pay (1/2)</a:t>
            </a:r>
            <a:br>
              <a:rPr lang="en-GB"/>
            </a:br>
            <a:r>
              <a:rPr lang="en-GB" sz="2400" i="1"/>
              <a:t>Capability Summary</a:t>
            </a:r>
            <a:endParaRPr lang="en-GB" i="1"/>
          </a:p>
        </p:txBody>
      </p:sp>
      <p:pic>
        <p:nvPicPr>
          <p:cNvPr id="12" name="Picture 12" descr="Image result for proactis software">
            <a:extLst>
              <a:ext uri="{FF2B5EF4-FFF2-40B4-BE49-F238E27FC236}">
                <a16:creationId xmlns:a16="http://schemas.microsoft.com/office/drawing/2014/main" id="{061E2875-6653-4509-BED1-0AEFF70FBED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1483" y="3627388"/>
            <a:ext cx="833583" cy="34510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0DF8A7D-DCE8-4340-A775-DFDBDC68B952}"/>
              </a:ext>
            </a:extLst>
          </p:cNvPr>
          <p:cNvSpPr txBox="1"/>
          <p:nvPr/>
        </p:nvSpPr>
        <p:spPr>
          <a:xfrm>
            <a:off x="7438410" y="3481960"/>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8917472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64753616"/>
              </p:ext>
            </p:extLst>
          </p:nvPr>
        </p:nvGraphicFramePr>
        <p:xfrm>
          <a:off x="358774" y="1169179"/>
          <a:ext cx="8426449" cy="4987072"/>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415332">
                  <a:extLst>
                    <a:ext uri="{9D8B030D-6E8A-4147-A177-3AD203B41FA5}">
                      <a16:colId xmlns:a16="http://schemas.microsoft.com/office/drawing/2014/main" val="394621022"/>
                    </a:ext>
                  </a:extLst>
                </a:gridCol>
                <a:gridCol w="2980260">
                  <a:extLst>
                    <a:ext uri="{9D8B030D-6E8A-4147-A177-3AD203B41FA5}">
                      <a16:colId xmlns:a16="http://schemas.microsoft.com/office/drawing/2014/main" val="2373659524"/>
                    </a:ext>
                  </a:extLst>
                </a:gridCol>
                <a:gridCol w="1106711">
                  <a:extLst>
                    <a:ext uri="{9D8B030D-6E8A-4147-A177-3AD203B41FA5}">
                      <a16:colId xmlns:a16="http://schemas.microsoft.com/office/drawing/2014/main" val="3700481437"/>
                    </a:ext>
                  </a:extLst>
                </a:gridCol>
                <a:gridCol w="1788075">
                  <a:extLst>
                    <a:ext uri="{9D8B030D-6E8A-4147-A177-3AD203B41FA5}">
                      <a16:colId xmlns:a16="http://schemas.microsoft.com/office/drawing/2014/main" val="2058356255"/>
                    </a:ext>
                  </a:extLst>
                </a:gridCol>
              </a:tblGrid>
              <a:tr h="389224">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435471">
                <a:tc rowSpan="4">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Process supplier invoice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Once approved, the relevant details of the PO will be sent to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integration will carry all necessary information for MRI to process the payment and allocate the payment against the right GL accounts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processes the payment via BACS transfer.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sng" strike="noStrike" baseline="0">
                          <a:solidFill>
                            <a:srgbClr val="0563C1"/>
                          </a:solidFill>
                          <a:effectLst/>
                          <a:latin typeface="Montserrat" panose="00000500000000000000" pitchFamily="50" charset="0"/>
                          <a:hlinkClick r:id="rId2"/>
                        </a:rPr>
                        <a:t>DDA decision</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r h="839283">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Updates invoice paid status in other systems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invoice is paid, the confirmation of payment is passed back via integration to the relevant systems (ProActis and FSI)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94898760"/>
                  </a:ext>
                </a:extLst>
              </a:tr>
              <a:tr h="135490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kern="1200" baseline="0">
                          <a:solidFill>
                            <a:schemeClr val="tx1"/>
                          </a:solidFill>
                          <a:effectLst/>
                          <a:latin typeface="+mj-lt"/>
                          <a:ea typeface="+mn-ea"/>
                          <a:cs typeface="+mn-cs"/>
                        </a:rPr>
                        <a:t>Apportionment of spend for common areas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FSI Spend needs to be allocated across multiple units in a building (e.g. common areas maintenance work), the integration applies pro-ration rules to split the value of the invoice across the relevant units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receives the broken down information and is able to register the spend at unit level.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317509"/>
                  </a:ext>
                </a:extLst>
              </a:tr>
              <a:tr h="968188">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1" u="none" strike="noStrike" kern="1200" baseline="0">
                          <a:solidFill>
                            <a:schemeClr val="tx1"/>
                          </a:solidFill>
                          <a:effectLst/>
                          <a:latin typeface="+mj-lt"/>
                          <a:ea typeface="+mn-ea"/>
                          <a:cs typeface="+mn-cs"/>
                        </a:rPr>
                        <a:t>Supplier remittances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will send remittances to suppliers via email once payments are made to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will NOT be sent via the Transactional Comms platform, given they are addressed to suppliers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sng" strike="noStrike" baseline="0">
                          <a:solidFill>
                            <a:srgbClr val="0563C1"/>
                          </a:solidFill>
                          <a:effectLst/>
                          <a:latin typeface="Montserrat" panose="00000500000000000000" pitchFamily="50" charset="0"/>
                          <a:hlinkClick r:id="rId3"/>
                        </a:rPr>
                        <a:t>DDA Decision</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29178050"/>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43</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8.05 – Purchase to Pay (2/2)</a:t>
            </a:r>
            <a:br>
              <a:rPr lang="en-GB"/>
            </a:br>
            <a:r>
              <a:rPr lang="en-GB" sz="2400" i="1"/>
              <a:t>Capability Summary</a:t>
            </a:r>
            <a:endParaRPr lang="en-GB" i="1"/>
          </a:p>
        </p:txBody>
      </p:sp>
      <p:sp>
        <p:nvSpPr>
          <p:cNvPr id="19" name="TextBox 18">
            <a:extLst>
              <a:ext uri="{FF2B5EF4-FFF2-40B4-BE49-F238E27FC236}">
                <a16:creationId xmlns:a16="http://schemas.microsoft.com/office/drawing/2014/main" id="{90DF8A7D-DCE8-4340-A775-DFDBDC68B952}"/>
              </a:ext>
            </a:extLst>
          </p:cNvPr>
          <p:cNvSpPr txBox="1"/>
          <p:nvPr/>
        </p:nvSpPr>
        <p:spPr>
          <a:xfrm>
            <a:off x="7438410" y="3481960"/>
            <a:ext cx="1023728" cy="215444"/>
          </a:xfrm>
          <a:prstGeom prst="rect">
            <a:avLst/>
          </a:prstGeom>
          <a:solidFill>
            <a:srgbClr val="FFFF00"/>
          </a:solidFill>
          <a:ln>
            <a:solidFill>
              <a:schemeClr val="tx1"/>
            </a:solidFill>
          </a:ln>
        </p:spPr>
        <p:txBody>
          <a:bodyPr wrap="square" rtlCol="0">
            <a:spAutoFit/>
          </a:bodyPr>
          <a:lstStyle/>
          <a:p>
            <a:pPr algn="ctr"/>
            <a:r>
              <a:rPr lang="en-GB" sz="800"/>
              <a:t>Populate links</a:t>
            </a:r>
          </a:p>
        </p:txBody>
      </p:sp>
      <p:pic>
        <p:nvPicPr>
          <p:cNvPr id="8" name="Picture 10" descr="Image result for mri software">
            <a:extLst>
              <a:ext uri="{FF2B5EF4-FFF2-40B4-BE49-F238E27FC236}">
                <a16:creationId xmlns:a16="http://schemas.microsoft.com/office/drawing/2014/main" id="{25A1E17B-0F8C-4A2D-BD63-D8A055AF2951}"/>
              </a:ext>
            </a:extLst>
          </p:cNvPr>
          <p:cNvPicPr>
            <a:picLocks noChangeAspect="1" noChangeArrowheads="1"/>
          </p:cNvPicPr>
          <p:nvPr/>
        </p:nvPicPr>
        <p:blipFill>
          <a:blip r:embed="rId4">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3766" y="3731797"/>
            <a:ext cx="645608" cy="34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218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48312F43-DBD4-4288-9071-36F44A6FA75C}"/>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0650" r="10650"/>
          <a:stretch>
            <a:fillRect/>
          </a:stretch>
        </p:blipFill>
        <p:spPr>
          <a:solidFill>
            <a:schemeClr val="bg1"/>
          </a:solidFill>
          <a:ln>
            <a:solidFill>
              <a:schemeClr val="bg1"/>
            </a:solidFill>
          </a:ln>
        </p:spPr>
      </p:pic>
      <p:sp>
        <p:nvSpPr>
          <p:cNvPr id="6" name="Title 5">
            <a:extLst>
              <a:ext uri="{FF2B5EF4-FFF2-40B4-BE49-F238E27FC236}">
                <a16:creationId xmlns:a16="http://schemas.microsoft.com/office/drawing/2014/main" id="{3B001709-B3B3-493C-BE2B-565B8EA1AB13}"/>
              </a:ext>
            </a:extLst>
          </p:cNvPr>
          <p:cNvSpPr>
            <a:spLocks noGrp="1"/>
          </p:cNvSpPr>
          <p:nvPr>
            <p:ph type="ctrTitle"/>
          </p:nvPr>
        </p:nvSpPr>
        <p:spPr/>
        <p:txBody>
          <a:bodyPr/>
          <a:lstStyle/>
          <a:p>
            <a:r>
              <a:rPr lang="en-GB"/>
              <a:t>Functionality Catalogue</a:t>
            </a:r>
            <a:br>
              <a:rPr lang="en-GB"/>
            </a:br>
            <a:br>
              <a:rPr lang="en-GB"/>
            </a:br>
            <a:r>
              <a:rPr lang="en-GB"/>
              <a:t>Collecting</a:t>
            </a:r>
            <a:br>
              <a:rPr lang="en-GB"/>
            </a:br>
            <a:r>
              <a:rPr lang="en-GB"/>
              <a:t>Payments</a:t>
            </a:r>
          </a:p>
        </p:txBody>
      </p:sp>
      <p:sp>
        <p:nvSpPr>
          <p:cNvPr id="3" name="Footer Placeholder 2">
            <a:extLst>
              <a:ext uri="{FF2B5EF4-FFF2-40B4-BE49-F238E27FC236}">
                <a16:creationId xmlns:a16="http://schemas.microsoft.com/office/drawing/2014/main" id="{9E00C884-1D70-4751-8308-745B2D68B4C7}"/>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CE8F6C27-0003-44DE-8767-30B4D89EA994}"/>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44</a:t>
            </a:fld>
            <a:endParaRPr lang="en-GB"/>
          </a:p>
        </p:txBody>
      </p:sp>
    </p:spTree>
    <p:extLst>
      <p:ext uri="{BB962C8B-B14F-4D97-AF65-F5344CB8AC3E}">
        <p14:creationId xmlns:p14="http://schemas.microsoft.com/office/powerpoint/2010/main" val="180777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4081252621"/>
              </p:ext>
            </p:extLst>
          </p:nvPr>
        </p:nvGraphicFramePr>
        <p:xfrm>
          <a:off x="358774" y="1169180"/>
          <a:ext cx="8426449" cy="513385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99545">
                  <a:extLst>
                    <a:ext uri="{9D8B030D-6E8A-4147-A177-3AD203B41FA5}">
                      <a16:colId xmlns:a16="http://schemas.microsoft.com/office/drawing/2014/main" val="2373659524"/>
                    </a:ext>
                  </a:extLst>
                </a:gridCol>
                <a:gridCol w="1199626">
                  <a:extLst>
                    <a:ext uri="{9D8B030D-6E8A-4147-A177-3AD203B41FA5}">
                      <a16:colId xmlns:a16="http://schemas.microsoft.com/office/drawing/2014/main" val="3700481437"/>
                    </a:ext>
                  </a:extLst>
                </a:gridCol>
                <a:gridCol w="1117685">
                  <a:extLst>
                    <a:ext uri="{9D8B030D-6E8A-4147-A177-3AD203B41FA5}">
                      <a16:colId xmlns:a16="http://schemas.microsoft.com/office/drawing/2014/main" val="2058356255"/>
                    </a:ext>
                  </a:extLst>
                </a:gridCol>
              </a:tblGrid>
              <a:tr h="36398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756568">
                <a:tc rowSpan="7">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Recurring charges</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recurring charges tables hold the frequency, start / end dates and amounts for all recurring charges.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Recurring charges are added upon creation of a lease or manually.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routine in MRI raises the individual charges from the recurring charge table on the right dates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510214">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Billing Periods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RM module in MRI cannot support weekly billing, but the CM module can process a vast array of frequencies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Some residential tenues (e.g. regulated) are held in the CM module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GB" sz="1000" baseline="0">
                          <a:latin typeface="Montserrat" panose="00000500000000000000" pitchFamily="50" charset="0"/>
                        </a:rPr>
                        <a:t>(RM/CM Split)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514902">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Charge apportionment across financial periods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RM module allows 2 different 'billing methods', which can be selected individually for a lease in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the online leasing journey it defaults to bill on 1</a:t>
                      </a:r>
                      <a:r>
                        <a:rPr lang="en-GB" sz="800" u="none" strike="noStrike" kern="1200" baseline="30000">
                          <a:solidFill>
                            <a:schemeClr val="tx1"/>
                          </a:solidFill>
                          <a:effectLst/>
                          <a:latin typeface="Montserrat" panose="00000500000000000000" pitchFamily="50" charset="0"/>
                          <a:ea typeface="+mn-ea"/>
                          <a:cs typeface="+mn-cs"/>
                        </a:rPr>
                        <a:t>st</a:t>
                      </a:r>
                      <a:r>
                        <a:rPr lang="en-GB" sz="800" u="none" strike="noStrike" kern="1200" baseline="0">
                          <a:solidFill>
                            <a:schemeClr val="tx1"/>
                          </a:solidFill>
                          <a:effectLst/>
                          <a:latin typeface="Montserrat" panose="00000500000000000000" pitchFamily="50" charset="0"/>
                          <a:ea typeface="+mn-ea"/>
                          <a:cs typeface="+mn-cs"/>
                        </a:rPr>
                        <a:t> of the month</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‘pro-rates' charges to reflect the period they refer to (</a:t>
                      </a:r>
                      <a:r>
                        <a:rPr lang="en-GB" sz="800" u="none" strike="noStrike" kern="1200" baseline="0" err="1">
                          <a:solidFill>
                            <a:schemeClr val="tx1"/>
                          </a:solidFill>
                          <a:effectLst/>
                          <a:latin typeface="Montserrat" panose="00000500000000000000" pitchFamily="50" charset="0"/>
                          <a:ea typeface="+mn-ea"/>
                          <a:cs typeface="+mn-cs"/>
                        </a:rPr>
                        <a:t>e,g</a:t>
                      </a:r>
                      <a:r>
                        <a:rPr lang="en-GB" sz="800" u="none" strike="noStrike" kern="1200" baseline="0">
                          <a:solidFill>
                            <a:schemeClr val="tx1"/>
                          </a:solidFill>
                          <a:effectLst/>
                          <a:latin typeface="Montserrat" panose="00000500000000000000" pitchFamily="50" charset="0"/>
                          <a:ea typeface="+mn-ea"/>
                          <a:cs typeface="+mn-cs"/>
                        </a:rPr>
                        <a:t>, a move-in on the 17</a:t>
                      </a:r>
                      <a:r>
                        <a:rPr lang="en-GB" sz="800" u="none" strike="noStrike" kern="1200" baseline="30000">
                          <a:solidFill>
                            <a:schemeClr val="tx1"/>
                          </a:solidFill>
                          <a:effectLst/>
                          <a:latin typeface="Montserrat" panose="00000500000000000000" pitchFamily="50" charset="0"/>
                          <a:ea typeface="+mn-ea"/>
                          <a:cs typeface="+mn-cs"/>
                        </a:rPr>
                        <a:t>th</a:t>
                      </a:r>
                      <a:r>
                        <a:rPr lang="en-GB" sz="800" u="none" strike="noStrike" kern="1200" baseline="0">
                          <a:solidFill>
                            <a:schemeClr val="tx1"/>
                          </a:solidFill>
                          <a:effectLst/>
                          <a:latin typeface="Montserrat" panose="00000500000000000000" pitchFamily="50" charset="0"/>
                          <a:ea typeface="+mn-ea"/>
                          <a:cs typeface="+mn-cs"/>
                        </a:rPr>
                        <a:t> April will count 14 days rent)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supports two proration methods: monthly and annual. We default to monthly proration.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64085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Charge Code / Income Categories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Charge Codes (RM module) and Income Categories (CM module) identify the charge for accounting purposes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Examples: rent in advance, concessions, deposits, one-off fees, service charges, recharges,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collection charge codes can be edited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58972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One-off charges, Recharges. Concessions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One-off charges and concessions are raised manually by the Grainger user as a result of a business process / event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Recharges are </a:t>
                      </a:r>
                      <a:r>
                        <a:rPr lang="en-GB" sz="800" u="none" strike="noStrike" kern="1200" baseline="0" err="1">
                          <a:solidFill>
                            <a:schemeClr val="tx1"/>
                          </a:solidFill>
                          <a:effectLst/>
                          <a:latin typeface="Montserrat" panose="00000500000000000000" pitchFamily="50" charset="0"/>
                          <a:ea typeface="+mn-ea"/>
                          <a:cs typeface="+mn-cs"/>
                        </a:rPr>
                        <a:t>creted</a:t>
                      </a:r>
                      <a:r>
                        <a:rPr lang="en-GB" sz="800" u="none" strike="noStrike" kern="1200" baseline="0">
                          <a:solidFill>
                            <a:schemeClr val="tx1"/>
                          </a:solidFill>
                          <a:effectLst/>
                          <a:latin typeface="Montserrat" panose="00000500000000000000" pitchFamily="50" charset="0"/>
                          <a:ea typeface="+mn-ea"/>
                          <a:cs typeface="+mn-cs"/>
                        </a:rPr>
                        <a:t> against a payment made by Grainger to a 3</a:t>
                      </a:r>
                      <a:r>
                        <a:rPr lang="en-GB" sz="800" u="none" strike="noStrike" kern="1200" baseline="30000">
                          <a:solidFill>
                            <a:schemeClr val="tx1"/>
                          </a:solidFill>
                          <a:effectLst/>
                          <a:latin typeface="Montserrat" panose="00000500000000000000" pitchFamily="50" charset="0"/>
                          <a:ea typeface="+mn-ea"/>
                          <a:cs typeface="+mn-cs"/>
                        </a:rPr>
                        <a:t>rd</a:t>
                      </a:r>
                      <a:r>
                        <a:rPr lang="en-GB" sz="800" u="none" strike="noStrike" kern="1200" baseline="0">
                          <a:solidFill>
                            <a:schemeClr val="tx1"/>
                          </a:solidFill>
                          <a:effectLst/>
                          <a:latin typeface="Montserrat" panose="00000500000000000000" pitchFamily="50" charset="0"/>
                          <a:ea typeface="+mn-ea"/>
                          <a:cs typeface="+mn-cs"/>
                        </a:rPr>
                        <a:t> party (e.g. utilities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496058">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VAT</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charges that incur VAT, MRI will raise the VAT element as a separate charge and the payments need to be recorded split against each charge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Automatic split of VAT from DD / card payments front-end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GB" sz="1000" b="0" i="0" u="sng" strike="noStrike" baseline="0">
                          <a:solidFill>
                            <a:srgbClr val="0563C1"/>
                          </a:solidFill>
                          <a:effectLst/>
                          <a:latin typeface="Montserrat" panose="00000500000000000000" pitchFamily="50" charset="0"/>
                          <a:hlinkClick r:id="rId2"/>
                        </a:rPr>
                        <a:t>DDA decision</a:t>
                      </a: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4399446"/>
                  </a:ext>
                </a:extLst>
              </a:tr>
              <a:tr h="496058">
                <a:tc vMerge="1">
                  <a:txBody>
                    <a:bodyPr/>
                    <a:lstStyle/>
                    <a:p>
                      <a:endParaRPr lang="en-GB"/>
                    </a:p>
                  </a:txBody>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Invoices</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can create invoices for the charges that require it. Invoices are generated using pre-defined templates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transactional comms platform send them to the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9366914"/>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45</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3.01 – Raising Charges</a:t>
            </a:r>
            <a:br>
              <a:rPr lang="en-GB"/>
            </a:br>
            <a:r>
              <a:rPr lang="en-GB" sz="2400" i="1"/>
              <a:t>Capability Summary</a:t>
            </a:r>
            <a:endParaRPr lang="en-GB" i="1"/>
          </a:p>
        </p:txBody>
      </p:sp>
      <p:pic>
        <p:nvPicPr>
          <p:cNvPr id="10" name="Picture 10" descr="Image result for mri software">
            <a:extLst>
              <a:ext uri="{FF2B5EF4-FFF2-40B4-BE49-F238E27FC236}">
                <a16:creationId xmlns:a16="http://schemas.microsoft.com/office/drawing/2014/main" id="{26F31C82-696F-4A89-ABB6-2455E9E2D2BA}"/>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3766" y="3731797"/>
            <a:ext cx="645608" cy="3497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914C706-6901-4E14-ADC0-8E1348E9606B}"/>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8304001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911514939"/>
              </p:ext>
            </p:extLst>
          </p:nvPr>
        </p:nvGraphicFramePr>
        <p:xfrm>
          <a:off x="358774" y="1169178"/>
          <a:ext cx="8426449" cy="5097397"/>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39964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116368">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200" b="1" i="0" u="none" strike="noStrike">
                          <a:solidFill>
                            <a:srgbClr val="000000"/>
                          </a:solidFill>
                          <a:effectLst/>
                          <a:latin typeface="Montserrat" panose="00000500000000000000" pitchFamily="50" charset="0"/>
                        </a:rPr>
                        <a:t>My</a:t>
                      </a:r>
                      <a:r>
                        <a:rPr lang="en-GB" sz="1200" b="1" i="0" u="none" strike="noStrike">
                          <a:solidFill>
                            <a:schemeClr val="bg1">
                              <a:lumMod val="50000"/>
                            </a:schemeClr>
                          </a:solidFill>
                          <a:effectLst/>
                          <a:latin typeface="Montserrat" panose="00000500000000000000" pitchFamily="50" charset="0"/>
                        </a:rPr>
                        <a:t>Grainger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Customer create &amp; amend DD instructions</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Applicants in the leasing journey, as well as existing tenants, can setup their DD instructions online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web-apps expose the iframe from Asperato, pre-populated with info about the customer and the charge.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customer only inputs their bank details and authorisation.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Existing tenants are also able to amend their DD mandates via the </a:t>
                      </a:r>
                      <a:r>
                        <a:rPr lang="en-GB" sz="800" u="none" strike="noStrike" kern="1200" baseline="0" err="1">
                          <a:solidFill>
                            <a:schemeClr val="tx1"/>
                          </a:solidFill>
                          <a:effectLst/>
                          <a:latin typeface="Montserrat" panose="00000500000000000000" pitchFamily="50" charset="0"/>
                          <a:ea typeface="+mn-ea"/>
                          <a:cs typeface="+mn-cs"/>
                        </a:rPr>
                        <a:t>MyGranger</a:t>
                      </a:r>
                      <a:r>
                        <a:rPr lang="en-GB" sz="800" u="none" strike="noStrike" kern="1200" baseline="0">
                          <a:solidFill>
                            <a:schemeClr val="tx1"/>
                          </a:solidFill>
                          <a:effectLst/>
                          <a:latin typeface="Montserrat" panose="00000500000000000000" pitchFamily="50" charset="0"/>
                          <a:ea typeface="+mn-ea"/>
                          <a:cs typeface="+mn-cs"/>
                        </a:rPr>
                        <a:t> portal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Integration with MyGrainger portal to amend DD mandates won’t be there for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1272507">
                <a:tc rowSpan="4">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DD Mandates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Asperato creates the DD Mandate requests to be completed either by the customer (via portal) or by the Grainger employee.DD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Requests are created automatically in the leasing journey, by a customer using the portal, or manually by a Grainger Employee.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DD Mandates are linked to one specific SUN (Service User Number) that identifies the Grainger bank account payments will be credited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Asperato can amend DD authorisations from the integration with MyGrainger portal, or manually from the Grainger employee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1326388">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DD Schedules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DD Schedules hold the collections that will be taken from the customer. One DD Mandate can have multiple DD Schedules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DD Schedule is linked to one charge code / income category.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Sharers can have DD schedules for just their portion of the rent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Schedules are created automatically in the leasing journey, by a customer using the portal, or manually by a Grainger Employee.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 plans are created as an additional DD schedule against the customer, with a specific charge code associated with it.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518183">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One-off charges via DD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One-off charges raised in MRI will be collected via DD using the customer’s existing DD mandate if they have an active one.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Otherwise a card payment will be requested.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Phase 2 – subject to DDA decision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46430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Requesting DD refunds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Grainger employees can refund (fully or partially) a payment that has been made via DD – these will be input manually against the original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46</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3.01 – Payments: Direct Debit (1/2)</a:t>
            </a:r>
            <a:br>
              <a:rPr lang="en-GB"/>
            </a:br>
            <a:r>
              <a:rPr lang="en-GB" sz="2400" i="1"/>
              <a:t>Capability Summary</a:t>
            </a:r>
            <a:endParaRPr lang="en-GB" i="1"/>
          </a:p>
        </p:txBody>
      </p:sp>
      <p:pic>
        <p:nvPicPr>
          <p:cNvPr id="10" name="Graphic 9">
            <a:extLst>
              <a:ext uri="{FF2B5EF4-FFF2-40B4-BE49-F238E27FC236}">
                <a16:creationId xmlns:a16="http://schemas.microsoft.com/office/drawing/2014/main" id="{954AE3B6-E530-48A6-9FB3-BE8E5A9822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8772" y="4294653"/>
            <a:ext cx="1139064" cy="315610"/>
          </a:xfrm>
          <a:prstGeom prst="rect">
            <a:avLst/>
          </a:prstGeom>
        </p:spPr>
      </p:pic>
      <p:sp>
        <p:nvSpPr>
          <p:cNvPr id="13" name="TextBox 12">
            <a:extLst>
              <a:ext uri="{FF2B5EF4-FFF2-40B4-BE49-F238E27FC236}">
                <a16:creationId xmlns:a16="http://schemas.microsoft.com/office/drawing/2014/main" id="{966CBA6E-06FD-41C9-9BBE-02CDB390B838}"/>
              </a:ext>
            </a:extLst>
          </p:cNvPr>
          <p:cNvSpPr txBox="1"/>
          <p:nvPr/>
        </p:nvSpPr>
        <p:spPr>
          <a:xfrm>
            <a:off x="7805158" y="1502376"/>
            <a:ext cx="1023728" cy="215444"/>
          </a:xfrm>
          <a:prstGeom prst="rect">
            <a:avLst/>
          </a:prstGeom>
          <a:solidFill>
            <a:srgbClr val="FFFF00"/>
          </a:solidFill>
          <a:ln>
            <a:solidFill>
              <a:schemeClr val="tx1"/>
            </a:solidFill>
          </a:ln>
        </p:spPr>
        <p:txBody>
          <a:bodyPr wrap="square" rtlCol="0">
            <a:spAutoFit/>
          </a:bodyPr>
          <a:lstStyle/>
          <a:p>
            <a:pPr algn="ctr"/>
            <a:r>
              <a:rPr lang="en-GB" sz="800">
                <a:latin typeface="+mj-lt"/>
              </a:rPr>
              <a:t>Complete</a:t>
            </a:r>
          </a:p>
        </p:txBody>
      </p:sp>
    </p:spTree>
    <p:extLst>
      <p:ext uri="{BB962C8B-B14F-4D97-AF65-F5344CB8AC3E}">
        <p14:creationId xmlns:p14="http://schemas.microsoft.com/office/powerpoint/2010/main" val="4217407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1110910499"/>
              </p:ext>
            </p:extLst>
          </p:nvPr>
        </p:nvGraphicFramePr>
        <p:xfrm>
          <a:off x="358774" y="1169177"/>
          <a:ext cx="8426449" cy="5060668"/>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426529">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096124">
                <a:tc rowSpan="3">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Collect payments via Direct Debit</a:t>
                      </a:r>
                    </a:p>
                  </a:txBody>
                  <a:tcPr marL="6350" marR="635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DD payments are automatically collected from the customer's bank account on the day stated in their DD schedule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GoCardless takes 3 working days to process the payment. Grainger employees can track the status of each payment in process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Successful payments are credited to Grainger's bank account (as per the SUN) and appear in the customer's bank statement as a 'Grainger Direct Debit'"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1096125">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Handle DD cancellations made directly with the bank</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customers dispute a payment with the bank or cancel their DD mandate altogether, GoCardless is notified immediately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Disputed amounts are refunded by GoCardless and deducted from the next payment batch</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 the case of DD Mandated cancelled with the bank, Grainger must engage the customer to open a new DD Mandate or arrange an alternative method of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597327">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Send customer notifications on DD payments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From the moment a DD Mandate is created, GoCardless manage all relevant transaction notifications with the customer via email, including: DD mandate / schedule created;  DD Mandate cancelled / expired; DD Mandate reinstated. (Grainger will manage non-email)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541475">
                <a:tc rowSpan="3">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Account for DD payments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Payments collected via Direct Debit will be allocated automatically in MRI, provided they carry all necessary information (customer account, charge code, and General Ledger account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65154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Handle rejected / failed payments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Failed payments will be reported by GoCardless as failed and no £ will be collected against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will register that payment failure by capturing the attempted collection and the failure, showing the charge still outstanding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651544">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Account for DD refunds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will account for that refund in a similar way it does the failed collection - by showing the refund aside the original collection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the refund is associated with the cancellation of the respective MRI charge, that is done manually in MRI as well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0216769"/>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47</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3.01 – Payments: Direct Debit (2/2)</a:t>
            </a:r>
            <a:br>
              <a:rPr lang="en-GB"/>
            </a:br>
            <a:r>
              <a:rPr lang="en-GB" sz="2400" i="1"/>
              <a:t>Capability Summary</a:t>
            </a:r>
            <a:endParaRPr lang="en-GB" i="1"/>
          </a:p>
        </p:txBody>
      </p:sp>
      <p:pic>
        <p:nvPicPr>
          <p:cNvPr id="7" name="Picture 6" descr="A picture containing drawing&#10;&#10;Description automatically generated">
            <a:extLst>
              <a:ext uri="{FF2B5EF4-FFF2-40B4-BE49-F238E27FC236}">
                <a16:creationId xmlns:a16="http://schemas.microsoft.com/office/drawing/2014/main" id="{BF1118B2-547C-46A7-BB5F-EF4F81E93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241" y="2735150"/>
            <a:ext cx="972445" cy="486221"/>
          </a:xfrm>
          <a:prstGeom prst="rect">
            <a:avLst/>
          </a:prstGeom>
        </p:spPr>
      </p:pic>
      <p:pic>
        <p:nvPicPr>
          <p:cNvPr id="8" name="Picture 10" descr="Image result for mri software">
            <a:extLst>
              <a:ext uri="{FF2B5EF4-FFF2-40B4-BE49-F238E27FC236}">
                <a16:creationId xmlns:a16="http://schemas.microsoft.com/office/drawing/2014/main" id="{9EB05935-B143-47D7-AA33-82AEEC7C93BA}"/>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88659" y="5099202"/>
            <a:ext cx="645608" cy="3497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5B2B08D-AD60-4CC7-96A5-596E72C4B08D}"/>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25321729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941126462"/>
              </p:ext>
            </p:extLst>
          </p:nvPr>
        </p:nvGraphicFramePr>
        <p:xfrm>
          <a:off x="358774" y="1169177"/>
          <a:ext cx="8426449" cy="5072231"/>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456205">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283233">
                <a:tc rowSpan="3">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Credit / Debit Card payment requests</a:t>
                      </a:r>
                    </a:p>
                  </a:txBody>
                  <a:tcPr marL="36000" marR="36000" marT="635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Asperato creates payment requests automatically when certain one-off charges are raised in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card payment request has a link to an 'iframe’ (web form) and can be presented to the customer in multiple ways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customer can fulfil the payment details themselves or the Grainger employee can do it on the customer behalf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Card information is handled securely; Every card payment links to the charge code / income category it will be allocated to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403016">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Payment confirmation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We get immediate confirmation that the payment was successful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sends an email receipt for every card payment received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337814">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Card refunds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Grainger employee can refund a payment which had been taken by card, by the same process used to create the payment request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403016">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Processing Card payments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Sage Pay processes Card payments from </a:t>
                      </a:r>
                      <a:r>
                        <a:rPr lang="en-GB" sz="800" u="none" strike="noStrike" kern="1200" baseline="0" err="1">
                          <a:solidFill>
                            <a:schemeClr val="tx1"/>
                          </a:solidFill>
                          <a:effectLst/>
                          <a:latin typeface="Montserrat" panose="00000500000000000000" pitchFamily="50" charset="0"/>
                          <a:ea typeface="+mn-ea"/>
                          <a:cs typeface="+mn-cs"/>
                        </a:rPr>
                        <a:t>Asperato’s</a:t>
                      </a:r>
                      <a:r>
                        <a:rPr lang="en-GB" sz="800" u="none" strike="noStrike" kern="1200" baseline="0">
                          <a:solidFill>
                            <a:schemeClr val="tx1"/>
                          </a:solidFill>
                          <a:effectLst/>
                          <a:latin typeface="Montserrat" panose="00000500000000000000" pitchFamily="50" charset="0"/>
                          <a:ea typeface="+mn-ea"/>
                          <a:cs typeface="+mn-cs"/>
                        </a:rPr>
                        <a:t> instructions</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All card payments are credited to a single bank account in Grainger.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522551">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Reconciling Card payments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Sage Pay provides a detailed report of all payments collected / refunded in a given period and credited to Grainger's bank account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finance back office moves funds into the correct bank accounts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522551">
                <a:tc rowSpan="4">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Bank Transfers / Standing Orders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Payments made via bank transfer (BACS) or Standing Orders are consolidated using a specific template that is uploaded into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Finance manually converting the bank inputs into the MRI template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260499861"/>
                  </a:ext>
                </a:extLst>
              </a:tr>
              <a:tr h="337814">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Cheques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Cheques are manually registered / scanned by Grainger employee, and details are input for each payment into MRI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720216769"/>
                  </a:ext>
                </a:extLst>
              </a:tr>
              <a:tr h="33781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All Pay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 made via ALL PAY are converted into a template that can be uploaded into MRI (similar process to BACS / Standing Order)</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468217">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Housing Benefit / Universal Credit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Housing Benefit / Universal Credit is paid directly into Grainger, the process to convert the data into a template and upload it into MRI is similar to that used for Bank Transfers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96801418"/>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48</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3.01 – Payments: Non-Direct Debit </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9EB05935-B143-47D7-AA33-82AEEC7C93BA}"/>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88659" y="5166314"/>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EC096711-1F72-48D8-8E5B-99AAC4FE93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772" y="2549741"/>
            <a:ext cx="1139064" cy="315610"/>
          </a:xfrm>
          <a:prstGeom prst="rect">
            <a:avLst/>
          </a:prstGeom>
        </p:spPr>
      </p:pic>
      <p:pic>
        <p:nvPicPr>
          <p:cNvPr id="10" name="Picture 9" descr="A close up of a logo&#10;&#10;Description automatically generated">
            <a:extLst>
              <a:ext uri="{FF2B5EF4-FFF2-40B4-BE49-F238E27FC236}">
                <a16:creationId xmlns:a16="http://schemas.microsoft.com/office/drawing/2014/main" id="{FABA12E5-27DF-4F90-8909-571ADB510D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115" y="3882541"/>
            <a:ext cx="950378" cy="475189"/>
          </a:xfrm>
          <a:prstGeom prst="rect">
            <a:avLst/>
          </a:prstGeom>
        </p:spPr>
      </p:pic>
      <p:sp>
        <p:nvSpPr>
          <p:cNvPr id="12" name="TextBox 11">
            <a:extLst>
              <a:ext uri="{FF2B5EF4-FFF2-40B4-BE49-F238E27FC236}">
                <a16:creationId xmlns:a16="http://schemas.microsoft.com/office/drawing/2014/main" id="{09C9478B-3D65-4717-9C1C-DE23B51514FC}"/>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10027700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116242976"/>
              </p:ext>
            </p:extLst>
          </p:nvPr>
        </p:nvGraphicFramePr>
        <p:xfrm>
          <a:off x="358774" y="1169176"/>
          <a:ext cx="8426449" cy="5013509"/>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390174">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645631">
                <a:tc rowSpan="4">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Identifying charges in Arrears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calculates due dates differently for some leasehold tenures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Credit Control Dashboard will capture all charges due prior to the date the dashboard is refreshed.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2364209">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Credit Control Dashboard (CCD)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CCD allows visualisation / action on all arrears activity relevant to a credit controller or property manager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It consolidates information from the RM, CM and CAR modules, and aggregates information at the customer level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CCD allows he user to navigate 3 levels of detail. The highest one shows the broader picture of all relevant arrears, the lowest gives access to specific information on an account’s history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CCD facilitates registering the events / customer engagement that happen along the arrears process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It displays the account statuses from a credit control point of view, and reminds credit controllers when to contact the customer next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It also displays relevant KPIs for arrears management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lang="en-GB" sz="1000" baseline="0">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1034996">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Legal process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‘Legal tab’ tracks the legal process (S8, S21, NTQ, possession, Cunty Court), including court dates, appeals and outcomes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tab alerts the user when a stage of the legal process is nearing expiry and no outcome is input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are updated manually by the Grainger user as cases evolve.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57849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Bailiffs and Injunctions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Bailiffs (an additional stage in the legal process) and injunctions can be set as notes in the legal page in Phase 1.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Bailiffs should be added to the legal page for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Bailiffs can be incorporated to legal tab in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28491541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49</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3.03 – Managing Rent Arrears (1/2) </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9EB05935-B143-47D7-AA33-82AEEC7C93BA}"/>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88659" y="3692710"/>
            <a:ext cx="645608" cy="34970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360B7D-705B-4006-B618-654236CFBF8B}"/>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6702845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071923845"/>
              </p:ext>
            </p:extLst>
          </p:nvPr>
        </p:nvGraphicFramePr>
        <p:xfrm>
          <a:off x="358774" y="1169177"/>
          <a:ext cx="8426449" cy="5063843"/>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40504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311139">
                <a:tc rowSpan="3">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Creation &amp; Management of Payment plans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 plans are created manually in a specific page in MRI, once the plan is agreed with the customer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customers in arrears, the overdue charges are replaced by 'payment plan' charges so payments are collected against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Customers appear no longer as in arrears if they keep up with the payment plans.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68372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Arrears Letters templates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Arrears letters are generated automatically by MRI using a small set of templates: 7 days, 14 days, 21 days (pre-legal), 28 days (final notice before starting legal procedure), - 35 days (Legal action starts)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1041374">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Arrears Letters filtering Logic</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system only send arrears letters to customers who should receive one. MRI tests for a number of exceptions, e.g. people who pay rent via DD do not receive arrears letters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system cannot establish whether a letter should be sent or not, a Grainger employee can make the decision.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850951">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Arrears Letters - sending</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Letters will be sent through the transactional communications platform, only for those people who should receive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issues the letters to the Integration Layer which sends them to the transaction communications platform and finally to the customer</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771609">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Payment plans - Direct Debit collections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Payment plans are created as separate DD schedule under existing DD mandate, and run in parallel with the main rent payments - i.e. a tenant who has a payment plan would see 2 separate collections from Grainger, one for rent and another one for the payment plan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Yes – schedules will be created manually on day 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801418"/>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50</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3.03 – Managing Rent Arrears (2/2)</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9EB05935-B143-47D7-AA33-82AEEC7C93BA}"/>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05500" y="3150648"/>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EC096711-1F72-48D8-8E5B-99AAC4FE93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772" y="5708325"/>
            <a:ext cx="1139064" cy="315610"/>
          </a:xfrm>
          <a:prstGeom prst="rect">
            <a:avLst/>
          </a:prstGeom>
        </p:spPr>
      </p:pic>
      <p:pic>
        <p:nvPicPr>
          <p:cNvPr id="12" name="Picture 11" descr="A close up of a sign&#10;&#10;Description automatically generated">
            <a:extLst>
              <a:ext uri="{FF2B5EF4-FFF2-40B4-BE49-F238E27FC236}">
                <a16:creationId xmlns:a16="http://schemas.microsoft.com/office/drawing/2014/main" id="{14AE254A-2919-4DF2-8BD5-C48B8DB3E6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443" y="4765871"/>
            <a:ext cx="773426" cy="246760"/>
          </a:xfrm>
          <a:prstGeom prst="rect">
            <a:avLst/>
          </a:prstGeom>
        </p:spPr>
      </p:pic>
      <p:pic>
        <p:nvPicPr>
          <p:cNvPr id="13" name="Picture 12" descr="A picture containing drawing&#10;&#10;Description automatically generated">
            <a:extLst>
              <a:ext uri="{FF2B5EF4-FFF2-40B4-BE49-F238E27FC236}">
                <a16:creationId xmlns:a16="http://schemas.microsoft.com/office/drawing/2014/main" id="{1B1F8124-B253-4BF1-9119-37B402187CE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9429" y="4922807"/>
            <a:ext cx="953003" cy="595627"/>
          </a:xfrm>
          <a:prstGeom prst="rect">
            <a:avLst/>
          </a:prstGeom>
        </p:spPr>
      </p:pic>
      <p:sp>
        <p:nvSpPr>
          <p:cNvPr id="14" name="TextBox 13">
            <a:extLst>
              <a:ext uri="{FF2B5EF4-FFF2-40B4-BE49-F238E27FC236}">
                <a16:creationId xmlns:a16="http://schemas.microsoft.com/office/drawing/2014/main" id="{E6EE3E5F-67A3-4141-9E17-1F72B893AE85}"/>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809597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434765955"/>
              </p:ext>
            </p:extLst>
          </p:nvPr>
        </p:nvGraphicFramePr>
        <p:xfrm>
          <a:off x="358774" y="1169177"/>
          <a:ext cx="8426449" cy="509896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28201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Customer Booking, Paying, Cancelling Amenities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Customers will be able to book amenities via MyGrainger portal</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They will see amenities in the building they live, and pay at the point of booking via one-off card payments with the Asperato 'iframe’</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Cancellations will automatically (via GREP) update the status of that amenity in FSI and make it available for bookings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Portal amenity functionality to be addressed at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0">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Historic view of amenity bookings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Customers can see all amenities they booked, via MyGrainger portal.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information will come from the amenity functionality in FSI and will be only visible to the customer who booked the amenities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History of amenity bookings will be addressed at Phase 2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0">
                <a:tc rowSpan="4">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Amenity Booking by on-site staff</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Staff can process amenity bookings on behalf of a customer.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manages amenities availability, bookings and payment amounts</a:t>
                      </a:r>
                    </a:p>
                  </a:txBody>
                  <a:tcPr marL="36000" marR="36000" marT="36000" marB="36000">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Managing availability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only allows available amenities to be booked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a booking is cancelled in FSI the amenity becomes available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Source data on amenity bookings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Operational reporting on amenities, including usage and revenue by period, building and amenity type, will be available to operations using the data held in FSI and payments from Asperato.</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 – Actual reports to be built in </a:t>
                      </a:r>
                      <a:r>
                        <a:rPr lang="en-GB" sz="800" b="0" i="0" u="none" strike="noStrike" baseline="0" err="1">
                          <a:solidFill>
                            <a:schemeClr val="tx1"/>
                          </a:solidFill>
                          <a:effectLst/>
                          <a:latin typeface="Montserrat" panose="00000500000000000000" pitchFamily="50" charset="0"/>
                        </a:rPr>
                        <a:t>PowerBI</a:t>
                      </a:r>
                      <a:endParaRPr lang="en-GB" sz="800" b="0" i="0" u="none" strike="noStrike" baseline="0">
                        <a:solidFill>
                          <a:schemeClr val="tx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Maintenance of Amenity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Amenities maintenance (e.g. cleaning service after its use, repair damages) will be managed via FSI like any other unit .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Amenity Payment &amp; refunds by on-site staff</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concierge can create the payment using the Asperato 'iframe’ to input payment details, and the charge code for allocation into MRI</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Asperato emails a receipt of the card transaction to the customer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Staff can process a card refund using the same process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Allocation of payments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Amenity payments will be posted manually into the MRI General Ledger module against a 'generic' amenity code by a member of operations, based on a report of payments from  Asperato</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the payment incurs VAT, the Grainger employee will post the VAT component separate from the main amenity charge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96801418"/>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Damages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cost of damages will be handled / negotiated offline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Staff will raise one-off charges in MRI manually against the customer to fund the repair the damages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571382170"/>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51</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4.01 – Amenities Booking / Paying</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9EB05935-B143-47D7-AA33-82AEEC7C93BA}"/>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05500" y="5463637"/>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EC096711-1F72-48D8-8E5B-99AAC4FE93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772" y="4559032"/>
            <a:ext cx="1139064" cy="315610"/>
          </a:xfrm>
          <a:prstGeom prst="rect">
            <a:avLst/>
          </a:prstGeom>
        </p:spPr>
      </p:pic>
      <p:pic>
        <p:nvPicPr>
          <p:cNvPr id="2" name="Picture 1">
            <a:extLst>
              <a:ext uri="{FF2B5EF4-FFF2-40B4-BE49-F238E27FC236}">
                <a16:creationId xmlns:a16="http://schemas.microsoft.com/office/drawing/2014/main" id="{D41ADB21-DF92-43AA-BF39-70DF124057D2}"/>
              </a:ext>
            </a:extLst>
          </p:cNvPr>
          <p:cNvPicPr>
            <a:picLocks noChangeAspect="1"/>
          </p:cNvPicPr>
          <p:nvPr/>
        </p:nvPicPr>
        <p:blipFill rotWithShape="1">
          <a:blip r:embed="rId5"/>
          <a:srcRect l="6573" r="2854"/>
          <a:stretch/>
        </p:blipFill>
        <p:spPr>
          <a:xfrm>
            <a:off x="376552" y="2040010"/>
            <a:ext cx="1104268" cy="361950"/>
          </a:xfrm>
          <a:prstGeom prst="rect">
            <a:avLst/>
          </a:prstGeom>
        </p:spPr>
      </p:pic>
      <p:pic>
        <p:nvPicPr>
          <p:cNvPr id="14" name="Picture 16" descr="Image result for fsi concept evolution">
            <a:extLst>
              <a:ext uri="{FF2B5EF4-FFF2-40B4-BE49-F238E27FC236}">
                <a16:creationId xmlns:a16="http://schemas.microsoft.com/office/drawing/2014/main" id="{B76FA12E-98B2-4DA7-9642-3A4BE42DFE5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0650" y="3386468"/>
            <a:ext cx="855307" cy="45524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53DAB88-C7FF-430F-96A4-1D8B8DA745AC}"/>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1878921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CBB8E740-004B-4D6F-ADFC-BBBC6806D1A6}"/>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27651" r="27651"/>
          <a:stretch>
            <a:fillRect/>
          </a:stretch>
        </p:blipFill>
        <p:spPr>
          <a:xfrm>
            <a:off x="6023181" y="402623"/>
            <a:ext cx="2762043" cy="4101468"/>
          </a:xfrm>
          <a:ln>
            <a:solidFill>
              <a:schemeClr val="bg1"/>
            </a:solidFill>
          </a:ln>
        </p:spPr>
      </p:pic>
      <p:sp>
        <p:nvSpPr>
          <p:cNvPr id="6" name="Title 5">
            <a:extLst>
              <a:ext uri="{FF2B5EF4-FFF2-40B4-BE49-F238E27FC236}">
                <a16:creationId xmlns:a16="http://schemas.microsoft.com/office/drawing/2014/main" id="{3B001709-B3B3-493C-BE2B-565B8EA1AB13}"/>
              </a:ext>
            </a:extLst>
          </p:cNvPr>
          <p:cNvSpPr>
            <a:spLocks noGrp="1"/>
          </p:cNvSpPr>
          <p:nvPr>
            <p:ph type="ctrTitle"/>
          </p:nvPr>
        </p:nvSpPr>
        <p:spPr/>
        <p:txBody>
          <a:bodyPr/>
          <a:lstStyle/>
          <a:p>
            <a:r>
              <a:rPr lang="en-GB"/>
              <a:t>Functionality Catalogue</a:t>
            </a:r>
            <a:br>
              <a:rPr lang="en-GB"/>
            </a:br>
            <a:br>
              <a:rPr lang="en-GB"/>
            </a:br>
            <a:r>
              <a:rPr lang="en-GB"/>
              <a:t>Marketing, Lead to Lease &amp; Payments</a:t>
            </a:r>
          </a:p>
        </p:txBody>
      </p:sp>
      <p:sp>
        <p:nvSpPr>
          <p:cNvPr id="3" name="Footer Placeholder 2">
            <a:extLst>
              <a:ext uri="{FF2B5EF4-FFF2-40B4-BE49-F238E27FC236}">
                <a16:creationId xmlns:a16="http://schemas.microsoft.com/office/drawing/2014/main" id="{9E00C884-1D70-4751-8308-745B2D68B4C7}"/>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CE8F6C27-0003-44DE-8767-30B4D89EA994}"/>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52</a:t>
            </a:fld>
            <a:endParaRPr lang="en-GB"/>
          </a:p>
        </p:txBody>
      </p:sp>
    </p:spTree>
    <p:extLst>
      <p:ext uri="{BB962C8B-B14F-4D97-AF65-F5344CB8AC3E}">
        <p14:creationId xmlns:p14="http://schemas.microsoft.com/office/powerpoint/2010/main" val="7067543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031748017"/>
              </p:ext>
            </p:extLst>
          </p:nvPr>
        </p:nvGraphicFramePr>
        <p:xfrm>
          <a:off x="358774" y="1169177"/>
          <a:ext cx="8426449" cy="4956288"/>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58220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623500">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1" i="0" u="none" strike="noStrike">
                          <a:solidFill>
                            <a:schemeClr val="bg1">
                              <a:lumMod val="50000"/>
                            </a:schemeClr>
                          </a:solidFill>
                          <a:effectLst/>
                          <a:latin typeface="Montserrat" panose="00000500000000000000" pitchFamily="50" charset="0"/>
                        </a:rPr>
                        <a:t>Marketing Websites</a:t>
                      </a: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Customer registers interest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Customer can register their interest in a Grainger property straight from the Marketing websites, by fulfilling some basic information (name, email, telephone, target move-in date, type of property required, budget, opt-in to marketing)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Information is placed in a 'Web-to-Lead form' which is then passed into Salesforce via the integration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2"/>
                        </a:rPr>
                        <a:t>Epic Matric - Register interest</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0">
                <a:tc rowSpan="5">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Create opportunity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An 'opportunity' can be linked to an account in Salesforce to start managing the lead-to-lease process.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lettings team is able to add, to the opportunity, multiple units that the prospect may be interested in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2"/>
                        </a:rPr>
                        <a:t>Epic Matric - Register interest</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0">
                <a:tc vMerge="1">
                  <a:txBody>
                    <a:bodyPr/>
                    <a:lstStyle/>
                    <a:p>
                      <a:endParaRPr lang="en-GB"/>
                    </a:p>
                  </a:txBody>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Pre-qualification checks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Pre-qualification checks are done offline, through engagement with the customer (via phone if they have registered interest online)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outcomes of such checks are registered manually into Salesforce; the opportunity is updated accordingly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2"/>
                        </a:rPr>
                        <a:t>Epic Matric - Register interest</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5116138"/>
                  </a:ext>
                </a:extLst>
              </a:tr>
              <a:tr h="783200">
                <a:tc vMerge="1">
                  <a:txBody>
                    <a:bodyPr/>
                    <a:lstStyle/>
                    <a:p>
                      <a:endParaRPr lang="en-GB"/>
                    </a:p>
                  </a:txBody>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Book viewing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Viewings are scheduled using Salesforce by a Grainger employee, and will be related to a specific </a:t>
                      </a:r>
                      <a:r>
                        <a:rPr lang="en-GB" sz="800" u="none" strike="noStrike" kern="1200" baseline="0" err="1">
                          <a:solidFill>
                            <a:schemeClr val="tx1"/>
                          </a:solidFill>
                          <a:effectLst/>
                          <a:latin typeface="Montserrat" panose="00000500000000000000" pitchFamily="50" charset="0"/>
                          <a:ea typeface="+mn-ea"/>
                          <a:cs typeface="+mn-cs"/>
                        </a:rPr>
                        <a:t>opportnuity</a:t>
                      </a:r>
                      <a:endParaRPr lang="en-GB" sz="800" u="none" strike="noStrike" kern="1200" baseline="0">
                        <a:solidFill>
                          <a:schemeClr val="tx1"/>
                        </a:solidFill>
                        <a:effectLst/>
                        <a:latin typeface="Montserrat" panose="00000500000000000000" pitchFamily="50" charset="0"/>
                        <a:ea typeface="+mn-ea"/>
                        <a:cs typeface="+mn-cs"/>
                      </a:endParaRP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is done upon the customer’s request to have the viewing</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emails the customer a confirmation that the viewing has been booked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3"/>
                        </a:rPr>
                        <a:t>Epic Matrix - Book Viewing</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3698381"/>
                  </a:ext>
                </a:extLst>
              </a:tr>
              <a:tr h="0">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Mange viewing booking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Grainger employee is able to manage (reschedule, cancel) a viewing based on instructions received from the prospect customer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Relevant communications are sent to the customer via email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3"/>
                        </a:rPr>
                        <a:t>Epic Matrix - Book Viewing</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55866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Viewing feedback</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After the viewing, the Grainger employee captures the feedback from the viewing</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Outcomes can be selected from a drop-down list of possible outcomes (e.g. wants to proceed, will speak to partner or sharers, rejects due to location, size, etc)</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Grainger employee can also make additional comments using a free text field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800" b="0" i="0" u="none" strike="noStrike" baseline="0">
                          <a:solidFill>
                            <a:schemeClr val="tx1"/>
                          </a:solidFill>
                          <a:effectLst/>
                          <a:latin typeface="Montserrat" panose="00000500000000000000" pitchFamily="50" charset="0"/>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800" b="0" i="0" u="none" strike="noStrike">
                          <a:solidFill>
                            <a:srgbClr val="000000"/>
                          </a:solidFill>
                          <a:effectLst/>
                          <a:latin typeface="Montserrat" panose="00000500000000000000" pitchFamily="50" charset="0"/>
                          <a:hlinkClick r:id="rId3"/>
                        </a:rPr>
                        <a:t>Epic Matrix - Book Viewing</a:t>
                      </a:r>
                      <a:endParaRPr lang="en-GB" sz="800" b="0" i="0" u="none" strike="noStrike">
                        <a:solidFill>
                          <a:srgbClr val="000000"/>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8491541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53</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1.01 – Register and Arrange viewing </a:t>
            </a:r>
            <a:br>
              <a:rPr lang="en-GB"/>
            </a:br>
            <a:r>
              <a:rPr lang="en-GB" sz="2400" i="1"/>
              <a:t>Capability Summary</a:t>
            </a:r>
            <a:endParaRPr lang="en-GB" i="1"/>
          </a:p>
        </p:txBody>
      </p:sp>
      <p:pic>
        <p:nvPicPr>
          <p:cNvPr id="9" name="Picture 8" descr="A close up of a sign&#10;&#10;Description automatically generated">
            <a:extLst>
              <a:ext uri="{FF2B5EF4-FFF2-40B4-BE49-F238E27FC236}">
                <a16:creationId xmlns:a16="http://schemas.microsoft.com/office/drawing/2014/main" id="{9542D4C7-993E-4438-A228-F4298E7C8E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300" y="1671613"/>
            <a:ext cx="749749" cy="749749"/>
          </a:xfrm>
          <a:prstGeom prst="rect">
            <a:avLst/>
          </a:prstGeom>
        </p:spPr>
      </p:pic>
      <p:pic>
        <p:nvPicPr>
          <p:cNvPr id="13" name="Picture 2" descr="Image result for salesforce logo">
            <a:extLst>
              <a:ext uri="{FF2B5EF4-FFF2-40B4-BE49-F238E27FC236}">
                <a16:creationId xmlns:a16="http://schemas.microsoft.com/office/drawing/2014/main" id="{FBA0A755-7DF7-438A-B619-0D9A8924AB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780" y="3822474"/>
            <a:ext cx="1071069" cy="749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986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1729160601"/>
              </p:ext>
            </p:extLst>
          </p:nvPr>
        </p:nvGraphicFramePr>
        <p:xfrm>
          <a:off x="358774" y="1169176"/>
          <a:ext cx="8426449" cy="5048743"/>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38670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803792">
                <a:tc rowSpan="7">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Send offers to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Lettings person builds offers to the customer, based on knowledge of the customer needs, and adds them to the opportunity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Offers include date availability and monthly rent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emails a link for the customer to access the offers online and start their applications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24594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Concession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Lettings can apply a one-off concession to the first month rent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501405">
                <a:tc vMerge="1">
                  <a:txBody>
                    <a:bodyPr/>
                    <a:lstStyle/>
                    <a:p>
                      <a:endParaRPr lang="en-GB"/>
                    </a:p>
                  </a:txBody>
                  <a:tcPr>
                    <a:lnT w="12700" cap="flat" cmpd="sng" algn="ctr">
                      <a:solidFill>
                        <a:schemeClr val="bg1">
                          <a:lumMod val="50000"/>
                        </a:schemeClr>
                      </a:solidFill>
                      <a:prstDash val="solid"/>
                      <a:round/>
                      <a:headEnd type="none" w="med" len="med"/>
                      <a:tailEnd type="none" w="med" len="med"/>
                    </a:lnT>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Standard break clauses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Standard break clauses will apply automatically to the application considering the type and term of the tenancy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are visible in Salesforce and displayed to the customer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3698381"/>
                  </a:ext>
                </a:extLst>
              </a:tr>
              <a:tr h="626531">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Payment Periodicity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allows three different 'periodicities' for the payment of rent: Monthly, 6-month rent in advance, and full term in advance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All tenancies will be billed monthly in advance by MRI regardless of the payment periodicity selected at the leasing journey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80379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Rent Uplift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will apply rent uplifts to leases beyond 12 months.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value of the uplift is set for each estate but can be adjusted by the lettings person for a given opportunity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Uplifts will apply at every anniversary of the lease, and compound on each other – mirroring how MRI will raise the rent charges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84915416"/>
                  </a:ext>
                </a:extLst>
              </a:tr>
              <a:tr h="1001908">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Initial Statement of Monies (ISM)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ISM is calculated and displayed to the applicant at the moment the Advance Payment is requested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ISM outlines all payments needed to complete the tenancy:</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Advance Payment (1 week of rent)</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Security deposit (1 month of rent)</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Rent in advance (based on periodicity selected)</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Concession (if applicable)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34629977"/>
                  </a:ext>
                </a:extLst>
              </a:tr>
              <a:tr h="678667">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15-min timer for Adv.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customer is presented the form to make the advance payment, Salesforce holds the property for 15 minutes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During this time no other offer with that unit can be accepted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If the payment fails the customer can retry it within the 15 min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1880552"/>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54</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2.01 – Build Offer &amp; Pay Advance (1/2)</a:t>
            </a:r>
            <a:br>
              <a:rPr lang="en-GB"/>
            </a:br>
            <a:r>
              <a:rPr lang="en-GB" sz="2400" i="1"/>
              <a:t>Capability Summary</a:t>
            </a:r>
            <a:endParaRPr lang="en-GB" i="1"/>
          </a:p>
        </p:txBody>
      </p:sp>
      <p:pic>
        <p:nvPicPr>
          <p:cNvPr id="13" name="Picture 2" descr="Image result for salesforce logo">
            <a:extLst>
              <a:ext uri="{FF2B5EF4-FFF2-40B4-BE49-F238E27FC236}">
                <a16:creationId xmlns:a16="http://schemas.microsoft.com/office/drawing/2014/main" id="{FBA0A755-7DF7-438A-B619-0D9A8924A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80" y="3822474"/>
            <a:ext cx="1071069" cy="74974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B2EB410-F359-49DC-A0DA-B6A35E07F6FE}"/>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37570521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77603824"/>
              </p:ext>
            </p:extLst>
          </p:nvPr>
        </p:nvGraphicFramePr>
        <p:xfrm>
          <a:off x="358774" y="1169177"/>
          <a:ext cx="8426449" cy="5088499"/>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816583">
                  <a:extLst>
                    <a:ext uri="{9D8B030D-6E8A-4147-A177-3AD203B41FA5}">
                      <a16:colId xmlns:a16="http://schemas.microsoft.com/office/drawing/2014/main" val="2373659524"/>
                    </a:ext>
                  </a:extLst>
                </a:gridCol>
                <a:gridCol w="1132922">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38527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748878">
                <a:tc rowSpan="2">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r>
                        <a:rPr lang="en-GB" sz="800" b="1" i="0" u="none" strike="noStrike">
                          <a:solidFill>
                            <a:schemeClr val="bg1">
                              <a:lumMod val="50000"/>
                            </a:schemeClr>
                          </a:solidFill>
                          <a:effectLst/>
                          <a:latin typeface="Montserrat" panose="00000500000000000000" pitchFamily="50" charset="0"/>
                        </a:rPr>
                        <a:t>Leasing Portal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Web app login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prospect customer reacts to the email with the offers, they are prompted to sign up to the online leasing journey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customer can create their own password and start the application process, coming back later with the same login details to continue the application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110427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Web app application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prospect customer follows a set of steps through the web-app:</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Add members to the household (sharers, permitted occupiers) </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indicate the need of a license - a parking space, shed, etc. This can be done independently for sharers</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inputs a 'wish list' (free text form) of requests for moving in</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confirms their choice of unit, price and terms</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select to 'check out' and move on to making the Advance payment (the ‘prospect’ customers become an applicant)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The parking journey is held mostly offline on Phase 1, after customer indicates the want for parking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620097964"/>
                  </a:ext>
                </a:extLst>
              </a:tr>
              <a:tr h="800821">
                <a:tc>
                  <a:txBody>
                    <a:bodyPr/>
                    <a:lstStyle/>
                    <a:p>
                      <a:endParaRPr lang="en-GB"/>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Pricing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pricing will be managed offline, by using the existing spreadsheet n use by lettings, and entering prices manually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phase 2 we will introduce YieldStar for selected properties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YieldStar builds pricing suggestions dynamically, reading data from multiple sources and can also flex pricing to term, move-in date etc</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Dynamic Pricing software was put on hold to enable delivery of Phase 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433698381"/>
                  </a:ext>
                </a:extLst>
              </a:tr>
              <a:tr h="977427">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Advance Payment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The advance payment is taken from the lead applicant only (not sharers) via credit or debit card, amounting to 1 week of rent.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Payment form will be pre-populated with the applicant’s details so they only need to fulfil their card information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Grainger staff can do this manually on behalf of the applicant.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payment is successful Salesforce emails the receipt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624215">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Applicant ‘guest card’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will be manual on ‘day 1’: Asperato will send the payment details against a 'dummy’ guest card in MRI, and later a TPT member updates that 'dummy' account with the actual applicant details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will be automated via integration by Phase 2 of connect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The integration is confirmed Phase 2 scope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284915416"/>
                  </a:ext>
                </a:extLst>
              </a:tr>
              <a:tr h="447609">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Allocation of advance payment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payment taken by Asperato will allocate automatically to the applicant's guest card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 – on ‘day 1’ the guest card will have dummy data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34629977"/>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55</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2.01 – Build Offer &amp; Pay Advance (2/2)</a:t>
            </a:r>
            <a:br>
              <a:rPr lang="en-GB"/>
            </a:br>
            <a:r>
              <a:rPr lang="en-GB" sz="2400" i="1"/>
              <a:t>Capability Summary</a:t>
            </a:r>
            <a:endParaRPr lang="en-GB" i="1"/>
          </a:p>
        </p:txBody>
      </p:sp>
      <p:pic>
        <p:nvPicPr>
          <p:cNvPr id="7" name="Picture 10" descr="Image result for mri software">
            <a:extLst>
              <a:ext uri="{FF2B5EF4-FFF2-40B4-BE49-F238E27FC236}">
                <a16:creationId xmlns:a16="http://schemas.microsoft.com/office/drawing/2014/main" id="{FC28D2C3-A5F7-4C86-848E-C3BAC656E4B6}"/>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03562" y="5547392"/>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mage result for yieldstar realpage">
            <a:extLst>
              <a:ext uri="{FF2B5EF4-FFF2-40B4-BE49-F238E27FC236}">
                <a16:creationId xmlns:a16="http://schemas.microsoft.com/office/drawing/2014/main" id="{01FAECF4-A644-4732-9630-424120911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537" y="3702084"/>
            <a:ext cx="944983" cy="2932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D9D4664-96F2-4A2C-A96E-E328EF06E6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712" y="2237680"/>
            <a:ext cx="855308" cy="325018"/>
          </a:xfrm>
          <a:prstGeom prst="rect">
            <a:avLst/>
          </a:prstGeom>
        </p:spPr>
      </p:pic>
      <p:pic>
        <p:nvPicPr>
          <p:cNvPr id="10" name="Graphic 9">
            <a:extLst>
              <a:ext uri="{FF2B5EF4-FFF2-40B4-BE49-F238E27FC236}">
                <a16:creationId xmlns:a16="http://schemas.microsoft.com/office/drawing/2014/main" id="{EF17385D-D224-4A4C-AE2F-81F3EE24D1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537" y="4606688"/>
            <a:ext cx="979659" cy="271443"/>
          </a:xfrm>
          <a:prstGeom prst="rect">
            <a:avLst/>
          </a:prstGeom>
        </p:spPr>
      </p:pic>
      <p:sp>
        <p:nvSpPr>
          <p:cNvPr id="11" name="TextBox 10">
            <a:extLst>
              <a:ext uri="{FF2B5EF4-FFF2-40B4-BE49-F238E27FC236}">
                <a16:creationId xmlns:a16="http://schemas.microsoft.com/office/drawing/2014/main" id="{FCFC6AEE-C3B0-42E4-AE1B-0EBECD2F135A}"/>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12399621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1670504700"/>
              </p:ext>
            </p:extLst>
          </p:nvPr>
        </p:nvGraphicFramePr>
        <p:xfrm>
          <a:off x="358774" y="1169177"/>
          <a:ext cx="8426449" cy="510899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52916">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700" b="1" i="0" u="none" strike="noStrike">
                          <a:solidFill>
                            <a:schemeClr val="bg1">
                              <a:lumMod val="50000"/>
                            </a:schemeClr>
                          </a:solidFill>
                          <a:effectLst/>
                          <a:latin typeface="Montserrat" panose="00000500000000000000" pitchFamily="50" charset="0"/>
                        </a:rPr>
                        <a:t>Leasing Portal</a:t>
                      </a: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Sharer/ Guarantor online experience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individual in the application creates their own account in the leasing portal to complete the referencing process.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38398023"/>
                  </a:ext>
                </a:extLst>
              </a:tr>
              <a:tr h="152916">
                <a:tc rowSpan="5">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Referencing prompts and tracking</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invites all relevant members of the application (lead applicant, sharers, guarantors) to the referencing process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track the status of completion of each of these members.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0">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Changes to application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supports the inclusion / removal of applicants until the referencing stage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New / removed applicants are notified by </a:t>
                      </a:r>
                      <a:r>
                        <a:rPr lang="en-GB" sz="800" u="none" strike="noStrike" kern="1200" baseline="0" err="1">
                          <a:solidFill>
                            <a:schemeClr val="tx1"/>
                          </a:solidFill>
                          <a:effectLst/>
                          <a:latin typeface="Montserrat" panose="00000500000000000000" pitchFamily="50" charset="0"/>
                          <a:ea typeface="+mn-ea"/>
                          <a:cs typeface="+mn-cs"/>
                        </a:rPr>
                        <a:t>emailVan</a:t>
                      </a:r>
                      <a:r>
                        <a:rPr lang="en-GB" sz="800" u="none" strike="noStrike" kern="1200" baseline="0">
                          <a:solidFill>
                            <a:schemeClr val="tx1"/>
                          </a:solidFill>
                          <a:effectLst/>
                          <a:latin typeface="Montserrat" panose="00000500000000000000" pitchFamily="50" charset="0"/>
                          <a:ea typeface="+mn-ea"/>
                          <a:cs typeface="+mn-cs"/>
                        </a:rPr>
                        <a:t> Mildert is informed and adjusts the referencing accordingly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661281">
                <a:tc vMerge="1">
                  <a:txBody>
                    <a:bodyPr/>
                    <a:lstStyle/>
                    <a:p>
                      <a:endParaRPr lang="en-GB"/>
                    </a:p>
                  </a:txBody>
                  <a:tcPr>
                    <a:lnT w="12700" cap="flat" cmpd="sng" algn="ctr">
                      <a:solidFill>
                        <a:schemeClr val="bg1">
                          <a:lumMod val="50000"/>
                        </a:schemeClr>
                      </a:solidFill>
                      <a:prstDash val="solid"/>
                      <a:round/>
                      <a:headEnd type="none" w="med" len="med"/>
                      <a:tailEnd type="none" w="med" len="med"/>
                    </a:lnT>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Referencing outcome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Lettings approves or rejects the application based on the  outputs from Van Mildert, and updates the status of the application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All applicants are emailed with the referencing outcome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lead applicant is asked to pay the move-in monies.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3698381"/>
                  </a:ext>
                </a:extLst>
              </a:tr>
              <a:tr h="0">
                <a:tc vMerge="1">
                  <a:txBody>
                    <a:bodyPr/>
                    <a:lstStyle/>
                    <a:p>
                      <a:endParaRPr lang="en-GB"/>
                    </a:p>
                  </a:txBody>
                  <a:tcPr>
                    <a:lnT w="12700" cap="flat" cmpd="sng" algn="ctr">
                      <a:solidFill>
                        <a:schemeClr val="bg1">
                          <a:lumMod val="50000"/>
                        </a:schemeClr>
                      </a:solidFill>
                      <a:prstDash val="solid"/>
                      <a:round/>
                      <a:headEnd type="none" w="med" len="med"/>
                      <a:tailEnd type="none" w="med" len="med"/>
                    </a:lnT>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Reminder messages</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sends emails for applicants’ to progress on referencing</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also emails reminders to the lead applicant to pay the move-in monies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2365846"/>
                  </a:ext>
                </a:extLst>
              </a:tr>
              <a:tr h="0">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TDS registration notification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Tenancy Progression team sends confirmation to tenants that their deposit has been registered with the TDS.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We can automate this in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Referencing</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Applicants interact with the Van Mildert through 'iframe’; this is similar to the functionality we have today.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84915416"/>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Move-in Monies payment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move-in monies will be taken as a card payment from the lead applicant only, through a pre-populated ‘iframe’ with the amount as per displayed in the ISM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0123688"/>
                  </a:ext>
                </a:extLst>
              </a:tr>
              <a:tr h="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Allocation of move-in monies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Move-in monies are split by integration into its 3 component parts (rent, deposit, concession) which are allocated automatically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36637594"/>
                  </a:ext>
                </a:extLst>
              </a:tr>
              <a:tr h="55866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Registration of Security Deposit with TDS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Finance team will register the Security Deposits with TDS, using the point-to-point integration with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04021292"/>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56</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2.01 – Referencing, Move-in monies</a:t>
            </a:r>
            <a:br>
              <a:rPr lang="en-GB"/>
            </a:br>
            <a:r>
              <a:rPr lang="en-GB" sz="2400" i="1"/>
              <a:t>Capability Summary</a:t>
            </a:r>
            <a:endParaRPr lang="en-GB" i="1"/>
          </a:p>
        </p:txBody>
      </p:sp>
      <p:pic>
        <p:nvPicPr>
          <p:cNvPr id="13" name="Picture 2" descr="Image result for salesforce logo">
            <a:extLst>
              <a:ext uri="{FF2B5EF4-FFF2-40B4-BE49-F238E27FC236}">
                <a16:creationId xmlns:a16="http://schemas.microsoft.com/office/drawing/2014/main" id="{FBA0A755-7DF7-438A-B619-0D9A8924A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169" y="2966796"/>
            <a:ext cx="1071069" cy="7497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82067A2-E78C-47F3-AB94-883C2AD11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80" y="1574019"/>
            <a:ext cx="523068" cy="198766"/>
          </a:xfrm>
          <a:prstGeom prst="rect">
            <a:avLst/>
          </a:prstGeom>
        </p:spPr>
      </p:pic>
      <p:pic>
        <p:nvPicPr>
          <p:cNvPr id="11" name="Graphic 10">
            <a:extLst>
              <a:ext uri="{FF2B5EF4-FFF2-40B4-BE49-F238E27FC236}">
                <a16:creationId xmlns:a16="http://schemas.microsoft.com/office/drawing/2014/main" id="{D59C58D8-8A82-4521-9F31-837D9799A5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873" y="4999116"/>
            <a:ext cx="979659" cy="271443"/>
          </a:xfrm>
          <a:prstGeom prst="rect">
            <a:avLst/>
          </a:prstGeom>
        </p:spPr>
      </p:pic>
      <p:pic>
        <p:nvPicPr>
          <p:cNvPr id="12" name="Picture 10" descr="Image result for mri software">
            <a:extLst>
              <a:ext uri="{FF2B5EF4-FFF2-40B4-BE49-F238E27FC236}">
                <a16:creationId xmlns:a16="http://schemas.microsoft.com/office/drawing/2014/main" id="{19755122-3154-4733-81CD-B728C9EF5B9C}"/>
              </a:ext>
            </a:extLst>
          </p:cNvPr>
          <p:cNvPicPr>
            <a:picLocks noChangeAspect="1" noChangeArrowheads="1"/>
          </p:cNvPicPr>
          <p:nvPr/>
        </p:nvPicPr>
        <p:blipFill>
          <a:blip r:embed="rId6">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03562" y="5636940"/>
            <a:ext cx="645608" cy="349704"/>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827D98C8-FD9A-42C2-AFD0-CA1278300FD6}"/>
              </a:ext>
            </a:extLst>
          </p:cNvPr>
          <p:cNvGrpSpPr/>
          <p:nvPr/>
        </p:nvGrpSpPr>
        <p:grpSpPr>
          <a:xfrm>
            <a:off x="456651" y="4559408"/>
            <a:ext cx="931864" cy="376315"/>
            <a:chOff x="-1208015" y="-523810"/>
            <a:chExt cx="1890394" cy="763399"/>
          </a:xfrm>
        </p:grpSpPr>
        <p:pic>
          <p:nvPicPr>
            <p:cNvPr id="9" name="Picture 8" descr="A picture containing drawing&#10;&#10;Description automatically generated">
              <a:extLst>
                <a:ext uri="{FF2B5EF4-FFF2-40B4-BE49-F238E27FC236}">
                  <a16:creationId xmlns:a16="http://schemas.microsoft.com/office/drawing/2014/main" id="{A35F39F4-22EF-4691-9677-4ED2D1D014BB}"/>
                </a:ext>
              </a:extLst>
            </p:cNvPr>
            <p:cNvPicPr>
              <a:picLocks noChangeAspect="1"/>
            </p:cNvPicPr>
            <p:nvPr/>
          </p:nvPicPr>
          <p:blipFill rotWithShape="1">
            <a:blip r:embed="rId7">
              <a:clrChange>
                <a:clrFrom>
                  <a:srgbClr val="FEFEFD"/>
                </a:clrFrom>
                <a:clrTo>
                  <a:srgbClr val="FEFEFD">
                    <a:alpha val="0"/>
                  </a:srgbClr>
                </a:clrTo>
              </a:clrChange>
              <a:extLst>
                <a:ext uri="{28A0092B-C50C-407E-A947-70E740481C1C}">
                  <a14:useLocalDpi xmlns:a14="http://schemas.microsoft.com/office/drawing/2010/main" val="0"/>
                </a:ext>
              </a:extLst>
            </a:blip>
            <a:srcRect t="61276" b="7990"/>
            <a:stretch/>
          </p:blipFill>
          <p:spPr>
            <a:xfrm>
              <a:off x="-682380" y="-351835"/>
              <a:ext cx="1364759" cy="419450"/>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FC90A85A-5C48-4656-8CE5-EB008D267491}"/>
                </a:ext>
              </a:extLst>
            </p:cNvPr>
            <p:cNvPicPr>
              <a:picLocks noChangeAspect="1"/>
            </p:cNvPicPr>
            <p:nvPr/>
          </p:nvPicPr>
          <p:blipFill rotWithShape="1">
            <a:blip r:embed="rId7">
              <a:clrChange>
                <a:clrFrom>
                  <a:srgbClr val="FEFEFD"/>
                </a:clrFrom>
                <a:clrTo>
                  <a:srgbClr val="FEFEFD">
                    <a:alpha val="0"/>
                  </a:srgbClr>
                </a:clrTo>
              </a:clrChange>
              <a:extLst>
                <a:ext uri="{28A0092B-C50C-407E-A947-70E740481C1C}">
                  <a14:useLocalDpi xmlns:a14="http://schemas.microsoft.com/office/drawing/2010/main" val="0"/>
                </a:ext>
              </a:extLst>
            </a:blip>
            <a:srcRect l="24784" t="7908" r="24812" b="36155"/>
            <a:stretch/>
          </p:blipFill>
          <p:spPr>
            <a:xfrm>
              <a:off x="-1208015" y="-523810"/>
              <a:ext cx="687898" cy="763399"/>
            </a:xfrm>
            <a:prstGeom prst="rect">
              <a:avLst/>
            </a:prstGeom>
          </p:spPr>
        </p:pic>
      </p:grpSp>
      <p:sp>
        <p:nvSpPr>
          <p:cNvPr id="15" name="TextBox 14">
            <a:extLst>
              <a:ext uri="{FF2B5EF4-FFF2-40B4-BE49-F238E27FC236}">
                <a16:creationId xmlns:a16="http://schemas.microsoft.com/office/drawing/2014/main" id="{1255B740-5CB5-4C3F-914B-DA6372937016}"/>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2142172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867642189"/>
              </p:ext>
            </p:extLst>
          </p:nvPr>
        </p:nvGraphicFramePr>
        <p:xfrm>
          <a:off x="358774" y="1169177"/>
          <a:ext cx="8426449" cy="518112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52916">
                <a:tc rowSpan="2">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r>
                        <a:rPr lang="en-GB" sz="700" b="1" i="0" u="none" strike="noStrike">
                          <a:solidFill>
                            <a:schemeClr val="bg1">
                              <a:lumMod val="50000"/>
                            </a:schemeClr>
                          </a:solidFill>
                          <a:effectLst/>
                          <a:latin typeface="Montserrat" panose="00000500000000000000" pitchFamily="50" charset="0"/>
                        </a:rPr>
                        <a:t>Leasing Portal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Display tenancy agreement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online leasing portal displays the tenancy agreement to all applicants and guarantors as an 'iframe’ for them to sign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38398023"/>
                  </a:ext>
                </a:extLst>
              </a:tr>
              <a:tr h="152916">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Direct Debit creation page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After signing, the Direct Debit page shows the first and last collection dates, and asks the user to input the amount they will pay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5688705"/>
                  </a:ext>
                </a:extLst>
              </a:tr>
              <a:tr h="0">
                <a:tc rowSpan="4">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Select tenancy documents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automatically selects which tenancy documents will be built, based on tenancy type.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0">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Include Special Clauses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Lettings can include a number of pre-written / pre-approved clauses which can be chosen from a 'pick-list’, </a:t>
                      </a:r>
                      <a:r>
                        <a:rPr lang="en-GB" sz="800" u="none" strike="noStrike" kern="1200" baseline="0" err="1">
                          <a:solidFill>
                            <a:schemeClr val="tx1"/>
                          </a:solidFill>
                          <a:effectLst/>
                          <a:latin typeface="Montserrat" panose="00000500000000000000" pitchFamily="50" charset="0"/>
                          <a:ea typeface="+mn-ea"/>
                          <a:cs typeface="+mn-cs"/>
                        </a:rPr>
                        <a:t>e.g</a:t>
                      </a:r>
                      <a:r>
                        <a:rPr lang="en-GB" sz="800" u="none" strike="noStrike" kern="1200" baseline="0">
                          <a:solidFill>
                            <a:schemeClr val="tx1"/>
                          </a:solidFill>
                          <a:effectLst/>
                          <a:latin typeface="Montserrat" panose="00000500000000000000" pitchFamily="50" charset="0"/>
                          <a:ea typeface="+mn-ea"/>
                          <a:cs typeface="+mn-cs"/>
                        </a:rPr>
                        <a:t>: </a:t>
                      </a:r>
                      <a:r>
                        <a:rPr lang="en-GB" sz="800" i="0" u="none" strike="noStrike" kern="1200" baseline="0">
                          <a:solidFill>
                            <a:schemeClr val="tx1"/>
                          </a:solidFill>
                          <a:effectLst/>
                          <a:latin typeface="Montserrat" panose="00000500000000000000" pitchFamily="50" charset="0"/>
                          <a:ea typeface="+mn-ea"/>
                          <a:cs typeface="+mn-cs"/>
                        </a:rPr>
                        <a:t>Payment of utilities / council tax; Right to rent or immigration-related clauses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Customised / unique clauses can also be added in free text format.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0097964"/>
                  </a:ext>
                </a:extLst>
              </a:tr>
              <a:tr h="376800">
                <a:tc vMerge="1">
                  <a:txBody>
                    <a:bodyPr/>
                    <a:lstStyle/>
                    <a:p>
                      <a:endParaRPr lang="en-GB"/>
                    </a:p>
                  </a:txBody>
                  <a:tcPr>
                    <a:lnT w="12700" cap="flat" cmpd="sng" algn="ctr">
                      <a:solidFill>
                        <a:schemeClr val="bg1">
                          <a:lumMod val="50000"/>
                        </a:schemeClr>
                      </a:solidFill>
                      <a:prstDash val="solid"/>
                      <a:round/>
                      <a:headEnd type="none" w="med" len="med"/>
                      <a:tailEnd type="none" w="med" len="med"/>
                    </a:lnT>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Review and issue documents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allows a Grainger employee to review the tenancy document before it is presented to the applicants.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3698381"/>
                  </a:ext>
                </a:extLst>
              </a:tr>
              <a:tr h="0">
                <a:tc vMerge="1">
                  <a:txBody>
                    <a:bodyPr/>
                    <a:lstStyle/>
                    <a:p>
                      <a:endParaRPr lang="en-GB"/>
                    </a:p>
                  </a:txBody>
                  <a:tcPr>
                    <a:lnT w="12700" cap="flat" cmpd="sng" algn="ctr">
                      <a:solidFill>
                        <a:schemeClr val="bg1">
                          <a:lumMod val="50000"/>
                        </a:schemeClr>
                      </a:solidFill>
                      <a:prstDash val="solid"/>
                      <a:round/>
                      <a:headEnd type="none" w="med" len="med"/>
                      <a:tailEnd type="none" w="med" len="med"/>
                    </a:lnT>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Signature prompts and tracking</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will email all relevant members of the application to log back into the leasing journey to sign the tenancy documents.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tracks the completion from each of these members.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2365846"/>
                  </a:ext>
                </a:extLst>
              </a:tr>
              <a:tr h="0">
                <a:tc rowSpan="2">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Build tenancy documents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Conga will create the relevant tenancy documents based on pre-determined templated for each tenancy type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document will merge Salesforce fields to reflect the correct tenant &amp; unit info, break clauses, special clauses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Electronic signature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applicant and guarantor is able to sign the tenancy electronically using electronic signature technology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84915416"/>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Creation of DD instructions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Asperato automatically creates the DD Mandate and DD schedules for each sharer for the length of the tenancy, including adjustments for uplift and last rent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0123688"/>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Creation of lease in financial system</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inputting lease details in MRI will be done manually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Tenancy Progression will obtain info from Salesforce and key into MRI: : full terms and break clauses; billing information / method / pro-rating approach / uplift; Information about sharers and permitted occupiers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The integration to automatically create the lease in MRI is part of the ‘committed’ scope for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t"/>
                      <a:endParaRPr lang="en-GB" sz="11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36637594"/>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57</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2.01 - Tenancy signature, direct debit</a:t>
            </a:r>
            <a:br>
              <a:rPr lang="en-GB"/>
            </a:br>
            <a:r>
              <a:rPr lang="en-GB" sz="2400" i="1"/>
              <a:t>Capability Summary</a:t>
            </a:r>
            <a:endParaRPr lang="en-GB" i="1"/>
          </a:p>
        </p:txBody>
      </p:sp>
      <p:pic>
        <p:nvPicPr>
          <p:cNvPr id="13" name="Picture 2" descr="Image result for salesforce logo">
            <a:extLst>
              <a:ext uri="{FF2B5EF4-FFF2-40B4-BE49-F238E27FC236}">
                <a16:creationId xmlns:a16="http://schemas.microsoft.com/office/drawing/2014/main" id="{FBA0A755-7DF7-438A-B619-0D9A8924A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829" y="2916563"/>
            <a:ext cx="1071069" cy="7497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82067A2-E78C-47F3-AB94-883C2AD11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937" y="1723539"/>
            <a:ext cx="780857" cy="296726"/>
          </a:xfrm>
          <a:prstGeom prst="rect">
            <a:avLst/>
          </a:prstGeom>
        </p:spPr>
      </p:pic>
      <p:pic>
        <p:nvPicPr>
          <p:cNvPr id="11" name="Graphic 10">
            <a:extLst>
              <a:ext uri="{FF2B5EF4-FFF2-40B4-BE49-F238E27FC236}">
                <a16:creationId xmlns:a16="http://schemas.microsoft.com/office/drawing/2014/main" id="{D59C58D8-8A82-4521-9F31-837D9799A5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6535" y="5280326"/>
            <a:ext cx="979659" cy="271443"/>
          </a:xfrm>
          <a:prstGeom prst="rect">
            <a:avLst/>
          </a:prstGeom>
        </p:spPr>
      </p:pic>
      <p:pic>
        <p:nvPicPr>
          <p:cNvPr id="12" name="Picture 10" descr="Image result for mri software">
            <a:extLst>
              <a:ext uri="{FF2B5EF4-FFF2-40B4-BE49-F238E27FC236}">
                <a16:creationId xmlns:a16="http://schemas.microsoft.com/office/drawing/2014/main" id="{19755122-3154-4733-81CD-B728C9EF5B9C}"/>
              </a:ext>
            </a:extLst>
          </p:cNvPr>
          <p:cNvPicPr>
            <a:picLocks noChangeAspect="1" noChangeArrowheads="1"/>
          </p:cNvPicPr>
          <p:nvPr/>
        </p:nvPicPr>
        <p:blipFill>
          <a:blip r:embed="rId6">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03561" y="5811598"/>
            <a:ext cx="645608" cy="3497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picture containing drawing&#10;&#10;Description automatically generated">
            <a:extLst>
              <a:ext uri="{FF2B5EF4-FFF2-40B4-BE49-F238E27FC236}">
                <a16:creationId xmlns:a16="http://schemas.microsoft.com/office/drawing/2014/main" id="{B7838850-8783-4740-A1AF-45EBA781C8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3561" y="4431709"/>
            <a:ext cx="596577" cy="587787"/>
          </a:xfrm>
          <a:prstGeom prst="rect">
            <a:avLst/>
          </a:prstGeom>
        </p:spPr>
      </p:pic>
      <p:sp>
        <p:nvSpPr>
          <p:cNvPr id="14" name="TextBox 13">
            <a:extLst>
              <a:ext uri="{FF2B5EF4-FFF2-40B4-BE49-F238E27FC236}">
                <a16:creationId xmlns:a16="http://schemas.microsoft.com/office/drawing/2014/main" id="{0290AAB4-E9A0-4000-B4E4-64723BC1416A}"/>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3677936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662536433"/>
              </p:ext>
            </p:extLst>
          </p:nvPr>
        </p:nvGraphicFramePr>
        <p:xfrm>
          <a:off x="358774" y="1169177"/>
          <a:ext cx="8426449" cy="515992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24712">
                  <a:extLst>
                    <a:ext uri="{9D8B030D-6E8A-4147-A177-3AD203B41FA5}">
                      <a16:colId xmlns:a16="http://schemas.microsoft.com/office/drawing/2014/main" val="2373659524"/>
                    </a:ext>
                  </a:extLst>
                </a:gridCol>
                <a:gridCol w="1224793">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282010">
                <a:tc rowSpan="9">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Inventory Check-in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schedules the inventory check and assigned it to a supplier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the standard checks / questions for the Inventory check in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produces the Inventory Check in report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reviews the report in FSI, and flags concerns if necessary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t"/>
                      <a:r>
                        <a:rPr lang="en-GB" sz="1000" b="0" i="0" u="none" strike="noStrike">
                          <a:solidFill>
                            <a:srgbClr val="4A4A49"/>
                          </a:solidFill>
                          <a:effectLst/>
                          <a:latin typeface="Montserrat" panose="00000500000000000000" pitchFamily="50" charset="0"/>
                        </a:rPr>
                        <a:t>1</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0">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Book cleaning</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professional clean of the unit before it can be </a:t>
                      </a:r>
                      <a:r>
                        <a:rPr lang="en-GB" sz="800" u="none" strike="noStrike" kern="1200" baseline="0" err="1">
                          <a:solidFill>
                            <a:schemeClr val="tx1"/>
                          </a:solidFill>
                          <a:effectLst/>
                          <a:latin typeface="Montserrat" panose="00000500000000000000" pitchFamily="50" charset="0"/>
                          <a:ea typeface="+mn-ea"/>
                          <a:cs typeface="+mn-cs"/>
                        </a:rPr>
                        <a:t>relet</a:t>
                      </a:r>
                      <a:r>
                        <a:rPr lang="en-GB" sz="800" u="none" strike="noStrike" kern="1200" baseline="0">
                          <a:solidFill>
                            <a:schemeClr val="tx1"/>
                          </a:solidFill>
                          <a:effectLst/>
                          <a:latin typeface="Montserrat" panose="00000500000000000000" pitchFamily="50" charset="0"/>
                          <a:ea typeface="+mn-ea"/>
                          <a:cs typeface="+mn-cs"/>
                        </a:rPr>
                        <a:t> is a job that can be managed in FSI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t"/>
                      <a:r>
                        <a:rPr lang="en-GB" sz="1000" b="0" i="0" u="none" strike="noStrike">
                          <a:solidFill>
                            <a:srgbClr val="4A4A49"/>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Deliver the Wish List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PM team analyses the wish list from the applicants, received from Salesforce, and agrees to deliver against it accordingly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will create one or more tasks in FSI related to the </a:t>
                      </a:r>
                      <a:r>
                        <a:rPr lang="en-GB" sz="800" u="none" strike="noStrike" kern="1200" baseline="0" err="1">
                          <a:solidFill>
                            <a:schemeClr val="tx1"/>
                          </a:solidFill>
                          <a:effectLst/>
                          <a:latin typeface="Montserrat" panose="00000500000000000000" pitchFamily="50" charset="0"/>
                          <a:ea typeface="+mn-ea"/>
                          <a:cs typeface="+mn-cs"/>
                        </a:rPr>
                        <a:t>wishlist</a:t>
                      </a:r>
                      <a:endParaRPr lang="en-GB" sz="800" u="none" strike="noStrike" kern="1200" baseline="0">
                        <a:solidFill>
                          <a:schemeClr val="tx1"/>
                        </a:solidFill>
                        <a:effectLst/>
                        <a:latin typeface="Montserrat" panose="00000500000000000000" pitchFamily="50" charset="0"/>
                        <a:ea typeface="+mn-ea"/>
                        <a:cs typeface="+mn-cs"/>
                      </a:endParaRP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updates the move-in date if the delivery of the </a:t>
                      </a:r>
                      <a:r>
                        <a:rPr lang="en-GB" sz="800" u="none" strike="noStrike" kern="1200" baseline="0" err="1">
                          <a:solidFill>
                            <a:schemeClr val="tx1"/>
                          </a:solidFill>
                          <a:effectLst/>
                          <a:latin typeface="Montserrat" panose="00000500000000000000" pitchFamily="50" charset="0"/>
                          <a:ea typeface="+mn-ea"/>
                          <a:cs typeface="+mn-cs"/>
                        </a:rPr>
                        <a:t>wishlist</a:t>
                      </a:r>
                      <a:r>
                        <a:rPr lang="en-GB" sz="800" u="none" strike="noStrike" kern="1200" baseline="0">
                          <a:solidFill>
                            <a:schemeClr val="tx1"/>
                          </a:solidFill>
                          <a:effectLst/>
                          <a:latin typeface="Montserrat" panose="00000500000000000000" pitchFamily="50" charset="0"/>
                          <a:ea typeface="+mn-ea"/>
                          <a:cs typeface="+mn-cs"/>
                        </a:rPr>
                        <a:t> will impact our ability to maintain the move-in date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t"/>
                      <a:r>
                        <a:rPr lang="en-GB" sz="800" b="0" i="0" u="none" strike="noStrike">
                          <a:solidFill>
                            <a:srgbClr val="4A4A49"/>
                          </a:solidFill>
                          <a:effectLst/>
                          <a:latin typeface="Montserrat" panose="00000500000000000000" pitchFamily="50" charset="0"/>
                        </a:rPr>
                        <a:t>If there is a change in the move-in date the PM notifies Lettings manually. This can be automated in Phase 2</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Pre-Move-In Inspection (PMI)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schedules the PMI and assigns it to a supplier / employee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the standard checks / questions to be answered in the PMI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can hold the outputs of the PMI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t"/>
                      <a:r>
                        <a:rPr lang="en-GB" sz="1000" b="0" i="0" u="none" strike="noStrike">
                          <a:solidFill>
                            <a:srgbClr val="4A4A49"/>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'100-point' Checklist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Build-to-Rent properties, FSI will hold the 100-point checklist for PMs to accept a new unit from the developer</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t"/>
                      <a:r>
                        <a:rPr lang="en-GB" sz="1000" b="0" i="0" u="none" strike="noStrike">
                          <a:solidFill>
                            <a:srgbClr val="4A4A49"/>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Confirmation of readiness for move-in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PM uses FSI to mark that a unit is ready to receive a new tenant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the integration between Salesforce and FSI will not be in place, so the PM must notify the lettings / TPT team accordingly.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t"/>
                      <a:r>
                        <a:rPr lang="en-GB" sz="800" b="0" i="0" u="none" strike="noStrike">
                          <a:solidFill>
                            <a:srgbClr val="4A4A49"/>
                          </a:solidFill>
                          <a:effectLst/>
                          <a:latin typeface="Montserrat" panose="00000500000000000000" pitchFamily="50" charset="0"/>
                        </a:rPr>
                        <a:t>Integration to be built in Phase 2 will update MRI and Salesforce automatically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Home Induction (B2R only)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the Home induction as a task that can be scheduled and marked as complete by PM team / onsite staff after move-in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ctr" fontAlgn="t"/>
                      <a:r>
                        <a:rPr lang="en-GB" sz="1000" b="0" i="0" u="none" strike="noStrike">
                          <a:solidFill>
                            <a:srgbClr val="4A4A49"/>
                          </a:solidFill>
                          <a:effectLst/>
                          <a:latin typeface="Montserrat" panose="00000500000000000000" pitchFamily="50" charset="0"/>
                        </a:rPr>
                        <a:t>1</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Move-in Survey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Survey sent to tenants to assess their move-in experience.</a:t>
                      </a:r>
                      <a:br>
                        <a:rPr lang="en-GB" sz="800" u="none" strike="noStrike" kern="1200" baseline="0">
                          <a:solidFill>
                            <a:schemeClr val="tx1"/>
                          </a:solidFill>
                          <a:effectLst/>
                          <a:latin typeface="Montserrat" panose="00000500000000000000" pitchFamily="50" charset="0"/>
                          <a:ea typeface="+mn-ea"/>
                          <a:cs typeface="+mn-cs"/>
                        </a:rPr>
                      </a:br>
                      <a:r>
                        <a:rPr lang="en-GB" sz="800" u="none" strike="noStrike" kern="1200" baseline="0">
                          <a:solidFill>
                            <a:schemeClr val="tx1"/>
                          </a:solidFill>
                          <a:effectLst/>
                          <a:latin typeface="Montserrat" panose="00000500000000000000" pitchFamily="50" charset="0"/>
                          <a:ea typeface="+mn-ea"/>
                          <a:cs typeface="+mn-cs"/>
                        </a:rPr>
                        <a:t>This task is completed by the PM after the home induction.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t"/>
                      <a:r>
                        <a:rPr lang="en-GB" sz="800" b="0" i="0" u="none" strike="noStrike">
                          <a:solidFill>
                            <a:srgbClr val="4A4A49"/>
                          </a:solidFill>
                          <a:effectLst/>
                          <a:latin typeface="Montserrat" panose="00000500000000000000" pitchFamily="50" charset="0"/>
                        </a:rPr>
                        <a:t>Survey functionality to be added at Phase 2</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96801418"/>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Key release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Key release is enabled after the unit is marked as ‘ready for move-in’ in FSI, and confirmation that move-in monies have been received.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marks this task complete in FSI when the tenants have possession of the keys.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PM also notes how many keys were released to the tenant(s)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t"/>
                      <a:r>
                        <a:rPr lang="en-GB" sz="800" b="0" i="0" u="none" strike="noStrike">
                          <a:solidFill>
                            <a:srgbClr val="4A4A49"/>
                          </a:solidFill>
                          <a:effectLst/>
                          <a:latin typeface="Montserrat" panose="00000500000000000000" pitchFamily="50" charset="0"/>
                        </a:rPr>
                        <a:t>The move-in monies confirmation is not automated at phase 1. We also consider a Key management system for the future.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571382170"/>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58</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2.02 – Move-in (1/2)</a:t>
            </a:r>
            <a:br>
              <a:rPr lang="en-GB"/>
            </a:br>
            <a:r>
              <a:rPr lang="en-GB" sz="2400" i="1"/>
              <a:t>Capability Summary</a:t>
            </a:r>
            <a:endParaRPr lang="en-GB" i="1"/>
          </a:p>
        </p:txBody>
      </p:sp>
      <p:pic>
        <p:nvPicPr>
          <p:cNvPr id="14" name="Picture 16" descr="Image result for fsi concept evolution">
            <a:extLst>
              <a:ext uri="{FF2B5EF4-FFF2-40B4-BE49-F238E27FC236}">
                <a16:creationId xmlns:a16="http://schemas.microsoft.com/office/drawing/2014/main" id="{B76FA12E-98B2-4DA7-9642-3A4BE42DFE5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8705" y="3638138"/>
            <a:ext cx="855307" cy="45524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7810142-1515-4186-83E9-CF7071C29D7D}"/>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1069273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247110229"/>
              </p:ext>
            </p:extLst>
          </p:nvPr>
        </p:nvGraphicFramePr>
        <p:xfrm>
          <a:off x="358774" y="1169177"/>
          <a:ext cx="8426449" cy="5021898"/>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229761">
                  <a:extLst>
                    <a:ext uri="{9D8B030D-6E8A-4147-A177-3AD203B41FA5}">
                      <a16:colId xmlns:a16="http://schemas.microsoft.com/office/drawing/2014/main" val="2373659524"/>
                    </a:ext>
                  </a:extLst>
                </a:gridCol>
                <a:gridCol w="1719744">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40630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237202">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Welcome Pack available online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MyGrainger portal will hold all components of the Welcome pack (see below) available for electronica consultation by the tenants</a:t>
                      </a:r>
                    </a:p>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It contains useful information for the new tenant – including PM’s contact details, the Resident Handbook, Fire &amp; emergency procedures, energy &amp; electrical certificates, info about the block etc</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On day 1 this will be sent to the tenants but not available online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5786279"/>
                  </a:ext>
                </a:extLst>
              </a:tr>
              <a:tr h="102109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Settling in documents available online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settling in documentation (inventory check-in report, the deposit certificate, TDS deposit protection guide and the tenancy agreement) will be available in the MyGrainger portal at a future stage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u="none" strike="noStrike" kern="1200" baseline="0">
                          <a:solidFill>
                            <a:schemeClr val="tx1"/>
                          </a:solidFill>
                          <a:effectLst/>
                          <a:latin typeface="Montserrat" panose="00000500000000000000" pitchFamily="50" charset="0"/>
                          <a:ea typeface="+mn-ea"/>
                          <a:cs typeface="+mn-cs"/>
                        </a:rPr>
                        <a:t>On day 1 this will be sent as electronic documents to the new tenants by the tenancy progression and PM teams</a:t>
                      </a:r>
                      <a:endParaRPr lang="en-GB" sz="1000" b="0" i="0" u="none" strike="noStrike" baseline="0">
                        <a:solidFill>
                          <a:schemeClr val="tx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83751834"/>
                  </a:ext>
                </a:extLst>
              </a:tr>
              <a:tr h="1243525">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Record Energy Readings and smoke detectors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team must update the latest meter readings into the British Gas portal and confirm that CO and smoke detectors are present / have been tested.</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u="none" strike="noStrike" kern="1200" baseline="0">
                          <a:solidFill>
                            <a:schemeClr val="tx1"/>
                          </a:solidFill>
                          <a:effectLst/>
                          <a:latin typeface="Montserrat" panose="00000500000000000000" pitchFamily="50" charset="0"/>
                          <a:ea typeface="+mn-ea"/>
                          <a:cs typeface="+mn-cs"/>
                        </a:rPr>
                        <a:t>On 'day 1' we will not have an integration with the BG portal. This is something we can consider to integrate in the future.</a:t>
                      </a:r>
                      <a:endParaRPr lang="en-GB" sz="800" b="0" i="0" u="none" strike="noStrike" baseline="0">
                        <a:solidFill>
                          <a:schemeClr val="tx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568587658"/>
                  </a:ext>
                </a:extLst>
              </a:tr>
              <a:tr h="1113772">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Advance payment triggers pre-move-in process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sends an email to notify relevant parties in Grainger that an advance payment has been made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should trigger the PM setting up the pre-move-in tasks in FSI - including setting the expected move-in date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ctr" fontAlgn="b"/>
                      <a:r>
                        <a:rPr lang="en-GB" sz="800" b="0" i="0" u="none" strike="noStrike" baseline="0">
                          <a:solidFill>
                            <a:schemeClr val="tx1"/>
                          </a:solidFill>
                          <a:effectLst/>
                          <a:latin typeface="Montserrat" panose="00000500000000000000" pitchFamily="50" charset="0"/>
                        </a:rPr>
                        <a:t>On phase 2 the advance payment confirmation in Salesforce can automatically trigger the move-in tasks in FSI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algn="l" fontAlgn="b"/>
                      <a:endParaRPr lang="en-GB" sz="1000" b="0" i="0" u="sng" strike="noStrike" baseline="0">
                        <a:solidFill>
                          <a:srgbClr val="0563C1"/>
                        </a:solidFill>
                        <a:effectLst/>
                        <a:latin typeface="Montserrat" panose="00000500000000000000" pitchFamily="50" charset="0"/>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59</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2.02 – Move-in (2/2)</a:t>
            </a:r>
            <a:br>
              <a:rPr lang="en-GB"/>
            </a:br>
            <a:r>
              <a:rPr lang="en-GB" sz="2400" i="1"/>
              <a:t>Capability Summary</a:t>
            </a:r>
            <a:endParaRPr lang="en-GB" i="1"/>
          </a:p>
        </p:txBody>
      </p:sp>
      <p:sp>
        <p:nvSpPr>
          <p:cNvPr id="11" name="TextBox 10">
            <a:extLst>
              <a:ext uri="{FF2B5EF4-FFF2-40B4-BE49-F238E27FC236}">
                <a16:creationId xmlns:a16="http://schemas.microsoft.com/office/drawing/2014/main" id="{52DD09A4-0642-44B5-B75C-E4EE84D991CE}"/>
              </a:ext>
            </a:extLst>
          </p:cNvPr>
          <p:cNvSpPr txBox="1"/>
          <p:nvPr/>
        </p:nvSpPr>
        <p:spPr>
          <a:xfrm>
            <a:off x="6353862" y="2320523"/>
            <a:ext cx="1023728" cy="462432"/>
          </a:xfrm>
          <a:prstGeom prst="rect">
            <a:avLst/>
          </a:prstGeom>
          <a:solidFill>
            <a:srgbClr val="FFFF00"/>
          </a:solidFill>
          <a:ln>
            <a:solidFill>
              <a:schemeClr val="tx1"/>
            </a:solidFill>
          </a:ln>
        </p:spPr>
        <p:txBody>
          <a:bodyPr wrap="square" rtlCol="0" anchor="ctr">
            <a:noAutofit/>
          </a:bodyPr>
          <a:lstStyle/>
          <a:p>
            <a:pPr algn="ctr"/>
            <a:r>
              <a:rPr lang="en-GB" sz="800">
                <a:latin typeface="+mj-lt"/>
              </a:rPr>
              <a:t>Clarify how this is done on day 1</a:t>
            </a:r>
          </a:p>
        </p:txBody>
      </p:sp>
      <p:pic>
        <p:nvPicPr>
          <p:cNvPr id="14" name="Picture 13">
            <a:extLst>
              <a:ext uri="{FF2B5EF4-FFF2-40B4-BE49-F238E27FC236}">
                <a16:creationId xmlns:a16="http://schemas.microsoft.com/office/drawing/2014/main" id="{605E2F61-9F93-4267-8E94-3C45F0D44DFC}"/>
              </a:ext>
            </a:extLst>
          </p:cNvPr>
          <p:cNvPicPr>
            <a:picLocks noChangeAspect="1"/>
          </p:cNvPicPr>
          <p:nvPr/>
        </p:nvPicPr>
        <p:blipFill rotWithShape="1">
          <a:blip r:embed="rId2"/>
          <a:srcRect l="6573" r="2854"/>
          <a:stretch/>
        </p:blipFill>
        <p:spPr>
          <a:xfrm>
            <a:off x="376552" y="2526572"/>
            <a:ext cx="1104268" cy="36195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C5F0BF98-A55B-4ECE-8070-739F8BD79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981" y="4263852"/>
            <a:ext cx="987409" cy="385090"/>
          </a:xfrm>
          <a:prstGeom prst="rect">
            <a:avLst/>
          </a:prstGeom>
        </p:spPr>
      </p:pic>
      <p:pic>
        <p:nvPicPr>
          <p:cNvPr id="15" name="Picture 2" descr="Image result for salesforce logo">
            <a:extLst>
              <a:ext uri="{FF2B5EF4-FFF2-40B4-BE49-F238E27FC236}">
                <a16:creationId xmlns:a16="http://schemas.microsoft.com/office/drawing/2014/main" id="{AFDB5C56-C847-43D3-8C07-F8BAD8C6A7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516" y="5314615"/>
            <a:ext cx="902337" cy="6316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D5C03A0-31C9-4816-81DC-B92DD3F773FC}"/>
              </a:ext>
            </a:extLst>
          </p:cNvPr>
          <p:cNvSpPr txBox="1"/>
          <p:nvPr/>
        </p:nvSpPr>
        <p:spPr>
          <a:xfrm>
            <a:off x="7816528" y="3481959"/>
            <a:ext cx="645609" cy="349703"/>
          </a:xfrm>
          <a:prstGeom prst="rect">
            <a:avLst/>
          </a:prstGeom>
          <a:solidFill>
            <a:srgbClr val="FFFF00"/>
          </a:solidFill>
          <a:ln>
            <a:solidFill>
              <a:schemeClr val="tx1"/>
            </a:solidFill>
          </a:ln>
        </p:spPr>
        <p:txBody>
          <a:bodyPr wrap="square" rtlCol="0">
            <a:spAutoFit/>
          </a:bodyPr>
          <a:lstStyle/>
          <a:p>
            <a:pPr algn="ctr"/>
            <a:r>
              <a:rPr lang="en-GB" sz="800"/>
              <a:t>Populate links</a:t>
            </a:r>
          </a:p>
        </p:txBody>
      </p:sp>
    </p:spTree>
    <p:extLst>
      <p:ext uri="{BB962C8B-B14F-4D97-AF65-F5344CB8AC3E}">
        <p14:creationId xmlns:p14="http://schemas.microsoft.com/office/powerpoint/2010/main" val="24258452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478903107"/>
              </p:ext>
            </p:extLst>
          </p:nvPr>
        </p:nvGraphicFramePr>
        <p:xfrm>
          <a:off x="358774" y="1169176"/>
          <a:ext cx="8426449" cy="5080619"/>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5764">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440421">
                <a:tc rowSpan="10">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Notice to vacate</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Grainger or the tenant confirm they will leave, the PM marks the notice to vacate in FSI along with the respective reason</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On 'day 1’ the PM will manually update the information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2"/>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51287816"/>
                  </a:ext>
                </a:extLst>
              </a:tr>
              <a:tr h="614191">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PVI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schedules the Pre-Vacant Inspection (PVI) in FSI and assign to someone else to carry out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holds the standard checks / questions to of the PVI</a:t>
                      </a:r>
                      <a:br>
                        <a:rPr lang="en-GB" sz="800" u="none" strike="noStrike" kern="1200" baseline="0">
                          <a:solidFill>
                            <a:schemeClr val="tx1"/>
                          </a:solidFill>
                          <a:effectLst/>
                          <a:latin typeface="Montserrat" panose="00000500000000000000" pitchFamily="50" charset="0"/>
                          <a:ea typeface="+mn-ea"/>
                          <a:cs typeface="+mn-cs"/>
                        </a:rPr>
                      </a:br>
                      <a:r>
                        <a:rPr lang="en-GB" sz="800" u="none" strike="noStrike" kern="1200" baseline="0">
                          <a:solidFill>
                            <a:schemeClr val="tx1"/>
                          </a:solidFill>
                          <a:effectLst/>
                          <a:latin typeface="Montserrat" panose="00000500000000000000" pitchFamily="50" charset="0"/>
                          <a:ea typeface="+mn-ea"/>
                          <a:cs typeface="+mn-cs"/>
                        </a:rPr>
                        <a:t>FSI can hold the outputs of the PVI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rPr>
                        <a:t>PVI Question Set document</a:t>
                      </a:r>
                      <a:br>
                        <a:rPr lang="en-GB" sz="800" b="0" i="0" u="none" strike="noStrike" kern="1200">
                          <a:solidFill>
                            <a:srgbClr val="000000"/>
                          </a:solidFill>
                          <a:effectLst/>
                          <a:latin typeface="Montserrat" panose="00000500000000000000" pitchFamily="50" charset="0"/>
                          <a:ea typeface="+mn-ea"/>
                          <a:cs typeface="+mn-cs"/>
                        </a:rPr>
                      </a:br>
                      <a:r>
                        <a:rPr lang="en-GB" sz="800" b="0" i="0" u="none" strike="noStrike" kern="1200">
                          <a:solidFill>
                            <a:srgbClr val="000000"/>
                          </a:solidFill>
                          <a:effectLst/>
                          <a:latin typeface="Montserrat" panose="00000500000000000000" pitchFamily="50" charset="0"/>
                          <a:ea typeface="+mn-ea"/>
                          <a:cs typeface="+mn-cs"/>
                          <a:hlinkClick r:id="rId3"/>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61419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Future Vacant Form / Vacant Form</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completed the ‘Future vacant’ and ‘Vacant’ forms in FSI, informing other teams about the upcoming vacancy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Information in the form includes: Tenancy end date, available date, Parking included; Location of the keys, Property description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4"/>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49153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Spec of Works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 a result of PVI, the PM can open a set of tasks in FSI for works to be carried out before the unit can be re-let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tasks can be linked in a 'spec of works' and tracked as a set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31776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Move-out Pack</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PM sends a Move-Out pack to the leaving tenants with relevant information about the move-out including Return of deposit (DRI)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5"/>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37909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Make unit available to view</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can mark the property as 'ready for viewing' in the system upon completion of spec of works, or right after the PVI,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6"/>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36886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Check Out Report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PM schedules the check out report in FSI and assigns to a supplier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Supplier uploads the report when inventory check is completed.</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7"/>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61419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Prompt to swap bills with BG, Council, Water</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prompts PM to switch BG, </a:t>
                      </a:r>
                      <a:r>
                        <a:rPr lang="en-GB" sz="800" u="none" strike="noStrike" kern="1200" baseline="0" err="1">
                          <a:solidFill>
                            <a:schemeClr val="tx1"/>
                          </a:solidFill>
                          <a:effectLst/>
                          <a:latin typeface="Montserrat" panose="00000500000000000000" pitchFamily="50" charset="0"/>
                          <a:ea typeface="+mn-ea"/>
                          <a:cs typeface="+mn-cs"/>
                        </a:rPr>
                        <a:t>Councl</a:t>
                      </a:r>
                      <a:r>
                        <a:rPr lang="en-GB" sz="800" u="none" strike="noStrike" kern="1200" baseline="0">
                          <a:solidFill>
                            <a:schemeClr val="tx1"/>
                          </a:solidFill>
                          <a:effectLst/>
                          <a:latin typeface="Montserrat" panose="00000500000000000000" pitchFamily="50" charset="0"/>
                          <a:ea typeface="+mn-ea"/>
                          <a:cs typeface="+mn-cs"/>
                        </a:rPr>
                        <a:t> Tax and water bills to Grainger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goes to the BG portal and manually uploads the readings. Notifications to the Council and water providers are also manual.</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We may consider automating the BG Portal in the future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8"/>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801418"/>
                  </a:ext>
                </a:extLst>
              </a:tr>
              <a:tr h="31776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Upload DRI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PM uploads the DRI into FSI when received from the tenant. FSI manages this as a task</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9"/>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571382170"/>
                  </a:ext>
                </a:extLst>
              </a:tr>
              <a:tr h="37909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Confirmation of move out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the keys are collected back from the tenants, the PM marks the move-out as complete in FSI and the location of the keys.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We consider a key management solution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10"/>
                        </a:rPr>
                        <a:t>Business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781390713"/>
                  </a:ext>
                </a:extLst>
              </a:tr>
              <a:tr h="31776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Deposit Return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the PM team will go into enter the info from the DRI manually into MRI for the deposit return payment to be processed.</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We may automate this process via integration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66728653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60</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2.02 – Move-out</a:t>
            </a:r>
            <a:br>
              <a:rPr lang="en-GB"/>
            </a:br>
            <a:r>
              <a:rPr lang="en-GB" sz="2400" i="1"/>
              <a:t>Capability Summary</a:t>
            </a:r>
            <a:endParaRPr lang="en-GB" i="1"/>
          </a:p>
        </p:txBody>
      </p:sp>
      <p:sp>
        <p:nvSpPr>
          <p:cNvPr id="11" name="TextBox 10">
            <a:extLst>
              <a:ext uri="{FF2B5EF4-FFF2-40B4-BE49-F238E27FC236}">
                <a16:creationId xmlns:a16="http://schemas.microsoft.com/office/drawing/2014/main" id="{52DD09A4-0642-44B5-B75C-E4EE84D991CE}"/>
              </a:ext>
            </a:extLst>
          </p:cNvPr>
          <p:cNvSpPr txBox="1"/>
          <p:nvPr/>
        </p:nvSpPr>
        <p:spPr>
          <a:xfrm>
            <a:off x="6591252" y="3343146"/>
            <a:ext cx="1023728" cy="215444"/>
          </a:xfrm>
          <a:prstGeom prst="rect">
            <a:avLst/>
          </a:prstGeom>
          <a:solidFill>
            <a:srgbClr val="FFFF00"/>
          </a:solidFill>
          <a:ln>
            <a:solidFill>
              <a:schemeClr val="tx1"/>
            </a:solidFill>
          </a:ln>
        </p:spPr>
        <p:txBody>
          <a:bodyPr wrap="square" rtlCol="0">
            <a:spAutoFit/>
          </a:bodyPr>
          <a:lstStyle/>
          <a:p>
            <a:pPr algn="ctr"/>
            <a:r>
              <a:rPr lang="en-GB" sz="800">
                <a:latin typeface="+mj-lt"/>
              </a:rPr>
              <a:t>Confirm</a:t>
            </a:r>
          </a:p>
        </p:txBody>
      </p:sp>
      <p:pic>
        <p:nvPicPr>
          <p:cNvPr id="14" name="Picture 16" descr="Image result for fsi concept evolution">
            <a:extLst>
              <a:ext uri="{FF2B5EF4-FFF2-40B4-BE49-F238E27FC236}">
                <a16:creationId xmlns:a16="http://schemas.microsoft.com/office/drawing/2014/main" id="{B76FA12E-98B2-4DA7-9642-3A4BE42DFE54}"/>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8705" y="3638138"/>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1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43472" y="5953751"/>
            <a:ext cx="485771" cy="26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5347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44510195"/>
              </p:ext>
            </p:extLst>
          </p:nvPr>
        </p:nvGraphicFramePr>
        <p:xfrm>
          <a:off x="358774" y="1169177"/>
          <a:ext cx="8426449" cy="517096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32433">
                  <a:extLst>
                    <a:ext uri="{9D8B030D-6E8A-4147-A177-3AD203B41FA5}">
                      <a16:colId xmlns:a16="http://schemas.microsoft.com/office/drawing/2014/main" val="2373659524"/>
                    </a:ext>
                  </a:extLst>
                </a:gridCol>
                <a:gridCol w="1317072">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52916">
                <a:tc rowSpan="2">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Report with tenancies due for renewal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the Renewals Team will extract information from MRI on tenancies coming due within a certain period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Offline, Asset Management confirms the next step: offer renewal, </a:t>
                      </a:r>
                      <a:r>
                        <a:rPr lang="en-GB" sz="800" u="none" strike="noStrike" kern="1200" baseline="0" err="1">
                          <a:solidFill>
                            <a:schemeClr val="tx1"/>
                          </a:solidFill>
                          <a:effectLst/>
                          <a:latin typeface="Montserrat" panose="00000500000000000000" pitchFamily="50" charset="0"/>
                          <a:ea typeface="+mn-ea"/>
                          <a:cs typeface="+mn-cs"/>
                        </a:rPr>
                        <a:t>relet</a:t>
                      </a:r>
                      <a:r>
                        <a:rPr lang="en-GB" sz="800" u="none" strike="noStrike" kern="1200" baseline="0">
                          <a:solidFill>
                            <a:schemeClr val="tx1"/>
                          </a:solidFill>
                          <a:effectLst/>
                          <a:latin typeface="Montserrat" panose="00000500000000000000" pitchFamily="50" charset="0"/>
                          <a:ea typeface="+mn-ea"/>
                          <a:cs typeface="+mn-cs"/>
                        </a:rPr>
                        <a:t> to a different tenant, or to pull from the leasing journey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Part or manual processes for day 1 – committed scope to automate for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2">
                            <a:extLst>
                              <a:ext uri="{A12FA001-AC4F-418D-AE19-62706E023703}">
                                <ahyp:hlinkClr xmlns:ahyp="http://schemas.microsoft.com/office/drawing/2018/hyperlinkcolor" val="tx"/>
                              </a:ext>
                            </a:extLst>
                          </a:hlinkClick>
                        </a:rPr>
                        <a:t>Epic Matrix</a:t>
                      </a:r>
                      <a:endParaRPr lang="en-GB" sz="800" b="0" i="0" u="none" strike="noStrike" kern="1200">
                        <a:solidFill>
                          <a:srgbClr val="000000"/>
                        </a:solidFill>
                        <a:effectLst/>
                        <a:latin typeface="Montserrat" panose="00000500000000000000" pitchFamily="50" charset="0"/>
                        <a:ea typeface="+mn-ea"/>
                        <a:cs typeface="+mn-cs"/>
                      </a:endParaRPr>
                    </a:p>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3"/>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838398023"/>
                  </a:ext>
                </a:extLst>
              </a:tr>
              <a:tr h="0">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7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Input Renewal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the renewals team will manually input the details of the renewed tenancy - and update any changes requested from the customer - in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Manual process on Day 1; will be automated via integration in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30771248"/>
                  </a:ext>
                </a:extLst>
              </a:tr>
              <a:tr h="343913">
                <a:tc rowSpan="3">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endParaRPr lang="en-GB" sz="800" b="1" i="0" u="none" strike="noStrike">
                        <a:solidFill>
                          <a:schemeClr val="bg1">
                            <a:lumMod val="50000"/>
                          </a:schemeClr>
                        </a:solidFill>
                        <a:effectLst/>
                        <a:latin typeface="Montserrat" panose="00000500000000000000" pitchFamily="50" charset="0"/>
                      </a:endParaRPr>
                    </a:p>
                    <a:p>
                      <a:pPr marL="0" marR="0" lvl="0" indent="0" algn="ctr" defTabSz="685800" rtl="0" eaLnBrk="1" fontAlgn="b" latinLnBrk="0" hangingPunct="1">
                        <a:lnSpc>
                          <a:spcPct val="100000"/>
                        </a:lnSpc>
                        <a:spcBef>
                          <a:spcPts val="0"/>
                        </a:spcBef>
                        <a:spcAft>
                          <a:spcPts val="0"/>
                        </a:spcAft>
                        <a:buClrTx/>
                        <a:buSzTx/>
                        <a:buFontTx/>
                        <a:buNone/>
                        <a:tabLst/>
                        <a:defRPr/>
                      </a:pPr>
                      <a:r>
                        <a:rPr lang="en-GB" sz="800" b="1" i="0" u="none" strike="noStrike">
                          <a:solidFill>
                            <a:schemeClr val="bg1">
                              <a:lumMod val="50000"/>
                            </a:schemeClr>
                          </a:solidFill>
                          <a:effectLst/>
                          <a:latin typeface="Montserrat" panose="00000500000000000000" pitchFamily="50" charset="0"/>
                        </a:rPr>
                        <a:t>Leasing Portal</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Existing tenants create login to L2L journey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Leasing Portal will enable existing tenants to create login accounts in the leasing portal - given that after go-live many renewals will be done with tenants who haven't been through the Salesforce leasing journey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6760743"/>
                  </a:ext>
                </a:extLst>
              </a:tr>
              <a:tr h="261691">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Renewals web-app pages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Renewal pages show details of the renewal offer(s) to the tenant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tenant is able to select the preferred offer, in which case the web-app will update Salesforce with the selected offer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4"/>
                        </a:rPr>
                        <a:t>JIRA requirement</a:t>
                      </a:r>
                      <a:endParaRPr lang="en-GB" sz="800" b="0" i="0" u="none" strike="noStrike" kern="1200">
                        <a:solidFill>
                          <a:srgbClr val="000000"/>
                        </a:solidFill>
                        <a:effectLst/>
                        <a:latin typeface="Montserrat" panose="00000500000000000000" pitchFamily="50" charset="0"/>
                        <a:ea typeface="+mn-ea"/>
                        <a:cs typeface="+mn-cs"/>
                      </a:endParaRPr>
                    </a:p>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5"/>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94917179"/>
                  </a:ext>
                </a:extLst>
              </a:tr>
              <a:tr h="0">
                <a:tc vMerge="1">
                  <a:txBody>
                    <a:bodyPr/>
                    <a:lstStyle/>
                    <a:p>
                      <a:pPr algn="l"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Request Changes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Tenant can tick boxes with the elements of the tenancy they'd like to change (tenants / guarantors, term, periodicity, other)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Tenant can also indicate they prefer to end the tenancy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May automate some of the change instructions at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6"/>
                        </a:rPr>
                        <a:t>JIRA requirement</a:t>
                      </a:r>
                      <a:endParaRPr lang="en-GB" sz="800" b="0" i="0" u="none" strike="noStrike" kern="1200">
                        <a:solidFill>
                          <a:srgbClr val="000000"/>
                        </a:solidFill>
                        <a:effectLst/>
                        <a:latin typeface="Montserrat" panose="00000500000000000000" pitchFamily="50" charset="0"/>
                        <a:ea typeface="+mn-ea"/>
                        <a:cs typeface="+mn-cs"/>
                      </a:endParaRPr>
                    </a:p>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7"/>
                        </a:rPr>
                        <a:t>JIRA requirement</a:t>
                      </a:r>
                      <a:endParaRPr lang="en-GB" sz="800" b="0" i="0" u="none" strike="noStrike" kern="1200">
                        <a:solidFill>
                          <a:srgbClr val="000000"/>
                        </a:solidFill>
                        <a:effectLst/>
                        <a:latin typeface="Montserrat" panose="00000500000000000000" pitchFamily="50" charset="0"/>
                        <a:ea typeface="+mn-ea"/>
                        <a:cs typeface="+mn-cs"/>
                      </a:endParaRPr>
                    </a:p>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8"/>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620097964"/>
                  </a:ext>
                </a:extLst>
              </a:tr>
              <a:tr h="255678">
                <a:tc rowSpan="4">
                  <a:txBody>
                    <a:bodyPr/>
                    <a:lstStyle/>
                    <a:p>
                      <a:endParaRPr lang="en-GB"/>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Renewal opportunity &amp; offers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can create a copy of the original Opportunity, as a basis on which to build the renewal offers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renewal opportunity inherits most attributes from the original with adjustments, e.g. adv payment / move-in monies exempt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9"/>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2365846"/>
                  </a:ext>
                </a:extLst>
              </a:tr>
              <a:tr h="0">
                <a:tc vMerge="1">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endParaRPr lang="en-GB" sz="1200" b="1" i="0" u="none" strike="noStrike">
                        <a:solidFill>
                          <a:schemeClr val="bg1">
                            <a:lumMod val="50000"/>
                          </a:schemeClr>
                        </a:solidFill>
                        <a:effectLst/>
                        <a:latin typeface="Montserrat" panose="00000500000000000000" pitchFamily="50"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Features from Leasing Journey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b="1" u="none" strike="noStrike" kern="1200" baseline="0">
                          <a:solidFill>
                            <a:schemeClr val="tx1"/>
                          </a:solidFill>
                          <a:effectLst/>
                          <a:latin typeface="Montserrat" panose="00000500000000000000" pitchFamily="50" charset="0"/>
                          <a:ea typeface="+mn-ea"/>
                          <a:cs typeface="+mn-cs"/>
                        </a:rPr>
                        <a:t>R2R: </a:t>
                      </a:r>
                      <a:r>
                        <a:rPr lang="en-GB" sz="800" u="none" strike="noStrike" kern="1200" baseline="0">
                          <a:solidFill>
                            <a:schemeClr val="tx1"/>
                          </a:solidFill>
                          <a:effectLst/>
                          <a:latin typeface="Montserrat" panose="00000500000000000000" pitchFamily="50" charset="0"/>
                          <a:ea typeface="+mn-ea"/>
                          <a:cs typeface="+mn-cs"/>
                        </a:rPr>
                        <a:t>A review checkbox shows if R2R checks must be re-done</a:t>
                      </a:r>
                    </a:p>
                    <a:p>
                      <a:pPr marL="171450" indent="-171450" algn="l" defTabSz="685800" rtl="0" eaLnBrk="1" fontAlgn="b" latinLnBrk="0" hangingPunct="1">
                        <a:spcBef>
                          <a:spcPts val="400"/>
                        </a:spcBef>
                        <a:buFontTx/>
                        <a:buChar char="-"/>
                      </a:pPr>
                      <a:r>
                        <a:rPr lang="en-GB" sz="800" b="1" u="none" strike="noStrike" kern="1200" baseline="0">
                          <a:solidFill>
                            <a:schemeClr val="tx1"/>
                          </a:solidFill>
                          <a:effectLst/>
                          <a:latin typeface="Montserrat" panose="00000500000000000000" pitchFamily="50" charset="0"/>
                          <a:ea typeface="+mn-ea"/>
                          <a:cs typeface="+mn-cs"/>
                        </a:rPr>
                        <a:t>Generation of tenancy documents: </a:t>
                      </a:r>
                      <a:r>
                        <a:rPr lang="en-GB" sz="800" u="none" strike="noStrike" kern="1200" baseline="0">
                          <a:solidFill>
                            <a:schemeClr val="tx1"/>
                          </a:solidFill>
                          <a:effectLst/>
                          <a:latin typeface="Montserrat" panose="00000500000000000000" pitchFamily="50" charset="0"/>
                          <a:ea typeface="+mn-ea"/>
                          <a:cs typeface="+mn-cs"/>
                        </a:rPr>
                        <a:t>adjusted for renewals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10"/>
                        </a:rPr>
                        <a:t>JIRA requirement</a:t>
                      </a:r>
                      <a:endParaRPr lang="en-GB" sz="800" b="0" i="0" u="none" strike="noStrike" kern="1200">
                        <a:solidFill>
                          <a:srgbClr val="000000"/>
                        </a:solidFill>
                        <a:effectLst/>
                        <a:latin typeface="Montserrat" panose="00000500000000000000" pitchFamily="50" charset="0"/>
                        <a:ea typeface="+mn-ea"/>
                        <a:cs typeface="+mn-cs"/>
                      </a:endParaRPr>
                    </a:p>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11"/>
                        </a:rPr>
                        <a:t>JIRA requirement</a:t>
                      </a:r>
                      <a:endParaRPr lang="en-GB" sz="800" b="0" i="0" u="none" strike="noStrike" kern="1200">
                        <a:solidFill>
                          <a:srgbClr val="000000"/>
                        </a:solidFill>
                        <a:effectLst/>
                        <a:latin typeface="Montserrat" panose="00000500000000000000" pitchFamily="50" charset="0"/>
                        <a:ea typeface="+mn-ea"/>
                        <a:cs typeface="+mn-cs"/>
                      </a:endParaRPr>
                    </a:p>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12"/>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9082747"/>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Apply Changes to tenancy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 case the tenant ticks any of the boxes in the ‘Make Changes’ page in the web-app, the Grainger employee contacts the customer to update the offer</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May automate some of the change instructions at phase 3</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GB" sz="800" b="0" i="0" u="none" strike="noStrike" kern="1200">
                          <a:solidFill>
                            <a:srgbClr val="000000"/>
                          </a:solidFill>
                          <a:effectLst/>
                          <a:latin typeface="Montserrat" panose="00000500000000000000" pitchFamily="50" charset="0"/>
                          <a:ea typeface="+mn-ea"/>
                          <a:cs typeface="+mn-cs"/>
                          <a:hlinkClick r:id="rId13"/>
                        </a:rPr>
                        <a:t>Notes section</a:t>
                      </a:r>
                      <a:r>
                        <a:rPr lang="en-GB" sz="800" b="0" i="0" u="none" strike="noStrike" kern="1200">
                          <a:solidFill>
                            <a:srgbClr val="000000"/>
                          </a:solidFill>
                          <a:effectLst/>
                          <a:latin typeface="Montserrat" panose="00000500000000000000" pitchFamily="50" charset="0"/>
                          <a:ea typeface="+mn-ea"/>
                          <a:cs typeface="+mn-cs"/>
                        </a:rPr>
                        <a:t>, </a:t>
                      </a:r>
                      <a:r>
                        <a:rPr lang="en-GB" sz="800" b="0" i="0" u="none" strike="noStrike" kern="1200">
                          <a:solidFill>
                            <a:srgbClr val="000000"/>
                          </a:solidFill>
                          <a:effectLst/>
                          <a:latin typeface="Montserrat" panose="00000500000000000000" pitchFamily="50" charset="0"/>
                          <a:ea typeface="+mn-ea"/>
                          <a:cs typeface="+mn-cs"/>
                          <a:hlinkClick r:id="rId14"/>
                        </a:rPr>
                        <a:t>Guarantor</a:t>
                      </a:r>
                      <a:r>
                        <a:rPr lang="en-GB" sz="800" b="0" i="0" u="none" strike="noStrike" kern="1200">
                          <a:solidFill>
                            <a:srgbClr val="000000"/>
                          </a:solidFill>
                          <a:effectLst/>
                          <a:latin typeface="Montserrat" panose="00000500000000000000" pitchFamily="50" charset="0"/>
                          <a:ea typeface="+mn-ea"/>
                          <a:cs typeface="+mn-cs"/>
                        </a:rPr>
                        <a:t>, </a:t>
                      </a:r>
                      <a:r>
                        <a:rPr lang="en-GB" sz="800" b="0" i="0" u="none" strike="noStrike" kern="1200">
                          <a:solidFill>
                            <a:srgbClr val="000000"/>
                          </a:solidFill>
                          <a:effectLst/>
                          <a:latin typeface="Montserrat" panose="00000500000000000000" pitchFamily="50" charset="0"/>
                          <a:ea typeface="+mn-ea"/>
                          <a:cs typeface="+mn-cs"/>
                          <a:hlinkClick r:id="rId15"/>
                        </a:rPr>
                        <a:t>Tenant</a:t>
                      </a:r>
                      <a:r>
                        <a:rPr lang="en-GB" sz="800" b="0" i="0" u="none" strike="noStrike" kern="1200">
                          <a:solidFill>
                            <a:srgbClr val="000000"/>
                          </a:solidFill>
                          <a:effectLst/>
                          <a:latin typeface="Montserrat" panose="00000500000000000000" pitchFamily="50" charset="0"/>
                          <a:ea typeface="+mn-ea"/>
                          <a:cs typeface="+mn-cs"/>
                        </a:rPr>
                        <a:t>, </a:t>
                      </a:r>
                      <a:r>
                        <a:rPr lang="en-GB" sz="800" b="0" i="0" u="none" strike="noStrike" kern="1200">
                          <a:solidFill>
                            <a:srgbClr val="000000"/>
                          </a:solidFill>
                          <a:effectLst/>
                          <a:latin typeface="Montserrat" panose="00000500000000000000" pitchFamily="50" charset="0"/>
                          <a:ea typeface="+mn-ea"/>
                          <a:cs typeface="+mn-cs"/>
                          <a:hlinkClick r:id="rId16"/>
                        </a:rPr>
                        <a:t>Term</a:t>
                      </a:r>
                      <a:r>
                        <a:rPr lang="en-GB" sz="800" b="0" i="0" u="none" strike="noStrike" kern="1200">
                          <a:solidFill>
                            <a:srgbClr val="000000"/>
                          </a:solidFill>
                          <a:effectLst/>
                          <a:latin typeface="Montserrat" panose="00000500000000000000" pitchFamily="50" charset="0"/>
                          <a:ea typeface="+mn-ea"/>
                          <a:cs typeface="+mn-cs"/>
                        </a:rPr>
                        <a:t>, </a:t>
                      </a:r>
                      <a:r>
                        <a:rPr lang="en-GB" sz="800" b="0" i="0" u="none" strike="noStrike" kern="1200">
                          <a:solidFill>
                            <a:srgbClr val="000000"/>
                          </a:solidFill>
                          <a:effectLst/>
                          <a:latin typeface="Montserrat" panose="00000500000000000000" pitchFamily="50" charset="0"/>
                          <a:ea typeface="+mn-ea"/>
                          <a:cs typeface="+mn-cs"/>
                          <a:hlinkClick r:id="rId17"/>
                        </a:rPr>
                        <a:t>Periodicity</a:t>
                      </a:r>
                      <a:r>
                        <a:rPr lang="en-GB" sz="800" b="0" i="0" u="none" strike="noStrike" kern="1200">
                          <a:solidFill>
                            <a:srgbClr val="000000"/>
                          </a:solidFill>
                          <a:effectLst/>
                          <a:latin typeface="Montserrat" panose="00000500000000000000" pitchFamily="50" charset="0"/>
                          <a:ea typeface="+mn-ea"/>
                          <a:cs typeface="+mn-cs"/>
                        </a:rPr>
                        <a:t>, </a:t>
                      </a:r>
                      <a:r>
                        <a:rPr lang="en-GB" sz="800" b="0" i="0" u="none" strike="noStrike" kern="1200">
                          <a:solidFill>
                            <a:srgbClr val="000000"/>
                          </a:solidFill>
                          <a:effectLst/>
                          <a:latin typeface="Montserrat" panose="00000500000000000000" pitchFamily="50" charset="0"/>
                          <a:ea typeface="+mn-ea"/>
                          <a:cs typeface="+mn-cs"/>
                          <a:hlinkClick r:id="rId18"/>
                        </a:rPr>
                        <a:t>Termination</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284915416"/>
                  </a:ext>
                </a:extLst>
              </a:tr>
              <a:tr h="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Renewals emails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Salesforce emails reminders to tenants to respond to the renewals process and sign the renewed tenancy </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0123688"/>
                  </a:ext>
                </a:extLst>
              </a:tr>
              <a:tr h="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b">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1" u="none" strike="noStrike" kern="1200" baseline="0">
                          <a:solidFill>
                            <a:schemeClr val="tx1"/>
                          </a:solidFill>
                          <a:effectLst/>
                          <a:latin typeface="+mj-lt"/>
                          <a:ea typeface="+mn-ea"/>
                          <a:cs typeface="+mn-cs"/>
                        </a:rPr>
                        <a:t>Update Direct Debit instructions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Asperato functionality allows Grainger staff to access the existing DD mandates of the original tenancy and create new DD Schedules for the renewed tenancy.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Manual process on Day 1; will be automated via integration in Phase 2</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r>
                        <a:rPr lang="en-GB" sz="800" b="0" i="0" u="none" strike="noStrike" kern="1200">
                          <a:solidFill>
                            <a:srgbClr val="000000"/>
                          </a:solidFill>
                          <a:effectLst/>
                          <a:latin typeface="Montserrat" panose="00000500000000000000" pitchFamily="50" charset="0"/>
                          <a:ea typeface="+mn-ea"/>
                          <a:cs typeface="+mn-cs"/>
                          <a:hlinkClick r:id="rId19"/>
                        </a:rPr>
                        <a:t>JIRA requirement</a:t>
                      </a:r>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20335716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61</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3.05 – Renewals</a:t>
            </a:r>
            <a:br>
              <a:rPr lang="en-GB"/>
            </a:br>
            <a:r>
              <a:rPr lang="en-GB" sz="2400" i="1"/>
              <a:t>Capability Summary</a:t>
            </a:r>
            <a:endParaRPr lang="en-GB" i="1"/>
          </a:p>
        </p:txBody>
      </p:sp>
      <p:pic>
        <p:nvPicPr>
          <p:cNvPr id="13" name="Picture 2" descr="Image result for salesforce logo">
            <a:extLst>
              <a:ext uri="{FF2B5EF4-FFF2-40B4-BE49-F238E27FC236}">
                <a16:creationId xmlns:a16="http://schemas.microsoft.com/office/drawing/2014/main" id="{FBA0A755-7DF7-438A-B619-0D9A8924AB8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7875" y="4653534"/>
            <a:ext cx="988256" cy="6917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82067A2-E78C-47F3-AB94-883C2AD114A3}"/>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60543" y="3049312"/>
            <a:ext cx="714323" cy="271443"/>
          </a:xfrm>
          <a:prstGeom prst="rect">
            <a:avLst/>
          </a:prstGeom>
        </p:spPr>
      </p:pic>
      <p:pic>
        <p:nvPicPr>
          <p:cNvPr id="11" name="Graphic 10">
            <a:extLst>
              <a:ext uri="{FF2B5EF4-FFF2-40B4-BE49-F238E27FC236}">
                <a16:creationId xmlns:a16="http://schemas.microsoft.com/office/drawing/2014/main" id="{D59C58D8-8A82-4521-9F31-837D9799A5C4}"/>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27874" y="6003224"/>
            <a:ext cx="979659" cy="271443"/>
          </a:xfrm>
          <a:prstGeom prst="rect">
            <a:avLst/>
          </a:prstGeom>
        </p:spPr>
      </p:pic>
      <p:pic>
        <p:nvPicPr>
          <p:cNvPr id="12" name="Picture 10" descr="Image result for mri software">
            <a:extLst>
              <a:ext uri="{FF2B5EF4-FFF2-40B4-BE49-F238E27FC236}">
                <a16:creationId xmlns:a16="http://schemas.microsoft.com/office/drawing/2014/main" id="{19755122-3154-4733-81CD-B728C9EF5B9C}"/>
              </a:ext>
            </a:extLst>
          </p:cNvPr>
          <p:cNvPicPr>
            <a:picLocks noChangeAspect="1" noChangeArrowheads="1"/>
          </p:cNvPicPr>
          <p:nvPr/>
        </p:nvPicPr>
        <p:blipFill>
          <a:blip r:embed="rId24">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4899" y="1759541"/>
            <a:ext cx="645608" cy="34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9792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2D5DF315-E682-4695-8E62-6F282A212A69}"/>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7132" r="7132"/>
          <a:stretch>
            <a:fillRect/>
          </a:stretch>
        </p:blipFill>
        <p:spPr>
          <a:ln>
            <a:solidFill>
              <a:schemeClr val="bg1"/>
            </a:solidFill>
          </a:ln>
        </p:spPr>
      </p:pic>
      <p:sp>
        <p:nvSpPr>
          <p:cNvPr id="6" name="Title 5">
            <a:extLst>
              <a:ext uri="{FF2B5EF4-FFF2-40B4-BE49-F238E27FC236}">
                <a16:creationId xmlns:a16="http://schemas.microsoft.com/office/drawing/2014/main" id="{3B001709-B3B3-493C-BE2B-565B8EA1AB13}"/>
              </a:ext>
            </a:extLst>
          </p:cNvPr>
          <p:cNvSpPr>
            <a:spLocks noGrp="1"/>
          </p:cNvSpPr>
          <p:nvPr>
            <p:ph type="ctrTitle"/>
          </p:nvPr>
        </p:nvSpPr>
        <p:spPr>
          <a:xfrm>
            <a:off x="358774" y="271173"/>
            <a:ext cx="5664407" cy="1727751"/>
          </a:xfrm>
        </p:spPr>
        <p:txBody>
          <a:bodyPr/>
          <a:lstStyle/>
          <a:p>
            <a:r>
              <a:rPr lang="en-GB"/>
              <a:t>Onboarding</a:t>
            </a:r>
          </a:p>
        </p:txBody>
      </p:sp>
      <p:sp>
        <p:nvSpPr>
          <p:cNvPr id="3" name="Footer Placeholder 2">
            <a:extLst>
              <a:ext uri="{FF2B5EF4-FFF2-40B4-BE49-F238E27FC236}">
                <a16:creationId xmlns:a16="http://schemas.microsoft.com/office/drawing/2014/main" id="{9E00C884-1D70-4751-8308-745B2D68B4C7}"/>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CE8F6C27-0003-44DE-8767-30B4D89EA994}"/>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62</a:t>
            </a:fld>
            <a:endParaRPr lang="en-GB"/>
          </a:p>
        </p:txBody>
      </p:sp>
    </p:spTree>
    <p:extLst>
      <p:ext uri="{BB962C8B-B14F-4D97-AF65-F5344CB8AC3E}">
        <p14:creationId xmlns:p14="http://schemas.microsoft.com/office/powerpoint/2010/main" val="150869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44619BBE-C582-4A84-8AA6-DEDAAB19EE81}"/>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58" b="58"/>
          <a:stretch>
            <a:fillRect/>
          </a:stretch>
        </p:blipFill>
        <p:spPr>
          <a:ln>
            <a:solidFill>
              <a:schemeClr val="bg1"/>
            </a:solidFill>
          </a:ln>
        </p:spPr>
      </p:pic>
      <p:sp>
        <p:nvSpPr>
          <p:cNvPr id="6" name="Title 5">
            <a:extLst>
              <a:ext uri="{FF2B5EF4-FFF2-40B4-BE49-F238E27FC236}">
                <a16:creationId xmlns:a16="http://schemas.microsoft.com/office/drawing/2014/main" id="{3B001709-B3B3-493C-BE2B-565B8EA1AB13}"/>
              </a:ext>
            </a:extLst>
          </p:cNvPr>
          <p:cNvSpPr>
            <a:spLocks noGrp="1"/>
          </p:cNvSpPr>
          <p:nvPr>
            <p:ph type="ctrTitle"/>
          </p:nvPr>
        </p:nvSpPr>
        <p:spPr>
          <a:xfrm>
            <a:off x="358774" y="271173"/>
            <a:ext cx="5664407" cy="1727751"/>
          </a:xfrm>
        </p:spPr>
        <p:txBody>
          <a:bodyPr/>
          <a:lstStyle/>
          <a:p>
            <a:r>
              <a:rPr lang="en-GB"/>
              <a:t>Finance Processes</a:t>
            </a:r>
          </a:p>
        </p:txBody>
      </p:sp>
      <p:sp>
        <p:nvSpPr>
          <p:cNvPr id="3" name="Footer Placeholder 2">
            <a:extLst>
              <a:ext uri="{FF2B5EF4-FFF2-40B4-BE49-F238E27FC236}">
                <a16:creationId xmlns:a16="http://schemas.microsoft.com/office/drawing/2014/main" id="{9E00C884-1D70-4751-8308-745B2D68B4C7}"/>
              </a:ext>
            </a:extLst>
          </p:cNvPr>
          <p:cNvSpPr>
            <a:spLocks noGrp="1"/>
          </p:cNvSpPr>
          <p:nvPr>
            <p:ph type="ftr" sz="quarter" idx="4294967295"/>
          </p:nvPr>
        </p:nvSpPr>
        <p:spPr>
          <a:xfrm>
            <a:off x="0" y="6480175"/>
            <a:ext cx="4789488" cy="227013"/>
          </a:xfrm>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CE8F6C27-0003-44DE-8767-30B4D89EA994}"/>
              </a:ext>
            </a:extLst>
          </p:cNvPr>
          <p:cNvSpPr>
            <a:spLocks noGrp="1"/>
          </p:cNvSpPr>
          <p:nvPr>
            <p:ph type="sldNum" sz="quarter" idx="4294967295"/>
          </p:nvPr>
        </p:nvSpPr>
        <p:spPr>
          <a:xfrm>
            <a:off x="8715375" y="6480175"/>
            <a:ext cx="428625" cy="228600"/>
          </a:xfrm>
        </p:spPr>
        <p:txBody>
          <a:bodyPr/>
          <a:lstStyle/>
          <a:p>
            <a:fld id="{0D32313A-DEBC-4CA4-B008-A02D4ABE2C72}" type="slidenum">
              <a:rPr lang="en-GB" smtClean="0"/>
              <a:t>63</a:t>
            </a:fld>
            <a:endParaRPr lang="en-GB"/>
          </a:p>
        </p:txBody>
      </p:sp>
    </p:spTree>
    <p:extLst>
      <p:ext uri="{BB962C8B-B14F-4D97-AF65-F5344CB8AC3E}">
        <p14:creationId xmlns:p14="http://schemas.microsoft.com/office/powerpoint/2010/main" val="8345447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003417147"/>
              </p:ext>
            </p:extLst>
          </p:nvPr>
        </p:nvGraphicFramePr>
        <p:xfrm>
          <a:off x="358774" y="1169174"/>
          <a:ext cx="8426449" cy="5081982"/>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6563">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482400">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Identification of properties</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 regular report issued by </a:t>
                      </a:r>
                      <a:r>
                        <a:rPr lang="en-GB" sz="800" u="none" strike="noStrike" kern="1200" baseline="0" err="1">
                          <a:solidFill>
                            <a:schemeClr val="tx1"/>
                          </a:solidFill>
                          <a:effectLst/>
                          <a:latin typeface="Montserrat" panose="00000500000000000000" pitchFamily="50" charset="0"/>
                          <a:ea typeface="+mn-ea"/>
                          <a:cs typeface="+mn-cs"/>
                        </a:rPr>
                        <a:t>PowerBi</a:t>
                      </a:r>
                      <a:r>
                        <a:rPr lang="en-GB" sz="800" u="none" strike="noStrike" kern="1200" baseline="0">
                          <a:solidFill>
                            <a:schemeClr val="tx1"/>
                          </a:solidFill>
                          <a:effectLst/>
                          <a:latin typeface="Montserrat" panose="00000500000000000000" pitchFamily="50" charset="0"/>
                          <a:ea typeface="+mn-ea"/>
                          <a:cs typeface="+mn-cs"/>
                        </a:rPr>
                        <a:t> will show units due for rent review and track their evolution through the process</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598822">
                <a:tc rowSpan="6">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Tenure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MRI Rent review functionality is flexible to support small differences across different tenures, for instance:</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Regulated tenancies apply a 15% standard increase</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Assured tenancies have no fixed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101520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Case view &amp; management</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Rent review screen in MRI provides a view of all aspects of a specific rent review case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User is able to see what stage of the process it is,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Completed the actions and events necessary to move the case to the next stage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Manage actions / approvals with specific individuals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98640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Rent review documentation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is able to generate and manage all letters to tenants and to valuation office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Different templates are across the process, including appeals</a:t>
                      </a:r>
                      <a:br>
                        <a:rPr lang="en-GB" sz="800" u="none" strike="noStrike" kern="1200" baseline="0">
                          <a:solidFill>
                            <a:schemeClr val="tx1"/>
                          </a:solidFill>
                          <a:effectLst/>
                          <a:latin typeface="Montserrat" panose="00000500000000000000" pitchFamily="50" charset="0"/>
                          <a:ea typeface="+mn-ea"/>
                          <a:cs typeface="+mn-cs"/>
                        </a:rPr>
                      </a:br>
                      <a:r>
                        <a:rPr lang="en-GB" sz="800" u="none" strike="noStrike" kern="1200" baseline="0">
                          <a:solidFill>
                            <a:schemeClr val="tx1"/>
                          </a:solidFill>
                          <a:effectLst/>
                          <a:latin typeface="Montserrat" panose="00000500000000000000" pitchFamily="50" charset="0"/>
                          <a:ea typeface="+mn-ea"/>
                          <a:cs typeface="+mn-cs"/>
                        </a:rPr>
                        <a:t>Letters are generated according to templates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actual sending of these documents is manual – i.e. user prints letter, collects signatures, attached other documents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But may consider automating the sending of letters in the future</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96801418"/>
                  </a:ext>
                </a:extLst>
              </a:tr>
              <a:tr h="723577">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Appeals process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Functionality captures the key outcomes of this process  - valuation forum is the valuation office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Captures all events &amp; documents that make part of the appeal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Only applicable to regulated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571382170"/>
                  </a:ext>
                </a:extLst>
              </a:tr>
              <a:tr h="38782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Rent review Reporting</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also issues customised report to inform changes in the Direct Debit instructions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81390713"/>
                  </a:ext>
                </a:extLst>
              </a:tr>
              <a:tr h="66120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Update charges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Rent charges are updated automatically at the end of the rent review process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Charges may have to change again in case an appeals process requires us to</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54000" marR="54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66728653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64</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3.06 Rent Reviews</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482641" y="3709474"/>
            <a:ext cx="812184" cy="4399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A1437981-D133-445F-94B8-028E7E5928E1}"/>
              </a:ext>
            </a:extLst>
          </p:cNvPr>
          <p:cNvPicPr>
            <a:picLocks noChangeAspect="1"/>
          </p:cNvPicPr>
          <p:nvPr/>
        </p:nvPicPr>
        <p:blipFill rotWithShape="1">
          <a:blip r:embed="rId3">
            <a:clrChange>
              <a:clrFrom>
                <a:srgbClr val="FFFFFF"/>
              </a:clrFrom>
              <a:clrTo>
                <a:srgbClr val="FFFFFF">
                  <a:alpha val="0"/>
                </a:srgbClr>
              </a:clrTo>
            </a:clrChange>
          </a:blip>
          <a:srcRect l="16572" r="20242" b="26084"/>
          <a:stretch/>
        </p:blipFill>
        <p:spPr>
          <a:xfrm>
            <a:off x="555450" y="1323126"/>
            <a:ext cx="666566" cy="597822"/>
          </a:xfrm>
          <a:prstGeom prst="rect">
            <a:avLst/>
          </a:prstGeom>
        </p:spPr>
      </p:pic>
    </p:spTree>
    <p:extLst>
      <p:ext uri="{BB962C8B-B14F-4D97-AF65-F5344CB8AC3E}">
        <p14:creationId xmlns:p14="http://schemas.microsoft.com/office/powerpoint/2010/main" val="2898873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996709965"/>
              </p:ext>
            </p:extLst>
          </p:nvPr>
        </p:nvGraphicFramePr>
        <p:xfrm>
          <a:off x="358774" y="1169176"/>
          <a:ext cx="8426449" cy="5008072"/>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214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851625">
                <a:tc rowSpan="3">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Handle insurance information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is able to hold selected insurance information against each property to help us manage policies and claims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information is uploaded into MRI when the information is updated in our insurers’ systems as a result of renewal or mid-term updates.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Passing information on to FSI would help managing jobs – possible Phase 2 enhancement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690946">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Recharge insurance costs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insurance is part of Service Charge, MRI will include these into the apportionments relative to service charge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Re-charges are raised in MRI manually for the relevant customers to reimburse the cost of the insurance.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91069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Managing Claims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Property managers input relevant claim information into MRI after creating a work order which will be covered by insurance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Insurance team takes that information to process the claim repayment from the insurer.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When information is updated, finance updates financials in MRI</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Claim information can be integrated to FSI in the future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933775">
                <a:tc>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Process insurers’ invoices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process the insurers’ invoice as a standalone invoice – applying the relevant approvals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is able to take instruction from the user (attaching a direct recharge schedule) so MRI can automatically raise re-charges.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Non-property related insurance are also paid using Proactis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754265442"/>
                  </a:ext>
                </a:extLst>
              </a:tr>
              <a:tr h="781285">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Raise claim for works covered by insurance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Property managers raise works through FSI and carries out the work as normal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Property manager raises the insurance claim separately – on ‘day 1’ the PM will have to lookup the relevant insurance information in MRI in order to do it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Claim information can be integrated to FSI in the future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93254584"/>
                  </a:ext>
                </a:extLst>
              </a:tr>
              <a:tr h="615347">
                <a:tc>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Insurance certificates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Insurance certificates are stored in the DMS (but manually scanned) – downloaded from the insurer’s website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insurance certificates will be automatically attached to the service charge statement / invoice when it’s sent to the customer</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62526844"/>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65</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6.03 Managing Insurance</a:t>
            </a:r>
            <a:br>
              <a:rPr lang="en-GB"/>
            </a:br>
            <a:r>
              <a:rPr lang="en-GB" sz="2400" i="1"/>
              <a:t>Capability Summary</a:t>
            </a:r>
            <a:endParaRPr lang="en-GB" i="1"/>
          </a:p>
        </p:txBody>
      </p:sp>
      <p:pic>
        <p:nvPicPr>
          <p:cNvPr id="14" name="Picture 16" descr="Image result for fsi concept evolution">
            <a:extLst>
              <a:ext uri="{FF2B5EF4-FFF2-40B4-BE49-F238E27FC236}">
                <a16:creationId xmlns:a16="http://schemas.microsoft.com/office/drawing/2014/main" id="{B76FA12E-98B2-4DA7-9642-3A4BE42DFE5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3690" y="4924770"/>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70434" y="2469581"/>
            <a:ext cx="660094" cy="3575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Image result for proactis software">
            <a:extLst>
              <a:ext uri="{FF2B5EF4-FFF2-40B4-BE49-F238E27FC236}">
                <a16:creationId xmlns:a16="http://schemas.microsoft.com/office/drawing/2014/main" id="{EEE70B6A-79F8-4E10-9A52-29AF7FE85C1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3690" y="4127536"/>
            <a:ext cx="833583" cy="345103"/>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51EC96B5-3ABD-4CC8-9716-0EB49B8BC059}"/>
              </a:ext>
            </a:extLst>
          </p:cNvPr>
          <p:cNvGrpSpPr/>
          <p:nvPr/>
        </p:nvGrpSpPr>
        <p:grpSpPr>
          <a:xfrm>
            <a:off x="395309" y="5548979"/>
            <a:ext cx="1032068" cy="700746"/>
            <a:chOff x="-1170351" y="1394892"/>
            <a:chExt cx="751251" cy="510080"/>
          </a:xfrm>
        </p:grpSpPr>
        <p:pic>
          <p:nvPicPr>
            <p:cNvPr id="16" name="Picture 15">
              <a:extLst>
                <a:ext uri="{FF2B5EF4-FFF2-40B4-BE49-F238E27FC236}">
                  <a16:creationId xmlns:a16="http://schemas.microsoft.com/office/drawing/2014/main" id="{2ABC8A44-DDA3-4814-B25F-A23A4D499DAD}"/>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r="44148"/>
            <a:stretch/>
          </p:blipFill>
          <p:spPr>
            <a:xfrm>
              <a:off x="-1170351" y="1394892"/>
              <a:ext cx="751251" cy="330632"/>
            </a:xfrm>
            <a:prstGeom prst="rect">
              <a:avLst/>
            </a:prstGeom>
          </p:spPr>
        </p:pic>
        <p:pic>
          <p:nvPicPr>
            <p:cNvPr id="17" name="Picture 16">
              <a:extLst>
                <a:ext uri="{FF2B5EF4-FFF2-40B4-BE49-F238E27FC236}">
                  <a16:creationId xmlns:a16="http://schemas.microsoft.com/office/drawing/2014/main" id="{A05A4D20-F355-48F1-AFC9-A36908D09B65}"/>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55350"/>
            <a:stretch/>
          </p:blipFill>
          <p:spPr>
            <a:xfrm>
              <a:off x="-1095016" y="1574340"/>
              <a:ext cx="600579" cy="330632"/>
            </a:xfrm>
            <a:prstGeom prst="rect">
              <a:avLst/>
            </a:prstGeom>
          </p:spPr>
        </p:pic>
      </p:grpSp>
    </p:spTree>
    <p:extLst>
      <p:ext uri="{BB962C8B-B14F-4D97-AF65-F5344CB8AC3E}">
        <p14:creationId xmlns:p14="http://schemas.microsoft.com/office/powerpoint/2010/main" val="28499839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502507670"/>
              </p:ext>
            </p:extLst>
          </p:nvPr>
        </p:nvGraphicFramePr>
        <p:xfrm>
          <a:off x="358774" y="1169176"/>
          <a:ext cx="8426449" cy="508062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9447">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146156">
                <a:tc rowSpan="7">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Service Charge Budgets and Schedules</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Commercial Management module (CM) of MRI has the capability of managing service charge budgets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property can hold multiple service charge schedules – i.e. different types of expenses will be distributed differently across the various units following rules set for each property / schedule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‘Entity’ / Estate level schedules are also possible,  in case multiple buildings share common areas (e.g. courtyard, joint staircase)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Budgets can be used to generate billing for the year (in advance)</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624210">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MRI Reports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Basic reports from MRI show how actual spend compares to the original budget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reports can be issued at any time – providing real-time information and enabling early action to correct problems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72280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End of Year reconciliation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facilitates the careful review of all expenditure at the end of the service Charge year, across all service charge schedules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Depending on how actual spend compared to the budget, MRI will generate a credit notes or invoices to the relevant parties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Relevant information can be made available to external audit</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Complex Estates with multiple buildings may need S/C statements to be consolidated offline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196221"/>
                  </a:ext>
                </a:extLst>
              </a:tr>
              <a:tr h="56880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Raise Service charges to the customers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will raise Service Charges as one-off charges (even though they are regular / recurrent)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Such charges are calculated to each unit according to the lease agreements and relevant S/C schedules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322943">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Sinking funds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has the ability to account for and keep surplus proceeds in sinking funds and reflect that in S/C statements.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84671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Year end statement of expenditure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can issue the statutory documentation to customers reporting all spend vs budget and the resulting credit / debit for the year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can be extensive documents with all relevant calculations, and may be unique to one customer / unit.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Year end statements will be reviewed and signed by Grainger and external auditors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619544">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Documentation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sending the actual document involves attaching invoices and other relevant documents, plus the signature from auditors</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Statement (signed by auditors)</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Invoice (where applicable)</a:t>
                      </a:r>
                    </a:p>
                    <a:p>
                      <a:pPr marL="539750" lvl="1" indent="-196850" algn="l" defTabSz="685800" rtl="0" eaLnBrk="1" fontAlgn="b" latinLnBrk="0" hangingPunct="1">
                        <a:spcBef>
                          <a:spcPts val="0"/>
                        </a:spcBef>
                        <a:buFont typeface="+mj-lt"/>
                        <a:buAutoNum type="romanLcPeriod"/>
                      </a:pPr>
                      <a:r>
                        <a:rPr lang="en-GB" sz="800" i="1" u="none" strike="noStrike" kern="1200" baseline="0">
                          <a:solidFill>
                            <a:schemeClr val="tx1"/>
                          </a:solidFill>
                          <a:effectLst/>
                          <a:latin typeface="Montserrat" panose="00000500000000000000" pitchFamily="50" charset="0"/>
                          <a:ea typeface="+mn-ea"/>
                          <a:cs typeface="+mn-cs"/>
                        </a:rPr>
                        <a:t>Insurance invoice and certificate (where applicable)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The ability to attach multiple documents is Phase 1 functionality</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66</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7.01 Managing Service Charges (1/2)</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0309" y="3261493"/>
            <a:ext cx="685598" cy="371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565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287904605"/>
              </p:ext>
            </p:extLst>
          </p:nvPr>
        </p:nvGraphicFramePr>
        <p:xfrm>
          <a:off x="358774" y="1169176"/>
          <a:ext cx="8426449" cy="5072485"/>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0145">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072594">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Capture S/C spend per property level as incurred</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is configured with specific Problem codes for Service Charge expenditure – these codes map to the relevant general ledger accounts to enable the automatic allocation of spend in MRI</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FSI also allows the user to select which Service Charge scheduled the work refers to, and also select multiple S/C schedules against one order if necessary</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553477">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rowSpan="2">
                  <a:txBody>
                    <a:bodyPr/>
                    <a:lstStyle/>
                    <a:p>
                      <a:pPr algn="ctr" fontAlgn="b"/>
                      <a:r>
                        <a:rPr lang="en-GB" sz="1000" b="0" i="0" u="none" strike="noStrike">
                          <a:solidFill>
                            <a:schemeClr val="tx1"/>
                          </a:solidFill>
                          <a:effectLst/>
                          <a:latin typeface="+mj-lt"/>
                        </a:rPr>
                        <a:t>Approval Pathways for Service Charges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rowSpan="2">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approvals governance / coding embedded in FSI and Proactis will protect us from incorrectly coding expense into / out of Service Charge schedules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setup ensures the front-line of the business takes ownership / responsibility for the quality of invoicing</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rowSpan="2">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rowSpan="2">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347330">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307029276"/>
                  </a:ext>
                </a:extLst>
              </a:tr>
              <a:tr h="506618">
                <a:tc vMerge="1">
                  <a:txBody>
                    <a:bodyPr/>
                    <a:lstStyle/>
                    <a:p>
                      <a:endParaRPr lang="en-GB"/>
                    </a:p>
                  </a:txBody>
                  <a:tcPr/>
                </a:tc>
                <a:tc>
                  <a:txBody>
                    <a:bodyPr/>
                    <a:lstStyle/>
                    <a:p>
                      <a:pPr algn="ctr" fontAlgn="b"/>
                      <a:r>
                        <a:rPr lang="en-GB" sz="1000" b="0" i="0" u="none" strike="noStrike">
                          <a:solidFill>
                            <a:schemeClr val="tx1"/>
                          </a:solidFill>
                          <a:effectLst/>
                          <a:latin typeface="+mj-lt"/>
                        </a:rPr>
                        <a:t>‘Split the line’ for mixed spend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Between FSI and the integration, Connect has the capability of identifying spend that is 'mixed’ between S/C and non-S/C, and send the information accordingly to MRI</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942893764"/>
                  </a:ext>
                </a:extLst>
              </a:tr>
              <a:tr h="835788">
                <a:tc>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Direct Debit Collections into segregated bank accounts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Our Direct Debit accounts in GoCardless are setup in a way that ensure Service Charge payments are all made into segregated accounts that only hold Service Charge monies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52789018"/>
                  </a:ext>
                </a:extLst>
              </a:tr>
              <a:tr h="626841">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Allocation of property spend of costs across units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Once invoices are approved in Proactis, MRI will allocate the spend across the various units according to the S/C schedules as per instructions from FSI</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905437">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Major Works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Major works are handled as a separate item of spend, but use the same functionality of the Service Charges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Depending of the size of the major works, Grainger may created payment plans (the same as used for arrears customers) to smooth out payment for customers through a longer period.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67</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7.01 Managing Service Charges (2/2)</a:t>
            </a:r>
            <a:br>
              <a:rPr lang="en-GB"/>
            </a:br>
            <a:r>
              <a:rPr lang="en-GB" sz="2400" i="1"/>
              <a:t>Capability Summary</a:t>
            </a:r>
            <a:endParaRPr lang="en-GB" i="1"/>
          </a:p>
        </p:txBody>
      </p:sp>
      <p:pic>
        <p:nvPicPr>
          <p:cNvPr id="14" name="Picture 16" descr="Image result for fsi concept evolution">
            <a:extLst>
              <a:ext uri="{FF2B5EF4-FFF2-40B4-BE49-F238E27FC236}">
                <a16:creationId xmlns:a16="http://schemas.microsoft.com/office/drawing/2014/main" id="{B76FA12E-98B2-4DA7-9642-3A4BE42DFE5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3564" y="1901350"/>
            <a:ext cx="855307" cy="455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473564" y="5341533"/>
            <a:ext cx="840448" cy="45524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Image result for proactis software">
            <a:extLst>
              <a:ext uri="{FF2B5EF4-FFF2-40B4-BE49-F238E27FC236}">
                <a16:creationId xmlns:a16="http://schemas.microsoft.com/office/drawing/2014/main" id="{AB8940E0-6261-4CF4-9ADD-C389DF0553F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5288" y="3251259"/>
            <a:ext cx="833583" cy="345103"/>
          </a:xfrm>
          <a:prstGeom prst="rect">
            <a:avLst/>
          </a:prstGeom>
          <a:noFill/>
          <a:extLst>
            <a:ext uri="{909E8E84-426E-40DD-AFC4-6F175D3DCCD1}">
              <a14:hiddenFill xmlns:a14="http://schemas.microsoft.com/office/drawing/2010/main">
                <a:solidFill>
                  <a:srgbClr val="FFFFFF"/>
                </a:solidFill>
              </a14:hiddenFill>
            </a:ext>
          </a:extLst>
        </p:spPr>
      </p:pic>
      <p:pic>
        <p:nvPicPr>
          <p:cNvPr id="15" name="Graphic 14">
            <a:extLst>
              <a:ext uri="{FF2B5EF4-FFF2-40B4-BE49-F238E27FC236}">
                <a16:creationId xmlns:a16="http://schemas.microsoft.com/office/drawing/2014/main" id="{6B45EED9-C6CF-4786-A6B3-9D531969D7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537" y="4167211"/>
            <a:ext cx="979659" cy="271443"/>
          </a:xfrm>
          <a:prstGeom prst="rect">
            <a:avLst/>
          </a:prstGeom>
        </p:spPr>
      </p:pic>
    </p:spTree>
    <p:extLst>
      <p:ext uri="{BB962C8B-B14F-4D97-AF65-F5344CB8AC3E}">
        <p14:creationId xmlns:p14="http://schemas.microsoft.com/office/powerpoint/2010/main" val="26435421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346801050"/>
              </p:ext>
            </p:extLst>
          </p:nvPr>
        </p:nvGraphicFramePr>
        <p:xfrm>
          <a:off x="358774" y="1169175"/>
          <a:ext cx="8426449" cy="5080550"/>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43128">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565701">
                <a:tc rowSpan="5">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Open / close bank accounts</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Business requests new bank account/account to be closed e.g. 3.1 Collecting Rent and Other Charges-Commercial Deposits and Change Request form completed and approved</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1486070">
                <a:tc vMerge="1">
                  <a:txBody>
                    <a:bodyPr/>
                    <a:lstStyle/>
                    <a:p>
                      <a:endParaRPr lang="en-GB"/>
                    </a:p>
                  </a:txBody>
                  <a:tcPr/>
                </a:tc>
                <a:tc>
                  <a:txBody>
                    <a:bodyPr/>
                    <a:lstStyle/>
                    <a:p>
                      <a:pPr algn="ctr" fontAlgn="b"/>
                      <a:r>
                        <a:rPr lang="en-GB" sz="1000" b="0" i="0" u="none" strike="noStrike">
                          <a:solidFill>
                            <a:schemeClr val="tx1"/>
                          </a:solidFill>
                          <a:effectLst/>
                          <a:latin typeface="+mj-lt"/>
                        </a:rPr>
                        <a:t>Cash Types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holds a series of ‘cash types’ against the various buildings, units, and the charges that can be raised against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In essence, every transaction recorded against a specific unit and type should be banked via a specific bank account; MRI uses cash types both for Accounts Payable and Accounts receivable.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accounts payable, the cash types guarantee that the proceeds  paid to the supplier will be drawn from the right place / account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accounts receivable, these codes are used to compare the bank accounts a payment should have been received into with where it was actually received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22561256"/>
                  </a:ext>
                </a:extLst>
              </a:tr>
              <a:tr h="848255">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Bank Error Report &amp; automatic fund reallocation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Bank Error report will summarise all instances of cash received (into the tenant ledger) and banked to unexpected accounts (or ‘error’ accounts)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has the ability to automatically move these proceeds within the accounting and adjust the expected amounts to be seen in each of the bank reconciliation screens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111180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Process transfers for banking corrections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Even though MRI the various Connect elements will be able to match the majority of payments into the right ledgers and bank accounts, there will be residual adjustments which will need to be supported by regular transfers among our actual bank accounts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effort will not be automated – however the idea is that, the more transactions we are able to pass on automatically to MRI and map via the correct cash types, the less of these transfers will need to be made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The automation of refunds and concessions between Asperato and MRI will reduce the need for manual reallocations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825595">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b"/>
                      <a:r>
                        <a:rPr lang="en-GB" sz="1000" b="0" i="0" u="none" strike="noStrike">
                          <a:solidFill>
                            <a:schemeClr val="tx1"/>
                          </a:solidFill>
                          <a:effectLst/>
                          <a:latin typeface="+mj-lt"/>
                        </a:rPr>
                        <a:t>Bank reconciliation screens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there is an area in MRI where you can match receipts and payments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There will be one reconciliation page for each bank account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‘Reconciling items’ are clearly identifiable</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is  the basis for the consolidated bank report for treasury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68</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8.01 Cash management</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67668" y="3554169"/>
            <a:ext cx="796754" cy="43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6559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695820259"/>
              </p:ext>
            </p:extLst>
          </p:nvPr>
        </p:nvGraphicFramePr>
        <p:xfrm>
          <a:off x="358774" y="1169176"/>
          <a:ext cx="8426449" cy="5080621"/>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50380">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817195">
                <a:tc rowSpan="5">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Mobile app for expenses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Proactis staff expense module has a mobile instance that enables the user to capture receipts in real time by taking pictures of them</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User is able to build the expense claim in teal time by adding information to each entry</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464788">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Management of expense claims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Employee logs on to Proactis to review their expense claim form and to scan copies of other supporting documentation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Expense claims are kept in store for future reference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408106">
                <a:tc vMerge="1">
                  <a:txBody>
                    <a:bodyPr/>
                    <a:lstStyle/>
                    <a:p>
                      <a:endParaRPr lang="en-GB"/>
                    </a:p>
                  </a:txBody>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Validation of expense claims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automatically evaluates the expense claim against a set of predefined rules – pointing out errors to the user before it can be sent for approval</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endParaRPr lang="en-GB" sz="1000" b="0" i="0" u="none" strike="noStrike" kern="1200" baseline="0">
                        <a:solidFill>
                          <a:schemeClr val="tx1"/>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711398067"/>
                  </a:ext>
                </a:extLst>
              </a:tr>
              <a:tr h="158708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Approval of expense claims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approval of expense claims happens in Proactis using a basic workflow that traces the key steps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Once the expense claim is submitted by the employee, the Line Manager is notified by Proactis and tasked to approved it.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Line Manager can see the queue of all claims for approval</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Line Manager is able to review the claims online and open all supporting documentation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Every comment / request for clarification is noted in Proactis. In case of comments the claim goes back to the employee to review / support additional evidence.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54414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Support for Audit</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Audit teams may require to reviews and approves/reject expense claims. Proactis offers the functionality of an ‘Approver 2’ to also act online and noting their questions / outcomes as part of the wider workflow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600823">
                <a:tc rowSpan="2">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Set employee up as supplier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For MRI to pay employee expenses the practical way is to set employees as suppliers.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employee supplier record will have information like their bank details for payment of expense claims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40810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Process payment of expenses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Approved expense claims will transition via integration into MRI and be paid via BACS to the employee’s account as noted in their supplier record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998795423"/>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69</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8.06 Staff expenses</a:t>
            </a:r>
            <a:br>
              <a:rPr lang="en-GB"/>
            </a:br>
            <a:r>
              <a:rPr lang="en-GB" sz="2400" i="1"/>
              <a:t>Capability Summary</a:t>
            </a:r>
            <a:endParaRPr lang="en-GB" i="1"/>
          </a:p>
        </p:txBody>
      </p:sp>
      <p:pic>
        <p:nvPicPr>
          <p:cNvPr id="13" name="Picture 10" descr="Image result for mri software">
            <a:extLst>
              <a:ext uri="{FF2B5EF4-FFF2-40B4-BE49-F238E27FC236}">
                <a16:creationId xmlns:a16="http://schemas.microsoft.com/office/drawing/2014/main" id="{D6E1611F-E8A3-4073-8D54-C3CBFA4F5C5B}"/>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480429" y="5519199"/>
            <a:ext cx="840448" cy="45524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Image result for proactis software">
            <a:extLst>
              <a:ext uri="{FF2B5EF4-FFF2-40B4-BE49-F238E27FC236}">
                <a16:creationId xmlns:a16="http://schemas.microsoft.com/office/drawing/2014/main" id="{36857148-CBCD-4F89-A819-222C040789D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429" y="2938134"/>
            <a:ext cx="833583" cy="345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291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3702777345"/>
              </p:ext>
            </p:extLst>
          </p:nvPr>
        </p:nvGraphicFramePr>
        <p:xfrm>
          <a:off x="358774" y="1169177"/>
          <a:ext cx="8426449" cy="5082091"/>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22929">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536574">
                <a:tc rowSpan="9">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Accruals</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Proactis provide data sets from the P2P activity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 day 1, an automated template reads the Proactis data to create journal entries that can be uploaded into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Integration to automatically post the journals into MRI</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551287816"/>
                  </a:ext>
                </a:extLst>
              </a:tr>
              <a:tr h="34688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Pre-payments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has the capability to distribute pre-payments made via Proactis (</a:t>
                      </a:r>
                      <a:r>
                        <a:rPr lang="en-GB" sz="800" u="none" strike="noStrike" kern="1200" baseline="0" err="1">
                          <a:solidFill>
                            <a:schemeClr val="tx1"/>
                          </a:solidFill>
                          <a:effectLst/>
                          <a:latin typeface="Montserrat" panose="00000500000000000000" pitchFamily="50" charset="0"/>
                          <a:ea typeface="+mn-ea"/>
                          <a:cs typeface="+mn-cs"/>
                        </a:rPr>
                        <a:t>e.g</a:t>
                      </a:r>
                      <a:r>
                        <a:rPr lang="en-GB" sz="800" u="none" strike="noStrike" kern="1200" baseline="0">
                          <a:solidFill>
                            <a:schemeClr val="tx1"/>
                          </a:solidFill>
                          <a:effectLst/>
                          <a:latin typeface="Montserrat" panose="00000500000000000000" pitchFamily="50" charset="0"/>
                          <a:ea typeface="+mn-ea"/>
                          <a:cs typeface="+mn-cs"/>
                        </a:rPr>
                        <a:t> annual licenses) across the relevant financial periods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535608">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GB" sz="1000" b="1" u="none" strike="noStrike" kern="1200" baseline="0">
                          <a:solidFill>
                            <a:schemeClr val="tx1"/>
                          </a:solidFill>
                          <a:effectLst/>
                          <a:latin typeface="+mj-lt"/>
                          <a:ea typeface="+mn-ea"/>
                          <a:cs typeface="+mn-cs"/>
                        </a:rPr>
                        <a:t>Segmentation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buFontTx/>
                        <a:buChar char="-"/>
                      </a:pPr>
                      <a:r>
                        <a:rPr lang="en-GB" sz="800" u="none" strike="noStrike" kern="1200" baseline="0">
                          <a:solidFill>
                            <a:schemeClr val="tx1"/>
                          </a:solidFill>
                          <a:effectLst/>
                          <a:latin typeface="Montserrat" panose="00000500000000000000" pitchFamily="50" charset="0"/>
                          <a:ea typeface="+mn-ea"/>
                          <a:cs typeface="+mn-cs"/>
                        </a:rPr>
                        <a:t>MRI has 10 segmentation fields to facilitate the correct allocation of costs and income across different reporting categories</a:t>
                      </a:r>
                    </a:p>
                    <a:p>
                      <a:pPr marL="171450" indent="-171450">
                        <a:buFontTx/>
                        <a:buChar char="-"/>
                      </a:pPr>
                      <a:r>
                        <a:rPr lang="en-GB" sz="800" u="none" strike="noStrike" kern="1200" baseline="0">
                          <a:solidFill>
                            <a:schemeClr val="tx1"/>
                          </a:solidFill>
                          <a:effectLst/>
                          <a:latin typeface="Montserrat" panose="00000500000000000000" pitchFamily="50" charset="0"/>
                          <a:ea typeface="+mn-ea"/>
                          <a:cs typeface="+mn-cs"/>
                        </a:rPr>
                        <a:t>The ‘segments’ are fully configurable / setup to meet Grainger’s needs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416347">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GB" sz="1000" b="1" u="none" strike="noStrike" kern="1200" baseline="0">
                          <a:solidFill>
                            <a:schemeClr val="tx1"/>
                          </a:solidFill>
                          <a:effectLst/>
                          <a:latin typeface="+mj-lt"/>
                          <a:ea typeface="+mn-ea"/>
                          <a:cs typeface="+mn-cs"/>
                        </a:rPr>
                        <a:t>Journal Import Template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latinLnBrk="0" hangingPunct="1">
                        <a:buFontTx/>
                        <a:buChar char="-"/>
                      </a:pPr>
                      <a:r>
                        <a:rPr lang="en-GB" sz="800" u="none" strike="noStrike" kern="1200" baseline="0">
                          <a:solidFill>
                            <a:schemeClr val="tx1"/>
                          </a:solidFill>
                          <a:effectLst/>
                          <a:latin typeface="Montserrat" panose="00000500000000000000" pitchFamily="50" charset="0"/>
                          <a:ea typeface="+mn-ea"/>
                          <a:cs typeface="+mn-cs"/>
                        </a:rPr>
                        <a:t>Template to assist uploading journals with a large number of lines, and spare the team from manually keying them into the system</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59140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Fixed Assets Module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This is a module of MRI which supports the management of corporate assets – e.g. computer equipment, software development etc</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module calculates depreciation and disposal adjustments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824831662"/>
                  </a:ext>
                </a:extLst>
              </a:tr>
              <a:tr h="67455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Valuation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We built customised functionality in MRI to hold and calculate valuation adjustments (which today is done offline today)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also time-stamps valuation adjustments– in a way that keeps the historic records unchanged</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96801418"/>
                  </a:ext>
                </a:extLst>
              </a:tr>
              <a:tr h="480781">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err="1">
                          <a:solidFill>
                            <a:schemeClr val="tx1"/>
                          </a:solidFill>
                          <a:effectLst/>
                          <a:latin typeface="+mj-lt"/>
                          <a:ea typeface="+mn-ea"/>
                          <a:cs typeface="+mn-cs"/>
                        </a:rPr>
                        <a:t>Straightlining</a:t>
                      </a:r>
                      <a:endParaRPr lang="en-GB" sz="1000" b="1" u="none" strike="noStrike" kern="1200" baseline="0">
                        <a:solidFill>
                          <a:schemeClr val="tx1"/>
                        </a:solidFill>
                        <a:effectLst/>
                        <a:latin typeface="+mj-lt"/>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(Only available in CM module) automatic application of adjustments to rent income across the length of the lease (e.g. rent-free periods, step-ups in rent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571382170"/>
                  </a:ext>
                </a:extLst>
              </a:tr>
              <a:tr h="416347">
                <a:tc vMerge="1">
                  <a:txBody>
                    <a:bodyPr/>
                    <a:lstStyle/>
                    <a:p>
                      <a:endParaRPr lang="en-GB"/>
                    </a:p>
                  </a:txBody>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Revenue Recognition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marR="0" lvl="0" indent="-171450" algn="l" defTabSz="685800" rtl="0" eaLnBrk="1" fontAlgn="b" latinLnBrk="0" hangingPunct="1">
                        <a:lnSpc>
                          <a:spcPct val="100000"/>
                        </a:lnSpc>
                        <a:spcBef>
                          <a:spcPts val="400"/>
                        </a:spcBef>
                        <a:spcAft>
                          <a:spcPts val="0"/>
                        </a:spcAft>
                        <a:buClrTx/>
                        <a:buSzTx/>
                        <a:buFontTx/>
                        <a:buChar char="-"/>
                        <a:tabLst/>
                        <a:defRPr/>
                      </a:pPr>
                      <a:r>
                        <a:rPr lang="en-GB" sz="800" u="none" strike="noStrike" kern="1200" baseline="0">
                          <a:solidFill>
                            <a:schemeClr val="tx1"/>
                          </a:solidFill>
                          <a:effectLst/>
                          <a:latin typeface="Montserrat" panose="00000500000000000000" pitchFamily="50" charset="0"/>
                          <a:ea typeface="+mn-ea"/>
                          <a:cs typeface="+mn-cs"/>
                        </a:rPr>
                        <a:t>We have built in MRI the capability to distribute income taken by Grainger (</a:t>
                      </a:r>
                      <a:r>
                        <a:rPr lang="en-GB" sz="800" u="none" strike="noStrike" kern="1200" baseline="0" err="1">
                          <a:solidFill>
                            <a:schemeClr val="tx1"/>
                          </a:solidFill>
                          <a:effectLst/>
                          <a:latin typeface="Montserrat" panose="00000500000000000000" pitchFamily="50" charset="0"/>
                          <a:ea typeface="+mn-ea"/>
                          <a:cs typeface="+mn-cs"/>
                        </a:rPr>
                        <a:t>e.g</a:t>
                      </a:r>
                      <a:r>
                        <a:rPr lang="en-GB" sz="800" u="none" strike="noStrike" kern="1200" baseline="0">
                          <a:solidFill>
                            <a:schemeClr val="tx1"/>
                          </a:solidFill>
                          <a:effectLst/>
                          <a:latin typeface="Montserrat" panose="00000500000000000000" pitchFamily="50" charset="0"/>
                          <a:ea typeface="+mn-ea"/>
                          <a:cs typeface="+mn-cs"/>
                        </a:rPr>
                        <a:t> annual rent charge) across the relevant financial periods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042020262"/>
                  </a:ext>
                </a:extLst>
              </a:tr>
              <a:tr h="859203">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Month-end Close / Year-end Rollover</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Built-in process in MRI to close a financial period in a module of MRI and roll-over the appropriate accounts / amounts to the next period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At year-end this exercise is more comprehensive, rolling over accounts used and re-setting income statement for the next financial year</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81390713"/>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70</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8.02 Month end / 8.03 Year end </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52032" y="3652541"/>
            <a:ext cx="690186" cy="373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794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4018281146"/>
              </p:ext>
            </p:extLst>
          </p:nvPr>
        </p:nvGraphicFramePr>
        <p:xfrm>
          <a:off x="358774" y="1169175"/>
          <a:ext cx="8426449" cy="5080612"/>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775556">
                  <a:extLst>
                    <a:ext uri="{9D8B030D-6E8A-4147-A177-3AD203B41FA5}">
                      <a16:colId xmlns:a16="http://schemas.microsoft.com/office/drawing/2014/main" val="2373659524"/>
                    </a:ext>
                  </a:extLst>
                </a:gridCol>
                <a:gridCol w="1311966">
                  <a:extLst>
                    <a:ext uri="{9D8B030D-6E8A-4147-A177-3AD203B41FA5}">
                      <a16:colId xmlns:a16="http://schemas.microsoft.com/office/drawing/2014/main" val="3700481437"/>
                    </a:ext>
                  </a:extLst>
                </a:gridCol>
                <a:gridCol w="929334">
                  <a:extLst>
                    <a:ext uri="{9D8B030D-6E8A-4147-A177-3AD203B41FA5}">
                      <a16:colId xmlns:a16="http://schemas.microsoft.com/office/drawing/2014/main" val="2058356255"/>
                    </a:ext>
                  </a:extLst>
                </a:gridCol>
              </a:tblGrid>
              <a:tr h="227511">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1136486">
                <a:tc rowSpan="6">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Reporting Dimensions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Multiple dimensions can be created in OneStream for cross-level reporting (e.g. external reporting segments reported against corporate entity)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same dimensions apply to FP&amp;A and month-end / year-end</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Dimensions facilitate the ‘slicing and dicing’ of information and create more flexible reports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There are 10 dimensions in total, e.g. operational segments, unit matrix (status / tenure / type)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667286536"/>
                  </a:ext>
                </a:extLst>
              </a:tr>
              <a:tr h="1259349">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MIP (Management Information Pack) </a:t>
                      </a:r>
                    </a:p>
                    <a:p>
                      <a:pPr marL="0" algn="ctr" defTabSz="685800" rtl="0" eaLnBrk="1" fontAlgn="b" latinLnBrk="0" hangingPunct="1"/>
                      <a:endParaRPr lang="en-GB" sz="1000" b="1" u="none" strike="noStrike" kern="1200" baseline="0">
                        <a:solidFill>
                          <a:schemeClr val="tx1"/>
                        </a:solidFill>
                        <a:effectLst/>
                        <a:latin typeface="+mj-lt"/>
                        <a:ea typeface="+mn-ea"/>
                        <a:cs typeface="+mn-cs"/>
                      </a:endParaRPr>
                    </a:p>
                    <a:p>
                      <a:pPr marL="0" algn="ctr" defTabSz="685800" rtl="0" eaLnBrk="1" fontAlgn="b" latinLnBrk="0" hangingPunct="1"/>
                      <a:r>
                        <a:rPr lang="en-GB" sz="1000" b="1" u="none" strike="noStrike" kern="1200" baseline="0">
                          <a:solidFill>
                            <a:schemeClr val="tx1"/>
                          </a:solidFill>
                          <a:effectLst/>
                          <a:latin typeface="+mj-lt"/>
                          <a:ea typeface="+mn-ea"/>
                          <a:cs typeface="+mn-cs"/>
                        </a:rPr>
                        <a:t>&amp; Statutory Reporting</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All financial tables are created using the same base data (a marked improvement from today’s process)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Non-financial data is also loaded via forms in OneStream and all reside in one location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MIP Cash Flow is also prepared automatically by OneStream, with the flexibility for the user to identify other cash flow categories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section of the MIP will hold commentary from the respective business owners – the commentary is received via MS Office and captured into OneStream for inclusion in the report</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602183872"/>
                  </a:ext>
                </a:extLst>
              </a:tr>
              <a:tr h="460737">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Direct link to FP&amp;A Module in OneStream</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OneStream links information to FP&amp;A module, protecting the ‘one source of truth’ for the actuals, and allow the business to build scenarios on top of these actuals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438766211"/>
                  </a:ext>
                </a:extLst>
              </a:tr>
              <a:tr h="54264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Link to the Data Warehouse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All outputs / information generated in OneStream are automatically linked to the Data Warehouse</a:t>
                      </a:r>
                    </a:p>
                    <a:p>
                      <a:pPr marL="171450" indent="-171450" algn="l" defTabSz="685800" rtl="0" eaLnBrk="1" fontAlgn="b" latinLnBrk="0" hangingPunct="1">
                        <a:spcBef>
                          <a:spcPts val="400"/>
                        </a:spcBef>
                        <a:buFontTx/>
                        <a:buChar char="-"/>
                      </a:pPr>
                      <a:r>
                        <a:rPr lang="en-GB" sz="800" u="none" strike="noStrike" kern="1200" baseline="0" err="1">
                          <a:solidFill>
                            <a:schemeClr val="tx1"/>
                          </a:solidFill>
                          <a:effectLst/>
                          <a:latin typeface="Montserrat" panose="00000500000000000000" pitchFamily="50" charset="0"/>
                          <a:ea typeface="+mn-ea"/>
                          <a:cs typeface="+mn-cs"/>
                        </a:rPr>
                        <a:t>PowerBI</a:t>
                      </a:r>
                      <a:r>
                        <a:rPr lang="en-GB" sz="800" u="none" strike="noStrike" kern="1200" baseline="0">
                          <a:solidFill>
                            <a:schemeClr val="tx1"/>
                          </a:solidFill>
                          <a:effectLst/>
                          <a:latin typeface="Montserrat" panose="00000500000000000000" pitchFamily="50" charset="0"/>
                          <a:ea typeface="+mn-ea"/>
                          <a:cs typeface="+mn-cs"/>
                        </a:rPr>
                        <a:t> has access to the reporting dimensions, so reports done via </a:t>
                      </a:r>
                      <a:r>
                        <a:rPr lang="en-GB" sz="800" u="none" strike="noStrike" kern="1200" baseline="0" err="1">
                          <a:solidFill>
                            <a:schemeClr val="tx1"/>
                          </a:solidFill>
                          <a:effectLst/>
                          <a:latin typeface="Montserrat" panose="00000500000000000000" pitchFamily="50" charset="0"/>
                          <a:ea typeface="+mn-ea"/>
                          <a:cs typeface="+mn-cs"/>
                        </a:rPr>
                        <a:t>PowerBI</a:t>
                      </a:r>
                      <a:r>
                        <a:rPr lang="en-GB" sz="800" u="none" strike="noStrike" kern="1200" baseline="0">
                          <a:solidFill>
                            <a:schemeClr val="tx1"/>
                          </a:solidFill>
                          <a:effectLst/>
                          <a:latin typeface="Montserrat" panose="00000500000000000000" pitchFamily="50" charset="0"/>
                          <a:ea typeface="+mn-ea"/>
                          <a:cs typeface="+mn-cs"/>
                        </a:rPr>
                        <a:t> are also based on the same dataset </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605388743"/>
                  </a:ext>
                </a:extLst>
              </a:tr>
              <a:tr h="788373">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Financial Consolidation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OneStream has the ability to consolidate all Grainger legal entities automatically into the month- and year-end accounts without need for user intervention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OneStream can perform equity accounting (used for consolidation) as well as the ability to present see-through accounting (used for preparation of FP&amp;A)</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41922980"/>
                  </a:ext>
                </a:extLst>
              </a:tr>
              <a:tr h="66551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Validation rules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err="1">
                          <a:solidFill>
                            <a:schemeClr val="tx1"/>
                          </a:solidFill>
                          <a:effectLst/>
                          <a:latin typeface="Montserrat" panose="00000500000000000000" pitchFamily="50" charset="0"/>
                          <a:ea typeface="+mn-ea"/>
                          <a:cs typeface="+mn-cs"/>
                        </a:rPr>
                        <a:t>Onestream</a:t>
                      </a:r>
                      <a:r>
                        <a:rPr lang="en-GB" sz="800" u="none" strike="noStrike" kern="1200" baseline="0">
                          <a:solidFill>
                            <a:schemeClr val="tx1"/>
                          </a:solidFill>
                          <a:effectLst/>
                          <a:latin typeface="Montserrat" panose="00000500000000000000" pitchFamily="50" charset="0"/>
                          <a:ea typeface="+mn-ea"/>
                          <a:cs typeface="+mn-cs"/>
                        </a:rPr>
                        <a:t> validates the data according to a set of predefined rules (set by Grainger) – e.g. if an entry is classed ‘property expenditure’ than OneStream expects a unit reference in the raw data set</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Validation errors are reported to an administrator for correction before data can be put into the system</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940251585"/>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71</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8.02 Month end / 8.03 Year end </a:t>
            </a:r>
            <a:br>
              <a:rPr lang="en-GB"/>
            </a:br>
            <a:r>
              <a:rPr lang="en-GB" sz="2400" i="1"/>
              <a:t>Capability Summary</a:t>
            </a:r>
            <a:endParaRPr lang="en-GB" i="1"/>
          </a:p>
        </p:txBody>
      </p:sp>
      <p:pic>
        <p:nvPicPr>
          <p:cNvPr id="13" name="Picture 12">
            <a:extLst>
              <a:ext uri="{FF2B5EF4-FFF2-40B4-BE49-F238E27FC236}">
                <a16:creationId xmlns:a16="http://schemas.microsoft.com/office/drawing/2014/main" id="{7C40B13E-88E8-4700-8398-C63E89DA73D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5590" y="3750938"/>
            <a:ext cx="1007184" cy="527093"/>
          </a:xfrm>
          <a:prstGeom prst="rect">
            <a:avLst/>
          </a:prstGeom>
        </p:spPr>
      </p:pic>
    </p:spTree>
    <p:extLst>
      <p:ext uri="{BB962C8B-B14F-4D97-AF65-F5344CB8AC3E}">
        <p14:creationId xmlns:p14="http://schemas.microsoft.com/office/powerpoint/2010/main" val="889275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F9078C1-A91F-4442-8732-AF3CBEA3A2F5}"/>
              </a:ext>
            </a:extLst>
          </p:cNvPr>
          <p:cNvGraphicFramePr>
            <a:graphicFrameLocks noGrp="1"/>
          </p:cNvGraphicFramePr>
          <p:nvPr>
            <p:ph idx="1"/>
            <p:extLst>
              <p:ext uri="{D42A27DB-BD31-4B8C-83A1-F6EECF244321}">
                <p14:modId xmlns:p14="http://schemas.microsoft.com/office/powerpoint/2010/main" val="2883048874"/>
              </p:ext>
            </p:extLst>
          </p:nvPr>
        </p:nvGraphicFramePr>
        <p:xfrm>
          <a:off x="358774" y="1169176"/>
          <a:ext cx="8426449" cy="5080599"/>
        </p:xfrm>
        <a:graphic>
          <a:graphicData uri="http://schemas.openxmlformats.org/drawingml/2006/table">
            <a:tbl>
              <a:tblPr>
                <a:tableStyleId>{5C22544A-7EE6-4342-B048-85BDC9FD1C3A}</a:tableStyleId>
              </a:tblPr>
              <a:tblGrid>
                <a:gridCol w="1136071">
                  <a:extLst>
                    <a:ext uri="{9D8B030D-6E8A-4147-A177-3AD203B41FA5}">
                      <a16:colId xmlns:a16="http://schemas.microsoft.com/office/drawing/2014/main" val="39590646"/>
                    </a:ext>
                  </a:extLst>
                </a:gridCol>
                <a:gridCol w="1273522">
                  <a:extLst>
                    <a:ext uri="{9D8B030D-6E8A-4147-A177-3AD203B41FA5}">
                      <a16:colId xmlns:a16="http://schemas.microsoft.com/office/drawing/2014/main" val="394621022"/>
                    </a:ext>
                  </a:extLst>
                </a:gridCol>
                <a:gridCol w="3665989">
                  <a:extLst>
                    <a:ext uri="{9D8B030D-6E8A-4147-A177-3AD203B41FA5}">
                      <a16:colId xmlns:a16="http://schemas.microsoft.com/office/drawing/2014/main" val="2373659524"/>
                    </a:ext>
                  </a:extLst>
                </a:gridCol>
                <a:gridCol w="1283516">
                  <a:extLst>
                    <a:ext uri="{9D8B030D-6E8A-4147-A177-3AD203B41FA5}">
                      <a16:colId xmlns:a16="http://schemas.microsoft.com/office/drawing/2014/main" val="3700481437"/>
                    </a:ext>
                  </a:extLst>
                </a:gridCol>
                <a:gridCol w="1067351">
                  <a:extLst>
                    <a:ext uri="{9D8B030D-6E8A-4147-A177-3AD203B41FA5}">
                      <a16:colId xmlns:a16="http://schemas.microsoft.com/office/drawing/2014/main" val="2058356255"/>
                    </a:ext>
                  </a:extLst>
                </a:gridCol>
              </a:tblGrid>
              <a:tr h="234586">
                <a:tc>
                  <a:txBody>
                    <a:bodyPr/>
                    <a:lstStyle/>
                    <a:p>
                      <a:pPr algn="ctr" fontAlgn="t"/>
                      <a:r>
                        <a:rPr lang="en-GB" sz="1000" b="0" i="0" u="none" strike="noStrike">
                          <a:solidFill>
                            <a:schemeClr val="bg1"/>
                          </a:solidFill>
                          <a:effectLst/>
                          <a:latin typeface="+mj-lt"/>
                        </a:rPr>
                        <a:t>System</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Capability</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Description</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ctr" fontAlgn="t"/>
                      <a:r>
                        <a:rPr lang="en-GB" sz="1000" u="none" strike="noStrike">
                          <a:solidFill>
                            <a:schemeClr val="bg1"/>
                          </a:solidFill>
                          <a:effectLst/>
                          <a:latin typeface="+mj-lt"/>
                        </a:rPr>
                        <a:t>Phase 2 element?</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tc>
                  <a:txBody>
                    <a:bodyPr/>
                    <a:lstStyle/>
                    <a:p>
                      <a:pPr algn="l" fontAlgn="t"/>
                      <a:r>
                        <a:rPr lang="en-GB" sz="1000" u="none" strike="noStrike">
                          <a:solidFill>
                            <a:schemeClr val="bg1"/>
                          </a:solidFill>
                          <a:effectLst/>
                          <a:latin typeface="+mj-lt"/>
                        </a:rPr>
                        <a:t>Further info</a:t>
                      </a:r>
                      <a:endParaRPr lang="en-GB" sz="1000" b="0" i="0" u="none" strike="noStrike">
                        <a:solidFill>
                          <a:schemeClr val="bg1"/>
                        </a:solidFill>
                        <a:effectLst/>
                        <a:latin typeface="+mj-lt"/>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4D858D"/>
                    </a:solidFill>
                  </a:tcPr>
                </a:tc>
                <a:extLst>
                  <a:ext uri="{0D108BD9-81ED-4DB2-BD59-A6C34878D82A}">
                    <a16:rowId xmlns:a16="http://schemas.microsoft.com/office/drawing/2014/main" val="3448609919"/>
                  </a:ext>
                </a:extLst>
              </a:tr>
              <a:tr h="870936">
                <a:tc rowSpan="4">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FP&amp;A Workflows</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workflow has an owner who set them up (normally department head) </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step of the budgeting process is assigned to individuals who must complete their actions before it passes to the next person</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 owner completes the workflow at the end (i.e. budget signed off for submission)</a:t>
                      </a:r>
                    </a:p>
                  </a:txBody>
                  <a:tcPr marL="36000" marR="3600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p>
                      <a:pPr marL="0" marR="0" lvl="0" indent="0" algn="ctr" defTabSz="685800" rtl="0" eaLnBrk="1" fontAlgn="b" latinLnBrk="0" hangingPunct="1">
                        <a:lnSpc>
                          <a:spcPct val="100000"/>
                        </a:lnSpc>
                        <a:spcBef>
                          <a:spcPts val="0"/>
                        </a:spcBef>
                        <a:spcAft>
                          <a:spcPts val="0"/>
                        </a:spcAft>
                        <a:buClrTx/>
                        <a:buSzTx/>
                        <a:buFontTx/>
                        <a:buNone/>
                        <a:tabLst/>
                        <a:defRPr/>
                      </a:pPr>
                      <a:r>
                        <a:rPr lang="en-GB" sz="800" b="0" i="0" u="none" strike="noStrike" kern="1200" baseline="0">
                          <a:solidFill>
                            <a:schemeClr val="tx1"/>
                          </a:solidFill>
                          <a:effectLst/>
                          <a:latin typeface="Montserrat" panose="00000500000000000000" pitchFamily="50" charset="0"/>
                          <a:ea typeface="+mn-ea"/>
                          <a:cs typeface="+mn-cs"/>
                        </a:rPr>
                        <a:t>(This is ‘phase 2’ of the OneStream delivery but considered phase 1 of Connect)</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287816"/>
                  </a:ext>
                </a:extLst>
              </a:tr>
              <a:tr h="393903">
                <a:tc vMerge="1">
                  <a:txBody>
                    <a:bodyPr/>
                    <a:lstStyle/>
                    <a:p>
                      <a:endParaRPr lang="en-GB"/>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Standardised FP&amp;A forms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 common template for owners to fill out and submit</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276248558"/>
                  </a:ext>
                </a:extLst>
              </a:tr>
              <a:tr h="796588">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Multiple Scenarios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OneStream has the capability to input high-level business assumptions (e.g. inflation rate for next year(</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assumptions can be applied to specific scenarios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Each scenario will have a set of assumptions</a:t>
                      </a:r>
                    </a:p>
                    <a:p>
                      <a:pPr marL="171450" indent="-171450" algn="l" defTabSz="685800" rtl="0" eaLnBrk="1" fontAlgn="b" latinLnBrk="0" hangingPunct="1">
                        <a:spcBef>
                          <a:spcPts val="400"/>
                        </a:spcBef>
                        <a:buFontTx/>
                        <a:buChar char="-"/>
                      </a:pPr>
                      <a:r>
                        <a:rPr lang="en-GB" sz="800" u="none" strike="noStrike" kern="1200" baseline="0" err="1">
                          <a:solidFill>
                            <a:schemeClr val="tx1"/>
                          </a:solidFill>
                          <a:effectLst/>
                          <a:latin typeface="Montserrat" panose="00000500000000000000" pitchFamily="50" charset="0"/>
                          <a:ea typeface="+mn-ea"/>
                          <a:cs typeface="+mn-cs"/>
                        </a:rPr>
                        <a:t>OneSteam</a:t>
                      </a:r>
                      <a:r>
                        <a:rPr lang="en-GB" sz="800" u="none" strike="noStrike" kern="1200" baseline="0">
                          <a:solidFill>
                            <a:schemeClr val="tx1"/>
                          </a:solidFill>
                          <a:effectLst/>
                          <a:latin typeface="Montserrat" panose="00000500000000000000" pitchFamily="50" charset="0"/>
                          <a:ea typeface="+mn-ea"/>
                          <a:cs typeface="+mn-cs"/>
                        </a:rPr>
                        <a:t> can support multiple scenarios at the same time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4196221"/>
                  </a:ext>
                </a:extLst>
              </a:tr>
              <a:tr h="562922">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People planning</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People planning is another module in OneStream which allows Grainger leadership to do the planning of their teams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As part of the FP&amp;A </a:t>
                      </a:r>
                      <a:r>
                        <a:rPr lang="en-GB" sz="800" u="none" strike="noStrike" kern="1200" baseline="0" err="1">
                          <a:solidFill>
                            <a:schemeClr val="tx1"/>
                          </a:solidFill>
                          <a:effectLst/>
                          <a:latin typeface="Montserrat" panose="00000500000000000000" pitchFamily="50" charset="0"/>
                          <a:ea typeface="+mn-ea"/>
                          <a:cs typeface="+mn-cs"/>
                        </a:rPr>
                        <a:t>ptocrdd</a:t>
                      </a:r>
                      <a:r>
                        <a:rPr lang="en-GB" sz="800" u="none" strike="noStrike" kern="1200" baseline="0">
                          <a:solidFill>
                            <a:schemeClr val="tx1"/>
                          </a:solidFill>
                          <a:effectLst/>
                          <a:latin typeface="Montserrat" panose="00000500000000000000" pitchFamily="50" charset="0"/>
                          <a:ea typeface="+mn-ea"/>
                          <a:cs typeface="+mn-cs"/>
                        </a:rPr>
                        <a:t>, the outputs of the People planning module are automatically incorporated into the FP&amp;A forecasts</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1210435127"/>
                  </a:ext>
                </a:extLst>
              </a:tr>
              <a:tr h="254908">
                <a:tc rowSpan="4">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Payroll</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Payroll data is managed in a separate payroll system, and data is uploaded into MRI via a specific template</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3293254584"/>
                  </a:ext>
                </a:extLst>
              </a:tr>
              <a:tr h="690376">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Taxation</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VAT and CIS on purchases are built into the P2P functionality</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Receipts that include VAT are attached to specific charge codes in MRI – different charge codes may have different VAT rates which MRI applies automatically – MRI raises the VAT charge automatically when the charge is created.</a:t>
                      </a:r>
                    </a:p>
                  </a:txBody>
                  <a:tcPr marL="36000" marR="36000" marT="0" marB="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93463410"/>
                  </a:ext>
                </a:extLst>
              </a:tr>
              <a:tr h="45763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Audit Module</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has the functionality to track changes made to selected fields in MRI which are relevant to audit and compliance (e.g. supplier bank account details) </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781390713"/>
                  </a:ext>
                </a:extLst>
              </a:tr>
              <a:tr h="818750">
                <a:tc vMerge="1">
                  <a:txBody>
                    <a:bodyPr/>
                    <a:lstStyle/>
                    <a:p>
                      <a:pPr algn="ctr" fontAlgn="b"/>
                      <a:endParaRPr lang="en-GB" sz="700" b="0" i="0" u="none" strike="noStrike">
                        <a:solidFill>
                          <a:srgbClr val="000000"/>
                        </a:solidFill>
                        <a:effectLst/>
                        <a:latin typeface="Calibri" panose="020F0502020204030204"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1000" b="1" u="none" strike="noStrike" kern="1200" baseline="0">
                          <a:solidFill>
                            <a:schemeClr val="tx1"/>
                          </a:solidFill>
                          <a:effectLst/>
                          <a:latin typeface="+mj-lt"/>
                          <a:ea typeface="+mn-ea"/>
                          <a:cs typeface="+mn-cs"/>
                        </a:rPr>
                        <a:t>Management of Accounting codes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MRI supports the creation and amendments to Chart of Accounts nominals, as well as bank IDs – this is restricted to a few roles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Additionally, MRI is where we create new properties and entities – including Grainger legal entities</a:t>
                      </a:r>
                    </a:p>
                    <a:p>
                      <a:pPr marL="171450" indent="-171450" algn="l" defTabSz="685800" rtl="0" eaLnBrk="1" fontAlgn="b" latinLnBrk="0" hangingPunct="1">
                        <a:spcBef>
                          <a:spcPts val="400"/>
                        </a:spcBef>
                        <a:buFontTx/>
                        <a:buChar char="-"/>
                      </a:pPr>
                      <a:r>
                        <a:rPr lang="en-GB" sz="800" u="none" strike="noStrike" kern="1200" baseline="0">
                          <a:solidFill>
                            <a:schemeClr val="tx1"/>
                          </a:solidFill>
                          <a:effectLst/>
                          <a:latin typeface="Montserrat" panose="00000500000000000000" pitchFamily="50" charset="0"/>
                          <a:ea typeface="+mn-ea"/>
                          <a:cs typeface="+mn-cs"/>
                        </a:rPr>
                        <a:t>These codes are passed to the other systems via integration</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N/A</a:t>
                      </a:r>
                    </a:p>
                    <a:p>
                      <a:pPr marL="0" algn="ctr" defTabSz="685800" rtl="0" eaLnBrk="1" fontAlgn="b" latinLnBrk="0" hangingPunct="1"/>
                      <a:r>
                        <a:rPr lang="en-GB" sz="800" b="0" i="0" u="none" strike="noStrike" kern="1200" baseline="0">
                          <a:solidFill>
                            <a:schemeClr val="tx1"/>
                          </a:solidFill>
                          <a:effectLst/>
                          <a:latin typeface="Montserrat" panose="00000500000000000000" pitchFamily="50" charset="0"/>
                          <a:ea typeface="+mn-ea"/>
                          <a:cs typeface="+mn-cs"/>
                        </a:rPr>
                        <a:t>In Phase 1 we need to agree the governance around creation of such codes</a:t>
                      </a: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tc>
                  <a:txBody>
                    <a:bodyPr/>
                    <a:lstStyle/>
                    <a:p>
                      <a:pPr marL="0" algn="ctr" defTabSz="685800" rtl="0" eaLnBrk="1" fontAlgn="t" latinLnBrk="0" hangingPunct="1"/>
                      <a:endParaRPr lang="en-GB" sz="800" b="0" i="0" u="none" strike="noStrike" kern="1200">
                        <a:solidFill>
                          <a:srgbClr val="000000"/>
                        </a:solidFill>
                        <a:effectLst/>
                        <a:latin typeface="Montserrat" panose="00000500000000000000" pitchFamily="50" charset="0"/>
                        <a:ea typeface="+mn-ea"/>
                        <a:cs typeface="+mn-cs"/>
                      </a:endParaRPr>
                    </a:p>
                  </a:txBody>
                  <a:tcPr marL="36000" marR="36000" marT="36000" marB="36000" anchor="ctr">
                    <a:lnL w="12700" cap="flat" cmpd="sng" algn="ctr">
                      <a:solidFill>
                        <a:srgbClr val="4D858D"/>
                      </a:solidFill>
                      <a:prstDash val="solid"/>
                      <a:round/>
                      <a:headEnd type="none" w="med" len="med"/>
                      <a:tailEnd type="none" w="med" len="med"/>
                    </a:lnL>
                    <a:lnR w="12700" cap="flat" cmpd="sng" algn="ctr">
                      <a:solidFill>
                        <a:srgbClr val="4D858D"/>
                      </a:solidFill>
                      <a:prstDash val="solid"/>
                      <a:round/>
                      <a:headEnd type="none" w="med" len="med"/>
                      <a:tailEnd type="none" w="med" len="med"/>
                    </a:lnR>
                    <a:lnT w="12700" cap="flat" cmpd="sng" algn="ctr">
                      <a:solidFill>
                        <a:srgbClr val="4D858D"/>
                      </a:solidFill>
                      <a:prstDash val="solid"/>
                      <a:round/>
                      <a:headEnd type="none" w="med" len="med"/>
                      <a:tailEnd type="none" w="med" len="med"/>
                    </a:lnT>
                    <a:lnB w="12700" cap="flat" cmpd="sng" algn="ctr">
                      <a:solidFill>
                        <a:srgbClr val="4D858D"/>
                      </a:solidFill>
                      <a:prstDash val="solid"/>
                      <a:round/>
                      <a:headEnd type="none" w="med" len="med"/>
                      <a:tailEnd type="none" w="med" len="med"/>
                    </a:lnB>
                    <a:solidFill>
                      <a:schemeClr val="bg1"/>
                    </a:solidFill>
                  </a:tcPr>
                </a:tc>
                <a:extLst>
                  <a:ext uri="{0D108BD9-81ED-4DB2-BD59-A6C34878D82A}">
                    <a16:rowId xmlns:a16="http://schemas.microsoft.com/office/drawing/2014/main" val="667286536"/>
                  </a:ext>
                </a:extLst>
              </a:tr>
            </a:tbl>
          </a:graphicData>
        </a:graphic>
      </p:graphicFrame>
      <p:sp>
        <p:nvSpPr>
          <p:cNvPr id="3" name="Footer Placeholder 2">
            <a:extLst>
              <a:ext uri="{FF2B5EF4-FFF2-40B4-BE49-F238E27FC236}">
                <a16:creationId xmlns:a16="http://schemas.microsoft.com/office/drawing/2014/main" id="{B3F524F3-5803-42CF-B505-3273BFB372FD}"/>
              </a:ext>
            </a:extLst>
          </p:cNvPr>
          <p:cNvSpPr>
            <a:spLocks noGrp="1"/>
          </p:cNvSpPr>
          <p:nvPr>
            <p:ph type="ftr" sz="quarter" idx="11"/>
          </p:nvPr>
        </p:nvSpPr>
        <p:spPr/>
        <p:txBody>
          <a:bodyPr/>
          <a:lstStyle/>
          <a:p>
            <a:r>
              <a:rPr lang="en-GB"/>
              <a:t>Grainger Plc  |  www.graingerplc.co.uk    |  Investor Day  |  September 2017</a:t>
            </a:r>
          </a:p>
        </p:txBody>
      </p:sp>
      <p:sp>
        <p:nvSpPr>
          <p:cNvPr id="4" name="Slide Number Placeholder 3">
            <a:extLst>
              <a:ext uri="{FF2B5EF4-FFF2-40B4-BE49-F238E27FC236}">
                <a16:creationId xmlns:a16="http://schemas.microsoft.com/office/drawing/2014/main" id="{0631B4C3-F243-4E3A-A8CE-7FB041F7F7B1}"/>
              </a:ext>
            </a:extLst>
          </p:cNvPr>
          <p:cNvSpPr>
            <a:spLocks noGrp="1"/>
          </p:cNvSpPr>
          <p:nvPr>
            <p:ph type="sldNum" sz="quarter" idx="12"/>
          </p:nvPr>
        </p:nvSpPr>
        <p:spPr/>
        <p:txBody>
          <a:bodyPr/>
          <a:lstStyle/>
          <a:p>
            <a:fld id="{0D32313A-DEBC-4CA4-B008-A02D4ABE2C72}" type="slidenum">
              <a:rPr lang="en-GB" smtClean="0"/>
              <a:t>72</a:t>
            </a:fld>
            <a:endParaRPr lang="en-GB"/>
          </a:p>
        </p:txBody>
      </p:sp>
      <p:sp>
        <p:nvSpPr>
          <p:cNvPr id="5" name="Title 4">
            <a:extLst>
              <a:ext uri="{FF2B5EF4-FFF2-40B4-BE49-F238E27FC236}">
                <a16:creationId xmlns:a16="http://schemas.microsoft.com/office/drawing/2014/main" id="{99ED7C9F-82A0-47B6-B204-FEDE8E17AD50}"/>
              </a:ext>
            </a:extLst>
          </p:cNvPr>
          <p:cNvSpPr>
            <a:spLocks noGrp="1"/>
          </p:cNvSpPr>
          <p:nvPr>
            <p:ph type="title"/>
          </p:nvPr>
        </p:nvSpPr>
        <p:spPr/>
        <p:txBody>
          <a:bodyPr/>
          <a:lstStyle/>
          <a:p>
            <a:r>
              <a:rPr lang="en-GB"/>
              <a:t>8.04 Internal Finance Processes</a:t>
            </a:r>
            <a:br>
              <a:rPr lang="en-GB"/>
            </a:br>
            <a:r>
              <a:rPr lang="en-GB" sz="2400" i="1"/>
              <a:t>Capability Summary</a:t>
            </a:r>
            <a:endParaRPr lang="en-GB" i="1"/>
          </a:p>
        </p:txBody>
      </p:sp>
      <p:pic>
        <p:nvPicPr>
          <p:cNvPr id="8" name="Picture 10" descr="Image result for mri software">
            <a:extLst>
              <a:ext uri="{FF2B5EF4-FFF2-40B4-BE49-F238E27FC236}">
                <a16:creationId xmlns:a16="http://schemas.microsoft.com/office/drawing/2014/main" id="{37EDC16E-8334-42C5-96A8-950048FD2474}"/>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09418" y="4870002"/>
            <a:ext cx="749302" cy="4058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49F7819E-338A-49F2-81EE-3A2C2D91D1A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5590" y="2601552"/>
            <a:ext cx="1007184" cy="527093"/>
          </a:xfrm>
          <a:prstGeom prst="rect">
            <a:avLst/>
          </a:prstGeom>
        </p:spPr>
      </p:pic>
    </p:spTree>
    <p:extLst>
      <p:ext uri="{BB962C8B-B14F-4D97-AF65-F5344CB8AC3E}">
        <p14:creationId xmlns:p14="http://schemas.microsoft.com/office/powerpoint/2010/main" val="21520429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4_Office Theme">
  <a:themeElements>
    <a:clrScheme name="Grainger 2017">
      <a:dk1>
        <a:srgbClr val="4A4A49"/>
      </a:dk1>
      <a:lt1>
        <a:sysClr val="window" lastClr="FFFFFF"/>
      </a:lt1>
      <a:dk2>
        <a:srgbClr val="8EC4C5"/>
      </a:dk2>
      <a:lt2>
        <a:srgbClr val="FFFFFF"/>
      </a:lt2>
      <a:accent1>
        <a:srgbClr val="8EC4C5"/>
      </a:accent1>
      <a:accent2>
        <a:srgbClr val="4D858D"/>
      </a:accent2>
      <a:accent3>
        <a:srgbClr val="FF6600"/>
      </a:accent3>
      <a:accent4>
        <a:srgbClr val="4A4A49"/>
      </a:accent4>
      <a:accent5>
        <a:srgbClr val="898987"/>
      </a:accent5>
      <a:accent6>
        <a:srgbClr val="DADADA"/>
      </a:accent6>
      <a:hlink>
        <a:srgbClr val="4D858D"/>
      </a:hlink>
      <a:folHlink>
        <a:srgbClr val="4A4A49"/>
      </a:folHlink>
    </a:clrScheme>
    <a:fontScheme name="Grainger">
      <a:majorFont>
        <a:latin typeface="Montserrat SemiBold"/>
        <a:ea typeface=""/>
        <a:cs typeface=""/>
      </a:majorFont>
      <a:minorFont>
        <a:latin typeface="Montserra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pc="-6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Generic Project Document</TermName>
          <TermId xmlns="http://schemas.microsoft.com/office/infopath/2007/PartnerControls">258c2ed6-b93b-4ffe-8901-a23f2dc98ec9</TermId>
        </TermInfo>
      </Terms>
    </k6ebf865df8440b3a55c1aa81c9bae7c>
    <f0dc22cb723843c1bfbb2e8bcc9db6e4 xmlns="1ffbd5dc-7a64-4097-8396-87f6c90b212f">
      <Terms xmlns="http://schemas.microsoft.com/office/infopath/2007/PartnerControls"/>
    </f0dc22cb723843c1bfbb2e8bcc9db6e4>
    <TaxCatchAll xmlns="1ffbd5dc-7a64-4097-8396-87f6c90b212f">
      <Value>6</Value>
      <Value>5</Value>
      <Value>4</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B5190ED3-7F16-4859-BADD-30AC84ECFA16}">
  <ds:schemaRefs>
    <ds:schemaRef ds:uri="1ffbd5dc-7a64-4097-8396-87f6c90b21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48B250-3DE6-40B8-AAA0-736E97445E1A}">
  <ds:schemaRefs>
    <ds:schemaRef ds:uri="http://schemas.microsoft.com/sharepoint/v3/contenttype/forms"/>
  </ds:schemaRefs>
</ds:datastoreItem>
</file>

<file path=customXml/itemProps3.xml><?xml version="1.0" encoding="utf-8"?>
<ds:datastoreItem xmlns:ds="http://schemas.openxmlformats.org/officeDocument/2006/customXml" ds:itemID="{E862EC75-63FF-479A-8761-8B3F9465EE33}">
  <ds:schemaRefs>
    <ds:schemaRef ds:uri="1ffbd5dc-7a64-4097-8396-87f6c90b212f"/>
    <ds:schemaRef ds:uri="27e65327-d6c0-4f26-aff6-417da5767d74"/>
    <ds:schemaRef ds:uri="852d0734-5ac0-43ed-afd8-22c6b3fad3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48109B9A-0B79-4441-9ACD-AC56A498D432}">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72</Slides>
  <Notes>1</Notes>
  <HiddenSlides>0</HiddenSlide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4_Office Theme</vt:lpstr>
      <vt:lpstr>Connect Programme </vt:lpstr>
      <vt:lpstr>Executive Summary</vt:lpstr>
      <vt:lpstr>Connect Delivery - Phasing</vt:lpstr>
      <vt:lpstr>Elements of the Connect Platform</vt:lpstr>
      <vt:lpstr>High-level Platform architecture </vt:lpstr>
      <vt:lpstr>Delivery Option 4 – Offline L2L Journey</vt:lpstr>
      <vt:lpstr>Phase 1 Capability summary:   Business processes</vt:lpstr>
      <vt:lpstr>The 29* End-to-End business processes</vt:lpstr>
      <vt:lpstr>Managing Property &amp; Supplier Process Summary</vt:lpstr>
      <vt:lpstr>Managing Property &amp; Supplier Phase 1 / Phase 2 Summary</vt:lpstr>
      <vt:lpstr>Collecting Payments Process Summary</vt:lpstr>
      <vt:lpstr>Collecting Payments Phase 1 / Phase 2 Summary</vt:lpstr>
      <vt:lpstr>Marketing &amp; Lead-to-Lease Process Summary</vt:lpstr>
      <vt:lpstr>Marketing &amp; Lead-to-Lease (1/2) Phase 1 / Phase 2 Summary</vt:lpstr>
      <vt:lpstr>Marketing &amp; Lead-to-Lease (1/2) Phase 1 / Phase 2 Summary</vt:lpstr>
      <vt:lpstr>Onboarding, invest, develop, sales Process Summary</vt:lpstr>
      <vt:lpstr>Onboarding, invest, develop, sales Phase 1 / Phase 2 Summary</vt:lpstr>
      <vt:lpstr>Finance Processes Process Summary</vt:lpstr>
      <vt:lpstr>Finance Processes (1/2) Phase 1 / Phase 2 Summary</vt:lpstr>
      <vt:lpstr>Finance Processes (2/2) Phase 1 / Phase 2 Summary</vt:lpstr>
      <vt:lpstr>Phase 1 Capability summary:   Integration</vt:lpstr>
      <vt:lpstr>Master Data integrations</vt:lpstr>
      <vt:lpstr>Property Management integrations</vt:lpstr>
      <vt:lpstr>Payment integrations</vt:lpstr>
      <vt:lpstr>Leasing Journey</vt:lpstr>
      <vt:lpstr>Transactional Comms integrations</vt:lpstr>
      <vt:lpstr>Document Integrations</vt:lpstr>
      <vt:lpstr>Items out of scope for Phase 1</vt:lpstr>
      <vt:lpstr>Phase 1 Capability summary:   MyGrainger Portal</vt:lpstr>
      <vt:lpstr>Portal – Phase 1 Principles </vt:lpstr>
      <vt:lpstr>MyGrainger Portal Phase 1 / Phase 2 Summary</vt:lpstr>
      <vt:lpstr>MyGrainger Portal (1/2) Changes required for Phase 1 go-live</vt:lpstr>
      <vt:lpstr>MyGrainger Portal (2/2) Changes required for Phase 1 go-live</vt:lpstr>
      <vt:lpstr>APPENDIX  Phase 1 Functionality Catalogue</vt:lpstr>
      <vt:lpstr>Functionality Catalogue  Managing Property &amp; Supplier</vt:lpstr>
      <vt:lpstr>5.01, 5.02 – Supplier Management Capability Summary</vt:lpstr>
      <vt:lpstr>6.05 – Planned Maintenance Capability Summary</vt:lpstr>
      <vt:lpstr>6.09 – Reactive Maintenance (1/2) Capability Summary</vt:lpstr>
      <vt:lpstr>6.09 – Reactive Maintenance (2/2) Capability Summary</vt:lpstr>
      <vt:lpstr>6.10 – 3rd party Supplier (Kier) Capability Summary</vt:lpstr>
      <vt:lpstr>4.02 – Compliments &amp; Complaints Capability Summary</vt:lpstr>
      <vt:lpstr>8.05 – Purchase to Pay (1/2) Capability Summary</vt:lpstr>
      <vt:lpstr>8.05 – Purchase to Pay (2/2) Capability Summary</vt:lpstr>
      <vt:lpstr>Functionality Catalogue  Collecting Payments</vt:lpstr>
      <vt:lpstr>3.01 – Raising Charges Capability Summary</vt:lpstr>
      <vt:lpstr>3.01 – Payments: Direct Debit (1/2) Capability Summary</vt:lpstr>
      <vt:lpstr>3.01 – Payments: Direct Debit (2/2) Capability Summary</vt:lpstr>
      <vt:lpstr>3.01 – Payments: Non-Direct Debit  Capability Summary</vt:lpstr>
      <vt:lpstr>3.03 – Managing Rent Arrears (1/2)  Capability Summary</vt:lpstr>
      <vt:lpstr>3.03 – Managing Rent Arrears (2/2) Capability Summary</vt:lpstr>
      <vt:lpstr>4.01 – Amenities Booking / Paying Capability Summary</vt:lpstr>
      <vt:lpstr>Functionality Catalogue  Marketing, Lead to Lease &amp; Payments</vt:lpstr>
      <vt:lpstr>1.01 – Register and Arrange viewing  Capability Summary</vt:lpstr>
      <vt:lpstr>2.01 – Build Offer &amp; Pay Advance (1/2) Capability Summary</vt:lpstr>
      <vt:lpstr>2.01 – Build Offer &amp; Pay Advance (2/2) Capability Summary</vt:lpstr>
      <vt:lpstr>2.01 – Referencing, Move-in monies Capability Summary</vt:lpstr>
      <vt:lpstr>2.01 - Tenancy signature, direct debit Capability Summary</vt:lpstr>
      <vt:lpstr>2.02 – Move-in (1/2) Capability Summary</vt:lpstr>
      <vt:lpstr>2.02 – Move-in (2/2) Capability Summary</vt:lpstr>
      <vt:lpstr>2.02 – Move-out Capability Summary</vt:lpstr>
      <vt:lpstr>3.05 – Renewals Capability Summary</vt:lpstr>
      <vt:lpstr>Onboarding</vt:lpstr>
      <vt:lpstr>Finance Processes</vt:lpstr>
      <vt:lpstr>3.06 Rent Reviews Capability Summary</vt:lpstr>
      <vt:lpstr>6.03 Managing Insurance Capability Summary</vt:lpstr>
      <vt:lpstr>7.01 Managing Service Charges (1/2) Capability Summary</vt:lpstr>
      <vt:lpstr>7.01 Managing Service Charges (2/2) Capability Summary</vt:lpstr>
      <vt:lpstr>8.01 Cash management Capability Summary</vt:lpstr>
      <vt:lpstr>8.06 Staff expenses Capability Summary</vt:lpstr>
      <vt:lpstr>8.02 Month end / 8.03 Year end  Capability Summary</vt:lpstr>
      <vt:lpstr>8.02 Month end / 8.03 Year end  Capability Summary</vt:lpstr>
      <vt:lpstr>8.04 Internal Finance Processes Capability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way in a growing market</dc:title>
  <dc:creator>Kurt Mueller</dc:creator>
  <cp:revision>1</cp:revision>
  <cp:lastPrinted>2020-06-05T06:43:28Z</cp:lastPrinted>
  <dcterms:created xsi:type="dcterms:W3CDTF">2017-09-25T18:57:01Z</dcterms:created>
  <dcterms:modified xsi:type="dcterms:W3CDTF">2025-03-05T10:53:25Z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AuthorIds_UIVersion_512">
    <vt:lpwstr>420</vt:lpwstr>
  </property>
  <property fmtid="{D5CDD505-2E9C-101B-9397-08002B2CF9AE}" pid="4" name="AuthorIds_UIVersion_1024">
    <vt:lpwstr>420</vt:lpwstr>
  </property>
  <property fmtid="{D5CDD505-2E9C-101B-9397-08002B2CF9AE}" pid="5" name="AuthorIds_UIVersion_1536">
    <vt:lpwstr>420</vt:lpwstr>
  </property>
  <property fmtid="{D5CDD505-2E9C-101B-9397-08002B2CF9AE}" pid="6" name="Project Document Type">
    <vt:lpwstr>4;#Generic Project Document|258c2ed6-b93b-4ffe-8901-a23f2dc98ec9</vt:lpwstr>
  </property>
  <property fmtid="{D5CDD505-2E9C-101B-9397-08002B2CF9AE}" pid="7" name="Client">
    <vt:lpwstr>6;#Grainger PLC|a74f1cb5-e995-4f9e-8521-6d52e2c6bf08</vt:lpwstr>
  </property>
  <property fmtid="{D5CDD505-2E9C-101B-9397-08002B2CF9AE}" pid="8" name="Client Project">
    <vt:lpwstr/>
  </property>
  <property fmtid="{D5CDD505-2E9C-101B-9397-08002B2CF9AE}" pid="9" name="Division">
    <vt:lpwstr>5;#Enterprise Solutions|08c57b01-67e8-4a4f-abc6-ffb3392ace7f</vt:lpwstr>
  </property>
  <property fmtid="{D5CDD505-2E9C-101B-9397-08002B2CF9AE}" pid="10" name="MediaServiceImageTags">
    <vt:lpwstr/>
  </property>
  <property fmtid="{D5CDD505-2E9C-101B-9397-08002B2CF9AE}" pid="11" name="lcf76f155ced4ddcb4097134ff3c332f">
    <vt:lpwstr/>
  </property>
  <property fmtid="{D5CDD505-2E9C-101B-9397-08002B2CF9AE}" pid="12" name="Project_x0020_Document_x0020_Type">
    <vt:lpwstr>4;#Generic Project Document|258c2ed6-b93b-4ffe-8901-a23f2dc98ec9</vt:lpwstr>
  </property>
  <property fmtid="{D5CDD505-2E9C-101B-9397-08002B2CF9AE}" pid="13" name="Client_x0020_Project">
    <vt:lpwstr/>
  </property>
</Properties>
</file>