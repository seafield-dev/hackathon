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commentAuthors.xml" ContentType="application/vnd.openxmlformats-officedocument.presentationml.commentAuthor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4"/>
  </p:sldMasterIdLst>
  <p:notesMasterIdLst>
    <p:notesMasterId r:id="rId15"/>
  </p:notesMasterIdLst>
  <p:handoutMasterIdLst>
    <p:handoutMasterId r:id="rId16"/>
  </p:handoutMasterIdLst>
  <p:sldIdLst>
    <p:sldId id="429" r:id="rId5"/>
    <p:sldId id="606" r:id="rId6"/>
    <p:sldId id="607" r:id="rId7"/>
    <p:sldId id="517" r:id="rId8"/>
    <p:sldId id="620" r:id="rId9"/>
    <p:sldId id="608" r:id="rId10"/>
    <p:sldId id="615" r:id="rId11"/>
    <p:sldId id="618" r:id="rId12"/>
    <p:sldId id="619" r:id="rId13"/>
    <p:sldId id="621" r:id="rId14"/>
  </p:sldIdLst>
  <p:sldSz cx="9144000" cy="6858000" type="screen4x3"/>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2EA86B-34D0-4409-AABA-DDB3FE394E70}">
          <p14:sldIdLst>
            <p14:sldId id="429"/>
            <p14:sldId id="606"/>
            <p14:sldId id="607"/>
            <p14:sldId id="517"/>
            <p14:sldId id="620"/>
            <p14:sldId id="608"/>
            <p14:sldId id="615"/>
            <p14:sldId id="618"/>
            <p14:sldId id="619"/>
            <p14:sldId id="621"/>
          </p14:sldIdLst>
        </p14:section>
      </p14:sectionLst>
    </p:ext>
    <p:ext uri="{EFAFB233-063F-42B5-8137-9DF3F51BA10A}">
      <p15:sldGuideLst xmlns:p15="http://schemas.microsoft.com/office/powerpoint/2012/main">
        <p15:guide id="1" orient="horz" pos="867" userDrawn="1">
          <p15:clr>
            <a:srgbClr val="A4A3A4"/>
          </p15:clr>
        </p15:guide>
        <p15:guide id="2" pos="290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 Sciberras" initials="BS" lastIdx="2" clrIdx="0">
    <p:extLst>
      <p:ext uri="{19B8F6BF-5375-455C-9EA6-DF929625EA0E}">
        <p15:presenceInfo xmlns:p15="http://schemas.microsoft.com/office/powerpoint/2012/main" userId="S-1-5-21-2263145296-3781330999-4144883691-26415" providerId="AD"/>
      </p:ext>
    </p:extLst>
  </p:cmAuthor>
  <p:cmAuthor id="2" name="Joao Cardoso" initials="JC" lastIdx="56" clrIdx="1">
    <p:extLst>
      <p:ext uri="{19B8F6BF-5375-455C-9EA6-DF929625EA0E}">
        <p15:presenceInfo xmlns:p15="http://schemas.microsoft.com/office/powerpoint/2012/main" userId="dc12be983f0d80fb" providerId="Windows Live"/>
      </p:ext>
    </p:extLst>
  </p:cmAuthor>
  <p:cmAuthor id="3" name="Maria Paris" initials="MP" lastIdx="14" clrIdx="2">
    <p:extLst>
      <p:ext uri="{19B8F6BF-5375-455C-9EA6-DF929625EA0E}">
        <p15:presenceInfo xmlns:p15="http://schemas.microsoft.com/office/powerpoint/2012/main" userId="Maria Paris" providerId="None"/>
      </p:ext>
    </p:extLst>
  </p:cmAuthor>
  <p:cmAuthor id="4" name="Edward Fletcher" initials="EF" lastIdx="5" clrIdx="3">
    <p:extLst>
      <p:ext uri="{19B8F6BF-5375-455C-9EA6-DF929625EA0E}">
        <p15:presenceInfo xmlns:p15="http://schemas.microsoft.com/office/powerpoint/2012/main" userId="S-1-5-21-2263145296-3781330999-4144883691-306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858D"/>
    <a:srgbClr val="000000"/>
    <a:srgbClr val="FF0000"/>
    <a:srgbClr val="56A7A8"/>
    <a:srgbClr val="0070C0"/>
    <a:srgbClr val="FF8633"/>
    <a:srgbClr val="F2F8F8"/>
    <a:srgbClr val="FF7B21"/>
    <a:srgbClr val="FF9953"/>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3" autoAdjust="0"/>
    <p:restoredTop sz="94660"/>
  </p:normalViewPr>
  <p:slideViewPr>
    <p:cSldViewPr snapToGrid="0">
      <p:cViewPr varScale="1">
        <p:scale>
          <a:sx n="76" d="100"/>
          <a:sy n="76" d="100"/>
        </p:scale>
        <p:origin x="760" y="64"/>
      </p:cViewPr>
      <p:guideLst>
        <p:guide orient="horz" pos="867"/>
        <p:guide pos="290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ustomXml" Target="../customXml/item4.xml"/></Relationships>
</file>

<file path=ppt/charts/_rels/chart1.xml.rels><?xml version="1.0" encoding="UTF-8" standalone="yes"?>
<Relationships xmlns="http://schemas.openxmlformats.org/package/2006/relationships"><Relationship Id="rId3" Type="http://schemas.openxmlformats.org/officeDocument/2006/relationships/oleObject" Target="file:///\\fs1lb\users$\cardosoj\rent%20charges%20vs%20payments.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4D858D"/>
                </a:solidFill>
                <a:latin typeface="Montserrat SemiBold" panose="00000700000000000000" pitchFamily="50" charset="0"/>
              </a:rPr>
              <a:t>Monthly</a:t>
            </a:r>
            <a:r>
              <a:rPr lang="en-US" b="1" baseline="0" dirty="0">
                <a:solidFill>
                  <a:srgbClr val="4D858D"/>
                </a:solidFill>
                <a:latin typeface="Montserrat SemiBold" panose="00000700000000000000" pitchFamily="50" charset="0"/>
              </a:rPr>
              <a:t> charges and weekly payments – account balances over 3 years</a:t>
            </a:r>
            <a:endParaRPr lang="en-US" b="1" dirty="0">
              <a:solidFill>
                <a:srgbClr val="4D858D"/>
              </a:solidFill>
              <a:latin typeface="Montserrat SemiBold" panose="00000700000000000000" pitchFamily="50" charset="0"/>
            </a:endParaRPr>
          </a:p>
        </c:rich>
      </c:tx>
      <c:layout>
        <c:manualLayout>
          <c:xMode val="edge"/>
          <c:yMode val="edge"/>
          <c:x val="0.15543570906729445"/>
          <c:y val="6.652038371014179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9060473307489102E-2"/>
          <c:y val="1.9450534818109828E-2"/>
          <c:w val="0.93573237487445593"/>
          <c:h val="0.95755591572016452"/>
        </c:manualLayout>
      </c:layout>
      <c:barChart>
        <c:barDir val="col"/>
        <c:grouping val="clustered"/>
        <c:varyColors val="0"/>
        <c:ser>
          <c:idx val="0"/>
          <c:order val="0"/>
          <c:tx>
            <c:strRef>
              <c:f>Sheet1!$F$1:$F$4</c:f>
              <c:strCache>
                <c:ptCount val="4"/>
                <c:pt idx="0">
                  <c:v>100</c:v>
                </c:pt>
                <c:pt idx="1">
                  <c:v>3</c:v>
                </c:pt>
                <c:pt idx="3">
                  <c:v>Due</c:v>
                </c:pt>
              </c:strCache>
            </c:strRef>
          </c:tx>
          <c:spPr>
            <a:solidFill>
              <a:schemeClr val="accent3"/>
            </a:solidFill>
            <a:ln>
              <a:noFill/>
            </a:ln>
            <a:effectLst/>
          </c:spPr>
          <c:invertIfNegative val="0"/>
          <c:cat>
            <c:numRef>
              <c:f>Sheet1!$B$5:$B$1100</c:f>
              <c:numCache>
                <c:formatCode>d\-mmm</c:formatCode>
                <c:ptCount val="1096"/>
                <c:pt idx="0">
                  <c:v>43466</c:v>
                </c:pt>
                <c:pt idx="1">
                  <c:v>43467</c:v>
                </c:pt>
                <c:pt idx="2">
                  <c:v>43468</c:v>
                </c:pt>
                <c:pt idx="3">
                  <c:v>43469</c:v>
                </c:pt>
                <c:pt idx="4">
                  <c:v>43470</c:v>
                </c:pt>
                <c:pt idx="5">
                  <c:v>43471</c:v>
                </c:pt>
                <c:pt idx="6">
                  <c:v>43472</c:v>
                </c:pt>
                <c:pt idx="7">
                  <c:v>43473</c:v>
                </c:pt>
                <c:pt idx="8">
                  <c:v>43474</c:v>
                </c:pt>
                <c:pt idx="9">
                  <c:v>43475</c:v>
                </c:pt>
                <c:pt idx="10">
                  <c:v>43476</c:v>
                </c:pt>
                <c:pt idx="11">
                  <c:v>43477</c:v>
                </c:pt>
                <c:pt idx="12">
                  <c:v>43478</c:v>
                </c:pt>
                <c:pt idx="13">
                  <c:v>43479</c:v>
                </c:pt>
                <c:pt idx="14">
                  <c:v>43480</c:v>
                </c:pt>
                <c:pt idx="15">
                  <c:v>43481</c:v>
                </c:pt>
                <c:pt idx="16">
                  <c:v>43482</c:v>
                </c:pt>
                <c:pt idx="17">
                  <c:v>43483</c:v>
                </c:pt>
                <c:pt idx="18">
                  <c:v>43484</c:v>
                </c:pt>
                <c:pt idx="19">
                  <c:v>43485</c:v>
                </c:pt>
                <c:pt idx="20">
                  <c:v>43486</c:v>
                </c:pt>
                <c:pt idx="21">
                  <c:v>43487</c:v>
                </c:pt>
                <c:pt idx="22">
                  <c:v>43488</c:v>
                </c:pt>
                <c:pt idx="23">
                  <c:v>43489</c:v>
                </c:pt>
                <c:pt idx="24">
                  <c:v>43490</c:v>
                </c:pt>
                <c:pt idx="25">
                  <c:v>43491</c:v>
                </c:pt>
                <c:pt idx="26">
                  <c:v>43492</c:v>
                </c:pt>
                <c:pt idx="27">
                  <c:v>43493</c:v>
                </c:pt>
                <c:pt idx="28">
                  <c:v>43494</c:v>
                </c:pt>
                <c:pt idx="29">
                  <c:v>43495</c:v>
                </c:pt>
                <c:pt idx="30">
                  <c:v>43496</c:v>
                </c:pt>
                <c:pt idx="31">
                  <c:v>43497</c:v>
                </c:pt>
                <c:pt idx="32">
                  <c:v>43498</c:v>
                </c:pt>
                <c:pt idx="33">
                  <c:v>43499</c:v>
                </c:pt>
                <c:pt idx="34">
                  <c:v>43500</c:v>
                </c:pt>
                <c:pt idx="35">
                  <c:v>43501</c:v>
                </c:pt>
                <c:pt idx="36">
                  <c:v>43502</c:v>
                </c:pt>
                <c:pt idx="37">
                  <c:v>43503</c:v>
                </c:pt>
                <c:pt idx="38">
                  <c:v>43504</c:v>
                </c:pt>
                <c:pt idx="39">
                  <c:v>43505</c:v>
                </c:pt>
                <c:pt idx="40">
                  <c:v>43506</c:v>
                </c:pt>
                <c:pt idx="41">
                  <c:v>43507</c:v>
                </c:pt>
                <c:pt idx="42">
                  <c:v>43508</c:v>
                </c:pt>
                <c:pt idx="43">
                  <c:v>43509</c:v>
                </c:pt>
                <c:pt idx="44">
                  <c:v>43510</c:v>
                </c:pt>
                <c:pt idx="45">
                  <c:v>43511</c:v>
                </c:pt>
                <c:pt idx="46">
                  <c:v>43512</c:v>
                </c:pt>
                <c:pt idx="47">
                  <c:v>43513</c:v>
                </c:pt>
                <c:pt idx="48">
                  <c:v>43514</c:v>
                </c:pt>
                <c:pt idx="49">
                  <c:v>43515</c:v>
                </c:pt>
                <c:pt idx="50">
                  <c:v>43516</c:v>
                </c:pt>
                <c:pt idx="51">
                  <c:v>43517</c:v>
                </c:pt>
                <c:pt idx="52">
                  <c:v>43518</c:v>
                </c:pt>
                <c:pt idx="53">
                  <c:v>43519</c:v>
                </c:pt>
                <c:pt idx="54">
                  <c:v>43520</c:v>
                </c:pt>
                <c:pt idx="55">
                  <c:v>43521</c:v>
                </c:pt>
                <c:pt idx="56">
                  <c:v>43522</c:v>
                </c:pt>
                <c:pt idx="57">
                  <c:v>43523</c:v>
                </c:pt>
                <c:pt idx="58">
                  <c:v>43524</c:v>
                </c:pt>
                <c:pt idx="59">
                  <c:v>43525</c:v>
                </c:pt>
                <c:pt idx="60">
                  <c:v>43526</c:v>
                </c:pt>
                <c:pt idx="61">
                  <c:v>43527</c:v>
                </c:pt>
                <c:pt idx="62">
                  <c:v>43528</c:v>
                </c:pt>
                <c:pt idx="63">
                  <c:v>43529</c:v>
                </c:pt>
                <c:pt idx="64">
                  <c:v>43530</c:v>
                </c:pt>
                <c:pt idx="65">
                  <c:v>43531</c:v>
                </c:pt>
                <c:pt idx="66">
                  <c:v>43532</c:v>
                </c:pt>
                <c:pt idx="67">
                  <c:v>43533</c:v>
                </c:pt>
                <c:pt idx="68">
                  <c:v>43534</c:v>
                </c:pt>
                <c:pt idx="69">
                  <c:v>43535</c:v>
                </c:pt>
                <c:pt idx="70">
                  <c:v>43536</c:v>
                </c:pt>
                <c:pt idx="71">
                  <c:v>43537</c:v>
                </c:pt>
                <c:pt idx="72">
                  <c:v>43538</c:v>
                </c:pt>
                <c:pt idx="73">
                  <c:v>43539</c:v>
                </c:pt>
                <c:pt idx="74">
                  <c:v>43540</c:v>
                </c:pt>
                <c:pt idx="75">
                  <c:v>43541</c:v>
                </c:pt>
                <c:pt idx="76">
                  <c:v>43542</c:v>
                </c:pt>
                <c:pt idx="77">
                  <c:v>43543</c:v>
                </c:pt>
                <c:pt idx="78">
                  <c:v>43544</c:v>
                </c:pt>
                <c:pt idx="79">
                  <c:v>43545</c:v>
                </c:pt>
                <c:pt idx="80">
                  <c:v>43546</c:v>
                </c:pt>
                <c:pt idx="81">
                  <c:v>43547</c:v>
                </c:pt>
                <c:pt idx="82">
                  <c:v>43548</c:v>
                </c:pt>
                <c:pt idx="83">
                  <c:v>43549</c:v>
                </c:pt>
                <c:pt idx="84">
                  <c:v>43550</c:v>
                </c:pt>
                <c:pt idx="85">
                  <c:v>43551</c:v>
                </c:pt>
                <c:pt idx="86">
                  <c:v>43552</c:v>
                </c:pt>
                <c:pt idx="87">
                  <c:v>43553</c:v>
                </c:pt>
                <c:pt idx="88">
                  <c:v>43554</c:v>
                </c:pt>
                <c:pt idx="89">
                  <c:v>43555</c:v>
                </c:pt>
                <c:pt idx="90">
                  <c:v>43556</c:v>
                </c:pt>
                <c:pt idx="91">
                  <c:v>43557</c:v>
                </c:pt>
                <c:pt idx="92">
                  <c:v>43558</c:v>
                </c:pt>
                <c:pt idx="93">
                  <c:v>43559</c:v>
                </c:pt>
                <c:pt idx="94">
                  <c:v>43560</c:v>
                </c:pt>
                <c:pt idx="95">
                  <c:v>43561</c:v>
                </c:pt>
                <c:pt idx="96">
                  <c:v>43562</c:v>
                </c:pt>
                <c:pt idx="97">
                  <c:v>43563</c:v>
                </c:pt>
                <c:pt idx="98">
                  <c:v>43564</c:v>
                </c:pt>
                <c:pt idx="99">
                  <c:v>43565</c:v>
                </c:pt>
                <c:pt idx="100">
                  <c:v>43566</c:v>
                </c:pt>
                <c:pt idx="101">
                  <c:v>43567</c:v>
                </c:pt>
                <c:pt idx="102">
                  <c:v>43568</c:v>
                </c:pt>
                <c:pt idx="103">
                  <c:v>43569</c:v>
                </c:pt>
                <c:pt idx="104">
                  <c:v>43570</c:v>
                </c:pt>
                <c:pt idx="105">
                  <c:v>43571</c:v>
                </c:pt>
                <c:pt idx="106">
                  <c:v>43572</c:v>
                </c:pt>
                <c:pt idx="107">
                  <c:v>43573</c:v>
                </c:pt>
                <c:pt idx="108">
                  <c:v>43574</c:v>
                </c:pt>
                <c:pt idx="109">
                  <c:v>43575</c:v>
                </c:pt>
                <c:pt idx="110">
                  <c:v>43576</c:v>
                </c:pt>
                <c:pt idx="111">
                  <c:v>43577</c:v>
                </c:pt>
                <c:pt idx="112">
                  <c:v>43578</c:v>
                </c:pt>
                <c:pt idx="113">
                  <c:v>43579</c:v>
                </c:pt>
                <c:pt idx="114">
                  <c:v>43580</c:v>
                </c:pt>
                <c:pt idx="115">
                  <c:v>43581</c:v>
                </c:pt>
                <c:pt idx="116">
                  <c:v>43582</c:v>
                </c:pt>
                <c:pt idx="117">
                  <c:v>43583</c:v>
                </c:pt>
                <c:pt idx="118">
                  <c:v>43584</c:v>
                </c:pt>
                <c:pt idx="119">
                  <c:v>43585</c:v>
                </c:pt>
                <c:pt idx="120">
                  <c:v>43586</c:v>
                </c:pt>
                <c:pt idx="121">
                  <c:v>43587</c:v>
                </c:pt>
                <c:pt idx="122">
                  <c:v>43588</c:v>
                </c:pt>
                <c:pt idx="123">
                  <c:v>43589</c:v>
                </c:pt>
                <c:pt idx="124">
                  <c:v>43590</c:v>
                </c:pt>
                <c:pt idx="125">
                  <c:v>43591</c:v>
                </c:pt>
                <c:pt idx="126">
                  <c:v>43592</c:v>
                </c:pt>
                <c:pt idx="127">
                  <c:v>43593</c:v>
                </c:pt>
                <c:pt idx="128">
                  <c:v>43594</c:v>
                </c:pt>
                <c:pt idx="129">
                  <c:v>43595</c:v>
                </c:pt>
                <c:pt idx="130">
                  <c:v>43596</c:v>
                </c:pt>
                <c:pt idx="131">
                  <c:v>43597</c:v>
                </c:pt>
                <c:pt idx="132">
                  <c:v>43598</c:v>
                </c:pt>
                <c:pt idx="133">
                  <c:v>43599</c:v>
                </c:pt>
                <c:pt idx="134">
                  <c:v>43600</c:v>
                </c:pt>
                <c:pt idx="135">
                  <c:v>43601</c:v>
                </c:pt>
                <c:pt idx="136">
                  <c:v>43602</c:v>
                </c:pt>
                <c:pt idx="137">
                  <c:v>43603</c:v>
                </c:pt>
                <c:pt idx="138">
                  <c:v>43604</c:v>
                </c:pt>
                <c:pt idx="139">
                  <c:v>43605</c:v>
                </c:pt>
                <c:pt idx="140">
                  <c:v>43606</c:v>
                </c:pt>
                <c:pt idx="141">
                  <c:v>43607</c:v>
                </c:pt>
                <c:pt idx="142">
                  <c:v>43608</c:v>
                </c:pt>
                <c:pt idx="143">
                  <c:v>43609</c:v>
                </c:pt>
                <c:pt idx="144">
                  <c:v>43610</c:v>
                </c:pt>
                <c:pt idx="145">
                  <c:v>43611</c:v>
                </c:pt>
                <c:pt idx="146">
                  <c:v>43612</c:v>
                </c:pt>
                <c:pt idx="147">
                  <c:v>43613</c:v>
                </c:pt>
                <c:pt idx="148">
                  <c:v>43614</c:v>
                </c:pt>
                <c:pt idx="149">
                  <c:v>43615</c:v>
                </c:pt>
                <c:pt idx="150">
                  <c:v>43616</c:v>
                </c:pt>
                <c:pt idx="151">
                  <c:v>43617</c:v>
                </c:pt>
                <c:pt idx="152">
                  <c:v>43618</c:v>
                </c:pt>
                <c:pt idx="153">
                  <c:v>43619</c:v>
                </c:pt>
                <c:pt idx="154">
                  <c:v>43620</c:v>
                </c:pt>
                <c:pt idx="155">
                  <c:v>43621</c:v>
                </c:pt>
                <c:pt idx="156">
                  <c:v>43622</c:v>
                </c:pt>
                <c:pt idx="157">
                  <c:v>43623</c:v>
                </c:pt>
                <c:pt idx="158">
                  <c:v>43624</c:v>
                </c:pt>
                <c:pt idx="159">
                  <c:v>43625</c:v>
                </c:pt>
                <c:pt idx="160">
                  <c:v>43626</c:v>
                </c:pt>
                <c:pt idx="161">
                  <c:v>43627</c:v>
                </c:pt>
                <c:pt idx="162">
                  <c:v>43628</c:v>
                </c:pt>
                <c:pt idx="163">
                  <c:v>43629</c:v>
                </c:pt>
                <c:pt idx="164">
                  <c:v>43630</c:v>
                </c:pt>
                <c:pt idx="165">
                  <c:v>43631</c:v>
                </c:pt>
                <c:pt idx="166">
                  <c:v>43632</c:v>
                </c:pt>
                <c:pt idx="167">
                  <c:v>43633</c:v>
                </c:pt>
                <c:pt idx="168">
                  <c:v>43634</c:v>
                </c:pt>
                <c:pt idx="169">
                  <c:v>43635</c:v>
                </c:pt>
                <c:pt idx="170">
                  <c:v>43636</c:v>
                </c:pt>
                <c:pt idx="171">
                  <c:v>43637</c:v>
                </c:pt>
                <c:pt idx="172">
                  <c:v>43638</c:v>
                </c:pt>
                <c:pt idx="173">
                  <c:v>43639</c:v>
                </c:pt>
                <c:pt idx="174">
                  <c:v>43640</c:v>
                </c:pt>
                <c:pt idx="175">
                  <c:v>43641</c:v>
                </c:pt>
                <c:pt idx="176">
                  <c:v>43642</c:v>
                </c:pt>
                <c:pt idx="177">
                  <c:v>43643</c:v>
                </c:pt>
                <c:pt idx="178">
                  <c:v>43644</c:v>
                </c:pt>
                <c:pt idx="179">
                  <c:v>43645</c:v>
                </c:pt>
                <c:pt idx="180">
                  <c:v>43646</c:v>
                </c:pt>
                <c:pt idx="181">
                  <c:v>43647</c:v>
                </c:pt>
                <c:pt idx="182">
                  <c:v>43648</c:v>
                </c:pt>
                <c:pt idx="183">
                  <c:v>43649</c:v>
                </c:pt>
                <c:pt idx="184">
                  <c:v>43650</c:v>
                </c:pt>
                <c:pt idx="185">
                  <c:v>43651</c:v>
                </c:pt>
                <c:pt idx="186">
                  <c:v>43652</c:v>
                </c:pt>
                <c:pt idx="187">
                  <c:v>43653</c:v>
                </c:pt>
                <c:pt idx="188">
                  <c:v>43654</c:v>
                </c:pt>
                <c:pt idx="189">
                  <c:v>43655</c:v>
                </c:pt>
                <c:pt idx="190">
                  <c:v>43656</c:v>
                </c:pt>
                <c:pt idx="191">
                  <c:v>43657</c:v>
                </c:pt>
                <c:pt idx="192">
                  <c:v>43658</c:v>
                </c:pt>
                <c:pt idx="193">
                  <c:v>43659</c:v>
                </c:pt>
                <c:pt idx="194">
                  <c:v>43660</c:v>
                </c:pt>
                <c:pt idx="195">
                  <c:v>43661</c:v>
                </c:pt>
                <c:pt idx="196">
                  <c:v>43662</c:v>
                </c:pt>
                <c:pt idx="197">
                  <c:v>43663</c:v>
                </c:pt>
                <c:pt idx="198">
                  <c:v>43664</c:v>
                </c:pt>
                <c:pt idx="199">
                  <c:v>43665</c:v>
                </c:pt>
                <c:pt idx="200">
                  <c:v>43666</c:v>
                </c:pt>
                <c:pt idx="201">
                  <c:v>43667</c:v>
                </c:pt>
                <c:pt idx="202">
                  <c:v>43668</c:v>
                </c:pt>
                <c:pt idx="203">
                  <c:v>43669</c:v>
                </c:pt>
                <c:pt idx="204">
                  <c:v>43670</c:v>
                </c:pt>
                <c:pt idx="205">
                  <c:v>43671</c:v>
                </c:pt>
                <c:pt idx="206">
                  <c:v>43672</c:v>
                </c:pt>
                <c:pt idx="207">
                  <c:v>43673</c:v>
                </c:pt>
                <c:pt idx="208">
                  <c:v>43674</c:v>
                </c:pt>
                <c:pt idx="209">
                  <c:v>43675</c:v>
                </c:pt>
                <c:pt idx="210">
                  <c:v>43676</c:v>
                </c:pt>
                <c:pt idx="211">
                  <c:v>43677</c:v>
                </c:pt>
                <c:pt idx="212">
                  <c:v>43678</c:v>
                </c:pt>
                <c:pt idx="213">
                  <c:v>43679</c:v>
                </c:pt>
                <c:pt idx="214">
                  <c:v>43680</c:v>
                </c:pt>
                <c:pt idx="215">
                  <c:v>43681</c:v>
                </c:pt>
                <c:pt idx="216">
                  <c:v>43682</c:v>
                </c:pt>
                <c:pt idx="217">
                  <c:v>43683</c:v>
                </c:pt>
                <c:pt idx="218">
                  <c:v>43684</c:v>
                </c:pt>
                <c:pt idx="219">
                  <c:v>43685</c:v>
                </c:pt>
                <c:pt idx="220">
                  <c:v>43686</c:v>
                </c:pt>
                <c:pt idx="221">
                  <c:v>43687</c:v>
                </c:pt>
                <c:pt idx="222">
                  <c:v>43688</c:v>
                </c:pt>
                <c:pt idx="223">
                  <c:v>43689</c:v>
                </c:pt>
                <c:pt idx="224">
                  <c:v>43690</c:v>
                </c:pt>
                <c:pt idx="225">
                  <c:v>43691</c:v>
                </c:pt>
                <c:pt idx="226">
                  <c:v>43692</c:v>
                </c:pt>
                <c:pt idx="227">
                  <c:v>43693</c:v>
                </c:pt>
                <c:pt idx="228">
                  <c:v>43694</c:v>
                </c:pt>
                <c:pt idx="229">
                  <c:v>43695</c:v>
                </c:pt>
                <c:pt idx="230">
                  <c:v>43696</c:v>
                </c:pt>
                <c:pt idx="231">
                  <c:v>43697</c:v>
                </c:pt>
                <c:pt idx="232">
                  <c:v>43698</c:v>
                </c:pt>
                <c:pt idx="233">
                  <c:v>43699</c:v>
                </c:pt>
                <c:pt idx="234">
                  <c:v>43700</c:v>
                </c:pt>
                <c:pt idx="235">
                  <c:v>43701</c:v>
                </c:pt>
                <c:pt idx="236">
                  <c:v>43702</c:v>
                </c:pt>
                <c:pt idx="237">
                  <c:v>43703</c:v>
                </c:pt>
                <c:pt idx="238">
                  <c:v>43704</c:v>
                </c:pt>
                <c:pt idx="239">
                  <c:v>43705</c:v>
                </c:pt>
                <c:pt idx="240">
                  <c:v>43706</c:v>
                </c:pt>
                <c:pt idx="241">
                  <c:v>43707</c:v>
                </c:pt>
                <c:pt idx="242">
                  <c:v>43708</c:v>
                </c:pt>
                <c:pt idx="243">
                  <c:v>43709</c:v>
                </c:pt>
                <c:pt idx="244">
                  <c:v>43710</c:v>
                </c:pt>
                <c:pt idx="245">
                  <c:v>43711</c:v>
                </c:pt>
                <c:pt idx="246">
                  <c:v>43712</c:v>
                </c:pt>
                <c:pt idx="247">
                  <c:v>43713</c:v>
                </c:pt>
                <c:pt idx="248">
                  <c:v>43714</c:v>
                </c:pt>
                <c:pt idx="249">
                  <c:v>43715</c:v>
                </c:pt>
                <c:pt idx="250">
                  <c:v>43716</c:v>
                </c:pt>
                <c:pt idx="251">
                  <c:v>43717</c:v>
                </c:pt>
                <c:pt idx="252">
                  <c:v>43718</c:v>
                </c:pt>
                <c:pt idx="253">
                  <c:v>43719</c:v>
                </c:pt>
                <c:pt idx="254">
                  <c:v>43720</c:v>
                </c:pt>
                <c:pt idx="255">
                  <c:v>43721</c:v>
                </c:pt>
                <c:pt idx="256">
                  <c:v>43722</c:v>
                </c:pt>
                <c:pt idx="257">
                  <c:v>43723</c:v>
                </c:pt>
                <c:pt idx="258">
                  <c:v>43724</c:v>
                </c:pt>
                <c:pt idx="259">
                  <c:v>43725</c:v>
                </c:pt>
                <c:pt idx="260">
                  <c:v>43726</c:v>
                </c:pt>
                <c:pt idx="261">
                  <c:v>43727</c:v>
                </c:pt>
                <c:pt idx="262">
                  <c:v>43728</c:v>
                </c:pt>
                <c:pt idx="263">
                  <c:v>43729</c:v>
                </c:pt>
                <c:pt idx="264">
                  <c:v>43730</c:v>
                </c:pt>
                <c:pt idx="265">
                  <c:v>43731</c:v>
                </c:pt>
                <c:pt idx="266">
                  <c:v>43732</c:v>
                </c:pt>
                <c:pt idx="267">
                  <c:v>43733</c:v>
                </c:pt>
                <c:pt idx="268">
                  <c:v>43734</c:v>
                </c:pt>
                <c:pt idx="269">
                  <c:v>43735</c:v>
                </c:pt>
                <c:pt idx="270">
                  <c:v>43736</c:v>
                </c:pt>
                <c:pt idx="271">
                  <c:v>43737</c:v>
                </c:pt>
                <c:pt idx="272">
                  <c:v>43738</c:v>
                </c:pt>
                <c:pt idx="273">
                  <c:v>43739</c:v>
                </c:pt>
                <c:pt idx="274">
                  <c:v>43740</c:v>
                </c:pt>
                <c:pt idx="275">
                  <c:v>43741</c:v>
                </c:pt>
                <c:pt idx="276">
                  <c:v>43742</c:v>
                </c:pt>
                <c:pt idx="277">
                  <c:v>43743</c:v>
                </c:pt>
                <c:pt idx="278">
                  <c:v>43744</c:v>
                </c:pt>
                <c:pt idx="279">
                  <c:v>43745</c:v>
                </c:pt>
                <c:pt idx="280">
                  <c:v>43746</c:v>
                </c:pt>
                <c:pt idx="281">
                  <c:v>43747</c:v>
                </c:pt>
                <c:pt idx="282">
                  <c:v>43748</c:v>
                </c:pt>
                <c:pt idx="283">
                  <c:v>43749</c:v>
                </c:pt>
                <c:pt idx="284">
                  <c:v>43750</c:v>
                </c:pt>
                <c:pt idx="285">
                  <c:v>43751</c:v>
                </c:pt>
                <c:pt idx="286">
                  <c:v>43752</c:v>
                </c:pt>
                <c:pt idx="287">
                  <c:v>43753</c:v>
                </c:pt>
                <c:pt idx="288">
                  <c:v>43754</c:v>
                </c:pt>
                <c:pt idx="289">
                  <c:v>43755</c:v>
                </c:pt>
                <c:pt idx="290">
                  <c:v>43756</c:v>
                </c:pt>
                <c:pt idx="291">
                  <c:v>43757</c:v>
                </c:pt>
                <c:pt idx="292">
                  <c:v>43758</c:v>
                </c:pt>
                <c:pt idx="293">
                  <c:v>43759</c:v>
                </c:pt>
                <c:pt idx="294">
                  <c:v>43760</c:v>
                </c:pt>
                <c:pt idx="295">
                  <c:v>43761</c:v>
                </c:pt>
                <c:pt idx="296">
                  <c:v>43762</c:v>
                </c:pt>
                <c:pt idx="297">
                  <c:v>43763</c:v>
                </c:pt>
                <c:pt idx="298">
                  <c:v>43764</c:v>
                </c:pt>
                <c:pt idx="299">
                  <c:v>43765</c:v>
                </c:pt>
                <c:pt idx="300">
                  <c:v>43766</c:v>
                </c:pt>
                <c:pt idx="301">
                  <c:v>43767</c:v>
                </c:pt>
                <c:pt idx="302">
                  <c:v>43768</c:v>
                </c:pt>
                <c:pt idx="303">
                  <c:v>43769</c:v>
                </c:pt>
                <c:pt idx="304">
                  <c:v>43770</c:v>
                </c:pt>
                <c:pt idx="305">
                  <c:v>43771</c:v>
                </c:pt>
                <c:pt idx="306">
                  <c:v>43772</c:v>
                </c:pt>
                <c:pt idx="307">
                  <c:v>43773</c:v>
                </c:pt>
                <c:pt idx="308">
                  <c:v>43774</c:v>
                </c:pt>
                <c:pt idx="309">
                  <c:v>43775</c:v>
                </c:pt>
                <c:pt idx="310">
                  <c:v>43776</c:v>
                </c:pt>
                <c:pt idx="311">
                  <c:v>43777</c:v>
                </c:pt>
                <c:pt idx="312">
                  <c:v>43778</c:v>
                </c:pt>
                <c:pt idx="313">
                  <c:v>43779</c:v>
                </c:pt>
                <c:pt idx="314">
                  <c:v>43780</c:v>
                </c:pt>
                <c:pt idx="315">
                  <c:v>43781</c:v>
                </c:pt>
                <c:pt idx="316">
                  <c:v>43782</c:v>
                </c:pt>
                <c:pt idx="317">
                  <c:v>43783</c:v>
                </c:pt>
                <c:pt idx="318">
                  <c:v>43784</c:v>
                </c:pt>
                <c:pt idx="319">
                  <c:v>43785</c:v>
                </c:pt>
                <c:pt idx="320">
                  <c:v>43786</c:v>
                </c:pt>
                <c:pt idx="321">
                  <c:v>43787</c:v>
                </c:pt>
                <c:pt idx="322">
                  <c:v>43788</c:v>
                </c:pt>
                <c:pt idx="323">
                  <c:v>43789</c:v>
                </c:pt>
                <c:pt idx="324">
                  <c:v>43790</c:v>
                </c:pt>
                <c:pt idx="325">
                  <c:v>43791</c:v>
                </c:pt>
                <c:pt idx="326">
                  <c:v>43792</c:v>
                </c:pt>
                <c:pt idx="327">
                  <c:v>43793</c:v>
                </c:pt>
                <c:pt idx="328">
                  <c:v>43794</c:v>
                </c:pt>
                <c:pt idx="329">
                  <c:v>43795</c:v>
                </c:pt>
                <c:pt idx="330">
                  <c:v>43796</c:v>
                </c:pt>
                <c:pt idx="331">
                  <c:v>43797</c:v>
                </c:pt>
                <c:pt idx="332">
                  <c:v>43798</c:v>
                </c:pt>
                <c:pt idx="333">
                  <c:v>43799</c:v>
                </c:pt>
                <c:pt idx="334">
                  <c:v>43800</c:v>
                </c:pt>
                <c:pt idx="335">
                  <c:v>43801</c:v>
                </c:pt>
                <c:pt idx="336">
                  <c:v>43802</c:v>
                </c:pt>
                <c:pt idx="337">
                  <c:v>43803</c:v>
                </c:pt>
                <c:pt idx="338">
                  <c:v>43804</c:v>
                </c:pt>
                <c:pt idx="339">
                  <c:v>43805</c:v>
                </c:pt>
                <c:pt idx="340">
                  <c:v>43806</c:v>
                </c:pt>
                <c:pt idx="341">
                  <c:v>43807</c:v>
                </c:pt>
                <c:pt idx="342">
                  <c:v>43808</c:v>
                </c:pt>
                <c:pt idx="343">
                  <c:v>43809</c:v>
                </c:pt>
                <c:pt idx="344">
                  <c:v>43810</c:v>
                </c:pt>
                <c:pt idx="345">
                  <c:v>43811</c:v>
                </c:pt>
                <c:pt idx="346">
                  <c:v>43812</c:v>
                </c:pt>
                <c:pt idx="347">
                  <c:v>43813</c:v>
                </c:pt>
                <c:pt idx="348">
                  <c:v>43814</c:v>
                </c:pt>
                <c:pt idx="349">
                  <c:v>43815</c:v>
                </c:pt>
                <c:pt idx="350">
                  <c:v>43816</c:v>
                </c:pt>
                <c:pt idx="351">
                  <c:v>43817</c:v>
                </c:pt>
                <c:pt idx="352">
                  <c:v>43818</c:v>
                </c:pt>
                <c:pt idx="353">
                  <c:v>43819</c:v>
                </c:pt>
                <c:pt idx="354">
                  <c:v>43820</c:v>
                </c:pt>
                <c:pt idx="355">
                  <c:v>43821</c:v>
                </c:pt>
                <c:pt idx="356">
                  <c:v>43822</c:v>
                </c:pt>
                <c:pt idx="357">
                  <c:v>43823</c:v>
                </c:pt>
                <c:pt idx="358">
                  <c:v>43824</c:v>
                </c:pt>
                <c:pt idx="359">
                  <c:v>43825</c:v>
                </c:pt>
                <c:pt idx="360">
                  <c:v>43826</c:v>
                </c:pt>
                <c:pt idx="361">
                  <c:v>43827</c:v>
                </c:pt>
                <c:pt idx="362">
                  <c:v>43828</c:v>
                </c:pt>
                <c:pt idx="363">
                  <c:v>43829</c:v>
                </c:pt>
                <c:pt idx="364">
                  <c:v>43830</c:v>
                </c:pt>
                <c:pt idx="365">
                  <c:v>43831</c:v>
                </c:pt>
                <c:pt idx="366">
                  <c:v>43832</c:v>
                </c:pt>
                <c:pt idx="367">
                  <c:v>43833</c:v>
                </c:pt>
                <c:pt idx="368">
                  <c:v>43834</c:v>
                </c:pt>
                <c:pt idx="369">
                  <c:v>43835</c:v>
                </c:pt>
                <c:pt idx="370">
                  <c:v>43836</c:v>
                </c:pt>
                <c:pt idx="371">
                  <c:v>43837</c:v>
                </c:pt>
                <c:pt idx="372">
                  <c:v>43838</c:v>
                </c:pt>
                <c:pt idx="373">
                  <c:v>43839</c:v>
                </c:pt>
                <c:pt idx="374">
                  <c:v>43840</c:v>
                </c:pt>
                <c:pt idx="375">
                  <c:v>43841</c:v>
                </c:pt>
                <c:pt idx="376">
                  <c:v>43842</c:v>
                </c:pt>
                <c:pt idx="377">
                  <c:v>43843</c:v>
                </c:pt>
                <c:pt idx="378">
                  <c:v>43844</c:v>
                </c:pt>
                <c:pt idx="379">
                  <c:v>43845</c:v>
                </c:pt>
                <c:pt idx="380">
                  <c:v>43846</c:v>
                </c:pt>
                <c:pt idx="381">
                  <c:v>43847</c:v>
                </c:pt>
                <c:pt idx="382">
                  <c:v>43848</c:v>
                </c:pt>
                <c:pt idx="383">
                  <c:v>43849</c:v>
                </c:pt>
                <c:pt idx="384">
                  <c:v>43850</c:v>
                </c:pt>
                <c:pt idx="385">
                  <c:v>43851</c:v>
                </c:pt>
                <c:pt idx="386">
                  <c:v>43852</c:v>
                </c:pt>
                <c:pt idx="387">
                  <c:v>43853</c:v>
                </c:pt>
                <c:pt idx="388">
                  <c:v>43854</c:v>
                </c:pt>
                <c:pt idx="389">
                  <c:v>43855</c:v>
                </c:pt>
                <c:pt idx="390">
                  <c:v>43856</c:v>
                </c:pt>
                <c:pt idx="391">
                  <c:v>43857</c:v>
                </c:pt>
                <c:pt idx="392">
                  <c:v>43858</c:v>
                </c:pt>
                <c:pt idx="393">
                  <c:v>43859</c:v>
                </c:pt>
                <c:pt idx="394">
                  <c:v>43860</c:v>
                </c:pt>
                <c:pt idx="395">
                  <c:v>43861</c:v>
                </c:pt>
                <c:pt idx="396">
                  <c:v>43862</c:v>
                </c:pt>
                <c:pt idx="397">
                  <c:v>43863</c:v>
                </c:pt>
                <c:pt idx="398">
                  <c:v>43864</c:v>
                </c:pt>
                <c:pt idx="399">
                  <c:v>43865</c:v>
                </c:pt>
                <c:pt idx="400">
                  <c:v>43866</c:v>
                </c:pt>
                <c:pt idx="401">
                  <c:v>43867</c:v>
                </c:pt>
                <c:pt idx="402">
                  <c:v>43868</c:v>
                </c:pt>
                <c:pt idx="403">
                  <c:v>43869</c:v>
                </c:pt>
                <c:pt idx="404">
                  <c:v>43870</c:v>
                </c:pt>
                <c:pt idx="405">
                  <c:v>43871</c:v>
                </c:pt>
                <c:pt idx="406">
                  <c:v>43872</c:v>
                </c:pt>
                <c:pt idx="407">
                  <c:v>43873</c:v>
                </c:pt>
                <c:pt idx="408">
                  <c:v>43874</c:v>
                </c:pt>
                <c:pt idx="409">
                  <c:v>43875</c:v>
                </c:pt>
                <c:pt idx="410">
                  <c:v>43876</c:v>
                </c:pt>
                <c:pt idx="411">
                  <c:v>43877</c:v>
                </c:pt>
                <c:pt idx="412">
                  <c:v>43878</c:v>
                </c:pt>
                <c:pt idx="413">
                  <c:v>43879</c:v>
                </c:pt>
                <c:pt idx="414">
                  <c:v>43880</c:v>
                </c:pt>
                <c:pt idx="415">
                  <c:v>43881</c:v>
                </c:pt>
                <c:pt idx="416">
                  <c:v>43882</c:v>
                </c:pt>
                <c:pt idx="417">
                  <c:v>43883</c:v>
                </c:pt>
                <c:pt idx="418">
                  <c:v>43884</c:v>
                </c:pt>
                <c:pt idx="419">
                  <c:v>43885</c:v>
                </c:pt>
                <c:pt idx="420">
                  <c:v>43886</c:v>
                </c:pt>
                <c:pt idx="421">
                  <c:v>43887</c:v>
                </c:pt>
                <c:pt idx="422">
                  <c:v>43888</c:v>
                </c:pt>
                <c:pt idx="423">
                  <c:v>43889</c:v>
                </c:pt>
                <c:pt idx="424">
                  <c:v>43890</c:v>
                </c:pt>
                <c:pt idx="425">
                  <c:v>43891</c:v>
                </c:pt>
                <c:pt idx="426">
                  <c:v>43892</c:v>
                </c:pt>
                <c:pt idx="427">
                  <c:v>43893</c:v>
                </c:pt>
                <c:pt idx="428">
                  <c:v>43894</c:v>
                </c:pt>
                <c:pt idx="429">
                  <c:v>43895</c:v>
                </c:pt>
                <c:pt idx="430">
                  <c:v>43896</c:v>
                </c:pt>
                <c:pt idx="431">
                  <c:v>43897</c:v>
                </c:pt>
                <c:pt idx="432">
                  <c:v>43898</c:v>
                </c:pt>
                <c:pt idx="433">
                  <c:v>43899</c:v>
                </c:pt>
                <c:pt idx="434">
                  <c:v>43900</c:v>
                </c:pt>
                <c:pt idx="435">
                  <c:v>43901</c:v>
                </c:pt>
                <c:pt idx="436">
                  <c:v>43902</c:v>
                </c:pt>
                <c:pt idx="437">
                  <c:v>43903</c:v>
                </c:pt>
                <c:pt idx="438">
                  <c:v>43904</c:v>
                </c:pt>
                <c:pt idx="439">
                  <c:v>43905</c:v>
                </c:pt>
                <c:pt idx="440">
                  <c:v>43906</c:v>
                </c:pt>
                <c:pt idx="441">
                  <c:v>43907</c:v>
                </c:pt>
                <c:pt idx="442">
                  <c:v>43908</c:v>
                </c:pt>
                <c:pt idx="443">
                  <c:v>43909</c:v>
                </c:pt>
                <c:pt idx="444">
                  <c:v>43910</c:v>
                </c:pt>
                <c:pt idx="445">
                  <c:v>43911</c:v>
                </c:pt>
                <c:pt idx="446">
                  <c:v>43912</c:v>
                </c:pt>
                <c:pt idx="447">
                  <c:v>43913</c:v>
                </c:pt>
                <c:pt idx="448">
                  <c:v>43914</c:v>
                </c:pt>
                <c:pt idx="449">
                  <c:v>43915</c:v>
                </c:pt>
                <c:pt idx="450">
                  <c:v>43916</c:v>
                </c:pt>
                <c:pt idx="451">
                  <c:v>43917</c:v>
                </c:pt>
                <c:pt idx="452">
                  <c:v>43918</c:v>
                </c:pt>
                <c:pt idx="453">
                  <c:v>43919</c:v>
                </c:pt>
                <c:pt idx="454">
                  <c:v>43920</c:v>
                </c:pt>
                <c:pt idx="455">
                  <c:v>43921</c:v>
                </c:pt>
                <c:pt idx="456">
                  <c:v>43922</c:v>
                </c:pt>
                <c:pt idx="457">
                  <c:v>43923</c:v>
                </c:pt>
                <c:pt idx="458">
                  <c:v>43924</c:v>
                </c:pt>
                <c:pt idx="459">
                  <c:v>43925</c:v>
                </c:pt>
                <c:pt idx="460">
                  <c:v>43926</c:v>
                </c:pt>
                <c:pt idx="461">
                  <c:v>43927</c:v>
                </c:pt>
                <c:pt idx="462">
                  <c:v>43928</c:v>
                </c:pt>
                <c:pt idx="463">
                  <c:v>43929</c:v>
                </c:pt>
                <c:pt idx="464">
                  <c:v>43930</c:v>
                </c:pt>
                <c:pt idx="465">
                  <c:v>43931</c:v>
                </c:pt>
                <c:pt idx="466">
                  <c:v>43932</c:v>
                </c:pt>
                <c:pt idx="467">
                  <c:v>43933</c:v>
                </c:pt>
                <c:pt idx="468">
                  <c:v>43934</c:v>
                </c:pt>
                <c:pt idx="469">
                  <c:v>43935</c:v>
                </c:pt>
                <c:pt idx="470">
                  <c:v>43936</c:v>
                </c:pt>
                <c:pt idx="471">
                  <c:v>43937</c:v>
                </c:pt>
                <c:pt idx="472">
                  <c:v>43938</c:v>
                </c:pt>
                <c:pt idx="473">
                  <c:v>43939</c:v>
                </c:pt>
                <c:pt idx="474">
                  <c:v>43940</c:v>
                </c:pt>
                <c:pt idx="475">
                  <c:v>43941</c:v>
                </c:pt>
                <c:pt idx="476">
                  <c:v>43942</c:v>
                </c:pt>
                <c:pt idx="477">
                  <c:v>43943</c:v>
                </c:pt>
                <c:pt idx="478">
                  <c:v>43944</c:v>
                </c:pt>
                <c:pt idx="479">
                  <c:v>43945</c:v>
                </c:pt>
                <c:pt idx="480">
                  <c:v>43946</c:v>
                </c:pt>
                <c:pt idx="481">
                  <c:v>43947</c:v>
                </c:pt>
                <c:pt idx="482">
                  <c:v>43948</c:v>
                </c:pt>
                <c:pt idx="483">
                  <c:v>43949</c:v>
                </c:pt>
                <c:pt idx="484">
                  <c:v>43950</c:v>
                </c:pt>
                <c:pt idx="485">
                  <c:v>43951</c:v>
                </c:pt>
                <c:pt idx="486">
                  <c:v>43952</c:v>
                </c:pt>
                <c:pt idx="487">
                  <c:v>43953</c:v>
                </c:pt>
                <c:pt idx="488">
                  <c:v>43954</c:v>
                </c:pt>
                <c:pt idx="489">
                  <c:v>43955</c:v>
                </c:pt>
                <c:pt idx="490">
                  <c:v>43956</c:v>
                </c:pt>
                <c:pt idx="491">
                  <c:v>43957</c:v>
                </c:pt>
                <c:pt idx="492">
                  <c:v>43958</c:v>
                </c:pt>
                <c:pt idx="493">
                  <c:v>43959</c:v>
                </c:pt>
                <c:pt idx="494">
                  <c:v>43960</c:v>
                </c:pt>
                <c:pt idx="495">
                  <c:v>43961</c:v>
                </c:pt>
                <c:pt idx="496">
                  <c:v>43962</c:v>
                </c:pt>
                <c:pt idx="497">
                  <c:v>43963</c:v>
                </c:pt>
                <c:pt idx="498">
                  <c:v>43964</c:v>
                </c:pt>
                <c:pt idx="499">
                  <c:v>43965</c:v>
                </c:pt>
                <c:pt idx="500">
                  <c:v>43966</c:v>
                </c:pt>
                <c:pt idx="501">
                  <c:v>43967</c:v>
                </c:pt>
                <c:pt idx="502">
                  <c:v>43968</c:v>
                </c:pt>
                <c:pt idx="503">
                  <c:v>43969</c:v>
                </c:pt>
                <c:pt idx="504">
                  <c:v>43970</c:v>
                </c:pt>
                <c:pt idx="505">
                  <c:v>43971</c:v>
                </c:pt>
                <c:pt idx="506">
                  <c:v>43972</c:v>
                </c:pt>
                <c:pt idx="507">
                  <c:v>43973</c:v>
                </c:pt>
                <c:pt idx="508">
                  <c:v>43974</c:v>
                </c:pt>
                <c:pt idx="509">
                  <c:v>43975</c:v>
                </c:pt>
                <c:pt idx="510">
                  <c:v>43976</c:v>
                </c:pt>
                <c:pt idx="511">
                  <c:v>43977</c:v>
                </c:pt>
                <c:pt idx="512">
                  <c:v>43978</c:v>
                </c:pt>
                <c:pt idx="513">
                  <c:v>43979</c:v>
                </c:pt>
                <c:pt idx="514">
                  <c:v>43980</c:v>
                </c:pt>
                <c:pt idx="515">
                  <c:v>43981</c:v>
                </c:pt>
                <c:pt idx="516">
                  <c:v>43982</c:v>
                </c:pt>
                <c:pt idx="517">
                  <c:v>43983</c:v>
                </c:pt>
                <c:pt idx="518">
                  <c:v>43984</c:v>
                </c:pt>
                <c:pt idx="519">
                  <c:v>43985</c:v>
                </c:pt>
                <c:pt idx="520">
                  <c:v>43986</c:v>
                </c:pt>
                <c:pt idx="521">
                  <c:v>43987</c:v>
                </c:pt>
                <c:pt idx="522">
                  <c:v>43988</c:v>
                </c:pt>
                <c:pt idx="523">
                  <c:v>43989</c:v>
                </c:pt>
                <c:pt idx="524">
                  <c:v>43990</c:v>
                </c:pt>
                <c:pt idx="525">
                  <c:v>43991</c:v>
                </c:pt>
                <c:pt idx="526">
                  <c:v>43992</c:v>
                </c:pt>
                <c:pt idx="527">
                  <c:v>43993</c:v>
                </c:pt>
                <c:pt idx="528">
                  <c:v>43994</c:v>
                </c:pt>
                <c:pt idx="529">
                  <c:v>43995</c:v>
                </c:pt>
                <c:pt idx="530">
                  <c:v>43996</c:v>
                </c:pt>
                <c:pt idx="531">
                  <c:v>43997</c:v>
                </c:pt>
                <c:pt idx="532">
                  <c:v>43998</c:v>
                </c:pt>
                <c:pt idx="533">
                  <c:v>43999</c:v>
                </c:pt>
                <c:pt idx="534">
                  <c:v>44000</c:v>
                </c:pt>
                <c:pt idx="535">
                  <c:v>44001</c:v>
                </c:pt>
                <c:pt idx="536">
                  <c:v>44002</c:v>
                </c:pt>
                <c:pt idx="537">
                  <c:v>44003</c:v>
                </c:pt>
                <c:pt idx="538">
                  <c:v>44004</c:v>
                </c:pt>
                <c:pt idx="539">
                  <c:v>44005</c:v>
                </c:pt>
                <c:pt idx="540">
                  <c:v>44006</c:v>
                </c:pt>
                <c:pt idx="541">
                  <c:v>44007</c:v>
                </c:pt>
                <c:pt idx="542">
                  <c:v>44008</c:v>
                </c:pt>
                <c:pt idx="543">
                  <c:v>44009</c:v>
                </c:pt>
                <c:pt idx="544">
                  <c:v>44010</c:v>
                </c:pt>
                <c:pt idx="545">
                  <c:v>44011</c:v>
                </c:pt>
                <c:pt idx="546">
                  <c:v>44012</c:v>
                </c:pt>
                <c:pt idx="547">
                  <c:v>44013</c:v>
                </c:pt>
                <c:pt idx="548">
                  <c:v>44014</c:v>
                </c:pt>
                <c:pt idx="549">
                  <c:v>44015</c:v>
                </c:pt>
                <c:pt idx="550">
                  <c:v>44016</c:v>
                </c:pt>
                <c:pt idx="551">
                  <c:v>44017</c:v>
                </c:pt>
                <c:pt idx="552">
                  <c:v>44018</c:v>
                </c:pt>
                <c:pt idx="553">
                  <c:v>44019</c:v>
                </c:pt>
                <c:pt idx="554">
                  <c:v>44020</c:v>
                </c:pt>
                <c:pt idx="555">
                  <c:v>44021</c:v>
                </c:pt>
                <c:pt idx="556">
                  <c:v>44022</c:v>
                </c:pt>
                <c:pt idx="557">
                  <c:v>44023</c:v>
                </c:pt>
                <c:pt idx="558">
                  <c:v>44024</c:v>
                </c:pt>
                <c:pt idx="559">
                  <c:v>44025</c:v>
                </c:pt>
                <c:pt idx="560">
                  <c:v>44026</c:v>
                </c:pt>
                <c:pt idx="561">
                  <c:v>44027</c:v>
                </c:pt>
                <c:pt idx="562">
                  <c:v>44028</c:v>
                </c:pt>
                <c:pt idx="563">
                  <c:v>44029</c:v>
                </c:pt>
                <c:pt idx="564">
                  <c:v>44030</c:v>
                </c:pt>
                <c:pt idx="565">
                  <c:v>44031</c:v>
                </c:pt>
                <c:pt idx="566">
                  <c:v>44032</c:v>
                </c:pt>
                <c:pt idx="567">
                  <c:v>44033</c:v>
                </c:pt>
                <c:pt idx="568">
                  <c:v>44034</c:v>
                </c:pt>
                <c:pt idx="569">
                  <c:v>44035</c:v>
                </c:pt>
                <c:pt idx="570">
                  <c:v>44036</c:v>
                </c:pt>
                <c:pt idx="571">
                  <c:v>44037</c:v>
                </c:pt>
                <c:pt idx="572">
                  <c:v>44038</c:v>
                </c:pt>
                <c:pt idx="573">
                  <c:v>44039</c:v>
                </c:pt>
                <c:pt idx="574">
                  <c:v>44040</c:v>
                </c:pt>
                <c:pt idx="575">
                  <c:v>44041</c:v>
                </c:pt>
                <c:pt idx="576">
                  <c:v>44042</c:v>
                </c:pt>
                <c:pt idx="577">
                  <c:v>44043</c:v>
                </c:pt>
                <c:pt idx="578">
                  <c:v>44044</c:v>
                </c:pt>
                <c:pt idx="579">
                  <c:v>44045</c:v>
                </c:pt>
                <c:pt idx="580">
                  <c:v>44046</c:v>
                </c:pt>
                <c:pt idx="581">
                  <c:v>44047</c:v>
                </c:pt>
                <c:pt idx="582">
                  <c:v>44048</c:v>
                </c:pt>
                <c:pt idx="583">
                  <c:v>44049</c:v>
                </c:pt>
                <c:pt idx="584">
                  <c:v>44050</c:v>
                </c:pt>
                <c:pt idx="585">
                  <c:v>44051</c:v>
                </c:pt>
                <c:pt idx="586">
                  <c:v>44052</c:v>
                </c:pt>
                <c:pt idx="587">
                  <c:v>44053</c:v>
                </c:pt>
                <c:pt idx="588">
                  <c:v>44054</c:v>
                </c:pt>
                <c:pt idx="589">
                  <c:v>44055</c:v>
                </c:pt>
                <c:pt idx="590">
                  <c:v>44056</c:v>
                </c:pt>
                <c:pt idx="591">
                  <c:v>44057</c:v>
                </c:pt>
                <c:pt idx="592">
                  <c:v>44058</c:v>
                </c:pt>
                <c:pt idx="593">
                  <c:v>44059</c:v>
                </c:pt>
                <c:pt idx="594">
                  <c:v>44060</c:v>
                </c:pt>
                <c:pt idx="595">
                  <c:v>44061</c:v>
                </c:pt>
                <c:pt idx="596">
                  <c:v>44062</c:v>
                </c:pt>
                <c:pt idx="597">
                  <c:v>44063</c:v>
                </c:pt>
                <c:pt idx="598">
                  <c:v>44064</c:v>
                </c:pt>
                <c:pt idx="599">
                  <c:v>44065</c:v>
                </c:pt>
                <c:pt idx="600">
                  <c:v>44066</c:v>
                </c:pt>
                <c:pt idx="601">
                  <c:v>44067</c:v>
                </c:pt>
                <c:pt idx="602">
                  <c:v>44068</c:v>
                </c:pt>
                <c:pt idx="603">
                  <c:v>44069</c:v>
                </c:pt>
                <c:pt idx="604">
                  <c:v>44070</c:v>
                </c:pt>
                <c:pt idx="605">
                  <c:v>44071</c:v>
                </c:pt>
                <c:pt idx="606">
                  <c:v>44072</c:v>
                </c:pt>
                <c:pt idx="607">
                  <c:v>44073</c:v>
                </c:pt>
                <c:pt idx="608">
                  <c:v>44074</c:v>
                </c:pt>
                <c:pt idx="609">
                  <c:v>44075</c:v>
                </c:pt>
                <c:pt idx="610">
                  <c:v>44076</c:v>
                </c:pt>
                <c:pt idx="611">
                  <c:v>44077</c:v>
                </c:pt>
                <c:pt idx="612">
                  <c:v>44078</c:v>
                </c:pt>
                <c:pt idx="613">
                  <c:v>44079</c:v>
                </c:pt>
                <c:pt idx="614">
                  <c:v>44080</c:v>
                </c:pt>
                <c:pt idx="615">
                  <c:v>44081</c:v>
                </c:pt>
                <c:pt idx="616">
                  <c:v>44082</c:v>
                </c:pt>
                <c:pt idx="617">
                  <c:v>44083</c:v>
                </c:pt>
                <c:pt idx="618">
                  <c:v>44084</c:v>
                </c:pt>
                <c:pt idx="619">
                  <c:v>44085</c:v>
                </c:pt>
                <c:pt idx="620">
                  <c:v>44086</c:v>
                </c:pt>
                <c:pt idx="621">
                  <c:v>44087</c:v>
                </c:pt>
                <c:pt idx="622">
                  <c:v>44088</c:v>
                </c:pt>
                <c:pt idx="623">
                  <c:v>44089</c:v>
                </c:pt>
                <c:pt idx="624">
                  <c:v>44090</c:v>
                </c:pt>
                <c:pt idx="625">
                  <c:v>44091</c:v>
                </c:pt>
                <c:pt idx="626">
                  <c:v>44092</c:v>
                </c:pt>
                <c:pt idx="627">
                  <c:v>44093</c:v>
                </c:pt>
                <c:pt idx="628">
                  <c:v>44094</c:v>
                </c:pt>
                <c:pt idx="629">
                  <c:v>44095</c:v>
                </c:pt>
                <c:pt idx="630">
                  <c:v>44096</c:v>
                </c:pt>
                <c:pt idx="631">
                  <c:v>44097</c:v>
                </c:pt>
                <c:pt idx="632">
                  <c:v>44098</c:v>
                </c:pt>
                <c:pt idx="633">
                  <c:v>44099</c:v>
                </c:pt>
                <c:pt idx="634">
                  <c:v>44100</c:v>
                </c:pt>
                <c:pt idx="635">
                  <c:v>44101</c:v>
                </c:pt>
                <c:pt idx="636">
                  <c:v>44102</c:v>
                </c:pt>
                <c:pt idx="637">
                  <c:v>44103</c:v>
                </c:pt>
                <c:pt idx="638">
                  <c:v>44104</c:v>
                </c:pt>
                <c:pt idx="639">
                  <c:v>44105</c:v>
                </c:pt>
                <c:pt idx="640">
                  <c:v>44106</c:v>
                </c:pt>
                <c:pt idx="641">
                  <c:v>44107</c:v>
                </c:pt>
                <c:pt idx="642">
                  <c:v>44108</c:v>
                </c:pt>
                <c:pt idx="643">
                  <c:v>44109</c:v>
                </c:pt>
                <c:pt idx="644">
                  <c:v>44110</c:v>
                </c:pt>
                <c:pt idx="645">
                  <c:v>44111</c:v>
                </c:pt>
                <c:pt idx="646">
                  <c:v>44112</c:v>
                </c:pt>
                <c:pt idx="647">
                  <c:v>44113</c:v>
                </c:pt>
                <c:pt idx="648">
                  <c:v>44114</c:v>
                </c:pt>
                <c:pt idx="649">
                  <c:v>44115</c:v>
                </c:pt>
                <c:pt idx="650">
                  <c:v>44116</c:v>
                </c:pt>
                <c:pt idx="651">
                  <c:v>44117</c:v>
                </c:pt>
                <c:pt idx="652">
                  <c:v>44118</c:v>
                </c:pt>
                <c:pt idx="653">
                  <c:v>44119</c:v>
                </c:pt>
                <c:pt idx="654">
                  <c:v>44120</c:v>
                </c:pt>
                <c:pt idx="655">
                  <c:v>44121</c:v>
                </c:pt>
                <c:pt idx="656">
                  <c:v>44122</c:v>
                </c:pt>
                <c:pt idx="657">
                  <c:v>44123</c:v>
                </c:pt>
                <c:pt idx="658">
                  <c:v>44124</c:v>
                </c:pt>
                <c:pt idx="659">
                  <c:v>44125</c:v>
                </c:pt>
                <c:pt idx="660">
                  <c:v>44126</c:v>
                </c:pt>
                <c:pt idx="661">
                  <c:v>44127</c:v>
                </c:pt>
                <c:pt idx="662">
                  <c:v>44128</c:v>
                </c:pt>
                <c:pt idx="663">
                  <c:v>44129</c:v>
                </c:pt>
                <c:pt idx="664">
                  <c:v>44130</c:v>
                </c:pt>
                <c:pt idx="665">
                  <c:v>44131</c:v>
                </c:pt>
                <c:pt idx="666">
                  <c:v>44132</c:v>
                </c:pt>
                <c:pt idx="667">
                  <c:v>44133</c:v>
                </c:pt>
                <c:pt idx="668">
                  <c:v>44134</c:v>
                </c:pt>
                <c:pt idx="669">
                  <c:v>44135</c:v>
                </c:pt>
                <c:pt idx="670">
                  <c:v>44136</c:v>
                </c:pt>
                <c:pt idx="671">
                  <c:v>44137</c:v>
                </c:pt>
                <c:pt idx="672">
                  <c:v>44138</c:v>
                </c:pt>
                <c:pt idx="673">
                  <c:v>44139</c:v>
                </c:pt>
                <c:pt idx="674">
                  <c:v>44140</c:v>
                </c:pt>
                <c:pt idx="675">
                  <c:v>44141</c:v>
                </c:pt>
                <c:pt idx="676">
                  <c:v>44142</c:v>
                </c:pt>
                <c:pt idx="677">
                  <c:v>44143</c:v>
                </c:pt>
                <c:pt idx="678">
                  <c:v>44144</c:v>
                </c:pt>
                <c:pt idx="679">
                  <c:v>44145</c:v>
                </c:pt>
                <c:pt idx="680">
                  <c:v>44146</c:v>
                </c:pt>
                <c:pt idx="681">
                  <c:v>44147</c:v>
                </c:pt>
                <c:pt idx="682">
                  <c:v>44148</c:v>
                </c:pt>
                <c:pt idx="683">
                  <c:v>44149</c:v>
                </c:pt>
                <c:pt idx="684">
                  <c:v>44150</c:v>
                </c:pt>
                <c:pt idx="685">
                  <c:v>44151</c:v>
                </c:pt>
                <c:pt idx="686">
                  <c:v>44152</c:v>
                </c:pt>
                <c:pt idx="687">
                  <c:v>44153</c:v>
                </c:pt>
                <c:pt idx="688">
                  <c:v>44154</c:v>
                </c:pt>
                <c:pt idx="689">
                  <c:v>44155</c:v>
                </c:pt>
                <c:pt idx="690">
                  <c:v>44156</c:v>
                </c:pt>
                <c:pt idx="691">
                  <c:v>44157</c:v>
                </c:pt>
                <c:pt idx="692">
                  <c:v>44158</c:v>
                </c:pt>
                <c:pt idx="693">
                  <c:v>44159</c:v>
                </c:pt>
                <c:pt idx="694">
                  <c:v>44160</c:v>
                </c:pt>
                <c:pt idx="695">
                  <c:v>44161</c:v>
                </c:pt>
                <c:pt idx="696">
                  <c:v>44162</c:v>
                </c:pt>
                <c:pt idx="697">
                  <c:v>44163</c:v>
                </c:pt>
                <c:pt idx="698">
                  <c:v>44164</c:v>
                </c:pt>
                <c:pt idx="699">
                  <c:v>44165</c:v>
                </c:pt>
                <c:pt idx="700">
                  <c:v>44166</c:v>
                </c:pt>
                <c:pt idx="701">
                  <c:v>44167</c:v>
                </c:pt>
                <c:pt idx="702">
                  <c:v>44168</c:v>
                </c:pt>
                <c:pt idx="703">
                  <c:v>44169</c:v>
                </c:pt>
                <c:pt idx="704">
                  <c:v>44170</c:v>
                </c:pt>
                <c:pt idx="705">
                  <c:v>44171</c:v>
                </c:pt>
                <c:pt idx="706">
                  <c:v>44172</c:v>
                </c:pt>
                <c:pt idx="707">
                  <c:v>44173</c:v>
                </c:pt>
                <c:pt idx="708">
                  <c:v>44174</c:v>
                </c:pt>
                <c:pt idx="709">
                  <c:v>44175</c:v>
                </c:pt>
                <c:pt idx="710">
                  <c:v>44176</c:v>
                </c:pt>
                <c:pt idx="711">
                  <c:v>44177</c:v>
                </c:pt>
                <c:pt idx="712">
                  <c:v>44178</c:v>
                </c:pt>
                <c:pt idx="713">
                  <c:v>44179</c:v>
                </c:pt>
                <c:pt idx="714">
                  <c:v>44180</c:v>
                </c:pt>
                <c:pt idx="715">
                  <c:v>44181</c:v>
                </c:pt>
                <c:pt idx="716">
                  <c:v>44182</c:v>
                </c:pt>
                <c:pt idx="717">
                  <c:v>44183</c:v>
                </c:pt>
                <c:pt idx="718">
                  <c:v>44184</c:v>
                </c:pt>
                <c:pt idx="719">
                  <c:v>44185</c:v>
                </c:pt>
                <c:pt idx="720">
                  <c:v>44186</c:v>
                </c:pt>
                <c:pt idx="721">
                  <c:v>44187</c:v>
                </c:pt>
                <c:pt idx="722">
                  <c:v>44188</c:v>
                </c:pt>
                <c:pt idx="723">
                  <c:v>44189</c:v>
                </c:pt>
                <c:pt idx="724">
                  <c:v>44190</c:v>
                </c:pt>
                <c:pt idx="725">
                  <c:v>44191</c:v>
                </c:pt>
                <c:pt idx="726">
                  <c:v>44192</c:v>
                </c:pt>
                <c:pt idx="727">
                  <c:v>44193</c:v>
                </c:pt>
                <c:pt idx="728">
                  <c:v>44194</c:v>
                </c:pt>
                <c:pt idx="729">
                  <c:v>44195</c:v>
                </c:pt>
                <c:pt idx="730">
                  <c:v>44196</c:v>
                </c:pt>
                <c:pt idx="731">
                  <c:v>44197</c:v>
                </c:pt>
                <c:pt idx="732">
                  <c:v>44198</c:v>
                </c:pt>
                <c:pt idx="733">
                  <c:v>44199</c:v>
                </c:pt>
                <c:pt idx="734">
                  <c:v>44200</c:v>
                </c:pt>
                <c:pt idx="735">
                  <c:v>44201</c:v>
                </c:pt>
                <c:pt idx="736">
                  <c:v>44202</c:v>
                </c:pt>
                <c:pt idx="737">
                  <c:v>44203</c:v>
                </c:pt>
                <c:pt idx="738">
                  <c:v>44204</c:v>
                </c:pt>
                <c:pt idx="739">
                  <c:v>44205</c:v>
                </c:pt>
                <c:pt idx="740">
                  <c:v>44206</c:v>
                </c:pt>
                <c:pt idx="741">
                  <c:v>44207</c:v>
                </c:pt>
                <c:pt idx="742">
                  <c:v>44208</c:v>
                </c:pt>
                <c:pt idx="743">
                  <c:v>44209</c:v>
                </c:pt>
                <c:pt idx="744">
                  <c:v>44210</c:v>
                </c:pt>
                <c:pt idx="745">
                  <c:v>44211</c:v>
                </c:pt>
                <c:pt idx="746">
                  <c:v>44212</c:v>
                </c:pt>
                <c:pt idx="747">
                  <c:v>44213</c:v>
                </c:pt>
                <c:pt idx="748">
                  <c:v>44214</c:v>
                </c:pt>
                <c:pt idx="749">
                  <c:v>44215</c:v>
                </c:pt>
                <c:pt idx="750">
                  <c:v>44216</c:v>
                </c:pt>
                <c:pt idx="751">
                  <c:v>44217</c:v>
                </c:pt>
                <c:pt idx="752">
                  <c:v>44218</c:v>
                </c:pt>
                <c:pt idx="753">
                  <c:v>44219</c:v>
                </c:pt>
                <c:pt idx="754">
                  <c:v>44220</c:v>
                </c:pt>
                <c:pt idx="755">
                  <c:v>44221</c:v>
                </c:pt>
                <c:pt idx="756">
                  <c:v>44222</c:v>
                </c:pt>
                <c:pt idx="757">
                  <c:v>44223</c:v>
                </c:pt>
                <c:pt idx="758">
                  <c:v>44224</c:v>
                </c:pt>
                <c:pt idx="759">
                  <c:v>44225</c:v>
                </c:pt>
                <c:pt idx="760">
                  <c:v>44226</c:v>
                </c:pt>
                <c:pt idx="761">
                  <c:v>44227</c:v>
                </c:pt>
                <c:pt idx="762">
                  <c:v>44228</c:v>
                </c:pt>
                <c:pt idx="763">
                  <c:v>44229</c:v>
                </c:pt>
                <c:pt idx="764">
                  <c:v>44230</c:v>
                </c:pt>
                <c:pt idx="765">
                  <c:v>44231</c:v>
                </c:pt>
                <c:pt idx="766">
                  <c:v>44232</c:v>
                </c:pt>
                <c:pt idx="767">
                  <c:v>44233</c:v>
                </c:pt>
                <c:pt idx="768">
                  <c:v>44234</c:v>
                </c:pt>
                <c:pt idx="769">
                  <c:v>44235</c:v>
                </c:pt>
                <c:pt idx="770">
                  <c:v>44236</c:v>
                </c:pt>
                <c:pt idx="771">
                  <c:v>44237</c:v>
                </c:pt>
                <c:pt idx="772">
                  <c:v>44238</c:v>
                </c:pt>
                <c:pt idx="773">
                  <c:v>44239</c:v>
                </c:pt>
                <c:pt idx="774">
                  <c:v>44240</c:v>
                </c:pt>
                <c:pt idx="775">
                  <c:v>44241</c:v>
                </c:pt>
                <c:pt idx="776">
                  <c:v>44242</c:v>
                </c:pt>
                <c:pt idx="777">
                  <c:v>44243</c:v>
                </c:pt>
                <c:pt idx="778">
                  <c:v>44244</c:v>
                </c:pt>
                <c:pt idx="779">
                  <c:v>44245</c:v>
                </c:pt>
                <c:pt idx="780">
                  <c:v>44246</c:v>
                </c:pt>
                <c:pt idx="781">
                  <c:v>44247</c:v>
                </c:pt>
                <c:pt idx="782">
                  <c:v>44248</c:v>
                </c:pt>
                <c:pt idx="783">
                  <c:v>44249</c:v>
                </c:pt>
                <c:pt idx="784">
                  <c:v>44250</c:v>
                </c:pt>
                <c:pt idx="785">
                  <c:v>44251</c:v>
                </c:pt>
                <c:pt idx="786">
                  <c:v>44252</c:v>
                </c:pt>
                <c:pt idx="787">
                  <c:v>44253</c:v>
                </c:pt>
                <c:pt idx="788">
                  <c:v>44254</c:v>
                </c:pt>
                <c:pt idx="789">
                  <c:v>44255</c:v>
                </c:pt>
                <c:pt idx="790">
                  <c:v>44256</c:v>
                </c:pt>
                <c:pt idx="791">
                  <c:v>44257</c:v>
                </c:pt>
                <c:pt idx="792">
                  <c:v>44258</c:v>
                </c:pt>
                <c:pt idx="793">
                  <c:v>44259</c:v>
                </c:pt>
                <c:pt idx="794">
                  <c:v>44260</c:v>
                </c:pt>
                <c:pt idx="795">
                  <c:v>44261</c:v>
                </c:pt>
                <c:pt idx="796">
                  <c:v>44262</c:v>
                </c:pt>
                <c:pt idx="797">
                  <c:v>44263</c:v>
                </c:pt>
                <c:pt idx="798">
                  <c:v>44264</c:v>
                </c:pt>
                <c:pt idx="799">
                  <c:v>44265</c:v>
                </c:pt>
                <c:pt idx="800">
                  <c:v>44266</c:v>
                </c:pt>
                <c:pt idx="801">
                  <c:v>44267</c:v>
                </c:pt>
                <c:pt idx="802">
                  <c:v>44268</c:v>
                </c:pt>
                <c:pt idx="803">
                  <c:v>44269</c:v>
                </c:pt>
                <c:pt idx="804">
                  <c:v>44270</c:v>
                </c:pt>
                <c:pt idx="805">
                  <c:v>44271</c:v>
                </c:pt>
                <c:pt idx="806">
                  <c:v>44272</c:v>
                </c:pt>
                <c:pt idx="807">
                  <c:v>44273</c:v>
                </c:pt>
                <c:pt idx="808">
                  <c:v>44274</c:v>
                </c:pt>
                <c:pt idx="809">
                  <c:v>44275</c:v>
                </c:pt>
                <c:pt idx="810">
                  <c:v>44276</c:v>
                </c:pt>
                <c:pt idx="811">
                  <c:v>44277</c:v>
                </c:pt>
                <c:pt idx="812">
                  <c:v>44278</c:v>
                </c:pt>
                <c:pt idx="813">
                  <c:v>44279</c:v>
                </c:pt>
                <c:pt idx="814">
                  <c:v>44280</c:v>
                </c:pt>
                <c:pt idx="815">
                  <c:v>44281</c:v>
                </c:pt>
                <c:pt idx="816">
                  <c:v>44282</c:v>
                </c:pt>
                <c:pt idx="817">
                  <c:v>44283</c:v>
                </c:pt>
                <c:pt idx="818">
                  <c:v>44284</c:v>
                </c:pt>
                <c:pt idx="819">
                  <c:v>44285</c:v>
                </c:pt>
                <c:pt idx="820">
                  <c:v>44286</c:v>
                </c:pt>
                <c:pt idx="821">
                  <c:v>44287</c:v>
                </c:pt>
                <c:pt idx="822">
                  <c:v>44288</c:v>
                </c:pt>
                <c:pt idx="823">
                  <c:v>44289</c:v>
                </c:pt>
                <c:pt idx="824">
                  <c:v>44290</c:v>
                </c:pt>
                <c:pt idx="825">
                  <c:v>44291</c:v>
                </c:pt>
                <c:pt idx="826">
                  <c:v>44292</c:v>
                </c:pt>
                <c:pt idx="827">
                  <c:v>44293</c:v>
                </c:pt>
                <c:pt idx="828">
                  <c:v>44294</c:v>
                </c:pt>
                <c:pt idx="829">
                  <c:v>44295</c:v>
                </c:pt>
                <c:pt idx="830">
                  <c:v>44296</c:v>
                </c:pt>
                <c:pt idx="831">
                  <c:v>44297</c:v>
                </c:pt>
                <c:pt idx="832">
                  <c:v>44298</c:v>
                </c:pt>
                <c:pt idx="833">
                  <c:v>44299</c:v>
                </c:pt>
                <c:pt idx="834">
                  <c:v>44300</c:v>
                </c:pt>
                <c:pt idx="835">
                  <c:v>44301</c:v>
                </c:pt>
                <c:pt idx="836">
                  <c:v>44302</c:v>
                </c:pt>
                <c:pt idx="837">
                  <c:v>44303</c:v>
                </c:pt>
                <c:pt idx="838">
                  <c:v>44304</c:v>
                </c:pt>
                <c:pt idx="839">
                  <c:v>44305</c:v>
                </c:pt>
                <c:pt idx="840">
                  <c:v>44306</c:v>
                </c:pt>
                <c:pt idx="841">
                  <c:v>44307</c:v>
                </c:pt>
                <c:pt idx="842">
                  <c:v>44308</c:v>
                </c:pt>
                <c:pt idx="843">
                  <c:v>44309</c:v>
                </c:pt>
                <c:pt idx="844">
                  <c:v>44310</c:v>
                </c:pt>
                <c:pt idx="845">
                  <c:v>44311</c:v>
                </c:pt>
                <c:pt idx="846">
                  <c:v>44312</c:v>
                </c:pt>
                <c:pt idx="847">
                  <c:v>44313</c:v>
                </c:pt>
                <c:pt idx="848">
                  <c:v>44314</c:v>
                </c:pt>
                <c:pt idx="849">
                  <c:v>44315</c:v>
                </c:pt>
                <c:pt idx="850">
                  <c:v>44316</c:v>
                </c:pt>
                <c:pt idx="851">
                  <c:v>44317</c:v>
                </c:pt>
                <c:pt idx="852">
                  <c:v>44318</c:v>
                </c:pt>
                <c:pt idx="853">
                  <c:v>44319</c:v>
                </c:pt>
                <c:pt idx="854">
                  <c:v>44320</c:v>
                </c:pt>
                <c:pt idx="855">
                  <c:v>44321</c:v>
                </c:pt>
                <c:pt idx="856">
                  <c:v>44322</c:v>
                </c:pt>
                <c:pt idx="857">
                  <c:v>44323</c:v>
                </c:pt>
                <c:pt idx="858">
                  <c:v>44324</c:v>
                </c:pt>
                <c:pt idx="859">
                  <c:v>44325</c:v>
                </c:pt>
                <c:pt idx="860">
                  <c:v>44326</c:v>
                </c:pt>
                <c:pt idx="861">
                  <c:v>44327</c:v>
                </c:pt>
                <c:pt idx="862">
                  <c:v>44328</c:v>
                </c:pt>
                <c:pt idx="863">
                  <c:v>44329</c:v>
                </c:pt>
                <c:pt idx="864">
                  <c:v>44330</c:v>
                </c:pt>
                <c:pt idx="865">
                  <c:v>44331</c:v>
                </c:pt>
                <c:pt idx="866">
                  <c:v>44332</c:v>
                </c:pt>
                <c:pt idx="867">
                  <c:v>44333</c:v>
                </c:pt>
                <c:pt idx="868">
                  <c:v>44334</c:v>
                </c:pt>
                <c:pt idx="869">
                  <c:v>44335</c:v>
                </c:pt>
                <c:pt idx="870">
                  <c:v>44336</c:v>
                </c:pt>
                <c:pt idx="871">
                  <c:v>44337</c:v>
                </c:pt>
                <c:pt idx="872">
                  <c:v>44338</c:v>
                </c:pt>
                <c:pt idx="873">
                  <c:v>44339</c:v>
                </c:pt>
                <c:pt idx="874">
                  <c:v>44340</c:v>
                </c:pt>
                <c:pt idx="875">
                  <c:v>44341</c:v>
                </c:pt>
                <c:pt idx="876">
                  <c:v>44342</c:v>
                </c:pt>
                <c:pt idx="877">
                  <c:v>44343</c:v>
                </c:pt>
                <c:pt idx="878">
                  <c:v>44344</c:v>
                </c:pt>
                <c:pt idx="879">
                  <c:v>44345</c:v>
                </c:pt>
                <c:pt idx="880">
                  <c:v>44346</c:v>
                </c:pt>
                <c:pt idx="881">
                  <c:v>44347</c:v>
                </c:pt>
                <c:pt idx="882">
                  <c:v>44348</c:v>
                </c:pt>
                <c:pt idx="883">
                  <c:v>44349</c:v>
                </c:pt>
                <c:pt idx="884">
                  <c:v>44350</c:v>
                </c:pt>
                <c:pt idx="885">
                  <c:v>44351</c:v>
                </c:pt>
                <c:pt idx="886">
                  <c:v>44352</c:v>
                </c:pt>
                <c:pt idx="887">
                  <c:v>44353</c:v>
                </c:pt>
                <c:pt idx="888">
                  <c:v>44354</c:v>
                </c:pt>
                <c:pt idx="889">
                  <c:v>44355</c:v>
                </c:pt>
                <c:pt idx="890">
                  <c:v>44356</c:v>
                </c:pt>
                <c:pt idx="891">
                  <c:v>44357</c:v>
                </c:pt>
                <c:pt idx="892">
                  <c:v>44358</c:v>
                </c:pt>
                <c:pt idx="893">
                  <c:v>44359</c:v>
                </c:pt>
                <c:pt idx="894">
                  <c:v>44360</c:v>
                </c:pt>
                <c:pt idx="895">
                  <c:v>44361</c:v>
                </c:pt>
                <c:pt idx="896">
                  <c:v>44362</c:v>
                </c:pt>
                <c:pt idx="897">
                  <c:v>44363</c:v>
                </c:pt>
                <c:pt idx="898">
                  <c:v>44364</c:v>
                </c:pt>
                <c:pt idx="899">
                  <c:v>44365</c:v>
                </c:pt>
                <c:pt idx="900">
                  <c:v>44366</c:v>
                </c:pt>
                <c:pt idx="901">
                  <c:v>44367</c:v>
                </c:pt>
                <c:pt idx="902">
                  <c:v>44368</c:v>
                </c:pt>
                <c:pt idx="903">
                  <c:v>44369</c:v>
                </c:pt>
                <c:pt idx="904">
                  <c:v>44370</c:v>
                </c:pt>
                <c:pt idx="905">
                  <c:v>44371</c:v>
                </c:pt>
                <c:pt idx="906">
                  <c:v>44372</c:v>
                </c:pt>
                <c:pt idx="907">
                  <c:v>44373</c:v>
                </c:pt>
                <c:pt idx="908">
                  <c:v>44374</c:v>
                </c:pt>
                <c:pt idx="909">
                  <c:v>44375</c:v>
                </c:pt>
                <c:pt idx="910">
                  <c:v>44376</c:v>
                </c:pt>
                <c:pt idx="911">
                  <c:v>44377</c:v>
                </c:pt>
                <c:pt idx="912">
                  <c:v>44378</c:v>
                </c:pt>
                <c:pt idx="913">
                  <c:v>44379</c:v>
                </c:pt>
                <c:pt idx="914">
                  <c:v>44380</c:v>
                </c:pt>
                <c:pt idx="915">
                  <c:v>44381</c:v>
                </c:pt>
                <c:pt idx="916">
                  <c:v>44382</c:v>
                </c:pt>
                <c:pt idx="917">
                  <c:v>44383</c:v>
                </c:pt>
                <c:pt idx="918">
                  <c:v>44384</c:v>
                </c:pt>
                <c:pt idx="919">
                  <c:v>44385</c:v>
                </c:pt>
                <c:pt idx="920">
                  <c:v>44386</c:v>
                </c:pt>
                <c:pt idx="921">
                  <c:v>44387</c:v>
                </c:pt>
                <c:pt idx="922">
                  <c:v>44388</c:v>
                </c:pt>
                <c:pt idx="923">
                  <c:v>44389</c:v>
                </c:pt>
                <c:pt idx="924">
                  <c:v>44390</c:v>
                </c:pt>
                <c:pt idx="925">
                  <c:v>44391</c:v>
                </c:pt>
                <c:pt idx="926">
                  <c:v>44392</c:v>
                </c:pt>
                <c:pt idx="927">
                  <c:v>44393</c:v>
                </c:pt>
                <c:pt idx="928">
                  <c:v>44394</c:v>
                </c:pt>
                <c:pt idx="929">
                  <c:v>44395</c:v>
                </c:pt>
                <c:pt idx="930">
                  <c:v>44396</c:v>
                </c:pt>
                <c:pt idx="931">
                  <c:v>44397</c:v>
                </c:pt>
                <c:pt idx="932">
                  <c:v>44398</c:v>
                </c:pt>
                <c:pt idx="933">
                  <c:v>44399</c:v>
                </c:pt>
                <c:pt idx="934">
                  <c:v>44400</c:v>
                </c:pt>
                <c:pt idx="935">
                  <c:v>44401</c:v>
                </c:pt>
                <c:pt idx="936">
                  <c:v>44402</c:v>
                </c:pt>
                <c:pt idx="937">
                  <c:v>44403</c:v>
                </c:pt>
                <c:pt idx="938">
                  <c:v>44404</c:v>
                </c:pt>
                <c:pt idx="939">
                  <c:v>44405</c:v>
                </c:pt>
                <c:pt idx="940">
                  <c:v>44406</c:v>
                </c:pt>
                <c:pt idx="941">
                  <c:v>44407</c:v>
                </c:pt>
                <c:pt idx="942">
                  <c:v>44408</c:v>
                </c:pt>
                <c:pt idx="943">
                  <c:v>44409</c:v>
                </c:pt>
                <c:pt idx="944">
                  <c:v>44410</c:v>
                </c:pt>
                <c:pt idx="945">
                  <c:v>44411</c:v>
                </c:pt>
                <c:pt idx="946">
                  <c:v>44412</c:v>
                </c:pt>
                <c:pt idx="947">
                  <c:v>44413</c:v>
                </c:pt>
                <c:pt idx="948">
                  <c:v>44414</c:v>
                </c:pt>
                <c:pt idx="949">
                  <c:v>44415</c:v>
                </c:pt>
                <c:pt idx="950">
                  <c:v>44416</c:v>
                </c:pt>
                <c:pt idx="951">
                  <c:v>44417</c:v>
                </c:pt>
                <c:pt idx="952">
                  <c:v>44418</c:v>
                </c:pt>
                <c:pt idx="953">
                  <c:v>44419</c:v>
                </c:pt>
                <c:pt idx="954">
                  <c:v>44420</c:v>
                </c:pt>
                <c:pt idx="955">
                  <c:v>44421</c:v>
                </c:pt>
                <c:pt idx="956">
                  <c:v>44422</c:v>
                </c:pt>
                <c:pt idx="957">
                  <c:v>44423</c:v>
                </c:pt>
                <c:pt idx="958">
                  <c:v>44424</c:v>
                </c:pt>
                <c:pt idx="959">
                  <c:v>44425</c:v>
                </c:pt>
                <c:pt idx="960">
                  <c:v>44426</c:v>
                </c:pt>
                <c:pt idx="961">
                  <c:v>44427</c:v>
                </c:pt>
                <c:pt idx="962">
                  <c:v>44428</c:v>
                </c:pt>
                <c:pt idx="963">
                  <c:v>44429</c:v>
                </c:pt>
                <c:pt idx="964">
                  <c:v>44430</c:v>
                </c:pt>
                <c:pt idx="965">
                  <c:v>44431</c:v>
                </c:pt>
                <c:pt idx="966">
                  <c:v>44432</c:v>
                </c:pt>
                <c:pt idx="967">
                  <c:v>44433</c:v>
                </c:pt>
                <c:pt idx="968">
                  <c:v>44434</c:v>
                </c:pt>
                <c:pt idx="969">
                  <c:v>44435</c:v>
                </c:pt>
                <c:pt idx="970">
                  <c:v>44436</c:v>
                </c:pt>
                <c:pt idx="971">
                  <c:v>44437</c:v>
                </c:pt>
                <c:pt idx="972">
                  <c:v>44438</c:v>
                </c:pt>
                <c:pt idx="973">
                  <c:v>44439</c:v>
                </c:pt>
                <c:pt idx="974">
                  <c:v>44440</c:v>
                </c:pt>
                <c:pt idx="975">
                  <c:v>44441</c:v>
                </c:pt>
                <c:pt idx="976">
                  <c:v>44442</c:v>
                </c:pt>
                <c:pt idx="977">
                  <c:v>44443</c:v>
                </c:pt>
                <c:pt idx="978">
                  <c:v>44444</c:v>
                </c:pt>
                <c:pt idx="979">
                  <c:v>44445</c:v>
                </c:pt>
                <c:pt idx="980">
                  <c:v>44446</c:v>
                </c:pt>
                <c:pt idx="981">
                  <c:v>44447</c:v>
                </c:pt>
                <c:pt idx="982">
                  <c:v>44448</c:v>
                </c:pt>
                <c:pt idx="983">
                  <c:v>44449</c:v>
                </c:pt>
                <c:pt idx="984">
                  <c:v>44450</c:v>
                </c:pt>
                <c:pt idx="985">
                  <c:v>44451</c:v>
                </c:pt>
                <c:pt idx="986">
                  <c:v>44452</c:v>
                </c:pt>
                <c:pt idx="987">
                  <c:v>44453</c:v>
                </c:pt>
                <c:pt idx="988">
                  <c:v>44454</c:v>
                </c:pt>
                <c:pt idx="989">
                  <c:v>44455</c:v>
                </c:pt>
                <c:pt idx="990">
                  <c:v>44456</c:v>
                </c:pt>
                <c:pt idx="991">
                  <c:v>44457</c:v>
                </c:pt>
                <c:pt idx="992">
                  <c:v>44458</c:v>
                </c:pt>
                <c:pt idx="993">
                  <c:v>44459</c:v>
                </c:pt>
                <c:pt idx="994">
                  <c:v>44460</c:v>
                </c:pt>
                <c:pt idx="995">
                  <c:v>44461</c:v>
                </c:pt>
                <c:pt idx="996">
                  <c:v>44462</c:v>
                </c:pt>
                <c:pt idx="997">
                  <c:v>44463</c:v>
                </c:pt>
                <c:pt idx="998">
                  <c:v>44464</c:v>
                </c:pt>
                <c:pt idx="999">
                  <c:v>44465</c:v>
                </c:pt>
                <c:pt idx="1000">
                  <c:v>44466</c:v>
                </c:pt>
                <c:pt idx="1001">
                  <c:v>44467</c:v>
                </c:pt>
                <c:pt idx="1002">
                  <c:v>44468</c:v>
                </c:pt>
                <c:pt idx="1003">
                  <c:v>44469</c:v>
                </c:pt>
                <c:pt idx="1004">
                  <c:v>44470</c:v>
                </c:pt>
                <c:pt idx="1005">
                  <c:v>44471</c:v>
                </c:pt>
                <c:pt idx="1006">
                  <c:v>44472</c:v>
                </c:pt>
                <c:pt idx="1007">
                  <c:v>44473</c:v>
                </c:pt>
                <c:pt idx="1008">
                  <c:v>44474</c:v>
                </c:pt>
                <c:pt idx="1009">
                  <c:v>44475</c:v>
                </c:pt>
                <c:pt idx="1010">
                  <c:v>44476</c:v>
                </c:pt>
                <c:pt idx="1011">
                  <c:v>44477</c:v>
                </c:pt>
                <c:pt idx="1012">
                  <c:v>44478</c:v>
                </c:pt>
                <c:pt idx="1013">
                  <c:v>44479</c:v>
                </c:pt>
                <c:pt idx="1014">
                  <c:v>44480</c:v>
                </c:pt>
                <c:pt idx="1015">
                  <c:v>44481</c:v>
                </c:pt>
                <c:pt idx="1016">
                  <c:v>44482</c:v>
                </c:pt>
                <c:pt idx="1017">
                  <c:v>44483</c:v>
                </c:pt>
                <c:pt idx="1018">
                  <c:v>44484</c:v>
                </c:pt>
                <c:pt idx="1019">
                  <c:v>44485</c:v>
                </c:pt>
                <c:pt idx="1020">
                  <c:v>44486</c:v>
                </c:pt>
                <c:pt idx="1021">
                  <c:v>44487</c:v>
                </c:pt>
                <c:pt idx="1022">
                  <c:v>44488</c:v>
                </c:pt>
                <c:pt idx="1023">
                  <c:v>44489</c:v>
                </c:pt>
                <c:pt idx="1024">
                  <c:v>44490</c:v>
                </c:pt>
                <c:pt idx="1025">
                  <c:v>44491</c:v>
                </c:pt>
                <c:pt idx="1026">
                  <c:v>44492</c:v>
                </c:pt>
                <c:pt idx="1027">
                  <c:v>44493</c:v>
                </c:pt>
                <c:pt idx="1028">
                  <c:v>44494</c:v>
                </c:pt>
                <c:pt idx="1029">
                  <c:v>44495</c:v>
                </c:pt>
                <c:pt idx="1030">
                  <c:v>44496</c:v>
                </c:pt>
                <c:pt idx="1031">
                  <c:v>44497</c:v>
                </c:pt>
                <c:pt idx="1032">
                  <c:v>44498</c:v>
                </c:pt>
                <c:pt idx="1033">
                  <c:v>44499</c:v>
                </c:pt>
                <c:pt idx="1034">
                  <c:v>44500</c:v>
                </c:pt>
                <c:pt idx="1035">
                  <c:v>44501</c:v>
                </c:pt>
                <c:pt idx="1036">
                  <c:v>44502</c:v>
                </c:pt>
                <c:pt idx="1037">
                  <c:v>44503</c:v>
                </c:pt>
                <c:pt idx="1038">
                  <c:v>44504</c:v>
                </c:pt>
                <c:pt idx="1039">
                  <c:v>44505</c:v>
                </c:pt>
                <c:pt idx="1040">
                  <c:v>44506</c:v>
                </c:pt>
                <c:pt idx="1041">
                  <c:v>44507</c:v>
                </c:pt>
                <c:pt idx="1042">
                  <c:v>44508</c:v>
                </c:pt>
                <c:pt idx="1043">
                  <c:v>44509</c:v>
                </c:pt>
                <c:pt idx="1044">
                  <c:v>44510</c:v>
                </c:pt>
                <c:pt idx="1045">
                  <c:v>44511</c:v>
                </c:pt>
                <c:pt idx="1046">
                  <c:v>44512</c:v>
                </c:pt>
                <c:pt idx="1047">
                  <c:v>44513</c:v>
                </c:pt>
                <c:pt idx="1048">
                  <c:v>44514</c:v>
                </c:pt>
                <c:pt idx="1049">
                  <c:v>44515</c:v>
                </c:pt>
                <c:pt idx="1050">
                  <c:v>44516</c:v>
                </c:pt>
                <c:pt idx="1051">
                  <c:v>44517</c:v>
                </c:pt>
                <c:pt idx="1052">
                  <c:v>44518</c:v>
                </c:pt>
                <c:pt idx="1053">
                  <c:v>44519</c:v>
                </c:pt>
                <c:pt idx="1054">
                  <c:v>44520</c:v>
                </c:pt>
                <c:pt idx="1055">
                  <c:v>44521</c:v>
                </c:pt>
                <c:pt idx="1056">
                  <c:v>44522</c:v>
                </c:pt>
                <c:pt idx="1057">
                  <c:v>44523</c:v>
                </c:pt>
                <c:pt idx="1058">
                  <c:v>44524</c:v>
                </c:pt>
                <c:pt idx="1059">
                  <c:v>44525</c:v>
                </c:pt>
                <c:pt idx="1060">
                  <c:v>44526</c:v>
                </c:pt>
                <c:pt idx="1061">
                  <c:v>44527</c:v>
                </c:pt>
                <c:pt idx="1062">
                  <c:v>44528</c:v>
                </c:pt>
                <c:pt idx="1063">
                  <c:v>44529</c:v>
                </c:pt>
                <c:pt idx="1064">
                  <c:v>44530</c:v>
                </c:pt>
                <c:pt idx="1065">
                  <c:v>44531</c:v>
                </c:pt>
                <c:pt idx="1066">
                  <c:v>44532</c:v>
                </c:pt>
                <c:pt idx="1067">
                  <c:v>44533</c:v>
                </c:pt>
                <c:pt idx="1068">
                  <c:v>44534</c:v>
                </c:pt>
                <c:pt idx="1069">
                  <c:v>44535</c:v>
                </c:pt>
                <c:pt idx="1070">
                  <c:v>44536</c:v>
                </c:pt>
                <c:pt idx="1071">
                  <c:v>44537</c:v>
                </c:pt>
                <c:pt idx="1072">
                  <c:v>44538</c:v>
                </c:pt>
                <c:pt idx="1073">
                  <c:v>44539</c:v>
                </c:pt>
                <c:pt idx="1074">
                  <c:v>44540</c:v>
                </c:pt>
                <c:pt idx="1075">
                  <c:v>44541</c:v>
                </c:pt>
                <c:pt idx="1076">
                  <c:v>44542</c:v>
                </c:pt>
                <c:pt idx="1077">
                  <c:v>44543</c:v>
                </c:pt>
                <c:pt idx="1078">
                  <c:v>44544</c:v>
                </c:pt>
                <c:pt idx="1079">
                  <c:v>44545</c:v>
                </c:pt>
                <c:pt idx="1080">
                  <c:v>44546</c:v>
                </c:pt>
                <c:pt idx="1081">
                  <c:v>44547</c:v>
                </c:pt>
                <c:pt idx="1082">
                  <c:v>44548</c:v>
                </c:pt>
                <c:pt idx="1083">
                  <c:v>44549</c:v>
                </c:pt>
                <c:pt idx="1084">
                  <c:v>44550</c:v>
                </c:pt>
                <c:pt idx="1085">
                  <c:v>44551</c:v>
                </c:pt>
                <c:pt idx="1086">
                  <c:v>44552</c:v>
                </c:pt>
                <c:pt idx="1087">
                  <c:v>44553</c:v>
                </c:pt>
                <c:pt idx="1088">
                  <c:v>44554</c:v>
                </c:pt>
                <c:pt idx="1089">
                  <c:v>44555</c:v>
                </c:pt>
                <c:pt idx="1090">
                  <c:v>44556</c:v>
                </c:pt>
                <c:pt idx="1091">
                  <c:v>44557</c:v>
                </c:pt>
                <c:pt idx="1092">
                  <c:v>44558</c:v>
                </c:pt>
                <c:pt idx="1093">
                  <c:v>44559</c:v>
                </c:pt>
                <c:pt idx="1094">
                  <c:v>44560</c:v>
                </c:pt>
                <c:pt idx="1095">
                  <c:v>44561</c:v>
                </c:pt>
              </c:numCache>
            </c:numRef>
          </c:cat>
          <c:val>
            <c:numRef>
              <c:f>Sheet1!$F$5:$F$1100</c:f>
              <c:numCache>
                <c:formatCode>0.00_);[Red]\(0.00\)</c:formatCode>
                <c:ptCount val="1096"/>
                <c:pt idx="0">
                  <c:v>76.930000000000007</c:v>
                </c:pt>
                <c:pt idx="1">
                  <c:v>76.930000000000007</c:v>
                </c:pt>
                <c:pt idx="2">
                  <c:v>76.930000000000007</c:v>
                </c:pt>
                <c:pt idx="3">
                  <c:v>76.930000000000007</c:v>
                </c:pt>
                <c:pt idx="4">
                  <c:v>76.930000000000007</c:v>
                </c:pt>
                <c:pt idx="5">
                  <c:v>76.930000000000007</c:v>
                </c:pt>
                <c:pt idx="6">
                  <c:v>76.930000000000007</c:v>
                </c:pt>
                <c:pt idx="7">
                  <c:v>53.860000000000007</c:v>
                </c:pt>
                <c:pt idx="8">
                  <c:v>53.860000000000007</c:v>
                </c:pt>
                <c:pt idx="9">
                  <c:v>53.860000000000007</c:v>
                </c:pt>
                <c:pt idx="10">
                  <c:v>53.860000000000007</c:v>
                </c:pt>
                <c:pt idx="11">
                  <c:v>53.860000000000007</c:v>
                </c:pt>
                <c:pt idx="12">
                  <c:v>53.860000000000007</c:v>
                </c:pt>
                <c:pt idx="13">
                  <c:v>53.860000000000007</c:v>
                </c:pt>
                <c:pt idx="14">
                  <c:v>30.790000000000006</c:v>
                </c:pt>
                <c:pt idx="15">
                  <c:v>30.790000000000006</c:v>
                </c:pt>
                <c:pt idx="16">
                  <c:v>30.790000000000006</c:v>
                </c:pt>
                <c:pt idx="17">
                  <c:v>30.790000000000006</c:v>
                </c:pt>
                <c:pt idx="18">
                  <c:v>30.790000000000006</c:v>
                </c:pt>
                <c:pt idx="19">
                  <c:v>30.790000000000006</c:v>
                </c:pt>
                <c:pt idx="20">
                  <c:v>30.790000000000006</c:v>
                </c:pt>
                <c:pt idx="21">
                  <c:v>7.720000000000006</c:v>
                </c:pt>
                <c:pt idx="22">
                  <c:v>7.720000000000006</c:v>
                </c:pt>
                <c:pt idx="23">
                  <c:v>7.720000000000006</c:v>
                </c:pt>
                <c:pt idx="24">
                  <c:v>7.720000000000006</c:v>
                </c:pt>
                <c:pt idx="25">
                  <c:v>7.720000000000006</c:v>
                </c:pt>
                <c:pt idx="26">
                  <c:v>7.720000000000006</c:v>
                </c:pt>
                <c:pt idx="27">
                  <c:v>7.720000000000006</c:v>
                </c:pt>
                <c:pt idx="28">
                  <c:v>-15.349999999999994</c:v>
                </c:pt>
                <c:pt idx="29">
                  <c:v>-15.349999999999994</c:v>
                </c:pt>
                <c:pt idx="30">
                  <c:v>-15.349999999999994</c:v>
                </c:pt>
                <c:pt idx="31">
                  <c:v>84.65</c:v>
                </c:pt>
                <c:pt idx="32">
                  <c:v>84.65</c:v>
                </c:pt>
                <c:pt idx="33">
                  <c:v>84.65</c:v>
                </c:pt>
                <c:pt idx="34">
                  <c:v>84.65</c:v>
                </c:pt>
                <c:pt idx="35">
                  <c:v>61.580000000000005</c:v>
                </c:pt>
                <c:pt idx="36">
                  <c:v>61.580000000000005</c:v>
                </c:pt>
                <c:pt idx="37">
                  <c:v>61.580000000000005</c:v>
                </c:pt>
                <c:pt idx="38">
                  <c:v>61.580000000000005</c:v>
                </c:pt>
                <c:pt idx="39">
                  <c:v>61.580000000000005</c:v>
                </c:pt>
                <c:pt idx="40">
                  <c:v>61.580000000000005</c:v>
                </c:pt>
                <c:pt idx="41">
                  <c:v>61.580000000000005</c:v>
                </c:pt>
                <c:pt idx="42">
                  <c:v>38.510000000000005</c:v>
                </c:pt>
                <c:pt idx="43">
                  <c:v>38.510000000000005</c:v>
                </c:pt>
                <c:pt idx="44">
                  <c:v>38.510000000000005</c:v>
                </c:pt>
                <c:pt idx="45">
                  <c:v>38.510000000000005</c:v>
                </c:pt>
                <c:pt idx="46">
                  <c:v>38.510000000000005</c:v>
                </c:pt>
                <c:pt idx="47">
                  <c:v>38.510000000000005</c:v>
                </c:pt>
                <c:pt idx="48">
                  <c:v>38.510000000000005</c:v>
                </c:pt>
                <c:pt idx="49">
                  <c:v>15.440000000000005</c:v>
                </c:pt>
                <c:pt idx="50">
                  <c:v>15.440000000000005</c:v>
                </c:pt>
                <c:pt idx="51">
                  <c:v>15.440000000000005</c:v>
                </c:pt>
                <c:pt idx="52">
                  <c:v>15.440000000000005</c:v>
                </c:pt>
                <c:pt idx="53">
                  <c:v>15.440000000000005</c:v>
                </c:pt>
                <c:pt idx="54">
                  <c:v>15.440000000000005</c:v>
                </c:pt>
                <c:pt idx="55">
                  <c:v>15.440000000000005</c:v>
                </c:pt>
                <c:pt idx="56">
                  <c:v>-7.6299999999999955</c:v>
                </c:pt>
                <c:pt idx="57">
                  <c:v>-7.6299999999999955</c:v>
                </c:pt>
                <c:pt idx="58">
                  <c:v>-7.6299999999999955</c:v>
                </c:pt>
                <c:pt idx="59">
                  <c:v>92.37</c:v>
                </c:pt>
                <c:pt idx="60">
                  <c:v>92.37</c:v>
                </c:pt>
                <c:pt idx="61">
                  <c:v>92.37</c:v>
                </c:pt>
                <c:pt idx="62">
                  <c:v>92.37</c:v>
                </c:pt>
                <c:pt idx="63">
                  <c:v>69.300000000000011</c:v>
                </c:pt>
                <c:pt idx="64">
                  <c:v>69.300000000000011</c:v>
                </c:pt>
                <c:pt idx="65">
                  <c:v>69.300000000000011</c:v>
                </c:pt>
                <c:pt idx="66">
                  <c:v>69.300000000000011</c:v>
                </c:pt>
                <c:pt idx="67">
                  <c:v>69.300000000000011</c:v>
                </c:pt>
                <c:pt idx="68">
                  <c:v>69.300000000000011</c:v>
                </c:pt>
                <c:pt idx="69">
                  <c:v>69.300000000000011</c:v>
                </c:pt>
                <c:pt idx="70">
                  <c:v>46.230000000000011</c:v>
                </c:pt>
                <c:pt idx="71">
                  <c:v>46.230000000000011</c:v>
                </c:pt>
                <c:pt idx="72">
                  <c:v>46.230000000000011</c:v>
                </c:pt>
                <c:pt idx="73">
                  <c:v>46.230000000000011</c:v>
                </c:pt>
                <c:pt idx="74">
                  <c:v>46.230000000000011</c:v>
                </c:pt>
                <c:pt idx="75">
                  <c:v>46.230000000000011</c:v>
                </c:pt>
                <c:pt idx="76">
                  <c:v>46.230000000000011</c:v>
                </c:pt>
                <c:pt idx="77">
                  <c:v>23.160000000000011</c:v>
                </c:pt>
                <c:pt idx="78">
                  <c:v>23.160000000000011</c:v>
                </c:pt>
                <c:pt idx="79">
                  <c:v>23.160000000000011</c:v>
                </c:pt>
                <c:pt idx="80">
                  <c:v>23.160000000000011</c:v>
                </c:pt>
                <c:pt idx="81">
                  <c:v>23.160000000000011</c:v>
                </c:pt>
                <c:pt idx="82">
                  <c:v>23.160000000000011</c:v>
                </c:pt>
                <c:pt idx="83">
                  <c:v>23.160000000000011</c:v>
                </c:pt>
                <c:pt idx="84">
                  <c:v>9.0000000000010516E-2</c:v>
                </c:pt>
                <c:pt idx="85">
                  <c:v>9.0000000000010516E-2</c:v>
                </c:pt>
                <c:pt idx="86">
                  <c:v>9.0000000000010516E-2</c:v>
                </c:pt>
                <c:pt idx="87">
                  <c:v>9.0000000000010516E-2</c:v>
                </c:pt>
                <c:pt idx="88">
                  <c:v>9.0000000000010516E-2</c:v>
                </c:pt>
                <c:pt idx="89">
                  <c:v>9.0000000000010516E-2</c:v>
                </c:pt>
                <c:pt idx="90">
                  <c:v>100.09</c:v>
                </c:pt>
                <c:pt idx="91">
                  <c:v>77.02000000000001</c:v>
                </c:pt>
                <c:pt idx="92">
                  <c:v>77.02000000000001</c:v>
                </c:pt>
                <c:pt idx="93">
                  <c:v>77.02000000000001</c:v>
                </c:pt>
                <c:pt idx="94">
                  <c:v>77.02000000000001</c:v>
                </c:pt>
                <c:pt idx="95">
                  <c:v>77.02000000000001</c:v>
                </c:pt>
                <c:pt idx="96">
                  <c:v>77.02000000000001</c:v>
                </c:pt>
                <c:pt idx="97">
                  <c:v>77.02000000000001</c:v>
                </c:pt>
                <c:pt idx="98">
                  <c:v>53.95000000000001</c:v>
                </c:pt>
                <c:pt idx="99">
                  <c:v>53.95000000000001</c:v>
                </c:pt>
                <c:pt idx="100">
                  <c:v>53.95000000000001</c:v>
                </c:pt>
                <c:pt idx="101">
                  <c:v>53.95000000000001</c:v>
                </c:pt>
                <c:pt idx="102">
                  <c:v>53.95000000000001</c:v>
                </c:pt>
                <c:pt idx="103">
                  <c:v>53.95000000000001</c:v>
                </c:pt>
                <c:pt idx="104">
                  <c:v>53.95000000000001</c:v>
                </c:pt>
                <c:pt idx="105">
                  <c:v>30.88000000000001</c:v>
                </c:pt>
                <c:pt idx="106">
                  <c:v>30.88000000000001</c:v>
                </c:pt>
                <c:pt idx="107">
                  <c:v>30.88000000000001</c:v>
                </c:pt>
                <c:pt idx="108">
                  <c:v>30.88000000000001</c:v>
                </c:pt>
                <c:pt idx="109">
                  <c:v>30.88000000000001</c:v>
                </c:pt>
                <c:pt idx="110">
                  <c:v>30.88000000000001</c:v>
                </c:pt>
                <c:pt idx="111">
                  <c:v>30.88000000000001</c:v>
                </c:pt>
                <c:pt idx="112">
                  <c:v>7.8100000000000094</c:v>
                </c:pt>
                <c:pt idx="113">
                  <c:v>7.8100000000000094</c:v>
                </c:pt>
                <c:pt idx="114">
                  <c:v>7.8100000000000094</c:v>
                </c:pt>
                <c:pt idx="115">
                  <c:v>7.8100000000000094</c:v>
                </c:pt>
                <c:pt idx="116">
                  <c:v>7.8100000000000094</c:v>
                </c:pt>
                <c:pt idx="117">
                  <c:v>7.8100000000000094</c:v>
                </c:pt>
                <c:pt idx="118">
                  <c:v>7.8100000000000094</c:v>
                </c:pt>
                <c:pt idx="119">
                  <c:v>-15.259999999999991</c:v>
                </c:pt>
                <c:pt idx="120">
                  <c:v>84.740000000000009</c:v>
                </c:pt>
                <c:pt idx="121">
                  <c:v>84.740000000000009</c:v>
                </c:pt>
                <c:pt idx="122">
                  <c:v>84.740000000000009</c:v>
                </c:pt>
                <c:pt idx="123">
                  <c:v>84.740000000000009</c:v>
                </c:pt>
                <c:pt idx="124">
                  <c:v>84.740000000000009</c:v>
                </c:pt>
                <c:pt idx="125">
                  <c:v>84.740000000000009</c:v>
                </c:pt>
                <c:pt idx="126">
                  <c:v>61.670000000000009</c:v>
                </c:pt>
                <c:pt idx="127">
                  <c:v>61.670000000000009</c:v>
                </c:pt>
                <c:pt idx="128">
                  <c:v>61.670000000000009</c:v>
                </c:pt>
                <c:pt idx="129">
                  <c:v>61.670000000000009</c:v>
                </c:pt>
                <c:pt idx="130">
                  <c:v>61.670000000000009</c:v>
                </c:pt>
                <c:pt idx="131">
                  <c:v>61.670000000000009</c:v>
                </c:pt>
                <c:pt idx="132">
                  <c:v>61.670000000000009</c:v>
                </c:pt>
                <c:pt idx="133">
                  <c:v>38.600000000000009</c:v>
                </c:pt>
                <c:pt idx="134">
                  <c:v>38.600000000000009</c:v>
                </c:pt>
                <c:pt idx="135">
                  <c:v>38.600000000000009</c:v>
                </c:pt>
                <c:pt idx="136">
                  <c:v>38.600000000000009</c:v>
                </c:pt>
                <c:pt idx="137">
                  <c:v>38.600000000000009</c:v>
                </c:pt>
                <c:pt idx="138">
                  <c:v>38.600000000000009</c:v>
                </c:pt>
                <c:pt idx="139">
                  <c:v>38.600000000000009</c:v>
                </c:pt>
                <c:pt idx="140">
                  <c:v>15.530000000000008</c:v>
                </c:pt>
                <c:pt idx="141">
                  <c:v>15.530000000000008</c:v>
                </c:pt>
                <c:pt idx="142">
                  <c:v>15.530000000000008</c:v>
                </c:pt>
                <c:pt idx="143">
                  <c:v>15.530000000000008</c:v>
                </c:pt>
                <c:pt idx="144">
                  <c:v>15.530000000000008</c:v>
                </c:pt>
                <c:pt idx="145">
                  <c:v>15.530000000000008</c:v>
                </c:pt>
                <c:pt idx="146">
                  <c:v>15.530000000000008</c:v>
                </c:pt>
                <c:pt idx="147">
                  <c:v>-7.539999999999992</c:v>
                </c:pt>
                <c:pt idx="148">
                  <c:v>-7.539999999999992</c:v>
                </c:pt>
                <c:pt idx="149">
                  <c:v>-7.539999999999992</c:v>
                </c:pt>
                <c:pt idx="150">
                  <c:v>-7.539999999999992</c:v>
                </c:pt>
                <c:pt idx="151">
                  <c:v>92.460000000000008</c:v>
                </c:pt>
                <c:pt idx="152">
                  <c:v>92.460000000000008</c:v>
                </c:pt>
                <c:pt idx="153">
                  <c:v>92.460000000000008</c:v>
                </c:pt>
                <c:pt idx="154">
                  <c:v>69.390000000000015</c:v>
                </c:pt>
                <c:pt idx="155">
                  <c:v>69.390000000000015</c:v>
                </c:pt>
                <c:pt idx="156">
                  <c:v>69.390000000000015</c:v>
                </c:pt>
                <c:pt idx="157">
                  <c:v>69.390000000000015</c:v>
                </c:pt>
                <c:pt idx="158">
                  <c:v>69.390000000000015</c:v>
                </c:pt>
                <c:pt idx="159">
                  <c:v>69.390000000000015</c:v>
                </c:pt>
                <c:pt idx="160">
                  <c:v>69.390000000000015</c:v>
                </c:pt>
                <c:pt idx="161">
                  <c:v>46.320000000000014</c:v>
                </c:pt>
                <c:pt idx="162">
                  <c:v>46.320000000000014</c:v>
                </c:pt>
                <c:pt idx="163">
                  <c:v>46.320000000000014</c:v>
                </c:pt>
                <c:pt idx="164">
                  <c:v>46.320000000000014</c:v>
                </c:pt>
                <c:pt idx="165">
                  <c:v>46.320000000000014</c:v>
                </c:pt>
                <c:pt idx="166">
                  <c:v>46.320000000000014</c:v>
                </c:pt>
                <c:pt idx="167">
                  <c:v>46.320000000000014</c:v>
                </c:pt>
                <c:pt idx="168">
                  <c:v>23.250000000000014</c:v>
                </c:pt>
                <c:pt idx="169">
                  <c:v>23.250000000000014</c:v>
                </c:pt>
                <c:pt idx="170">
                  <c:v>23.250000000000014</c:v>
                </c:pt>
                <c:pt idx="171">
                  <c:v>23.250000000000014</c:v>
                </c:pt>
                <c:pt idx="172">
                  <c:v>23.250000000000014</c:v>
                </c:pt>
                <c:pt idx="173">
                  <c:v>23.250000000000014</c:v>
                </c:pt>
                <c:pt idx="174">
                  <c:v>23.250000000000014</c:v>
                </c:pt>
                <c:pt idx="175">
                  <c:v>0.18000000000001393</c:v>
                </c:pt>
                <c:pt idx="176">
                  <c:v>0.18000000000001393</c:v>
                </c:pt>
                <c:pt idx="177">
                  <c:v>0.18000000000001393</c:v>
                </c:pt>
                <c:pt idx="178">
                  <c:v>0.18000000000001393</c:v>
                </c:pt>
                <c:pt idx="179">
                  <c:v>0.18000000000001393</c:v>
                </c:pt>
                <c:pt idx="180">
                  <c:v>0.18000000000001393</c:v>
                </c:pt>
                <c:pt idx="181">
                  <c:v>100.18</c:v>
                </c:pt>
                <c:pt idx="182">
                  <c:v>77.110000000000014</c:v>
                </c:pt>
                <c:pt idx="183">
                  <c:v>77.110000000000014</c:v>
                </c:pt>
                <c:pt idx="184">
                  <c:v>77.110000000000014</c:v>
                </c:pt>
                <c:pt idx="185">
                  <c:v>77.110000000000014</c:v>
                </c:pt>
                <c:pt idx="186">
                  <c:v>77.110000000000014</c:v>
                </c:pt>
                <c:pt idx="187">
                  <c:v>77.110000000000014</c:v>
                </c:pt>
                <c:pt idx="188">
                  <c:v>77.110000000000014</c:v>
                </c:pt>
                <c:pt idx="189">
                  <c:v>54.040000000000013</c:v>
                </c:pt>
                <c:pt idx="190">
                  <c:v>54.040000000000013</c:v>
                </c:pt>
                <c:pt idx="191">
                  <c:v>54.040000000000013</c:v>
                </c:pt>
                <c:pt idx="192">
                  <c:v>54.040000000000013</c:v>
                </c:pt>
                <c:pt idx="193">
                  <c:v>54.040000000000013</c:v>
                </c:pt>
                <c:pt idx="194">
                  <c:v>54.040000000000013</c:v>
                </c:pt>
                <c:pt idx="195">
                  <c:v>54.040000000000013</c:v>
                </c:pt>
                <c:pt idx="196">
                  <c:v>30.970000000000013</c:v>
                </c:pt>
                <c:pt idx="197">
                  <c:v>30.970000000000013</c:v>
                </c:pt>
                <c:pt idx="198">
                  <c:v>30.970000000000013</c:v>
                </c:pt>
                <c:pt idx="199">
                  <c:v>30.970000000000013</c:v>
                </c:pt>
                <c:pt idx="200">
                  <c:v>30.970000000000013</c:v>
                </c:pt>
                <c:pt idx="201">
                  <c:v>30.970000000000013</c:v>
                </c:pt>
                <c:pt idx="202">
                  <c:v>30.970000000000013</c:v>
                </c:pt>
                <c:pt idx="203">
                  <c:v>7.9000000000000128</c:v>
                </c:pt>
                <c:pt idx="204">
                  <c:v>7.9000000000000128</c:v>
                </c:pt>
                <c:pt idx="205">
                  <c:v>7.9000000000000128</c:v>
                </c:pt>
                <c:pt idx="206">
                  <c:v>7.9000000000000128</c:v>
                </c:pt>
                <c:pt idx="207">
                  <c:v>7.9000000000000128</c:v>
                </c:pt>
                <c:pt idx="208">
                  <c:v>7.9000000000000128</c:v>
                </c:pt>
                <c:pt idx="209">
                  <c:v>7.9000000000000128</c:v>
                </c:pt>
                <c:pt idx="210">
                  <c:v>-15.169999999999987</c:v>
                </c:pt>
                <c:pt idx="211">
                  <c:v>-15.169999999999987</c:v>
                </c:pt>
                <c:pt idx="212">
                  <c:v>84.830000000000013</c:v>
                </c:pt>
                <c:pt idx="213">
                  <c:v>84.830000000000013</c:v>
                </c:pt>
                <c:pt idx="214">
                  <c:v>84.830000000000013</c:v>
                </c:pt>
                <c:pt idx="215">
                  <c:v>84.830000000000013</c:v>
                </c:pt>
                <c:pt idx="216">
                  <c:v>84.830000000000013</c:v>
                </c:pt>
                <c:pt idx="217">
                  <c:v>61.760000000000012</c:v>
                </c:pt>
                <c:pt idx="218">
                  <c:v>61.760000000000012</c:v>
                </c:pt>
                <c:pt idx="219">
                  <c:v>61.760000000000012</c:v>
                </c:pt>
                <c:pt idx="220">
                  <c:v>61.760000000000012</c:v>
                </c:pt>
                <c:pt idx="221">
                  <c:v>61.760000000000012</c:v>
                </c:pt>
                <c:pt idx="222">
                  <c:v>61.760000000000012</c:v>
                </c:pt>
                <c:pt idx="223">
                  <c:v>61.760000000000012</c:v>
                </c:pt>
                <c:pt idx="224">
                  <c:v>38.690000000000012</c:v>
                </c:pt>
                <c:pt idx="225">
                  <c:v>38.690000000000012</c:v>
                </c:pt>
                <c:pt idx="226">
                  <c:v>38.690000000000012</c:v>
                </c:pt>
                <c:pt idx="227">
                  <c:v>38.690000000000012</c:v>
                </c:pt>
                <c:pt idx="228">
                  <c:v>38.690000000000012</c:v>
                </c:pt>
                <c:pt idx="229">
                  <c:v>38.690000000000012</c:v>
                </c:pt>
                <c:pt idx="230">
                  <c:v>38.690000000000012</c:v>
                </c:pt>
                <c:pt idx="231">
                  <c:v>15.620000000000012</c:v>
                </c:pt>
                <c:pt idx="232">
                  <c:v>15.620000000000012</c:v>
                </c:pt>
                <c:pt idx="233">
                  <c:v>15.620000000000012</c:v>
                </c:pt>
                <c:pt idx="234">
                  <c:v>15.620000000000012</c:v>
                </c:pt>
                <c:pt idx="235">
                  <c:v>15.620000000000012</c:v>
                </c:pt>
                <c:pt idx="236">
                  <c:v>15.620000000000012</c:v>
                </c:pt>
                <c:pt idx="237">
                  <c:v>15.620000000000012</c:v>
                </c:pt>
                <c:pt idx="238">
                  <c:v>-7.4499999999999886</c:v>
                </c:pt>
                <c:pt idx="239">
                  <c:v>-7.4499999999999886</c:v>
                </c:pt>
                <c:pt idx="240">
                  <c:v>-7.4499999999999886</c:v>
                </c:pt>
                <c:pt idx="241">
                  <c:v>-7.4499999999999886</c:v>
                </c:pt>
                <c:pt idx="242">
                  <c:v>-7.4499999999999886</c:v>
                </c:pt>
                <c:pt idx="243">
                  <c:v>92.550000000000011</c:v>
                </c:pt>
                <c:pt idx="244">
                  <c:v>92.550000000000011</c:v>
                </c:pt>
                <c:pt idx="245">
                  <c:v>69.480000000000018</c:v>
                </c:pt>
                <c:pt idx="246">
                  <c:v>69.480000000000018</c:v>
                </c:pt>
                <c:pt idx="247">
                  <c:v>69.480000000000018</c:v>
                </c:pt>
                <c:pt idx="248">
                  <c:v>69.480000000000018</c:v>
                </c:pt>
                <c:pt idx="249">
                  <c:v>69.480000000000018</c:v>
                </c:pt>
                <c:pt idx="250">
                  <c:v>69.480000000000018</c:v>
                </c:pt>
                <c:pt idx="251">
                  <c:v>69.480000000000018</c:v>
                </c:pt>
                <c:pt idx="252">
                  <c:v>46.410000000000018</c:v>
                </c:pt>
                <c:pt idx="253">
                  <c:v>46.410000000000018</c:v>
                </c:pt>
                <c:pt idx="254">
                  <c:v>46.410000000000018</c:v>
                </c:pt>
                <c:pt idx="255">
                  <c:v>46.410000000000018</c:v>
                </c:pt>
                <c:pt idx="256">
                  <c:v>46.410000000000018</c:v>
                </c:pt>
                <c:pt idx="257">
                  <c:v>46.410000000000018</c:v>
                </c:pt>
                <c:pt idx="258">
                  <c:v>46.410000000000018</c:v>
                </c:pt>
                <c:pt idx="259">
                  <c:v>23.340000000000018</c:v>
                </c:pt>
                <c:pt idx="260">
                  <c:v>23.340000000000018</c:v>
                </c:pt>
                <c:pt idx="261">
                  <c:v>23.340000000000018</c:v>
                </c:pt>
                <c:pt idx="262">
                  <c:v>23.340000000000018</c:v>
                </c:pt>
                <c:pt idx="263">
                  <c:v>23.340000000000018</c:v>
                </c:pt>
                <c:pt idx="264">
                  <c:v>23.340000000000018</c:v>
                </c:pt>
                <c:pt idx="265">
                  <c:v>23.340000000000018</c:v>
                </c:pt>
                <c:pt idx="266">
                  <c:v>0.27000000000001734</c:v>
                </c:pt>
                <c:pt idx="267">
                  <c:v>0.27000000000001734</c:v>
                </c:pt>
                <c:pt idx="268">
                  <c:v>0.27000000000001734</c:v>
                </c:pt>
                <c:pt idx="269">
                  <c:v>0.27000000000001734</c:v>
                </c:pt>
                <c:pt idx="270">
                  <c:v>0.27000000000001734</c:v>
                </c:pt>
                <c:pt idx="271">
                  <c:v>0.27000000000001734</c:v>
                </c:pt>
                <c:pt idx="272">
                  <c:v>0.27000000000001734</c:v>
                </c:pt>
                <c:pt idx="273">
                  <c:v>77.200000000000017</c:v>
                </c:pt>
                <c:pt idx="274">
                  <c:v>77.200000000000017</c:v>
                </c:pt>
                <c:pt idx="275">
                  <c:v>77.200000000000017</c:v>
                </c:pt>
                <c:pt idx="276">
                  <c:v>77.200000000000017</c:v>
                </c:pt>
                <c:pt idx="277">
                  <c:v>77.200000000000017</c:v>
                </c:pt>
                <c:pt idx="278">
                  <c:v>77.200000000000017</c:v>
                </c:pt>
                <c:pt idx="279">
                  <c:v>77.200000000000017</c:v>
                </c:pt>
                <c:pt idx="280">
                  <c:v>54.130000000000017</c:v>
                </c:pt>
                <c:pt idx="281">
                  <c:v>54.130000000000017</c:v>
                </c:pt>
                <c:pt idx="282">
                  <c:v>54.130000000000017</c:v>
                </c:pt>
                <c:pt idx="283">
                  <c:v>54.130000000000017</c:v>
                </c:pt>
                <c:pt idx="284">
                  <c:v>54.130000000000017</c:v>
                </c:pt>
                <c:pt idx="285">
                  <c:v>54.130000000000017</c:v>
                </c:pt>
                <c:pt idx="286">
                  <c:v>54.130000000000017</c:v>
                </c:pt>
                <c:pt idx="287">
                  <c:v>31.060000000000016</c:v>
                </c:pt>
                <c:pt idx="288">
                  <c:v>31.060000000000016</c:v>
                </c:pt>
                <c:pt idx="289">
                  <c:v>31.060000000000016</c:v>
                </c:pt>
                <c:pt idx="290">
                  <c:v>31.060000000000016</c:v>
                </c:pt>
                <c:pt idx="291">
                  <c:v>31.060000000000016</c:v>
                </c:pt>
                <c:pt idx="292">
                  <c:v>31.060000000000016</c:v>
                </c:pt>
                <c:pt idx="293">
                  <c:v>31.060000000000016</c:v>
                </c:pt>
                <c:pt idx="294">
                  <c:v>7.9900000000000162</c:v>
                </c:pt>
                <c:pt idx="295">
                  <c:v>7.9900000000000162</c:v>
                </c:pt>
                <c:pt idx="296">
                  <c:v>7.9900000000000162</c:v>
                </c:pt>
                <c:pt idx="297">
                  <c:v>7.9900000000000162</c:v>
                </c:pt>
                <c:pt idx="298">
                  <c:v>7.9900000000000162</c:v>
                </c:pt>
                <c:pt idx="299">
                  <c:v>7.9900000000000162</c:v>
                </c:pt>
                <c:pt idx="300">
                  <c:v>7.9900000000000162</c:v>
                </c:pt>
                <c:pt idx="301">
                  <c:v>-15.079999999999984</c:v>
                </c:pt>
                <c:pt idx="302">
                  <c:v>-15.079999999999984</c:v>
                </c:pt>
                <c:pt idx="303">
                  <c:v>-15.079999999999984</c:v>
                </c:pt>
                <c:pt idx="304">
                  <c:v>84.920000000000016</c:v>
                </c:pt>
                <c:pt idx="305">
                  <c:v>84.920000000000016</c:v>
                </c:pt>
                <c:pt idx="306">
                  <c:v>84.920000000000016</c:v>
                </c:pt>
                <c:pt idx="307">
                  <c:v>84.920000000000016</c:v>
                </c:pt>
                <c:pt idx="308">
                  <c:v>61.850000000000016</c:v>
                </c:pt>
                <c:pt idx="309">
                  <c:v>61.850000000000016</c:v>
                </c:pt>
                <c:pt idx="310">
                  <c:v>61.850000000000016</c:v>
                </c:pt>
                <c:pt idx="311">
                  <c:v>61.850000000000016</c:v>
                </c:pt>
                <c:pt idx="312">
                  <c:v>61.850000000000016</c:v>
                </c:pt>
                <c:pt idx="313">
                  <c:v>61.850000000000016</c:v>
                </c:pt>
                <c:pt idx="314">
                  <c:v>61.850000000000016</c:v>
                </c:pt>
                <c:pt idx="315">
                  <c:v>38.780000000000015</c:v>
                </c:pt>
                <c:pt idx="316">
                  <c:v>38.780000000000015</c:v>
                </c:pt>
                <c:pt idx="317">
                  <c:v>38.780000000000015</c:v>
                </c:pt>
                <c:pt idx="318">
                  <c:v>38.780000000000015</c:v>
                </c:pt>
                <c:pt idx="319">
                  <c:v>38.780000000000015</c:v>
                </c:pt>
                <c:pt idx="320">
                  <c:v>38.780000000000015</c:v>
                </c:pt>
                <c:pt idx="321">
                  <c:v>38.780000000000015</c:v>
                </c:pt>
                <c:pt idx="322">
                  <c:v>15.710000000000015</c:v>
                </c:pt>
                <c:pt idx="323">
                  <c:v>15.710000000000015</c:v>
                </c:pt>
                <c:pt idx="324">
                  <c:v>15.710000000000015</c:v>
                </c:pt>
                <c:pt idx="325">
                  <c:v>15.710000000000015</c:v>
                </c:pt>
                <c:pt idx="326">
                  <c:v>15.710000000000015</c:v>
                </c:pt>
                <c:pt idx="327">
                  <c:v>15.710000000000015</c:v>
                </c:pt>
                <c:pt idx="328">
                  <c:v>15.710000000000015</c:v>
                </c:pt>
                <c:pt idx="329">
                  <c:v>-7.3599999999999852</c:v>
                </c:pt>
                <c:pt idx="330">
                  <c:v>-7.3599999999999852</c:v>
                </c:pt>
                <c:pt idx="331">
                  <c:v>-7.3599999999999852</c:v>
                </c:pt>
                <c:pt idx="332">
                  <c:v>-7.3599999999999852</c:v>
                </c:pt>
                <c:pt idx="333">
                  <c:v>-7.3599999999999852</c:v>
                </c:pt>
                <c:pt idx="334">
                  <c:v>92.640000000000015</c:v>
                </c:pt>
                <c:pt idx="335">
                  <c:v>92.640000000000015</c:v>
                </c:pt>
                <c:pt idx="336">
                  <c:v>69.570000000000022</c:v>
                </c:pt>
                <c:pt idx="337">
                  <c:v>69.570000000000022</c:v>
                </c:pt>
                <c:pt idx="338">
                  <c:v>69.570000000000022</c:v>
                </c:pt>
                <c:pt idx="339">
                  <c:v>69.570000000000022</c:v>
                </c:pt>
                <c:pt idx="340">
                  <c:v>69.570000000000022</c:v>
                </c:pt>
                <c:pt idx="341">
                  <c:v>69.570000000000022</c:v>
                </c:pt>
                <c:pt idx="342">
                  <c:v>69.570000000000022</c:v>
                </c:pt>
                <c:pt idx="343">
                  <c:v>46.500000000000021</c:v>
                </c:pt>
                <c:pt idx="344">
                  <c:v>46.500000000000021</c:v>
                </c:pt>
                <c:pt idx="345">
                  <c:v>46.500000000000021</c:v>
                </c:pt>
                <c:pt idx="346">
                  <c:v>46.500000000000021</c:v>
                </c:pt>
                <c:pt idx="347">
                  <c:v>46.500000000000021</c:v>
                </c:pt>
                <c:pt idx="348">
                  <c:v>46.500000000000021</c:v>
                </c:pt>
                <c:pt idx="349">
                  <c:v>46.500000000000021</c:v>
                </c:pt>
                <c:pt idx="350">
                  <c:v>23.430000000000021</c:v>
                </c:pt>
                <c:pt idx="351">
                  <c:v>23.430000000000021</c:v>
                </c:pt>
                <c:pt idx="352">
                  <c:v>23.430000000000021</c:v>
                </c:pt>
                <c:pt idx="353">
                  <c:v>23.430000000000021</c:v>
                </c:pt>
                <c:pt idx="354">
                  <c:v>23.430000000000021</c:v>
                </c:pt>
                <c:pt idx="355">
                  <c:v>23.430000000000021</c:v>
                </c:pt>
                <c:pt idx="356">
                  <c:v>23.430000000000021</c:v>
                </c:pt>
                <c:pt idx="357">
                  <c:v>0.36000000000002075</c:v>
                </c:pt>
                <c:pt idx="358">
                  <c:v>0.36000000000002075</c:v>
                </c:pt>
                <c:pt idx="359">
                  <c:v>0.36000000000002075</c:v>
                </c:pt>
                <c:pt idx="360">
                  <c:v>0.36000000000002075</c:v>
                </c:pt>
                <c:pt idx="361">
                  <c:v>0.36000000000002075</c:v>
                </c:pt>
                <c:pt idx="362">
                  <c:v>0.36000000000002075</c:v>
                </c:pt>
                <c:pt idx="363">
                  <c:v>0.36000000000002075</c:v>
                </c:pt>
                <c:pt idx="364">
                  <c:v>-22.70999999999998</c:v>
                </c:pt>
                <c:pt idx="365">
                  <c:v>77.29000000000002</c:v>
                </c:pt>
                <c:pt idx="366">
                  <c:v>77.29000000000002</c:v>
                </c:pt>
                <c:pt idx="367">
                  <c:v>77.29000000000002</c:v>
                </c:pt>
                <c:pt idx="368">
                  <c:v>77.29000000000002</c:v>
                </c:pt>
                <c:pt idx="369">
                  <c:v>77.29000000000002</c:v>
                </c:pt>
                <c:pt idx="370">
                  <c:v>77.29000000000002</c:v>
                </c:pt>
                <c:pt idx="371">
                  <c:v>54.22000000000002</c:v>
                </c:pt>
                <c:pt idx="372">
                  <c:v>54.22000000000002</c:v>
                </c:pt>
                <c:pt idx="373">
                  <c:v>54.22000000000002</c:v>
                </c:pt>
                <c:pt idx="374">
                  <c:v>54.22000000000002</c:v>
                </c:pt>
                <c:pt idx="375">
                  <c:v>54.22000000000002</c:v>
                </c:pt>
                <c:pt idx="376">
                  <c:v>54.22000000000002</c:v>
                </c:pt>
                <c:pt idx="377">
                  <c:v>54.22000000000002</c:v>
                </c:pt>
                <c:pt idx="378">
                  <c:v>31.15000000000002</c:v>
                </c:pt>
                <c:pt idx="379">
                  <c:v>31.15000000000002</c:v>
                </c:pt>
                <c:pt idx="380">
                  <c:v>31.15000000000002</c:v>
                </c:pt>
                <c:pt idx="381">
                  <c:v>31.15000000000002</c:v>
                </c:pt>
                <c:pt idx="382">
                  <c:v>31.15000000000002</c:v>
                </c:pt>
                <c:pt idx="383">
                  <c:v>31.15000000000002</c:v>
                </c:pt>
                <c:pt idx="384">
                  <c:v>31.15000000000002</c:v>
                </c:pt>
                <c:pt idx="385">
                  <c:v>8.0800000000000196</c:v>
                </c:pt>
                <c:pt idx="386">
                  <c:v>8.0800000000000196</c:v>
                </c:pt>
                <c:pt idx="387">
                  <c:v>8.0800000000000196</c:v>
                </c:pt>
                <c:pt idx="388">
                  <c:v>8.0800000000000196</c:v>
                </c:pt>
                <c:pt idx="389">
                  <c:v>8.0800000000000196</c:v>
                </c:pt>
                <c:pt idx="390">
                  <c:v>8.0800000000000196</c:v>
                </c:pt>
                <c:pt idx="391">
                  <c:v>8.0800000000000196</c:v>
                </c:pt>
                <c:pt idx="392">
                  <c:v>-14.989999999999981</c:v>
                </c:pt>
                <c:pt idx="393">
                  <c:v>-14.989999999999981</c:v>
                </c:pt>
                <c:pt idx="394">
                  <c:v>-14.989999999999981</c:v>
                </c:pt>
                <c:pt idx="395">
                  <c:v>-14.989999999999981</c:v>
                </c:pt>
                <c:pt idx="396">
                  <c:v>85.010000000000019</c:v>
                </c:pt>
                <c:pt idx="397">
                  <c:v>85.010000000000019</c:v>
                </c:pt>
                <c:pt idx="398">
                  <c:v>85.010000000000019</c:v>
                </c:pt>
                <c:pt idx="399">
                  <c:v>61.940000000000019</c:v>
                </c:pt>
                <c:pt idx="400">
                  <c:v>61.940000000000019</c:v>
                </c:pt>
                <c:pt idx="401">
                  <c:v>61.940000000000019</c:v>
                </c:pt>
                <c:pt idx="402">
                  <c:v>61.940000000000019</c:v>
                </c:pt>
                <c:pt idx="403">
                  <c:v>61.940000000000019</c:v>
                </c:pt>
                <c:pt idx="404">
                  <c:v>61.940000000000019</c:v>
                </c:pt>
                <c:pt idx="405">
                  <c:v>61.940000000000019</c:v>
                </c:pt>
                <c:pt idx="406">
                  <c:v>38.870000000000019</c:v>
                </c:pt>
                <c:pt idx="407">
                  <c:v>38.870000000000019</c:v>
                </c:pt>
                <c:pt idx="408">
                  <c:v>38.870000000000019</c:v>
                </c:pt>
                <c:pt idx="409">
                  <c:v>38.870000000000019</c:v>
                </c:pt>
                <c:pt idx="410">
                  <c:v>38.870000000000019</c:v>
                </c:pt>
                <c:pt idx="411">
                  <c:v>38.870000000000019</c:v>
                </c:pt>
                <c:pt idx="412">
                  <c:v>38.870000000000019</c:v>
                </c:pt>
                <c:pt idx="413">
                  <c:v>15.800000000000018</c:v>
                </c:pt>
                <c:pt idx="414">
                  <c:v>15.800000000000018</c:v>
                </c:pt>
                <c:pt idx="415">
                  <c:v>15.800000000000018</c:v>
                </c:pt>
                <c:pt idx="416">
                  <c:v>15.800000000000018</c:v>
                </c:pt>
                <c:pt idx="417">
                  <c:v>15.800000000000018</c:v>
                </c:pt>
                <c:pt idx="418">
                  <c:v>15.800000000000018</c:v>
                </c:pt>
                <c:pt idx="419">
                  <c:v>15.800000000000018</c:v>
                </c:pt>
                <c:pt idx="420">
                  <c:v>-7.2699999999999818</c:v>
                </c:pt>
                <c:pt idx="421">
                  <c:v>-7.2699999999999818</c:v>
                </c:pt>
                <c:pt idx="422">
                  <c:v>-7.2699999999999818</c:v>
                </c:pt>
                <c:pt idx="423">
                  <c:v>-7.2699999999999818</c:v>
                </c:pt>
                <c:pt idx="424">
                  <c:v>-7.2699999999999818</c:v>
                </c:pt>
                <c:pt idx="425">
                  <c:v>92.730000000000018</c:v>
                </c:pt>
                <c:pt idx="426">
                  <c:v>92.730000000000018</c:v>
                </c:pt>
                <c:pt idx="427">
                  <c:v>69.660000000000025</c:v>
                </c:pt>
                <c:pt idx="428">
                  <c:v>69.660000000000025</c:v>
                </c:pt>
                <c:pt idx="429">
                  <c:v>69.660000000000025</c:v>
                </c:pt>
                <c:pt idx="430">
                  <c:v>69.660000000000025</c:v>
                </c:pt>
                <c:pt idx="431">
                  <c:v>69.660000000000025</c:v>
                </c:pt>
                <c:pt idx="432">
                  <c:v>69.660000000000025</c:v>
                </c:pt>
                <c:pt idx="433">
                  <c:v>69.660000000000025</c:v>
                </c:pt>
                <c:pt idx="434">
                  <c:v>46.590000000000025</c:v>
                </c:pt>
                <c:pt idx="435">
                  <c:v>46.590000000000025</c:v>
                </c:pt>
                <c:pt idx="436">
                  <c:v>46.590000000000025</c:v>
                </c:pt>
                <c:pt idx="437">
                  <c:v>46.590000000000025</c:v>
                </c:pt>
                <c:pt idx="438">
                  <c:v>46.590000000000025</c:v>
                </c:pt>
                <c:pt idx="439">
                  <c:v>46.590000000000025</c:v>
                </c:pt>
                <c:pt idx="440">
                  <c:v>46.590000000000025</c:v>
                </c:pt>
                <c:pt idx="441">
                  <c:v>23.520000000000024</c:v>
                </c:pt>
                <c:pt idx="442">
                  <c:v>23.520000000000024</c:v>
                </c:pt>
                <c:pt idx="443">
                  <c:v>23.520000000000024</c:v>
                </c:pt>
                <c:pt idx="444">
                  <c:v>23.520000000000024</c:v>
                </c:pt>
                <c:pt idx="445">
                  <c:v>23.520000000000024</c:v>
                </c:pt>
                <c:pt idx="446">
                  <c:v>23.520000000000024</c:v>
                </c:pt>
                <c:pt idx="447">
                  <c:v>23.520000000000024</c:v>
                </c:pt>
                <c:pt idx="448">
                  <c:v>0.45000000000002416</c:v>
                </c:pt>
                <c:pt idx="449">
                  <c:v>0.45000000000002416</c:v>
                </c:pt>
                <c:pt idx="450">
                  <c:v>0.45000000000002416</c:v>
                </c:pt>
                <c:pt idx="451">
                  <c:v>0.45000000000002416</c:v>
                </c:pt>
                <c:pt idx="452">
                  <c:v>0.45000000000002416</c:v>
                </c:pt>
                <c:pt idx="453">
                  <c:v>0.45000000000002416</c:v>
                </c:pt>
                <c:pt idx="454">
                  <c:v>0.45000000000002416</c:v>
                </c:pt>
                <c:pt idx="455">
                  <c:v>-22.619999999999976</c:v>
                </c:pt>
                <c:pt idx="456">
                  <c:v>77.380000000000024</c:v>
                </c:pt>
                <c:pt idx="457">
                  <c:v>77.380000000000024</c:v>
                </c:pt>
                <c:pt idx="458">
                  <c:v>77.380000000000024</c:v>
                </c:pt>
                <c:pt idx="459">
                  <c:v>77.380000000000024</c:v>
                </c:pt>
                <c:pt idx="460">
                  <c:v>77.380000000000024</c:v>
                </c:pt>
                <c:pt idx="461">
                  <c:v>77.380000000000024</c:v>
                </c:pt>
                <c:pt idx="462">
                  <c:v>54.310000000000024</c:v>
                </c:pt>
                <c:pt idx="463">
                  <c:v>54.310000000000024</c:v>
                </c:pt>
                <c:pt idx="464">
                  <c:v>54.310000000000024</c:v>
                </c:pt>
                <c:pt idx="465">
                  <c:v>54.310000000000024</c:v>
                </c:pt>
                <c:pt idx="466">
                  <c:v>54.310000000000024</c:v>
                </c:pt>
                <c:pt idx="467">
                  <c:v>54.310000000000024</c:v>
                </c:pt>
                <c:pt idx="468">
                  <c:v>54.310000000000024</c:v>
                </c:pt>
                <c:pt idx="469">
                  <c:v>31.240000000000023</c:v>
                </c:pt>
                <c:pt idx="470">
                  <c:v>31.240000000000023</c:v>
                </c:pt>
                <c:pt idx="471">
                  <c:v>31.240000000000023</c:v>
                </c:pt>
                <c:pt idx="472">
                  <c:v>31.240000000000023</c:v>
                </c:pt>
                <c:pt idx="473">
                  <c:v>31.240000000000023</c:v>
                </c:pt>
                <c:pt idx="474">
                  <c:v>31.240000000000023</c:v>
                </c:pt>
                <c:pt idx="475">
                  <c:v>31.240000000000023</c:v>
                </c:pt>
                <c:pt idx="476">
                  <c:v>8.170000000000023</c:v>
                </c:pt>
                <c:pt idx="477">
                  <c:v>8.170000000000023</c:v>
                </c:pt>
                <c:pt idx="478">
                  <c:v>8.170000000000023</c:v>
                </c:pt>
                <c:pt idx="479">
                  <c:v>8.170000000000023</c:v>
                </c:pt>
                <c:pt idx="480">
                  <c:v>8.170000000000023</c:v>
                </c:pt>
                <c:pt idx="481">
                  <c:v>8.170000000000023</c:v>
                </c:pt>
                <c:pt idx="482">
                  <c:v>8.170000000000023</c:v>
                </c:pt>
                <c:pt idx="483">
                  <c:v>-14.899999999999977</c:v>
                </c:pt>
                <c:pt idx="484">
                  <c:v>-14.899999999999977</c:v>
                </c:pt>
                <c:pt idx="485">
                  <c:v>-14.899999999999977</c:v>
                </c:pt>
                <c:pt idx="486">
                  <c:v>85.100000000000023</c:v>
                </c:pt>
                <c:pt idx="487">
                  <c:v>85.100000000000023</c:v>
                </c:pt>
                <c:pt idx="488">
                  <c:v>85.100000000000023</c:v>
                </c:pt>
                <c:pt idx="489">
                  <c:v>85.100000000000023</c:v>
                </c:pt>
                <c:pt idx="490">
                  <c:v>62.030000000000022</c:v>
                </c:pt>
                <c:pt idx="491">
                  <c:v>62.030000000000022</c:v>
                </c:pt>
                <c:pt idx="492">
                  <c:v>62.030000000000022</c:v>
                </c:pt>
                <c:pt idx="493">
                  <c:v>62.030000000000022</c:v>
                </c:pt>
                <c:pt idx="494">
                  <c:v>62.030000000000022</c:v>
                </c:pt>
                <c:pt idx="495">
                  <c:v>62.030000000000022</c:v>
                </c:pt>
                <c:pt idx="496">
                  <c:v>62.030000000000022</c:v>
                </c:pt>
                <c:pt idx="497">
                  <c:v>38.960000000000022</c:v>
                </c:pt>
                <c:pt idx="498">
                  <c:v>38.960000000000022</c:v>
                </c:pt>
                <c:pt idx="499">
                  <c:v>38.960000000000022</c:v>
                </c:pt>
                <c:pt idx="500">
                  <c:v>38.960000000000022</c:v>
                </c:pt>
                <c:pt idx="501">
                  <c:v>38.960000000000022</c:v>
                </c:pt>
                <c:pt idx="502">
                  <c:v>38.960000000000022</c:v>
                </c:pt>
                <c:pt idx="503">
                  <c:v>38.960000000000022</c:v>
                </c:pt>
                <c:pt idx="504">
                  <c:v>15.890000000000022</c:v>
                </c:pt>
                <c:pt idx="505">
                  <c:v>15.890000000000022</c:v>
                </c:pt>
                <c:pt idx="506">
                  <c:v>15.890000000000022</c:v>
                </c:pt>
                <c:pt idx="507">
                  <c:v>15.890000000000022</c:v>
                </c:pt>
                <c:pt idx="508">
                  <c:v>15.890000000000022</c:v>
                </c:pt>
                <c:pt idx="509">
                  <c:v>15.890000000000022</c:v>
                </c:pt>
                <c:pt idx="510">
                  <c:v>15.890000000000022</c:v>
                </c:pt>
                <c:pt idx="511">
                  <c:v>-7.1799999999999784</c:v>
                </c:pt>
                <c:pt idx="512">
                  <c:v>-7.1799999999999784</c:v>
                </c:pt>
                <c:pt idx="513">
                  <c:v>-7.1799999999999784</c:v>
                </c:pt>
                <c:pt idx="514">
                  <c:v>-7.1799999999999784</c:v>
                </c:pt>
                <c:pt idx="515">
                  <c:v>-7.1799999999999784</c:v>
                </c:pt>
                <c:pt idx="516">
                  <c:v>-7.1799999999999784</c:v>
                </c:pt>
                <c:pt idx="517">
                  <c:v>92.820000000000022</c:v>
                </c:pt>
                <c:pt idx="518">
                  <c:v>69.750000000000028</c:v>
                </c:pt>
                <c:pt idx="519">
                  <c:v>69.750000000000028</c:v>
                </c:pt>
                <c:pt idx="520">
                  <c:v>69.750000000000028</c:v>
                </c:pt>
                <c:pt idx="521">
                  <c:v>69.750000000000028</c:v>
                </c:pt>
                <c:pt idx="522">
                  <c:v>69.750000000000028</c:v>
                </c:pt>
                <c:pt idx="523">
                  <c:v>69.750000000000028</c:v>
                </c:pt>
                <c:pt idx="524">
                  <c:v>69.750000000000028</c:v>
                </c:pt>
                <c:pt idx="525">
                  <c:v>46.680000000000028</c:v>
                </c:pt>
                <c:pt idx="526">
                  <c:v>46.680000000000028</c:v>
                </c:pt>
                <c:pt idx="527">
                  <c:v>46.680000000000028</c:v>
                </c:pt>
                <c:pt idx="528">
                  <c:v>46.680000000000028</c:v>
                </c:pt>
                <c:pt idx="529">
                  <c:v>46.680000000000028</c:v>
                </c:pt>
                <c:pt idx="530">
                  <c:v>46.680000000000028</c:v>
                </c:pt>
                <c:pt idx="531">
                  <c:v>46.680000000000028</c:v>
                </c:pt>
                <c:pt idx="532">
                  <c:v>23.610000000000028</c:v>
                </c:pt>
                <c:pt idx="533">
                  <c:v>23.610000000000028</c:v>
                </c:pt>
                <c:pt idx="534">
                  <c:v>23.610000000000028</c:v>
                </c:pt>
                <c:pt idx="535">
                  <c:v>23.610000000000028</c:v>
                </c:pt>
                <c:pt idx="536">
                  <c:v>23.610000000000028</c:v>
                </c:pt>
                <c:pt idx="537">
                  <c:v>23.610000000000028</c:v>
                </c:pt>
                <c:pt idx="538">
                  <c:v>23.610000000000028</c:v>
                </c:pt>
                <c:pt idx="539">
                  <c:v>0.54000000000002757</c:v>
                </c:pt>
                <c:pt idx="540">
                  <c:v>0.54000000000002757</c:v>
                </c:pt>
                <c:pt idx="541">
                  <c:v>0.54000000000002757</c:v>
                </c:pt>
                <c:pt idx="542">
                  <c:v>0.54000000000002757</c:v>
                </c:pt>
                <c:pt idx="543">
                  <c:v>0.54000000000002757</c:v>
                </c:pt>
                <c:pt idx="544">
                  <c:v>0.54000000000002757</c:v>
                </c:pt>
                <c:pt idx="545">
                  <c:v>0.54000000000002757</c:v>
                </c:pt>
                <c:pt idx="546">
                  <c:v>-22.529999999999973</c:v>
                </c:pt>
                <c:pt idx="547">
                  <c:v>77.470000000000027</c:v>
                </c:pt>
                <c:pt idx="548">
                  <c:v>77.470000000000027</c:v>
                </c:pt>
                <c:pt idx="549">
                  <c:v>77.470000000000027</c:v>
                </c:pt>
                <c:pt idx="550">
                  <c:v>77.470000000000027</c:v>
                </c:pt>
                <c:pt idx="551">
                  <c:v>77.470000000000027</c:v>
                </c:pt>
                <c:pt idx="552">
                  <c:v>77.470000000000027</c:v>
                </c:pt>
                <c:pt idx="553">
                  <c:v>54.400000000000027</c:v>
                </c:pt>
                <c:pt idx="554">
                  <c:v>54.400000000000027</c:v>
                </c:pt>
                <c:pt idx="555">
                  <c:v>54.400000000000027</c:v>
                </c:pt>
                <c:pt idx="556">
                  <c:v>54.400000000000027</c:v>
                </c:pt>
                <c:pt idx="557">
                  <c:v>54.400000000000027</c:v>
                </c:pt>
                <c:pt idx="558">
                  <c:v>54.400000000000027</c:v>
                </c:pt>
                <c:pt idx="559">
                  <c:v>54.400000000000027</c:v>
                </c:pt>
                <c:pt idx="560">
                  <c:v>31.330000000000027</c:v>
                </c:pt>
                <c:pt idx="561">
                  <c:v>31.330000000000027</c:v>
                </c:pt>
                <c:pt idx="562">
                  <c:v>31.330000000000027</c:v>
                </c:pt>
                <c:pt idx="563">
                  <c:v>31.330000000000027</c:v>
                </c:pt>
                <c:pt idx="564">
                  <c:v>31.330000000000027</c:v>
                </c:pt>
                <c:pt idx="565">
                  <c:v>31.330000000000027</c:v>
                </c:pt>
                <c:pt idx="566">
                  <c:v>31.330000000000027</c:v>
                </c:pt>
                <c:pt idx="567">
                  <c:v>8.2600000000000264</c:v>
                </c:pt>
                <c:pt idx="568">
                  <c:v>8.2600000000000264</c:v>
                </c:pt>
                <c:pt idx="569">
                  <c:v>8.2600000000000264</c:v>
                </c:pt>
                <c:pt idx="570">
                  <c:v>8.2600000000000264</c:v>
                </c:pt>
                <c:pt idx="571">
                  <c:v>8.2600000000000264</c:v>
                </c:pt>
                <c:pt idx="572">
                  <c:v>8.2600000000000264</c:v>
                </c:pt>
                <c:pt idx="573">
                  <c:v>8.2600000000000264</c:v>
                </c:pt>
                <c:pt idx="574">
                  <c:v>-14.809999999999974</c:v>
                </c:pt>
                <c:pt idx="575">
                  <c:v>-14.809999999999974</c:v>
                </c:pt>
                <c:pt idx="576">
                  <c:v>-14.809999999999974</c:v>
                </c:pt>
                <c:pt idx="577">
                  <c:v>-14.809999999999974</c:v>
                </c:pt>
                <c:pt idx="578">
                  <c:v>85.190000000000026</c:v>
                </c:pt>
                <c:pt idx="579">
                  <c:v>85.190000000000026</c:v>
                </c:pt>
                <c:pt idx="580">
                  <c:v>85.190000000000026</c:v>
                </c:pt>
                <c:pt idx="581">
                  <c:v>62.120000000000026</c:v>
                </c:pt>
                <c:pt idx="582">
                  <c:v>62.120000000000026</c:v>
                </c:pt>
                <c:pt idx="583">
                  <c:v>62.120000000000026</c:v>
                </c:pt>
                <c:pt idx="584">
                  <c:v>62.120000000000026</c:v>
                </c:pt>
                <c:pt idx="585">
                  <c:v>62.120000000000026</c:v>
                </c:pt>
                <c:pt idx="586">
                  <c:v>62.120000000000026</c:v>
                </c:pt>
                <c:pt idx="587">
                  <c:v>62.120000000000026</c:v>
                </c:pt>
                <c:pt idx="588">
                  <c:v>39.050000000000026</c:v>
                </c:pt>
                <c:pt idx="589">
                  <c:v>39.050000000000026</c:v>
                </c:pt>
                <c:pt idx="590">
                  <c:v>39.050000000000026</c:v>
                </c:pt>
                <c:pt idx="591">
                  <c:v>39.050000000000026</c:v>
                </c:pt>
                <c:pt idx="592">
                  <c:v>39.050000000000026</c:v>
                </c:pt>
                <c:pt idx="593">
                  <c:v>39.050000000000026</c:v>
                </c:pt>
                <c:pt idx="594">
                  <c:v>39.050000000000026</c:v>
                </c:pt>
                <c:pt idx="595">
                  <c:v>15.980000000000025</c:v>
                </c:pt>
                <c:pt idx="596">
                  <c:v>15.980000000000025</c:v>
                </c:pt>
                <c:pt idx="597">
                  <c:v>15.980000000000025</c:v>
                </c:pt>
                <c:pt idx="598">
                  <c:v>15.980000000000025</c:v>
                </c:pt>
                <c:pt idx="599">
                  <c:v>15.980000000000025</c:v>
                </c:pt>
                <c:pt idx="600">
                  <c:v>15.980000000000025</c:v>
                </c:pt>
                <c:pt idx="601">
                  <c:v>15.980000000000025</c:v>
                </c:pt>
                <c:pt idx="602">
                  <c:v>-7.089999999999975</c:v>
                </c:pt>
                <c:pt idx="603">
                  <c:v>-7.089999999999975</c:v>
                </c:pt>
                <c:pt idx="604">
                  <c:v>-7.089999999999975</c:v>
                </c:pt>
                <c:pt idx="605">
                  <c:v>-7.089999999999975</c:v>
                </c:pt>
                <c:pt idx="606">
                  <c:v>-7.089999999999975</c:v>
                </c:pt>
                <c:pt idx="607">
                  <c:v>-7.089999999999975</c:v>
                </c:pt>
                <c:pt idx="608">
                  <c:v>-7.089999999999975</c:v>
                </c:pt>
                <c:pt idx="609">
                  <c:v>69.840000000000032</c:v>
                </c:pt>
                <c:pt idx="610">
                  <c:v>69.840000000000032</c:v>
                </c:pt>
                <c:pt idx="611">
                  <c:v>69.840000000000032</c:v>
                </c:pt>
                <c:pt idx="612">
                  <c:v>69.840000000000032</c:v>
                </c:pt>
                <c:pt idx="613">
                  <c:v>69.840000000000032</c:v>
                </c:pt>
                <c:pt idx="614">
                  <c:v>69.840000000000032</c:v>
                </c:pt>
                <c:pt idx="615">
                  <c:v>69.840000000000032</c:v>
                </c:pt>
                <c:pt idx="616">
                  <c:v>46.770000000000032</c:v>
                </c:pt>
                <c:pt idx="617">
                  <c:v>46.770000000000032</c:v>
                </c:pt>
                <c:pt idx="618">
                  <c:v>46.770000000000032</c:v>
                </c:pt>
                <c:pt idx="619">
                  <c:v>46.770000000000032</c:v>
                </c:pt>
                <c:pt idx="620">
                  <c:v>46.770000000000032</c:v>
                </c:pt>
                <c:pt idx="621">
                  <c:v>46.770000000000032</c:v>
                </c:pt>
                <c:pt idx="622">
                  <c:v>46.770000000000032</c:v>
                </c:pt>
                <c:pt idx="623">
                  <c:v>23.700000000000031</c:v>
                </c:pt>
                <c:pt idx="624">
                  <c:v>23.700000000000031</c:v>
                </c:pt>
                <c:pt idx="625">
                  <c:v>23.700000000000031</c:v>
                </c:pt>
                <c:pt idx="626">
                  <c:v>23.700000000000031</c:v>
                </c:pt>
                <c:pt idx="627">
                  <c:v>23.700000000000031</c:v>
                </c:pt>
                <c:pt idx="628">
                  <c:v>23.700000000000031</c:v>
                </c:pt>
                <c:pt idx="629">
                  <c:v>23.700000000000031</c:v>
                </c:pt>
                <c:pt idx="630">
                  <c:v>0.63000000000003098</c:v>
                </c:pt>
                <c:pt idx="631">
                  <c:v>0.63000000000003098</c:v>
                </c:pt>
                <c:pt idx="632">
                  <c:v>0.63000000000003098</c:v>
                </c:pt>
                <c:pt idx="633">
                  <c:v>0.63000000000003098</c:v>
                </c:pt>
                <c:pt idx="634">
                  <c:v>0.63000000000003098</c:v>
                </c:pt>
                <c:pt idx="635">
                  <c:v>0.63000000000003098</c:v>
                </c:pt>
                <c:pt idx="636">
                  <c:v>0.63000000000003098</c:v>
                </c:pt>
                <c:pt idx="637">
                  <c:v>-22.439999999999969</c:v>
                </c:pt>
                <c:pt idx="638">
                  <c:v>-22.439999999999969</c:v>
                </c:pt>
                <c:pt idx="639">
                  <c:v>77.560000000000031</c:v>
                </c:pt>
                <c:pt idx="640">
                  <c:v>77.560000000000031</c:v>
                </c:pt>
                <c:pt idx="641">
                  <c:v>77.560000000000031</c:v>
                </c:pt>
                <c:pt idx="642">
                  <c:v>77.560000000000031</c:v>
                </c:pt>
                <c:pt idx="643">
                  <c:v>77.560000000000031</c:v>
                </c:pt>
                <c:pt idx="644">
                  <c:v>54.49000000000003</c:v>
                </c:pt>
                <c:pt idx="645">
                  <c:v>54.49000000000003</c:v>
                </c:pt>
                <c:pt idx="646">
                  <c:v>54.49000000000003</c:v>
                </c:pt>
                <c:pt idx="647">
                  <c:v>54.49000000000003</c:v>
                </c:pt>
                <c:pt idx="648">
                  <c:v>54.49000000000003</c:v>
                </c:pt>
                <c:pt idx="649">
                  <c:v>54.49000000000003</c:v>
                </c:pt>
                <c:pt idx="650">
                  <c:v>54.49000000000003</c:v>
                </c:pt>
                <c:pt idx="651">
                  <c:v>31.42000000000003</c:v>
                </c:pt>
                <c:pt idx="652">
                  <c:v>31.42000000000003</c:v>
                </c:pt>
                <c:pt idx="653">
                  <c:v>31.42000000000003</c:v>
                </c:pt>
                <c:pt idx="654">
                  <c:v>31.42000000000003</c:v>
                </c:pt>
                <c:pt idx="655">
                  <c:v>31.42000000000003</c:v>
                </c:pt>
                <c:pt idx="656">
                  <c:v>31.42000000000003</c:v>
                </c:pt>
                <c:pt idx="657">
                  <c:v>31.42000000000003</c:v>
                </c:pt>
                <c:pt idx="658">
                  <c:v>8.3500000000000298</c:v>
                </c:pt>
                <c:pt idx="659">
                  <c:v>8.3500000000000298</c:v>
                </c:pt>
                <c:pt idx="660">
                  <c:v>8.3500000000000298</c:v>
                </c:pt>
                <c:pt idx="661">
                  <c:v>8.3500000000000298</c:v>
                </c:pt>
                <c:pt idx="662">
                  <c:v>8.3500000000000298</c:v>
                </c:pt>
                <c:pt idx="663">
                  <c:v>8.3500000000000298</c:v>
                </c:pt>
                <c:pt idx="664">
                  <c:v>8.3500000000000298</c:v>
                </c:pt>
                <c:pt idx="665">
                  <c:v>-14.71999999999997</c:v>
                </c:pt>
                <c:pt idx="666">
                  <c:v>-14.71999999999997</c:v>
                </c:pt>
                <c:pt idx="667">
                  <c:v>-14.71999999999997</c:v>
                </c:pt>
                <c:pt idx="668">
                  <c:v>-14.71999999999997</c:v>
                </c:pt>
                <c:pt idx="669">
                  <c:v>-14.71999999999997</c:v>
                </c:pt>
                <c:pt idx="670">
                  <c:v>85.28000000000003</c:v>
                </c:pt>
                <c:pt idx="671">
                  <c:v>85.28000000000003</c:v>
                </c:pt>
                <c:pt idx="672">
                  <c:v>62.210000000000029</c:v>
                </c:pt>
                <c:pt idx="673">
                  <c:v>62.210000000000029</c:v>
                </c:pt>
                <c:pt idx="674">
                  <c:v>62.210000000000029</c:v>
                </c:pt>
                <c:pt idx="675">
                  <c:v>62.210000000000029</c:v>
                </c:pt>
                <c:pt idx="676">
                  <c:v>62.210000000000029</c:v>
                </c:pt>
                <c:pt idx="677">
                  <c:v>62.210000000000029</c:v>
                </c:pt>
                <c:pt idx="678">
                  <c:v>62.210000000000029</c:v>
                </c:pt>
                <c:pt idx="679">
                  <c:v>39.140000000000029</c:v>
                </c:pt>
                <c:pt idx="680">
                  <c:v>39.140000000000029</c:v>
                </c:pt>
                <c:pt idx="681">
                  <c:v>39.140000000000029</c:v>
                </c:pt>
                <c:pt idx="682">
                  <c:v>39.140000000000029</c:v>
                </c:pt>
                <c:pt idx="683">
                  <c:v>39.140000000000029</c:v>
                </c:pt>
                <c:pt idx="684">
                  <c:v>39.140000000000029</c:v>
                </c:pt>
                <c:pt idx="685">
                  <c:v>39.140000000000029</c:v>
                </c:pt>
                <c:pt idx="686">
                  <c:v>16.070000000000029</c:v>
                </c:pt>
                <c:pt idx="687">
                  <c:v>16.070000000000029</c:v>
                </c:pt>
                <c:pt idx="688">
                  <c:v>16.070000000000029</c:v>
                </c:pt>
                <c:pt idx="689">
                  <c:v>16.070000000000029</c:v>
                </c:pt>
                <c:pt idx="690">
                  <c:v>16.070000000000029</c:v>
                </c:pt>
                <c:pt idx="691">
                  <c:v>16.070000000000029</c:v>
                </c:pt>
                <c:pt idx="692">
                  <c:v>16.070000000000029</c:v>
                </c:pt>
                <c:pt idx="693">
                  <c:v>-6.9999999999999716</c:v>
                </c:pt>
                <c:pt idx="694">
                  <c:v>-6.9999999999999716</c:v>
                </c:pt>
                <c:pt idx="695">
                  <c:v>-6.9999999999999716</c:v>
                </c:pt>
                <c:pt idx="696">
                  <c:v>-6.9999999999999716</c:v>
                </c:pt>
                <c:pt idx="697">
                  <c:v>-6.9999999999999716</c:v>
                </c:pt>
                <c:pt idx="698">
                  <c:v>-6.9999999999999716</c:v>
                </c:pt>
                <c:pt idx="699">
                  <c:v>-6.9999999999999716</c:v>
                </c:pt>
                <c:pt idx="700">
                  <c:v>69.930000000000035</c:v>
                </c:pt>
                <c:pt idx="701">
                  <c:v>69.930000000000035</c:v>
                </c:pt>
                <c:pt idx="702">
                  <c:v>69.930000000000035</c:v>
                </c:pt>
                <c:pt idx="703">
                  <c:v>69.930000000000035</c:v>
                </c:pt>
                <c:pt idx="704">
                  <c:v>69.930000000000035</c:v>
                </c:pt>
                <c:pt idx="705">
                  <c:v>69.930000000000035</c:v>
                </c:pt>
                <c:pt idx="706">
                  <c:v>69.930000000000035</c:v>
                </c:pt>
                <c:pt idx="707">
                  <c:v>46.860000000000035</c:v>
                </c:pt>
                <c:pt idx="708">
                  <c:v>46.860000000000035</c:v>
                </c:pt>
                <c:pt idx="709">
                  <c:v>46.860000000000035</c:v>
                </c:pt>
                <c:pt idx="710">
                  <c:v>46.860000000000035</c:v>
                </c:pt>
                <c:pt idx="711">
                  <c:v>46.860000000000035</c:v>
                </c:pt>
                <c:pt idx="712">
                  <c:v>46.860000000000035</c:v>
                </c:pt>
                <c:pt idx="713">
                  <c:v>46.860000000000035</c:v>
                </c:pt>
                <c:pt idx="714">
                  <c:v>23.790000000000035</c:v>
                </c:pt>
                <c:pt idx="715">
                  <c:v>23.790000000000035</c:v>
                </c:pt>
                <c:pt idx="716">
                  <c:v>23.790000000000035</c:v>
                </c:pt>
                <c:pt idx="717">
                  <c:v>23.790000000000035</c:v>
                </c:pt>
                <c:pt idx="718">
                  <c:v>23.790000000000035</c:v>
                </c:pt>
                <c:pt idx="719">
                  <c:v>23.790000000000035</c:v>
                </c:pt>
                <c:pt idx="720">
                  <c:v>23.790000000000035</c:v>
                </c:pt>
                <c:pt idx="721">
                  <c:v>0.72000000000003439</c:v>
                </c:pt>
                <c:pt idx="722">
                  <c:v>0.72000000000003439</c:v>
                </c:pt>
                <c:pt idx="723">
                  <c:v>0.72000000000003439</c:v>
                </c:pt>
                <c:pt idx="724">
                  <c:v>0.72000000000003439</c:v>
                </c:pt>
                <c:pt idx="725">
                  <c:v>0.72000000000003439</c:v>
                </c:pt>
                <c:pt idx="726">
                  <c:v>0.72000000000003439</c:v>
                </c:pt>
                <c:pt idx="727">
                  <c:v>0.72000000000003439</c:v>
                </c:pt>
                <c:pt idx="728">
                  <c:v>-22.349999999999966</c:v>
                </c:pt>
                <c:pt idx="729">
                  <c:v>-22.349999999999966</c:v>
                </c:pt>
                <c:pt idx="730">
                  <c:v>-22.349999999999966</c:v>
                </c:pt>
                <c:pt idx="731">
                  <c:v>77.650000000000034</c:v>
                </c:pt>
                <c:pt idx="732">
                  <c:v>77.650000000000034</c:v>
                </c:pt>
                <c:pt idx="733">
                  <c:v>77.650000000000034</c:v>
                </c:pt>
                <c:pt idx="734">
                  <c:v>77.650000000000034</c:v>
                </c:pt>
                <c:pt idx="735">
                  <c:v>54.580000000000034</c:v>
                </c:pt>
                <c:pt idx="736">
                  <c:v>54.580000000000034</c:v>
                </c:pt>
                <c:pt idx="737">
                  <c:v>54.580000000000034</c:v>
                </c:pt>
                <c:pt idx="738">
                  <c:v>54.580000000000034</c:v>
                </c:pt>
                <c:pt idx="739">
                  <c:v>54.580000000000034</c:v>
                </c:pt>
                <c:pt idx="740">
                  <c:v>54.580000000000034</c:v>
                </c:pt>
                <c:pt idx="741">
                  <c:v>54.580000000000034</c:v>
                </c:pt>
                <c:pt idx="742">
                  <c:v>31.510000000000034</c:v>
                </c:pt>
                <c:pt idx="743">
                  <c:v>31.510000000000034</c:v>
                </c:pt>
                <c:pt idx="744">
                  <c:v>31.510000000000034</c:v>
                </c:pt>
                <c:pt idx="745">
                  <c:v>31.510000000000034</c:v>
                </c:pt>
                <c:pt idx="746">
                  <c:v>31.510000000000034</c:v>
                </c:pt>
                <c:pt idx="747">
                  <c:v>31.510000000000034</c:v>
                </c:pt>
                <c:pt idx="748">
                  <c:v>31.510000000000034</c:v>
                </c:pt>
                <c:pt idx="749">
                  <c:v>8.4400000000000333</c:v>
                </c:pt>
                <c:pt idx="750">
                  <c:v>8.4400000000000333</c:v>
                </c:pt>
                <c:pt idx="751">
                  <c:v>8.4400000000000333</c:v>
                </c:pt>
                <c:pt idx="752">
                  <c:v>8.4400000000000333</c:v>
                </c:pt>
                <c:pt idx="753">
                  <c:v>8.4400000000000333</c:v>
                </c:pt>
                <c:pt idx="754">
                  <c:v>8.4400000000000333</c:v>
                </c:pt>
                <c:pt idx="755">
                  <c:v>8.4400000000000333</c:v>
                </c:pt>
                <c:pt idx="756">
                  <c:v>-14.629999999999967</c:v>
                </c:pt>
                <c:pt idx="757">
                  <c:v>-14.629999999999967</c:v>
                </c:pt>
                <c:pt idx="758">
                  <c:v>-14.629999999999967</c:v>
                </c:pt>
                <c:pt idx="759">
                  <c:v>-14.629999999999967</c:v>
                </c:pt>
                <c:pt idx="760">
                  <c:v>-14.629999999999967</c:v>
                </c:pt>
                <c:pt idx="761">
                  <c:v>-14.629999999999967</c:v>
                </c:pt>
                <c:pt idx="762">
                  <c:v>85.370000000000033</c:v>
                </c:pt>
                <c:pt idx="763">
                  <c:v>62.300000000000033</c:v>
                </c:pt>
                <c:pt idx="764">
                  <c:v>62.300000000000033</c:v>
                </c:pt>
                <c:pt idx="765">
                  <c:v>62.300000000000033</c:v>
                </c:pt>
                <c:pt idx="766">
                  <c:v>62.300000000000033</c:v>
                </c:pt>
                <c:pt idx="767">
                  <c:v>62.300000000000033</c:v>
                </c:pt>
                <c:pt idx="768">
                  <c:v>62.300000000000033</c:v>
                </c:pt>
                <c:pt idx="769">
                  <c:v>62.300000000000033</c:v>
                </c:pt>
                <c:pt idx="770">
                  <c:v>39.230000000000032</c:v>
                </c:pt>
                <c:pt idx="771">
                  <c:v>39.230000000000032</c:v>
                </c:pt>
                <c:pt idx="772">
                  <c:v>39.230000000000032</c:v>
                </c:pt>
                <c:pt idx="773">
                  <c:v>39.230000000000032</c:v>
                </c:pt>
                <c:pt idx="774">
                  <c:v>39.230000000000032</c:v>
                </c:pt>
                <c:pt idx="775">
                  <c:v>39.230000000000032</c:v>
                </c:pt>
                <c:pt idx="776">
                  <c:v>39.230000000000032</c:v>
                </c:pt>
                <c:pt idx="777">
                  <c:v>16.160000000000032</c:v>
                </c:pt>
                <c:pt idx="778">
                  <c:v>16.160000000000032</c:v>
                </c:pt>
                <c:pt idx="779">
                  <c:v>16.160000000000032</c:v>
                </c:pt>
                <c:pt idx="780">
                  <c:v>16.160000000000032</c:v>
                </c:pt>
                <c:pt idx="781">
                  <c:v>16.160000000000032</c:v>
                </c:pt>
                <c:pt idx="782">
                  <c:v>16.160000000000032</c:v>
                </c:pt>
                <c:pt idx="783">
                  <c:v>16.160000000000032</c:v>
                </c:pt>
                <c:pt idx="784">
                  <c:v>-6.9099999999999682</c:v>
                </c:pt>
                <c:pt idx="785">
                  <c:v>-6.9099999999999682</c:v>
                </c:pt>
                <c:pt idx="786">
                  <c:v>-6.9099999999999682</c:v>
                </c:pt>
                <c:pt idx="787">
                  <c:v>-6.9099999999999682</c:v>
                </c:pt>
                <c:pt idx="788">
                  <c:v>-6.9099999999999682</c:v>
                </c:pt>
                <c:pt idx="789">
                  <c:v>-6.9099999999999682</c:v>
                </c:pt>
                <c:pt idx="790">
                  <c:v>93.090000000000032</c:v>
                </c:pt>
                <c:pt idx="791">
                  <c:v>70.020000000000039</c:v>
                </c:pt>
                <c:pt idx="792">
                  <c:v>70.020000000000039</c:v>
                </c:pt>
                <c:pt idx="793">
                  <c:v>70.020000000000039</c:v>
                </c:pt>
                <c:pt idx="794">
                  <c:v>70.020000000000039</c:v>
                </c:pt>
                <c:pt idx="795">
                  <c:v>70.020000000000039</c:v>
                </c:pt>
                <c:pt idx="796">
                  <c:v>70.020000000000039</c:v>
                </c:pt>
                <c:pt idx="797">
                  <c:v>70.020000000000039</c:v>
                </c:pt>
                <c:pt idx="798">
                  <c:v>46.950000000000038</c:v>
                </c:pt>
                <c:pt idx="799">
                  <c:v>46.950000000000038</c:v>
                </c:pt>
                <c:pt idx="800">
                  <c:v>46.950000000000038</c:v>
                </c:pt>
                <c:pt idx="801">
                  <c:v>46.950000000000038</c:v>
                </c:pt>
                <c:pt idx="802">
                  <c:v>46.950000000000038</c:v>
                </c:pt>
                <c:pt idx="803">
                  <c:v>46.950000000000038</c:v>
                </c:pt>
                <c:pt idx="804">
                  <c:v>46.950000000000038</c:v>
                </c:pt>
                <c:pt idx="805">
                  <c:v>23.880000000000038</c:v>
                </c:pt>
                <c:pt idx="806">
                  <c:v>23.880000000000038</c:v>
                </c:pt>
                <c:pt idx="807">
                  <c:v>23.880000000000038</c:v>
                </c:pt>
                <c:pt idx="808">
                  <c:v>23.880000000000038</c:v>
                </c:pt>
                <c:pt idx="809">
                  <c:v>23.880000000000038</c:v>
                </c:pt>
                <c:pt idx="810">
                  <c:v>23.880000000000038</c:v>
                </c:pt>
                <c:pt idx="811">
                  <c:v>23.880000000000038</c:v>
                </c:pt>
                <c:pt idx="812">
                  <c:v>0.8100000000000378</c:v>
                </c:pt>
                <c:pt idx="813">
                  <c:v>0.8100000000000378</c:v>
                </c:pt>
                <c:pt idx="814">
                  <c:v>0.8100000000000378</c:v>
                </c:pt>
                <c:pt idx="815">
                  <c:v>0.8100000000000378</c:v>
                </c:pt>
                <c:pt idx="816">
                  <c:v>0.8100000000000378</c:v>
                </c:pt>
                <c:pt idx="817">
                  <c:v>0.8100000000000378</c:v>
                </c:pt>
                <c:pt idx="818">
                  <c:v>0.8100000000000378</c:v>
                </c:pt>
                <c:pt idx="819">
                  <c:v>-22.259999999999962</c:v>
                </c:pt>
                <c:pt idx="820">
                  <c:v>-22.259999999999962</c:v>
                </c:pt>
                <c:pt idx="821">
                  <c:v>77.740000000000038</c:v>
                </c:pt>
                <c:pt idx="822">
                  <c:v>77.740000000000038</c:v>
                </c:pt>
                <c:pt idx="823">
                  <c:v>77.740000000000038</c:v>
                </c:pt>
                <c:pt idx="824">
                  <c:v>77.740000000000038</c:v>
                </c:pt>
                <c:pt idx="825">
                  <c:v>77.740000000000038</c:v>
                </c:pt>
                <c:pt idx="826">
                  <c:v>54.670000000000037</c:v>
                </c:pt>
                <c:pt idx="827">
                  <c:v>54.670000000000037</c:v>
                </c:pt>
                <c:pt idx="828">
                  <c:v>54.670000000000037</c:v>
                </c:pt>
                <c:pt idx="829">
                  <c:v>54.670000000000037</c:v>
                </c:pt>
                <c:pt idx="830">
                  <c:v>54.670000000000037</c:v>
                </c:pt>
                <c:pt idx="831">
                  <c:v>54.670000000000037</c:v>
                </c:pt>
                <c:pt idx="832">
                  <c:v>54.670000000000037</c:v>
                </c:pt>
                <c:pt idx="833">
                  <c:v>31.600000000000037</c:v>
                </c:pt>
                <c:pt idx="834">
                  <c:v>31.600000000000037</c:v>
                </c:pt>
                <c:pt idx="835">
                  <c:v>31.600000000000037</c:v>
                </c:pt>
                <c:pt idx="836">
                  <c:v>31.600000000000037</c:v>
                </c:pt>
                <c:pt idx="837">
                  <c:v>31.600000000000037</c:v>
                </c:pt>
                <c:pt idx="838">
                  <c:v>31.600000000000037</c:v>
                </c:pt>
                <c:pt idx="839">
                  <c:v>31.600000000000037</c:v>
                </c:pt>
                <c:pt idx="840">
                  <c:v>8.5300000000000367</c:v>
                </c:pt>
                <c:pt idx="841">
                  <c:v>8.5300000000000367</c:v>
                </c:pt>
                <c:pt idx="842">
                  <c:v>8.5300000000000367</c:v>
                </c:pt>
                <c:pt idx="843">
                  <c:v>8.5300000000000367</c:v>
                </c:pt>
                <c:pt idx="844">
                  <c:v>8.5300000000000367</c:v>
                </c:pt>
                <c:pt idx="845">
                  <c:v>8.5300000000000367</c:v>
                </c:pt>
                <c:pt idx="846">
                  <c:v>8.5300000000000367</c:v>
                </c:pt>
                <c:pt idx="847">
                  <c:v>-14.539999999999964</c:v>
                </c:pt>
                <c:pt idx="848">
                  <c:v>-14.539999999999964</c:v>
                </c:pt>
                <c:pt idx="849">
                  <c:v>-14.539999999999964</c:v>
                </c:pt>
                <c:pt idx="850">
                  <c:v>-14.539999999999964</c:v>
                </c:pt>
                <c:pt idx="851">
                  <c:v>85.460000000000036</c:v>
                </c:pt>
                <c:pt idx="852">
                  <c:v>85.460000000000036</c:v>
                </c:pt>
                <c:pt idx="853">
                  <c:v>85.460000000000036</c:v>
                </c:pt>
                <c:pt idx="854">
                  <c:v>62.390000000000036</c:v>
                </c:pt>
                <c:pt idx="855">
                  <c:v>62.390000000000036</c:v>
                </c:pt>
                <c:pt idx="856">
                  <c:v>62.390000000000036</c:v>
                </c:pt>
                <c:pt idx="857">
                  <c:v>62.390000000000036</c:v>
                </c:pt>
                <c:pt idx="858">
                  <c:v>62.390000000000036</c:v>
                </c:pt>
                <c:pt idx="859">
                  <c:v>62.390000000000036</c:v>
                </c:pt>
                <c:pt idx="860">
                  <c:v>62.390000000000036</c:v>
                </c:pt>
                <c:pt idx="861">
                  <c:v>39.320000000000036</c:v>
                </c:pt>
                <c:pt idx="862">
                  <c:v>39.320000000000036</c:v>
                </c:pt>
                <c:pt idx="863">
                  <c:v>39.320000000000036</c:v>
                </c:pt>
                <c:pt idx="864">
                  <c:v>39.320000000000036</c:v>
                </c:pt>
                <c:pt idx="865">
                  <c:v>39.320000000000036</c:v>
                </c:pt>
                <c:pt idx="866">
                  <c:v>39.320000000000036</c:v>
                </c:pt>
                <c:pt idx="867">
                  <c:v>39.320000000000036</c:v>
                </c:pt>
                <c:pt idx="868">
                  <c:v>16.250000000000036</c:v>
                </c:pt>
                <c:pt idx="869">
                  <c:v>16.250000000000036</c:v>
                </c:pt>
                <c:pt idx="870">
                  <c:v>16.250000000000036</c:v>
                </c:pt>
                <c:pt idx="871">
                  <c:v>16.250000000000036</c:v>
                </c:pt>
                <c:pt idx="872">
                  <c:v>16.250000000000036</c:v>
                </c:pt>
                <c:pt idx="873">
                  <c:v>16.250000000000036</c:v>
                </c:pt>
                <c:pt idx="874">
                  <c:v>16.250000000000036</c:v>
                </c:pt>
                <c:pt idx="875">
                  <c:v>-6.8199999999999648</c:v>
                </c:pt>
                <c:pt idx="876">
                  <c:v>-6.8199999999999648</c:v>
                </c:pt>
                <c:pt idx="877">
                  <c:v>-6.8199999999999648</c:v>
                </c:pt>
                <c:pt idx="878">
                  <c:v>-6.8199999999999648</c:v>
                </c:pt>
                <c:pt idx="879">
                  <c:v>-6.8199999999999648</c:v>
                </c:pt>
                <c:pt idx="880">
                  <c:v>-6.8199999999999648</c:v>
                </c:pt>
                <c:pt idx="881">
                  <c:v>-6.8199999999999648</c:v>
                </c:pt>
                <c:pt idx="882">
                  <c:v>70.110000000000042</c:v>
                </c:pt>
                <c:pt idx="883">
                  <c:v>70.110000000000042</c:v>
                </c:pt>
                <c:pt idx="884">
                  <c:v>70.110000000000042</c:v>
                </c:pt>
                <c:pt idx="885">
                  <c:v>70.110000000000042</c:v>
                </c:pt>
                <c:pt idx="886">
                  <c:v>70.110000000000042</c:v>
                </c:pt>
                <c:pt idx="887">
                  <c:v>70.110000000000042</c:v>
                </c:pt>
                <c:pt idx="888">
                  <c:v>70.110000000000042</c:v>
                </c:pt>
                <c:pt idx="889">
                  <c:v>47.040000000000042</c:v>
                </c:pt>
                <c:pt idx="890">
                  <c:v>47.040000000000042</c:v>
                </c:pt>
                <c:pt idx="891">
                  <c:v>47.040000000000042</c:v>
                </c:pt>
                <c:pt idx="892">
                  <c:v>47.040000000000042</c:v>
                </c:pt>
                <c:pt idx="893">
                  <c:v>47.040000000000042</c:v>
                </c:pt>
                <c:pt idx="894">
                  <c:v>47.040000000000042</c:v>
                </c:pt>
                <c:pt idx="895">
                  <c:v>47.040000000000042</c:v>
                </c:pt>
                <c:pt idx="896">
                  <c:v>23.970000000000041</c:v>
                </c:pt>
                <c:pt idx="897">
                  <c:v>23.970000000000041</c:v>
                </c:pt>
                <c:pt idx="898">
                  <c:v>23.970000000000041</c:v>
                </c:pt>
                <c:pt idx="899">
                  <c:v>23.970000000000041</c:v>
                </c:pt>
                <c:pt idx="900">
                  <c:v>23.970000000000041</c:v>
                </c:pt>
                <c:pt idx="901">
                  <c:v>23.970000000000041</c:v>
                </c:pt>
                <c:pt idx="902">
                  <c:v>23.970000000000041</c:v>
                </c:pt>
                <c:pt idx="903">
                  <c:v>0.90000000000004121</c:v>
                </c:pt>
                <c:pt idx="904">
                  <c:v>0.90000000000004121</c:v>
                </c:pt>
                <c:pt idx="905">
                  <c:v>0.90000000000004121</c:v>
                </c:pt>
                <c:pt idx="906">
                  <c:v>0.90000000000004121</c:v>
                </c:pt>
                <c:pt idx="907">
                  <c:v>0.90000000000004121</c:v>
                </c:pt>
                <c:pt idx="908">
                  <c:v>0.90000000000004121</c:v>
                </c:pt>
                <c:pt idx="909">
                  <c:v>0.90000000000004121</c:v>
                </c:pt>
                <c:pt idx="910">
                  <c:v>-22.169999999999959</c:v>
                </c:pt>
                <c:pt idx="911">
                  <c:v>-22.169999999999959</c:v>
                </c:pt>
                <c:pt idx="912">
                  <c:v>77.830000000000041</c:v>
                </c:pt>
                <c:pt idx="913">
                  <c:v>77.830000000000041</c:v>
                </c:pt>
                <c:pt idx="914">
                  <c:v>77.830000000000041</c:v>
                </c:pt>
                <c:pt idx="915">
                  <c:v>77.830000000000041</c:v>
                </c:pt>
                <c:pt idx="916">
                  <c:v>77.830000000000041</c:v>
                </c:pt>
                <c:pt idx="917">
                  <c:v>54.760000000000041</c:v>
                </c:pt>
                <c:pt idx="918">
                  <c:v>54.760000000000041</c:v>
                </c:pt>
                <c:pt idx="919">
                  <c:v>54.760000000000041</c:v>
                </c:pt>
                <c:pt idx="920">
                  <c:v>54.760000000000041</c:v>
                </c:pt>
                <c:pt idx="921">
                  <c:v>54.760000000000041</c:v>
                </c:pt>
                <c:pt idx="922">
                  <c:v>54.760000000000041</c:v>
                </c:pt>
                <c:pt idx="923">
                  <c:v>54.760000000000041</c:v>
                </c:pt>
                <c:pt idx="924">
                  <c:v>31.69000000000004</c:v>
                </c:pt>
                <c:pt idx="925">
                  <c:v>31.69000000000004</c:v>
                </c:pt>
                <c:pt idx="926">
                  <c:v>31.69000000000004</c:v>
                </c:pt>
                <c:pt idx="927">
                  <c:v>31.69000000000004</c:v>
                </c:pt>
                <c:pt idx="928">
                  <c:v>31.69000000000004</c:v>
                </c:pt>
                <c:pt idx="929">
                  <c:v>31.69000000000004</c:v>
                </c:pt>
                <c:pt idx="930">
                  <c:v>31.69000000000004</c:v>
                </c:pt>
                <c:pt idx="931">
                  <c:v>8.6200000000000401</c:v>
                </c:pt>
                <c:pt idx="932">
                  <c:v>8.6200000000000401</c:v>
                </c:pt>
                <c:pt idx="933">
                  <c:v>8.6200000000000401</c:v>
                </c:pt>
                <c:pt idx="934">
                  <c:v>8.6200000000000401</c:v>
                </c:pt>
                <c:pt idx="935">
                  <c:v>8.6200000000000401</c:v>
                </c:pt>
                <c:pt idx="936">
                  <c:v>8.6200000000000401</c:v>
                </c:pt>
                <c:pt idx="937">
                  <c:v>8.6200000000000401</c:v>
                </c:pt>
                <c:pt idx="938">
                  <c:v>-14.44999999999996</c:v>
                </c:pt>
                <c:pt idx="939">
                  <c:v>-14.44999999999996</c:v>
                </c:pt>
                <c:pt idx="940">
                  <c:v>-14.44999999999996</c:v>
                </c:pt>
                <c:pt idx="941">
                  <c:v>-14.44999999999996</c:v>
                </c:pt>
                <c:pt idx="942">
                  <c:v>-14.44999999999996</c:v>
                </c:pt>
                <c:pt idx="943">
                  <c:v>85.55000000000004</c:v>
                </c:pt>
                <c:pt idx="944">
                  <c:v>85.55000000000004</c:v>
                </c:pt>
                <c:pt idx="945">
                  <c:v>62.48000000000004</c:v>
                </c:pt>
                <c:pt idx="946">
                  <c:v>62.48000000000004</c:v>
                </c:pt>
                <c:pt idx="947">
                  <c:v>62.48000000000004</c:v>
                </c:pt>
                <c:pt idx="948">
                  <c:v>62.48000000000004</c:v>
                </c:pt>
                <c:pt idx="949">
                  <c:v>62.48000000000004</c:v>
                </c:pt>
                <c:pt idx="950">
                  <c:v>62.48000000000004</c:v>
                </c:pt>
                <c:pt idx="951">
                  <c:v>62.48000000000004</c:v>
                </c:pt>
                <c:pt idx="952">
                  <c:v>39.410000000000039</c:v>
                </c:pt>
                <c:pt idx="953">
                  <c:v>39.410000000000039</c:v>
                </c:pt>
                <c:pt idx="954">
                  <c:v>39.410000000000039</c:v>
                </c:pt>
                <c:pt idx="955">
                  <c:v>39.410000000000039</c:v>
                </c:pt>
                <c:pt idx="956">
                  <c:v>39.410000000000039</c:v>
                </c:pt>
                <c:pt idx="957">
                  <c:v>39.410000000000039</c:v>
                </c:pt>
                <c:pt idx="958">
                  <c:v>39.410000000000039</c:v>
                </c:pt>
                <c:pt idx="959">
                  <c:v>16.340000000000039</c:v>
                </c:pt>
                <c:pt idx="960">
                  <c:v>16.340000000000039</c:v>
                </c:pt>
                <c:pt idx="961">
                  <c:v>16.340000000000039</c:v>
                </c:pt>
                <c:pt idx="962">
                  <c:v>16.340000000000039</c:v>
                </c:pt>
                <c:pt idx="963">
                  <c:v>16.340000000000039</c:v>
                </c:pt>
                <c:pt idx="964">
                  <c:v>16.340000000000039</c:v>
                </c:pt>
                <c:pt idx="965">
                  <c:v>16.340000000000039</c:v>
                </c:pt>
                <c:pt idx="966">
                  <c:v>-6.7299999999999613</c:v>
                </c:pt>
                <c:pt idx="967">
                  <c:v>-6.7299999999999613</c:v>
                </c:pt>
                <c:pt idx="968">
                  <c:v>-6.7299999999999613</c:v>
                </c:pt>
                <c:pt idx="969">
                  <c:v>-6.7299999999999613</c:v>
                </c:pt>
                <c:pt idx="970">
                  <c:v>-6.7299999999999613</c:v>
                </c:pt>
                <c:pt idx="971">
                  <c:v>-6.7299999999999613</c:v>
                </c:pt>
                <c:pt idx="972">
                  <c:v>-6.7299999999999613</c:v>
                </c:pt>
                <c:pt idx="973">
                  <c:v>-29.799999999999962</c:v>
                </c:pt>
                <c:pt idx="974">
                  <c:v>70.200000000000045</c:v>
                </c:pt>
                <c:pt idx="975">
                  <c:v>70.200000000000045</c:v>
                </c:pt>
                <c:pt idx="976">
                  <c:v>70.200000000000045</c:v>
                </c:pt>
                <c:pt idx="977">
                  <c:v>70.200000000000045</c:v>
                </c:pt>
                <c:pt idx="978">
                  <c:v>70.200000000000045</c:v>
                </c:pt>
                <c:pt idx="979">
                  <c:v>70.200000000000045</c:v>
                </c:pt>
                <c:pt idx="980">
                  <c:v>47.130000000000045</c:v>
                </c:pt>
                <c:pt idx="981">
                  <c:v>47.130000000000045</c:v>
                </c:pt>
                <c:pt idx="982">
                  <c:v>47.130000000000045</c:v>
                </c:pt>
                <c:pt idx="983">
                  <c:v>47.130000000000045</c:v>
                </c:pt>
                <c:pt idx="984">
                  <c:v>47.130000000000045</c:v>
                </c:pt>
                <c:pt idx="985">
                  <c:v>47.130000000000045</c:v>
                </c:pt>
                <c:pt idx="986">
                  <c:v>47.130000000000045</c:v>
                </c:pt>
                <c:pt idx="987">
                  <c:v>24.060000000000045</c:v>
                </c:pt>
                <c:pt idx="988">
                  <c:v>24.060000000000045</c:v>
                </c:pt>
                <c:pt idx="989">
                  <c:v>24.060000000000045</c:v>
                </c:pt>
                <c:pt idx="990">
                  <c:v>24.060000000000045</c:v>
                </c:pt>
                <c:pt idx="991">
                  <c:v>24.060000000000045</c:v>
                </c:pt>
                <c:pt idx="992">
                  <c:v>24.060000000000045</c:v>
                </c:pt>
                <c:pt idx="993">
                  <c:v>24.060000000000045</c:v>
                </c:pt>
                <c:pt idx="994">
                  <c:v>0.99000000000004462</c:v>
                </c:pt>
                <c:pt idx="995">
                  <c:v>0.99000000000004462</c:v>
                </c:pt>
                <c:pt idx="996">
                  <c:v>0.99000000000004462</c:v>
                </c:pt>
                <c:pt idx="997">
                  <c:v>0.99000000000004462</c:v>
                </c:pt>
                <c:pt idx="998">
                  <c:v>0.99000000000004462</c:v>
                </c:pt>
                <c:pt idx="999">
                  <c:v>0.99000000000004462</c:v>
                </c:pt>
                <c:pt idx="1000">
                  <c:v>0.99000000000004462</c:v>
                </c:pt>
                <c:pt idx="1001">
                  <c:v>-22.079999999999956</c:v>
                </c:pt>
                <c:pt idx="1002">
                  <c:v>-22.079999999999956</c:v>
                </c:pt>
                <c:pt idx="1003">
                  <c:v>-22.079999999999956</c:v>
                </c:pt>
                <c:pt idx="1004">
                  <c:v>77.920000000000044</c:v>
                </c:pt>
                <c:pt idx="1005">
                  <c:v>77.920000000000044</c:v>
                </c:pt>
                <c:pt idx="1006">
                  <c:v>77.920000000000044</c:v>
                </c:pt>
                <c:pt idx="1007">
                  <c:v>77.920000000000044</c:v>
                </c:pt>
                <c:pt idx="1008">
                  <c:v>54.850000000000044</c:v>
                </c:pt>
                <c:pt idx="1009">
                  <c:v>54.850000000000044</c:v>
                </c:pt>
                <c:pt idx="1010">
                  <c:v>54.850000000000044</c:v>
                </c:pt>
                <c:pt idx="1011">
                  <c:v>54.850000000000044</c:v>
                </c:pt>
                <c:pt idx="1012">
                  <c:v>54.850000000000044</c:v>
                </c:pt>
                <c:pt idx="1013">
                  <c:v>54.850000000000044</c:v>
                </c:pt>
                <c:pt idx="1014">
                  <c:v>54.850000000000044</c:v>
                </c:pt>
                <c:pt idx="1015">
                  <c:v>31.780000000000044</c:v>
                </c:pt>
                <c:pt idx="1016">
                  <c:v>31.780000000000044</c:v>
                </c:pt>
                <c:pt idx="1017">
                  <c:v>31.780000000000044</c:v>
                </c:pt>
                <c:pt idx="1018">
                  <c:v>31.780000000000044</c:v>
                </c:pt>
                <c:pt idx="1019">
                  <c:v>31.780000000000044</c:v>
                </c:pt>
                <c:pt idx="1020">
                  <c:v>31.780000000000044</c:v>
                </c:pt>
                <c:pt idx="1021">
                  <c:v>31.780000000000044</c:v>
                </c:pt>
                <c:pt idx="1022">
                  <c:v>8.7100000000000435</c:v>
                </c:pt>
                <c:pt idx="1023">
                  <c:v>8.7100000000000435</c:v>
                </c:pt>
                <c:pt idx="1024">
                  <c:v>8.7100000000000435</c:v>
                </c:pt>
                <c:pt idx="1025">
                  <c:v>8.7100000000000435</c:v>
                </c:pt>
                <c:pt idx="1026">
                  <c:v>8.7100000000000435</c:v>
                </c:pt>
                <c:pt idx="1027">
                  <c:v>8.7100000000000435</c:v>
                </c:pt>
                <c:pt idx="1028">
                  <c:v>8.7100000000000435</c:v>
                </c:pt>
                <c:pt idx="1029">
                  <c:v>-14.359999999999957</c:v>
                </c:pt>
                <c:pt idx="1030">
                  <c:v>-14.359999999999957</c:v>
                </c:pt>
                <c:pt idx="1031">
                  <c:v>-14.359999999999957</c:v>
                </c:pt>
                <c:pt idx="1032">
                  <c:v>-14.359999999999957</c:v>
                </c:pt>
                <c:pt idx="1033">
                  <c:v>-14.359999999999957</c:v>
                </c:pt>
                <c:pt idx="1034">
                  <c:v>-14.359999999999957</c:v>
                </c:pt>
                <c:pt idx="1035">
                  <c:v>85.640000000000043</c:v>
                </c:pt>
                <c:pt idx="1036">
                  <c:v>62.570000000000043</c:v>
                </c:pt>
                <c:pt idx="1037">
                  <c:v>62.570000000000043</c:v>
                </c:pt>
                <c:pt idx="1038">
                  <c:v>62.570000000000043</c:v>
                </c:pt>
                <c:pt idx="1039">
                  <c:v>62.570000000000043</c:v>
                </c:pt>
                <c:pt idx="1040">
                  <c:v>62.570000000000043</c:v>
                </c:pt>
                <c:pt idx="1041">
                  <c:v>62.570000000000043</c:v>
                </c:pt>
                <c:pt idx="1042">
                  <c:v>62.570000000000043</c:v>
                </c:pt>
                <c:pt idx="1043">
                  <c:v>39.500000000000043</c:v>
                </c:pt>
                <c:pt idx="1044">
                  <c:v>39.500000000000043</c:v>
                </c:pt>
                <c:pt idx="1045">
                  <c:v>39.500000000000043</c:v>
                </c:pt>
                <c:pt idx="1046">
                  <c:v>39.500000000000043</c:v>
                </c:pt>
                <c:pt idx="1047">
                  <c:v>39.500000000000043</c:v>
                </c:pt>
                <c:pt idx="1048">
                  <c:v>39.500000000000043</c:v>
                </c:pt>
                <c:pt idx="1049">
                  <c:v>39.500000000000043</c:v>
                </c:pt>
                <c:pt idx="1050">
                  <c:v>16.430000000000042</c:v>
                </c:pt>
                <c:pt idx="1051">
                  <c:v>16.430000000000042</c:v>
                </c:pt>
                <c:pt idx="1052">
                  <c:v>16.430000000000042</c:v>
                </c:pt>
                <c:pt idx="1053">
                  <c:v>16.430000000000042</c:v>
                </c:pt>
                <c:pt idx="1054">
                  <c:v>16.430000000000042</c:v>
                </c:pt>
                <c:pt idx="1055">
                  <c:v>16.430000000000042</c:v>
                </c:pt>
                <c:pt idx="1056">
                  <c:v>16.430000000000042</c:v>
                </c:pt>
                <c:pt idx="1057">
                  <c:v>-6.6399999999999579</c:v>
                </c:pt>
                <c:pt idx="1058">
                  <c:v>-6.6399999999999579</c:v>
                </c:pt>
                <c:pt idx="1059">
                  <c:v>-6.6399999999999579</c:v>
                </c:pt>
                <c:pt idx="1060">
                  <c:v>-6.6399999999999579</c:v>
                </c:pt>
                <c:pt idx="1061">
                  <c:v>-6.6399999999999579</c:v>
                </c:pt>
                <c:pt idx="1062">
                  <c:v>-6.6399999999999579</c:v>
                </c:pt>
                <c:pt idx="1063">
                  <c:v>-6.6399999999999579</c:v>
                </c:pt>
                <c:pt idx="1064">
                  <c:v>-29.709999999999958</c:v>
                </c:pt>
                <c:pt idx="1065">
                  <c:v>70.290000000000049</c:v>
                </c:pt>
                <c:pt idx="1066">
                  <c:v>70.290000000000049</c:v>
                </c:pt>
                <c:pt idx="1067">
                  <c:v>70.290000000000049</c:v>
                </c:pt>
                <c:pt idx="1068">
                  <c:v>70.290000000000049</c:v>
                </c:pt>
                <c:pt idx="1069">
                  <c:v>70.290000000000049</c:v>
                </c:pt>
                <c:pt idx="1070">
                  <c:v>70.290000000000049</c:v>
                </c:pt>
                <c:pt idx="1071">
                  <c:v>47.220000000000049</c:v>
                </c:pt>
                <c:pt idx="1072">
                  <c:v>47.220000000000049</c:v>
                </c:pt>
                <c:pt idx="1073">
                  <c:v>47.220000000000049</c:v>
                </c:pt>
                <c:pt idx="1074">
                  <c:v>47.220000000000049</c:v>
                </c:pt>
                <c:pt idx="1075">
                  <c:v>47.220000000000049</c:v>
                </c:pt>
                <c:pt idx="1076">
                  <c:v>47.220000000000049</c:v>
                </c:pt>
                <c:pt idx="1077">
                  <c:v>47.220000000000049</c:v>
                </c:pt>
                <c:pt idx="1078">
                  <c:v>24.150000000000048</c:v>
                </c:pt>
                <c:pt idx="1079">
                  <c:v>24.150000000000048</c:v>
                </c:pt>
                <c:pt idx="1080">
                  <c:v>24.150000000000048</c:v>
                </c:pt>
                <c:pt idx="1081">
                  <c:v>24.150000000000048</c:v>
                </c:pt>
                <c:pt idx="1082">
                  <c:v>24.150000000000048</c:v>
                </c:pt>
                <c:pt idx="1083">
                  <c:v>24.150000000000048</c:v>
                </c:pt>
                <c:pt idx="1084">
                  <c:v>24.150000000000048</c:v>
                </c:pt>
                <c:pt idx="1085">
                  <c:v>1.080000000000048</c:v>
                </c:pt>
                <c:pt idx="1086">
                  <c:v>1.080000000000048</c:v>
                </c:pt>
                <c:pt idx="1087">
                  <c:v>1.080000000000048</c:v>
                </c:pt>
                <c:pt idx="1088">
                  <c:v>1.080000000000048</c:v>
                </c:pt>
                <c:pt idx="1089">
                  <c:v>1.080000000000048</c:v>
                </c:pt>
                <c:pt idx="1090">
                  <c:v>1.080000000000048</c:v>
                </c:pt>
                <c:pt idx="1091">
                  <c:v>1.080000000000048</c:v>
                </c:pt>
                <c:pt idx="1092">
                  <c:v>-21.989999999999952</c:v>
                </c:pt>
                <c:pt idx="1093">
                  <c:v>-21.989999999999952</c:v>
                </c:pt>
                <c:pt idx="1094">
                  <c:v>-21.989999999999952</c:v>
                </c:pt>
                <c:pt idx="1095">
                  <c:v>-21.989999999999952</c:v>
                </c:pt>
              </c:numCache>
            </c:numRef>
          </c:val>
          <c:extLst>
            <c:ext xmlns:c16="http://schemas.microsoft.com/office/drawing/2014/chart" uri="{C3380CC4-5D6E-409C-BE32-E72D297353CC}">
              <c16:uniqueId val="{00000000-8BA0-4AC1-81AF-5476905632E0}"/>
            </c:ext>
          </c:extLst>
        </c:ser>
        <c:dLbls>
          <c:showLegendKey val="0"/>
          <c:showVal val="0"/>
          <c:showCatName val="0"/>
          <c:showSerName val="0"/>
          <c:showPercent val="0"/>
          <c:showBubbleSize val="0"/>
        </c:dLbls>
        <c:gapWidth val="150"/>
        <c:axId val="1118423104"/>
        <c:axId val="1610397248"/>
      </c:barChart>
      <c:dateAx>
        <c:axId val="1118423104"/>
        <c:scaling>
          <c:orientation val="minMax"/>
        </c:scaling>
        <c:delete val="0"/>
        <c:axPos val="b"/>
        <c:numFmt formatCode="d\-mmm"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anose="00000500000000000000" pitchFamily="50" charset="0"/>
                <a:ea typeface="+mn-ea"/>
                <a:cs typeface="+mn-cs"/>
              </a:defRPr>
            </a:pPr>
            <a:endParaRPr lang="en-US"/>
          </a:p>
        </c:txPr>
        <c:crossAx val="1610397248"/>
        <c:crosses val="autoZero"/>
        <c:auto val="1"/>
        <c:lblOffset val="100"/>
        <c:baseTimeUnit val="days"/>
      </c:dateAx>
      <c:valAx>
        <c:axId val="1610397248"/>
        <c:scaling>
          <c:orientation val="minMax"/>
        </c:scaling>
        <c:delete val="1"/>
        <c:axPos val="l"/>
        <c:numFmt formatCode="0.00_);[Red]\(0.00\)" sourceLinked="1"/>
        <c:majorTickMark val="none"/>
        <c:minorTickMark val="none"/>
        <c:tickLblPos val="nextTo"/>
        <c:crossAx val="1118423104"/>
        <c:crosses val="autoZero"/>
        <c:crossBetween val="between"/>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0.03195</cdr:x>
      <cdr:y>0.23651</cdr:y>
    </cdr:from>
    <cdr:to>
      <cdr:x>0.95774</cdr:x>
      <cdr:y>0.23651</cdr:y>
    </cdr:to>
    <cdr:cxnSp macro="">
      <cdr:nvCxnSpPr>
        <cdr:cNvPr id="3" name="Straight Connector 2">
          <a:extLst xmlns:a="http://schemas.openxmlformats.org/drawingml/2006/main">
            <a:ext uri="{FF2B5EF4-FFF2-40B4-BE49-F238E27FC236}">
              <a16:creationId xmlns:a16="http://schemas.microsoft.com/office/drawing/2014/main" id="{58AABE8C-BA65-47DE-84C7-BE11CD16B76D}"/>
            </a:ext>
          </a:extLst>
        </cdr:cNvPr>
        <cdr:cNvCxnSpPr/>
      </cdr:nvCxnSpPr>
      <cdr:spPr>
        <a:xfrm xmlns:a="http://schemas.openxmlformats.org/drawingml/2006/main">
          <a:off x="283397" y="464453"/>
          <a:ext cx="8211446" cy="0"/>
        </a:xfrm>
        <a:prstGeom xmlns:a="http://schemas.openxmlformats.org/drawingml/2006/main" prst="line">
          <a:avLst/>
        </a:prstGeom>
        <a:ln xmlns:a="http://schemas.openxmlformats.org/drawingml/2006/main">
          <a:solidFill>
            <a:srgbClr val="4D858D"/>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AB6F0A-F4C9-4F53-9AF8-23AE96D97B75}"/>
              </a:ext>
            </a:extLst>
          </p:cNvPr>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EC0BBB41-18BC-43C2-A0DC-D0959FF30D98}"/>
              </a:ext>
            </a:extLst>
          </p:cNvPr>
          <p:cNvSpPr>
            <a:spLocks noGrp="1"/>
          </p:cNvSpPr>
          <p:nvPr>
            <p:ph type="dt" sz="quarter" idx="1"/>
          </p:nvPr>
        </p:nvSpPr>
        <p:spPr>
          <a:xfrm>
            <a:off x="3856737" y="1"/>
            <a:ext cx="2950475" cy="498773"/>
          </a:xfrm>
          <a:prstGeom prst="rect">
            <a:avLst/>
          </a:prstGeom>
        </p:spPr>
        <p:txBody>
          <a:bodyPr vert="horz" lIns="91440" tIns="45720" rIns="91440" bIns="45720" rtlCol="0"/>
          <a:lstStyle>
            <a:lvl1pPr algn="r">
              <a:defRPr sz="1200"/>
            </a:lvl1pPr>
          </a:lstStyle>
          <a:p>
            <a:fld id="{56275018-F709-47C0-80A6-7BE2CC237135}" type="datetimeFigureOut">
              <a:rPr lang="en-GB" smtClean="0"/>
              <a:t>20/01/2020</a:t>
            </a:fld>
            <a:endParaRPr lang="en-GB" dirty="0"/>
          </a:p>
        </p:txBody>
      </p:sp>
      <p:sp>
        <p:nvSpPr>
          <p:cNvPr id="4" name="Footer Placeholder 3">
            <a:extLst>
              <a:ext uri="{FF2B5EF4-FFF2-40B4-BE49-F238E27FC236}">
                <a16:creationId xmlns:a16="http://schemas.microsoft.com/office/drawing/2014/main" id="{D1C57E76-EEE8-47EE-9C0C-33CCE36691B3}"/>
              </a:ext>
            </a:extLst>
          </p:cNvPr>
          <p:cNvSpPr>
            <a:spLocks noGrp="1"/>
          </p:cNvSpPr>
          <p:nvPr>
            <p:ph type="ftr" sz="quarter" idx="2"/>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95C39801-27EE-49E8-8E6F-01AF6EAB22E5}"/>
              </a:ext>
            </a:extLst>
          </p:cNvPr>
          <p:cNvSpPr>
            <a:spLocks noGrp="1"/>
          </p:cNvSpPr>
          <p:nvPr>
            <p:ph type="sldNum" sz="quarter" idx="3"/>
          </p:nvPr>
        </p:nvSpPr>
        <p:spPr>
          <a:xfrm>
            <a:off x="3856737" y="9442155"/>
            <a:ext cx="2950475" cy="498772"/>
          </a:xfrm>
          <a:prstGeom prst="rect">
            <a:avLst/>
          </a:prstGeom>
        </p:spPr>
        <p:txBody>
          <a:bodyPr vert="horz" lIns="91440" tIns="45720" rIns="91440" bIns="45720" rtlCol="0" anchor="b"/>
          <a:lstStyle>
            <a:lvl1pPr algn="r">
              <a:defRPr sz="1200"/>
            </a:lvl1pPr>
          </a:lstStyle>
          <a:p>
            <a:fld id="{07B36E9A-C494-4ADD-A7E8-6AFC8B6258B8}" type="slidenum">
              <a:rPr lang="en-GB" smtClean="0"/>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6737" y="1"/>
            <a:ext cx="2950475" cy="498773"/>
          </a:xfrm>
          <a:prstGeom prst="rect">
            <a:avLst/>
          </a:prstGeom>
        </p:spPr>
        <p:txBody>
          <a:bodyPr vert="horz" lIns="91440" tIns="45720" rIns="91440" bIns="45720" rtlCol="0"/>
          <a:lstStyle>
            <a:lvl1pPr algn="r">
              <a:defRPr sz="1200"/>
            </a:lvl1pPr>
          </a:lstStyle>
          <a:p>
            <a:fld id="{667AD65F-7D3E-4DDC-A2E0-B90DC7F84CAD}" type="datetimeFigureOut">
              <a:rPr lang="en-GB" smtClean="0"/>
              <a:t>20/01/2020</a:t>
            </a:fld>
            <a:endParaRPr lang="en-GB" dirty="0"/>
          </a:p>
        </p:txBody>
      </p:sp>
      <p:sp>
        <p:nvSpPr>
          <p:cNvPr id="4" name="Slide Image Placeholder 3"/>
          <p:cNvSpPr>
            <a:spLocks noGrp="1" noRot="1" noChangeAspect="1"/>
          </p:cNvSpPr>
          <p:nvPr>
            <p:ph type="sldImg" idx="2"/>
          </p:nvPr>
        </p:nvSpPr>
        <p:spPr>
          <a:xfrm>
            <a:off x="1168400" y="1243013"/>
            <a:ext cx="4471988" cy="3354387"/>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0879" y="4784071"/>
            <a:ext cx="5447030" cy="391423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6737" y="9442155"/>
            <a:ext cx="2950475" cy="498772"/>
          </a:xfrm>
          <a:prstGeom prst="rect">
            <a:avLst/>
          </a:prstGeom>
        </p:spPr>
        <p:txBody>
          <a:bodyPr vert="horz" lIns="91440" tIns="45720" rIns="91440" bIns="45720" rtlCol="0" anchor="b"/>
          <a:lstStyle>
            <a:lvl1pPr algn="r">
              <a:defRPr sz="1200"/>
            </a:lvl1pPr>
          </a:lstStyle>
          <a:p>
            <a:fld id="{A1EA93DF-5207-4EFC-B35D-3E311FF41A1C}" type="slidenum">
              <a:rPr lang="en-GB" smtClean="0"/>
              <a:t>‹#›</a:t>
            </a:fld>
            <a:endParaRPr lang="en-GB" dirty="0"/>
          </a:p>
        </p:txBody>
      </p:sp>
    </p:spTree>
    <p:extLst>
      <p:ext uri="{BB962C8B-B14F-4D97-AF65-F5344CB8AC3E}">
        <p14:creationId xmlns:p14="http://schemas.microsoft.com/office/powerpoint/2010/main" val="57935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E5E4E0-B916-4BEB-840B-2E09FC723F0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1975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53E5E9B-D886-45BC-95BD-9EA4F7A83A5E}"/>
              </a:ext>
            </a:extLst>
          </p:cNvPr>
          <p:cNvSpPr>
            <a:spLocks noGrp="1"/>
          </p:cNvSpPr>
          <p:nvPr>
            <p:ph type="pic" sz="quarter" idx="13"/>
          </p:nvPr>
        </p:nvSpPr>
        <p:spPr>
          <a:xfrm>
            <a:off x="5064192"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
        <p:nvSpPr>
          <p:cNvPr id="2" name="Title 1">
            <a:extLst>
              <a:ext uri="{FF2B5EF4-FFF2-40B4-BE49-F238E27FC236}">
                <a16:creationId xmlns:a16="http://schemas.microsoft.com/office/drawing/2014/main" id="{8382D4DA-C1DB-4A6B-B459-A5A4C3E1DC02}"/>
              </a:ext>
            </a:extLst>
          </p:cNvPr>
          <p:cNvSpPr>
            <a:spLocks noGrp="1"/>
          </p:cNvSpPr>
          <p:nvPr>
            <p:ph type="ctrTitle" hasCustomPrompt="1"/>
          </p:nvPr>
        </p:nvSpPr>
        <p:spPr>
          <a:xfrm>
            <a:off x="358774" y="294420"/>
            <a:ext cx="4687591"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3" name="Subtitle 2">
            <a:extLst>
              <a:ext uri="{FF2B5EF4-FFF2-40B4-BE49-F238E27FC236}">
                <a16:creationId xmlns:a16="http://schemas.microsoft.com/office/drawing/2014/main" id="{9DD5FD9C-9222-49E5-98C9-37E5C23E53B2}"/>
              </a:ext>
            </a:extLst>
          </p:cNvPr>
          <p:cNvSpPr>
            <a:spLocks noGrp="1"/>
          </p:cNvSpPr>
          <p:nvPr>
            <p:ph type="subTitle" idx="1" hasCustomPrompt="1"/>
          </p:nvPr>
        </p:nvSpPr>
        <p:spPr>
          <a:xfrm>
            <a:off x="358776" y="2709539"/>
            <a:ext cx="4687590"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76" name="Text Placeholder 75">
            <a:extLst>
              <a:ext uri="{FF2B5EF4-FFF2-40B4-BE49-F238E27FC236}">
                <a16:creationId xmlns:a16="http://schemas.microsoft.com/office/drawing/2014/main" id="{22565E27-3BA8-425F-9F31-792B367318F9}"/>
              </a:ext>
            </a:extLst>
          </p:cNvPr>
          <p:cNvSpPr>
            <a:spLocks noGrp="1"/>
          </p:cNvSpPr>
          <p:nvPr>
            <p:ph type="body" sz="quarter" idx="10" hasCustomPrompt="1"/>
          </p:nvPr>
        </p:nvSpPr>
        <p:spPr>
          <a:xfrm>
            <a:off x="358775" y="3442695"/>
            <a:ext cx="4703555"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94" name="Straight Connector 93">
            <a:extLst>
              <a:ext uri="{FF2B5EF4-FFF2-40B4-BE49-F238E27FC236}">
                <a16:creationId xmlns:a16="http://schemas.microsoft.com/office/drawing/2014/main" id="{78F59616-C32C-4CAF-9EB2-CE4D58AB5FC5}"/>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Picture Placeholder 43">
            <a:extLst>
              <a:ext uri="{FF2B5EF4-FFF2-40B4-BE49-F238E27FC236}">
                <a16:creationId xmlns:a16="http://schemas.microsoft.com/office/drawing/2014/main" id="{8FC2DAFE-01E6-4E96-8A74-D839C9FE36DE}"/>
              </a:ext>
            </a:extLst>
          </p:cNvPr>
          <p:cNvSpPr>
            <a:spLocks noGrp="1"/>
          </p:cNvSpPr>
          <p:nvPr>
            <p:ph type="pic" sz="quarter" idx="11"/>
          </p:nvPr>
        </p:nvSpPr>
        <p:spPr>
          <a:xfrm>
            <a:off x="5064192"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5" name="Picture Placeholder 44">
            <a:extLst>
              <a:ext uri="{FF2B5EF4-FFF2-40B4-BE49-F238E27FC236}">
                <a16:creationId xmlns:a16="http://schemas.microsoft.com/office/drawing/2014/main" id="{80F58609-D4E1-4D30-A987-463F020D7A27}"/>
              </a:ext>
            </a:extLst>
          </p:cNvPr>
          <p:cNvSpPr>
            <a:spLocks noGrp="1"/>
          </p:cNvSpPr>
          <p:nvPr>
            <p:ph type="pic" sz="quarter" idx="12"/>
          </p:nvPr>
        </p:nvSpPr>
        <p:spPr>
          <a:xfrm>
            <a:off x="7012940"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77" name="Picture Placeholder 76">
            <a:extLst>
              <a:ext uri="{FF2B5EF4-FFF2-40B4-BE49-F238E27FC236}">
                <a16:creationId xmlns:a16="http://schemas.microsoft.com/office/drawing/2014/main" id="{542B6375-0524-4345-96C0-9881233C43DB}"/>
              </a:ext>
            </a:extLst>
          </p:cNvPr>
          <p:cNvSpPr>
            <a:spLocks noGrp="1"/>
          </p:cNvSpPr>
          <p:nvPr>
            <p:ph type="pic" sz="quarter" idx="14"/>
          </p:nvPr>
        </p:nvSpPr>
        <p:spPr>
          <a:xfrm>
            <a:off x="7008225"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Tree>
    <p:extLst>
      <p:ext uri="{BB962C8B-B14F-4D97-AF65-F5344CB8AC3E}">
        <p14:creationId xmlns:p14="http://schemas.microsoft.com/office/powerpoint/2010/main" val="2694708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6023181" y="402623"/>
            <a:ext cx="2762043"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2" name="Title 1">
            <a:extLst>
              <a:ext uri="{FF2B5EF4-FFF2-40B4-BE49-F238E27FC236}">
                <a16:creationId xmlns:a16="http://schemas.microsoft.com/office/drawing/2014/main" id="{68AE987A-6895-44B6-8C71-ED622A6A58E0}"/>
              </a:ext>
            </a:extLst>
          </p:cNvPr>
          <p:cNvSpPr>
            <a:spLocks noGrp="1"/>
          </p:cNvSpPr>
          <p:nvPr>
            <p:ph type="ctrTitle" hasCustomPrompt="1"/>
          </p:nvPr>
        </p:nvSpPr>
        <p:spPr>
          <a:xfrm>
            <a:off x="358774" y="294420"/>
            <a:ext cx="5664407"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43" name="Subtitle 2">
            <a:extLst>
              <a:ext uri="{FF2B5EF4-FFF2-40B4-BE49-F238E27FC236}">
                <a16:creationId xmlns:a16="http://schemas.microsoft.com/office/drawing/2014/main" id="{2F285439-C0D5-4092-94AA-030179C1BAA0}"/>
              </a:ext>
            </a:extLst>
          </p:cNvPr>
          <p:cNvSpPr>
            <a:spLocks noGrp="1"/>
          </p:cNvSpPr>
          <p:nvPr>
            <p:ph type="subTitle" idx="1" hasCustomPrompt="1"/>
          </p:nvPr>
        </p:nvSpPr>
        <p:spPr>
          <a:xfrm>
            <a:off x="358776" y="2709539"/>
            <a:ext cx="5664406"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44" name="Text Placeholder 75">
            <a:extLst>
              <a:ext uri="{FF2B5EF4-FFF2-40B4-BE49-F238E27FC236}">
                <a16:creationId xmlns:a16="http://schemas.microsoft.com/office/drawing/2014/main" id="{151B52FE-CFFE-436D-8392-09E08457CC54}"/>
              </a:ext>
            </a:extLst>
          </p:cNvPr>
          <p:cNvSpPr>
            <a:spLocks noGrp="1"/>
          </p:cNvSpPr>
          <p:nvPr>
            <p:ph type="body" sz="quarter" idx="14" hasCustomPrompt="1"/>
          </p:nvPr>
        </p:nvSpPr>
        <p:spPr>
          <a:xfrm>
            <a:off x="358775" y="3442695"/>
            <a:ext cx="5683698"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90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0000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338264"/>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7944671A-3D72-48A8-AFB6-C7FB7AA3EAE9}"/>
              </a:ext>
            </a:extLst>
          </p:cNvPr>
          <p:cNvSpPr>
            <a:spLocks noGrp="1"/>
          </p:cNvSpPr>
          <p:nvPr>
            <p:ph idx="13"/>
          </p:nvPr>
        </p:nvSpPr>
        <p:spPr>
          <a:xfrm>
            <a:off x="4848225" y="1338263"/>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395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263932"/>
            <a:ext cx="4227080" cy="4913031"/>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815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F0A5E596-5496-4A60-88B2-178283450DD1}"/>
              </a:ext>
            </a:extLst>
          </p:cNvPr>
          <p:cNvSpPr>
            <a:spLocks noGrp="1"/>
          </p:cNvSpPr>
          <p:nvPr>
            <p:ph type="body" sz="quarter" idx="13"/>
          </p:nvPr>
        </p:nvSpPr>
        <p:spPr>
          <a:xfrm>
            <a:off x="358775" y="837646"/>
            <a:ext cx="8426450" cy="455612"/>
          </a:xfrm>
        </p:spPr>
        <p:txBody>
          <a:bodyPr>
            <a:normAutofit/>
          </a:bodyPr>
          <a:lstStyle>
            <a:lvl1pPr>
              <a:spcBef>
                <a:spcPts val="0"/>
              </a:spcBef>
              <a:defRPr sz="2400">
                <a:latin typeface="+mj-lt"/>
              </a:defRPr>
            </a:lvl1pPr>
          </a:lstStyle>
          <a:p>
            <a:pPr lvl="0"/>
            <a:r>
              <a:rPr lang="en-US"/>
              <a:t>Edit Master text styles</a:t>
            </a:r>
            <a:endParaRPr lang="en-GB"/>
          </a:p>
        </p:txBody>
      </p:sp>
    </p:spTree>
    <p:extLst>
      <p:ext uri="{BB962C8B-B14F-4D97-AF65-F5344CB8AC3E}">
        <p14:creationId xmlns:p14="http://schemas.microsoft.com/office/powerpoint/2010/main" val="133528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58774" y="1700808"/>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060849"/>
            <a:ext cx="8426450" cy="3888432"/>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2060849"/>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20240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806861"/>
            <a:ext cx="8426450" cy="314242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965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6311" y="2892409"/>
            <a:ext cx="3998913" cy="3056871"/>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6">
            <a:extLst>
              <a:ext uri="{FF2B5EF4-FFF2-40B4-BE49-F238E27FC236}">
                <a16:creationId xmlns:a16="http://schemas.microsoft.com/office/drawing/2014/main" id="{794404C6-CF43-499B-B6F1-857528420D81}"/>
              </a:ext>
            </a:extLst>
          </p:cNvPr>
          <p:cNvSpPr>
            <a:spLocks noGrp="1"/>
          </p:cNvSpPr>
          <p:nvPr>
            <p:ph type="body" sz="quarter" idx="18"/>
          </p:nvPr>
        </p:nvSpPr>
        <p:spPr>
          <a:xfrm>
            <a:off x="358775" y="2892410"/>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2044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81308" y="124160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1529491"/>
            <a:ext cx="8426450" cy="1228458"/>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152949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9" name="Text Placeholder 5">
            <a:extLst>
              <a:ext uri="{FF2B5EF4-FFF2-40B4-BE49-F238E27FC236}">
                <a16:creationId xmlns:a16="http://schemas.microsoft.com/office/drawing/2014/main" id="{AD2D3C30-645E-46BD-8D05-4B1BCB973D39}"/>
              </a:ext>
            </a:extLst>
          </p:cNvPr>
          <p:cNvSpPr>
            <a:spLocks noGrp="1"/>
          </p:cNvSpPr>
          <p:nvPr>
            <p:ph type="body" sz="quarter" idx="16"/>
          </p:nvPr>
        </p:nvSpPr>
        <p:spPr>
          <a:xfrm>
            <a:off x="381306" y="289342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12" name="Chart Placeholder 7">
            <a:extLst>
              <a:ext uri="{FF2B5EF4-FFF2-40B4-BE49-F238E27FC236}">
                <a16:creationId xmlns:a16="http://schemas.microsoft.com/office/drawing/2014/main" id="{67BCDA24-B550-4DC4-A59D-C385E5F36C0C}"/>
              </a:ext>
            </a:extLst>
          </p:cNvPr>
          <p:cNvSpPr>
            <a:spLocks noGrp="1"/>
          </p:cNvSpPr>
          <p:nvPr>
            <p:ph type="chart" sz="quarter" idx="17"/>
          </p:nvPr>
        </p:nvSpPr>
        <p:spPr>
          <a:xfrm>
            <a:off x="358773" y="3181310"/>
            <a:ext cx="8426450" cy="2831115"/>
          </a:xfrm>
        </p:spPr>
        <p:txBody>
          <a:bodyPr>
            <a:normAutofit/>
          </a:bodyPr>
          <a:lstStyle>
            <a:lvl1pPr>
              <a:defRPr sz="1200"/>
            </a:lvl1pPr>
          </a:lstStyle>
          <a:p>
            <a:endParaRPr lang="en-GB" dirty="0"/>
          </a:p>
        </p:txBody>
      </p:sp>
      <p:cxnSp>
        <p:nvCxnSpPr>
          <p:cNvPr id="13" name="Straight Connector 12">
            <a:extLst>
              <a:ext uri="{FF2B5EF4-FFF2-40B4-BE49-F238E27FC236}">
                <a16:creationId xmlns:a16="http://schemas.microsoft.com/office/drawing/2014/main" id="{B1CBE463-900B-4A67-8594-4CD7A4A709D6}"/>
              </a:ext>
            </a:extLst>
          </p:cNvPr>
          <p:cNvCxnSpPr/>
          <p:nvPr userDrawn="1"/>
        </p:nvCxnSpPr>
        <p:spPr>
          <a:xfrm>
            <a:off x="358772" y="318131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53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70039" y="1278021"/>
            <a:ext cx="8415186"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70039" y="1565904"/>
            <a:ext cx="8415185" cy="443669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70040" y="1565904"/>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08828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BA44BAD3-8EBE-4BC8-95B6-5BFD20F465B0}"/>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p>
        </p:txBody>
      </p:sp>
    </p:spTree>
    <p:extLst>
      <p:ext uri="{BB962C8B-B14F-4D97-AF65-F5344CB8AC3E}">
        <p14:creationId xmlns:p14="http://schemas.microsoft.com/office/powerpoint/2010/main" val="391519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13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B6B97-B99F-450B-B176-AFD96DBC90FA}"/>
              </a:ext>
            </a:extLst>
          </p:cNvPr>
          <p:cNvSpPr>
            <a:spLocks noGrp="1"/>
          </p:cNvSpPr>
          <p:nvPr>
            <p:ph type="title"/>
          </p:nvPr>
        </p:nvSpPr>
        <p:spPr>
          <a:xfrm>
            <a:off x="358775" y="270088"/>
            <a:ext cx="8426450" cy="581897"/>
          </a:xfrm>
          <a:prstGeom prst="rect">
            <a:avLst/>
          </a:prstGeom>
        </p:spPr>
        <p:txBody>
          <a:bodyPr vert="horz" lIns="0" tIns="45720" rIns="0" bIns="4572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3D66A-3D9C-44FC-93E3-53098880F8C6}"/>
              </a:ext>
            </a:extLst>
          </p:cNvPr>
          <p:cNvSpPr>
            <a:spLocks noGrp="1"/>
          </p:cNvSpPr>
          <p:nvPr>
            <p:ph type="body" idx="1"/>
          </p:nvPr>
        </p:nvSpPr>
        <p:spPr>
          <a:xfrm>
            <a:off x="358775" y="1263932"/>
            <a:ext cx="8426450" cy="491303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D8206CA-1D0D-4188-AA1D-95E84B37993C}"/>
              </a:ext>
            </a:extLst>
          </p:cNvPr>
          <p:cNvSpPr>
            <a:spLocks noGrp="1"/>
          </p:cNvSpPr>
          <p:nvPr>
            <p:ph type="ftr" sz="quarter" idx="3"/>
          </p:nvPr>
        </p:nvSpPr>
        <p:spPr>
          <a:xfrm>
            <a:off x="1392774" y="6480640"/>
            <a:ext cx="4788177" cy="227300"/>
          </a:xfrm>
          <a:prstGeom prst="rect">
            <a:avLst/>
          </a:prstGeom>
        </p:spPr>
        <p:txBody>
          <a:bodyPr vert="horz" lIns="91440" tIns="45720" rIns="91440" bIns="45720" rtlCol="0" anchor="ctr"/>
          <a:lstStyle>
            <a:lvl1pPr algn="l">
              <a:defRPr sz="600" b="0" spc="-20" baseline="0">
                <a:solidFill>
                  <a:schemeClr val="accent2"/>
                </a:solidFill>
                <a:latin typeface="Montserrat" panose="02000505000000020004" pitchFamily="2" charset="0"/>
              </a:defRPr>
            </a:lvl1p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D696DDF2-5191-4301-B8FD-DF1ED40F63CA}"/>
              </a:ext>
            </a:extLst>
          </p:cNvPr>
          <p:cNvSpPr>
            <a:spLocks noGrp="1"/>
          </p:cNvSpPr>
          <p:nvPr>
            <p:ph type="sldNum" sz="quarter" idx="4"/>
          </p:nvPr>
        </p:nvSpPr>
        <p:spPr>
          <a:xfrm>
            <a:off x="8357153" y="6480640"/>
            <a:ext cx="428072" cy="228601"/>
          </a:xfrm>
          <a:prstGeom prst="rect">
            <a:avLst/>
          </a:prstGeom>
        </p:spPr>
        <p:txBody>
          <a:bodyPr vert="horz" lIns="91440" tIns="45720" rIns="91440" bIns="45720" rtlCol="0" anchor="ctr"/>
          <a:lstStyle>
            <a:lvl1pPr algn="ctr">
              <a:defRPr sz="900" b="0">
                <a:solidFill>
                  <a:schemeClr val="accent2">
                    <a:lumMod val="75000"/>
                  </a:schemeClr>
                </a:solidFill>
                <a:latin typeface="Montserrat" panose="02000505000000020004" pitchFamily="2" charset="0"/>
              </a:defRPr>
            </a:lvl1pPr>
          </a:lstStyle>
          <a:p>
            <a:fld id="{0D32313A-DEBC-4CA4-B008-A02D4ABE2C72}" type="slidenum">
              <a:rPr lang="en-GB" smtClean="0"/>
              <a:pPr/>
              <a:t>‹#›</a:t>
            </a:fld>
            <a:endParaRPr lang="en-GB" dirty="0"/>
          </a:p>
        </p:txBody>
      </p:sp>
      <p:cxnSp>
        <p:nvCxnSpPr>
          <p:cNvPr id="39" name="Straight Connector 38">
            <a:extLst>
              <a:ext uri="{FF2B5EF4-FFF2-40B4-BE49-F238E27FC236}">
                <a16:creationId xmlns:a16="http://schemas.microsoft.com/office/drawing/2014/main" id="{1EDBF80C-67C4-4965-BEEB-A9132094185D}"/>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1E8B2E-7FE5-4D92-A210-410B50ED358E}"/>
              </a:ext>
            </a:extLst>
          </p:cNvPr>
          <p:cNvCxnSpPr/>
          <p:nvPr userDrawn="1"/>
        </p:nvCxnSpPr>
        <p:spPr>
          <a:xfrm>
            <a:off x="1386007" y="641640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182084-27BD-4D81-9D95-A3317D7E7619}"/>
              </a:ext>
            </a:extLst>
          </p:cNvPr>
          <p:cNvCxnSpPr>
            <a:cxnSpLocks/>
          </p:cNvCxnSpPr>
          <p:nvPr userDrawn="1"/>
        </p:nvCxnSpPr>
        <p:spPr>
          <a:xfrm>
            <a:off x="8357153" y="641705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3" name="Group 4">
            <a:extLst>
              <a:ext uri="{FF2B5EF4-FFF2-40B4-BE49-F238E27FC236}">
                <a16:creationId xmlns:a16="http://schemas.microsoft.com/office/drawing/2014/main" id="{A2100EA8-F5C5-40FA-BD68-3078CA2E0EB5}"/>
              </a:ext>
            </a:extLst>
          </p:cNvPr>
          <p:cNvGrpSpPr>
            <a:grpSpLocks noChangeAspect="1"/>
          </p:cNvGrpSpPr>
          <p:nvPr userDrawn="1"/>
        </p:nvGrpSpPr>
        <p:grpSpPr bwMode="auto">
          <a:xfrm>
            <a:off x="358775" y="6498127"/>
            <a:ext cx="955828" cy="192327"/>
            <a:chOff x="-3357" y="-1385"/>
            <a:chExt cx="5760" cy="1159"/>
          </a:xfrm>
        </p:grpSpPr>
        <p:sp>
          <p:nvSpPr>
            <p:cNvPr id="74" name="Freeform 5">
              <a:extLst>
                <a:ext uri="{FF2B5EF4-FFF2-40B4-BE49-F238E27FC236}">
                  <a16:creationId xmlns:a16="http://schemas.microsoft.com/office/drawing/2014/main" id="{17FFF818-4814-4B08-95C1-948F6BB90C68}"/>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5" name="Rectangle 6">
              <a:extLst>
                <a:ext uri="{FF2B5EF4-FFF2-40B4-BE49-F238E27FC236}">
                  <a16:creationId xmlns:a16="http://schemas.microsoft.com/office/drawing/2014/main" id="{94960442-76DC-4461-8C9D-884AACCE43C6}"/>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6" name="Freeform 7">
              <a:extLst>
                <a:ext uri="{FF2B5EF4-FFF2-40B4-BE49-F238E27FC236}">
                  <a16:creationId xmlns:a16="http://schemas.microsoft.com/office/drawing/2014/main" id="{D422FA81-3C2D-4395-8541-97449A2B5820}"/>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7" name="Freeform 8">
              <a:extLst>
                <a:ext uri="{FF2B5EF4-FFF2-40B4-BE49-F238E27FC236}">
                  <a16:creationId xmlns:a16="http://schemas.microsoft.com/office/drawing/2014/main" id="{0CDA9582-690E-4332-9505-5BC9A7AC1793}"/>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8" name="Freeform 9">
              <a:extLst>
                <a:ext uri="{FF2B5EF4-FFF2-40B4-BE49-F238E27FC236}">
                  <a16:creationId xmlns:a16="http://schemas.microsoft.com/office/drawing/2014/main" id="{6C703ED1-CDBF-4523-B85A-11AA61BA0073}"/>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9" name="Freeform 10">
              <a:extLst>
                <a:ext uri="{FF2B5EF4-FFF2-40B4-BE49-F238E27FC236}">
                  <a16:creationId xmlns:a16="http://schemas.microsoft.com/office/drawing/2014/main" id="{734C17D1-406B-409D-8659-CAEE59EF5EA7}"/>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11">
              <a:extLst>
                <a:ext uri="{FF2B5EF4-FFF2-40B4-BE49-F238E27FC236}">
                  <a16:creationId xmlns:a16="http://schemas.microsoft.com/office/drawing/2014/main" id="{E41042FA-42F6-4AB9-B883-466255A89DB4}"/>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12">
              <a:extLst>
                <a:ext uri="{FF2B5EF4-FFF2-40B4-BE49-F238E27FC236}">
                  <a16:creationId xmlns:a16="http://schemas.microsoft.com/office/drawing/2014/main" id="{4C3C6621-6FAE-4B47-9631-C76ADF24AF90}"/>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2" name="Freeform 13">
              <a:extLst>
                <a:ext uri="{FF2B5EF4-FFF2-40B4-BE49-F238E27FC236}">
                  <a16:creationId xmlns:a16="http://schemas.microsoft.com/office/drawing/2014/main" id="{A2D39429-0561-4657-94A2-D05AA3F95118}"/>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3" name="Freeform 14">
              <a:extLst>
                <a:ext uri="{FF2B5EF4-FFF2-40B4-BE49-F238E27FC236}">
                  <a16:creationId xmlns:a16="http://schemas.microsoft.com/office/drawing/2014/main" id="{1328E803-60FC-4104-9AD5-2625AD84DF02}"/>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4" name="Freeform 15">
              <a:extLst>
                <a:ext uri="{FF2B5EF4-FFF2-40B4-BE49-F238E27FC236}">
                  <a16:creationId xmlns:a16="http://schemas.microsoft.com/office/drawing/2014/main" id="{707C5A2F-5760-4686-BB1D-9329D03468D2}"/>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5" name="Freeform 16">
              <a:extLst>
                <a:ext uri="{FF2B5EF4-FFF2-40B4-BE49-F238E27FC236}">
                  <a16:creationId xmlns:a16="http://schemas.microsoft.com/office/drawing/2014/main" id="{338B40E2-5FA2-4CFF-8221-0D62F32610FC}"/>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6" name="Freeform 17">
              <a:extLst>
                <a:ext uri="{FF2B5EF4-FFF2-40B4-BE49-F238E27FC236}">
                  <a16:creationId xmlns:a16="http://schemas.microsoft.com/office/drawing/2014/main" id="{1DC8EF80-1480-4E82-8F7D-0403B92EEACE}"/>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7" name="Freeform 18">
              <a:extLst>
                <a:ext uri="{FF2B5EF4-FFF2-40B4-BE49-F238E27FC236}">
                  <a16:creationId xmlns:a16="http://schemas.microsoft.com/office/drawing/2014/main" id="{AD3BD5C6-02DE-41BF-ACAC-0C73DE8EC636}"/>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8" name="Freeform 19">
              <a:extLst>
                <a:ext uri="{FF2B5EF4-FFF2-40B4-BE49-F238E27FC236}">
                  <a16:creationId xmlns:a16="http://schemas.microsoft.com/office/drawing/2014/main" id="{0703C6E9-34A9-4D28-AC4C-E6A50750761E}"/>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9" name="Freeform 20">
              <a:extLst>
                <a:ext uri="{FF2B5EF4-FFF2-40B4-BE49-F238E27FC236}">
                  <a16:creationId xmlns:a16="http://schemas.microsoft.com/office/drawing/2014/main" id="{82DA7624-FA80-426B-BF3F-547BD42E9F8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0" name="Freeform 21">
              <a:extLst>
                <a:ext uri="{FF2B5EF4-FFF2-40B4-BE49-F238E27FC236}">
                  <a16:creationId xmlns:a16="http://schemas.microsoft.com/office/drawing/2014/main" id="{BED504A7-3B63-4352-858D-C7C600677F9E}"/>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1" name="Freeform 22">
              <a:extLst>
                <a:ext uri="{FF2B5EF4-FFF2-40B4-BE49-F238E27FC236}">
                  <a16:creationId xmlns:a16="http://schemas.microsoft.com/office/drawing/2014/main" id="{854B30AB-8873-4C24-A589-FF973BA9DECC}"/>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2" name="Freeform 23">
              <a:extLst>
                <a:ext uri="{FF2B5EF4-FFF2-40B4-BE49-F238E27FC236}">
                  <a16:creationId xmlns:a16="http://schemas.microsoft.com/office/drawing/2014/main" id="{F7B94546-6EDE-4DA0-A1D9-BFE60BDDB619}"/>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3" name="Freeform 24">
              <a:extLst>
                <a:ext uri="{FF2B5EF4-FFF2-40B4-BE49-F238E27FC236}">
                  <a16:creationId xmlns:a16="http://schemas.microsoft.com/office/drawing/2014/main" id="{BBFCBF4A-AFE4-4B18-8F55-9E72367FCE58}"/>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4" name="Freeform 25">
              <a:extLst>
                <a:ext uri="{FF2B5EF4-FFF2-40B4-BE49-F238E27FC236}">
                  <a16:creationId xmlns:a16="http://schemas.microsoft.com/office/drawing/2014/main" id="{EA280B51-9333-48C9-93EE-E33B9B56B256}"/>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5" name="Freeform 26">
              <a:extLst>
                <a:ext uri="{FF2B5EF4-FFF2-40B4-BE49-F238E27FC236}">
                  <a16:creationId xmlns:a16="http://schemas.microsoft.com/office/drawing/2014/main" id="{A50CD374-4F8E-439D-9C36-7AE4A3E147C8}"/>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6" name="Freeform 27">
              <a:extLst>
                <a:ext uri="{FF2B5EF4-FFF2-40B4-BE49-F238E27FC236}">
                  <a16:creationId xmlns:a16="http://schemas.microsoft.com/office/drawing/2014/main" id="{EB306D3C-A3DA-49E9-BE07-E2EABA13ED17}"/>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7" name="Freeform 28">
              <a:extLst>
                <a:ext uri="{FF2B5EF4-FFF2-40B4-BE49-F238E27FC236}">
                  <a16:creationId xmlns:a16="http://schemas.microsoft.com/office/drawing/2014/main" id="{D96D031D-2D03-4DE6-BB4A-30AE16B16817}"/>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8" name="Freeform 29">
              <a:extLst>
                <a:ext uri="{FF2B5EF4-FFF2-40B4-BE49-F238E27FC236}">
                  <a16:creationId xmlns:a16="http://schemas.microsoft.com/office/drawing/2014/main" id="{022A2613-8D8F-469D-8F99-3051580758B3}"/>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9" name="Freeform 30">
              <a:extLst>
                <a:ext uri="{FF2B5EF4-FFF2-40B4-BE49-F238E27FC236}">
                  <a16:creationId xmlns:a16="http://schemas.microsoft.com/office/drawing/2014/main" id="{032907D0-1C18-4C55-8D1A-5BCBB5567FA9}"/>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0" name="Freeform 31">
              <a:extLst>
                <a:ext uri="{FF2B5EF4-FFF2-40B4-BE49-F238E27FC236}">
                  <a16:creationId xmlns:a16="http://schemas.microsoft.com/office/drawing/2014/main" id="{62E3D831-AC3A-4A48-838B-8B8065447885}"/>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102" name="Straight Connector 101">
            <a:extLst>
              <a:ext uri="{FF2B5EF4-FFF2-40B4-BE49-F238E27FC236}">
                <a16:creationId xmlns:a16="http://schemas.microsoft.com/office/drawing/2014/main" id="{EA6E68FA-8757-4B5C-AD8E-EC741F3F6612}"/>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F923B7A1-7534-42C7-891B-C3258B2B4C43}"/>
              </a:ext>
            </a:extLst>
          </p:cNvPr>
          <p:cNvGrpSpPr/>
          <p:nvPr userDrawn="1"/>
        </p:nvGrpSpPr>
        <p:grpSpPr>
          <a:xfrm>
            <a:off x="7012502" y="263284"/>
            <a:ext cx="1772723" cy="588701"/>
            <a:chOff x="7349582" y="5399028"/>
            <a:chExt cx="2180855" cy="897656"/>
          </a:xfrm>
          <a:solidFill>
            <a:schemeClr val="accent2"/>
          </a:solidFill>
        </p:grpSpPr>
        <p:sp>
          <p:nvSpPr>
            <p:cNvPr id="114" name="Freeform 35">
              <a:extLst>
                <a:ext uri="{FF2B5EF4-FFF2-40B4-BE49-F238E27FC236}">
                  <a16:creationId xmlns:a16="http://schemas.microsoft.com/office/drawing/2014/main" id="{B9BF84BE-3294-4ED0-B6DB-40C588EA320A}"/>
                </a:ext>
              </a:extLst>
            </p:cNvPr>
            <p:cNvSpPr>
              <a:spLocks/>
            </p:cNvSpPr>
            <p:nvPr userDrawn="1"/>
          </p:nvSpPr>
          <p:spPr bwMode="auto">
            <a:xfrm>
              <a:off x="7349582"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Originate</a:t>
              </a:r>
            </a:p>
          </p:txBody>
        </p:sp>
        <p:sp>
          <p:nvSpPr>
            <p:cNvPr id="115" name="Freeform 35">
              <a:extLst>
                <a:ext uri="{FF2B5EF4-FFF2-40B4-BE49-F238E27FC236}">
                  <a16:creationId xmlns:a16="http://schemas.microsoft.com/office/drawing/2014/main" id="{581E069B-A82C-4753-9F20-F6A12033F8F0}"/>
                </a:ext>
              </a:extLst>
            </p:cNvPr>
            <p:cNvSpPr>
              <a:spLocks/>
            </p:cNvSpPr>
            <p:nvPr userDrawn="1"/>
          </p:nvSpPr>
          <p:spPr bwMode="auto">
            <a:xfrm>
              <a:off x="8094794"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Invest</a:t>
              </a:r>
            </a:p>
          </p:txBody>
        </p:sp>
        <p:sp>
          <p:nvSpPr>
            <p:cNvPr id="116" name="Freeform 35">
              <a:extLst>
                <a:ext uri="{FF2B5EF4-FFF2-40B4-BE49-F238E27FC236}">
                  <a16:creationId xmlns:a16="http://schemas.microsoft.com/office/drawing/2014/main" id="{E2496C0C-B1F4-4029-B0B3-B9CB1035CE74}"/>
                </a:ext>
              </a:extLst>
            </p:cNvPr>
            <p:cNvSpPr>
              <a:spLocks/>
            </p:cNvSpPr>
            <p:nvPr userDrawn="1"/>
          </p:nvSpPr>
          <p:spPr bwMode="auto">
            <a:xfrm>
              <a:off x="8840006"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Operate</a:t>
              </a:r>
            </a:p>
          </p:txBody>
        </p:sp>
      </p:grpSp>
    </p:spTree>
    <p:extLst>
      <p:ext uri="{BB962C8B-B14F-4D97-AF65-F5344CB8AC3E}">
        <p14:creationId xmlns:p14="http://schemas.microsoft.com/office/powerpoint/2010/main" val="268036238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5" r:id="rId7"/>
    <p:sldLayoutId id="2147483786" r:id="rId8"/>
    <p:sldLayoutId id="2147483787" r:id="rId9"/>
    <p:sldLayoutId id="2147483788" r:id="rId10"/>
    <p:sldLayoutId id="2147483790" r:id="rId11"/>
    <p:sldLayoutId id="2147483791" r:id="rId12"/>
    <p:sldLayoutId id="2147483792"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85000"/>
        </a:lnSpc>
        <a:spcBef>
          <a:spcPct val="0"/>
        </a:spcBef>
        <a:buNone/>
        <a:defRPr sz="3200" kern="1200" spc="-150">
          <a:solidFill>
            <a:schemeClr val="accent2"/>
          </a:solidFill>
          <a:latin typeface="+mn-lt"/>
          <a:ea typeface="+mj-ea"/>
          <a:cs typeface="+mj-cs"/>
        </a:defRPr>
      </a:lvl1pPr>
    </p:titleStyle>
    <p:body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15"/>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26">
          <p15:clr>
            <a:srgbClr val="F26B43"/>
          </p15:clr>
        </p15:guide>
        <p15:guide id="2" pos="55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jpg"/><Relationship Id="rId1" Type="http://schemas.openxmlformats.org/officeDocument/2006/relationships/slideLayout" Target="../slideLayouts/slideLayout3.xml"/><Relationship Id="rId6" Type="http://schemas.openxmlformats.org/officeDocument/2006/relationships/image" Target="../media/image9.jpg"/><Relationship Id="rId11" Type="http://schemas.microsoft.com/office/2007/relationships/hdphoto" Target="../media/hdphoto3.wdp"/><Relationship Id="rId5" Type="http://schemas.openxmlformats.org/officeDocument/2006/relationships/image" Target="../media/image8.png"/><Relationship Id="rId10" Type="http://schemas.openxmlformats.org/officeDocument/2006/relationships/image" Target="../media/image12.png"/><Relationship Id="rId4" Type="http://schemas.microsoft.com/office/2007/relationships/hdphoto" Target="../media/hdphoto1.wdp"/><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58774" y="294420"/>
            <a:ext cx="4687591" cy="2729515"/>
          </a:xfrm>
        </p:spPr>
        <p:txBody>
          <a:bodyPr/>
          <a:lstStyle/>
          <a:p>
            <a:r>
              <a:rPr lang="en-GB" sz="3200" dirty="0"/>
              <a:t>Connect Programme</a:t>
            </a:r>
            <a:br>
              <a:rPr lang="en-GB" sz="3200" dirty="0"/>
            </a:br>
            <a:br>
              <a:rPr lang="en-GB" sz="3200" dirty="0"/>
            </a:br>
            <a:r>
              <a:rPr lang="en-GB" sz="3200" dirty="0"/>
              <a:t>Proposal for Design Authority</a:t>
            </a:r>
            <a:br>
              <a:rPr lang="en-GB" sz="3200" dirty="0"/>
            </a:br>
            <a:endParaRPr lang="en-GB" sz="3200" dirty="0"/>
          </a:p>
        </p:txBody>
      </p:sp>
      <p:sp>
        <p:nvSpPr>
          <p:cNvPr id="7" name="Text Placeholder 6">
            <a:extLst>
              <a:ext uri="{FF2B5EF4-FFF2-40B4-BE49-F238E27FC236}">
                <a16:creationId xmlns:a16="http://schemas.microsoft.com/office/drawing/2014/main" id="{D5398C75-5C20-4896-B36A-F6B7A9B2F891}"/>
              </a:ext>
            </a:extLst>
          </p:cNvPr>
          <p:cNvSpPr>
            <a:spLocks noGrp="1"/>
          </p:cNvSpPr>
          <p:nvPr>
            <p:ph type="body" sz="quarter" idx="10"/>
          </p:nvPr>
        </p:nvSpPr>
        <p:spPr>
          <a:xfrm>
            <a:off x="358775" y="3442695"/>
            <a:ext cx="4703555" cy="392791"/>
          </a:xfrm>
        </p:spPr>
        <p:txBody>
          <a:bodyPr vert="horz" lIns="0" tIns="0" rIns="0" bIns="0" rtlCol="0" anchor="t">
            <a:noAutofit/>
          </a:bodyPr>
          <a:lstStyle/>
          <a:p>
            <a:pPr>
              <a:lnSpc>
                <a:spcPct val="100000"/>
              </a:lnSpc>
            </a:pPr>
            <a:r>
              <a:rPr lang="en-GB" dirty="0"/>
              <a:t>Non-Standard Billing Periods</a:t>
            </a:r>
          </a:p>
          <a:p>
            <a:pPr>
              <a:lnSpc>
                <a:spcPct val="100000"/>
              </a:lnSpc>
            </a:pPr>
            <a:endParaRPr lang="en-GB" dirty="0"/>
          </a:p>
          <a:p>
            <a:pPr>
              <a:lnSpc>
                <a:spcPct val="100000"/>
              </a:lnSpc>
            </a:pPr>
            <a:r>
              <a:rPr lang="en-GB" dirty="0"/>
              <a:t>09 January 2020</a:t>
            </a:r>
          </a:p>
          <a:p>
            <a:pPr>
              <a:lnSpc>
                <a:spcPct val="100000"/>
              </a:lnSpc>
            </a:pPr>
            <a:endParaRPr lang="en-GB" dirty="0"/>
          </a:p>
        </p:txBody>
      </p:sp>
      <p:pic>
        <p:nvPicPr>
          <p:cNvPr id="18" name="Picture Placeholder 17">
            <a:extLst>
              <a:ext uri="{FF2B5EF4-FFF2-40B4-BE49-F238E27FC236}">
                <a16:creationId xmlns:a16="http://schemas.microsoft.com/office/drawing/2014/main" id="{D23A5545-8120-44CB-8A31-8D01613D8805}"/>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p:pic>
      <p:pic>
        <p:nvPicPr>
          <p:cNvPr id="20" name="Picture Placeholder 19">
            <a:extLst>
              <a:ext uri="{FF2B5EF4-FFF2-40B4-BE49-F238E27FC236}">
                <a16:creationId xmlns:a16="http://schemas.microsoft.com/office/drawing/2014/main" id="{56B439B3-D107-4CCE-B95E-21CE74F29901}"/>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pic>
        <p:nvPicPr>
          <p:cNvPr id="22" name="Picture Placeholder 21">
            <a:extLst>
              <a:ext uri="{FF2B5EF4-FFF2-40B4-BE49-F238E27FC236}">
                <a16:creationId xmlns:a16="http://schemas.microsoft.com/office/drawing/2014/main" id="{0F00D62A-47EC-4312-B8A7-61D368326A14}"/>
              </a:ext>
            </a:extLst>
          </p:cNvPr>
          <p:cNvPicPr>
            <a:picLocks noGrp="1" noChangeAspect="1"/>
          </p:cNvPicPr>
          <p:nvPr>
            <p:ph type="pic" sz="quarter" idx="14"/>
          </p:nvPr>
        </p:nvPicPr>
        <p:blipFill>
          <a:blip r:embed="rId5" cstate="screen">
            <a:extLst>
              <a:ext uri="{28A0092B-C50C-407E-A947-70E740481C1C}">
                <a14:useLocalDpi xmlns:a14="http://schemas.microsoft.com/office/drawing/2010/main"/>
              </a:ext>
            </a:extLst>
          </a:blip>
          <a:srcRect/>
          <a:stretch>
            <a:fillRect/>
          </a:stretch>
        </p:blipFill>
        <p:spPr/>
      </p:pic>
      <p:sp>
        <p:nvSpPr>
          <p:cNvPr id="9" name="Footer Placeholder 10">
            <a:extLst>
              <a:ext uri="{FF2B5EF4-FFF2-40B4-BE49-F238E27FC236}">
                <a16:creationId xmlns:a16="http://schemas.microsoft.com/office/drawing/2014/main" id="{C82F26A6-707E-4E5E-8EDA-BCC6D3070167}"/>
              </a:ext>
            </a:extLst>
          </p:cNvPr>
          <p:cNvSpPr>
            <a:spLocks noGrp="1"/>
          </p:cNvSpPr>
          <p:nvPr>
            <p:ph type="ftr" sz="quarter" idx="4294967295"/>
          </p:nvPr>
        </p:nvSpPr>
        <p:spPr>
          <a:xfrm>
            <a:off x="0" y="6480175"/>
            <a:ext cx="4789488" cy="227013"/>
          </a:xfrm>
        </p:spPr>
        <p:txBody>
          <a:bodyPr/>
          <a:lstStyle/>
          <a:p>
            <a:pPr>
              <a:defRPr/>
            </a:pPr>
            <a:r>
              <a:rPr lang="en-GB" dirty="0">
                <a:solidFill>
                  <a:srgbClr val="4D858D"/>
                </a:solidFill>
              </a:rPr>
              <a:t>Grainger Plc  |  www.graingerplc.co.uk    | </a:t>
            </a:r>
          </a:p>
        </p:txBody>
      </p:sp>
      <p:sp>
        <p:nvSpPr>
          <p:cNvPr id="8" name="Slide Number Placeholder 7">
            <a:extLst>
              <a:ext uri="{FF2B5EF4-FFF2-40B4-BE49-F238E27FC236}">
                <a16:creationId xmlns:a16="http://schemas.microsoft.com/office/drawing/2014/main" id="{E2478E1B-4250-4957-923A-BBC1959257AD}"/>
              </a:ext>
            </a:extLst>
          </p:cNvPr>
          <p:cNvSpPr>
            <a:spLocks noGrp="1"/>
          </p:cNvSpPr>
          <p:nvPr>
            <p:ph type="sldNum" sz="quarter" idx="4294967295"/>
          </p:nvPr>
        </p:nvSpPr>
        <p:spPr>
          <a:xfrm>
            <a:off x="8715375" y="6480175"/>
            <a:ext cx="428625" cy="228600"/>
          </a:xfrm>
        </p:spPr>
        <p:txBody>
          <a:bodyPr/>
          <a:lstStyle/>
          <a:p>
            <a:pPr>
              <a:defRPr/>
            </a:pPr>
            <a:fld id="{0D32313A-DEBC-4CA4-B008-A02D4ABE2C72}" type="slidenum">
              <a:rPr lang="en-GB">
                <a:solidFill>
                  <a:srgbClr val="4D858D">
                    <a:lumMod val="75000"/>
                  </a:srgbClr>
                </a:solidFill>
              </a:rPr>
              <a:pPr>
                <a:defRPr/>
              </a:pPr>
              <a:t>1</a:t>
            </a:fld>
            <a:endParaRPr lang="en-GB" dirty="0">
              <a:solidFill>
                <a:srgbClr val="4D858D">
                  <a:lumMod val="75000"/>
                </a:srgbClr>
              </a:solidFill>
            </a:endParaRPr>
          </a:p>
        </p:txBody>
      </p:sp>
      <p:pic>
        <p:nvPicPr>
          <p:cNvPr id="28" name="Picture Placeholder 27">
            <a:extLst>
              <a:ext uri="{FF2B5EF4-FFF2-40B4-BE49-F238E27FC236}">
                <a16:creationId xmlns:a16="http://schemas.microsoft.com/office/drawing/2014/main" id="{CC58A5D1-1D6C-44AE-926F-FE9ED40ECA2E}"/>
              </a:ext>
            </a:extLst>
          </p:cNvPr>
          <p:cNvPicPr>
            <a:picLocks noGrp="1" noChangeAspect="1"/>
          </p:cNvPicPr>
          <p:nvPr>
            <p:ph type="pic" sz="quarter" idx="13"/>
          </p:nvPr>
        </p:nvPicPr>
        <p:blipFill rotWithShape="1">
          <a:blip r:embed="rId6" cstate="screen">
            <a:extLst>
              <a:ext uri="{28A0092B-C50C-407E-A947-70E740481C1C}">
                <a14:useLocalDpi xmlns:a14="http://schemas.microsoft.com/office/drawing/2010/main"/>
              </a:ext>
            </a:extLst>
          </a:blip>
          <a:srcRect t="-803"/>
          <a:stretch/>
        </p:blipFill>
        <p:spPr>
          <a:xfrm>
            <a:off x="5064192" y="2022171"/>
            <a:ext cx="1763790" cy="2619122"/>
          </a:xfrm>
        </p:spPr>
      </p:pic>
    </p:spTree>
    <p:extLst>
      <p:ext uri="{BB962C8B-B14F-4D97-AF65-F5344CB8AC3E}">
        <p14:creationId xmlns:p14="http://schemas.microsoft.com/office/powerpoint/2010/main" val="3378317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3C72BC8-74C4-4CB7-9218-C004C4A1ABF5}"/>
              </a:ext>
            </a:extLst>
          </p:cNvPr>
          <p:cNvSpPr>
            <a:spLocks noGrp="1"/>
          </p:cNvSpPr>
          <p:nvPr>
            <p:ph type="ftr" sz="quarter" idx="11"/>
          </p:nvPr>
        </p:nvSpPr>
        <p:spPr/>
        <p:txBody>
          <a:bodyPr/>
          <a:lstStyle/>
          <a:p>
            <a:r>
              <a:rPr lang="en-GB" dirty="0"/>
              <a:t>Grainger Plc  |  www.graingerplc.co.uk    |  Investor Day  |  September 2017</a:t>
            </a:r>
          </a:p>
        </p:txBody>
      </p:sp>
      <p:sp>
        <p:nvSpPr>
          <p:cNvPr id="4" name="Slide Number Placeholder 3">
            <a:extLst>
              <a:ext uri="{FF2B5EF4-FFF2-40B4-BE49-F238E27FC236}">
                <a16:creationId xmlns:a16="http://schemas.microsoft.com/office/drawing/2014/main" id="{4D43A282-303F-49AE-B551-F25113DFBD90}"/>
              </a:ext>
            </a:extLst>
          </p:cNvPr>
          <p:cNvSpPr>
            <a:spLocks noGrp="1"/>
          </p:cNvSpPr>
          <p:nvPr>
            <p:ph type="sldNum" sz="quarter" idx="12"/>
          </p:nvPr>
        </p:nvSpPr>
        <p:spPr/>
        <p:txBody>
          <a:bodyPr/>
          <a:lstStyle/>
          <a:p>
            <a:fld id="{0D32313A-DEBC-4CA4-B008-A02D4ABE2C72}" type="slidenum">
              <a:rPr lang="en-GB" smtClean="0"/>
              <a:t>2</a:t>
            </a:fld>
            <a:endParaRPr lang="en-GB" dirty="0"/>
          </a:p>
        </p:txBody>
      </p:sp>
      <p:sp>
        <p:nvSpPr>
          <p:cNvPr id="6" name="Title 7">
            <a:extLst>
              <a:ext uri="{FF2B5EF4-FFF2-40B4-BE49-F238E27FC236}">
                <a16:creationId xmlns:a16="http://schemas.microsoft.com/office/drawing/2014/main" id="{DECF24BF-A5F8-46EC-BA6C-F41D72ECB5A4}"/>
              </a:ext>
            </a:extLst>
          </p:cNvPr>
          <p:cNvSpPr>
            <a:spLocks noGrp="1"/>
          </p:cNvSpPr>
          <p:nvPr>
            <p:ph type="title"/>
          </p:nvPr>
        </p:nvSpPr>
        <p:spPr>
          <a:xfrm>
            <a:off x="358775" y="269875"/>
            <a:ext cx="8426450" cy="582613"/>
          </a:xfrm>
        </p:spPr>
        <p:txBody>
          <a:bodyPr/>
          <a:lstStyle/>
          <a:p>
            <a:r>
              <a:rPr lang="en-GB" dirty="0"/>
              <a:t>Executive Summary</a:t>
            </a:r>
            <a:br>
              <a:rPr lang="en-GB" dirty="0"/>
            </a:br>
            <a:endParaRPr lang="en-GB" i="1" dirty="0"/>
          </a:p>
        </p:txBody>
      </p:sp>
      <p:sp>
        <p:nvSpPr>
          <p:cNvPr id="8" name="Content Placeholder 8">
            <a:extLst>
              <a:ext uri="{FF2B5EF4-FFF2-40B4-BE49-F238E27FC236}">
                <a16:creationId xmlns:a16="http://schemas.microsoft.com/office/drawing/2014/main" id="{3AF32E61-ADE0-4D37-B2E6-67AB2E5EB7A9}"/>
              </a:ext>
            </a:extLst>
          </p:cNvPr>
          <p:cNvSpPr txBox="1">
            <a:spLocks/>
          </p:cNvSpPr>
          <p:nvPr/>
        </p:nvSpPr>
        <p:spPr>
          <a:xfrm>
            <a:off x="358775" y="1193966"/>
            <a:ext cx="8462267" cy="4930789"/>
          </a:xfrm>
          <a:prstGeom prst="rect">
            <a:avLst/>
          </a:prstGeom>
        </p:spPr>
        <p:txBody>
          <a:bodyPr vert="horz" lIns="0" tIns="45720" rIns="0" bIns="45720" rtlCol="0">
            <a:no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pPr>
            <a:r>
              <a:rPr lang="en-GB" sz="1200" spc="0" dirty="0">
                <a:latin typeface="Montserrat" panose="00000500000000000000" pitchFamily="50" charset="0"/>
              </a:rPr>
              <a:t>The original design assumption of the Connect programme would have all ‘residential’ tenancies (build-to-rent, PRS etc as well as regulated) managed in the Residential (RM) module of MRI, while all tenures involving service charge (leaseholders, ground rents. shared ownership) would be held in the Commercial (CM) module. A number of other design decisions across the platform (including customisations in the RM module and configuration of problem codes in FSI) followed from that principle.</a:t>
            </a:r>
          </a:p>
          <a:p>
            <a:pPr>
              <a:spcBef>
                <a:spcPts val="600"/>
              </a:spcBef>
              <a:spcAft>
                <a:spcPts val="300"/>
              </a:spcAft>
            </a:pPr>
            <a:r>
              <a:rPr lang="en-GB" sz="1200" spc="0" dirty="0">
                <a:latin typeface="Montserrat" panose="00000500000000000000" pitchFamily="50" charset="0"/>
              </a:rPr>
              <a:t>A limitation of the RM module prevents it from raising charges on a weekly basis – this affects circa 1,300 tenancies (mostly regulated). MRI has not offered a suitable solution to this key requirement form Grainger. The issue was known since the beginning of 2019 and a solution was proposed to the DDA in November 2019, after which we gained more insight into the wider business and programme implications of this problem.</a:t>
            </a:r>
          </a:p>
          <a:p>
            <a:pPr>
              <a:spcBef>
                <a:spcPts val="600"/>
              </a:spcBef>
              <a:spcAft>
                <a:spcPts val="300"/>
              </a:spcAft>
            </a:pPr>
            <a:r>
              <a:rPr lang="en-GB" sz="1200" spc="0" dirty="0">
                <a:latin typeface="Montserrat" panose="00000500000000000000" pitchFamily="50" charset="0"/>
              </a:rPr>
              <a:t>We understand that MRI will eventually update its core product to enable it to charge weekly. This paper presents three possible ways to ensure Grainger is able to handle weekly-paying tenants in the time being.</a:t>
            </a: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endParaRPr lang="en-GB" sz="1200" spc="0" dirty="0">
              <a:latin typeface="Montserrat" panose="00000500000000000000" pitchFamily="50" charset="0"/>
            </a:endParaRPr>
          </a:p>
          <a:p>
            <a:pPr>
              <a:spcBef>
                <a:spcPts val="600"/>
              </a:spcBef>
              <a:spcAft>
                <a:spcPts val="300"/>
              </a:spcAft>
            </a:pPr>
            <a:r>
              <a:rPr lang="en-GB" sz="1200" spc="0" dirty="0">
                <a:latin typeface="Montserrat" panose="00000500000000000000" pitchFamily="50" charset="0"/>
              </a:rPr>
              <a:t>All these alternatives will require compromises to one part of the programme or the business. </a:t>
            </a:r>
            <a:r>
              <a:rPr lang="en-GB" sz="1200" b="1" spc="0" dirty="0">
                <a:latin typeface="Montserrat" panose="00000500000000000000" pitchFamily="50" charset="0"/>
              </a:rPr>
              <a:t>What we seek from the Design Authority is an indication of which course of action we should proceed with</a:t>
            </a:r>
            <a:r>
              <a:rPr lang="en-GB" sz="1200" spc="0" dirty="0">
                <a:latin typeface="Montserrat" panose="00000500000000000000" pitchFamily="50" charset="0"/>
              </a:rPr>
              <a:t>, in a way that the impact / compromise is the best manageable for the business as a whole.</a:t>
            </a:r>
          </a:p>
        </p:txBody>
      </p:sp>
      <p:graphicFrame>
        <p:nvGraphicFramePr>
          <p:cNvPr id="5" name="Table 4">
            <a:extLst>
              <a:ext uri="{FF2B5EF4-FFF2-40B4-BE49-F238E27FC236}">
                <a16:creationId xmlns:a16="http://schemas.microsoft.com/office/drawing/2014/main" id="{443604ED-3DC3-4D63-87C3-917FE6151642}"/>
              </a:ext>
            </a:extLst>
          </p:cNvPr>
          <p:cNvGraphicFramePr>
            <a:graphicFrameLocks noGrp="1"/>
          </p:cNvGraphicFramePr>
          <p:nvPr>
            <p:extLst>
              <p:ext uri="{D42A27DB-BD31-4B8C-83A1-F6EECF244321}">
                <p14:modId xmlns:p14="http://schemas.microsoft.com/office/powerpoint/2010/main" val="2231111449"/>
              </p:ext>
            </p:extLst>
          </p:nvPr>
        </p:nvGraphicFramePr>
        <p:xfrm>
          <a:off x="358775" y="3304895"/>
          <a:ext cx="8462267" cy="2151888"/>
        </p:xfrm>
        <a:graphic>
          <a:graphicData uri="http://schemas.openxmlformats.org/drawingml/2006/table">
            <a:tbl>
              <a:tblPr>
                <a:tableStyleId>{5C22544A-7EE6-4342-B048-85BDC9FD1C3A}</a:tableStyleId>
              </a:tblPr>
              <a:tblGrid>
                <a:gridCol w="411062">
                  <a:extLst>
                    <a:ext uri="{9D8B030D-6E8A-4147-A177-3AD203B41FA5}">
                      <a16:colId xmlns:a16="http://schemas.microsoft.com/office/drawing/2014/main" val="1662021675"/>
                    </a:ext>
                  </a:extLst>
                </a:gridCol>
                <a:gridCol w="4894470">
                  <a:extLst>
                    <a:ext uri="{9D8B030D-6E8A-4147-A177-3AD203B41FA5}">
                      <a16:colId xmlns:a16="http://schemas.microsoft.com/office/drawing/2014/main" val="181675682"/>
                    </a:ext>
                  </a:extLst>
                </a:gridCol>
                <a:gridCol w="1052245">
                  <a:extLst>
                    <a:ext uri="{9D8B030D-6E8A-4147-A177-3AD203B41FA5}">
                      <a16:colId xmlns:a16="http://schemas.microsoft.com/office/drawing/2014/main" val="3405790821"/>
                    </a:ext>
                  </a:extLst>
                </a:gridCol>
                <a:gridCol w="1052245">
                  <a:extLst>
                    <a:ext uri="{9D8B030D-6E8A-4147-A177-3AD203B41FA5}">
                      <a16:colId xmlns:a16="http://schemas.microsoft.com/office/drawing/2014/main" val="226109057"/>
                    </a:ext>
                  </a:extLst>
                </a:gridCol>
                <a:gridCol w="1052245">
                  <a:extLst>
                    <a:ext uri="{9D8B030D-6E8A-4147-A177-3AD203B41FA5}">
                      <a16:colId xmlns:a16="http://schemas.microsoft.com/office/drawing/2014/main" val="961709848"/>
                    </a:ext>
                  </a:extLst>
                </a:gridCol>
              </a:tblGrid>
              <a:tr h="370840">
                <a:tc>
                  <a:txBody>
                    <a:bodyPr/>
                    <a:lstStyle/>
                    <a:p>
                      <a:pPr algn="ctr"/>
                      <a:r>
                        <a:rPr lang="en-GB" sz="1000" dirty="0">
                          <a:solidFill>
                            <a:schemeClr val="bg1"/>
                          </a:solidFill>
                          <a:latin typeface="+mj-lt"/>
                        </a:rPr>
                        <a:t>#</a:t>
                      </a:r>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000" dirty="0">
                          <a:solidFill>
                            <a:schemeClr val="bg1"/>
                          </a:solidFill>
                          <a:latin typeface="+mj-lt"/>
                        </a:rPr>
                        <a:t>Solution</a:t>
                      </a:r>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pPr algn="ctr"/>
                      <a:r>
                        <a:rPr lang="en-GB" sz="1000" dirty="0">
                          <a:solidFill>
                            <a:schemeClr val="bg1"/>
                          </a:solidFill>
                          <a:latin typeface="+mj-lt"/>
                        </a:rPr>
                        <a:t>MRI impact</a:t>
                      </a:r>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pPr algn="ctr"/>
                      <a:r>
                        <a:rPr lang="en-GB" sz="1000" dirty="0">
                          <a:solidFill>
                            <a:schemeClr val="bg1"/>
                          </a:solidFill>
                          <a:latin typeface="+mj-lt"/>
                        </a:rPr>
                        <a:t>Connect-wide impact</a:t>
                      </a:r>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pPr algn="ctr"/>
                      <a:r>
                        <a:rPr lang="en-GB" sz="1000" dirty="0">
                          <a:solidFill>
                            <a:schemeClr val="bg1"/>
                          </a:solidFill>
                          <a:latin typeface="+mj-lt"/>
                        </a:rPr>
                        <a:t>Operations / BAU impact</a:t>
                      </a:r>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extLst>
                  <a:ext uri="{0D108BD9-81ED-4DB2-BD59-A6C34878D82A}">
                    <a16:rowId xmlns:a16="http://schemas.microsoft.com/office/drawing/2014/main" val="1758752601"/>
                  </a:ext>
                </a:extLst>
              </a:tr>
              <a:tr h="370840">
                <a:tc>
                  <a:txBody>
                    <a:bodyPr/>
                    <a:lstStyle/>
                    <a:p>
                      <a:endParaRPr lang="en-GB"/>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indent="0" algn="l" defTabSz="685800" rtl="0" eaLnBrk="1" latinLnBrk="0" hangingPunct="1">
                        <a:lnSpc>
                          <a:spcPct val="90000"/>
                        </a:lnSpc>
                        <a:spcBef>
                          <a:spcPts val="600"/>
                        </a:spcBef>
                        <a:buFont typeface="Arial" panose="020B0604020202020204" pitchFamily="34" charset="0"/>
                        <a:buNone/>
                      </a:pPr>
                      <a:r>
                        <a:rPr lang="en-GB" sz="1200" b="1" kern="1200" spc="0" baseline="0" dirty="0">
                          <a:solidFill>
                            <a:schemeClr val="accent2"/>
                          </a:solidFill>
                          <a:latin typeface="Montserrat" panose="00000500000000000000" pitchFamily="50" charset="0"/>
                          <a:ea typeface="+mn-ea"/>
                          <a:cs typeface="+mn-cs"/>
                        </a:rPr>
                        <a:t>Enhance MRI customisation: </a:t>
                      </a:r>
                      <a:r>
                        <a:rPr lang="en-GB" sz="1200" b="0" kern="1200" spc="0" baseline="0" dirty="0">
                          <a:solidFill>
                            <a:schemeClr val="accent2"/>
                          </a:solidFill>
                          <a:latin typeface="Montserrat" panose="00000500000000000000" pitchFamily="50" charset="0"/>
                          <a:ea typeface="+mn-ea"/>
                          <a:cs typeface="+mn-cs"/>
                        </a:rPr>
                        <a:t>ensure MRI calculations and reports take into account changes brought forward by the original FRD delivered by MRI to solve this problem</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00B05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00B050"/>
                    </a:solidFill>
                  </a:tcPr>
                </a:tc>
                <a:extLst>
                  <a:ext uri="{0D108BD9-81ED-4DB2-BD59-A6C34878D82A}">
                    <a16:rowId xmlns:a16="http://schemas.microsoft.com/office/drawing/2014/main" val="4012951898"/>
                  </a:ext>
                </a:extLst>
              </a:tr>
              <a:tr h="370840">
                <a:tc>
                  <a:txBody>
                    <a:bodyPr/>
                    <a:lstStyle/>
                    <a:p>
                      <a:endParaRPr lang="en-GB"/>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indent="0" algn="l" defTabSz="685800" rtl="0" eaLnBrk="1" latinLnBrk="0" hangingPunct="1">
                        <a:lnSpc>
                          <a:spcPct val="90000"/>
                        </a:lnSpc>
                        <a:spcBef>
                          <a:spcPts val="600"/>
                        </a:spcBef>
                        <a:buFont typeface="Arial" panose="020B0604020202020204" pitchFamily="34" charset="0"/>
                        <a:buNone/>
                      </a:pPr>
                      <a:r>
                        <a:rPr lang="en-GB" sz="1200" b="1" kern="1200" spc="0" baseline="0" dirty="0">
                          <a:solidFill>
                            <a:schemeClr val="accent2"/>
                          </a:solidFill>
                          <a:latin typeface="Montserrat" panose="00000500000000000000" pitchFamily="50" charset="0"/>
                          <a:ea typeface="+mn-ea"/>
                          <a:cs typeface="+mn-cs"/>
                        </a:rPr>
                        <a:t>Manage regulated tenancies to the CM module: </a:t>
                      </a:r>
                      <a:r>
                        <a:rPr lang="en-GB" sz="1200" b="0" kern="1200" spc="0" baseline="0" dirty="0">
                          <a:solidFill>
                            <a:schemeClr val="accent2"/>
                          </a:solidFill>
                          <a:latin typeface="Montserrat" panose="00000500000000000000" pitchFamily="50" charset="0"/>
                          <a:ea typeface="+mn-ea"/>
                          <a:cs typeface="+mn-cs"/>
                        </a:rPr>
                        <a:t>adapt CM, FSI and integrations to accommodate all financial and property management processes for regulated </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extLst>
                  <a:ext uri="{0D108BD9-81ED-4DB2-BD59-A6C34878D82A}">
                    <a16:rowId xmlns:a16="http://schemas.microsoft.com/office/drawing/2014/main" val="2466411385"/>
                  </a:ext>
                </a:extLst>
              </a:tr>
              <a:tr h="370840">
                <a:tc>
                  <a:txBody>
                    <a:bodyPr/>
                    <a:lstStyle/>
                    <a:p>
                      <a:endParaRPr lang="en-GB"/>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indent="0" algn="l" defTabSz="685800" rtl="0" eaLnBrk="1" latinLnBrk="0" hangingPunct="1">
                        <a:lnSpc>
                          <a:spcPct val="90000"/>
                        </a:lnSpc>
                        <a:spcBef>
                          <a:spcPts val="600"/>
                        </a:spcBef>
                        <a:buFont typeface="Arial" panose="020B0604020202020204" pitchFamily="34" charset="0"/>
                        <a:buNone/>
                      </a:pPr>
                      <a:r>
                        <a:rPr lang="en-GB" sz="1200" b="1" kern="1200" spc="0" baseline="0" dirty="0">
                          <a:solidFill>
                            <a:schemeClr val="accent2"/>
                          </a:solidFill>
                          <a:latin typeface="Montserrat" panose="00000500000000000000" pitchFamily="50" charset="0"/>
                          <a:ea typeface="+mn-ea"/>
                          <a:cs typeface="+mn-cs"/>
                        </a:rPr>
                        <a:t>Adjust the process to charge monthly and collect weekly: </a:t>
                      </a:r>
                      <a:r>
                        <a:rPr lang="en-GB" sz="1200" b="0" kern="1200" spc="0" baseline="0" dirty="0">
                          <a:solidFill>
                            <a:schemeClr val="accent2"/>
                          </a:solidFill>
                          <a:latin typeface="Montserrat" panose="00000500000000000000" pitchFamily="50" charset="0"/>
                          <a:ea typeface="+mn-ea"/>
                          <a:cs typeface="+mn-cs"/>
                        </a:rPr>
                        <a:t>rework the credit control dashboard and change some principles around detecting, chasing and reporting arrears</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00B050"/>
                    </a:solidFill>
                  </a:tcPr>
                </a:tc>
                <a:tc>
                  <a:txBody>
                    <a:bodyPr/>
                    <a:lstStyle/>
                    <a:p>
                      <a:pPr algn="ctr"/>
                      <a:endParaRPr lang="en-GB" sz="1200" dirty="0"/>
                    </a:p>
                  </a:txBody>
                  <a:tcPr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extLst>
                  <a:ext uri="{0D108BD9-81ED-4DB2-BD59-A6C34878D82A}">
                    <a16:rowId xmlns:a16="http://schemas.microsoft.com/office/drawing/2014/main" val="446613033"/>
                  </a:ext>
                </a:extLst>
              </a:tr>
            </a:tbl>
          </a:graphicData>
        </a:graphic>
      </p:graphicFrame>
      <p:sp>
        <p:nvSpPr>
          <p:cNvPr id="2" name="Oval 1">
            <a:extLst>
              <a:ext uri="{FF2B5EF4-FFF2-40B4-BE49-F238E27FC236}">
                <a16:creationId xmlns:a16="http://schemas.microsoft.com/office/drawing/2014/main" id="{E3F2B4DE-4AFD-4DFD-AD5B-151C0AADBB69}"/>
              </a:ext>
            </a:extLst>
          </p:cNvPr>
          <p:cNvSpPr/>
          <p:nvPr/>
        </p:nvSpPr>
        <p:spPr>
          <a:xfrm>
            <a:off x="402085" y="3826168"/>
            <a:ext cx="302003" cy="302003"/>
          </a:xfrm>
          <a:prstGeom prst="ellipse">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1</a:t>
            </a:r>
            <a:endParaRPr lang="en-GB" dirty="0">
              <a:latin typeface="+mj-lt"/>
            </a:endParaRPr>
          </a:p>
        </p:txBody>
      </p:sp>
      <p:sp>
        <p:nvSpPr>
          <p:cNvPr id="7" name="Oval 6">
            <a:extLst>
              <a:ext uri="{FF2B5EF4-FFF2-40B4-BE49-F238E27FC236}">
                <a16:creationId xmlns:a16="http://schemas.microsoft.com/office/drawing/2014/main" id="{54F829BF-77D0-437C-91AE-6272584F0158}"/>
              </a:ext>
            </a:extLst>
          </p:cNvPr>
          <p:cNvSpPr/>
          <p:nvPr/>
        </p:nvSpPr>
        <p:spPr>
          <a:xfrm>
            <a:off x="402085" y="4413808"/>
            <a:ext cx="302003" cy="302003"/>
          </a:xfrm>
          <a:prstGeom prst="ellipse">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2</a:t>
            </a:r>
            <a:endParaRPr lang="en-GB" dirty="0">
              <a:latin typeface="+mj-lt"/>
            </a:endParaRPr>
          </a:p>
        </p:txBody>
      </p:sp>
      <p:sp>
        <p:nvSpPr>
          <p:cNvPr id="9" name="Oval 8">
            <a:extLst>
              <a:ext uri="{FF2B5EF4-FFF2-40B4-BE49-F238E27FC236}">
                <a16:creationId xmlns:a16="http://schemas.microsoft.com/office/drawing/2014/main" id="{25A89D82-035C-4D8C-96F4-CD7D789169A5}"/>
              </a:ext>
            </a:extLst>
          </p:cNvPr>
          <p:cNvSpPr/>
          <p:nvPr/>
        </p:nvSpPr>
        <p:spPr>
          <a:xfrm>
            <a:off x="402085" y="5001449"/>
            <a:ext cx="302003" cy="302003"/>
          </a:xfrm>
          <a:prstGeom prst="ellipse">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3</a:t>
            </a:r>
            <a:endParaRPr lang="en-GB" dirty="0">
              <a:latin typeface="+mj-lt"/>
            </a:endParaRPr>
          </a:p>
        </p:txBody>
      </p:sp>
    </p:spTree>
    <p:extLst>
      <p:ext uri="{BB962C8B-B14F-4D97-AF65-F5344CB8AC3E}">
        <p14:creationId xmlns:p14="http://schemas.microsoft.com/office/powerpoint/2010/main" val="23128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036728-7904-4655-98B3-52CDC0B30A28}"/>
              </a:ext>
            </a:extLst>
          </p:cNvPr>
          <p:cNvSpPr>
            <a:spLocks noGrp="1"/>
          </p:cNvSpPr>
          <p:nvPr>
            <p:ph idx="1"/>
          </p:nvPr>
        </p:nvSpPr>
        <p:spPr/>
        <p:txBody>
          <a:bodyPr>
            <a:normAutofit/>
          </a:bodyPr>
          <a:lstStyle/>
          <a:p>
            <a:r>
              <a:rPr lang="en-GB" sz="1200" spc="0" dirty="0"/>
              <a:t>As much as Grainger would like to harmonise the frequency in which it raises charges / collects payment from its customers (with monthly being the preferred frequency for rent charges), in reality there are circa 1,300 tenancies in the regulated portfolio which require us to charge rent weekly.</a:t>
            </a:r>
          </a:p>
          <a:p>
            <a:r>
              <a:rPr lang="en-GB" sz="1200" spc="0" dirty="0"/>
              <a:t>The MRI software (the core ERP solution in the Connect platform) is unable to process weekly charges in its residential module (RM). Designed for the USA market, where weekly rents are not common practice, MRI has put weekly charging in its product development roadmap but doesn’t plan to have this feature ready within the timelines of the Connect programme.</a:t>
            </a:r>
          </a:p>
          <a:p>
            <a:r>
              <a:rPr lang="en-GB" sz="1200" spc="0" dirty="0"/>
              <a:t>MRI did provide a customisation (FRD), free of charge to Grainger, that enables the RM module to charge weekly – but that held all non-standard charges in a separate table, rendering all MRI reports / calculations that rely on this data inaccurate. For this reason Grainger rejected the FRD.</a:t>
            </a:r>
          </a:p>
          <a:p>
            <a:r>
              <a:rPr lang="en-GB" sz="1200" spc="0" dirty="0"/>
              <a:t>Even though the issue is known since early 2019, the recommendation to move regulated tenancies into the commercial module (CM) was formulated in November 2019 and was discussed with the Detailed Design Alignment (DDA) in early December 2019. The feedback from the the DDA was:</a:t>
            </a:r>
          </a:p>
          <a:p>
            <a:pPr marL="171450" indent="-171450">
              <a:spcBef>
                <a:spcPts val="600"/>
              </a:spcBef>
              <a:buFontTx/>
              <a:buChar char="-"/>
            </a:pPr>
            <a:r>
              <a:rPr lang="en-GB" sz="1200" spc="0" dirty="0"/>
              <a:t>To better understand the cross-platform impacts of the recommendation (not sufficiently explored in the original paper), especially in the realms of operations (FSI), integrations, and data security / migration</a:t>
            </a:r>
          </a:p>
          <a:p>
            <a:pPr marL="171450" indent="-171450">
              <a:spcBef>
                <a:spcPts val="600"/>
              </a:spcBef>
              <a:buFontTx/>
              <a:buChar char="-"/>
            </a:pPr>
            <a:r>
              <a:rPr lang="en-GB" sz="1200" spc="0" dirty="0"/>
              <a:t>To establish what – if any – process changes Grainger could make to enable a different solution</a:t>
            </a:r>
          </a:p>
          <a:p>
            <a:pPr marL="171450" indent="-171450">
              <a:spcBef>
                <a:spcPts val="600"/>
              </a:spcBef>
              <a:buFontTx/>
              <a:buChar char="-"/>
            </a:pPr>
            <a:r>
              <a:rPr lang="en-GB" sz="1200" spc="0" dirty="0"/>
              <a:t>Depending on the wider business impacts, to escalate this topic to the Design Authority</a:t>
            </a:r>
          </a:p>
          <a:p>
            <a:r>
              <a:rPr lang="en-GB" sz="1200" spc="0" dirty="0"/>
              <a:t>This paper summarises the feedback received from parties across the business: Mike Jones, Karen Burfield (operations), Lesley Richardson, Anne Stephenson (Credit Control), Neil Harker, Rob Johnston (Data), and Rob Symonds (Design Authority member).</a:t>
            </a:r>
          </a:p>
        </p:txBody>
      </p:sp>
      <p:sp>
        <p:nvSpPr>
          <p:cNvPr id="3" name="Footer Placeholder 2">
            <a:extLst>
              <a:ext uri="{FF2B5EF4-FFF2-40B4-BE49-F238E27FC236}">
                <a16:creationId xmlns:a16="http://schemas.microsoft.com/office/drawing/2014/main" id="{13C4302F-440D-4921-9F22-9705542E04B7}"/>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9666DDEE-A94F-4CE1-981B-FC54DB4B523F}"/>
              </a:ext>
            </a:extLst>
          </p:cNvPr>
          <p:cNvSpPr>
            <a:spLocks noGrp="1"/>
          </p:cNvSpPr>
          <p:nvPr>
            <p:ph type="sldNum" sz="quarter" idx="12"/>
          </p:nvPr>
        </p:nvSpPr>
        <p:spPr/>
        <p:txBody>
          <a:bodyPr/>
          <a:lstStyle/>
          <a:p>
            <a:fld id="{0D32313A-DEBC-4CA4-B008-A02D4ABE2C72}" type="slidenum">
              <a:rPr lang="en-GB" smtClean="0"/>
              <a:t>3</a:t>
            </a:fld>
            <a:endParaRPr lang="en-GB" dirty="0"/>
          </a:p>
        </p:txBody>
      </p:sp>
      <p:sp>
        <p:nvSpPr>
          <p:cNvPr id="5" name="Title 4">
            <a:extLst>
              <a:ext uri="{FF2B5EF4-FFF2-40B4-BE49-F238E27FC236}">
                <a16:creationId xmlns:a16="http://schemas.microsoft.com/office/drawing/2014/main" id="{C0E15E30-4806-477D-A751-5DBC266FE8B9}"/>
              </a:ext>
            </a:extLst>
          </p:cNvPr>
          <p:cNvSpPr>
            <a:spLocks noGrp="1"/>
          </p:cNvSpPr>
          <p:nvPr>
            <p:ph type="title"/>
          </p:nvPr>
        </p:nvSpPr>
        <p:spPr/>
        <p:txBody>
          <a:bodyPr/>
          <a:lstStyle/>
          <a:p>
            <a:r>
              <a:rPr lang="en-GB" dirty="0"/>
              <a:t>Background &amp; Context</a:t>
            </a:r>
          </a:p>
        </p:txBody>
      </p:sp>
    </p:spTree>
    <p:extLst>
      <p:ext uri="{BB962C8B-B14F-4D97-AF65-F5344CB8AC3E}">
        <p14:creationId xmlns:p14="http://schemas.microsoft.com/office/powerpoint/2010/main" val="217352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BEEAC9B-45FD-41B9-8CFA-E0E78A10AEFA}"/>
              </a:ext>
            </a:extLst>
          </p:cNvPr>
          <p:cNvGraphicFramePr>
            <a:graphicFrameLocks noGrp="1"/>
          </p:cNvGraphicFramePr>
          <p:nvPr>
            <p:ph idx="1"/>
            <p:extLst>
              <p:ext uri="{D42A27DB-BD31-4B8C-83A1-F6EECF244321}">
                <p14:modId xmlns:p14="http://schemas.microsoft.com/office/powerpoint/2010/main" val="891248472"/>
              </p:ext>
            </p:extLst>
          </p:nvPr>
        </p:nvGraphicFramePr>
        <p:xfrm>
          <a:off x="358775" y="2779776"/>
          <a:ext cx="8426448" cy="3464684"/>
        </p:xfrm>
        <a:graphic>
          <a:graphicData uri="http://schemas.openxmlformats.org/drawingml/2006/table">
            <a:tbl>
              <a:tblPr/>
              <a:tblGrid>
                <a:gridCol w="1168092">
                  <a:extLst>
                    <a:ext uri="{9D8B030D-6E8A-4147-A177-3AD203B41FA5}">
                      <a16:colId xmlns:a16="http://schemas.microsoft.com/office/drawing/2014/main" val="4260020772"/>
                    </a:ext>
                  </a:extLst>
                </a:gridCol>
                <a:gridCol w="1209726">
                  <a:extLst>
                    <a:ext uri="{9D8B030D-6E8A-4147-A177-3AD203B41FA5}">
                      <a16:colId xmlns:a16="http://schemas.microsoft.com/office/drawing/2014/main" val="2205705042"/>
                    </a:ext>
                  </a:extLst>
                </a:gridCol>
                <a:gridCol w="1209726">
                  <a:extLst>
                    <a:ext uri="{9D8B030D-6E8A-4147-A177-3AD203B41FA5}">
                      <a16:colId xmlns:a16="http://schemas.microsoft.com/office/drawing/2014/main" val="783104242"/>
                    </a:ext>
                  </a:extLst>
                </a:gridCol>
                <a:gridCol w="1209726">
                  <a:extLst>
                    <a:ext uri="{9D8B030D-6E8A-4147-A177-3AD203B41FA5}">
                      <a16:colId xmlns:a16="http://schemas.microsoft.com/office/drawing/2014/main" val="3068789837"/>
                    </a:ext>
                  </a:extLst>
                </a:gridCol>
                <a:gridCol w="1209726">
                  <a:extLst>
                    <a:ext uri="{9D8B030D-6E8A-4147-A177-3AD203B41FA5}">
                      <a16:colId xmlns:a16="http://schemas.microsoft.com/office/drawing/2014/main" val="3900234969"/>
                    </a:ext>
                  </a:extLst>
                </a:gridCol>
                <a:gridCol w="1209726">
                  <a:extLst>
                    <a:ext uri="{9D8B030D-6E8A-4147-A177-3AD203B41FA5}">
                      <a16:colId xmlns:a16="http://schemas.microsoft.com/office/drawing/2014/main" val="890498235"/>
                    </a:ext>
                  </a:extLst>
                </a:gridCol>
                <a:gridCol w="1209726">
                  <a:extLst>
                    <a:ext uri="{9D8B030D-6E8A-4147-A177-3AD203B41FA5}">
                      <a16:colId xmlns:a16="http://schemas.microsoft.com/office/drawing/2014/main" val="3855158168"/>
                    </a:ext>
                  </a:extLst>
                </a:gridCol>
              </a:tblGrid>
              <a:tr h="257943">
                <a:tc>
                  <a:txBody>
                    <a:bodyPr/>
                    <a:lstStyle/>
                    <a:p>
                      <a:pPr algn="l" fontAlgn="b"/>
                      <a:endParaRPr lang="en-GB" sz="10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a:noFill/>
                    </a:lnB>
                  </a:tcPr>
                </a:tc>
                <a:tc gridSpan="2">
                  <a:txBody>
                    <a:bodyPr/>
                    <a:lstStyle/>
                    <a:p>
                      <a:pPr algn="ctr" fontAlgn="b"/>
                      <a:r>
                        <a:rPr lang="en-GB" sz="1000" b="1" i="0" u="none" strike="noStrike" dirty="0">
                          <a:solidFill>
                            <a:schemeClr val="bg1"/>
                          </a:solidFill>
                          <a:effectLst/>
                          <a:latin typeface="+mj-lt"/>
                        </a:rPr>
                        <a:t>Residential Module (RM)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hMerge="1">
                  <a:txBody>
                    <a:bodyPr/>
                    <a:lstStyle/>
                    <a:p>
                      <a:endParaRPr lang="en-GB"/>
                    </a:p>
                  </a:txBody>
                  <a:tcPr/>
                </a:tc>
                <a:tc>
                  <a:txBody>
                    <a:bodyPr/>
                    <a:lstStyle/>
                    <a:p>
                      <a:endParaRPr lang="en-GB" sz="1050" dirty="0">
                        <a:solidFill>
                          <a:schemeClr val="bg1"/>
                        </a:solidFill>
                        <a:latin typeface="+mj-lt"/>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gridSpan="2">
                  <a:txBody>
                    <a:bodyPr/>
                    <a:lstStyle/>
                    <a:p>
                      <a:pPr algn="ctr" fontAlgn="b"/>
                      <a:r>
                        <a:rPr lang="en-GB" sz="1000" b="1" i="0" u="none" strike="noStrike" dirty="0">
                          <a:solidFill>
                            <a:schemeClr val="bg1"/>
                          </a:solidFill>
                          <a:effectLst/>
                          <a:latin typeface="+mj-lt"/>
                        </a:rPr>
                        <a:t>Commercial Module (CM)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hMerge="1">
                  <a:txBody>
                    <a:bodyPr/>
                    <a:lstStyle/>
                    <a:p>
                      <a:pPr algn="ctr"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3">
                  <a:txBody>
                    <a:bodyPr/>
                    <a:lstStyle/>
                    <a:p>
                      <a:pPr algn="ctr" fontAlgn="b"/>
                      <a:r>
                        <a:rPr lang="en-GB" sz="1000" b="1" i="0" u="none" strike="noStrike" dirty="0">
                          <a:solidFill>
                            <a:schemeClr val="bg1"/>
                          </a:solidFill>
                          <a:effectLst/>
                          <a:latin typeface="+mj-lt"/>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838324676"/>
                  </a:ext>
                </a:extLst>
              </a:tr>
              <a:tr h="406504">
                <a:tc>
                  <a:txBody>
                    <a:bodyPr/>
                    <a:lstStyle/>
                    <a:p>
                      <a:pPr algn="r" fontAlgn="b"/>
                      <a:r>
                        <a:rPr lang="en-GB" sz="1000" b="1" i="0" u="none" strike="noStrike" dirty="0">
                          <a:solidFill>
                            <a:srgbClr val="000000"/>
                          </a:solidFill>
                          <a:effectLst/>
                          <a:latin typeface="+mj-lt"/>
                        </a:rPr>
                        <a:t>Tenure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a:noFill/>
                    </a:lnB>
                  </a:tcPr>
                </a:tc>
                <a:tc rowSpan="2">
                  <a:txBody>
                    <a:bodyPr/>
                    <a:lstStyle/>
                    <a:p>
                      <a:pPr algn="ctr" fontAlgn="b"/>
                      <a:r>
                        <a:rPr lang="en-GB" sz="1000" b="1" i="0" u="none" strike="noStrike" dirty="0">
                          <a:solidFill>
                            <a:schemeClr val="bg1"/>
                          </a:solidFill>
                          <a:effectLst/>
                          <a:latin typeface="+mj-lt"/>
                        </a:rPr>
                        <a:t>Short tenancies (BTR, AST, Comp-Let,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Garages / Sheds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Regulated, Assured, Weekly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rowSpan="2">
                  <a:txBody>
                    <a:bodyPr/>
                    <a:lstStyle/>
                    <a:p>
                      <a:pPr algn="ctr" fontAlgn="b"/>
                      <a:r>
                        <a:rPr lang="en-GB" sz="1000" b="1" i="0" u="none" strike="noStrike" dirty="0">
                          <a:solidFill>
                            <a:schemeClr val="bg1"/>
                          </a:solidFill>
                          <a:effectLst/>
                          <a:latin typeface="+mj-lt"/>
                        </a:rPr>
                        <a:t>Commercial, Leasehold, Ground Rents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2">
                  <a:txBody>
                    <a:bodyPr/>
                    <a:lstStyle/>
                    <a:p>
                      <a:pPr algn="ctr" fontAlgn="b"/>
                      <a:r>
                        <a:rPr lang="en-GB" sz="1000" b="1" i="0" u="none" strike="noStrike" dirty="0">
                          <a:solidFill>
                            <a:schemeClr val="bg1"/>
                          </a:solidFill>
                          <a:effectLst/>
                          <a:latin typeface="+mj-lt"/>
                        </a:rPr>
                        <a:t>Shared Ownership</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vMerge="1">
                  <a:txBody>
                    <a:bodyPr/>
                    <a:lstStyle/>
                    <a:p>
                      <a:pPr algn="l"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73487339"/>
                  </a:ext>
                </a:extLst>
              </a:tr>
              <a:tr h="406504">
                <a:tc>
                  <a:txBody>
                    <a:bodyPr/>
                    <a:lstStyle/>
                    <a:p>
                      <a:pPr algn="l" fontAlgn="b"/>
                      <a:r>
                        <a:rPr lang="en-GB" sz="1000" b="1" i="0" u="none" strike="noStrike" dirty="0">
                          <a:solidFill>
                            <a:srgbClr val="000000"/>
                          </a:solidFill>
                          <a:effectLst/>
                          <a:latin typeface="+mj-lt"/>
                        </a:rPr>
                        <a:t>Billing Freq</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w="12700" cap="flat" cmpd="sng" algn="ctr">
                      <a:solidFill>
                        <a:srgbClr val="4D858D"/>
                      </a:solidFill>
                      <a:prstDash val="solid"/>
                      <a:round/>
                      <a:headEnd type="none" w="med" len="med"/>
                      <a:tailEnd type="none" w="med" len="med"/>
                    </a:lnB>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30385602"/>
                  </a:ext>
                </a:extLst>
              </a:tr>
              <a:tr h="132029">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extLst>
                  <a:ext uri="{0D108BD9-81ED-4DB2-BD59-A6C34878D82A}">
                    <a16:rowId xmlns:a16="http://schemas.microsoft.com/office/drawing/2014/main" val="1296081887"/>
                  </a:ext>
                </a:extLst>
              </a:tr>
              <a:tr h="249471">
                <a:tc>
                  <a:txBody>
                    <a:bodyPr/>
                    <a:lstStyle/>
                    <a:p>
                      <a:pPr algn="l" fontAlgn="b"/>
                      <a:r>
                        <a:rPr lang="en-GB" sz="1000" b="0" i="0" u="none" strike="noStrike" dirty="0">
                          <a:solidFill>
                            <a:srgbClr val="000000"/>
                          </a:solidFill>
                          <a:effectLst/>
                          <a:latin typeface="Montserrat" panose="00000500000000000000" pitchFamily="50" charset="0"/>
                        </a:rPr>
                        <a:t>Monthly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3,590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587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1,141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651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6,168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760136939"/>
                  </a:ext>
                </a:extLst>
              </a:tr>
              <a:tr h="418898">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Montserrat" panose="00000500000000000000" pitchFamily="50" charset="0"/>
                        </a:rPr>
                        <a:t>Quarterly, Half Yearly, Yearly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77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335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130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14,447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398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15,387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10269005"/>
                  </a:ext>
                </a:extLst>
              </a:tr>
              <a:tr h="139121">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708147945"/>
                  </a:ext>
                </a:extLst>
              </a:tr>
              <a:tr h="249471">
                <a:tc>
                  <a:txBody>
                    <a:bodyPr/>
                    <a:lstStyle/>
                    <a:p>
                      <a:pPr algn="l" fontAlgn="b"/>
                      <a:r>
                        <a:rPr lang="en-GB" sz="1000" b="0" i="0" u="none" strike="noStrike" dirty="0">
                          <a:solidFill>
                            <a:srgbClr val="000000"/>
                          </a:solidFill>
                          <a:effectLst/>
                          <a:latin typeface="Montserrat" panose="00000500000000000000" pitchFamily="50" charset="0"/>
                        </a:rPr>
                        <a:t>Weekly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1" i="0" u="none" strike="noStrike" dirty="0">
                          <a:solidFill>
                            <a:schemeClr val="bg1"/>
                          </a:solidFill>
                          <a:effectLst/>
                          <a:latin typeface="Montserrat" panose="00000500000000000000" pitchFamily="50" charset="0"/>
                        </a:rPr>
                        <a:t>1,292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0" u="none" strike="noStrike" dirty="0">
                          <a:solidFill>
                            <a:srgbClr val="000000"/>
                          </a:solidFill>
                          <a:effectLst/>
                          <a:latin typeface="Montserrat" panose="00000500000000000000" pitchFamily="50" charset="0"/>
                        </a:rPr>
                        <a:t>118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1,481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89339681"/>
                  </a:ext>
                </a:extLst>
              </a:tr>
              <a:tr h="588325">
                <a:tc>
                  <a:txBody>
                    <a:bodyPr/>
                    <a:lstStyle/>
                    <a:p>
                      <a:pPr algn="l" fontAlgn="b"/>
                      <a:r>
                        <a:rPr lang="en-GB" sz="1000" b="0" i="0" u="none" strike="noStrike" dirty="0">
                          <a:solidFill>
                            <a:srgbClr val="000000"/>
                          </a:solidFill>
                          <a:effectLst/>
                          <a:latin typeface="Montserrat" panose="00000500000000000000" pitchFamily="50" charset="0"/>
                        </a:rPr>
                        <a:t>Fortnightly, legal Quarters, Others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 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75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3</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1,471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1,540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152829403"/>
                  </a:ext>
                </a:extLst>
              </a:tr>
              <a:tr h="117476">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826889862"/>
                  </a:ext>
                </a:extLst>
              </a:tr>
              <a:tr h="249471">
                <a:tc rowSpan="2">
                  <a:txBody>
                    <a:bodyPr/>
                    <a:lstStyle/>
                    <a:p>
                      <a:pPr algn="l" fontAlgn="b"/>
                      <a:r>
                        <a:rPr lang="en-GB" sz="1000" b="1" i="0" u="none" strike="noStrike" dirty="0">
                          <a:solidFill>
                            <a:srgbClr val="000000"/>
                          </a:solidFill>
                          <a:effectLst/>
                          <a:latin typeface="Montserrat" panose="00000500000000000000" pitchFamily="50" charset="0"/>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3,731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1,002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chemeClr val="bg1"/>
                          </a:solidFill>
                          <a:effectLst/>
                          <a:latin typeface="Montserrat" panose="00000500000000000000" pitchFamily="50" charset="0"/>
                        </a:rPr>
                        <a:t>2,566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solidFill>
                      <a:srgbClr val="FF0000"/>
                    </a:solidFill>
                  </a:tcPr>
                </a:tc>
                <a:tc>
                  <a:txBody>
                    <a:bodyPr/>
                    <a:lstStyle/>
                    <a:p>
                      <a:pPr algn="r" fontAlgn="b"/>
                      <a:r>
                        <a:rPr lang="en-GB" sz="1000" b="1" i="0" u="none" strike="noStrike" dirty="0">
                          <a:solidFill>
                            <a:srgbClr val="000000"/>
                          </a:solidFill>
                          <a:effectLst/>
                          <a:latin typeface="Montserrat" panose="00000500000000000000" pitchFamily="50" charset="0"/>
                        </a:rPr>
                        <a:t>16,688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599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24,586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275672"/>
                  </a:ext>
                </a:extLst>
              </a:tr>
              <a:tr h="249471">
                <a:tc vMerge="1">
                  <a:txBody>
                    <a:bodyPr/>
                    <a:lstStyle/>
                    <a:p>
                      <a:pPr algn="l" fontAlgn="b"/>
                      <a:endParaRPr lang="en-GB" sz="1000" b="0" i="0" u="none" strike="noStrike" dirty="0">
                        <a:solidFill>
                          <a:srgbClr val="000000"/>
                        </a:solidFill>
                        <a:effectLst/>
                        <a:latin typeface="Montserrat" panose="00000500000000000000" pitchFamily="50" charset="0"/>
                      </a:endParaRPr>
                    </a:p>
                  </a:txBody>
                  <a:tcPr marL="72000" marR="72000" marT="36000" marB="36000" anchor="b">
                    <a:lnL>
                      <a:noFill/>
                    </a:lnL>
                    <a:lnR w="12700" cap="flat" cmpd="sng" algn="ctr">
                      <a:solidFill>
                        <a:srgbClr val="4D858D"/>
                      </a:solidFill>
                      <a:prstDash val="solid"/>
                      <a:round/>
                      <a:headEnd type="none" w="med" len="med"/>
                      <a:tailEnd type="none" w="med" len="med"/>
                    </a:lnR>
                    <a:lnT>
                      <a:noFill/>
                    </a:lnT>
                    <a:lnB>
                      <a:noFill/>
                    </a:lnB>
                  </a:tcPr>
                </a:tc>
                <a:tc>
                  <a:txBody>
                    <a:bodyPr/>
                    <a:lstStyle/>
                    <a:p>
                      <a:pPr algn="r" fontAlgn="b"/>
                      <a:r>
                        <a:rPr lang="en-GB" sz="1000" b="0" i="1" u="none" strike="noStrike" dirty="0">
                          <a:solidFill>
                            <a:srgbClr val="000000"/>
                          </a:solidFill>
                          <a:effectLst/>
                          <a:latin typeface="Montserrat" panose="00000500000000000000" pitchFamily="50" charset="0"/>
                        </a:rPr>
                        <a:t>15%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chemeClr val="bg1"/>
                          </a:solidFill>
                          <a:effectLst/>
                          <a:latin typeface="Montserrat" panose="00000500000000000000" pitchFamily="50" charset="0"/>
                        </a:rPr>
                        <a:t>10%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1" u="none" strike="noStrike" dirty="0">
                          <a:solidFill>
                            <a:srgbClr val="000000"/>
                          </a:solidFill>
                          <a:effectLst/>
                          <a:latin typeface="Montserrat" panose="00000500000000000000" pitchFamily="50" charset="0"/>
                        </a:rPr>
                        <a:t>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100%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321332990"/>
                  </a:ext>
                </a:extLst>
              </a:tr>
            </a:tbl>
          </a:graphicData>
        </a:graphic>
      </p:graphicFrame>
      <p:sp>
        <p:nvSpPr>
          <p:cNvPr id="3" name="Footer Placeholder 2">
            <a:extLst>
              <a:ext uri="{FF2B5EF4-FFF2-40B4-BE49-F238E27FC236}">
                <a16:creationId xmlns:a16="http://schemas.microsoft.com/office/drawing/2014/main" id="{464D9BEF-9AC8-440A-81B4-5D16D19DE833}"/>
              </a:ext>
            </a:extLst>
          </p:cNvPr>
          <p:cNvSpPr>
            <a:spLocks noGrp="1"/>
          </p:cNvSpPr>
          <p:nvPr>
            <p:ph type="ftr" sz="quarter" idx="11"/>
          </p:nvPr>
        </p:nvSpPr>
        <p:spPr/>
        <p:txBody>
          <a:bodyPr/>
          <a:lstStyle/>
          <a:p>
            <a:r>
              <a:rPr lang="en-GB" dirty="0"/>
              <a:t>Grainger Plc  |  www.graingerplc.co.uk    |  Investor Day  |  September 2017</a:t>
            </a:r>
          </a:p>
        </p:txBody>
      </p:sp>
      <p:sp>
        <p:nvSpPr>
          <p:cNvPr id="4" name="Slide Number Placeholder 3">
            <a:extLst>
              <a:ext uri="{FF2B5EF4-FFF2-40B4-BE49-F238E27FC236}">
                <a16:creationId xmlns:a16="http://schemas.microsoft.com/office/drawing/2014/main" id="{C894ED77-9FE0-41D7-98AC-5586AC384038}"/>
              </a:ext>
            </a:extLst>
          </p:cNvPr>
          <p:cNvSpPr>
            <a:spLocks noGrp="1"/>
          </p:cNvSpPr>
          <p:nvPr>
            <p:ph type="sldNum" sz="quarter" idx="12"/>
          </p:nvPr>
        </p:nvSpPr>
        <p:spPr/>
        <p:txBody>
          <a:bodyPr/>
          <a:lstStyle/>
          <a:p>
            <a:fld id="{0D32313A-DEBC-4CA4-B008-A02D4ABE2C72}" type="slidenum">
              <a:rPr lang="en-GB" smtClean="0"/>
              <a:t>4</a:t>
            </a:fld>
            <a:endParaRPr lang="en-GB" dirty="0"/>
          </a:p>
        </p:txBody>
      </p:sp>
      <p:sp>
        <p:nvSpPr>
          <p:cNvPr id="5" name="Title 4">
            <a:extLst>
              <a:ext uri="{FF2B5EF4-FFF2-40B4-BE49-F238E27FC236}">
                <a16:creationId xmlns:a16="http://schemas.microsoft.com/office/drawing/2014/main" id="{BEDCA5BA-FE06-49A2-BC71-53A8AA875B39}"/>
              </a:ext>
            </a:extLst>
          </p:cNvPr>
          <p:cNvSpPr>
            <a:spLocks noGrp="1"/>
          </p:cNvSpPr>
          <p:nvPr>
            <p:ph type="title"/>
          </p:nvPr>
        </p:nvSpPr>
        <p:spPr>
          <a:xfrm>
            <a:off x="358775" y="270088"/>
            <a:ext cx="6646324" cy="937275"/>
          </a:xfrm>
        </p:spPr>
        <p:txBody>
          <a:bodyPr/>
          <a:lstStyle/>
          <a:p>
            <a:r>
              <a:rPr lang="en-GB" dirty="0"/>
              <a:t>Regulated Tenancies carry most of non-standard residential billing</a:t>
            </a:r>
          </a:p>
        </p:txBody>
      </p:sp>
      <p:cxnSp>
        <p:nvCxnSpPr>
          <p:cNvPr id="11" name="Straight Connector 10">
            <a:extLst>
              <a:ext uri="{FF2B5EF4-FFF2-40B4-BE49-F238E27FC236}">
                <a16:creationId xmlns:a16="http://schemas.microsoft.com/office/drawing/2014/main" id="{0BEFEFB4-4346-4898-9171-44B2A6DC4427}"/>
              </a:ext>
            </a:extLst>
          </p:cNvPr>
          <p:cNvCxnSpPr>
            <a:cxnSpLocks/>
          </p:cNvCxnSpPr>
          <p:nvPr/>
        </p:nvCxnSpPr>
        <p:spPr>
          <a:xfrm flipH="1" flipV="1">
            <a:off x="358774" y="2779775"/>
            <a:ext cx="1159130" cy="1051562"/>
          </a:xfrm>
          <a:prstGeom prst="line">
            <a:avLst/>
          </a:prstGeom>
          <a:ln w="12700">
            <a:solidFill>
              <a:srgbClr val="4D858D"/>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EB65D4A-587D-404C-9BE0-585B8B6AEEC5}"/>
              </a:ext>
            </a:extLst>
          </p:cNvPr>
          <p:cNvSpPr txBox="1">
            <a:spLocks/>
          </p:cNvSpPr>
          <p:nvPr/>
        </p:nvSpPr>
        <p:spPr>
          <a:xfrm>
            <a:off x="358774" y="1263933"/>
            <a:ext cx="8426449" cy="836460"/>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The guiding principle for splitting units across the 2 MRI modules (RM and CM) is based on the functionality in each one of the modules. CM is able to handle service charges, therefore it holds the commercial leases and also all tenures that involve service charges (leaseholds, ground rents, shared ownership). All the ‘short’ residential leases (mainly AST’s and regulated) would be held in RM. </a:t>
            </a:r>
          </a:p>
        </p:txBody>
      </p:sp>
      <p:sp>
        <p:nvSpPr>
          <p:cNvPr id="17" name="Oval 16">
            <a:extLst>
              <a:ext uri="{FF2B5EF4-FFF2-40B4-BE49-F238E27FC236}">
                <a16:creationId xmlns:a16="http://schemas.microsoft.com/office/drawing/2014/main" id="{0159C5BA-1828-447E-B9A5-77373B313021}"/>
              </a:ext>
            </a:extLst>
          </p:cNvPr>
          <p:cNvSpPr/>
          <p:nvPr/>
        </p:nvSpPr>
        <p:spPr>
          <a:xfrm>
            <a:off x="3886200" y="4739260"/>
            <a:ext cx="1304925" cy="35242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6700AB0F-D095-422F-9A4D-717F60088CCA}"/>
              </a:ext>
            </a:extLst>
          </p:cNvPr>
          <p:cNvSpPr/>
          <p:nvPr/>
        </p:nvSpPr>
        <p:spPr>
          <a:xfrm>
            <a:off x="358775" y="2120605"/>
            <a:ext cx="8426444" cy="542602"/>
          </a:xfrm>
          <a:prstGeom prst="rect">
            <a:avLst/>
          </a:prstGeom>
          <a:solidFill>
            <a:srgbClr val="FFFF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j-lt"/>
              </a:rPr>
              <a:t>The population impacted by the MRI deficiency are 1,292 regulated (and some affordable) tenants who are charged weekly. </a:t>
            </a:r>
            <a:r>
              <a:rPr lang="en-GB" sz="1000" dirty="0">
                <a:solidFill>
                  <a:schemeClr val="tx1"/>
                </a:solidFill>
              </a:rPr>
              <a:t>This is not a core customer segment for Grainger and is expected to shrink in the future. However the billing activity and arrears management are intense in this segment – so they should be the focus for a decision to be made in this topic. </a:t>
            </a:r>
          </a:p>
        </p:txBody>
      </p:sp>
      <p:cxnSp>
        <p:nvCxnSpPr>
          <p:cNvPr id="20" name="Straight Arrow Connector 19">
            <a:extLst>
              <a:ext uri="{FF2B5EF4-FFF2-40B4-BE49-F238E27FC236}">
                <a16:creationId xmlns:a16="http://schemas.microsoft.com/office/drawing/2014/main" id="{E2C48216-3E6C-4502-AD63-9783A78B647E}"/>
              </a:ext>
            </a:extLst>
          </p:cNvPr>
          <p:cNvCxnSpPr>
            <a:cxnSpLocks/>
            <a:endCxn id="17" idx="0"/>
          </p:cNvCxnSpPr>
          <p:nvPr/>
        </p:nvCxnSpPr>
        <p:spPr>
          <a:xfrm>
            <a:off x="3602736" y="2663207"/>
            <a:ext cx="935927" cy="20760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75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989B5E-DFA2-4D86-B95C-BD84778C7197}"/>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6DF5AAC1-4164-4F47-9F49-CFB53FA04AFC}"/>
              </a:ext>
            </a:extLst>
          </p:cNvPr>
          <p:cNvSpPr>
            <a:spLocks noGrp="1"/>
          </p:cNvSpPr>
          <p:nvPr>
            <p:ph type="sldNum" sz="quarter" idx="12"/>
          </p:nvPr>
        </p:nvSpPr>
        <p:spPr/>
        <p:txBody>
          <a:bodyPr/>
          <a:lstStyle/>
          <a:p>
            <a:fld id="{0D32313A-DEBC-4CA4-B008-A02D4ABE2C72}" type="slidenum">
              <a:rPr lang="en-GB" smtClean="0"/>
              <a:t>5</a:t>
            </a:fld>
            <a:endParaRPr lang="en-GB" dirty="0"/>
          </a:p>
        </p:txBody>
      </p:sp>
      <p:sp>
        <p:nvSpPr>
          <p:cNvPr id="5" name="Title 4">
            <a:extLst>
              <a:ext uri="{FF2B5EF4-FFF2-40B4-BE49-F238E27FC236}">
                <a16:creationId xmlns:a16="http://schemas.microsoft.com/office/drawing/2014/main" id="{93E5E871-13AB-47F6-A62A-6F2F695AEEEB}"/>
              </a:ext>
            </a:extLst>
          </p:cNvPr>
          <p:cNvSpPr>
            <a:spLocks noGrp="1"/>
          </p:cNvSpPr>
          <p:nvPr>
            <p:ph type="title"/>
          </p:nvPr>
        </p:nvSpPr>
        <p:spPr/>
        <p:txBody>
          <a:bodyPr/>
          <a:lstStyle/>
          <a:p>
            <a:r>
              <a:rPr lang="en-GB" dirty="0"/>
              <a:t>Regulated Tenancies:</a:t>
            </a:r>
            <a:br>
              <a:rPr lang="en-GB" dirty="0"/>
            </a:br>
            <a:r>
              <a:rPr lang="en-GB" dirty="0"/>
              <a:t>relevant facts</a:t>
            </a:r>
          </a:p>
        </p:txBody>
      </p:sp>
      <p:sp>
        <p:nvSpPr>
          <p:cNvPr id="6" name="Content Placeholder 2">
            <a:extLst>
              <a:ext uri="{FF2B5EF4-FFF2-40B4-BE49-F238E27FC236}">
                <a16:creationId xmlns:a16="http://schemas.microsoft.com/office/drawing/2014/main" id="{66F9DB1D-FAE7-4A7B-80D9-AAA95D12A44D}"/>
              </a:ext>
            </a:extLst>
          </p:cNvPr>
          <p:cNvSpPr txBox="1">
            <a:spLocks/>
          </p:cNvSpPr>
          <p:nvPr/>
        </p:nvSpPr>
        <p:spPr>
          <a:xfrm>
            <a:off x="366600" y="1236316"/>
            <a:ext cx="8426449" cy="903452"/>
          </a:xfrm>
          <a:prstGeom prst="rect">
            <a:avLst/>
          </a:prstGeom>
          <a:ln>
            <a:noFill/>
          </a:ln>
        </p:spPr>
        <p:txBody>
          <a:bodyPr vert="horz" lIns="84406" tIns="42203" rIns="84406" bIns="42203"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The key to finding the right answer in this topic may lie on some of the inherent characteristics of regulated tenancies. As Grainger strives to focus on high value customers, the regulated segment pose a challenge not only because they sit outside of the ‘core’, but because protections they enjoy – by old leases and by regulation – limit Grainger’s ability to implement a more consistent operating model</a:t>
            </a:r>
          </a:p>
        </p:txBody>
      </p:sp>
      <p:grpSp>
        <p:nvGrpSpPr>
          <p:cNvPr id="43" name="Group 42">
            <a:extLst>
              <a:ext uri="{FF2B5EF4-FFF2-40B4-BE49-F238E27FC236}">
                <a16:creationId xmlns:a16="http://schemas.microsoft.com/office/drawing/2014/main" id="{D0AC1661-E602-4DD2-BEFF-8BB6347F951F}"/>
              </a:ext>
            </a:extLst>
          </p:cNvPr>
          <p:cNvGrpSpPr/>
          <p:nvPr/>
        </p:nvGrpSpPr>
        <p:grpSpPr>
          <a:xfrm>
            <a:off x="365776" y="2147510"/>
            <a:ext cx="8419447" cy="540000"/>
            <a:chOff x="365776" y="2147510"/>
            <a:chExt cx="8419447" cy="540000"/>
          </a:xfrm>
        </p:grpSpPr>
        <p:sp>
          <p:nvSpPr>
            <p:cNvPr id="31" name="Rectangle: Rounded Corners 30">
              <a:extLst>
                <a:ext uri="{FF2B5EF4-FFF2-40B4-BE49-F238E27FC236}">
                  <a16:creationId xmlns:a16="http://schemas.microsoft.com/office/drawing/2014/main" id="{5DE7500B-2737-401E-9060-A1F1D7E15AE3}"/>
                </a:ext>
              </a:extLst>
            </p:cNvPr>
            <p:cNvSpPr/>
            <p:nvPr/>
          </p:nvSpPr>
          <p:spPr>
            <a:xfrm>
              <a:off x="365776" y="2147510"/>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en-GB" sz="1200" dirty="0">
                  <a:solidFill>
                    <a:srgbClr val="4D858D"/>
                  </a:solidFill>
                  <a:latin typeface="+mj-lt"/>
                </a:rPr>
                <a:t>Declining segment </a:t>
              </a:r>
              <a:r>
                <a:rPr lang="en-GB" sz="1200" dirty="0">
                  <a:solidFill>
                    <a:srgbClr val="4D858D"/>
                  </a:solidFill>
                  <a:latin typeface="Montserrat" panose="00000500000000000000" pitchFamily="50" charset="0"/>
                </a:rPr>
                <a:t>– no new leases are issued in this segment. Those that finish are converted to market tenancies or sold. The size of this portfolio decreases by ca. 7% every year</a:t>
              </a:r>
            </a:p>
          </p:txBody>
        </p:sp>
        <p:pic>
          <p:nvPicPr>
            <p:cNvPr id="8" name="Picture 7">
              <a:extLst>
                <a:ext uri="{FF2B5EF4-FFF2-40B4-BE49-F238E27FC236}">
                  <a16:creationId xmlns:a16="http://schemas.microsoft.com/office/drawing/2014/main" id="{FD91F9F7-D2F0-401B-A9CB-434B7D94F112}"/>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46954" y="2243216"/>
              <a:ext cx="350302" cy="374554"/>
            </a:xfrm>
            <a:prstGeom prst="rect">
              <a:avLst/>
            </a:prstGeom>
          </p:spPr>
        </p:pic>
        <p:sp>
          <p:nvSpPr>
            <p:cNvPr id="17" name="Oval 16">
              <a:extLst>
                <a:ext uri="{FF2B5EF4-FFF2-40B4-BE49-F238E27FC236}">
                  <a16:creationId xmlns:a16="http://schemas.microsoft.com/office/drawing/2014/main" id="{C6176848-8B62-4E26-A391-89F67008B460}"/>
                </a:ext>
              </a:extLst>
            </p:cNvPr>
            <p:cNvSpPr/>
            <p:nvPr/>
          </p:nvSpPr>
          <p:spPr>
            <a:xfrm>
              <a:off x="370105" y="2163501"/>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Group 45">
            <a:extLst>
              <a:ext uri="{FF2B5EF4-FFF2-40B4-BE49-F238E27FC236}">
                <a16:creationId xmlns:a16="http://schemas.microsoft.com/office/drawing/2014/main" id="{732D1266-7FBE-46AE-9076-0CD8D557658D}"/>
              </a:ext>
            </a:extLst>
          </p:cNvPr>
          <p:cNvGrpSpPr/>
          <p:nvPr/>
        </p:nvGrpSpPr>
        <p:grpSpPr>
          <a:xfrm>
            <a:off x="362274" y="3928310"/>
            <a:ext cx="8419447" cy="540000"/>
            <a:chOff x="362274" y="4087489"/>
            <a:chExt cx="8419447" cy="540000"/>
          </a:xfrm>
        </p:grpSpPr>
        <p:pic>
          <p:nvPicPr>
            <p:cNvPr id="9" name="Picture 8">
              <a:extLst>
                <a:ext uri="{FF2B5EF4-FFF2-40B4-BE49-F238E27FC236}">
                  <a16:creationId xmlns:a16="http://schemas.microsoft.com/office/drawing/2014/main" id="{1FCB9F0D-6351-4317-BB8F-0AB616044FD4}"/>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446808" y="4188249"/>
              <a:ext cx="350594" cy="324906"/>
            </a:xfrm>
            <a:prstGeom prst="rect">
              <a:avLst/>
            </a:prstGeom>
          </p:spPr>
        </p:pic>
        <p:sp>
          <p:nvSpPr>
            <p:cNvPr id="24" name="Oval 23">
              <a:extLst>
                <a:ext uri="{FF2B5EF4-FFF2-40B4-BE49-F238E27FC236}">
                  <a16:creationId xmlns:a16="http://schemas.microsoft.com/office/drawing/2014/main" id="{1A5E94FA-449C-4D95-AD28-152D9AC2D74E}"/>
                </a:ext>
              </a:extLst>
            </p:cNvPr>
            <p:cNvSpPr/>
            <p:nvPr/>
          </p:nvSpPr>
          <p:spPr>
            <a:xfrm>
              <a:off x="370105" y="4098702"/>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3C5E4663-F801-420A-8DA6-E15ABCD1466C}"/>
                </a:ext>
              </a:extLst>
            </p:cNvPr>
            <p:cNvSpPr/>
            <p:nvPr/>
          </p:nvSpPr>
          <p:spPr>
            <a:xfrm>
              <a:off x="362274" y="4087489"/>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Reliance on benefits </a:t>
              </a:r>
              <a:r>
                <a:rPr lang="en-GB" sz="1200" dirty="0">
                  <a:solidFill>
                    <a:srgbClr val="4D858D"/>
                  </a:solidFill>
                  <a:latin typeface="Montserrat" panose="00000500000000000000" pitchFamily="50" charset="0"/>
                </a:rPr>
                <a:t>– many customers in this segment pay rent using benefits. These benefits can be paid to the customer or directly to the landlord – many times on a weekly basis. </a:t>
              </a:r>
            </a:p>
          </p:txBody>
        </p:sp>
      </p:grpSp>
      <p:grpSp>
        <p:nvGrpSpPr>
          <p:cNvPr id="47" name="Group 46">
            <a:extLst>
              <a:ext uri="{FF2B5EF4-FFF2-40B4-BE49-F238E27FC236}">
                <a16:creationId xmlns:a16="http://schemas.microsoft.com/office/drawing/2014/main" id="{8FDED3C6-570D-4ED6-830D-AA6C911B8A5A}"/>
              </a:ext>
            </a:extLst>
          </p:cNvPr>
          <p:cNvGrpSpPr/>
          <p:nvPr/>
        </p:nvGrpSpPr>
        <p:grpSpPr>
          <a:xfrm>
            <a:off x="362276" y="4521910"/>
            <a:ext cx="8419447" cy="540000"/>
            <a:chOff x="362276" y="4626839"/>
            <a:chExt cx="8419447" cy="540000"/>
          </a:xfrm>
        </p:grpSpPr>
        <p:pic>
          <p:nvPicPr>
            <p:cNvPr id="10" name="Picture 9">
              <a:extLst>
                <a:ext uri="{FF2B5EF4-FFF2-40B4-BE49-F238E27FC236}">
                  <a16:creationId xmlns:a16="http://schemas.microsoft.com/office/drawing/2014/main" id="{9D760892-9FC7-450C-A99E-5D07EC0F57AF}"/>
                </a:ext>
              </a:extLst>
            </p:cNvPr>
            <p:cNvPicPr>
              <a:picLocks noChangeAspect="1"/>
            </p:cNvPicPr>
            <p:nvPr/>
          </p:nvPicPr>
          <p:blipFill rotWithShape="1">
            <a:blip r:embed="rId5">
              <a:duotone>
                <a:schemeClr val="accent1">
                  <a:shade val="45000"/>
                  <a:satMod val="135000"/>
                </a:schemeClr>
                <a:prstClr val="white"/>
              </a:duotone>
            </a:blip>
            <a:srcRect l="23299" t="19268" r="16653" b="24972"/>
            <a:stretch/>
          </p:blipFill>
          <p:spPr>
            <a:xfrm>
              <a:off x="426886" y="4720710"/>
              <a:ext cx="390438" cy="390438"/>
            </a:xfrm>
            <a:prstGeom prst="rect">
              <a:avLst/>
            </a:prstGeom>
          </p:spPr>
        </p:pic>
        <p:sp>
          <p:nvSpPr>
            <p:cNvPr id="25" name="Oval 24">
              <a:extLst>
                <a:ext uri="{FF2B5EF4-FFF2-40B4-BE49-F238E27FC236}">
                  <a16:creationId xmlns:a16="http://schemas.microsoft.com/office/drawing/2014/main" id="{4EF0483B-C1D4-46E8-9B83-0453C890EBAF}"/>
                </a:ext>
              </a:extLst>
            </p:cNvPr>
            <p:cNvSpPr/>
            <p:nvPr/>
          </p:nvSpPr>
          <p:spPr>
            <a:xfrm>
              <a:off x="370105" y="4643185"/>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36DBD01E-CACA-4905-B9AA-5A5A2E5699A7}"/>
                </a:ext>
              </a:extLst>
            </p:cNvPr>
            <p:cNvSpPr/>
            <p:nvPr/>
          </p:nvSpPr>
          <p:spPr>
            <a:xfrm>
              <a:off x="362276" y="4626839"/>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Low DD penetration </a:t>
              </a:r>
              <a:r>
                <a:rPr lang="en-GB" sz="1200" dirty="0">
                  <a:solidFill>
                    <a:srgbClr val="4D858D"/>
                  </a:solidFill>
                  <a:latin typeface="Montserrat" panose="00000500000000000000" pitchFamily="50" charset="0"/>
                </a:rPr>
                <a:t>– partly because of the above, this is the segment with most weekly payments and where customers pay the least via Direct Debit</a:t>
              </a:r>
            </a:p>
          </p:txBody>
        </p:sp>
      </p:grpSp>
      <p:grpSp>
        <p:nvGrpSpPr>
          <p:cNvPr id="52" name="Group 51">
            <a:extLst>
              <a:ext uri="{FF2B5EF4-FFF2-40B4-BE49-F238E27FC236}">
                <a16:creationId xmlns:a16="http://schemas.microsoft.com/office/drawing/2014/main" id="{D583B029-7DCF-4F31-8599-D31B229B45E8}"/>
              </a:ext>
            </a:extLst>
          </p:cNvPr>
          <p:cNvGrpSpPr/>
          <p:nvPr/>
        </p:nvGrpSpPr>
        <p:grpSpPr>
          <a:xfrm>
            <a:off x="361988" y="5709110"/>
            <a:ext cx="8427561" cy="540000"/>
            <a:chOff x="361988" y="5709110"/>
            <a:chExt cx="8427561" cy="540000"/>
          </a:xfrm>
        </p:grpSpPr>
        <p:pic>
          <p:nvPicPr>
            <p:cNvPr id="16" name="Picture 15">
              <a:extLst>
                <a:ext uri="{FF2B5EF4-FFF2-40B4-BE49-F238E27FC236}">
                  <a16:creationId xmlns:a16="http://schemas.microsoft.com/office/drawing/2014/main" id="{BE8B879B-5771-4988-A12D-F8BA819978B9}"/>
                </a:ext>
              </a:extLst>
            </p:cNvPr>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61988" y="5754972"/>
              <a:ext cx="511577" cy="440067"/>
            </a:xfrm>
            <a:prstGeom prst="rect">
              <a:avLst/>
            </a:prstGeom>
          </p:spPr>
        </p:pic>
        <p:sp>
          <p:nvSpPr>
            <p:cNvPr id="27" name="Oval 26">
              <a:extLst>
                <a:ext uri="{FF2B5EF4-FFF2-40B4-BE49-F238E27FC236}">
                  <a16:creationId xmlns:a16="http://schemas.microsoft.com/office/drawing/2014/main" id="{3D10F703-B18B-45DF-91A5-7A7694364E24}"/>
                </a:ext>
              </a:extLst>
            </p:cNvPr>
            <p:cNvSpPr/>
            <p:nvPr/>
          </p:nvSpPr>
          <p:spPr>
            <a:xfrm>
              <a:off x="365776" y="5723005"/>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Rounded Corners 40">
              <a:extLst>
                <a:ext uri="{FF2B5EF4-FFF2-40B4-BE49-F238E27FC236}">
                  <a16:creationId xmlns:a16="http://schemas.microsoft.com/office/drawing/2014/main" id="{159D48BA-1251-40EB-907E-0D8A2DA533D5}"/>
                </a:ext>
              </a:extLst>
            </p:cNvPr>
            <p:cNvSpPr/>
            <p:nvPr/>
          </p:nvSpPr>
          <p:spPr>
            <a:xfrm>
              <a:off x="370102" y="5709110"/>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Arrears</a:t>
              </a:r>
              <a:r>
                <a:rPr lang="en-GB" sz="1200" dirty="0">
                  <a:solidFill>
                    <a:srgbClr val="4D858D"/>
                  </a:solidFill>
                  <a:latin typeface="Montserrat" panose="00000500000000000000" pitchFamily="50" charset="0"/>
                </a:rPr>
                <a:t> – There is significant arrears activity within this segment (up to 500 open cases at this moment). The number of cases of court litigation is limited to below 20 per year.</a:t>
              </a:r>
            </a:p>
          </p:txBody>
        </p:sp>
      </p:grpSp>
      <p:grpSp>
        <p:nvGrpSpPr>
          <p:cNvPr id="44" name="Group 43">
            <a:extLst>
              <a:ext uri="{FF2B5EF4-FFF2-40B4-BE49-F238E27FC236}">
                <a16:creationId xmlns:a16="http://schemas.microsoft.com/office/drawing/2014/main" id="{C7A8E5DB-D8F5-4000-9B98-90A9A7EB996F}"/>
              </a:ext>
            </a:extLst>
          </p:cNvPr>
          <p:cNvGrpSpPr/>
          <p:nvPr/>
        </p:nvGrpSpPr>
        <p:grpSpPr>
          <a:xfrm>
            <a:off x="354448" y="2741110"/>
            <a:ext cx="8419447" cy="540000"/>
            <a:chOff x="354448" y="2996074"/>
            <a:chExt cx="8419447" cy="540000"/>
          </a:xfrm>
        </p:grpSpPr>
        <p:pic>
          <p:nvPicPr>
            <p:cNvPr id="1026" name="Picture 2" descr="Image result for reloading icon">
              <a:extLst>
                <a:ext uri="{FF2B5EF4-FFF2-40B4-BE49-F238E27FC236}">
                  <a16:creationId xmlns:a16="http://schemas.microsoft.com/office/drawing/2014/main" id="{E64EE295-B6BA-4AC0-A3D2-E29CE0B5573B}"/>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colorTemperature colorTemp="530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370105" y="3009736"/>
              <a:ext cx="504000" cy="504000"/>
            </a:xfrm>
            <a:prstGeom prst="rect">
              <a:avLst/>
            </a:prstGeom>
            <a:noFill/>
            <a:extLst>
              <a:ext uri="{909E8E84-426E-40DD-AFC4-6F175D3DCCD1}">
                <a14:hiddenFill xmlns:a14="http://schemas.microsoft.com/office/drawing/2010/main">
                  <a:solidFill>
                    <a:srgbClr val="FFFFFF"/>
                  </a:solidFill>
                </a14:hiddenFill>
              </a:ext>
            </a:extLst>
          </p:spPr>
        </p:pic>
        <p:sp>
          <p:nvSpPr>
            <p:cNvPr id="22" name="Oval 21">
              <a:extLst>
                <a:ext uri="{FF2B5EF4-FFF2-40B4-BE49-F238E27FC236}">
                  <a16:creationId xmlns:a16="http://schemas.microsoft.com/office/drawing/2014/main" id="{5048CD71-EBF8-41AA-B16B-945212DBEAAF}"/>
                </a:ext>
              </a:extLst>
            </p:cNvPr>
            <p:cNvSpPr/>
            <p:nvPr/>
          </p:nvSpPr>
          <p:spPr>
            <a:xfrm>
              <a:off x="370105" y="3009736"/>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Rounded Corners 35">
              <a:extLst>
                <a:ext uri="{FF2B5EF4-FFF2-40B4-BE49-F238E27FC236}">
                  <a16:creationId xmlns:a16="http://schemas.microsoft.com/office/drawing/2014/main" id="{3A539B81-F934-444C-8198-1A9C4965DADE}"/>
                </a:ext>
              </a:extLst>
            </p:cNvPr>
            <p:cNvSpPr/>
            <p:nvPr/>
          </p:nvSpPr>
          <p:spPr>
            <a:xfrm>
              <a:off x="354448" y="2996074"/>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No renewals </a:t>
              </a:r>
              <a:r>
                <a:rPr lang="en-GB" sz="1200" dirty="0">
                  <a:solidFill>
                    <a:srgbClr val="4D858D"/>
                  </a:solidFill>
                  <a:latin typeface="Montserrat" panose="00000500000000000000" pitchFamily="50" charset="0"/>
                </a:rPr>
                <a:t>– regulated tenancies are not renewed – leases in this segment date back decades and go through a ‘rent review’ process every 2-3 years to adjust rent values</a:t>
              </a:r>
            </a:p>
          </p:txBody>
        </p:sp>
        <p:cxnSp>
          <p:nvCxnSpPr>
            <p:cNvPr id="42" name="Straight Connector 41">
              <a:extLst>
                <a:ext uri="{FF2B5EF4-FFF2-40B4-BE49-F238E27FC236}">
                  <a16:creationId xmlns:a16="http://schemas.microsoft.com/office/drawing/2014/main" id="{3E6F6CDE-B0BB-4BA0-B180-4E57CC202001}"/>
                </a:ext>
              </a:extLst>
            </p:cNvPr>
            <p:cNvCxnSpPr>
              <a:stCxn id="22" idx="1"/>
              <a:endCxn id="22" idx="5"/>
            </p:cNvCxnSpPr>
            <p:nvPr/>
          </p:nvCxnSpPr>
          <p:spPr>
            <a:xfrm>
              <a:off x="443914" y="3083545"/>
              <a:ext cx="356382" cy="356382"/>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6DF9A200-0D7A-487B-8320-86D89D6D3716}"/>
              </a:ext>
            </a:extLst>
          </p:cNvPr>
          <p:cNvGrpSpPr/>
          <p:nvPr/>
        </p:nvGrpSpPr>
        <p:grpSpPr>
          <a:xfrm>
            <a:off x="370105" y="3334710"/>
            <a:ext cx="8419447" cy="540000"/>
            <a:chOff x="370105" y="3542886"/>
            <a:chExt cx="8419447" cy="540000"/>
          </a:xfrm>
        </p:grpSpPr>
        <p:pic>
          <p:nvPicPr>
            <p:cNvPr id="1030" name="Picture 6" descr="Image result for empty house icon">
              <a:extLst>
                <a:ext uri="{FF2B5EF4-FFF2-40B4-BE49-F238E27FC236}">
                  <a16:creationId xmlns:a16="http://schemas.microsoft.com/office/drawing/2014/main" id="{333179DE-F072-40D9-9AB1-1506B91B7879}"/>
                </a:ext>
              </a:extLst>
            </p:cNvPr>
            <p:cNvPicPr>
              <a:picLocks noChangeAspect="1" noChangeArrowheads="1"/>
            </p:cNvPicPr>
            <p:nvPr/>
          </p:nvPicPr>
          <p:blipFill>
            <a:blip r:embed="rId9">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2443" y="3576557"/>
              <a:ext cx="459323" cy="459323"/>
            </a:xfrm>
            <a:prstGeom prst="rect">
              <a:avLst/>
            </a:prstGeom>
            <a:noFill/>
            <a:extLst>
              <a:ext uri="{909E8E84-426E-40DD-AFC4-6F175D3DCCD1}">
                <a14:hiddenFill xmlns:a14="http://schemas.microsoft.com/office/drawing/2010/main">
                  <a:solidFill>
                    <a:srgbClr val="FFFFFF"/>
                  </a:solidFill>
                </a14:hiddenFill>
              </a:ext>
            </a:extLst>
          </p:spPr>
        </p:pic>
        <p:sp>
          <p:nvSpPr>
            <p:cNvPr id="23" name="Oval 22">
              <a:extLst>
                <a:ext uri="{FF2B5EF4-FFF2-40B4-BE49-F238E27FC236}">
                  <a16:creationId xmlns:a16="http://schemas.microsoft.com/office/drawing/2014/main" id="{2063FA2A-CD5F-4E2E-B6F2-C4DCA48DE084}"/>
                </a:ext>
              </a:extLst>
            </p:cNvPr>
            <p:cNvSpPr/>
            <p:nvPr/>
          </p:nvSpPr>
          <p:spPr>
            <a:xfrm>
              <a:off x="370105" y="3554219"/>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Rounded Corners 36">
              <a:extLst>
                <a:ext uri="{FF2B5EF4-FFF2-40B4-BE49-F238E27FC236}">
                  <a16:creationId xmlns:a16="http://schemas.microsoft.com/office/drawing/2014/main" id="{0838297E-18C3-4025-9AE7-5096494542F0}"/>
                </a:ext>
              </a:extLst>
            </p:cNvPr>
            <p:cNvSpPr/>
            <p:nvPr/>
          </p:nvSpPr>
          <p:spPr>
            <a:xfrm>
              <a:off x="370105" y="3542886"/>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No voids </a:t>
              </a:r>
              <a:r>
                <a:rPr lang="en-GB" sz="1200" dirty="0">
                  <a:solidFill>
                    <a:srgbClr val="4D858D"/>
                  </a:solidFill>
                  <a:latin typeface="Montserrat" panose="00000500000000000000" pitchFamily="50" charset="0"/>
                </a:rPr>
                <a:t>– as a natural consequence of the 2 points above, regulated units don’t go ‘vacant’ or ‘void’ – when a regulated tenancy ends the unit is converted to a different tenure before any void incurs. </a:t>
              </a:r>
            </a:p>
          </p:txBody>
        </p:sp>
        <p:cxnSp>
          <p:nvCxnSpPr>
            <p:cNvPr id="48" name="Straight Connector 47">
              <a:extLst>
                <a:ext uri="{FF2B5EF4-FFF2-40B4-BE49-F238E27FC236}">
                  <a16:creationId xmlns:a16="http://schemas.microsoft.com/office/drawing/2014/main" id="{59CA07D9-6EB3-423E-885B-FA94B2440C88}"/>
                </a:ext>
              </a:extLst>
            </p:cNvPr>
            <p:cNvCxnSpPr/>
            <p:nvPr/>
          </p:nvCxnSpPr>
          <p:spPr>
            <a:xfrm>
              <a:off x="433813" y="3627790"/>
              <a:ext cx="356382" cy="356382"/>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B37DEDE-87A8-4C5F-B523-8DB3FFB68B11}"/>
              </a:ext>
            </a:extLst>
          </p:cNvPr>
          <p:cNvGrpSpPr/>
          <p:nvPr/>
        </p:nvGrpSpPr>
        <p:grpSpPr>
          <a:xfrm>
            <a:off x="370105" y="5115510"/>
            <a:ext cx="8427275" cy="540000"/>
            <a:chOff x="370105" y="5164507"/>
            <a:chExt cx="8427275" cy="540000"/>
          </a:xfrm>
        </p:grpSpPr>
        <p:sp>
          <p:nvSpPr>
            <p:cNvPr id="40" name="Rectangle: Rounded Corners 39">
              <a:extLst>
                <a:ext uri="{FF2B5EF4-FFF2-40B4-BE49-F238E27FC236}">
                  <a16:creationId xmlns:a16="http://schemas.microsoft.com/office/drawing/2014/main" id="{5D8B45CE-D601-4A77-872F-5E70210473B5}"/>
                </a:ext>
              </a:extLst>
            </p:cNvPr>
            <p:cNvSpPr/>
            <p:nvPr/>
          </p:nvSpPr>
          <p:spPr>
            <a:xfrm>
              <a:off x="377933" y="5164507"/>
              <a:ext cx="8419447" cy="540000"/>
            </a:xfrm>
            <a:prstGeom prst="roundRect">
              <a:avLst>
                <a:gd name="adj" fmla="val 50000"/>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5720" rIns="91440" bIns="45720" numCol="1" spcCol="0" rtlCol="0" fromWordArt="0" anchor="ctr" anchorCtr="0" forceAA="0" compatLnSpc="1">
              <a:prstTxWarp prst="textNoShape">
                <a:avLst/>
              </a:prstTxWarp>
              <a:noAutofit/>
            </a:bodyPr>
            <a:lstStyle/>
            <a:p>
              <a:r>
                <a:rPr lang="en-GB" sz="1200" dirty="0">
                  <a:solidFill>
                    <a:srgbClr val="4D858D"/>
                  </a:solidFill>
                  <a:latin typeface="+mj-lt"/>
                </a:rPr>
                <a:t>No regular statements </a:t>
              </a:r>
              <a:r>
                <a:rPr lang="en-GB" sz="1200" dirty="0">
                  <a:solidFill>
                    <a:srgbClr val="4D858D"/>
                  </a:solidFill>
                  <a:latin typeface="Montserrat" panose="00000500000000000000" pitchFamily="50" charset="0"/>
                </a:rPr>
                <a:t>– it is not part of the process to issue regular statements for regulated tenants or to make them visible via the customer portal. Statements are issued upon request. </a:t>
              </a:r>
            </a:p>
          </p:txBody>
        </p:sp>
        <p:sp>
          <p:nvSpPr>
            <p:cNvPr id="26" name="Oval 25">
              <a:extLst>
                <a:ext uri="{FF2B5EF4-FFF2-40B4-BE49-F238E27FC236}">
                  <a16:creationId xmlns:a16="http://schemas.microsoft.com/office/drawing/2014/main" id="{E65782DB-4873-4B62-B752-FA114A369C6A}"/>
                </a:ext>
              </a:extLst>
            </p:cNvPr>
            <p:cNvSpPr/>
            <p:nvPr/>
          </p:nvSpPr>
          <p:spPr>
            <a:xfrm>
              <a:off x="370105" y="5178524"/>
              <a:ext cx="504000" cy="504000"/>
            </a:xfrm>
            <a:prstGeom prst="ellipse">
              <a:avLst/>
            </a:prstGeom>
            <a:noFill/>
            <a:ln w="3810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34" name="Picture 10" descr="Image result for financial statement icon pound">
              <a:extLst>
                <a:ext uri="{FF2B5EF4-FFF2-40B4-BE49-F238E27FC236}">
                  <a16:creationId xmlns:a16="http://schemas.microsoft.com/office/drawing/2014/main" id="{D672BD72-10FA-4168-AD52-6EDB25C39329}"/>
                </a:ext>
              </a:extLst>
            </p:cNvPr>
            <p:cNvPicPr>
              <a:picLocks noChangeAspect="1" noChangeArrowheads="1"/>
            </p:cNvPicPr>
            <p:nvPr/>
          </p:nvPicPr>
          <p:blipFill>
            <a:blip r:embed="rId10">
              <a:duotone>
                <a:schemeClr val="accent1">
                  <a:shade val="45000"/>
                  <a:satMod val="135000"/>
                </a:schemeClr>
                <a:prstClr val="white"/>
              </a:duotone>
              <a:extLst>
                <a:ext uri="{BEBA8EAE-BF5A-486C-A8C5-ECC9F3942E4B}">
                  <a14:imgProps xmlns:a14="http://schemas.microsoft.com/office/drawing/2010/main">
                    <a14:imgLayer r:embed="rId11">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426886" y="5237083"/>
              <a:ext cx="396000" cy="396000"/>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Connector 48">
              <a:extLst>
                <a:ext uri="{FF2B5EF4-FFF2-40B4-BE49-F238E27FC236}">
                  <a16:creationId xmlns:a16="http://schemas.microsoft.com/office/drawing/2014/main" id="{4C722764-3EE3-4B4A-88F3-580E64C51C89}"/>
                </a:ext>
              </a:extLst>
            </p:cNvPr>
            <p:cNvCxnSpPr/>
            <p:nvPr/>
          </p:nvCxnSpPr>
          <p:spPr>
            <a:xfrm>
              <a:off x="436431" y="5255211"/>
              <a:ext cx="356382" cy="356382"/>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95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3E37B05-AD0E-478E-8450-335BFB826A19}"/>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EAD2BE93-8DCC-4350-B1CF-58A3DC86075E}"/>
              </a:ext>
            </a:extLst>
          </p:cNvPr>
          <p:cNvSpPr>
            <a:spLocks noGrp="1"/>
          </p:cNvSpPr>
          <p:nvPr>
            <p:ph type="sldNum" sz="quarter" idx="12"/>
          </p:nvPr>
        </p:nvSpPr>
        <p:spPr/>
        <p:txBody>
          <a:bodyPr/>
          <a:lstStyle/>
          <a:p>
            <a:fld id="{0D32313A-DEBC-4CA4-B008-A02D4ABE2C72}" type="slidenum">
              <a:rPr lang="en-GB" smtClean="0"/>
              <a:t>6</a:t>
            </a:fld>
            <a:endParaRPr lang="en-GB" dirty="0"/>
          </a:p>
        </p:txBody>
      </p:sp>
      <p:sp>
        <p:nvSpPr>
          <p:cNvPr id="5" name="Title 4">
            <a:extLst>
              <a:ext uri="{FF2B5EF4-FFF2-40B4-BE49-F238E27FC236}">
                <a16:creationId xmlns:a16="http://schemas.microsoft.com/office/drawing/2014/main" id="{C8454F12-D323-45E9-9BC8-A9DDC67A26B6}"/>
              </a:ext>
            </a:extLst>
          </p:cNvPr>
          <p:cNvSpPr>
            <a:spLocks noGrp="1"/>
          </p:cNvSpPr>
          <p:nvPr>
            <p:ph type="title"/>
          </p:nvPr>
        </p:nvSpPr>
        <p:spPr/>
        <p:txBody>
          <a:bodyPr/>
          <a:lstStyle/>
          <a:p>
            <a:r>
              <a:rPr lang="en-GB" dirty="0"/>
              <a:t>Summary of solutions considered</a:t>
            </a:r>
          </a:p>
        </p:txBody>
      </p:sp>
      <p:sp>
        <p:nvSpPr>
          <p:cNvPr id="6" name="Content Placeholder 2">
            <a:extLst>
              <a:ext uri="{FF2B5EF4-FFF2-40B4-BE49-F238E27FC236}">
                <a16:creationId xmlns:a16="http://schemas.microsoft.com/office/drawing/2014/main" id="{68D8DB67-6480-4BE0-A836-5E3ADA809661}"/>
              </a:ext>
            </a:extLst>
          </p:cNvPr>
          <p:cNvSpPr txBox="1">
            <a:spLocks/>
          </p:cNvSpPr>
          <p:nvPr/>
        </p:nvSpPr>
        <p:spPr>
          <a:xfrm>
            <a:off x="358775" y="1263933"/>
            <a:ext cx="8426449" cy="1017102"/>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All the alternatives we investigated to compensate for MRI’s inability to bill weekly will bring significant consequences to the Connect programme or the BAU operations after go-live. The ‘traditional’ route of customising MRI has been ruled as complex and short-lived. The move to CM will result in re-work in the FSI system and higher integration complexity. The process change route is not seen as suitable by Finance.  The next pages show more detail on each option and its implications.</a:t>
            </a:r>
          </a:p>
        </p:txBody>
      </p:sp>
      <p:graphicFrame>
        <p:nvGraphicFramePr>
          <p:cNvPr id="11" name="Table 10">
            <a:extLst>
              <a:ext uri="{FF2B5EF4-FFF2-40B4-BE49-F238E27FC236}">
                <a16:creationId xmlns:a16="http://schemas.microsoft.com/office/drawing/2014/main" id="{93482BC1-F993-470F-A56C-0C3EC9409CDC}"/>
              </a:ext>
            </a:extLst>
          </p:cNvPr>
          <p:cNvGraphicFramePr>
            <a:graphicFrameLocks noGrp="1"/>
          </p:cNvGraphicFramePr>
          <p:nvPr>
            <p:extLst>
              <p:ext uri="{D42A27DB-BD31-4B8C-83A1-F6EECF244321}">
                <p14:modId xmlns:p14="http://schemas.microsoft.com/office/powerpoint/2010/main" val="607544248"/>
              </p:ext>
            </p:extLst>
          </p:nvPr>
        </p:nvGraphicFramePr>
        <p:xfrm>
          <a:off x="358774" y="3575856"/>
          <a:ext cx="8426452" cy="2710648"/>
        </p:xfrm>
        <a:graphic>
          <a:graphicData uri="http://schemas.openxmlformats.org/drawingml/2006/table">
            <a:tbl>
              <a:tblPr>
                <a:tableStyleId>{5C22544A-7EE6-4342-B048-85BDC9FD1C3A}</a:tableStyleId>
              </a:tblPr>
              <a:tblGrid>
                <a:gridCol w="908051">
                  <a:extLst>
                    <a:ext uri="{9D8B030D-6E8A-4147-A177-3AD203B41FA5}">
                      <a16:colId xmlns:a16="http://schemas.microsoft.com/office/drawing/2014/main" val="3080635315"/>
                    </a:ext>
                  </a:extLst>
                </a:gridCol>
                <a:gridCol w="2505075">
                  <a:extLst>
                    <a:ext uri="{9D8B030D-6E8A-4147-A177-3AD203B41FA5}">
                      <a16:colId xmlns:a16="http://schemas.microsoft.com/office/drawing/2014/main" val="3687691128"/>
                    </a:ext>
                  </a:extLst>
                </a:gridCol>
                <a:gridCol w="2524125">
                  <a:extLst>
                    <a:ext uri="{9D8B030D-6E8A-4147-A177-3AD203B41FA5}">
                      <a16:colId xmlns:a16="http://schemas.microsoft.com/office/drawing/2014/main" val="190490317"/>
                    </a:ext>
                  </a:extLst>
                </a:gridCol>
                <a:gridCol w="2489201">
                  <a:extLst>
                    <a:ext uri="{9D8B030D-6E8A-4147-A177-3AD203B41FA5}">
                      <a16:colId xmlns:a16="http://schemas.microsoft.com/office/drawing/2014/main" val="639075231"/>
                    </a:ext>
                  </a:extLst>
                </a:gridCol>
              </a:tblGrid>
              <a:tr h="420402">
                <a:tc>
                  <a:txBody>
                    <a:bodyPr/>
                    <a:lstStyle/>
                    <a:p>
                      <a:r>
                        <a:rPr lang="en-GB" sz="1000" dirty="0">
                          <a:latin typeface="+mj-lt"/>
                        </a:rPr>
                        <a:t>MRI</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GB" sz="1000" i="1" dirty="0">
                          <a:solidFill>
                            <a:schemeClr val="bg1"/>
                          </a:solidFill>
                        </a:rPr>
                        <a:t>Significant work to enhance the reporting and calculations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0000"/>
                    </a:solidFill>
                  </a:tcPr>
                </a:tc>
                <a:tc>
                  <a:txBody>
                    <a:bodyPr/>
                    <a:lstStyle/>
                    <a:p>
                      <a:pPr algn="ctr"/>
                      <a:r>
                        <a:rPr lang="en-GB" sz="1000" i="1" dirty="0"/>
                        <a:t>Extra work to adapt CM module to handle residential processes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C000"/>
                    </a:solidFill>
                  </a:tcPr>
                </a:tc>
                <a:tc>
                  <a:txBody>
                    <a:bodyPr/>
                    <a:lstStyle/>
                    <a:p>
                      <a:pPr algn="ctr"/>
                      <a:r>
                        <a:rPr lang="en-GB" sz="1000" i="1" dirty="0">
                          <a:solidFill>
                            <a:schemeClr val="bg1"/>
                          </a:solidFill>
                        </a:rPr>
                        <a:t>Adjust the CC dashboard and reports to reflect new pattern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2166904021"/>
                  </a:ext>
                </a:extLst>
              </a:tr>
              <a:tr h="420402">
                <a:tc>
                  <a:txBody>
                    <a:bodyPr/>
                    <a:lstStyle/>
                    <a:p>
                      <a:r>
                        <a:rPr lang="en-GB" sz="1000" dirty="0">
                          <a:latin typeface="+mj-lt"/>
                        </a:rPr>
                        <a:t>FSI</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r>
                        <a:rPr lang="en-GB" sz="1000" i="1" dirty="0">
                          <a:solidFill>
                            <a:schemeClr val="bg1"/>
                          </a:solidFill>
                        </a:rPr>
                        <a:t>Reconfigure all problem codes in FSI to support this solution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0000"/>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614846760"/>
                  </a:ext>
                </a:extLst>
              </a:tr>
              <a:tr h="420402">
                <a:tc>
                  <a:txBody>
                    <a:bodyPr/>
                    <a:lstStyle/>
                    <a:p>
                      <a:r>
                        <a:rPr lang="en-GB" sz="1000" dirty="0">
                          <a:latin typeface="+mj-lt"/>
                        </a:rPr>
                        <a:t>Integration</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r>
                        <a:rPr lang="en-GB" sz="1000" i="1" dirty="0"/>
                        <a:t>Integrations become more complex to pass property and payment data</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C000"/>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663918424"/>
                  </a:ext>
                </a:extLst>
              </a:tr>
              <a:tr h="420402">
                <a:tc>
                  <a:txBody>
                    <a:bodyPr/>
                    <a:lstStyle/>
                    <a:p>
                      <a:r>
                        <a:rPr lang="en-GB" sz="1000" dirty="0">
                          <a:latin typeface="+mj-lt"/>
                        </a:rPr>
                        <a:t>Data</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r>
                        <a:rPr lang="en-GB" sz="1000" i="1" dirty="0"/>
                        <a:t>Workarounds to enforce GDPR with a wider population held in CM</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C000"/>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662574412"/>
                  </a:ext>
                </a:extLst>
              </a:tr>
              <a:tr h="188236">
                <a:tc>
                  <a:txBody>
                    <a:bodyPr/>
                    <a:lstStyle/>
                    <a:p>
                      <a:endParaRPr lang="en-GB" sz="200" dirty="0">
                        <a:latin typeface="+mj-lt"/>
                      </a:endParaRP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2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2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2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692014965"/>
                  </a:ext>
                </a:extLst>
              </a:tr>
              <a:tr h="420402">
                <a:tc>
                  <a:txBody>
                    <a:bodyPr/>
                    <a:lstStyle/>
                    <a:p>
                      <a:r>
                        <a:rPr lang="en-GB" sz="1000" dirty="0">
                          <a:latin typeface="+mj-lt"/>
                        </a:rPr>
                        <a:t>Finance</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r>
                        <a:rPr lang="en-GB" sz="1000" i="1" dirty="0">
                          <a:solidFill>
                            <a:schemeClr val="bg1"/>
                          </a:solidFill>
                        </a:rPr>
                        <a:t>Changes to principles and KPIs around arrears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155124392"/>
                  </a:ext>
                </a:extLst>
              </a:tr>
              <a:tr h="420402">
                <a:tc>
                  <a:txBody>
                    <a:bodyPr/>
                    <a:lstStyle/>
                    <a:p>
                      <a:r>
                        <a:rPr lang="en-GB" sz="1000" dirty="0">
                          <a:latin typeface="+mj-lt"/>
                        </a:rPr>
                        <a:t>Operations</a:t>
                      </a:r>
                    </a:p>
                  </a:txBody>
                  <a:tcPr marL="18000" marR="180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endParaRPr lang="en-GB" sz="1000" i="1"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050"/>
                    </a:solidFill>
                  </a:tcPr>
                </a:tc>
                <a:tc>
                  <a:txBody>
                    <a:bodyPr/>
                    <a:lstStyle/>
                    <a:p>
                      <a:pPr algn="ctr"/>
                      <a:r>
                        <a:rPr lang="en-GB" sz="1000" i="1" dirty="0"/>
                        <a:t>Adjust processes / reports to ensure they can see all customers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C000"/>
                    </a:solidFill>
                  </a:tcPr>
                </a:tc>
                <a:tc>
                  <a:txBody>
                    <a:bodyPr/>
                    <a:lstStyle/>
                    <a:p>
                      <a:pPr algn="ctr"/>
                      <a:r>
                        <a:rPr lang="en-GB" sz="1000" i="1" dirty="0"/>
                        <a:t>Workarounds to build statements for customers in litigation </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3612722340"/>
                  </a:ext>
                </a:extLst>
              </a:tr>
            </a:tbl>
          </a:graphicData>
        </a:graphic>
      </p:graphicFrame>
      <p:grpSp>
        <p:nvGrpSpPr>
          <p:cNvPr id="15" name="Group 14">
            <a:extLst>
              <a:ext uri="{FF2B5EF4-FFF2-40B4-BE49-F238E27FC236}">
                <a16:creationId xmlns:a16="http://schemas.microsoft.com/office/drawing/2014/main" id="{5592E409-BC6D-43DD-B180-93543D1FC6E2}"/>
              </a:ext>
            </a:extLst>
          </p:cNvPr>
          <p:cNvGrpSpPr/>
          <p:nvPr/>
        </p:nvGrpSpPr>
        <p:grpSpPr>
          <a:xfrm>
            <a:off x="1257297" y="2298262"/>
            <a:ext cx="7527924" cy="1246840"/>
            <a:chOff x="1257297" y="2404069"/>
            <a:chExt cx="7527924" cy="1349245"/>
          </a:xfrm>
        </p:grpSpPr>
        <p:grpSp>
          <p:nvGrpSpPr>
            <p:cNvPr id="10" name="Group 9">
              <a:extLst>
                <a:ext uri="{FF2B5EF4-FFF2-40B4-BE49-F238E27FC236}">
                  <a16:creationId xmlns:a16="http://schemas.microsoft.com/office/drawing/2014/main" id="{A6CA5F21-5BD7-4B4E-93CE-683C6153D91E}"/>
                </a:ext>
              </a:extLst>
            </p:cNvPr>
            <p:cNvGrpSpPr/>
            <p:nvPr/>
          </p:nvGrpSpPr>
          <p:grpSpPr>
            <a:xfrm>
              <a:off x="1257297" y="2404069"/>
              <a:ext cx="7527924" cy="552452"/>
              <a:chOff x="358775" y="2600323"/>
              <a:chExt cx="6775450" cy="676277"/>
            </a:xfrm>
          </p:grpSpPr>
          <p:sp>
            <p:nvSpPr>
              <p:cNvPr id="7" name="Rectangle: Rounded Corners 6">
                <a:extLst>
                  <a:ext uri="{FF2B5EF4-FFF2-40B4-BE49-F238E27FC236}">
                    <a16:creationId xmlns:a16="http://schemas.microsoft.com/office/drawing/2014/main" id="{AA772C8C-FBE7-4A00-B758-DB3840F82A26}"/>
                  </a:ext>
                </a:extLst>
              </p:cNvPr>
              <p:cNvSpPr/>
              <p:nvPr/>
            </p:nvSpPr>
            <p:spPr>
              <a:xfrm>
                <a:off x="358775" y="2600325"/>
                <a:ext cx="2222500" cy="676275"/>
              </a:xfrm>
              <a:prstGeom prst="roundRect">
                <a:avLst>
                  <a:gd name="adj" fmla="val 3591"/>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Customise MRI to be able to raise weekly charges</a:t>
                </a:r>
              </a:p>
            </p:txBody>
          </p:sp>
          <p:sp>
            <p:nvSpPr>
              <p:cNvPr id="8" name="Rectangle: Rounded Corners 7">
                <a:extLst>
                  <a:ext uri="{FF2B5EF4-FFF2-40B4-BE49-F238E27FC236}">
                    <a16:creationId xmlns:a16="http://schemas.microsoft.com/office/drawing/2014/main" id="{C5F669BA-6FC2-420C-BD41-3A99A183205F}"/>
                  </a:ext>
                </a:extLst>
              </p:cNvPr>
              <p:cNvSpPr/>
              <p:nvPr/>
            </p:nvSpPr>
            <p:spPr>
              <a:xfrm>
                <a:off x="2635250" y="2600324"/>
                <a:ext cx="2222500" cy="676275"/>
              </a:xfrm>
              <a:prstGeom prst="roundRect">
                <a:avLst>
                  <a:gd name="adj" fmla="val 3077"/>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Move regulated tenancies to the Commercial Module</a:t>
                </a:r>
              </a:p>
            </p:txBody>
          </p:sp>
          <p:sp>
            <p:nvSpPr>
              <p:cNvPr id="9" name="Rectangle: Rounded Corners 8">
                <a:extLst>
                  <a:ext uri="{FF2B5EF4-FFF2-40B4-BE49-F238E27FC236}">
                    <a16:creationId xmlns:a16="http://schemas.microsoft.com/office/drawing/2014/main" id="{DD7A961F-6A6A-4690-A765-EA564ABEDEC7}"/>
                  </a:ext>
                </a:extLst>
              </p:cNvPr>
              <p:cNvSpPr/>
              <p:nvPr/>
            </p:nvSpPr>
            <p:spPr>
              <a:xfrm>
                <a:off x="4911725" y="2600323"/>
                <a:ext cx="2222500" cy="676275"/>
              </a:xfrm>
              <a:prstGeom prst="roundRect">
                <a:avLst>
                  <a:gd name="adj" fmla="val 2563"/>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Adjust process so we charge monthly and be paid weekly</a:t>
                </a:r>
              </a:p>
            </p:txBody>
          </p:sp>
        </p:grpSp>
        <p:sp>
          <p:nvSpPr>
            <p:cNvPr id="12" name="Rectangle: Rounded Corners 11">
              <a:extLst>
                <a:ext uri="{FF2B5EF4-FFF2-40B4-BE49-F238E27FC236}">
                  <a16:creationId xmlns:a16="http://schemas.microsoft.com/office/drawing/2014/main" id="{0A482BDF-EF6D-4BB7-82A1-AA5D1B07921C}"/>
                </a:ext>
              </a:extLst>
            </p:cNvPr>
            <p:cNvSpPr/>
            <p:nvPr/>
          </p:nvSpPr>
          <p:spPr>
            <a:xfrm>
              <a:off x="1257297" y="3017238"/>
              <a:ext cx="2469328" cy="729962"/>
            </a:xfrm>
            <a:prstGeom prst="roundRect">
              <a:avLst>
                <a:gd name="adj" fmla="val 605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Further enhance the MRI product so the issues created by the original weekly billing FRD are resolved (mainly around reporting) </a:t>
              </a:r>
            </a:p>
          </p:txBody>
        </p:sp>
        <p:sp>
          <p:nvSpPr>
            <p:cNvPr id="13" name="Rectangle: Rounded Corners 12">
              <a:extLst>
                <a:ext uri="{FF2B5EF4-FFF2-40B4-BE49-F238E27FC236}">
                  <a16:creationId xmlns:a16="http://schemas.microsoft.com/office/drawing/2014/main" id="{462213B6-82A4-4E3B-913B-2D92A64F6B22}"/>
                </a:ext>
              </a:extLst>
            </p:cNvPr>
            <p:cNvSpPr/>
            <p:nvPr/>
          </p:nvSpPr>
          <p:spPr>
            <a:xfrm>
              <a:off x="3786595" y="3008090"/>
              <a:ext cx="2469328" cy="745224"/>
            </a:xfrm>
            <a:prstGeom prst="roundRect">
              <a:avLst>
                <a:gd name="adj" fmla="val 605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Hold all regulated tenancies in CM until RM can raise weekly charges. Rework other FRDs + reconfigure other systems to support this.</a:t>
              </a:r>
            </a:p>
          </p:txBody>
        </p:sp>
        <p:sp>
          <p:nvSpPr>
            <p:cNvPr id="14" name="Rectangle: Rounded Corners 13">
              <a:extLst>
                <a:ext uri="{FF2B5EF4-FFF2-40B4-BE49-F238E27FC236}">
                  <a16:creationId xmlns:a16="http://schemas.microsoft.com/office/drawing/2014/main" id="{3A0C48D0-BC9A-4AC2-955D-EB8572A3C3CF}"/>
                </a:ext>
              </a:extLst>
            </p:cNvPr>
            <p:cNvSpPr/>
            <p:nvPr/>
          </p:nvSpPr>
          <p:spPr>
            <a:xfrm>
              <a:off x="6315893" y="2998944"/>
              <a:ext cx="2469328" cy="745224"/>
            </a:xfrm>
            <a:prstGeom prst="roundRect">
              <a:avLst>
                <a:gd name="adj" fmla="val 605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Adjust some aspects of our arrears process to recognise the different charge x payment patterns for regulated.</a:t>
              </a:r>
            </a:p>
          </p:txBody>
        </p:sp>
      </p:grpSp>
    </p:spTree>
    <p:extLst>
      <p:ext uri="{BB962C8B-B14F-4D97-AF65-F5344CB8AC3E}">
        <p14:creationId xmlns:p14="http://schemas.microsoft.com/office/powerpoint/2010/main" val="122585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990604F-4A0A-4547-850A-D6504362FF8C}"/>
              </a:ext>
            </a:extLst>
          </p:cNvPr>
          <p:cNvGrpSpPr/>
          <p:nvPr/>
        </p:nvGrpSpPr>
        <p:grpSpPr>
          <a:xfrm>
            <a:off x="358772" y="1379167"/>
            <a:ext cx="4120947" cy="4797795"/>
            <a:chOff x="358772" y="2488099"/>
            <a:chExt cx="4120947" cy="3688863"/>
          </a:xfrm>
        </p:grpSpPr>
        <p:sp>
          <p:nvSpPr>
            <p:cNvPr id="12" name="Rectangle 11">
              <a:extLst>
                <a:ext uri="{FF2B5EF4-FFF2-40B4-BE49-F238E27FC236}">
                  <a16:creationId xmlns:a16="http://schemas.microsoft.com/office/drawing/2014/main" id="{3D6E7210-0D97-48A5-9E41-8F497C22D5F0}"/>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bg1"/>
                  </a:solidFill>
                  <a:latin typeface="+mj-lt"/>
                </a:rPr>
                <a:t>Solution description</a:t>
              </a:r>
            </a:p>
          </p:txBody>
        </p:sp>
        <p:sp>
          <p:nvSpPr>
            <p:cNvPr id="13" name="Rectangle 12">
              <a:extLst>
                <a:ext uri="{FF2B5EF4-FFF2-40B4-BE49-F238E27FC236}">
                  <a16:creationId xmlns:a16="http://schemas.microsoft.com/office/drawing/2014/main" id="{83E0ACE4-020F-4D99-A8E8-279EE4F0EB10}"/>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1200"/>
                </a:spcBef>
                <a:buFontTx/>
                <a:buChar char="-"/>
              </a:pPr>
              <a:r>
                <a:rPr lang="en-GB" sz="1000" dirty="0">
                  <a:solidFill>
                    <a:schemeClr val="tx1"/>
                  </a:solidFill>
                  <a:latin typeface="Montserrat" panose="00000500000000000000" pitchFamily="50" charset="0"/>
                </a:rPr>
                <a:t>Standard solution to all MRI shortcomings, we would ask </a:t>
              </a:r>
              <a:r>
                <a:rPr lang="en-GB" sz="1000" b="1" dirty="0">
                  <a:solidFill>
                    <a:schemeClr val="tx1"/>
                  </a:solidFill>
                  <a:latin typeface="Montserrat" panose="00000500000000000000" pitchFamily="50" charset="0"/>
                </a:rPr>
                <a:t>MRI to enhance the FRD ADD005 </a:t>
              </a:r>
              <a:r>
                <a:rPr lang="en-GB" sz="1000" dirty="0">
                  <a:solidFill>
                    <a:schemeClr val="tx1"/>
                  </a:solidFill>
                  <a:latin typeface="Montserrat" panose="00000500000000000000" pitchFamily="50" charset="0"/>
                </a:rPr>
                <a:t>to:</a:t>
              </a:r>
            </a:p>
            <a:p>
              <a:pPr marL="447675" lvl="1" indent="-182563">
                <a:spcBef>
                  <a:spcPts val="400"/>
                </a:spcBef>
                <a:buFontTx/>
                <a:buChar char="-"/>
              </a:pPr>
              <a:r>
                <a:rPr lang="en-GB" sz="1000" b="1" dirty="0">
                  <a:solidFill>
                    <a:schemeClr val="tx1"/>
                  </a:solidFill>
                  <a:latin typeface="Montserrat" panose="00000500000000000000" pitchFamily="50" charset="0"/>
                </a:rPr>
                <a:t>Adapt MRI reports and routines </a:t>
              </a:r>
              <a:r>
                <a:rPr lang="en-GB" sz="1000" dirty="0">
                  <a:solidFill>
                    <a:schemeClr val="tx1"/>
                  </a:solidFill>
                  <a:latin typeface="Montserrat" panose="00000500000000000000" pitchFamily="50" charset="0"/>
                </a:rPr>
                <a:t>(e.g. rent roll) to handle recurring charge data from 2 different tables and reflect all units</a:t>
              </a:r>
            </a:p>
            <a:p>
              <a:pPr marL="447675" lvl="1" indent="-182563">
                <a:spcBef>
                  <a:spcPts val="400"/>
                </a:spcBef>
                <a:buFontTx/>
                <a:buChar char="-"/>
              </a:pPr>
              <a:r>
                <a:rPr lang="en-GB" sz="1000" b="1" dirty="0">
                  <a:solidFill>
                    <a:schemeClr val="tx1"/>
                  </a:solidFill>
                  <a:latin typeface="Montserrat" panose="00000500000000000000" pitchFamily="50" charset="0"/>
                </a:rPr>
                <a:t>Adjust some relevant MRI calculations </a:t>
              </a:r>
              <a:r>
                <a:rPr lang="en-GB" sz="1000" dirty="0">
                  <a:solidFill>
                    <a:schemeClr val="tx1"/>
                  </a:solidFill>
                  <a:latin typeface="Montserrat" panose="00000500000000000000" pitchFamily="50" charset="0"/>
                </a:rPr>
                <a:t>to ensure they are accurate (remembering regulated tenancies do not renew / do not go void)</a:t>
              </a:r>
            </a:p>
            <a:p>
              <a:pPr marL="171450" indent="-171450">
                <a:spcBef>
                  <a:spcPts val="900"/>
                </a:spcBef>
                <a:buFontTx/>
                <a:buChar char="-"/>
              </a:pPr>
              <a:r>
                <a:rPr lang="en-GB" sz="1000" dirty="0">
                  <a:solidFill>
                    <a:schemeClr val="tx1"/>
                  </a:solidFill>
                  <a:latin typeface="Montserrat" panose="00000500000000000000" pitchFamily="50" charset="0"/>
                </a:rPr>
                <a:t>Some of the </a:t>
              </a:r>
              <a:r>
                <a:rPr lang="en-GB" sz="1000" b="1" dirty="0">
                  <a:solidFill>
                    <a:schemeClr val="tx1"/>
                  </a:solidFill>
                  <a:latin typeface="Montserrat" panose="00000500000000000000" pitchFamily="50" charset="0"/>
                </a:rPr>
                <a:t>reporting limitations could be addressed by our wider data / analytics solutions </a:t>
              </a:r>
              <a:r>
                <a:rPr lang="en-GB" sz="1000" dirty="0">
                  <a:solidFill>
                    <a:schemeClr val="tx1"/>
                  </a:solidFill>
                  <a:latin typeface="Montserrat" panose="00000500000000000000" pitchFamily="50" charset="0"/>
                </a:rPr>
                <a:t>e.g. </a:t>
              </a:r>
              <a:r>
                <a:rPr lang="en-GB" sz="1000" dirty="0" err="1">
                  <a:solidFill>
                    <a:schemeClr val="tx1"/>
                  </a:solidFill>
                  <a:latin typeface="Montserrat" panose="00000500000000000000" pitchFamily="50" charset="0"/>
                </a:rPr>
                <a:t>PowerBI</a:t>
              </a:r>
              <a:endParaRPr lang="en-GB" sz="1000" dirty="0">
                <a:solidFill>
                  <a:schemeClr val="tx1"/>
                </a:solidFill>
                <a:latin typeface="Montserrat" panose="00000500000000000000" pitchFamily="50" charset="0"/>
              </a:endParaRPr>
            </a:p>
            <a:p>
              <a:pPr marL="171450" indent="-171450">
                <a:spcBef>
                  <a:spcPts val="900"/>
                </a:spcBef>
                <a:buFontTx/>
                <a:buChar char="-"/>
              </a:pPr>
              <a:r>
                <a:rPr lang="en-GB" sz="1000" dirty="0">
                  <a:solidFill>
                    <a:schemeClr val="tx1"/>
                  </a:solidFill>
                  <a:latin typeface="Montserrat" panose="00000500000000000000" pitchFamily="50" charset="0"/>
                </a:rPr>
                <a:t>This solution would be applied </a:t>
              </a:r>
              <a:r>
                <a:rPr lang="en-GB" sz="1000" b="1" dirty="0">
                  <a:solidFill>
                    <a:schemeClr val="tx1"/>
                  </a:solidFill>
                  <a:latin typeface="Montserrat" panose="00000500000000000000" pitchFamily="50" charset="0"/>
                </a:rPr>
                <a:t>temporarily</a:t>
              </a:r>
              <a:r>
                <a:rPr lang="en-GB" sz="1000" dirty="0">
                  <a:solidFill>
                    <a:schemeClr val="tx1"/>
                  </a:solidFill>
                  <a:latin typeface="Montserrat" panose="00000500000000000000" pitchFamily="50" charset="0"/>
                </a:rPr>
                <a:t> (at least 1 year), and phase out when weekly charges are enabled in RM </a:t>
              </a:r>
            </a:p>
            <a:p>
              <a:pPr marL="171450" indent="-171450">
                <a:spcBef>
                  <a:spcPts val="900"/>
                </a:spcBef>
                <a:buFontTx/>
                <a:buChar char="-"/>
              </a:pPr>
              <a:r>
                <a:rPr lang="en-GB" sz="1000" dirty="0">
                  <a:solidFill>
                    <a:schemeClr val="tx1"/>
                  </a:solidFill>
                  <a:latin typeface="Montserrat" panose="00000500000000000000" pitchFamily="50" charset="0"/>
                </a:rPr>
                <a:t>The diagram below outlines where in the platform changes would be likely to implement this solution:</a:t>
              </a:r>
            </a:p>
          </p:txBody>
        </p:sp>
      </p:grpSp>
      <p:grpSp>
        <p:nvGrpSpPr>
          <p:cNvPr id="14" name="Group 13">
            <a:extLst>
              <a:ext uri="{FF2B5EF4-FFF2-40B4-BE49-F238E27FC236}">
                <a16:creationId xmlns:a16="http://schemas.microsoft.com/office/drawing/2014/main" id="{21FB42E8-1EE2-469A-BEFD-B8B171E05A01}"/>
              </a:ext>
            </a:extLst>
          </p:cNvPr>
          <p:cNvGrpSpPr/>
          <p:nvPr/>
        </p:nvGrpSpPr>
        <p:grpSpPr>
          <a:xfrm>
            <a:off x="4664283" y="1379167"/>
            <a:ext cx="4120947" cy="4797795"/>
            <a:chOff x="358772" y="2488099"/>
            <a:chExt cx="4120947" cy="3688863"/>
          </a:xfrm>
        </p:grpSpPr>
        <p:sp>
          <p:nvSpPr>
            <p:cNvPr id="15" name="Rectangle 14">
              <a:extLst>
                <a:ext uri="{FF2B5EF4-FFF2-40B4-BE49-F238E27FC236}">
                  <a16:creationId xmlns:a16="http://schemas.microsoft.com/office/drawing/2014/main" id="{1F48BE9F-E736-4614-8AD6-05B600AE34D1}"/>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dirty="0">
                  <a:solidFill>
                    <a:schemeClr val="bg1"/>
                  </a:solidFill>
                  <a:latin typeface="+mj-lt"/>
                </a:rPr>
                <a:t>Impact, pros and cons</a:t>
              </a:r>
            </a:p>
          </p:txBody>
        </p:sp>
        <p:sp>
          <p:nvSpPr>
            <p:cNvPr id="16" name="Rectangle 15">
              <a:extLst>
                <a:ext uri="{FF2B5EF4-FFF2-40B4-BE49-F238E27FC236}">
                  <a16:creationId xmlns:a16="http://schemas.microsoft.com/office/drawing/2014/main" id="{C9B43046-10F9-47B4-B3DB-C6AF9DFE28A3}"/>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Enhancements to the FRD ADD005 are not considered an option for the Finance workstream </a:t>
              </a:r>
              <a:r>
                <a:rPr lang="en-GB" sz="1000" dirty="0">
                  <a:solidFill>
                    <a:schemeClr val="tx1"/>
                  </a:solidFill>
                  <a:latin typeface="Montserrat" panose="00000500000000000000" pitchFamily="50" charset="0"/>
                  <a:cs typeface="Mongolian Baiti" panose="03000500000000000000" pitchFamily="66" charset="0"/>
                </a:rPr>
                <a:t>for 3 reasons</a:t>
              </a:r>
            </a:p>
            <a:p>
              <a:pPr marL="447675" lvl="1" indent="-182563">
                <a:spcBef>
                  <a:spcPts val="400"/>
                </a:spcBef>
                <a:buFontTx/>
                <a:buChar char="-"/>
              </a:pPr>
              <a:r>
                <a:rPr lang="en-GB" sz="1000" b="1" dirty="0">
                  <a:solidFill>
                    <a:schemeClr val="tx1"/>
                  </a:solidFill>
                  <a:latin typeface="Montserrat" panose="00000500000000000000" pitchFamily="50" charset="0"/>
                </a:rPr>
                <a:t>The Solution is deemed too complex</a:t>
              </a:r>
              <a:r>
                <a:rPr lang="en-GB" sz="1000" dirty="0">
                  <a:solidFill>
                    <a:schemeClr val="tx1"/>
                  </a:solidFill>
                  <a:latin typeface="Montserrat" panose="00000500000000000000" pitchFamily="50" charset="0"/>
                </a:rPr>
                <a:t>, and would commit additional time of MRI development resource – although we do not have a clear estimate of how much time / effort / cost this would result in</a:t>
              </a:r>
            </a:p>
            <a:p>
              <a:pPr marL="447675" lvl="1" indent="-182563">
                <a:spcBef>
                  <a:spcPts val="400"/>
                </a:spcBef>
                <a:buFontTx/>
                <a:buChar char="-"/>
              </a:pPr>
              <a:r>
                <a:rPr lang="en-GB" sz="1000" b="1" dirty="0">
                  <a:solidFill>
                    <a:schemeClr val="tx1"/>
                  </a:solidFill>
                  <a:latin typeface="Montserrat" panose="00000500000000000000" pitchFamily="50" charset="0"/>
                </a:rPr>
                <a:t>The cost would be fully born by Grainger. </a:t>
              </a:r>
              <a:r>
                <a:rPr lang="en-GB" sz="1000" dirty="0">
                  <a:solidFill>
                    <a:schemeClr val="tx1"/>
                  </a:solidFill>
                  <a:latin typeface="Montserrat" panose="00000500000000000000" pitchFamily="50" charset="0"/>
                </a:rPr>
                <a:t>MRI is not willing to make any further adjustments at their expense, and does not consider solving this problem in their core product before 2021 </a:t>
              </a:r>
            </a:p>
            <a:p>
              <a:pPr marL="447675" lvl="1" indent="-182563">
                <a:spcBef>
                  <a:spcPts val="400"/>
                </a:spcBef>
                <a:buFontTx/>
                <a:buChar char="-"/>
              </a:pPr>
              <a:r>
                <a:rPr lang="en-GB" sz="1000" b="1" dirty="0">
                  <a:solidFill>
                    <a:schemeClr val="tx1"/>
                  </a:solidFill>
                  <a:latin typeface="Montserrat" panose="00000500000000000000" pitchFamily="50" charset="0"/>
                </a:rPr>
                <a:t>We would have to write-off this investment </a:t>
              </a:r>
              <a:r>
                <a:rPr lang="en-GB" sz="1000" dirty="0">
                  <a:solidFill>
                    <a:schemeClr val="tx1"/>
                  </a:solidFill>
                  <a:latin typeface="Montserrat" panose="00000500000000000000" pitchFamily="50" charset="0"/>
                </a:rPr>
                <a:t>after the MRI product is improved – this is a temporary solution meant to be superseded by the core MRI product</a:t>
              </a:r>
            </a:p>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This is the solution with the least impact in the other elements of the Connect programme</a:t>
              </a:r>
              <a:r>
                <a:rPr lang="en-GB" sz="1000" dirty="0">
                  <a:solidFill>
                    <a:schemeClr val="tx1"/>
                  </a:solidFill>
                  <a:latin typeface="Montserrat" panose="00000500000000000000" pitchFamily="50" charset="0"/>
                  <a:cs typeface="Mongolian Baiti" panose="03000500000000000000" pitchFamily="66" charset="0"/>
                </a:rPr>
                <a:t>, since it upholds the design assumption we have been working so far of handling all tenancies in RM and only properties with a service-charge component in CM</a:t>
              </a:r>
            </a:p>
            <a:p>
              <a:pPr marL="171450" indent="-171450">
                <a:spcBef>
                  <a:spcPts val="900"/>
                </a:spcBef>
                <a:buFontTx/>
                <a:buChar char="-"/>
              </a:pPr>
              <a:r>
                <a:rPr lang="en-GB" sz="1000" dirty="0">
                  <a:solidFill>
                    <a:schemeClr val="tx1"/>
                  </a:solidFill>
                  <a:latin typeface="Montserrat" panose="00000500000000000000" pitchFamily="50" charset="0"/>
                  <a:cs typeface="Mongolian Baiti" panose="03000500000000000000" pitchFamily="66" charset="0"/>
                </a:rPr>
                <a:t>This solution also has </a:t>
              </a:r>
              <a:r>
                <a:rPr lang="en-GB" sz="1000" b="1" dirty="0">
                  <a:solidFill>
                    <a:schemeClr val="tx1"/>
                  </a:solidFill>
                  <a:latin typeface="Montserrat" panose="00000500000000000000" pitchFamily="50" charset="0"/>
                  <a:cs typeface="Mongolian Baiti" panose="03000500000000000000" pitchFamily="66" charset="0"/>
                </a:rPr>
                <a:t>low operational impact</a:t>
              </a:r>
              <a:r>
                <a:rPr lang="en-GB" sz="1000" dirty="0">
                  <a:solidFill>
                    <a:schemeClr val="tx1"/>
                  </a:solidFill>
                  <a:latin typeface="Montserrat" panose="00000500000000000000" pitchFamily="50" charset="0"/>
                  <a:cs typeface="Mongolian Baiti" panose="03000500000000000000" pitchFamily="66" charset="0"/>
                </a:rPr>
                <a:t>, unless the MRI customisation still requires manual work </a:t>
              </a:r>
            </a:p>
            <a:p>
              <a:pPr marL="171450" indent="-171450">
                <a:spcBef>
                  <a:spcPts val="900"/>
                </a:spcBef>
                <a:buFontTx/>
                <a:buChar char="-"/>
              </a:pPr>
              <a:endParaRPr lang="en-GB" sz="1000" dirty="0">
                <a:solidFill>
                  <a:schemeClr val="tx1"/>
                </a:solidFill>
                <a:latin typeface="Montserrat" panose="00000500000000000000" pitchFamily="50" charset="0"/>
                <a:cs typeface="Mongolian Baiti" panose="03000500000000000000" pitchFamily="66" charset="0"/>
              </a:endParaRPr>
            </a:p>
          </p:txBody>
        </p:sp>
      </p:grpSp>
      <p:sp>
        <p:nvSpPr>
          <p:cNvPr id="3" name="Footer Placeholder 2">
            <a:extLst>
              <a:ext uri="{FF2B5EF4-FFF2-40B4-BE49-F238E27FC236}">
                <a16:creationId xmlns:a16="http://schemas.microsoft.com/office/drawing/2014/main" id="{3D08A39E-B91E-48D7-B38B-1CC16060DED3}"/>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6DF8E618-BC61-42DA-8DFE-41A4E76FC55B}"/>
              </a:ext>
            </a:extLst>
          </p:cNvPr>
          <p:cNvSpPr>
            <a:spLocks noGrp="1"/>
          </p:cNvSpPr>
          <p:nvPr>
            <p:ph type="sldNum" sz="quarter" idx="12"/>
          </p:nvPr>
        </p:nvSpPr>
        <p:spPr/>
        <p:txBody>
          <a:bodyPr/>
          <a:lstStyle/>
          <a:p>
            <a:fld id="{0D32313A-DEBC-4CA4-B008-A02D4ABE2C72}" type="slidenum">
              <a:rPr lang="en-GB" smtClean="0"/>
              <a:t>7</a:t>
            </a:fld>
            <a:endParaRPr lang="en-GB" dirty="0"/>
          </a:p>
        </p:txBody>
      </p:sp>
      <p:sp>
        <p:nvSpPr>
          <p:cNvPr id="5" name="Title 4">
            <a:extLst>
              <a:ext uri="{FF2B5EF4-FFF2-40B4-BE49-F238E27FC236}">
                <a16:creationId xmlns:a16="http://schemas.microsoft.com/office/drawing/2014/main" id="{DADF021D-F3F0-4BEF-9558-93D2C992E677}"/>
              </a:ext>
            </a:extLst>
          </p:cNvPr>
          <p:cNvSpPr>
            <a:spLocks noGrp="1"/>
          </p:cNvSpPr>
          <p:nvPr>
            <p:ph type="title"/>
          </p:nvPr>
        </p:nvSpPr>
        <p:spPr>
          <a:xfrm>
            <a:off x="358775" y="270088"/>
            <a:ext cx="6670178" cy="581897"/>
          </a:xfrm>
        </p:spPr>
        <p:txBody>
          <a:bodyPr/>
          <a:lstStyle/>
          <a:p>
            <a:r>
              <a:rPr lang="en-GB" dirty="0"/>
              <a:t>Option 1: Adapt MRI’s reports &amp; procedures to handle weekly billing </a:t>
            </a:r>
          </a:p>
        </p:txBody>
      </p:sp>
      <p:grpSp>
        <p:nvGrpSpPr>
          <p:cNvPr id="19" name="Group 18">
            <a:extLst>
              <a:ext uri="{FF2B5EF4-FFF2-40B4-BE49-F238E27FC236}">
                <a16:creationId xmlns:a16="http://schemas.microsoft.com/office/drawing/2014/main" id="{67EC0462-0623-424E-A59B-ED562F247CFA}"/>
              </a:ext>
            </a:extLst>
          </p:cNvPr>
          <p:cNvGrpSpPr/>
          <p:nvPr/>
        </p:nvGrpSpPr>
        <p:grpSpPr>
          <a:xfrm>
            <a:off x="1971923" y="4493762"/>
            <a:ext cx="2392150" cy="1522977"/>
            <a:chOff x="621792" y="3338927"/>
            <a:chExt cx="3703320" cy="2976218"/>
          </a:xfrm>
        </p:grpSpPr>
        <p:sp>
          <p:nvSpPr>
            <p:cNvPr id="10" name="Rectangle: Rounded Corners 9">
              <a:extLst>
                <a:ext uri="{FF2B5EF4-FFF2-40B4-BE49-F238E27FC236}">
                  <a16:creationId xmlns:a16="http://schemas.microsoft.com/office/drawing/2014/main" id="{EECF622B-9233-40E2-B1E8-CB38083FB9CC}"/>
                </a:ext>
              </a:extLst>
            </p:cNvPr>
            <p:cNvSpPr/>
            <p:nvPr/>
          </p:nvSpPr>
          <p:spPr>
            <a:xfrm>
              <a:off x="621792" y="3338927"/>
              <a:ext cx="3703320" cy="916072"/>
            </a:xfrm>
            <a:prstGeom prst="roundRect">
              <a:avLst>
                <a:gd name="adj" fmla="val 11717"/>
              </a:avLst>
            </a:prstGeom>
            <a:solidFill>
              <a:schemeClr val="bg1"/>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4D858D"/>
                  </a:solidFill>
                  <a:latin typeface="+mj-lt"/>
                </a:rPr>
                <a:t>MRI</a:t>
              </a:r>
            </a:p>
          </p:txBody>
        </p:sp>
        <p:sp>
          <p:nvSpPr>
            <p:cNvPr id="6" name="Rectangle: Rounded Corners 5">
              <a:extLst>
                <a:ext uri="{FF2B5EF4-FFF2-40B4-BE49-F238E27FC236}">
                  <a16:creationId xmlns:a16="http://schemas.microsoft.com/office/drawing/2014/main" id="{A0CEA456-324B-4753-B2B1-90C94EECEC45}"/>
                </a:ext>
              </a:extLst>
            </p:cNvPr>
            <p:cNvSpPr/>
            <p:nvPr/>
          </p:nvSpPr>
          <p:spPr>
            <a:xfrm>
              <a:off x="730352" y="3480019"/>
              <a:ext cx="1099614" cy="620927"/>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RM</a:t>
              </a:r>
            </a:p>
          </p:txBody>
        </p:sp>
        <p:sp>
          <p:nvSpPr>
            <p:cNvPr id="7" name="Rectangle: Rounded Corners 6">
              <a:extLst>
                <a:ext uri="{FF2B5EF4-FFF2-40B4-BE49-F238E27FC236}">
                  <a16:creationId xmlns:a16="http://schemas.microsoft.com/office/drawing/2014/main" id="{4EB6A9F0-70AD-40CC-8AFF-5ADEAFB6A34B}"/>
                </a:ext>
              </a:extLst>
            </p:cNvPr>
            <p:cNvSpPr/>
            <p:nvPr/>
          </p:nvSpPr>
          <p:spPr>
            <a:xfrm>
              <a:off x="3116937" y="3502262"/>
              <a:ext cx="1099614" cy="620927"/>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CM</a:t>
              </a:r>
            </a:p>
          </p:txBody>
        </p:sp>
        <p:sp>
          <p:nvSpPr>
            <p:cNvPr id="8" name="Rectangle: Rounded Corners 7">
              <a:extLst>
                <a:ext uri="{FF2B5EF4-FFF2-40B4-BE49-F238E27FC236}">
                  <a16:creationId xmlns:a16="http://schemas.microsoft.com/office/drawing/2014/main" id="{0EE88C70-29FA-4513-A2D6-B1EDB31E8B43}"/>
                </a:ext>
              </a:extLst>
            </p:cNvPr>
            <p:cNvSpPr/>
            <p:nvPr/>
          </p:nvSpPr>
          <p:spPr>
            <a:xfrm>
              <a:off x="621792" y="5026294"/>
              <a:ext cx="3703320" cy="593752"/>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FSI</a:t>
              </a:r>
            </a:p>
          </p:txBody>
        </p:sp>
        <p:sp>
          <p:nvSpPr>
            <p:cNvPr id="9" name="Rectangle: Rounded Corners 8">
              <a:extLst>
                <a:ext uri="{FF2B5EF4-FFF2-40B4-BE49-F238E27FC236}">
                  <a16:creationId xmlns:a16="http://schemas.microsoft.com/office/drawing/2014/main" id="{0A2A750F-169D-41BA-AD8A-850AD63822FA}"/>
                </a:ext>
              </a:extLst>
            </p:cNvPr>
            <p:cNvSpPr/>
            <p:nvPr/>
          </p:nvSpPr>
          <p:spPr>
            <a:xfrm>
              <a:off x="621792" y="4343770"/>
              <a:ext cx="3703320" cy="593752"/>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Integration</a:t>
              </a:r>
            </a:p>
          </p:txBody>
        </p:sp>
        <p:sp>
          <p:nvSpPr>
            <p:cNvPr id="20" name="Rectangle: Rounded Corners 19">
              <a:extLst>
                <a:ext uri="{FF2B5EF4-FFF2-40B4-BE49-F238E27FC236}">
                  <a16:creationId xmlns:a16="http://schemas.microsoft.com/office/drawing/2014/main" id="{E0B6FB4E-EA7D-4452-B6B3-BB009A1628B3}"/>
                </a:ext>
              </a:extLst>
            </p:cNvPr>
            <p:cNvSpPr/>
            <p:nvPr/>
          </p:nvSpPr>
          <p:spPr>
            <a:xfrm>
              <a:off x="621792" y="5721393"/>
              <a:ext cx="3703320" cy="593752"/>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Data &amp; Reporting</a:t>
              </a:r>
            </a:p>
          </p:txBody>
        </p:sp>
      </p:grpSp>
      <p:sp>
        <p:nvSpPr>
          <p:cNvPr id="21" name="Speech Bubble: Rectangle 20">
            <a:extLst>
              <a:ext uri="{FF2B5EF4-FFF2-40B4-BE49-F238E27FC236}">
                <a16:creationId xmlns:a16="http://schemas.microsoft.com/office/drawing/2014/main" id="{09B4BCBF-42E7-4E03-80AC-3DA50AFD4B79}"/>
              </a:ext>
            </a:extLst>
          </p:cNvPr>
          <p:cNvSpPr/>
          <p:nvPr/>
        </p:nvSpPr>
        <p:spPr>
          <a:xfrm>
            <a:off x="430314" y="4493762"/>
            <a:ext cx="1357043" cy="863452"/>
          </a:xfrm>
          <a:prstGeom prst="wedgeRectCallout">
            <a:avLst>
              <a:gd name="adj1" fmla="val 73043"/>
              <a:gd name="adj2" fmla="val -1869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New FRD to adapt reporting and calculations to reflect weekly billed properties  </a:t>
            </a:r>
          </a:p>
        </p:txBody>
      </p:sp>
      <p:sp>
        <p:nvSpPr>
          <p:cNvPr id="22" name="Speech Bubble: Rectangle 21">
            <a:extLst>
              <a:ext uri="{FF2B5EF4-FFF2-40B4-BE49-F238E27FC236}">
                <a16:creationId xmlns:a16="http://schemas.microsoft.com/office/drawing/2014/main" id="{ED83D602-8AC0-4221-9852-D5A5F1BA5D94}"/>
              </a:ext>
            </a:extLst>
          </p:cNvPr>
          <p:cNvSpPr/>
          <p:nvPr/>
        </p:nvSpPr>
        <p:spPr>
          <a:xfrm>
            <a:off x="430314" y="5430740"/>
            <a:ext cx="1357043" cy="661877"/>
          </a:xfrm>
          <a:prstGeom prst="wedgeRectCallout">
            <a:avLst>
              <a:gd name="adj1" fmla="val 71285"/>
              <a:gd name="adj2" fmla="val 1614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Potential building of reports / visualisations </a:t>
            </a:r>
          </a:p>
        </p:txBody>
      </p:sp>
      <p:grpSp>
        <p:nvGrpSpPr>
          <p:cNvPr id="26" name="Group 25">
            <a:extLst>
              <a:ext uri="{FF2B5EF4-FFF2-40B4-BE49-F238E27FC236}">
                <a16:creationId xmlns:a16="http://schemas.microsoft.com/office/drawing/2014/main" id="{67818DB4-2CE8-4482-AA41-D6757650AB96}"/>
              </a:ext>
            </a:extLst>
          </p:cNvPr>
          <p:cNvGrpSpPr/>
          <p:nvPr/>
        </p:nvGrpSpPr>
        <p:grpSpPr>
          <a:xfrm>
            <a:off x="4762832" y="5328343"/>
            <a:ext cx="3927001" cy="704951"/>
            <a:chOff x="4936567" y="5328343"/>
            <a:chExt cx="3391799" cy="704951"/>
          </a:xfrm>
        </p:grpSpPr>
        <p:sp>
          <p:nvSpPr>
            <p:cNvPr id="23" name="Rectangle: Rounded Corners 22">
              <a:extLst>
                <a:ext uri="{FF2B5EF4-FFF2-40B4-BE49-F238E27FC236}">
                  <a16:creationId xmlns:a16="http://schemas.microsoft.com/office/drawing/2014/main" id="{CF7ED83F-D8A3-4377-93A9-EC74CEF0C1B8}"/>
                </a:ext>
              </a:extLst>
            </p:cNvPr>
            <p:cNvSpPr/>
            <p:nvPr/>
          </p:nvSpPr>
          <p:spPr>
            <a:xfrm>
              <a:off x="4936567" y="5328343"/>
              <a:ext cx="1079221" cy="704951"/>
            </a:xfrm>
            <a:prstGeom prst="roundRect">
              <a:avLst>
                <a:gd name="adj" fmla="val 5388"/>
              </a:avLst>
            </a:prstGeom>
            <a:solidFill>
              <a:srgbClr val="FF000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MRI effort / cost / risk</a:t>
              </a:r>
            </a:p>
          </p:txBody>
        </p:sp>
        <p:sp>
          <p:nvSpPr>
            <p:cNvPr id="24" name="Rectangle: Rounded Corners 23">
              <a:extLst>
                <a:ext uri="{FF2B5EF4-FFF2-40B4-BE49-F238E27FC236}">
                  <a16:creationId xmlns:a16="http://schemas.microsoft.com/office/drawing/2014/main" id="{B0B63819-9E64-4577-A6C2-BD5EC3ED89CB}"/>
                </a:ext>
              </a:extLst>
            </p:cNvPr>
            <p:cNvSpPr/>
            <p:nvPr/>
          </p:nvSpPr>
          <p:spPr>
            <a:xfrm>
              <a:off x="6092856" y="5328343"/>
              <a:ext cx="1079221" cy="704951"/>
            </a:xfrm>
            <a:prstGeom prst="roundRect">
              <a:avLst>
                <a:gd name="adj" fmla="val 5388"/>
              </a:avLst>
            </a:prstGeom>
            <a:solidFill>
              <a:srgbClr val="00B05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Connect effort / cost / risk</a:t>
              </a:r>
            </a:p>
          </p:txBody>
        </p:sp>
        <p:sp>
          <p:nvSpPr>
            <p:cNvPr id="25" name="Rectangle: Rounded Corners 24">
              <a:extLst>
                <a:ext uri="{FF2B5EF4-FFF2-40B4-BE49-F238E27FC236}">
                  <a16:creationId xmlns:a16="http://schemas.microsoft.com/office/drawing/2014/main" id="{19CB36CE-514C-48CC-BDAE-45678FB7508E}"/>
                </a:ext>
              </a:extLst>
            </p:cNvPr>
            <p:cNvSpPr/>
            <p:nvPr/>
          </p:nvSpPr>
          <p:spPr>
            <a:xfrm>
              <a:off x="7249145" y="5328343"/>
              <a:ext cx="1079221" cy="704951"/>
            </a:xfrm>
            <a:prstGeom prst="roundRect">
              <a:avLst>
                <a:gd name="adj" fmla="val 5388"/>
              </a:avLst>
            </a:prstGeom>
            <a:solidFill>
              <a:srgbClr val="00B05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Operational impact</a:t>
              </a:r>
            </a:p>
          </p:txBody>
        </p:sp>
      </p:grpSp>
    </p:spTree>
    <p:extLst>
      <p:ext uri="{BB962C8B-B14F-4D97-AF65-F5344CB8AC3E}">
        <p14:creationId xmlns:p14="http://schemas.microsoft.com/office/powerpoint/2010/main" val="141648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08A39E-B91E-48D7-B38B-1CC16060DED3}"/>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6DF8E618-BC61-42DA-8DFE-41A4E76FC55B}"/>
              </a:ext>
            </a:extLst>
          </p:cNvPr>
          <p:cNvSpPr>
            <a:spLocks noGrp="1"/>
          </p:cNvSpPr>
          <p:nvPr>
            <p:ph type="sldNum" sz="quarter" idx="12"/>
          </p:nvPr>
        </p:nvSpPr>
        <p:spPr/>
        <p:txBody>
          <a:bodyPr/>
          <a:lstStyle/>
          <a:p>
            <a:fld id="{0D32313A-DEBC-4CA4-B008-A02D4ABE2C72}" type="slidenum">
              <a:rPr lang="en-GB" smtClean="0"/>
              <a:t>8</a:t>
            </a:fld>
            <a:endParaRPr lang="en-GB" dirty="0"/>
          </a:p>
        </p:txBody>
      </p:sp>
      <p:sp>
        <p:nvSpPr>
          <p:cNvPr id="5" name="Title 4">
            <a:extLst>
              <a:ext uri="{FF2B5EF4-FFF2-40B4-BE49-F238E27FC236}">
                <a16:creationId xmlns:a16="http://schemas.microsoft.com/office/drawing/2014/main" id="{DADF021D-F3F0-4BEF-9558-93D2C992E677}"/>
              </a:ext>
            </a:extLst>
          </p:cNvPr>
          <p:cNvSpPr>
            <a:spLocks noGrp="1"/>
          </p:cNvSpPr>
          <p:nvPr>
            <p:ph type="title"/>
          </p:nvPr>
        </p:nvSpPr>
        <p:spPr>
          <a:xfrm>
            <a:off x="358775" y="270088"/>
            <a:ext cx="6662227" cy="581897"/>
          </a:xfrm>
        </p:spPr>
        <p:txBody>
          <a:bodyPr/>
          <a:lstStyle/>
          <a:p>
            <a:r>
              <a:rPr lang="en-GB" dirty="0"/>
              <a:t>Option 2: Hold regulated tenancies in MRI’s commercial module</a:t>
            </a:r>
          </a:p>
        </p:txBody>
      </p:sp>
      <p:grpSp>
        <p:nvGrpSpPr>
          <p:cNvPr id="27" name="Group 26">
            <a:extLst>
              <a:ext uri="{FF2B5EF4-FFF2-40B4-BE49-F238E27FC236}">
                <a16:creationId xmlns:a16="http://schemas.microsoft.com/office/drawing/2014/main" id="{C7AD2417-5819-4F7D-93C0-DBCC09978BF2}"/>
              </a:ext>
            </a:extLst>
          </p:cNvPr>
          <p:cNvGrpSpPr/>
          <p:nvPr/>
        </p:nvGrpSpPr>
        <p:grpSpPr>
          <a:xfrm>
            <a:off x="358772" y="1379167"/>
            <a:ext cx="4120947" cy="4797795"/>
            <a:chOff x="358772" y="2488099"/>
            <a:chExt cx="4120947" cy="3688863"/>
          </a:xfrm>
        </p:grpSpPr>
        <p:sp>
          <p:nvSpPr>
            <p:cNvPr id="28" name="Rectangle 27">
              <a:extLst>
                <a:ext uri="{FF2B5EF4-FFF2-40B4-BE49-F238E27FC236}">
                  <a16:creationId xmlns:a16="http://schemas.microsoft.com/office/drawing/2014/main" id="{ECEBD87B-43F5-4114-A7FC-A8AFB6652D9D}"/>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bg1"/>
                  </a:solidFill>
                  <a:latin typeface="+mj-lt"/>
                </a:rPr>
                <a:t>Solution description</a:t>
              </a:r>
            </a:p>
          </p:txBody>
        </p:sp>
        <p:sp>
          <p:nvSpPr>
            <p:cNvPr id="29" name="Rectangle 28">
              <a:extLst>
                <a:ext uri="{FF2B5EF4-FFF2-40B4-BE49-F238E27FC236}">
                  <a16:creationId xmlns:a16="http://schemas.microsoft.com/office/drawing/2014/main" id="{FB204CF4-7C1C-47E9-A27C-1F3E168A0542}"/>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1200"/>
                </a:spcBef>
                <a:buFontTx/>
                <a:buChar char="-"/>
              </a:pPr>
              <a:r>
                <a:rPr lang="en-GB" sz="1000" dirty="0">
                  <a:solidFill>
                    <a:schemeClr val="tx1"/>
                  </a:solidFill>
                  <a:latin typeface="Montserrat" panose="00000500000000000000" pitchFamily="50" charset="0"/>
                </a:rPr>
                <a:t>The solution is to </a:t>
              </a:r>
              <a:r>
                <a:rPr lang="en-GB" sz="1000" b="1" dirty="0">
                  <a:solidFill>
                    <a:schemeClr val="tx1"/>
                  </a:solidFill>
                  <a:latin typeface="Montserrat" panose="00000500000000000000" pitchFamily="50" charset="0"/>
                </a:rPr>
                <a:t>transfer all regulated tenancies to the Commercial (CM) module </a:t>
              </a:r>
              <a:r>
                <a:rPr lang="en-GB" sz="1000" dirty="0">
                  <a:solidFill>
                    <a:schemeClr val="tx1"/>
                  </a:solidFill>
                  <a:latin typeface="Montserrat" panose="00000500000000000000" pitchFamily="50" charset="0"/>
                </a:rPr>
                <a:t>and it</a:t>
              </a:r>
              <a:r>
                <a:rPr lang="en-GB" sz="1000" b="1" dirty="0">
                  <a:solidFill>
                    <a:schemeClr val="tx1"/>
                  </a:solidFill>
                  <a:latin typeface="Montserrat" panose="00000500000000000000" pitchFamily="50" charset="0"/>
                </a:rPr>
                <a:t> </a:t>
              </a:r>
              <a:r>
                <a:rPr lang="en-GB" sz="1000" dirty="0">
                  <a:solidFill>
                    <a:schemeClr val="tx1"/>
                  </a:solidFill>
                  <a:latin typeface="Montserrat" panose="00000500000000000000" pitchFamily="50" charset="0"/>
                </a:rPr>
                <a:t>would entail: </a:t>
              </a:r>
            </a:p>
            <a:p>
              <a:pPr marL="447675" lvl="1" indent="-182563">
                <a:spcBef>
                  <a:spcPts val="400"/>
                </a:spcBef>
                <a:buFontTx/>
                <a:buChar char="-"/>
              </a:pPr>
              <a:r>
                <a:rPr lang="en-GB" sz="1000" b="1" dirty="0">
                  <a:solidFill>
                    <a:schemeClr val="tx1"/>
                  </a:solidFill>
                  <a:latin typeface="Montserrat" panose="00000500000000000000" pitchFamily="50" charset="0"/>
                </a:rPr>
                <a:t>Building functionality in CM to handle residential tenancies </a:t>
              </a:r>
              <a:r>
                <a:rPr lang="en-GB" sz="1000" dirty="0">
                  <a:solidFill>
                    <a:schemeClr val="tx1"/>
                  </a:solidFill>
                  <a:latin typeface="Montserrat" panose="00000500000000000000" pitchFamily="50" charset="0"/>
                </a:rPr>
                <a:t>– namely rent reviews and non-direct debit collections – by reworking 2 FRDs already delivered</a:t>
              </a:r>
            </a:p>
            <a:p>
              <a:pPr marL="447675" lvl="1" indent="-182563">
                <a:spcBef>
                  <a:spcPts val="400"/>
                </a:spcBef>
                <a:buFontTx/>
                <a:buChar char="-"/>
              </a:pPr>
              <a:r>
                <a:rPr lang="en-GB" sz="1000" b="1" dirty="0">
                  <a:solidFill>
                    <a:schemeClr val="tx1"/>
                  </a:solidFill>
                  <a:latin typeface="Montserrat" panose="00000500000000000000" pitchFamily="50" charset="0"/>
                </a:rPr>
                <a:t>Reconfigure the FSI logic and problem codes </a:t>
              </a:r>
              <a:r>
                <a:rPr lang="en-GB" sz="1000" dirty="0">
                  <a:solidFill>
                    <a:schemeClr val="tx1"/>
                  </a:solidFill>
                  <a:latin typeface="Montserrat" panose="00000500000000000000" pitchFamily="50" charset="0"/>
                </a:rPr>
                <a:t>to accommodate maintenance works done in the CM module that don’t involve service charge</a:t>
              </a:r>
            </a:p>
            <a:p>
              <a:pPr marL="447675" lvl="1" indent="-182563">
                <a:spcBef>
                  <a:spcPts val="400"/>
                </a:spcBef>
                <a:buFontTx/>
                <a:buChar char="-"/>
              </a:pPr>
              <a:r>
                <a:rPr lang="en-GB" sz="1000" b="1" dirty="0">
                  <a:solidFill>
                    <a:schemeClr val="tx1"/>
                  </a:solidFill>
                  <a:latin typeface="Montserrat" panose="00000500000000000000" pitchFamily="50" charset="0"/>
                </a:rPr>
                <a:t>Build more complex integrations </a:t>
              </a:r>
              <a:r>
                <a:rPr lang="en-GB" sz="1000" dirty="0">
                  <a:solidFill>
                    <a:schemeClr val="tx1"/>
                  </a:solidFill>
                  <a:latin typeface="Montserrat" panose="00000500000000000000" pitchFamily="50" charset="0"/>
                </a:rPr>
                <a:t>around property data and payment collections</a:t>
              </a:r>
            </a:p>
            <a:p>
              <a:pPr marL="171450" indent="-171450">
                <a:spcBef>
                  <a:spcPts val="900"/>
                </a:spcBef>
                <a:buFontTx/>
                <a:buChar char="-"/>
              </a:pPr>
              <a:r>
                <a:rPr lang="en-GB" sz="1000" dirty="0">
                  <a:solidFill>
                    <a:schemeClr val="tx1"/>
                  </a:solidFill>
                  <a:latin typeface="Montserrat" panose="00000500000000000000" pitchFamily="50" charset="0"/>
                </a:rPr>
                <a:t>To minimise operational impact, all regulated tenancies should be in CM regardless of their payment frequency</a:t>
              </a:r>
            </a:p>
            <a:p>
              <a:pPr marL="171450" indent="-171450">
                <a:spcBef>
                  <a:spcPts val="900"/>
                </a:spcBef>
                <a:buFontTx/>
                <a:buChar char="-"/>
              </a:pPr>
              <a:r>
                <a:rPr lang="en-GB" sz="1000" dirty="0">
                  <a:solidFill>
                    <a:schemeClr val="tx1"/>
                  </a:solidFill>
                  <a:latin typeface="Montserrat" panose="00000500000000000000" pitchFamily="50" charset="0"/>
                </a:rPr>
                <a:t>Workarounds will be put in place to ensure the customer data is protected as CM is not GDPR compliant</a:t>
              </a:r>
            </a:p>
          </p:txBody>
        </p:sp>
      </p:grpSp>
      <p:grpSp>
        <p:nvGrpSpPr>
          <p:cNvPr id="30" name="Group 29">
            <a:extLst>
              <a:ext uri="{FF2B5EF4-FFF2-40B4-BE49-F238E27FC236}">
                <a16:creationId xmlns:a16="http://schemas.microsoft.com/office/drawing/2014/main" id="{4FFFF346-47A0-483C-B025-C27B753C00D4}"/>
              </a:ext>
            </a:extLst>
          </p:cNvPr>
          <p:cNvGrpSpPr/>
          <p:nvPr/>
        </p:nvGrpSpPr>
        <p:grpSpPr>
          <a:xfrm>
            <a:off x="4664283" y="1379167"/>
            <a:ext cx="4120947" cy="4797795"/>
            <a:chOff x="358772" y="2488099"/>
            <a:chExt cx="4120947" cy="3688863"/>
          </a:xfrm>
        </p:grpSpPr>
        <p:sp>
          <p:nvSpPr>
            <p:cNvPr id="31" name="Rectangle 30">
              <a:extLst>
                <a:ext uri="{FF2B5EF4-FFF2-40B4-BE49-F238E27FC236}">
                  <a16:creationId xmlns:a16="http://schemas.microsoft.com/office/drawing/2014/main" id="{7F05497C-2971-41BB-8800-C30D72889C09}"/>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dirty="0">
                  <a:solidFill>
                    <a:schemeClr val="bg1"/>
                  </a:solidFill>
                  <a:latin typeface="+mj-lt"/>
                </a:rPr>
                <a:t>Impact, pros and cons</a:t>
              </a:r>
            </a:p>
          </p:txBody>
        </p:sp>
        <p:sp>
          <p:nvSpPr>
            <p:cNvPr id="32" name="Rectangle 31">
              <a:extLst>
                <a:ext uri="{FF2B5EF4-FFF2-40B4-BE49-F238E27FC236}">
                  <a16:creationId xmlns:a16="http://schemas.microsoft.com/office/drawing/2014/main" id="{7E314C39-2E6E-4F2F-BFC8-4303A15F2510}"/>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This is a significant change to a design assumption long held by the Connect programme; </a:t>
              </a:r>
              <a:r>
                <a:rPr lang="en-GB" sz="1000" dirty="0">
                  <a:solidFill>
                    <a:schemeClr val="tx1"/>
                  </a:solidFill>
                  <a:latin typeface="Montserrat" panose="00000500000000000000" pitchFamily="50" charset="0"/>
                  <a:cs typeface="Mongolian Baiti" panose="03000500000000000000" pitchFamily="66" charset="0"/>
                </a:rPr>
                <a:t>accommodating it will take significant effort across the wider Connect platform</a:t>
              </a:r>
            </a:p>
            <a:p>
              <a:pPr marL="447675" lvl="1" indent="-182563">
                <a:spcBef>
                  <a:spcPts val="400"/>
                </a:spcBef>
                <a:buFontTx/>
                <a:buChar char="-"/>
              </a:pPr>
              <a:r>
                <a:rPr lang="en-GB" sz="1000" b="1" dirty="0">
                  <a:solidFill>
                    <a:schemeClr val="tx1"/>
                  </a:solidFill>
                  <a:latin typeface="Montserrat" panose="00000500000000000000" pitchFamily="50" charset="0"/>
                </a:rPr>
                <a:t>The estimates around FSI reconfiguration go up to a month</a:t>
              </a:r>
              <a:r>
                <a:rPr lang="en-GB" sz="1000" dirty="0">
                  <a:solidFill>
                    <a:schemeClr val="tx1"/>
                  </a:solidFill>
                  <a:latin typeface="Montserrat" panose="00000500000000000000" pitchFamily="50" charset="0"/>
                </a:rPr>
                <a:t>, stretching our already scarce Operations SME resources (Mike Jones / Holly Pears) and putting FSI potentially into the critical path</a:t>
              </a:r>
            </a:p>
            <a:p>
              <a:pPr marL="447675" lvl="1" indent="-182563">
                <a:spcBef>
                  <a:spcPts val="400"/>
                </a:spcBef>
                <a:buFontTx/>
                <a:buChar char="-"/>
              </a:pPr>
              <a:r>
                <a:rPr lang="en-GB" sz="1000" b="1" dirty="0">
                  <a:solidFill>
                    <a:schemeClr val="tx1"/>
                  </a:solidFill>
                  <a:latin typeface="Montserrat" panose="00000500000000000000" pitchFamily="50" charset="0"/>
                </a:rPr>
                <a:t>Further risk to integration delivery. </a:t>
              </a:r>
              <a:r>
                <a:rPr lang="en-GB" sz="1000" dirty="0">
                  <a:solidFill>
                    <a:schemeClr val="tx1"/>
                  </a:solidFill>
                  <a:latin typeface="Montserrat" panose="00000500000000000000" pitchFamily="50" charset="0"/>
                </a:rPr>
                <a:t>The added complexity puts a further strain on our integration work, which will depends on clear finance requirements to ensure the integration is effective </a:t>
              </a:r>
            </a:p>
            <a:p>
              <a:pPr marL="447675" lvl="1" indent="-182563">
                <a:spcBef>
                  <a:spcPts val="400"/>
                </a:spcBef>
                <a:buFontTx/>
                <a:buChar char="-"/>
              </a:pPr>
              <a:r>
                <a:rPr lang="en-GB" sz="1000" dirty="0">
                  <a:solidFill>
                    <a:schemeClr val="tx1"/>
                  </a:solidFill>
                  <a:latin typeface="Montserrat" panose="00000500000000000000" pitchFamily="50" charset="0"/>
                </a:rPr>
                <a:t>There is still </a:t>
              </a:r>
              <a:r>
                <a:rPr lang="en-GB" sz="1000" b="1" dirty="0">
                  <a:solidFill>
                    <a:schemeClr val="tx1"/>
                  </a:solidFill>
                  <a:latin typeface="Montserrat" panose="00000500000000000000" pitchFamily="50" charset="0"/>
                </a:rPr>
                <a:t>an element of additional MRI work </a:t>
              </a:r>
              <a:r>
                <a:rPr lang="en-GB" sz="1000" dirty="0">
                  <a:solidFill>
                    <a:schemeClr val="tx1"/>
                  </a:solidFill>
                  <a:latin typeface="Montserrat" panose="00000500000000000000" pitchFamily="50" charset="0"/>
                </a:rPr>
                <a:t>to complete this, although it is considered manageable</a:t>
              </a:r>
            </a:p>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The operational impact will have to be mitigated by a robust training / business readiness work. </a:t>
              </a:r>
              <a:r>
                <a:rPr lang="en-GB" sz="1000" dirty="0">
                  <a:solidFill>
                    <a:schemeClr val="tx1"/>
                  </a:solidFill>
                  <a:latin typeface="Montserrat" panose="00000500000000000000" pitchFamily="50" charset="0"/>
                  <a:cs typeface="Mongolian Baiti" panose="03000500000000000000" pitchFamily="66" charset="0"/>
                </a:rPr>
                <a:t>Teams handling residential customers will potentially have to deal with 2 very modules of MRI – reporting and business processes in operations will need careful review to ensure there is no disruption to this sensitive customer segment</a:t>
              </a:r>
            </a:p>
          </p:txBody>
        </p:sp>
      </p:grpSp>
      <p:grpSp>
        <p:nvGrpSpPr>
          <p:cNvPr id="33" name="Group 32">
            <a:extLst>
              <a:ext uri="{FF2B5EF4-FFF2-40B4-BE49-F238E27FC236}">
                <a16:creationId xmlns:a16="http://schemas.microsoft.com/office/drawing/2014/main" id="{7387116D-7762-4015-8F75-4A737911F22A}"/>
              </a:ext>
            </a:extLst>
          </p:cNvPr>
          <p:cNvGrpSpPr/>
          <p:nvPr/>
        </p:nvGrpSpPr>
        <p:grpSpPr>
          <a:xfrm>
            <a:off x="1971923" y="4493762"/>
            <a:ext cx="2392150" cy="1522977"/>
            <a:chOff x="621792" y="3338927"/>
            <a:chExt cx="3703320" cy="2976218"/>
          </a:xfrm>
        </p:grpSpPr>
        <p:sp>
          <p:nvSpPr>
            <p:cNvPr id="34" name="Rectangle: Rounded Corners 33">
              <a:extLst>
                <a:ext uri="{FF2B5EF4-FFF2-40B4-BE49-F238E27FC236}">
                  <a16:creationId xmlns:a16="http://schemas.microsoft.com/office/drawing/2014/main" id="{803EF0AD-95EA-4CA9-BC6F-E5A356D2C973}"/>
                </a:ext>
              </a:extLst>
            </p:cNvPr>
            <p:cNvSpPr/>
            <p:nvPr/>
          </p:nvSpPr>
          <p:spPr>
            <a:xfrm>
              <a:off x="621792" y="3338927"/>
              <a:ext cx="3703320" cy="916072"/>
            </a:xfrm>
            <a:prstGeom prst="roundRect">
              <a:avLst>
                <a:gd name="adj" fmla="val 11717"/>
              </a:avLst>
            </a:prstGeom>
            <a:solidFill>
              <a:schemeClr val="bg1"/>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4D858D"/>
                  </a:solidFill>
                  <a:latin typeface="+mj-lt"/>
                </a:rPr>
                <a:t>MRI</a:t>
              </a:r>
            </a:p>
          </p:txBody>
        </p:sp>
        <p:sp>
          <p:nvSpPr>
            <p:cNvPr id="35" name="Rectangle: Rounded Corners 34">
              <a:extLst>
                <a:ext uri="{FF2B5EF4-FFF2-40B4-BE49-F238E27FC236}">
                  <a16:creationId xmlns:a16="http://schemas.microsoft.com/office/drawing/2014/main" id="{EA642C71-46BB-43FA-86C9-02A02FE7DD9C}"/>
                </a:ext>
              </a:extLst>
            </p:cNvPr>
            <p:cNvSpPr/>
            <p:nvPr/>
          </p:nvSpPr>
          <p:spPr>
            <a:xfrm>
              <a:off x="730352" y="3480019"/>
              <a:ext cx="1099614" cy="620927"/>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RM</a:t>
              </a:r>
            </a:p>
          </p:txBody>
        </p:sp>
        <p:sp>
          <p:nvSpPr>
            <p:cNvPr id="36" name="Rectangle: Rounded Corners 35">
              <a:extLst>
                <a:ext uri="{FF2B5EF4-FFF2-40B4-BE49-F238E27FC236}">
                  <a16:creationId xmlns:a16="http://schemas.microsoft.com/office/drawing/2014/main" id="{7D737EBE-3CC0-4EF9-BC66-36AE818A4DCE}"/>
                </a:ext>
              </a:extLst>
            </p:cNvPr>
            <p:cNvSpPr/>
            <p:nvPr/>
          </p:nvSpPr>
          <p:spPr>
            <a:xfrm>
              <a:off x="3116937" y="3502262"/>
              <a:ext cx="1099614" cy="620927"/>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CM</a:t>
              </a:r>
            </a:p>
          </p:txBody>
        </p:sp>
        <p:sp>
          <p:nvSpPr>
            <p:cNvPr id="37" name="Rectangle: Rounded Corners 36">
              <a:extLst>
                <a:ext uri="{FF2B5EF4-FFF2-40B4-BE49-F238E27FC236}">
                  <a16:creationId xmlns:a16="http://schemas.microsoft.com/office/drawing/2014/main" id="{9BE0B48E-D98C-49A5-813D-F1651EE9F7A0}"/>
                </a:ext>
              </a:extLst>
            </p:cNvPr>
            <p:cNvSpPr/>
            <p:nvPr/>
          </p:nvSpPr>
          <p:spPr>
            <a:xfrm>
              <a:off x="621792" y="5026294"/>
              <a:ext cx="3703320" cy="593752"/>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FSI</a:t>
              </a:r>
            </a:p>
          </p:txBody>
        </p:sp>
        <p:sp>
          <p:nvSpPr>
            <p:cNvPr id="38" name="Rectangle: Rounded Corners 37">
              <a:extLst>
                <a:ext uri="{FF2B5EF4-FFF2-40B4-BE49-F238E27FC236}">
                  <a16:creationId xmlns:a16="http://schemas.microsoft.com/office/drawing/2014/main" id="{57820CB7-BBCA-4048-BA15-BD3594B4F1FA}"/>
                </a:ext>
              </a:extLst>
            </p:cNvPr>
            <p:cNvSpPr/>
            <p:nvPr/>
          </p:nvSpPr>
          <p:spPr>
            <a:xfrm>
              <a:off x="621792" y="4343770"/>
              <a:ext cx="3703320" cy="593752"/>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Integration</a:t>
              </a:r>
            </a:p>
          </p:txBody>
        </p:sp>
        <p:sp>
          <p:nvSpPr>
            <p:cNvPr id="39" name="Rectangle: Rounded Corners 38">
              <a:extLst>
                <a:ext uri="{FF2B5EF4-FFF2-40B4-BE49-F238E27FC236}">
                  <a16:creationId xmlns:a16="http://schemas.microsoft.com/office/drawing/2014/main" id="{459826E8-DAEE-47DC-8498-EE0B6DA3D3B1}"/>
                </a:ext>
              </a:extLst>
            </p:cNvPr>
            <p:cNvSpPr/>
            <p:nvPr/>
          </p:nvSpPr>
          <p:spPr>
            <a:xfrm>
              <a:off x="621792" y="5721393"/>
              <a:ext cx="3703320" cy="593752"/>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mj-lt"/>
                </a:rPr>
                <a:t>Data &amp; Reporting</a:t>
              </a:r>
            </a:p>
          </p:txBody>
        </p:sp>
      </p:grpSp>
      <p:sp>
        <p:nvSpPr>
          <p:cNvPr id="40" name="Speech Bubble: Rectangle 39">
            <a:extLst>
              <a:ext uri="{FF2B5EF4-FFF2-40B4-BE49-F238E27FC236}">
                <a16:creationId xmlns:a16="http://schemas.microsoft.com/office/drawing/2014/main" id="{05D2D53E-AD98-4027-A16B-F13624A93849}"/>
              </a:ext>
            </a:extLst>
          </p:cNvPr>
          <p:cNvSpPr/>
          <p:nvPr/>
        </p:nvSpPr>
        <p:spPr>
          <a:xfrm>
            <a:off x="430314" y="4384210"/>
            <a:ext cx="1357043" cy="681239"/>
          </a:xfrm>
          <a:prstGeom prst="wedgeRectCallout">
            <a:avLst>
              <a:gd name="adj1" fmla="val 187299"/>
              <a:gd name="adj2" fmla="val -15189"/>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Rework 2 FRD’s to enable CM on rent reviews and non-DD payments</a:t>
            </a:r>
          </a:p>
        </p:txBody>
      </p:sp>
      <p:sp>
        <p:nvSpPr>
          <p:cNvPr id="41" name="Speech Bubble: Rectangle 40">
            <a:extLst>
              <a:ext uri="{FF2B5EF4-FFF2-40B4-BE49-F238E27FC236}">
                <a16:creationId xmlns:a16="http://schemas.microsoft.com/office/drawing/2014/main" id="{4898887B-BF22-4549-950C-D0453D8DE220}"/>
              </a:ext>
            </a:extLst>
          </p:cNvPr>
          <p:cNvSpPr/>
          <p:nvPr/>
        </p:nvSpPr>
        <p:spPr>
          <a:xfrm>
            <a:off x="430314" y="5095492"/>
            <a:ext cx="1357043" cy="537905"/>
          </a:xfrm>
          <a:prstGeom prst="wedgeRectCallout">
            <a:avLst>
              <a:gd name="adj1" fmla="val 70114"/>
              <a:gd name="adj2" fmla="val -4150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More complex Property Upserted, Payment Updated</a:t>
            </a:r>
          </a:p>
        </p:txBody>
      </p:sp>
      <p:grpSp>
        <p:nvGrpSpPr>
          <p:cNvPr id="42" name="Group 41">
            <a:extLst>
              <a:ext uri="{FF2B5EF4-FFF2-40B4-BE49-F238E27FC236}">
                <a16:creationId xmlns:a16="http://schemas.microsoft.com/office/drawing/2014/main" id="{2FA88A31-00E4-4A69-B5AD-371C4FA75C7D}"/>
              </a:ext>
            </a:extLst>
          </p:cNvPr>
          <p:cNvGrpSpPr/>
          <p:nvPr/>
        </p:nvGrpSpPr>
        <p:grpSpPr>
          <a:xfrm>
            <a:off x="4762832" y="5328343"/>
            <a:ext cx="3927001" cy="704951"/>
            <a:chOff x="4936567" y="5328343"/>
            <a:chExt cx="3391799" cy="704951"/>
          </a:xfrm>
        </p:grpSpPr>
        <p:sp>
          <p:nvSpPr>
            <p:cNvPr id="43" name="Rectangle: Rounded Corners 42">
              <a:extLst>
                <a:ext uri="{FF2B5EF4-FFF2-40B4-BE49-F238E27FC236}">
                  <a16:creationId xmlns:a16="http://schemas.microsoft.com/office/drawing/2014/main" id="{1CA77D7A-FF1F-44D1-89BE-B77D319C33EF}"/>
                </a:ext>
              </a:extLst>
            </p:cNvPr>
            <p:cNvSpPr/>
            <p:nvPr/>
          </p:nvSpPr>
          <p:spPr>
            <a:xfrm>
              <a:off x="4936567" y="5328343"/>
              <a:ext cx="1079221" cy="704951"/>
            </a:xfrm>
            <a:prstGeom prst="roundRect">
              <a:avLst>
                <a:gd name="adj" fmla="val 5388"/>
              </a:avLst>
            </a:prstGeom>
            <a:solidFill>
              <a:srgbClr val="FFC00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MRI effort / cost / risk</a:t>
              </a:r>
            </a:p>
          </p:txBody>
        </p:sp>
        <p:sp>
          <p:nvSpPr>
            <p:cNvPr id="44" name="Rectangle: Rounded Corners 43">
              <a:extLst>
                <a:ext uri="{FF2B5EF4-FFF2-40B4-BE49-F238E27FC236}">
                  <a16:creationId xmlns:a16="http://schemas.microsoft.com/office/drawing/2014/main" id="{821D9C90-C64A-42DE-ABE9-EF2B5713C01A}"/>
                </a:ext>
              </a:extLst>
            </p:cNvPr>
            <p:cNvSpPr/>
            <p:nvPr/>
          </p:nvSpPr>
          <p:spPr>
            <a:xfrm>
              <a:off x="6092856" y="5328343"/>
              <a:ext cx="1079221" cy="704951"/>
            </a:xfrm>
            <a:prstGeom prst="roundRect">
              <a:avLst>
                <a:gd name="adj" fmla="val 5388"/>
              </a:avLst>
            </a:prstGeom>
            <a:solidFill>
              <a:srgbClr val="FF000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Connect effort / cost / risk</a:t>
              </a:r>
            </a:p>
          </p:txBody>
        </p:sp>
        <p:sp>
          <p:nvSpPr>
            <p:cNvPr id="45" name="Rectangle: Rounded Corners 44">
              <a:extLst>
                <a:ext uri="{FF2B5EF4-FFF2-40B4-BE49-F238E27FC236}">
                  <a16:creationId xmlns:a16="http://schemas.microsoft.com/office/drawing/2014/main" id="{A94734C2-31A5-4E5D-9D93-CEF2C9E8BD59}"/>
                </a:ext>
              </a:extLst>
            </p:cNvPr>
            <p:cNvSpPr/>
            <p:nvPr/>
          </p:nvSpPr>
          <p:spPr>
            <a:xfrm>
              <a:off x="7249145" y="5328343"/>
              <a:ext cx="1079221" cy="704951"/>
            </a:xfrm>
            <a:prstGeom prst="roundRect">
              <a:avLst>
                <a:gd name="adj" fmla="val 5388"/>
              </a:avLst>
            </a:prstGeom>
            <a:solidFill>
              <a:srgbClr val="FFC00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Operational impact</a:t>
              </a:r>
            </a:p>
          </p:txBody>
        </p:sp>
      </p:grpSp>
      <p:sp>
        <p:nvSpPr>
          <p:cNvPr id="46" name="Speech Bubble: Rectangle 45">
            <a:extLst>
              <a:ext uri="{FF2B5EF4-FFF2-40B4-BE49-F238E27FC236}">
                <a16:creationId xmlns:a16="http://schemas.microsoft.com/office/drawing/2014/main" id="{CAE3FEF7-909C-4E3E-8DFB-B1B78FE624CD}"/>
              </a:ext>
            </a:extLst>
          </p:cNvPr>
          <p:cNvSpPr/>
          <p:nvPr/>
        </p:nvSpPr>
        <p:spPr>
          <a:xfrm>
            <a:off x="430314" y="5661047"/>
            <a:ext cx="1357043" cy="445556"/>
          </a:xfrm>
          <a:prstGeom prst="wedgeRectCallout">
            <a:avLst>
              <a:gd name="adj1" fmla="val 71286"/>
              <a:gd name="adj2" fmla="val -70056"/>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Reconfigure problem codes</a:t>
            </a:r>
          </a:p>
        </p:txBody>
      </p:sp>
    </p:spTree>
    <p:extLst>
      <p:ext uri="{BB962C8B-B14F-4D97-AF65-F5344CB8AC3E}">
        <p14:creationId xmlns:p14="http://schemas.microsoft.com/office/powerpoint/2010/main" val="418492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08A39E-B91E-48D7-B38B-1CC16060DED3}"/>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6DF8E618-BC61-42DA-8DFE-41A4E76FC55B}"/>
              </a:ext>
            </a:extLst>
          </p:cNvPr>
          <p:cNvSpPr>
            <a:spLocks noGrp="1"/>
          </p:cNvSpPr>
          <p:nvPr>
            <p:ph type="sldNum" sz="quarter" idx="12"/>
          </p:nvPr>
        </p:nvSpPr>
        <p:spPr/>
        <p:txBody>
          <a:bodyPr/>
          <a:lstStyle/>
          <a:p>
            <a:fld id="{0D32313A-DEBC-4CA4-B008-A02D4ABE2C72}" type="slidenum">
              <a:rPr lang="en-GB" smtClean="0"/>
              <a:t>9</a:t>
            </a:fld>
            <a:endParaRPr lang="en-GB" dirty="0"/>
          </a:p>
        </p:txBody>
      </p:sp>
      <p:sp>
        <p:nvSpPr>
          <p:cNvPr id="5" name="Title 4">
            <a:extLst>
              <a:ext uri="{FF2B5EF4-FFF2-40B4-BE49-F238E27FC236}">
                <a16:creationId xmlns:a16="http://schemas.microsoft.com/office/drawing/2014/main" id="{DADF021D-F3F0-4BEF-9558-93D2C992E677}"/>
              </a:ext>
            </a:extLst>
          </p:cNvPr>
          <p:cNvSpPr>
            <a:spLocks noGrp="1"/>
          </p:cNvSpPr>
          <p:nvPr>
            <p:ph type="title"/>
          </p:nvPr>
        </p:nvSpPr>
        <p:spPr>
          <a:xfrm>
            <a:off x="358775" y="270088"/>
            <a:ext cx="6662227" cy="581897"/>
          </a:xfrm>
        </p:spPr>
        <p:txBody>
          <a:bodyPr/>
          <a:lstStyle/>
          <a:p>
            <a:r>
              <a:rPr lang="en-GB" dirty="0"/>
              <a:t>Option 3: Adjust business process to charge all tenancies monthly</a:t>
            </a:r>
          </a:p>
        </p:txBody>
      </p:sp>
      <p:grpSp>
        <p:nvGrpSpPr>
          <p:cNvPr id="27" name="Group 26">
            <a:extLst>
              <a:ext uri="{FF2B5EF4-FFF2-40B4-BE49-F238E27FC236}">
                <a16:creationId xmlns:a16="http://schemas.microsoft.com/office/drawing/2014/main" id="{C7AD2417-5819-4F7D-93C0-DBCC09978BF2}"/>
              </a:ext>
            </a:extLst>
          </p:cNvPr>
          <p:cNvGrpSpPr/>
          <p:nvPr/>
        </p:nvGrpSpPr>
        <p:grpSpPr>
          <a:xfrm>
            <a:off x="358772" y="1379167"/>
            <a:ext cx="4120947" cy="4797795"/>
            <a:chOff x="358772" y="2488099"/>
            <a:chExt cx="4120947" cy="3688863"/>
          </a:xfrm>
        </p:grpSpPr>
        <p:sp>
          <p:nvSpPr>
            <p:cNvPr id="28" name="Rectangle 27">
              <a:extLst>
                <a:ext uri="{FF2B5EF4-FFF2-40B4-BE49-F238E27FC236}">
                  <a16:creationId xmlns:a16="http://schemas.microsoft.com/office/drawing/2014/main" id="{ECEBD87B-43F5-4114-A7FC-A8AFB6652D9D}"/>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bg1"/>
                  </a:solidFill>
                  <a:latin typeface="+mj-lt"/>
                </a:rPr>
                <a:t>Solution description</a:t>
              </a:r>
            </a:p>
          </p:txBody>
        </p:sp>
        <p:sp>
          <p:nvSpPr>
            <p:cNvPr id="29" name="Rectangle 28">
              <a:extLst>
                <a:ext uri="{FF2B5EF4-FFF2-40B4-BE49-F238E27FC236}">
                  <a16:creationId xmlns:a16="http://schemas.microsoft.com/office/drawing/2014/main" id="{FB204CF4-7C1C-47E9-A27C-1F3E168A0542}"/>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1200"/>
                </a:spcBef>
                <a:buFontTx/>
                <a:buChar char="-"/>
              </a:pPr>
              <a:r>
                <a:rPr lang="en-GB" sz="1000" dirty="0">
                  <a:solidFill>
                    <a:schemeClr val="tx1"/>
                  </a:solidFill>
                  <a:latin typeface="Montserrat" panose="00000500000000000000" pitchFamily="50" charset="0"/>
                </a:rPr>
                <a:t>RM keeps all residential units and </a:t>
              </a:r>
              <a:r>
                <a:rPr lang="en-GB" sz="1000" b="1" dirty="0">
                  <a:solidFill>
                    <a:schemeClr val="tx1"/>
                  </a:solidFill>
                  <a:latin typeface="Montserrat" panose="00000500000000000000" pitchFamily="50" charset="0"/>
                </a:rPr>
                <a:t>raises monthly charges, irrespective of the payment frequency</a:t>
              </a:r>
              <a:r>
                <a:rPr lang="en-GB" sz="1000" dirty="0">
                  <a:solidFill>
                    <a:schemeClr val="tx1"/>
                  </a:solidFill>
                  <a:latin typeface="Montserrat" panose="00000500000000000000" pitchFamily="50" charset="0"/>
                </a:rPr>
                <a:t>.</a:t>
              </a:r>
            </a:p>
            <a:p>
              <a:pPr marL="447675" lvl="1" indent="-182563">
                <a:spcBef>
                  <a:spcPts val="400"/>
                </a:spcBef>
                <a:buFontTx/>
                <a:buChar char="-"/>
              </a:pPr>
              <a:r>
                <a:rPr lang="en-GB" sz="1000" dirty="0">
                  <a:solidFill>
                    <a:schemeClr val="tx1"/>
                  </a:solidFill>
                  <a:latin typeface="Montserrat" panose="00000500000000000000" pitchFamily="50" charset="0"/>
                </a:rPr>
                <a:t>This upholds key principles of Connect and leverages on our technology – </a:t>
              </a:r>
              <a:r>
                <a:rPr lang="en-GB" sz="1000" b="1" dirty="0">
                  <a:solidFill>
                    <a:schemeClr val="tx1"/>
                  </a:solidFill>
                  <a:latin typeface="Montserrat" panose="00000500000000000000" pitchFamily="50" charset="0"/>
                </a:rPr>
                <a:t>MRI manages charges while Salesforce / Asperato manages payments</a:t>
              </a:r>
              <a:r>
                <a:rPr lang="en-GB" sz="1000" dirty="0">
                  <a:solidFill>
                    <a:schemeClr val="tx1"/>
                  </a:solidFill>
                  <a:latin typeface="Montserrat" panose="00000500000000000000" pitchFamily="50" charset="0"/>
                </a:rPr>
                <a:t>.</a:t>
              </a:r>
            </a:p>
            <a:p>
              <a:pPr marL="447675" lvl="1" indent="-182563">
                <a:spcBef>
                  <a:spcPts val="400"/>
                </a:spcBef>
                <a:buFontTx/>
                <a:buChar char="-"/>
              </a:pPr>
              <a:r>
                <a:rPr lang="en-GB" sz="1000" dirty="0">
                  <a:solidFill>
                    <a:schemeClr val="tx1"/>
                  </a:solidFill>
                  <a:latin typeface="Montserrat" panose="00000500000000000000" pitchFamily="50" charset="0"/>
                </a:rPr>
                <a:t>While we respect our customers’ right to pay weekly, we would work in a </a:t>
              </a:r>
              <a:r>
                <a:rPr lang="en-GB" sz="1000" b="1" dirty="0">
                  <a:solidFill>
                    <a:schemeClr val="tx1"/>
                  </a:solidFill>
                  <a:latin typeface="Montserrat" panose="00000500000000000000" pitchFamily="50" charset="0"/>
                </a:rPr>
                <a:t>different collection pattern, with monthly charges gradually offset by weekly payments, </a:t>
              </a:r>
              <a:r>
                <a:rPr lang="en-GB" sz="1000" dirty="0">
                  <a:solidFill>
                    <a:schemeClr val="tx1"/>
                  </a:solidFill>
                  <a:latin typeface="Montserrat" panose="00000500000000000000" pitchFamily="50" charset="0"/>
                </a:rPr>
                <a:t>and seldom going to ‘zero’ (see next slide)</a:t>
              </a:r>
            </a:p>
            <a:p>
              <a:pPr marL="171450" indent="-171450">
                <a:spcBef>
                  <a:spcPts val="900"/>
                </a:spcBef>
                <a:buFontTx/>
                <a:buChar char="-"/>
              </a:pPr>
              <a:r>
                <a:rPr lang="en-GB" sz="1000" dirty="0">
                  <a:solidFill>
                    <a:schemeClr val="tx1"/>
                  </a:solidFill>
                  <a:latin typeface="Montserrat" panose="00000500000000000000" pitchFamily="50" charset="0"/>
                </a:rPr>
                <a:t>We’d have to adapt some operating principles &amp; metrics in credit control, to look at missed payments (instead of only outstanding charges) to detect and chase arrears</a:t>
              </a:r>
            </a:p>
            <a:p>
              <a:pPr marL="171450" indent="-171450">
                <a:spcBef>
                  <a:spcPts val="900"/>
                </a:spcBef>
                <a:buFontTx/>
                <a:buChar char="-"/>
              </a:pPr>
              <a:r>
                <a:rPr lang="en-GB" sz="1000" dirty="0">
                  <a:solidFill>
                    <a:schemeClr val="tx1"/>
                  </a:solidFill>
                  <a:latin typeface="Montserrat" panose="00000500000000000000" pitchFamily="50" charset="0"/>
                </a:rPr>
                <a:t>We would also have to re-adjust some functionality already built into MRI and the Credit Control dashboard </a:t>
              </a:r>
            </a:p>
          </p:txBody>
        </p:sp>
      </p:grpSp>
      <p:grpSp>
        <p:nvGrpSpPr>
          <p:cNvPr id="30" name="Group 29">
            <a:extLst>
              <a:ext uri="{FF2B5EF4-FFF2-40B4-BE49-F238E27FC236}">
                <a16:creationId xmlns:a16="http://schemas.microsoft.com/office/drawing/2014/main" id="{4FFFF346-47A0-483C-B025-C27B753C00D4}"/>
              </a:ext>
            </a:extLst>
          </p:cNvPr>
          <p:cNvGrpSpPr/>
          <p:nvPr/>
        </p:nvGrpSpPr>
        <p:grpSpPr>
          <a:xfrm>
            <a:off x="4664283" y="1379167"/>
            <a:ext cx="4120947" cy="4797795"/>
            <a:chOff x="358772" y="2488099"/>
            <a:chExt cx="4120947" cy="3688863"/>
          </a:xfrm>
        </p:grpSpPr>
        <p:sp>
          <p:nvSpPr>
            <p:cNvPr id="31" name="Rectangle 30">
              <a:extLst>
                <a:ext uri="{FF2B5EF4-FFF2-40B4-BE49-F238E27FC236}">
                  <a16:creationId xmlns:a16="http://schemas.microsoft.com/office/drawing/2014/main" id="{7F05497C-2971-41BB-8800-C30D72889C09}"/>
                </a:ext>
              </a:extLst>
            </p:cNvPr>
            <p:cNvSpPr/>
            <p:nvPr/>
          </p:nvSpPr>
          <p:spPr>
            <a:xfrm>
              <a:off x="358774" y="2488099"/>
              <a:ext cx="4120945" cy="233606"/>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dirty="0">
                  <a:solidFill>
                    <a:schemeClr val="bg1"/>
                  </a:solidFill>
                  <a:latin typeface="+mj-lt"/>
                </a:rPr>
                <a:t>Impact, pros and cons</a:t>
              </a:r>
            </a:p>
          </p:txBody>
        </p:sp>
        <p:sp>
          <p:nvSpPr>
            <p:cNvPr id="32" name="Rectangle 31">
              <a:extLst>
                <a:ext uri="{FF2B5EF4-FFF2-40B4-BE49-F238E27FC236}">
                  <a16:creationId xmlns:a16="http://schemas.microsoft.com/office/drawing/2014/main" id="{7E314C39-2E6E-4F2F-BFC8-4303A15F2510}"/>
                </a:ext>
              </a:extLst>
            </p:cNvPr>
            <p:cNvSpPr/>
            <p:nvPr/>
          </p:nvSpPr>
          <p:spPr>
            <a:xfrm>
              <a:off x="358772" y="2721705"/>
              <a:ext cx="4120945" cy="345525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We would have to adjust the Credit Control Dashboard. </a:t>
              </a:r>
              <a:r>
                <a:rPr lang="en-GB" sz="1000" dirty="0">
                  <a:solidFill>
                    <a:schemeClr val="tx1"/>
                  </a:solidFill>
                  <a:latin typeface="Montserrat" panose="00000500000000000000" pitchFamily="50" charset="0"/>
                  <a:cs typeface="Mongolian Baiti" panose="03000500000000000000" pitchFamily="66" charset="0"/>
                </a:rPr>
                <a:t>It was developed with a logic based on outstanding charges to identify tenants in arrears, prompt chasing, send letters. We would have to ensure regulated tenants are chased only if they have missed payments</a:t>
              </a:r>
            </a:p>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The ‘external’ / customer impact of this is relatively low. </a:t>
              </a:r>
              <a:r>
                <a:rPr lang="en-GB" sz="1000" dirty="0">
                  <a:solidFill>
                    <a:schemeClr val="tx1"/>
                  </a:solidFill>
                  <a:latin typeface="Montserrat" panose="00000500000000000000" pitchFamily="50" charset="0"/>
                  <a:cs typeface="Mongolian Baiti" panose="03000500000000000000" pitchFamily="66" charset="0"/>
                </a:rPr>
                <a:t>Our cash collection will not be affected, with customers paying the same way, and most of them barely noticing our charging frequency is different.</a:t>
              </a:r>
              <a:endParaRPr lang="en-GB" sz="1000" b="1" dirty="0">
                <a:solidFill>
                  <a:schemeClr val="tx1"/>
                </a:solidFill>
                <a:latin typeface="Montserrat" panose="00000500000000000000" pitchFamily="50" charset="0"/>
                <a:cs typeface="Mongolian Baiti" panose="03000500000000000000" pitchFamily="66" charset="0"/>
              </a:endParaRPr>
            </a:p>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The greatest customer impact is on cases we have to take a customer to court - </a:t>
              </a:r>
              <a:r>
                <a:rPr lang="en-GB" sz="1000" dirty="0">
                  <a:solidFill>
                    <a:schemeClr val="tx1"/>
                  </a:solidFill>
                  <a:latin typeface="Montserrat" panose="00000500000000000000" pitchFamily="50" charset="0"/>
                  <a:cs typeface="Mongolian Baiti" panose="03000500000000000000" pitchFamily="66" charset="0"/>
                </a:rPr>
                <a:t>In such cases we’d have to produce statements that show the weekly expected payments - which means that statements used within chasing arrears must show the same weekly expectations </a:t>
              </a:r>
            </a:p>
            <a:p>
              <a:pPr marL="171450" indent="-171450">
                <a:spcBef>
                  <a:spcPts val="900"/>
                </a:spcBef>
                <a:buFontTx/>
                <a:buChar char="-"/>
              </a:pPr>
              <a:r>
                <a:rPr lang="en-GB" sz="1000" b="1" dirty="0">
                  <a:solidFill>
                    <a:schemeClr val="tx1"/>
                  </a:solidFill>
                  <a:latin typeface="Montserrat" panose="00000500000000000000" pitchFamily="50" charset="0"/>
                  <a:cs typeface="Mongolian Baiti" panose="03000500000000000000" pitchFamily="66" charset="0"/>
                </a:rPr>
                <a:t>The operational impact on Credit Control (and those dealing with the customer in arrears) must be mitigated by robust training and business readiness. </a:t>
              </a:r>
              <a:r>
                <a:rPr lang="en-GB" sz="1000" dirty="0">
                  <a:solidFill>
                    <a:schemeClr val="tx1"/>
                  </a:solidFill>
                  <a:latin typeface="Montserrat" panose="00000500000000000000" pitchFamily="50" charset="0"/>
                  <a:cs typeface="Mongolian Baiti" panose="03000500000000000000" pitchFamily="66" charset="0"/>
                </a:rPr>
                <a:t>With this being a more transformative change to our approach to managing arrears, people involved would have to become familiar with a different set of concepts and metrics. </a:t>
              </a:r>
            </a:p>
          </p:txBody>
        </p:sp>
      </p:grpSp>
      <p:grpSp>
        <p:nvGrpSpPr>
          <p:cNvPr id="33" name="Group 32">
            <a:extLst>
              <a:ext uri="{FF2B5EF4-FFF2-40B4-BE49-F238E27FC236}">
                <a16:creationId xmlns:a16="http://schemas.microsoft.com/office/drawing/2014/main" id="{7387116D-7762-4015-8F75-4A737911F22A}"/>
              </a:ext>
            </a:extLst>
          </p:cNvPr>
          <p:cNvGrpSpPr/>
          <p:nvPr/>
        </p:nvGrpSpPr>
        <p:grpSpPr>
          <a:xfrm>
            <a:off x="1971923" y="4493762"/>
            <a:ext cx="2392150" cy="1522977"/>
            <a:chOff x="621792" y="3338927"/>
            <a:chExt cx="3703320" cy="2976218"/>
          </a:xfrm>
        </p:grpSpPr>
        <p:sp>
          <p:nvSpPr>
            <p:cNvPr id="34" name="Rectangle: Rounded Corners 33">
              <a:extLst>
                <a:ext uri="{FF2B5EF4-FFF2-40B4-BE49-F238E27FC236}">
                  <a16:creationId xmlns:a16="http://schemas.microsoft.com/office/drawing/2014/main" id="{803EF0AD-95EA-4CA9-BC6F-E5A356D2C973}"/>
                </a:ext>
              </a:extLst>
            </p:cNvPr>
            <p:cNvSpPr/>
            <p:nvPr/>
          </p:nvSpPr>
          <p:spPr>
            <a:xfrm>
              <a:off x="621792" y="3338927"/>
              <a:ext cx="3703320" cy="916072"/>
            </a:xfrm>
            <a:prstGeom prst="roundRect">
              <a:avLst>
                <a:gd name="adj" fmla="val 11717"/>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MRI</a:t>
              </a:r>
            </a:p>
          </p:txBody>
        </p:sp>
        <p:sp>
          <p:nvSpPr>
            <p:cNvPr id="35" name="Rectangle: Rounded Corners 34">
              <a:extLst>
                <a:ext uri="{FF2B5EF4-FFF2-40B4-BE49-F238E27FC236}">
                  <a16:creationId xmlns:a16="http://schemas.microsoft.com/office/drawing/2014/main" id="{EA642C71-46BB-43FA-86C9-02A02FE7DD9C}"/>
                </a:ext>
              </a:extLst>
            </p:cNvPr>
            <p:cNvSpPr/>
            <p:nvPr/>
          </p:nvSpPr>
          <p:spPr>
            <a:xfrm>
              <a:off x="730352" y="3480019"/>
              <a:ext cx="1099614" cy="620927"/>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RM</a:t>
              </a:r>
            </a:p>
          </p:txBody>
        </p:sp>
        <p:sp>
          <p:nvSpPr>
            <p:cNvPr id="36" name="Rectangle: Rounded Corners 35">
              <a:extLst>
                <a:ext uri="{FF2B5EF4-FFF2-40B4-BE49-F238E27FC236}">
                  <a16:creationId xmlns:a16="http://schemas.microsoft.com/office/drawing/2014/main" id="{7D737EBE-3CC0-4EF9-BC66-36AE818A4DCE}"/>
                </a:ext>
              </a:extLst>
            </p:cNvPr>
            <p:cNvSpPr/>
            <p:nvPr/>
          </p:nvSpPr>
          <p:spPr>
            <a:xfrm>
              <a:off x="3116937" y="3502262"/>
              <a:ext cx="1099614" cy="620927"/>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CM</a:t>
              </a:r>
            </a:p>
          </p:txBody>
        </p:sp>
        <p:sp>
          <p:nvSpPr>
            <p:cNvPr id="37" name="Rectangle: Rounded Corners 36">
              <a:extLst>
                <a:ext uri="{FF2B5EF4-FFF2-40B4-BE49-F238E27FC236}">
                  <a16:creationId xmlns:a16="http://schemas.microsoft.com/office/drawing/2014/main" id="{9BE0B48E-D98C-49A5-813D-F1651EE9F7A0}"/>
                </a:ext>
              </a:extLst>
            </p:cNvPr>
            <p:cNvSpPr/>
            <p:nvPr/>
          </p:nvSpPr>
          <p:spPr>
            <a:xfrm>
              <a:off x="621792" y="5026294"/>
              <a:ext cx="3703320" cy="593752"/>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FSI</a:t>
              </a:r>
            </a:p>
          </p:txBody>
        </p:sp>
        <p:sp>
          <p:nvSpPr>
            <p:cNvPr id="38" name="Rectangle: Rounded Corners 37">
              <a:extLst>
                <a:ext uri="{FF2B5EF4-FFF2-40B4-BE49-F238E27FC236}">
                  <a16:creationId xmlns:a16="http://schemas.microsoft.com/office/drawing/2014/main" id="{57820CB7-BBCA-4048-BA15-BD3594B4F1FA}"/>
                </a:ext>
              </a:extLst>
            </p:cNvPr>
            <p:cNvSpPr/>
            <p:nvPr/>
          </p:nvSpPr>
          <p:spPr>
            <a:xfrm>
              <a:off x="621792" y="4343770"/>
              <a:ext cx="3703320" cy="593752"/>
            </a:xfrm>
            <a:prstGeom prst="roundRect">
              <a:avLst/>
            </a:prstGeom>
            <a:solidFill>
              <a:schemeClr val="bg1">
                <a:lumMod val="85000"/>
              </a:schemeClr>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Integration</a:t>
              </a:r>
            </a:p>
          </p:txBody>
        </p:sp>
        <p:sp>
          <p:nvSpPr>
            <p:cNvPr id="39" name="Rectangle: Rounded Corners 38">
              <a:extLst>
                <a:ext uri="{FF2B5EF4-FFF2-40B4-BE49-F238E27FC236}">
                  <a16:creationId xmlns:a16="http://schemas.microsoft.com/office/drawing/2014/main" id="{459826E8-DAEE-47DC-8498-EE0B6DA3D3B1}"/>
                </a:ext>
              </a:extLst>
            </p:cNvPr>
            <p:cNvSpPr/>
            <p:nvPr/>
          </p:nvSpPr>
          <p:spPr>
            <a:xfrm>
              <a:off x="621792" y="5721393"/>
              <a:ext cx="3703320" cy="593752"/>
            </a:xfrm>
            <a:prstGeom prst="roundRect">
              <a:avLst/>
            </a:prstGeom>
            <a:solidFill>
              <a:srgbClr val="4D858D"/>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dirty="0">
                  <a:latin typeface="+mj-lt"/>
                </a:rPr>
                <a:t>Data &amp; Reporting</a:t>
              </a:r>
            </a:p>
          </p:txBody>
        </p:sp>
      </p:grpSp>
      <p:sp>
        <p:nvSpPr>
          <p:cNvPr id="40" name="Speech Bubble: Rectangle 39">
            <a:extLst>
              <a:ext uri="{FF2B5EF4-FFF2-40B4-BE49-F238E27FC236}">
                <a16:creationId xmlns:a16="http://schemas.microsoft.com/office/drawing/2014/main" id="{05D2D53E-AD98-4027-A16B-F13624A93849}"/>
              </a:ext>
            </a:extLst>
          </p:cNvPr>
          <p:cNvSpPr/>
          <p:nvPr/>
        </p:nvSpPr>
        <p:spPr>
          <a:xfrm>
            <a:off x="430314" y="4419289"/>
            <a:ext cx="1357043" cy="681239"/>
          </a:xfrm>
          <a:prstGeom prst="wedgeRectCallout">
            <a:avLst>
              <a:gd name="adj1" fmla="val 135738"/>
              <a:gd name="adj2" fmla="val -2219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Adjust the Credit Control Dashboard  &amp; arrears letters</a:t>
            </a:r>
          </a:p>
        </p:txBody>
      </p:sp>
      <p:grpSp>
        <p:nvGrpSpPr>
          <p:cNvPr id="42" name="Group 41">
            <a:extLst>
              <a:ext uri="{FF2B5EF4-FFF2-40B4-BE49-F238E27FC236}">
                <a16:creationId xmlns:a16="http://schemas.microsoft.com/office/drawing/2014/main" id="{2FA88A31-00E4-4A69-B5AD-371C4FA75C7D}"/>
              </a:ext>
            </a:extLst>
          </p:cNvPr>
          <p:cNvGrpSpPr/>
          <p:nvPr/>
        </p:nvGrpSpPr>
        <p:grpSpPr>
          <a:xfrm>
            <a:off x="4762832" y="5328343"/>
            <a:ext cx="3927001" cy="704951"/>
            <a:chOff x="4936567" y="5328343"/>
            <a:chExt cx="3391799" cy="704951"/>
          </a:xfrm>
          <a:solidFill>
            <a:srgbClr val="FF0000"/>
          </a:solidFill>
        </p:grpSpPr>
        <p:sp>
          <p:nvSpPr>
            <p:cNvPr id="43" name="Rectangle: Rounded Corners 42">
              <a:extLst>
                <a:ext uri="{FF2B5EF4-FFF2-40B4-BE49-F238E27FC236}">
                  <a16:creationId xmlns:a16="http://schemas.microsoft.com/office/drawing/2014/main" id="{1CA77D7A-FF1F-44D1-89BE-B77D319C33EF}"/>
                </a:ext>
              </a:extLst>
            </p:cNvPr>
            <p:cNvSpPr/>
            <p:nvPr/>
          </p:nvSpPr>
          <p:spPr>
            <a:xfrm>
              <a:off x="4936567" y="5328343"/>
              <a:ext cx="1079221" cy="704951"/>
            </a:xfrm>
            <a:prstGeom prst="roundRect">
              <a:avLst>
                <a:gd name="adj" fmla="val 5388"/>
              </a:avLst>
            </a:prstGeom>
            <a:grp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MRI effort / cost / risk</a:t>
              </a:r>
            </a:p>
          </p:txBody>
        </p:sp>
        <p:sp>
          <p:nvSpPr>
            <p:cNvPr id="44" name="Rectangle: Rounded Corners 43">
              <a:extLst>
                <a:ext uri="{FF2B5EF4-FFF2-40B4-BE49-F238E27FC236}">
                  <a16:creationId xmlns:a16="http://schemas.microsoft.com/office/drawing/2014/main" id="{821D9C90-C64A-42DE-ABE9-EF2B5713C01A}"/>
                </a:ext>
              </a:extLst>
            </p:cNvPr>
            <p:cNvSpPr/>
            <p:nvPr/>
          </p:nvSpPr>
          <p:spPr>
            <a:xfrm>
              <a:off x="6092856" y="5328343"/>
              <a:ext cx="1079221" cy="704951"/>
            </a:xfrm>
            <a:prstGeom prst="roundRect">
              <a:avLst>
                <a:gd name="adj" fmla="val 5388"/>
              </a:avLst>
            </a:prstGeom>
            <a:solidFill>
              <a:srgbClr val="00B050"/>
            </a:solid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Connect effort / cost / risk</a:t>
              </a:r>
            </a:p>
          </p:txBody>
        </p:sp>
        <p:sp>
          <p:nvSpPr>
            <p:cNvPr id="45" name="Rectangle: Rounded Corners 44">
              <a:extLst>
                <a:ext uri="{FF2B5EF4-FFF2-40B4-BE49-F238E27FC236}">
                  <a16:creationId xmlns:a16="http://schemas.microsoft.com/office/drawing/2014/main" id="{A94734C2-31A5-4E5D-9D93-CEF2C9E8BD59}"/>
                </a:ext>
              </a:extLst>
            </p:cNvPr>
            <p:cNvSpPr/>
            <p:nvPr/>
          </p:nvSpPr>
          <p:spPr>
            <a:xfrm>
              <a:off x="7249145" y="5328343"/>
              <a:ext cx="1079221" cy="704951"/>
            </a:xfrm>
            <a:prstGeom prst="roundRect">
              <a:avLst>
                <a:gd name="adj" fmla="val 5388"/>
              </a:avLst>
            </a:prstGeom>
            <a:grpFill/>
            <a:ln w="19050">
              <a:solidFill>
                <a:srgbClr val="4D85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Operational impact</a:t>
              </a:r>
            </a:p>
          </p:txBody>
        </p:sp>
      </p:grpSp>
      <p:sp>
        <p:nvSpPr>
          <p:cNvPr id="25" name="Speech Bubble: Rectangle 24">
            <a:extLst>
              <a:ext uri="{FF2B5EF4-FFF2-40B4-BE49-F238E27FC236}">
                <a16:creationId xmlns:a16="http://schemas.microsoft.com/office/drawing/2014/main" id="{527A2A6C-2A5B-493C-91AD-0F19A1BB2BDD}"/>
              </a:ext>
            </a:extLst>
          </p:cNvPr>
          <p:cNvSpPr/>
          <p:nvPr/>
        </p:nvSpPr>
        <p:spPr>
          <a:xfrm>
            <a:off x="430312" y="5171771"/>
            <a:ext cx="1357043" cy="844968"/>
          </a:xfrm>
          <a:prstGeom prst="wedgeRectCallout">
            <a:avLst>
              <a:gd name="adj1" fmla="val 68943"/>
              <a:gd name="adj2" fmla="val 2916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i="1" dirty="0">
                <a:solidFill>
                  <a:schemeClr val="tx1"/>
                </a:solidFill>
                <a:latin typeface="Montserrat" panose="00000500000000000000" pitchFamily="50" charset="0"/>
              </a:rPr>
              <a:t>Review our KPIs / reports around arrears to consider payments as well as charges</a:t>
            </a:r>
          </a:p>
        </p:txBody>
      </p:sp>
    </p:spTree>
    <p:extLst>
      <p:ext uri="{BB962C8B-B14F-4D97-AF65-F5344CB8AC3E}">
        <p14:creationId xmlns:p14="http://schemas.microsoft.com/office/powerpoint/2010/main" val="15454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B80B47-6EE8-4449-9659-56FF746DB994}"/>
              </a:ext>
            </a:extLst>
          </p:cNvPr>
          <p:cNvSpPr>
            <a:spLocks noGrp="1"/>
          </p:cNvSpPr>
          <p:nvPr>
            <p:ph idx="1"/>
          </p:nvPr>
        </p:nvSpPr>
        <p:spPr>
          <a:xfrm>
            <a:off x="358775" y="4069081"/>
            <a:ext cx="4121785" cy="2203703"/>
          </a:xfrm>
          <a:ln>
            <a:solidFill>
              <a:srgbClr val="4D858D"/>
            </a:solidFill>
          </a:ln>
        </p:spPr>
        <p:txBody>
          <a:bodyPr lIns="36000" rIns="36000">
            <a:noAutofit/>
          </a:bodyPr>
          <a:lstStyle/>
          <a:p>
            <a:pPr algn="ctr">
              <a:spcBef>
                <a:spcPts val="600"/>
              </a:spcBef>
            </a:pPr>
            <a:r>
              <a:rPr lang="en-GB" sz="1200" spc="0" dirty="0">
                <a:latin typeface="+mj-lt"/>
                <a:cs typeface="Arial" panose="020B0604020202020204" pitchFamily="34" charset="0"/>
              </a:rPr>
              <a:t>Charges vs payment pattern:</a:t>
            </a:r>
          </a:p>
          <a:p>
            <a:pPr marL="182563" indent="-182563">
              <a:spcBef>
                <a:spcPts val="600"/>
              </a:spcBef>
              <a:buFontTx/>
              <a:buChar char="-"/>
            </a:pPr>
            <a:r>
              <a:rPr lang="en-GB" sz="1000" spc="0" dirty="0">
                <a:latin typeface="Montserrat" panose="00000500000000000000" pitchFamily="50" charset="0"/>
                <a:cs typeface="Arial" panose="020B0604020202020204" pitchFamily="34" charset="0"/>
              </a:rPr>
              <a:t>The </a:t>
            </a:r>
            <a:r>
              <a:rPr lang="en-GB" sz="1000" b="1" spc="0" dirty="0">
                <a:latin typeface="Montserrat" panose="00000500000000000000" pitchFamily="50" charset="0"/>
                <a:cs typeface="Arial" panose="020B0604020202020204" pitchFamily="34" charset="0"/>
              </a:rPr>
              <a:t>account balance seldom goes to zero</a:t>
            </a:r>
            <a:r>
              <a:rPr lang="en-GB" sz="1000" spc="0" dirty="0">
                <a:latin typeface="Montserrat" panose="00000500000000000000" pitchFamily="50" charset="0"/>
                <a:cs typeface="Arial" panose="020B0604020202020204" pitchFamily="34" charset="0"/>
              </a:rPr>
              <a:t>, given the months and weeks rarely sync. In this scenario the customer should have a small surplus at the end of each month</a:t>
            </a:r>
          </a:p>
          <a:p>
            <a:pPr marL="182563" indent="-182563">
              <a:spcBef>
                <a:spcPts val="600"/>
              </a:spcBef>
              <a:buFontTx/>
              <a:buChar char="-"/>
            </a:pPr>
            <a:r>
              <a:rPr lang="en-GB" sz="1000" b="1" spc="0" dirty="0">
                <a:latin typeface="Montserrat" panose="00000500000000000000" pitchFamily="50" charset="0"/>
                <a:cs typeface="Arial" panose="020B0604020202020204" pitchFamily="34" charset="0"/>
              </a:rPr>
              <a:t>Balance seldom goes above monthly charge </a:t>
            </a:r>
            <a:r>
              <a:rPr lang="en-GB" sz="1000" spc="0" dirty="0">
                <a:latin typeface="Montserrat" panose="00000500000000000000" pitchFamily="50" charset="0"/>
                <a:cs typeface="Arial" panose="020B0604020202020204" pitchFamily="34" charset="0"/>
              </a:rPr>
              <a:t>either</a:t>
            </a:r>
          </a:p>
          <a:p>
            <a:pPr marL="182563" indent="-182563">
              <a:spcBef>
                <a:spcPts val="600"/>
              </a:spcBef>
              <a:buFontTx/>
              <a:buChar char="-"/>
            </a:pPr>
            <a:r>
              <a:rPr lang="en-GB" sz="1000" spc="0" dirty="0">
                <a:latin typeface="Montserrat" panose="00000500000000000000" pitchFamily="50" charset="0"/>
                <a:cs typeface="Arial" panose="020B0604020202020204" pitchFamily="34" charset="0"/>
              </a:rPr>
              <a:t>Setting the </a:t>
            </a:r>
            <a:r>
              <a:rPr lang="en-GB" sz="1000" b="1" spc="0" dirty="0">
                <a:latin typeface="Montserrat" panose="00000500000000000000" pitchFamily="50" charset="0"/>
                <a:cs typeface="Arial" panose="020B0604020202020204" pitchFamily="34" charset="0"/>
              </a:rPr>
              <a:t>first charge at the same day of the first payment </a:t>
            </a:r>
            <a:r>
              <a:rPr lang="en-GB" sz="1000" spc="0" dirty="0">
                <a:latin typeface="Montserrat" panose="00000500000000000000" pitchFamily="50" charset="0"/>
                <a:cs typeface="Arial" panose="020B0604020202020204" pitchFamily="34" charset="0"/>
              </a:rPr>
              <a:t>is important to guarantee the above</a:t>
            </a:r>
          </a:p>
          <a:p>
            <a:pPr marL="182563" indent="-182563">
              <a:spcBef>
                <a:spcPts val="600"/>
              </a:spcBef>
              <a:buFontTx/>
              <a:buChar char="-"/>
            </a:pPr>
            <a:r>
              <a:rPr lang="en-GB" sz="1000" spc="0" dirty="0">
                <a:latin typeface="Montserrat" panose="00000500000000000000" pitchFamily="50" charset="0"/>
                <a:cs typeface="Arial" panose="020B0604020202020204" pitchFamily="34" charset="0"/>
              </a:rPr>
              <a:t>There are </a:t>
            </a:r>
            <a:r>
              <a:rPr lang="en-GB" sz="1000" b="1" spc="0" dirty="0">
                <a:latin typeface="Montserrat" panose="00000500000000000000" pitchFamily="50" charset="0"/>
                <a:cs typeface="Arial" panose="020B0604020202020204" pitchFamily="34" charset="0"/>
              </a:rPr>
              <a:t>small (pence) rounding differences </a:t>
            </a:r>
            <a:r>
              <a:rPr lang="en-GB" sz="1000" spc="0" dirty="0">
                <a:latin typeface="Montserrat" panose="00000500000000000000" pitchFamily="50" charset="0"/>
                <a:cs typeface="Arial" panose="020B0604020202020204" pitchFamily="34" charset="0"/>
              </a:rPr>
              <a:t>converting weekly values to monthly – which compound over the years </a:t>
            </a:r>
          </a:p>
          <a:p>
            <a:pPr marL="182563" indent="-182563">
              <a:spcBef>
                <a:spcPts val="600"/>
              </a:spcBef>
              <a:buFontTx/>
              <a:buChar char="-"/>
            </a:pPr>
            <a:r>
              <a:rPr lang="en-GB" sz="1000" b="1" spc="0" dirty="0">
                <a:latin typeface="Montserrat" panose="00000500000000000000" pitchFamily="50" charset="0"/>
                <a:cs typeface="Arial" panose="020B0604020202020204" pitchFamily="34" charset="0"/>
              </a:rPr>
              <a:t>Account balance declines in the long term</a:t>
            </a:r>
            <a:r>
              <a:rPr lang="en-GB" sz="1000" spc="0" dirty="0">
                <a:latin typeface="Montserrat" panose="00000500000000000000" pitchFamily="50" charset="0"/>
                <a:cs typeface="Arial" panose="020B0604020202020204" pitchFamily="34" charset="0"/>
              </a:rPr>
              <a:t>, because there is an extra day at the end of every year before the next monthly charge is raised</a:t>
            </a:r>
          </a:p>
        </p:txBody>
      </p:sp>
      <p:sp>
        <p:nvSpPr>
          <p:cNvPr id="3" name="Footer Placeholder 2">
            <a:extLst>
              <a:ext uri="{FF2B5EF4-FFF2-40B4-BE49-F238E27FC236}">
                <a16:creationId xmlns:a16="http://schemas.microsoft.com/office/drawing/2014/main" id="{A892AD78-4017-47E6-9E89-9177F440F034}"/>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1ECD0EC8-CA9A-41FD-B11F-C46ABFB3E055}"/>
              </a:ext>
            </a:extLst>
          </p:cNvPr>
          <p:cNvSpPr>
            <a:spLocks noGrp="1"/>
          </p:cNvSpPr>
          <p:nvPr>
            <p:ph type="sldNum" sz="quarter" idx="12"/>
          </p:nvPr>
        </p:nvSpPr>
        <p:spPr/>
        <p:txBody>
          <a:bodyPr/>
          <a:lstStyle/>
          <a:p>
            <a:fld id="{0D32313A-DEBC-4CA4-B008-A02D4ABE2C72}" type="slidenum">
              <a:rPr lang="en-GB" smtClean="0"/>
              <a:t>10</a:t>
            </a:fld>
            <a:endParaRPr lang="en-GB" dirty="0"/>
          </a:p>
        </p:txBody>
      </p:sp>
      <p:sp>
        <p:nvSpPr>
          <p:cNvPr id="5" name="Title 4">
            <a:extLst>
              <a:ext uri="{FF2B5EF4-FFF2-40B4-BE49-F238E27FC236}">
                <a16:creationId xmlns:a16="http://schemas.microsoft.com/office/drawing/2014/main" id="{C9C8E1D9-F133-4AA3-92CF-39C7775D0CA5}"/>
              </a:ext>
            </a:extLst>
          </p:cNvPr>
          <p:cNvSpPr>
            <a:spLocks noGrp="1"/>
          </p:cNvSpPr>
          <p:nvPr>
            <p:ph type="title"/>
          </p:nvPr>
        </p:nvSpPr>
        <p:spPr/>
        <p:txBody>
          <a:bodyPr/>
          <a:lstStyle/>
          <a:p>
            <a:r>
              <a:rPr lang="en-GB" dirty="0"/>
              <a:t>Monthly charging / pattern</a:t>
            </a:r>
          </a:p>
        </p:txBody>
      </p:sp>
      <p:sp>
        <p:nvSpPr>
          <p:cNvPr id="6" name="Content Placeholder 2">
            <a:extLst>
              <a:ext uri="{FF2B5EF4-FFF2-40B4-BE49-F238E27FC236}">
                <a16:creationId xmlns:a16="http://schemas.microsoft.com/office/drawing/2014/main" id="{5370FBEC-952C-4739-B107-8BB5BBEF8380}"/>
              </a:ext>
            </a:extLst>
          </p:cNvPr>
          <p:cNvSpPr txBox="1">
            <a:spLocks/>
          </p:cNvSpPr>
          <p:nvPr/>
        </p:nvSpPr>
        <p:spPr>
          <a:xfrm>
            <a:off x="358775" y="1263933"/>
            <a:ext cx="8426449" cy="903452"/>
          </a:xfrm>
          <a:prstGeom prst="rect">
            <a:avLst/>
          </a:prstGeom>
          <a:ln>
            <a:noFill/>
          </a:ln>
        </p:spPr>
        <p:txBody>
          <a:bodyPr vert="horz" lIns="84406" tIns="42203" rIns="84406" bIns="42203"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A scenario where a tenancy is charged monthly but paid weekly is described below. The graph shows a ‘healthy’ payment pattern in this scenario – i.e. customer pays the right rent amount every week. Our option 3 would have to adjust some principles: </a:t>
            </a:r>
            <a:r>
              <a:rPr lang="en-GB" sz="1200" dirty="0" err="1">
                <a:solidFill>
                  <a:schemeClr val="accent2"/>
                </a:solidFill>
                <a:latin typeface="Montserrat"/>
                <a:ea typeface="+mn-ea"/>
                <a:cs typeface="+mn-cs"/>
              </a:rPr>
              <a:t>i</a:t>
            </a:r>
            <a:r>
              <a:rPr lang="en-GB" sz="1200" dirty="0">
                <a:solidFill>
                  <a:schemeClr val="accent2"/>
                </a:solidFill>
                <a:latin typeface="Montserrat"/>
                <a:ea typeface="+mn-ea"/>
                <a:cs typeface="+mn-cs"/>
              </a:rPr>
              <a:t>) arrears is triggered by payments being missed rather than charges being outstanding; ii) a customer who makes their payments timely and correctly is not in arrears.</a:t>
            </a:r>
          </a:p>
        </p:txBody>
      </p:sp>
      <p:graphicFrame>
        <p:nvGraphicFramePr>
          <p:cNvPr id="10" name="Chart 9">
            <a:extLst>
              <a:ext uri="{FF2B5EF4-FFF2-40B4-BE49-F238E27FC236}">
                <a16:creationId xmlns:a16="http://schemas.microsoft.com/office/drawing/2014/main" id="{8DC28D48-9107-6448-AC05-2B42E36C36DB}"/>
              </a:ext>
            </a:extLst>
          </p:cNvPr>
          <p:cNvGraphicFramePr>
            <a:graphicFrameLocks noGrp="1"/>
          </p:cNvGraphicFramePr>
          <p:nvPr>
            <p:extLst>
              <p:ext uri="{D42A27DB-BD31-4B8C-83A1-F6EECF244321}">
                <p14:modId xmlns:p14="http://schemas.microsoft.com/office/powerpoint/2010/main" val="4027568579"/>
              </p:ext>
            </p:extLst>
          </p:nvPr>
        </p:nvGraphicFramePr>
        <p:xfrm>
          <a:off x="91440" y="2011938"/>
          <a:ext cx="8869680" cy="1963774"/>
        </p:xfrm>
        <a:graphic>
          <a:graphicData uri="http://schemas.openxmlformats.org/drawingml/2006/chart">
            <c:chart xmlns:c="http://schemas.openxmlformats.org/drawingml/2006/chart" xmlns:r="http://schemas.openxmlformats.org/officeDocument/2006/relationships" r:id="rId2"/>
          </a:graphicData>
        </a:graphic>
      </p:graphicFrame>
      <p:sp>
        <p:nvSpPr>
          <p:cNvPr id="11" name="Content Placeholder 1">
            <a:extLst>
              <a:ext uri="{FF2B5EF4-FFF2-40B4-BE49-F238E27FC236}">
                <a16:creationId xmlns:a16="http://schemas.microsoft.com/office/drawing/2014/main" id="{E28A33B0-AF83-4E87-9772-AB9FBD7E3F83}"/>
              </a:ext>
            </a:extLst>
          </p:cNvPr>
          <p:cNvSpPr txBox="1">
            <a:spLocks/>
          </p:cNvSpPr>
          <p:nvPr/>
        </p:nvSpPr>
        <p:spPr>
          <a:xfrm>
            <a:off x="4659947" y="4069080"/>
            <a:ext cx="4121785" cy="2203703"/>
          </a:xfrm>
          <a:prstGeom prst="rect">
            <a:avLst/>
          </a:prstGeom>
          <a:ln>
            <a:solidFill>
              <a:srgbClr val="4D858D"/>
            </a:solidFill>
          </a:ln>
        </p:spPr>
        <p:txBody>
          <a:bodyPr vert="horz" lIns="36000" tIns="45720" rIns="36000" bIns="45720" rtlCol="0">
            <a:no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3"/>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spcBef>
                <a:spcPts val="600"/>
              </a:spcBef>
            </a:pPr>
            <a:r>
              <a:rPr lang="en-GB" sz="1200" spc="0" dirty="0">
                <a:latin typeface="+mj-lt"/>
                <a:cs typeface="Arial" panose="020B0604020202020204" pitchFamily="34" charset="0"/>
              </a:rPr>
              <a:t>Process considerations:</a:t>
            </a:r>
          </a:p>
          <a:p>
            <a:pPr marL="182563" indent="-182563">
              <a:spcBef>
                <a:spcPts val="600"/>
              </a:spcBef>
              <a:buFontTx/>
              <a:buChar char="-"/>
            </a:pPr>
            <a:r>
              <a:rPr lang="en-GB" sz="1000" b="1" spc="0" dirty="0">
                <a:latin typeface="Montserrat" panose="00000500000000000000" pitchFamily="50" charset="0"/>
                <a:cs typeface="Arial" panose="020B0604020202020204" pitchFamily="34" charset="0"/>
              </a:rPr>
              <a:t>Rent statements </a:t>
            </a:r>
            <a:r>
              <a:rPr lang="en-GB" sz="1000" spc="0" dirty="0">
                <a:latin typeface="Montserrat" panose="00000500000000000000" pitchFamily="50" charset="0"/>
                <a:cs typeface="Arial" panose="020B0604020202020204" pitchFamily="34" charset="0"/>
              </a:rPr>
              <a:t>would show a balance for weekly paid rents, and have notes on when payments are expected, and that they are not required to settle the full balance. They won’t be visible in portal, and only send out upon request. </a:t>
            </a:r>
          </a:p>
          <a:p>
            <a:pPr marL="182563" indent="-182563">
              <a:spcBef>
                <a:spcPts val="600"/>
              </a:spcBef>
              <a:buFontTx/>
              <a:buChar char="-"/>
            </a:pPr>
            <a:r>
              <a:rPr lang="en-GB" sz="1000" spc="0" dirty="0">
                <a:latin typeface="Montserrat" panose="00000500000000000000" pitchFamily="50" charset="0"/>
                <a:cs typeface="Arial" panose="020B0604020202020204" pitchFamily="34" charset="0"/>
              </a:rPr>
              <a:t>The </a:t>
            </a:r>
            <a:r>
              <a:rPr lang="en-GB" sz="1000" b="1" spc="0" dirty="0">
                <a:latin typeface="Montserrat" panose="00000500000000000000" pitchFamily="50" charset="0"/>
                <a:cs typeface="Arial" panose="020B0604020202020204" pitchFamily="34" charset="0"/>
              </a:rPr>
              <a:t>‘reportable’ arrears </a:t>
            </a:r>
            <a:r>
              <a:rPr lang="en-GB" sz="1000" spc="0" dirty="0">
                <a:latin typeface="Montserrat" panose="00000500000000000000" pitchFamily="50" charset="0"/>
                <a:cs typeface="Arial" panose="020B0604020202020204" pitchFamily="34" charset="0"/>
              </a:rPr>
              <a:t>are not widely affected by this; the threshold of ‘rent + £25’ we apply today would not be breached by customers not in arrears</a:t>
            </a:r>
          </a:p>
          <a:p>
            <a:pPr marL="182563" indent="-182563">
              <a:spcBef>
                <a:spcPts val="600"/>
              </a:spcBef>
              <a:buFontTx/>
              <a:buChar char="-"/>
            </a:pPr>
            <a:r>
              <a:rPr lang="en-GB" sz="1000" b="1" spc="0" dirty="0">
                <a:latin typeface="Montserrat" panose="00000500000000000000" pitchFamily="50" charset="0"/>
                <a:cs typeface="Arial" panose="020B0604020202020204" pitchFamily="34" charset="0"/>
              </a:rPr>
              <a:t>Arrears chasing </a:t>
            </a:r>
            <a:r>
              <a:rPr lang="en-GB" sz="1000" spc="0" dirty="0">
                <a:latin typeface="Montserrat" panose="00000500000000000000" pitchFamily="50" charset="0"/>
                <a:cs typeface="Arial" panose="020B0604020202020204" pitchFamily="34" charset="0"/>
              </a:rPr>
              <a:t>/ letters: the triggers for chasing arrears would have to change in this segment, to look at missed payments as well as outstanding charges / balance.</a:t>
            </a:r>
          </a:p>
          <a:p>
            <a:pPr marL="182563" indent="-182563">
              <a:spcBef>
                <a:spcPts val="600"/>
              </a:spcBef>
              <a:buFontTx/>
              <a:buChar char="-"/>
            </a:pPr>
            <a:r>
              <a:rPr lang="en-GB" sz="1000" b="1" spc="0" dirty="0">
                <a:latin typeface="Montserrat" panose="00000500000000000000" pitchFamily="50" charset="0"/>
                <a:cs typeface="Arial" panose="020B0604020202020204" pitchFamily="34" charset="0"/>
              </a:rPr>
              <a:t>Non-recurring charges</a:t>
            </a:r>
            <a:r>
              <a:rPr lang="en-GB" sz="1000" spc="0" dirty="0">
                <a:latin typeface="Montserrat" panose="00000500000000000000" pitchFamily="50" charset="0"/>
                <a:cs typeface="Arial" panose="020B0604020202020204" pitchFamily="34" charset="0"/>
              </a:rPr>
              <a:t> are rare for regulated but should be incorporated in the overall process.</a:t>
            </a:r>
          </a:p>
        </p:txBody>
      </p:sp>
      <p:sp>
        <p:nvSpPr>
          <p:cNvPr id="12" name="TextBox 11">
            <a:extLst>
              <a:ext uri="{FF2B5EF4-FFF2-40B4-BE49-F238E27FC236}">
                <a16:creationId xmlns:a16="http://schemas.microsoft.com/office/drawing/2014/main" id="{A18F6ABE-75C5-4217-98AF-B36E58343DBA}"/>
              </a:ext>
            </a:extLst>
          </p:cNvPr>
          <p:cNvSpPr txBox="1"/>
          <p:nvPr/>
        </p:nvSpPr>
        <p:spPr>
          <a:xfrm>
            <a:off x="4050876" y="2375241"/>
            <a:ext cx="1078821" cy="215444"/>
          </a:xfrm>
          <a:prstGeom prst="rect">
            <a:avLst/>
          </a:prstGeom>
          <a:solidFill>
            <a:schemeClr val="bg1"/>
          </a:solidFill>
        </p:spPr>
        <p:txBody>
          <a:bodyPr wrap="none" rtlCol="0">
            <a:spAutoFit/>
          </a:bodyPr>
          <a:lstStyle/>
          <a:p>
            <a:pPr algn="l"/>
            <a:r>
              <a:rPr lang="en-GB" sz="800" i="1" spc="-60" dirty="0">
                <a:solidFill>
                  <a:srgbClr val="FF0000"/>
                </a:solidFill>
              </a:rPr>
              <a:t>Monthly rent charge</a:t>
            </a:r>
          </a:p>
        </p:txBody>
      </p:sp>
    </p:spTree>
    <p:extLst>
      <p:ext uri="{BB962C8B-B14F-4D97-AF65-F5344CB8AC3E}">
        <p14:creationId xmlns:p14="http://schemas.microsoft.com/office/powerpoint/2010/main" val="1762492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4_Office Theme">
  <a:themeElements>
    <a:clrScheme name="Grainger 2017">
      <a:dk1>
        <a:srgbClr val="4A4A49"/>
      </a:dk1>
      <a:lt1>
        <a:sysClr val="window" lastClr="FFFFFF"/>
      </a:lt1>
      <a:dk2>
        <a:srgbClr val="8EC4C5"/>
      </a:dk2>
      <a:lt2>
        <a:srgbClr val="FFFFFF"/>
      </a:lt2>
      <a:accent1>
        <a:srgbClr val="8EC4C5"/>
      </a:accent1>
      <a:accent2>
        <a:srgbClr val="4D858D"/>
      </a:accent2>
      <a:accent3>
        <a:srgbClr val="FF6600"/>
      </a:accent3>
      <a:accent4>
        <a:srgbClr val="4A4A49"/>
      </a:accent4>
      <a:accent5>
        <a:srgbClr val="898987"/>
      </a:accent5>
      <a:accent6>
        <a:srgbClr val="DADADA"/>
      </a:accent6>
      <a:hlink>
        <a:srgbClr val="4D858D"/>
      </a:hlink>
      <a:folHlink>
        <a:srgbClr val="4A4A49"/>
      </a:folHlink>
    </a:clrScheme>
    <a:fontScheme name="Grainger">
      <a:majorFont>
        <a:latin typeface="Montserrat SemiBold"/>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pc="-6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f0dc22cb723843c1bfbb2e8bcc9db6e4 xmlns="1ffbd5dc-7a64-4097-8396-87f6c90b212f">
      <Terms xmlns="http://schemas.microsoft.com/office/infopath/2007/PartnerControls"/>
    </f0dc22cb723843c1bfbb2e8bcc9db6e4>
    <TaxCatchAll xmlns="1ffbd5dc-7a64-4097-8396-87f6c90b212f">
      <Value>6</Value>
      <Value>5</Value>
      <Value>4</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E862EC75-63FF-479A-8761-8B3F9465EE33}">
  <ds:schemaRefs>
    <ds:schemaRef ds:uri="27e65327-d6c0-4f26-aff6-417da5767d74"/>
    <ds:schemaRef ds:uri="http://purl.org/dc/elements/1.1/"/>
    <ds:schemaRef ds:uri="http://schemas.microsoft.com/office/2006/metadata/properties"/>
    <ds:schemaRef ds:uri="852d0734-5ac0-43ed-afd8-22c6b3fad396"/>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3D48B250-3DE6-40B8-AAA0-736E97445E1A}">
  <ds:schemaRefs>
    <ds:schemaRef ds:uri="http://schemas.microsoft.com/sharepoint/v3/contenttype/forms"/>
  </ds:schemaRefs>
</ds:datastoreItem>
</file>

<file path=customXml/itemProps3.xml><?xml version="1.0" encoding="utf-8"?>
<ds:datastoreItem xmlns:ds="http://schemas.openxmlformats.org/officeDocument/2006/customXml" ds:itemID="{9194499B-C0FC-4C33-B1A8-808B1960BC67}"/>
</file>

<file path=customXml/itemProps4.xml><?xml version="1.0" encoding="utf-8"?>
<ds:datastoreItem xmlns:ds="http://schemas.openxmlformats.org/officeDocument/2006/customXml" ds:itemID="{5C3F6E08-D118-456E-BAA9-C57E49AF57C7}"/>
</file>

<file path=docProps/app.xml><?xml version="1.0" encoding="utf-8"?>
<Properties xmlns="http://schemas.openxmlformats.org/officeDocument/2006/extended-properties" xmlns:vt="http://schemas.openxmlformats.org/officeDocument/2006/docPropsVTypes">
  <Template/>
  <TotalTime>53226</TotalTime>
  <Words>3111</Words>
  <Application>Microsoft Office PowerPoint</Application>
  <PresentationFormat>On-screen Show (4:3)</PresentationFormat>
  <Paragraphs>236</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Montserrat</vt:lpstr>
      <vt:lpstr>Montserrat Light</vt:lpstr>
      <vt:lpstr>Montserrat SemiBold</vt:lpstr>
      <vt:lpstr>4_Office Theme</vt:lpstr>
      <vt:lpstr>Connect Programme  Proposal for Design Authority </vt:lpstr>
      <vt:lpstr>Executive Summary </vt:lpstr>
      <vt:lpstr>Background &amp; Context</vt:lpstr>
      <vt:lpstr>Regulated Tenancies carry most of non-standard residential billing</vt:lpstr>
      <vt:lpstr>Regulated Tenancies: relevant facts</vt:lpstr>
      <vt:lpstr>Summary of solutions considered</vt:lpstr>
      <vt:lpstr>Option 1: Adapt MRI’s reports &amp; procedures to handle weekly billing </vt:lpstr>
      <vt:lpstr>Option 2: Hold regulated tenancies in MRI’s commercial module</vt:lpstr>
      <vt:lpstr>Option 3: Adjust business process to charge all tenancies monthly</vt:lpstr>
      <vt:lpstr>Monthly charging / pattern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way in a growing market</dc:title>
  <dc:creator>Kurt Mueller</dc:creator>
  <cp:lastModifiedBy>Joao Cardoso</cp:lastModifiedBy>
  <cp:revision>408</cp:revision>
  <cp:lastPrinted>2020-01-20T14:01:48Z</cp:lastPrinted>
  <dcterms:created xsi:type="dcterms:W3CDTF">2017-09-25T18:57:01Z</dcterms:created>
  <dcterms:modified xsi:type="dcterms:W3CDTF">2020-01-20T16:21:05Z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AuthorIds_UIVersion_512">
    <vt:lpwstr>420</vt:lpwstr>
  </property>
  <property fmtid="{D5CDD505-2E9C-101B-9397-08002B2CF9AE}" pid="4" name="AuthorIds_UIVersion_1024">
    <vt:lpwstr>420</vt:lpwstr>
  </property>
  <property fmtid="{D5CDD505-2E9C-101B-9397-08002B2CF9AE}" pid="5" name="AuthorIds_UIVersion_1536">
    <vt:lpwstr>420</vt:lpwstr>
  </property>
  <property fmtid="{D5CDD505-2E9C-101B-9397-08002B2CF9AE}" pid="6" name="Project Document Type">
    <vt:lpwstr>4;#Generic Project Document|258c2ed6-b93b-4ffe-8901-a23f2dc98ec9</vt:lpwstr>
  </property>
  <property fmtid="{D5CDD505-2E9C-101B-9397-08002B2CF9AE}" pid="7" name="Client">
    <vt:lpwstr>6;#Grainger PLC|a74f1cb5-e995-4f9e-8521-6d52e2c6bf08</vt:lpwstr>
  </property>
  <property fmtid="{D5CDD505-2E9C-101B-9397-08002B2CF9AE}" pid="8" name="Client Project">
    <vt:lpwstr/>
  </property>
  <property fmtid="{D5CDD505-2E9C-101B-9397-08002B2CF9AE}" pid="9" name="Division">
    <vt:lpwstr>5;#Enterprise Solutions|08c57b01-67e8-4a4f-abc6-ffb3392ace7f</vt:lpwstr>
  </property>
  <property fmtid="{D5CDD505-2E9C-101B-9397-08002B2CF9AE}" pid="10" name="MediaServiceImageTags">
    <vt:lpwstr/>
  </property>
  <property fmtid="{D5CDD505-2E9C-101B-9397-08002B2CF9AE}" pid="11" name="lcf76f155ced4ddcb4097134ff3c332f">
    <vt:lpwstr/>
  </property>
</Properties>
</file>