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Masters/slideMaster1.xml" ContentType="application/vnd.openxmlformats-officedocument.presentationml.slideMaster+xml"/>
  <Override PartName="/ppt/notesSlides/notesSlide2.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Slides/notesSlide1.xml" ContentType="application/vnd.openxmlformats-officedocument.presentationml.notesSlide+xml"/>
  <Override PartName="/ppt/commentAuthors.xml" ContentType="application/vnd.openxmlformats-officedocument.presentationml.commentAuthors+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ore.xml" ContentType="application/vnd.openxmlformats-package.core-properties+xml"/>
  <Override PartName="/docProps/custom.xml" ContentType="application/vnd.openxmlformats-officedocument.custom-properties+xml"/>
  <Override PartName="/docProps/app.xml" ContentType="application/vnd.openxmlformats-officedocument.extended-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7" r:id="rId4"/>
  </p:sldMasterIdLst>
  <p:notesMasterIdLst>
    <p:notesMasterId r:id="rId12"/>
  </p:notesMasterIdLst>
  <p:handoutMasterIdLst>
    <p:handoutMasterId r:id="rId13"/>
  </p:handoutMasterIdLst>
  <p:sldIdLst>
    <p:sldId id="410" r:id="rId5"/>
    <p:sldId id="973" r:id="rId6"/>
    <p:sldId id="982" r:id="rId7"/>
    <p:sldId id="517" r:id="rId8"/>
    <p:sldId id="2076137243" r:id="rId9"/>
    <p:sldId id="2076137169" r:id="rId10"/>
    <p:sldId id="2076137244" r:id="rId11"/>
  </p:sldIdLst>
  <p:sldSz cx="9144000" cy="6858000" type="screen4x3"/>
  <p:notesSz cx="6808788" cy="99409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72EA86B-34D0-4409-AABA-DDB3FE394E70}">
          <p14:sldIdLst>
            <p14:sldId id="410"/>
            <p14:sldId id="973"/>
            <p14:sldId id="982"/>
            <p14:sldId id="517"/>
            <p14:sldId id="2076137243"/>
            <p14:sldId id="2076137169"/>
            <p14:sldId id="2076137244"/>
          </p14:sldIdLst>
        </p14:section>
      </p14:sectionLst>
    </p:ext>
    <p:ext uri="{EFAFB233-063F-42B5-8137-9DF3F51BA10A}">
      <p15:sldGuideLst xmlns:p15="http://schemas.microsoft.com/office/powerpoint/2012/main">
        <p15:guide id="1" orient="horz" pos="867" userDrawn="1">
          <p15:clr>
            <a:srgbClr val="A4A3A4"/>
          </p15:clr>
        </p15:guide>
        <p15:guide id="2" pos="2903"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en Sciberras" initials="BS" lastIdx="2" clrIdx="0">
    <p:extLst>
      <p:ext uri="{19B8F6BF-5375-455C-9EA6-DF929625EA0E}">
        <p15:presenceInfo xmlns:p15="http://schemas.microsoft.com/office/powerpoint/2012/main" userId="S-1-5-21-2263145296-3781330999-4144883691-26415" providerId="AD"/>
      </p:ext>
    </p:extLst>
  </p:cmAuthor>
  <p:cmAuthor id="2" name="Joao Cardoso" initials="JC" lastIdx="56" clrIdx="1">
    <p:extLst>
      <p:ext uri="{19B8F6BF-5375-455C-9EA6-DF929625EA0E}">
        <p15:presenceInfo xmlns:p15="http://schemas.microsoft.com/office/powerpoint/2012/main" userId="dc12be983f0d80fb" providerId="Windows Live"/>
      </p:ext>
    </p:extLst>
  </p:cmAuthor>
  <p:cmAuthor id="3" name="Maria Paris" initials="MP" lastIdx="14" clrIdx="2">
    <p:extLst>
      <p:ext uri="{19B8F6BF-5375-455C-9EA6-DF929625EA0E}">
        <p15:presenceInfo xmlns:p15="http://schemas.microsoft.com/office/powerpoint/2012/main" userId="Maria Paris" providerId="None"/>
      </p:ext>
    </p:extLst>
  </p:cmAuthor>
  <p:cmAuthor id="4" name="Edward Fletcher" initials="EF" lastIdx="5" clrIdx="3">
    <p:extLst>
      <p:ext uri="{19B8F6BF-5375-455C-9EA6-DF929625EA0E}">
        <p15:presenceInfo xmlns:p15="http://schemas.microsoft.com/office/powerpoint/2012/main" userId="S-1-5-21-2263145296-3781330999-4144883691-3065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858D"/>
    <a:srgbClr val="0070C0"/>
    <a:srgbClr val="FF8633"/>
    <a:srgbClr val="56A7A8"/>
    <a:srgbClr val="F2F8F8"/>
    <a:srgbClr val="FF7B21"/>
    <a:srgbClr val="FF0000"/>
    <a:srgbClr val="FF9953"/>
    <a:srgbClr val="FF6600"/>
    <a:srgbClr val="47978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046" autoAdjust="0"/>
    <p:restoredTop sz="94660"/>
  </p:normalViewPr>
  <p:slideViewPr>
    <p:cSldViewPr snapToGrid="0">
      <p:cViewPr>
        <p:scale>
          <a:sx n="110" d="100"/>
          <a:sy n="110" d="100"/>
        </p:scale>
        <p:origin x="931" y="-336"/>
      </p:cViewPr>
      <p:guideLst>
        <p:guide orient="horz" pos="867"/>
        <p:guide pos="290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customXml" Target="../customXml/item4.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0AB6F0A-F4C9-4F53-9AF8-23AE96D97B75}"/>
              </a:ext>
            </a:extLst>
          </p:cNvPr>
          <p:cNvSpPr>
            <a:spLocks noGrp="1"/>
          </p:cNvSpPr>
          <p:nvPr>
            <p:ph type="hdr" sz="quarter"/>
          </p:nvPr>
        </p:nvSpPr>
        <p:spPr>
          <a:xfrm>
            <a:off x="0" y="1"/>
            <a:ext cx="2950475" cy="498773"/>
          </a:xfrm>
          <a:prstGeom prst="rect">
            <a:avLst/>
          </a:prstGeom>
        </p:spPr>
        <p:txBody>
          <a:bodyPr vert="horz" lIns="91440" tIns="45720" rIns="91440" bIns="45720" rtlCol="0"/>
          <a:lstStyle>
            <a:lvl1pPr algn="l">
              <a:defRPr sz="1200"/>
            </a:lvl1pPr>
          </a:lstStyle>
          <a:p>
            <a:endParaRPr lang="en-GB" dirty="0"/>
          </a:p>
        </p:txBody>
      </p:sp>
      <p:sp>
        <p:nvSpPr>
          <p:cNvPr id="3" name="Date Placeholder 2">
            <a:extLst>
              <a:ext uri="{FF2B5EF4-FFF2-40B4-BE49-F238E27FC236}">
                <a16:creationId xmlns:a16="http://schemas.microsoft.com/office/drawing/2014/main" id="{EC0BBB41-18BC-43C2-A0DC-D0959FF30D98}"/>
              </a:ext>
            </a:extLst>
          </p:cNvPr>
          <p:cNvSpPr>
            <a:spLocks noGrp="1"/>
          </p:cNvSpPr>
          <p:nvPr>
            <p:ph type="dt" sz="quarter" idx="1"/>
          </p:nvPr>
        </p:nvSpPr>
        <p:spPr>
          <a:xfrm>
            <a:off x="3856737" y="1"/>
            <a:ext cx="2950475" cy="498773"/>
          </a:xfrm>
          <a:prstGeom prst="rect">
            <a:avLst/>
          </a:prstGeom>
        </p:spPr>
        <p:txBody>
          <a:bodyPr vert="horz" lIns="91440" tIns="45720" rIns="91440" bIns="45720" rtlCol="0"/>
          <a:lstStyle>
            <a:lvl1pPr algn="r">
              <a:defRPr sz="1200"/>
            </a:lvl1pPr>
          </a:lstStyle>
          <a:p>
            <a:fld id="{56275018-F709-47C0-80A6-7BE2CC237135}" type="datetimeFigureOut">
              <a:rPr lang="en-GB" smtClean="0"/>
              <a:t>08/02/2021</a:t>
            </a:fld>
            <a:endParaRPr lang="en-GB" dirty="0"/>
          </a:p>
        </p:txBody>
      </p:sp>
      <p:sp>
        <p:nvSpPr>
          <p:cNvPr id="4" name="Footer Placeholder 3">
            <a:extLst>
              <a:ext uri="{FF2B5EF4-FFF2-40B4-BE49-F238E27FC236}">
                <a16:creationId xmlns:a16="http://schemas.microsoft.com/office/drawing/2014/main" id="{D1C57E76-EEE8-47EE-9C0C-33CCE36691B3}"/>
              </a:ext>
            </a:extLst>
          </p:cNvPr>
          <p:cNvSpPr>
            <a:spLocks noGrp="1"/>
          </p:cNvSpPr>
          <p:nvPr>
            <p:ph type="ftr" sz="quarter" idx="2"/>
          </p:nvPr>
        </p:nvSpPr>
        <p:spPr>
          <a:xfrm>
            <a:off x="0" y="9442155"/>
            <a:ext cx="2950475" cy="498772"/>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a:extLst>
              <a:ext uri="{FF2B5EF4-FFF2-40B4-BE49-F238E27FC236}">
                <a16:creationId xmlns:a16="http://schemas.microsoft.com/office/drawing/2014/main" id="{95C39801-27EE-49E8-8E6F-01AF6EAB22E5}"/>
              </a:ext>
            </a:extLst>
          </p:cNvPr>
          <p:cNvSpPr>
            <a:spLocks noGrp="1"/>
          </p:cNvSpPr>
          <p:nvPr>
            <p:ph type="sldNum" sz="quarter" idx="3"/>
          </p:nvPr>
        </p:nvSpPr>
        <p:spPr>
          <a:xfrm>
            <a:off x="3856737" y="9442155"/>
            <a:ext cx="2950475" cy="498772"/>
          </a:xfrm>
          <a:prstGeom prst="rect">
            <a:avLst/>
          </a:prstGeom>
        </p:spPr>
        <p:txBody>
          <a:bodyPr vert="horz" lIns="91440" tIns="45720" rIns="91440" bIns="45720" rtlCol="0" anchor="b"/>
          <a:lstStyle>
            <a:lvl1pPr algn="r">
              <a:defRPr sz="1200"/>
            </a:lvl1pPr>
          </a:lstStyle>
          <a:p>
            <a:fld id="{07B36E9A-C494-4ADD-A7E8-6AFC8B6258B8}" type="slidenum">
              <a:rPr lang="en-GB" smtClean="0"/>
              <a:t>‹#›</a:t>
            </a:fld>
            <a:endParaRPr lang="en-GB"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50475" cy="498773"/>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56737" y="1"/>
            <a:ext cx="2950475" cy="498773"/>
          </a:xfrm>
          <a:prstGeom prst="rect">
            <a:avLst/>
          </a:prstGeom>
        </p:spPr>
        <p:txBody>
          <a:bodyPr vert="horz" lIns="91440" tIns="45720" rIns="91440" bIns="45720" rtlCol="0"/>
          <a:lstStyle>
            <a:lvl1pPr algn="r">
              <a:defRPr sz="1200"/>
            </a:lvl1pPr>
          </a:lstStyle>
          <a:p>
            <a:fld id="{667AD65F-7D3E-4DDC-A2E0-B90DC7F84CAD}" type="datetimeFigureOut">
              <a:rPr lang="en-GB" smtClean="0"/>
              <a:t>08/02/2021</a:t>
            </a:fld>
            <a:endParaRPr lang="en-GB" dirty="0"/>
          </a:p>
        </p:txBody>
      </p:sp>
      <p:sp>
        <p:nvSpPr>
          <p:cNvPr id="4" name="Slide Image Placeholder 3"/>
          <p:cNvSpPr>
            <a:spLocks noGrp="1" noRot="1" noChangeAspect="1"/>
          </p:cNvSpPr>
          <p:nvPr>
            <p:ph type="sldImg" idx="2"/>
          </p:nvPr>
        </p:nvSpPr>
        <p:spPr>
          <a:xfrm>
            <a:off x="1168400" y="1243013"/>
            <a:ext cx="4471988" cy="3354387"/>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0879" y="4784071"/>
            <a:ext cx="5447030" cy="3914239"/>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42155"/>
            <a:ext cx="2950475" cy="498772"/>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56737" y="9442155"/>
            <a:ext cx="2950475" cy="498772"/>
          </a:xfrm>
          <a:prstGeom prst="rect">
            <a:avLst/>
          </a:prstGeom>
        </p:spPr>
        <p:txBody>
          <a:bodyPr vert="horz" lIns="91440" tIns="45720" rIns="91440" bIns="45720" rtlCol="0" anchor="b"/>
          <a:lstStyle>
            <a:lvl1pPr algn="r">
              <a:defRPr sz="1200"/>
            </a:lvl1pPr>
          </a:lstStyle>
          <a:p>
            <a:fld id="{A1EA93DF-5207-4EFC-B35D-3E311FF41A1C}" type="slidenum">
              <a:rPr lang="en-GB" smtClean="0"/>
              <a:t>‹#›</a:t>
            </a:fld>
            <a:endParaRPr lang="en-GB" dirty="0"/>
          </a:p>
        </p:txBody>
      </p:sp>
    </p:spTree>
    <p:extLst>
      <p:ext uri="{BB962C8B-B14F-4D97-AF65-F5344CB8AC3E}">
        <p14:creationId xmlns:p14="http://schemas.microsoft.com/office/powerpoint/2010/main" val="579350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9E5E4E0-B916-4BEB-840B-2E09FC723F06}"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81975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bg>
      <p:bgPr>
        <a:solidFill>
          <a:schemeClr val="tx1"/>
        </a:solidFill>
        <a:effectLst/>
      </p:bgPr>
    </p:bg>
    <p:spTree>
      <p:nvGrpSpPr>
        <p:cNvPr id="1" name=""/>
        <p:cNvGrpSpPr/>
        <p:nvPr/>
      </p:nvGrpSpPr>
      <p:grpSpPr>
        <a:xfrm>
          <a:off x="0" y="0"/>
          <a:ext cx="0" cy="0"/>
          <a:chOff x="0" y="0"/>
          <a:chExt cx="0" cy="0"/>
        </a:xfrm>
      </p:grpSpPr>
      <p:sp>
        <p:nvSpPr>
          <p:cNvPr id="75" name="Picture Placeholder 74">
            <a:extLst>
              <a:ext uri="{FF2B5EF4-FFF2-40B4-BE49-F238E27FC236}">
                <a16:creationId xmlns:a16="http://schemas.microsoft.com/office/drawing/2014/main" id="{C53E5E9B-D886-45BC-95BD-9EA4F7A83A5E}"/>
              </a:ext>
            </a:extLst>
          </p:cNvPr>
          <p:cNvSpPr>
            <a:spLocks noGrp="1"/>
          </p:cNvSpPr>
          <p:nvPr>
            <p:ph type="pic" sz="quarter" idx="13"/>
          </p:nvPr>
        </p:nvSpPr>
        <p:spPr>
          <a:xfrm>
            <a:off x="5064192" y="2022171"/>
            <a:ext cx="1763790" cy="2619122"/>
          </a:xfrm>
          <a:custGeom>
            <a:avLst/>
            <a:gdLst>
              <a:gd name="connsiteX0" fmla="*/ 1763790 w 1763790"/>
              <a:gd name="connsiteY0" fmla="*/ 0 h 2619122"/>
              <a:gd name="connsiteX1" fmla="*/ 1763790 w 1763790"/>
              <a:gd name="connsiteY1" fmla="*/ 2619122 h 2619122"/>
              <a:gd name="connsiteX2" fmla="*/ 0 w 1763790"/>
              <a:gd name="connsiteY2" fmla="*/ 2619122 h 2619122"/>
              <a:gd name="connsiteX3" fmla="*/ 0 w 1763790"/>
              <a:gd name="connsiteY3" fmla="*/ 1173032 h 2619122"/>
            </a:gdLst>
            <a:ahLst/>
            <a:cxnLst>
              <a:cxn ang="0">
                <a:pos x="connsiteX0" y="connsiteY0"/>
              </a:cxn>
              <a:cxn ang="0">
                <a:pos x="connsiteX1" y="connsiteY1"/>
              </a:cxn>
              <a:cxn ang="0">
                <a:pos x="connsiteX2" y="connsiteY2"/>
              </a:cxn>
              <a:cxn ang="0">
                <a:pos x="connsiteX3" y="connsiteY3"/>
              </a:cxn>
            </a:cxnLst>
            <a:rect l="l" t="t" r="r" b="b"/>
            <a:pathLst>
              <a:path w="1763790" h="2619122">
                <a:moveTo>
                  <a:pt x="1763790" y="0"/>
                </a:moveTo>
                <a:lnTo>
                  <a:pt x="1763790" y="2619122"/>
                </a:lnTo>
                <a:lnTo>
                  <a:pt x="0" y="2619122"/>
                </a:lnTo>
                <a:lnTo>
                  <a:pt x="0" y="1173032"/>
                </a:lnTo>
                <a:close/>
              </a:path>
            </a:pathLst>
          </a:custGeom>
        </p:spPr>
        <p:txBody>
          <a:bodyPr wrap="square" anchor="b" anchorCtr="0">
            <a:noAutofit/>
          </a:bodyPr>
          <a:lstStyle>
            <a:lvl1pPr algn="r">
              <a:defRPr sz="1050"/>
            </a:lvl1pPr>
          </a:lstStyle>
          <a:p>
            <a:endParaRPr lang="en-GB" dirty="0"/>
          </a:p>
        </p:txBody>
      </p:sp>
      <p:sp>
        <p:nvSpPr>
          <p:cNvPr id="2" name="Title 1">
            <a:extLst>
              <a:ext uri="{FF2B5EF4-FFF2-40B4-BE49-F238E27FC236}">
                <a16:creationId xmlns:a16="http://schemas.microsoft.com/office/drawing/2014/main" id="{8382D4DA-C1DB-4A6B-B459-A5A4C3E1DC02}"/>
              </a:ext>
            </a:extLst>
          </p:cNvPr>
          <p:cNvSpPr>
            <a:spLocks noGrp="1"/>
          </p:cNvSpPr>
          <p:nvPr>
            <p:ph type="ctrTitle" hasCustomPrompt="1"/>
          </p:nvPr>
        </p:nvSpPr>
        <p:spPr>
          <a:xfrm>
            <a:off x="358774" y="294420"/>
            <a:ext cx="4687591" cy="1727751"/>
          </a:xfrm>
        </p:spPr>
        <p:txBody>
          <a:bodyPr lIns="0" tIns="72000" rIns="0" bIns="0" anchor="t" anchorCtr="0"/>
          <a:lstStyle>
            <a:lvl1pPr algn="l">
              <a:lnSpc>
                <a:spcPct val="85000"/>
              </a:lnSpc>
              <a:defRPr sz="4400">
                <a:solidFill>
                  <a:schemeClr val="accent2"/>
                </a:solidFill>
                <a:latin typeface="+mj-lt"/>
              </a:defRPr>
            </a:lvl1pPr>
          </a:lstStyle>
          <a:p>
            <a:r>
              <a:rPr lang="en-US"/>
              <a:t>Presentation </a:t>
            </a:r>
            <a:br>
              <a:rPr lang="en-US"/>
            </a:br>
            <a:r>
              <a:rPr lang="en-US"/>
              <a:t>title</a:t>
            </a:r>
            <a:endParaRPr lang="en-GB"/>
          </a:p>
        </p:txBody>
      </p:sp>
      <p:sp>
        <p:nvSpPr>
          <p:cNvPr id="3" name="Subtitle 2">
            <a:extLst>
              <a:ext uri="{FF2B5EF4-FFF2-40B4-BE49-F238E27FC236}">
                <a16:creationId xmlns:a16="http://schemas.microsoft.com/office/drawing/2014/main" id="{9DD5FD9C-9222-49E5-98C9-37E5C23E53B2}"/>
              </a:ext>
            </a:extLst>
          </p:cNvPr>
          <p:cNvSpPr>
            <a:spLocks noGrp="1"/>
          </p:cNvSpPr>
          <p:nvPr>
            <p:ph type="subTitle" idx="1" hasCustomPrompt="1"/>
          </p:nvPr>
        </p:nvSpPr>
        <p:spPr>
          <a:xfrm>
            <a:off x="358776" y="2709539"/>
            <a:ext cx="4687590" cy="505550"/>
          </a:xfrm>
        </p:spPr>
        <p:txBody>
          <a:bodyPr lIns="0" tIns="0" rIns="0" bIns="0">
            <a:noAutofit/>
          </a:bodyPr>
          <a:lstStyle>
            <a:lvl1pPr marL="0" indent="0" algn="l">
              <a:lnSpc>
                <a:spcPct val="85000"/>
              </a:lnSpc>
              <a:spcBef>
                <a:spcPts val="0"/>
              </a:spcBef>
              <a:buNone/>
              <a:defRPr sz="2400">
                <a:solidFill>
                  <a:schemeClr val="accent2"/>
                </a:solidFill>
                <a:latin typeface="+mn-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Speaker name</a:t>
            </a:r>
            <a:br>
              <a:rPr lang="en-US"/>
            </a:br>
            <a:r>
              <a:rPr lang="en-US"/>
              <a:t>Speaker title</a:t>
            </a:r>
            <a:endParaRPr lang="en-GB"/>
          </a:p>
        </p:txBody>
      </p:sp>
      <p:sp>
        <p:nvSpPr>
          <p:cNvPr id="76" name="Text Placeholder 75">
            <a:extLst>
              <a:ext uri="{FF2B5EF4-FFF2-40B4-BE49-F238E27FC236}">
                <a16:creationId xmlns:a16="http://schemas.microsoft.com/office/drawing/2014/main" id="{22565E27-3BA8-425F-9F31-792B367318F9}"/>
              </a:ext>
            </a:extLst>
          </p:cNvPr>
          <p:cNvSpPr>
            <a:spLocks noGrp="1"/>
          </p:cNvSpPr>
          <p:nvPr>
            <p:ph type="body" sz="quarter" idx="10" hasCustomPrompt="1"/>
          </p:nvPr>
        </p:nvSpPr>
        <p:spPr>
          <a:xfrm>
            <a:off x="358775" y="3442695"/>
            <a:ext cx="4703555" cy="392791"/>
          </a:xfrm>
        </p:spPr>
        <p:txBody>
          <a:bodyPr lIns="0" tIns="0" rIns="0" bIns="0">
            <a:noAutofit/>
          </a:bodyPr>
          <a:lstStyle>
            <a:lvl1pPr algn="l">
              <a:lnSpc>
                <a:spcPct val="85000"/>
              </a:lnSpc>
              <a:spcBef>
                <a:spcPts val="0"/>
              </a:spcBef>
              <a:defRPr sz="2400">
                <a:solidFill>
                  <a:schemeClr val="accent2"/>
                </a:solidFill>
                <a:latin typeface="+mn-lt"/>
              </a:defRPr>
            </a:lvl1pPr>
          </a:lstStyle>
          <a:p>
            <a:pPr lvl="0"/>
            <a:r>
              <a:rPr lang="en-US"/>
              <a:t>Date</a:t>
            </a:r>
            <a:endParaRPr lang="en-GB"/>
          </a:p>
        </p:txBody>
      </p:sp>
      <p:cxnSp>
        <p:nvCxnSpPr>
          <p:cNvPr id="85" name="Straight Connector 84">
            <a:extLst>
              <a:ext uri="{FF2B5EF4-FFF2-40B4-BE49-F238E27FC236}">
                <a16:creationId xmlns:a16="http://schemas.microsoft.com/office/drawing/2014/main" id="{4B9AABEE-8AB9-4C85-AF14-454B1CA8D9DB}"/>
              </a:ext>
            </a:extLst>
          </p:cNvPr>
          <p:cNvCxnSpPr>
            <a:cxnSpLocks/>
          </p:cNvCxnSpPr>
          <p:nvPr userDrawn="1"/>
        </p:nvCxnSpPr>
        <p:spPr>
          <a:xfrm>
            <a:off x="358775" y="263284"/>
            <a:ext cx="842645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46" name="Group 4">
            <a:extLst>
              <a:ext uri="{FF2B5EF4-FFF2-40B4-BE49-F238E27FC236}">
                <a16:creationId xmlns:a16="http://schemas.microsoft.com/office/drawing/2014/main" id="{959CA7EE-F568-467D-9E2F-F4174E4C6673}"/>
              </a:ext>
            </a:extLst>
          </p:cNvPr>
          <p:cNvGrpSpPr>
            <a:grpSpLocks noChangeAspect="1"/>
          </p:cNvGrpSpPr>
          <p:nvPr userDrawn="1"/>
        </p:nvGrpSpPr>
        <p:grpSpPr bwMode="auto">
          <a:xfrm>
            <a:off x="6232276" y="5680861"/>
            <a:ext cx="2524348" cy="507937"/>
            <a:chOff x="-3357" y="-1385"/>
            <a:chExt cx="5760" cy="1159"/>
          </a:xfrm>
        </p:grpSpPr>
        <p:sp>
          <p:nvSpPr>
            <p:cNvPr id="48" name="Freeform 5">
              <a:extLst>
                <a:ext uri="{FF2B5EF4-FFF2-40B4-BE49-F238E27FC236}">
                  <a16:creationId xmlns:a16="http://schemas.microsoft.com/office/drawing/2014/main" id="{E6224FA3-5CFD-40D4-9709-ABECFC7BBBB7}"/>
                </a:ext>
              </a:extLst>
            </p:cNvPr>
            <p:cNvSpPr>
              <a:spLocks noEditPoints="1"/>
            </p:cNvSpPr>
            <p:nvPr userDrawn="1"/>
          </p:nvSpPr>
          <p:spPr bwMode="auto">
            <a:xfrm>
              <a:off x="-3357" y="-1378"/>
              <a:ext cx="5760" cy="1152"/>
            </a:xfrm>
            <a:custGeom>
              <a:avLst/>
              <a:gdLst>
                <a:gd name="T0" fmla="*/ 158 w 2386"/>
                <a:gd name="T1" fmla="*/ 360 h 479"/>
                <a:gd name="T2" fmla="*/ 103 w 2386"/>
                <a:gd name="T3" fmla="*/ 116 h 479"/>
                <a:gd name="T4" fmla="*/ 106 w 2386"/>
                <a:gd name="T5" fmla="*/ 479 h 479"/>
                <a:gd name="T6" fmla="*/ 101 w 2386"/>
                <a:gd name="T7" fmla="*/ 435 h 479"/>
                <a:gd name="T8" fmla="*/ 108 w 2386"/>
                <a:gd name="T9" fmla="*/ 157 h 479"/>
                <a:gd name="T10" fmla="*/ 158 w 2386"/>
                <a:gd name="T11" fmla="*/ 324 h 479"/>
                <a:gd name="T12" fmla="*/ 311 w 2386"/>
                <a:gd name="T13" fmla="*/ 152 h 479"/>
                <a:gd name="T14" fmla="*/ 410 w 2386"/>
                <a:gd name="T15" fmla="*/ 117 h 479"/>
                <a:gd name="T16" fmla="*/ 317 w 2386"/>
                <a:gd name="T17" fmla="*/ 180 h 479"/>
                <a:gd name="T18" fmla="*/ 267 w 2386"/>
                <a:gd name="T19" fmla="*/ 121 h 479"/>
                <a:gd name="T20" fmla="*/ 574 w 2386"/>
                <a:gd name="T21" fmla="*/ 202 h 479"/>
                <a:gd name="T22" fmla="*/ 440 w 2386"/>
                <a:gd name="T23" fmla="*/ 127 h 479"/>
                <a:gd name="T24" fmla="*/ 624 w 2386"/>
                <a:gd name="T25" fmla="*/ 374 h 479"/>
                <a:gd name="T26" fmla="*/ 505 w 2386"/>
                <a:gd name="T27" fmla="*/ 379 h 479"/>
                <a:gd name="T28" fmla="*/ 517 w 2386"/>
                <a:gd name="T29" fmla="*/ 339 h 479"/>
                <a:gd name="T30" fmla="*/ 527 w 2386"/>
                <a:gd name="T31" fmla="*/ 259 h 479"/>
                <a:gd name="T32" fmla="*/ 683 w 2386"/>
                <a:gd name="T33" fmla="*/ 374 h 479"/>
                <a:gd name="T34" fmla="*/ 683 w 2386"/>
                <a:gd name="T35" fmla="*/ 121 h 479"/>
                <a:gd name="T36" fmla="*/ 832 w 2386"/>
                <a:gd name="T37" fmla="*/ 121 h 479"/>
                <a:gd name="T38" fmla="*/ 1000 w 2386"/>
                <a:gd name="T39" fmla="*/ 199 h 479"/>
                <a:gd name="T40" fmla="*/ 950 w 2386"/>
                <a:gd name="T41" fmla="*/ 207 h 479"/>
                <a:gd name="T42" fmla="*/ 845 w 2386"/>
                <a:gd name="T43" fmla="*/ 374 h 479"/>
                <a:gd name="T44" fmla="*/ 1149 w 2386"/>
                <a:gd name="T45" fmla="*/ 435 h 479"/>
                <a:gd name="T46" fmla="*/ 1142 w 2386"/>
                <a:gd name="T47" fmla="*/ 379 h 479"/>
                <a:gd name="T48" fmla="*/ 1255 w 2386"/>
                <a:gd name="T49" fmla="*/ 133 h 479"/>
                <a:gd name="T50" fmla="*/ 1073 w 2386"/>
                <a:gd name="T51" fmla="*/ 470 h 479"/>
                <a:gd name="T52" fmla="*/ 1205 w 2386"/>
                <a:gd name="T53" fmla="*/ 324 h 479"/>
                <a:gd name="T54" fmla="*/ 1098 w 2386"/>
                <a:gd name="T55" fmla="*/ 249 h 479"/>
                <a:gd name="T56" fmla="*/ 1403 w 2386"/>
                <a:gd name="T57" fmla="*/ 116 h 479"/>
                <a:gd name="T58" fmla="*/ 1349 w 2386"/>
                <a:gd name="T59" fmla="*/ 266 h 479"/>
                <a:gd name="T60" fmla="*/ 1502 w 2386"/>
                <a:gd name="T61" fmla="*/ 356 h 479"/>
                <a:gd name="T62" fmla="*/ 1403 w 2386"/>
                <a:gd name="T63" fmla="*/ 116 h 479"/>
                <a:gd name="T64" fmla="*/ 1349 w 2386"/>
                <a:gd name="T65" fmla="*/ 226 h 479"/>
                <a:gd name="T66" fmla="*/ 1584 w 2386"/>
                <a:gd name="T67" fmla="*/ 121 h 479"/>
                <a:gd name="T68" fmla="*/ 1663 w 2386"/>
                <a:gd name="T69" fmla="*/ 116 h 479"/>
                <a:gd name="T70" fmla="*/ 1653 w 2386"/>
                <a:gd name="T71" fmla="*/ 161 h 479"/>
                <a:gd name="T72" fmla="*/ 1547 w 2386"/>
                <a:gd name="T73" fmla="*/ 374 h 479"/>
                <a:gd name="T74" fmla="*/ 1835 w 2386"/>
                <a:gd name="T75" fmla="*/ 473 h 479"/>
                <a:gd name="T76" fmla="*/ 1877 w 2386"/>
                <a:gd name="T77" fmla="*/ 142 h 479"/>
                <a:gd name="T78" fmla="*/ 1944 w 2386"/>
                <a:gd name="T79" fmla="*/ 379 h 479"/>
                <a:gd name="T80" fmla="*/ 1934 w 2386"/>
                <a:gd name="T81" fmla="*/ 338 h 479"/>
                <a:gd name="T82" fmla="*/ 1885 w 2386"/>
                <a:gd name="T83" fmla="*/ 173 h 479"/>
                <a:gd name="T84" fmla="*/ 2093 w 2386"/>
                <a:gd name="T85" fmla="*/ 0 h 479"/>
                <a:gd name="T86" fmla="*/ 2093 w 2386"/>
                <a:gd name="T87" fmla="*/ 374 h 479"/>
                <a:gd name="T88" fmla="*/ 2374 w 2386"/>
                <a:gd name="T89" fmla="*/ 123 h 479"/>
                <a:gd name="T90" fmla="*/ 2239 w 2386"/>
                <a:gd name="T91" fmla="*/ 248 h 479"/>
                <a:gd name="T92" fmla="*/ 2386 w 2386"/>
                <a:gd name="T93" fmla="*/ 360 h 479"/>
                <a:gd name="T94" fmla="*/ 2306 w 2386"/>
                <a:gd name="T95" fmla="*/ 116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6" h="479">
                  <a:moveTo>
                    <a:pt x="101" y="435"/>
                  </a:moveTo>
                  <a:cubicBezTo>
                    <a:pt x="132" y="435"/>
                    <a:pt x="158" y="429"/>
                    <a:pt x="158" y="391"/>
                  </a:cubicBezTo>
                  <a:cubicBezTo>
                    <a:pt x="158" y="360"/>
                    <a:pt x="158" y="360"/>
                    <a:pt x="158" y="360"/>
                  </a:cubicBezTo>
                  <a:cubicBezTo>
                    <a:pt x="138" y="373"/>
                    <a:pt x="118" y="379"/>
                    <a:pt x="95" y="379"/>
                  </a:cubicBezTo>
                  <a:cubicBezTo>
                    <a:pt x="26" y="379"/>
                    <a:pt x="0" y="333"/>
                    <a:pt x="0" y="247"/>
                  </a:cubicBezTo>
                  <a:cubicBezTo>
                    <a:pt x="0" y="155"/>
                    <a:pt x="31" y="116"/>
                    <a:pt x="103" y="116"/>
                  </a:cubicBezTo>
                  <a:cubicBezTo>
                    <a:pt x="136" y="116"/>
                    <a:pt x="180" y="124"/>
                    <a:pt x="207" y="133"/>
                  </a:cubicBezTo>
                  <a:cubicBezTo>
                    <a:pt x="207" y="397"/>
                    <a:pt x="207" y="397"/>
                    <a:pt x="207" y="397"/>
                  </a:cubicBezTo>
                  <a:cubicBezTo>
                    <a:pt x="207" y="458"/>
                    <a:pt x="166" y="479"/>
                    <a:pt x="106" y="479"/>
                  </a:cubicBezTo>
                  <a:cubicBezTo>
                    <a:pt x="79" y="479"/>
                    <a:pt x="49" y="475"/>
                    <a:pt x="25" y="470"/>
                  </a:cubicBezTo>
                  <a:cubicBezTo>
                    <a:pt x="32" y="428"/>
                    <a:pt x="32" y="428"/>
                    <a:pt x="32" y="428"/>
                  </a:cubicBezTo>
                  <a:cubicBezTo>
                    <a:pt x="52" y="431"/>
                    <a:pt x="77" y="435"/>
                    <a:pt x="101" y="435"/>
                  </a:cubicBezTo>
                  <a:moveTo>
                    <a:pt x="158" y="324"/>
                  </a:moveTo>
                  <a:cubicBezTo>
                    <a:pt x="158" y="162"/>
                    <a:pt x="158" y="162"/>
                    <a:pt x="158" y="162"/>
                  </a:cubicBezTo>
                  <a:cubicBezTo>
                    <a:pt x="143" y="160"/>
                    <a:pt x="122" y="157"/>
                    <a:pt x="108" y="157"/>
                  </a:cubicBezTo>
                  <a:cubicBezTo>
                    <a:pt x="62" y="157"/>
                    <a:pt x="50" y="184"/>
                    <a:pt x="50" y="249"/>
                  </a:cubicBezTo>
                  <a:cubicBezTo>
                    <a:pt x="50" y="306"/>
                    <a:pt x="61" y="336"/>
                    <a:pt x="106" y="336"/>
                  </a:cubicBezTo>
                  <a:cubicBezTo>
                    <a:pt x="121" y="336"/>
                    <a:pt x="141" y="332"/>
                    <a:pt x="158" y="324"/>
                  </a:cubicBezTo>
                  <a:moveTo>
                    <a:pt x="267" y="121"/>
                  </a:moveTo>
                  <a:cubicBezTo>
                    <a:pt x="304" y="121"/>
                    <a:pt x="304" y="121"/>
                    <a:pt x="304" y="121"/>
                  </a:cubicBezTo>
                  <a:cubicBezTo>
                    <a:pt x="311" y="152"/>
                    <a:pt x="311" y="152"/>
                    <a:pt x="311" y="152"/>
                  </a:cubicBezTo>
                  <a:cubicBezTo>
                    <a:pt x="313" y="152"/>
                    <a:pt x="313" y="152"/>
                    <a:pt x="313" y="152"/>
                  </a:cubicBezTo>
                  <a:cubicBezTo>
                    <a:pt x="330" y="126"/>
                    <a:pt x="353" y="116"/>
                    <a:pt x="384" y="116"/>
                  </a:cubicBezTo>
                  <a:cubicBezTo>
                    <a:pt x="391" y="116"/>
                    <a:pt x="400" y="116"/>
                    <a:pt x="410" y="117"/>
                  </a:cubicBezTo>
                  <a:cubicBezTo>
                    <a:pt x="407" y="164"/>
                    <a:pt x="407" y="164"/>
                    <a:pt x="407" y="164"/>
                  </a:cubicBezTo>
                  <a:cubicBezTo>
                    <a:pt x="395" y="162"/>
                    <a:pt x="383" y="161"/>
                    <a:pt x="374" y="161"/>
                  </a:cubicBezTo>
                  <a:cubicBezTo>
                    <a:pt x="351" y="161"/>
                    <a:pt x="332" y="167"/>
                    <a:pt x="317" y="180"/>
                  </a:cubicBezTo>
                  <a:cubicBezTo>
                    <a:pt x="317" y="374"/>
                    <a:pt x="317" y="374"/>
                    <a:pt x="317" y="374"/>
                  </a:cubicBezTo>
                  <a:cubicBezTo>
                    <a:pt x="267" y="374"/>
                    <a:pt x="267" y="374"/>
                    <a:pt x="267" y="374"/>
                  </a:cubicBezTo>
                  <a:lnTo>
                    <a:pt x="267" y="121"/>
                  </a:lnTo>
                  <a:close/>
                  <a:moveTo>
                    <a:pt x="519" y="222"/>
                  </a:moveTo>
                  <a:cubicBezTo>
                    <a:pt x="531" y="222"/>
                    <a:pt x="556" y="223"/>
                    <a:pt x="574" y="224"/>
                  </a:cubicBezTo>
                  <a:cubicBezTo>
                    <a:pt x="574" y="202"/>
                    <a:pt x="574" y="202"/>
                    <a:pt x="574" y="202"/>
                  </a:cubicBezTo>
                  <a:cubicBezTo>
                    <a:pt x="574" y="168"/>
                    <a:pt x="556" y="160"/>
                    <a:pt x="521" y="160"/>
                  </a:cubicBezTo>
                  <a:cubicBezTo>
                    <a:pt x="492" y="160"/>
                    <a:pt x="463" y="166"/>
                    <a:pt x="447" y="169"/>
                  </a:cubicBezTo>
                  <a:cubicBezTo>
                    <a:pt x="440" y="127"/>
                    <a:pt x="440" y="127"/>
                    <a:pt x="440" y="127"/>
                  </a:cubicBezTo>
                  <a:cubicBezTo>
                    <a:pt x="462" y="121"/>
                    <a:pt x="495" y="116"/>
                    <a:pt x="525" y="116"/>
                  </a:cubicBezTo>
                  <a:cubicBezTo>
                    <a:pt x="580" y="116"/>
                    <a:pt x="624" y="134"/>
                    <a:pt x="624" y="196"/>
                  </a:cubicBezTo>
                  <a:cubicBezTo>
                    <a:pt x="624" y="374"/>
                    <a:pt x="624" y="374"/>
                    <a:pt x="624" y="374"/>
                  </a:cubicBezTo>
                  <a:cubicBezTo>
                    <a:pt x="587" y="374"/>
                    <a:pt x="587" y="374"/>
                    <a:pt x="587" y="374"/>
                  </a:cubicBezTo>
                  <a:cubicBezTo>
                    <a:pt x="582" y="353"/>
                    <a:pt x="582" y="353"/>
                    <a:pt x="582" y="353"/>
                  </a:cubicBezTo>
                  <a:cubicBezTo>
                    <a:pt x="562" y="369"/>
                    <a:pt x="534" y="379"/>
                    <a:pt x="505" y="379"/>
                  </a:cubicBezTo>
                  <a:cubicBezTo>
                    <a:pt x="457" y="379"/>
                    <a:pt x="422" y="350"/>
                    <a:pt x="422" y="300"/>
                  </a:cubicBezTo>
                  <a:cubicBezTo>
                    <a:pt x="422" y="248"/>
                    <a:pt x="461" y="222"/>
                    <a:pt x="519" y="222"/>
                  </a:cubicBezTo>
                  <a:moveTo>
                    <a:pt x="517" y="339"/>
                  </a:moveTo>
                  <a:cubicBezTo>
                    <a:pt x="537" y="339"/>
                    <a:pt x="559" y="332"/>
                    <a:pt x="574" y="321"/>
                  </a:cubicBezTo>
                  <a:cubicBezTo>
                    <a:pt x="574" y="260"/>
                    <a:pt x="574" y="260"/>
                    <a:pt x="574" y="260"/>
                  </a:cubicBezTo>
                  <a:cubicBezTo>
                    <a:pt x="566" y="259"/>
                    <a:pt x="535" y="259"/>
                    <a:pt x="527" y="259"/>
                  </a:cubicBezTo>
                  <a:cubicBezTo>
                    <a:pt x="497" y="259"/>
                    <a:pt x="473" y="267"/>
                    <a:pt x="473" y="298"/>
                  </a:cubicBezTo>
                  <a:cubicBezTo>
                    <a:pt x="473" y="324"/>
                    <a:pt x="489" y="339"/>
                    <a:pt x="517" y="339"/>
                  </a:cubicBezTo>
                  <a:moveTo>
                    <a:pt x="683" y="374"/>
                  </a:moveTo>
                  <a:cubicBezTo>
                    <a:pt x="733" y="374"/>
                    <a:pt x="733" y="374"/>
                    <a:pt x="733" y="374"/>
                  </a:cubicBezTo>
                  <a:cubicBezTo>
                    <a:pt x="733" y="121"/>
                    <a:pt x="733" y="121"/>
                    <a:pt x="733" y="121"/>
                  </a:cubicBezTo>
                  <a:cubicBezTo>
                    <a:pt x="683" y="121"/>
                    <a:pt x="683" y="121"/>
                    <a:pt x="683" y="121"/>
                  </a:cubicBezTo>
                  <a:lnTo>
                    <a:pt x="683" y="374"/>
                  </a:lnTo>
                  <a:close/>
                  <a:moveTo>
                    <a:pt x="795" y="121"/>
                  </a:moveTo>
                  <a:cubicBezTo>
                    <a:pt x="832" y="121"/>
                    <a:pt x="832" y="121"/>
                    <a:pt x="832" y="121"/>
                  </a:cubicBezTo>
                  <a:cubicBezTo>
                    <a:pt x="836" y="144"/>
                    <a:pt x="836" y="144"/>
                    <a:pt x="836" y="144"/>
                  </a:cubicBezTo>
                  <a:cubicBezTo>
                    <a:pt x="858" y="128"/>
                    <a:pt x="886" y="116"/>
                    <a:pt x="919" y="116"/>
                  </a:cubicBezTo>
                  <a:cubicBezTo>
                    <a:pt x="971" y="116"/>
                    <a:pt x="1000" y="146"/>
                    <a:pt x="1000" y="199"/>
                  </a:cubicBezTo>
                  <a:cubicBezTo>
                    <a:pt x="1000" y="374"/>
                    <a:pt x="1000" y="374"/>
                    <a:pt x="1000" y="374"/>
                  </a:cubicBezTo>
                  <a:cubicBezTo>
                    <a:pt x="950" y="374"/>
                    <a:pt x="950" y="374"/>
                    <a:pt x="950" y="374"/>
                  </a:cubicBezTo>
                  <a:cubicBezTo>
                    <a:pt x="950" y="207"/>
                    <a:pt x="950" y="207"/>
                    <a:pt x="950" y="207"/>
                  </a:cubicBezTo>
                  <a:cubicBezTo>
                    <a:pt x="950" y="174"/>
                    <a:pt x="936" y="160"/>
                    <a:pt x="906" y="160"/>
                  </a:cubicBezTo>
                  <a:cubicBezTo>
                    <a:pt x="884" y="160"/>
                    <a:pt x="862" y="168"/>
                    <a:pt x="845" y="177"/>
                  </a:cubicBezTo>
                  <a:cubicBezTo>
                    <a:pt x="845" y="374"/>
                    <a:pt x="845" y="374"/>
                    <a:pt x="845" y="374"/>
                  </a:cubicBezTo>
                  <a:cubicBezTo>
                    <a:pt x="795" y="374"/>
                    <a:pt x="795" y="374"/>
                    <a:pt x="795" y="374"/>
                  </a:cubicBezTo>
                  <a:lnTo>
                    <a:pt x="795" y="121"/>
                  </a:lnTo>
                  <a:close/>
                  <a:moveTo>
                    <a:pt x="1149" y="435"/>
                  </a:moveTo>
                  <a:cubicBezTo>
                    <a:pt x="1180" y="435"/>
                    <a:pt x="1205" y="429"/>
                    <a:pt x="1205" y="391"/>
                  </a:cubicBezTo>
                  <a:cubicBezTo>
                    <a:pt x="1205" y="360"/>
                    <a:pt x="1205" y="360"/>
                    <a:pt x="1205" y="360"/>
                  </a:cubicBezTo>
                  <a:cubicBezTo>
                    <a:pt x="1186" y="373"/>
                    <a:pt x="1166" y="379"/>
                    <a:pt x="1142" y="379"/>
                  </a:cubicBezTo>
                  <a:cubicBezTo>
                    <a:pt x="1074" y="379"/>
                    <a:pt x="1047" y="333"/>
                    <a:pt x="1047" y="247"/>
                  </a:cubicBezTo>
                  <a:cubicBezTo>
                    <a:pt x="1047" y="155"/>
                    <a:pt x="1078" y="116"/>
                    <a:pt x="1151" y="116"/>
                  </a:cubicBezTo>
                  <a:cubicBezTo>
                    <a:pt x="1184" y="116"/>
                    <a:pt x="1228" y="124"/>
                    <a:pt x="1255" y="133"/>
                  </a:cubicBezTo>
                  <a:cubicBezTo>
                    <a:pt x="1255" y="397"/>
                    <a:pt x="1255" y="397"/>
                    <a:pt x="1255" y="397"/>
                  </a:cubicBezTo>
                  <a:cubicBezTo>
                    <a:pt x="1255" y="458"/>
                    <a:pt x="1213" y="479"/>
                    <a:pt x="1153" y="479"/>
                  </a:cubicBezTo>
                  <a:cubicBezTo>
                    <a:pt x="1127" y="479"/>
                    <a:pt x="1096" y="475"/>
                    <a:pt x="1073" y="470"/>
                  </a:cubicBezTo>
                  <a:cubicBezTo>
                    <a:pt x="1080" y="428"/>
                    <a:pt x="1080" y="428"/>
                    <a:pt x="1080" y="428"/>
                  </a:cubicBezTo>
                  <a:cubicBezTo>
                    <a:pt x="1100" y="431"/>
                    <a:pt x="1124" y="435"/>
                    <a:pt x="1149" y="435"/>
                  </a:cubicBezTo>
                  <a:moveTo>
                    <a:pt x="1205" y="324"/>
                  </a:moveTo>
                  <a:cubicBezTo>
                    <a:pt x="1205" y="162"/>
                    <a:pt x="1205" y="162"/>
                    <a:pt x="1205" y="162"/>
                  </a:cubicBezTo>
                  <a:cubicBezTo>
                    <a:pt x="1191" y="160"/>
                    <a:pt x="1170" y="157"/>
                    <a:pt x="1156" y="157"/>
                  </a:cubicBezTo>
                  <a:cubicBezTo>
                    <a:pt x="1110" y="157"/>
                    <a:pt x="1098" y="184"/>
                    <a:pt x="1098" y="249"/>
                  </a:cubicBezTo>
                  <a:cubicBezTo>
                    <a:pt x="1098" y="306"/>
                    <a:pt x="1109" y="336"/>
                    <a:pt x="1153" y="336"/>
                  </a:cubicBezTo>
                  <a:cubicBezTo>
                    <a:pt x="1169" y="336"/>
                    <a:pt x="1189" y="332"/>
                    <a:pt x="1205" y="324"/>
                  </a:cubicBezTo>
                  <a:moveTo>
                    <a:pt x="1403" y="116"/>
                  </a:moveTo>
                  <a:cubicBezTo>
                    <a:pt x="1469" y="116"/>
                    <a:pt x="1502" y="162"/>
                    <a:pt x="1502" y="232"/>
                  </a:cubicBezTo>
                  <a:cubicBezTo>
                    <a:pt x="1502" y="241"/>
                    <a:pt x="1502" y="255"/>
                    <a:pt x="1499" y="266"/>
                  </a:cubicBezTo>
                  <a:cubicBezTo>
                    <a:pt x="1349" y="266"/>
                    <a:pt x="1349" y="266"/>
                    <a:pt x="1349" y="266"/>
                  </a:cubicBezTo>
                  <a:cubicBezTo>
                    <a:pt x="1353" y="310"/>
                    <a:pt x="1373" y="336"/>
                    <a:pt x="1417" y="336"/>
                  </a:cubicBezTo>
                  <a:cubicBezTo>
                    <a:pt x="1443" y="336"/>
                    <a:pt x="1467" y="326"/>
                    <a:pt x="1487" y="318"/>
                  </a:cubicBezTo>
                  <a:cubicBezTo>
                    <a:pt x="1502" y="356"/>
                    <a:pt x="1502" y="356"/>
                    <a:pt x="1502" y="356"/>
                  </a:cubicBezTo>
                  <a:cubicBezTo>
                    <a:pt x="1480" y="368"/>
                    <a:pt x="1447" y="379"/>
                    <a:pt x="1411" y="379"/>
                  </a:cubicBezTo>
                  <a:cubicBezTo>
                    <a:pt x="1342" y="379"/>
                    <a:pt x="1298" y="337"/>
                    <a:pt x="1298" y="248"/>
                  </a:cubicBezTo>
                  <a:cubicBezTo>
                    <a:pt x="1298" y="171"/>
                    <a:pt x="1331" y="116"/>
                    <a:pt x="1403" y="116"/>
                  </a:cubicBezTo>
                  <a:moveTo>
                    <a:pt x="1453" y="226"/>
                  </a:moveTo>
                  <a:cubicBezTo>
                    <a:pt x="1453" y="191"/>
                    <a:pt x="1441" y="160"/>
                    <a:pt x="1403" y="160"/>
                  </a:cubicBezTo>
                  <a:cubicBezTo>
                    <a:pt x="1367" y="160"/>
                    <a:pt x="1351" y="187"/>
                    <a:pt x="1349" y="226"/>
                  </a:cubicBezTo>
                  <a:lnTo>
                    <a:pt x="1453" y="226"/>
                  </a:lnTo>
                  <a:close/>
                  <a:moveTo>
                    <a:pt x="1547" y="121"/>
                  </a:moveTo>
                  <a:cubicBezTo>
                    <a:pt x="1584" y="121"/>
                    <a:pt x="1584" y="121"/>
                    <a:pt x="1584" y="121"/>
                  </a:cubicBezTo>
                  <a:cubicBezTo>
                    <a:pt x="1591" y="152"/>
                    <a:pt x="1591" y="152"/>
                    <a:pt x="1591" y="152"/>
                  </a:cubicBezTo>
                  <a:cubicBezTo>
                    <a:pt x="1592" y="152"/>
                    <a:pt x="1592" y="152"/>
                    <a:pt x="1592" y="152"/>
                  </a:cubicBezTo>
                  <a:cubicBezTo>
                    <a:pt x="1610" y="126"/>
                    <a:pt x="1633" y="116"/>
                    <a:pt x="1663" y="116"/>
                  </a:cubicBezTo>
                  <a:cubicBezTo>
                    <a:pt x="1671" y="116"/>
                    <a:pt x="1680" y="116"/>
                    <a:pt x="1689" y="117"/>
                  </a:cubicBezTo>
                  <a:cubicBezTo>
                    <a:pt x="1686" y="164"/>
                    <a:pt x="1686" y="164"/>
                    <a:pt x="1686" y="164"/>
                  </a:cubicBezTo>
                  <a:cubicBezTo>
                    <a:pt x="1674" y="162"/>
                    <a:pt x="1663" y="161"/>
                    <a:pt x="1653" y="161"/>
                  </a:cubicBezTo>
                  <a:cubicBezTo>
                    <a:pt x="1630" y="161"/>
                    <a:pt x="1612" y="167"/>
                    <a:pt x="1597" y="180"/>
                  </a:cubicBezTo>
                  <a:cubicBezTo>
                    <a:pt x="1597" y="374"/>
                    <a:pt x="1597" y="374"/>
                    <a:pt x="1597" y="374"/>
                  </a:cubicBezTo>
                  <a:cubicBezTo>
                    <a:pt x="1547" y="374"/>
                    <a:pt x="1547" y="374"/>
                    <a:pt x="1547" y="374"/>
                  </a:cubicBezTo>
                  <a:lnTo>
                    <a:pt x="1547" y="121"/>
                  </a:lnTo>
                  <a:close/>
                  <a:moveTo>
                    <a:pt x="1885" y="473"/>
                  </a:moveTo>
                  <a:cubicBezTo>
                    <a:pt x="1835" y="473"/>
                    <a:pt x="1835" y="473"/>
                    <a:pt x="1835" y="473"/>
                  </a:cubicBezTo>
                  <a:cubicBezTo>
                    <a:pt x="1835" y="121"/>
                    <a:pt x="1835" y="121"/>
                    <a:pt x="1835" y="121"/>
                  </a:cubicBezTo>
                  <a:cubicBezTo>
                    <a:pt x="1872" y="121"/>
                    <a:pt x="1872" y="121"/>
                    <a:pt x="1872" y="121"/>
                  </a:cubicBezTo>
                  <a:cubicBezTo>
                    <a:pt x="1877" y="142"/>
                    <a:pt x="1877" y="142"/>
                    <a:pt x="1877" y="142"/>
                  </a:cubicBezTo>
                  <a:cubicBezTo>
                    <a:pt x="1895" y="127"/>
                    <a:pt x="1918" y="116"/>
                    <a:pt x="1950" y="116"/>
                  </a:cubicBezTo>
                  <a:cubicBezTo>
                    <a:pt x="2016" y="116"/>
                    <a:pt x="2043" y="164"/>
                    <a:pt x="2043" y="249"/>
                  </a:cubicBezTo>
                  <a:cubicBezTo>
                    <a:pt x="2043" y="340"/>
                    <a:pt x="2012" y="379"/>
                    <a:pt x="1944" y="379"/>
                  </a:cubicBezTo>
                  <a:cubicBezTo>
                    <a:pt x="1926" y="379"/>
                    <a:pt x="1905" y="377"/>
                    <a:pt x="1885" y="372"/>
                  </a:cubicBezTo>
                  <a:lnTo>
                    <a:pt x="1885" y="473"/>
                  </a:lnTo>
                  <a:close/>
                  <a:moveTo>
                    <a:pt x="1934" y="338"/>
                  </a:moveTo>
                  <a:cubicBezTo>
                    <a:pt x="1982" y="338"/>
                    <a:pt x="1993" y="311"/>
                    <a:pt x="1993" y="248"/>
                  </a:cubicBezTo>
                  <a:cubicBezTo>
                    <a:pt x="1993" y="190"/>
                    <a:pt x="1982" y="160"/>
                    <a:pt x="1938" y="160"/>
                  </a:cubicBezTo>
                  <a:cubicBezTo>
                    <a:pt x="1920" y="160"/>
                    <a:pt x="1901" y="165"/>
                    <a:pt x="1885" y="173"/>
                  </a:cubicBezTo>
                  <a:cubicBezTo>
                    <a:pt x="1885" y="333"/>
                    <a:pt x="1885" y="333"/>
                    <a:pt x="1885" y="333"/>
                  </a:cubicBezTo>
                  <a:cubicBezTo>
                    <a:pt x="1901" y="337"/>
                    <a:pt x="1923" y="338"/>
                    <a:pt x="1934" y="338"/>
                  </a:cubicBezTo>
                  <a:moveTo>
                    <a:pt x="2093" y="0"/>
                  </a:moveTo>
                  <a:cubicBezTo>
                    <a:pt x="2142" y="28"/>
                    <a:pt x="2142" y="28"/>
                    <a:pt x="2142" y="28"/>
                  </a:cubicBezTo>
                  <a:cubicBezTo>
                    <a:pt x="2142" y="374"/>
                    <a:pt x="2142" y="374"/>
                    <a:pt x="2142" y="374"/>
                  </a:cubicBezTo>
                  <a:cubicBezTo>
                    <a:pt x="2093" y="374"/>
                    <a:pt x="2093" y="374"/>
                    <a:pt x="2093" y="374"/>
                  </a:cubicBezTo>
                  <a:lnTo>
                    <a:pt x="2093" y="0"/>
                  </a:lnTo>
                  <a:close/>
                  <a:moveTo>
                    <a:pt x="2306" y="116"/>
                  </a:moveTo>
                  <a:cubicBezTo>
                    <a:pt x="2326" y="116"/>
                    <a:pt x="2354" y="119"/>
                    <a:pt x="2374" y="123"/>
                  </a:cubicBezTo>
                  <a:cubicBezTo>
                    <a:pt x="2369" y="165"/>
                    <a:pt x="2369" y="165"/>
                    <a:pt x="2369" y="165"/>
                  </a:cubicBezTo>
                  <a:cubicBezTo>
                    <a:pt x="2352" y="162"/>
                    <a:pt x="2328" y="159"/>
                    <a:pt x="2310" y="159"/>
                  </a:cubicBezTo>
                  <a:cubicBezTo>
                    <a:pt x="2257" y="159"/>
                    <a:pt x="2239" y="185"/>
                    <a:pt x="2239" y="248"/>
                  </a:cubicBezTo>
                  <a:cubicBezTo>
                    <a:pt x="2239" y="295"/>
                    <a:pt x="2250" y="335"/>
                    <a:pt x="2304" y="335"/>
                  </a:cubicBezTo>
                  <a:cubicBezTo>
                    <a:pt x="2326" y="335"/>
                    <a:pt x="2351" y="329"/>
                    <a:pt x="2372" y="320"/>
                  </a:cubicBezTo>
                  <a:cubicBezTo>
                    <a:pt x="2386" y="360"/>
                    <a:pt x="2386" y="360"/>
                    <a:pt x="2386" y="360"/>
                  </a:cubicBezTo>
                  <a:cubicBezTo>
                    <a:pt x="2362" y="371"/>
                    <a:pt x="2328" y="379"/>
                    <a:pt x="2296" y="379"/>
                  </a:cubicBezTo>
                  <a:cubicBezTo>
                    <a:pt x="2222" y="379"/>
                    <a:pt x="2189" y="332"/>
                    <a:pt x="2189" y="249"/>
                  </a:cubicBezTo>
                  <a:cubicBezTo>
                    <a:pt x="2189" y="167"/>
                    <a:pt x="2219" y="116"/>
                    <a:pt x="2306" y="116"/>
                  </a:cubicBezTo>
                </a:path>
              </a:pathLst>
            </a:custGeom>
            <a:solidFill>
              <a:srgbClr val="2735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9" name="Rectangle 6">
              <a:extLst>
                <a:ext uri="{FF2B5EF4-FFF2-40B4-BE49-F238E27FC236}">
                  <a16:creationId xmlns:a16="http://schemas.microsoft.com/office/drawing/2014/main" id="{4DCAD83F-127D-40C3-B602-D80F42C4F090}"/>
                </a:ext>
              </a:extLst>
            </p:cNvPr>
            <p:cNvSpPr>
              <a:spLocks noChangeArrowheads="1"/>
            </p:cNvSpPr>
            <p:nvPr userDrawn="1"/>
          </p:nvSpPr>
          <p:spPr bwMode="auto">
            <a:xfrm>
              <a:off x="-1433" y="-1383"/>
              <a:ext cx="24" cy="164"/>
            </a:xfrm>
            <a:prstGeom prst="rect">
              <a:avLst/>
            </a:prstGeom>
            <a:solidFill>
              <a:srgbClr val="0292A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0" name="Freeform 7">
              <a:extLst>
                <a:ext uri="{FF2B5EF4-FFF2-40B4-BE49-F238E27FC236}">
                  <a16:creationId xmlns:a16="http://schemas.microsoft.com/office/drawing/2014/main" id="{A6A93FF1-DA46-419E-82B7-713630F77DB8}"/>
                </a:ext>
              </a:extLst>
            </p:cNvPr>
            <p:cNvSpPr>
              <a:spLocks/>
            </p:cNvSpPr>
            <p:nvPr userDrawn="1"/>
          </p:nvSpPr>
          <p:spPr bwMode="auto">
            <a:xfrm>
              <a:off x="-1370" y="-1337"/>
              <a:ext cx="94" cy="118"/>
            </a:xfrm>
            <a:custGeom>
              <a:avLst/>
              <a:gdLst>
                <a:gd name="T0" fmla="*/ 0 w 39"/>
                <a:gd name="T1" fmla="*/ 1 h 49"/>
                <a:gd name="T2" fmla="*/ 7 w 39"/>
                <a:gd name="T3" fmla="*/ 1 h 49"/>
                <a:gd name="T4" fmla="*/ 8 w 39"/>
                <a:gd name="T5" fmla="*/ 5 h 49"/>
                <a:gd name="T6" fmla="*/ 24 w 39"/>
                <a:gd name="T7" fmla="*/ 0 h 49"/>
                <a:gd name="T8" fmla="*/ 39 w 39"/>
                <a:gd name="T9" fmla="*/ 16 h 49"/>
                <a:gd name="T10" fmla="*/ 39 w 39"/>
                <a:gd name="T11" fmla="*/ 49 h 49"/>
                <a:gd name="T12" fmla="*/ 30 w 39"/>
                <a:gd name="T13" fmla="*/ 49 h 49"/>
                <a:gd name="T14" fmla="*/ 30 w 39"/>
                <a:gd name="T15" fmla="*/ 17 h 49"/>
                <a:gd name="T16" fmla="*/ 21 w 39"/>
                <a:gd name="T17" fmla="*/ 8 h 49"/>
                <a:gd name="T18" fmla="*/ 9 w 39"/>
                <a:gd name="T19" fmla="*/ 11 h 49"/>
                <a:gd name="T20" fmla="*/ 9 w 39"/>
                <a:gd name="T21" fmla="*/ 49 h 49"/>
                <a:gd name="T22" fmla="*/ 0 w 39"/>
                <a:gd name="T23" fmla="*/ 49 h 49"/>
                <a:gd name="T24" fmla="*/ 0 w 39"/>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49">
                  <a:moveTo>
                    <a:pt x="0" y="1"/>
                  </a:moveTo>
                  <a:cubicBezTo>
                    <a:pt x="7" y="1"/>
                    <a:pt x="7" y="1"/>
                    <a:pt x="7" y="1"/>
                  </a:cubicBezTo>
                  <a:cubicBezTo>
                    <a:pt x="8" y="5"/>
                    <a:pt x="8" y="5"/>
                    <a:pt x="8" y="5"/>
                  </a:cubicBezTo>
                  <a:cubicBezTo>
                    <a:pt x="12" y="2"/>
                    <a:pt x="17" y="0"/>
                    <a:pt x="24" y="0"/>
                  </a:cubicBezTo>
                  <a:cubicBezTo>
                    <a:pt x="34" y="0"/>
                    <a:pt x="39" y="5"/>
                    <a:pt x="39" y="16"/>
                  </a:cubicBezTo>
                  <a:cubicBezTo>
                    <a:pt x="39" y="49"/>
                    <a:pt x="39" y="49"/>
                    <a:pt x="39" y="49"/>
                  </a:cubicBezTo>
                  <a:cubicBezTo>
                    <a:pt x="30" y="49"/>
                    <a:pt x="30" y="49"/>
                    <a:pt x="30" y="49"/>
                  </a:cubicBezTo>
                  <a:cubicBezTo>
                    <a:pt x="30" y="17"/>
                    <a:pt x="30" y="17"/>
                    <a:pt x="30" y="17"/>
                  </a:cubicBezTo>
                  <a:cubicBezTo>
                    <a:pt x="30" y="11"/>
                    <a:pt x="27" y="8"/>
                    <a:pt x="21" y="8"/>
                  </a:cubicBezTo>
                  <a:cubicBezTo>
                    <a:pt x="17" y="8"/>
                    <a:pt x="13" y="10"/>
                    <a:pt x="9" y="11"/>
                  </a:cubicBezTo>
                  <a:cubicBezTo>
                    <a:pt x="9" y="49"/>
                    <a:pt x="9" y="49"/>
                    <a:pt x="9"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1" name="Freeform 8">
              <a:extLst>
                <a:ext uri="{FF2B5EF4-FFF2-40B4-BE49-F238E27FC236}">
                  <a16:creationId xmlns:a16="http://schemas.microsoft.com/office/drawing/2014/main" id="{7189F352-D69E-4819-9B0A-EB17E3358C6E}"/>
                </a:ext>
              </a:extLst>
            </p:cNvPr>
            <p:cNvSpPr>
              <a:spLocks/>
            </p:cNvSpPr>
            <p:nvPr userDrawn="1"/>
          </p:nvSpPr>
          <p:spPr bwMode="auto">
            <a:xfrm>
              <a:off x="-1254" y="-1335"/>
              <a:ext cx="106" cy="116"/>
            </a:xfrm>
            <a:custGeom>
              <a:avLst/>
              <a:gdLst>
                <a:gd name="T0" fmla="*/ 0 w 44"/>
                <a:gd name="T1" fmla="*/ 0 h 48"/>
                <a:gd name="T2" fmla="*/ 10 w 44"/>
                <a:gd name="T3" fmla="*/ 0 h 48"/>
                <a:gd name="T4" fmla="*/ 22 w 44"/>
                <a:gd name="T5" fmla="*/ 41 h 48"/>
                <a:gd name="T6" fmla="*/ 23 w 44"/>
                <a:gd name="T7" fmla="*/ 41 h 48"/>
                <a:gd name="T8" fmla="*/ 34 w 44"/>
                <a:gd name="T9" fmla="*/ 0 h 48"/>
                <a:gd name="T10" fmla="*/ 44 w 44"/>
                <a:gd name="T11" fmla="*/ 0 h 48"/>
                <a:gd name="T12" fmla="*/ 29 w 44"/>
                <a:gd name="T13" fmla="*/ 48 h 48"/>
                <a:gd name="T14" fmla="*/ 15 w 44"/>
                <a:gd name="T15" fmla="*/ 48 h 48"/>
                <a:gd name="T16" fmla="*/ 0 w 44"/>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48">
                  <a:moveTo>
                    <a:pt x="0" y="0"/>
                  </a:moveTo>
                  <a:cubicBezTo>
                    <a:pt x="10" y="0"/>
                    <a:pt x="10" y="0"/>
                    <a:pt x="10" y="0"/>
                  </a:cubicBezTo>
                  <a:cubicBezTo>
                    <a:pt x="13" y="14"/>
                    <a:pt x="17" y="29"/>
                    <a:pt x="22" y="41"/>
                  </a:cubicBezTo>
                  <a:cubicBezTo>
                    <a:pt x="23" y="41"/>
                    <a:pt x="23" y="41"/>
                    <a:pt x="23" y="41"/>
                  </a:cubicBezTo>
                  <a:cubicBezTo>
                    <a:pt x="27" y="29"/>
                    <a:pt x="31" y="14"/>
                    <a:pt x="34" y="0"/>
                  </a:cubicBezTo>
                  <a:cubicBezTo>
                    <a:pt x="44" y="0"/>
                    <a:pt x="44" y="0"/>
                    <a:pt x="44" y="0"/>
                  </a:cubicBezTo>
                  <a:cubicBezTo>
                    <a:pt x="40" y="16"/>
                    <a:pt x="35" y="33"/>
                    <a:pt x="29" y="48"/>
                  </a:cubicBezTo>
                  <a:cubicBezTo>
                    <a:pt x="15" y="48"/>
                    <a:pt x="15" y="48"/>
                    <a:pt x="15" y="48"/>
                  </a:cubicBezTo>
                  <a:cubicBezTo>
                    <a:pt x="9" y="33"/>
                    <a:pt x="4" y="16"/>
                    <a:pt x="0" y="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2" name="Freeform 9">
              <a:extLst>
                <a:ext uri="{FF2B5EF4-FFF2-40B4-BE49-F238E27FC236}">
                  <a16:creationId xmlns:a16="http://schemas.microsoft.com/office/drawing/2014/main" id="{20054A5B-B573-4098-B778-F53C18EF78DE}"/>
                </a:ext>
              </a:extLst>
            </p:cNvPr>
            <p:cNvSpPr>
              <a:spLocks noEditPoints="1"/>
            </p:cNvSpPr>
            <p:nvPr userDrawn="1"/>
          </p:nvSpPr>
          <p:spPr bwMode="auto">
            <a:xfrm>
              <a:off x="-1136"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0 w 40"/>
                <a:gd name="T21" fmla="*/ 21 h 51"/>
                <a:gd name="T22" fmla="*/ 21 w 40"/>
                <a:gd name="T23" fmla="*/ 8 h 51"/>
                <a:gd name="T24" fmla="*/ 10 w 40"/>
                <a:gd name="T25" fmla="*/ 21 h 51"/>
                <a:gd name="T26" fmla="*/ 30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3" y="0"/>
                    <a:pt x="40" y="8"/>
                    <a:pt x="40" y="22"/>
                  </a:cubicBezTo>
                  <a:cubicBezTo>
                    <a:pt x="40" y="24"/>
                    <a:pt x="40" y="26"/>
                    <a:pt x="39" y="28"/>
                  </a:cubicBezTo>
                  <a:cubicBezTo>
                    <a:pt x="10" y="28"/>
                    <a:pt x="10" y="28"/>
                    <a:pt x="10" y="28"/>
                  </a:cubicBezTo>
                  <a:cubicBezTo>
                    <a:pt x="11" y="37"/>
                    <a:pt x="15" y="42"/>
                    <a:pt x="23" y="42"/>
                  </a:cubicBezTo>
                  <a:cubicBezTo>
                    <a:pt x="28" y="42"/>
                    <a:pt x="33" y="40"/>
                    <a:pt x="37" y="39"/>
                  </a:cubicBezTo>
                  <a:cubicBezTo>
                    <a:pt x="40" y="46"/>
                    <a:pt x="40" y="46"/>
                    <a:pt x="40" y="46"/>
                  </a:cubicBezTo>
                  <a:cubicBezTo>
                    <a:pt x="35" y="48"/>
                    <a:pt x="29" y="51"/>
                    <a:pt x="22" y="51"/>
                  </a:cubicBezTo>
                  <a:cubicBezTo>
                    <a:pt x="9" y="51"/>
                    <a:pt x="0" y="42"/>
                    <a:pt x="0" y="25"/>
                  </a:cubicBezTo>
                  <a:cubicBezTo>
                    <a:pt x="0" y="10"/>
                    <a:pt x="7" y="0"/>
                    <a:pt x="21" y="0"/>
                  </a:cubicBezTo>
                  <a:moveTo>
                    <a:pt x="30" y="21"/>
                  </a:moveTo>
                  <a:cubicBezTo>
                    <a:pt x="30" y="14"/>
                    <a:pt x="28" y="8"/>
                    <a:pt x="21" y="8"/>
                  </a:cubicBezTo>
                  <a:cubicBezTo>
                    <a:pt x="14" y="8"/>
                    <a:pt x="10" y="13"/>
                    <a:pt x="10" y="21"/>
                  </a:cubicBezTo>
                  <a:lnTo>
                    <a:pt x="30"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3" name="Freeform 10">
              <a:extLst>
                <a:ext uri="{FF2B5EF4-FFF2-40B4-BE49-F238E27FC236}">
                  <a16:creationId xmlns:a16="http://schemas.microsoft.com/office/drawing/2014/main" id="{78808505-2888-44D4-B4C5-74725A248953}"/>
                </a:ext>
              </a:extLst>
            </p:cNvPr>
            <p:cNvSpPr>
              <a:spLocks/>
            </p:cNvSpPr>
            <p:nvPr userDrawn="1"/>
          </p:nvSpPr>
          <p:spPr bwMode="auto">
            <a:xfrm>
              <a:off x="-1023" y="-1337"/>
              <a:ext cx="90" cy="123"/>
            </a:xfrm>
            <a:custGeom>
              <a:avLst/>
              <a:gdLst>
                <a:gd name="T0" fmla="*/ 2 w 37"/>
                <a:gd name="T1" fmla="*/ 40 h 51"/>
                <a:gd name="T2" fmla="*/ 16 w 37"/>
                <a:gd name="T3" fmla="*/ 42 h 51"/>
                <a:gd name="T4" fmla="*/ 27 w 37"/>
                <a:gd name="T5" fmla="*/ 36 h 51"/>
                <a:gd name="T6" fmla="*/ 16 w 37"/>
                <a:gd name="T7" fmla="*/ 28 h 51"/>
                <a:gd name="T8" fmla="*/ 1 w 37"/>
                <a:gd name="T9" fmla="*/ 14 h 51"/>
                <a:gd name="T10" fmla="*/ 20 w 37"/>
                <a:gd name="T11" fmla="*/ 0 h 51"/>
                <a:gd name="T12" fmla="*/ 34 w 37"/>
                <a:gd name="T13" fmla="*/ 1 h 51"/>
                <a:gd name="T14" fmla="*/ 33 w 37"/>
                <a:gd name="T15" fmla="*/ 9 h 51"/>
                <a:gd name="T16" fmla="*/ 20 w 37"/>
                <a:gd name="T17" fmla="*/ 8 h 51"/>
                <a:gd name="T18" fmla="*/ 11 w 37"/>
                <a:gd name="T19" fmla="*/ 13 h 51"/>
                <a:gd name="T20" fmla="*/ 23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6" y="42"/>
                  </a:cubicBezTo>
                  <a:cubicBezTo>
                    <a:pt x="23" y="42"/>
                    <a:pt x="27" y="41"/>
                    <a:pt x="27" y="36"/>
                  </a:cubicBezTo>
                  <a:cubicBezTo>
                    <a:pt x="27" y="32"/>
                    <a:pt x="24" y="31"/>
                    <a:pt x="16" y="28"/>
                  </a:cubicBezTo>
                  <a:cubicBezTo>
                    <a:pt x="8" y="26"/>
                    <a:pt x="1" y="23"/>
                    <a:pt x="1" y="14"/>
                  </a:cubicBezTo>
                  <a:cubicBezTo>
                    <a:pt x="1" y="5"/>
                    <a:pt x="9" y="0"/>
                    <a:pt x="20" y="0"/>
                  </a:cubicBezTo>
                  <a:cubicBezTo>
                    <a:pt x="24" y="0"/>
                    <a:pt x="30" y="0"/>
                    <a:pt x="34" y="1"/>
                  </a:cubicBezTo>
                  <a:cubicBezTo>
                    <a:pt x="33" y="9"/>
                    <a:pt x="33" y="9"/>
                    <a:pt x="33" y="9"/>
                  </a:cubicBezTo>
                  <a:cubicBezTo>
                    <a:pt x="29" y="9"/>
                    <a:pt x="24" y="8"/>
                    <a:pt x="20" y="8"/>
                  </a:cubicBezTo>
                  <a:cubicBezTo>
                    <a:pt x="14" y="8"/>
                    <a:pt x="11" y="10"/>
                    <a:pt x="11" y="13"/>
                  </a:cubicBezTo>
                  <a:cubicBezTo>
                    <a:pt x="11" y="18"/>
                    <a:pt x="16" y="19"/>
                    <a:pt x="23"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4" name="Freeform 11">
              <a:extLst>
                <a:ext uri="{FF2B5EF4-FFF2-40B4-BE49-F238E27FC236}">
                  <a16:creationId xmlns:a16="http://schemas.microsoft.com/office/drawing/2014/main" id="{427426D6-5091-4743-942A-F26DC57B2E2E}"/>
                </a:ext>
              </a:extLst>
            </p:cNvPr>
            <p:cNvSpPr>
              <a:spLocks/>
            </p:cNvSpPr>
            <p:nvPr userDrawn="1"/>
          </p:nvSpPr>
          <p:spPr bwMode="auto">
            <a:xfrm>
              <a:off x="-921" y="-1368"/>
              <a:ext cx="75" cy="151"/>
            </a:xfrm>
            <a:custGeom>
              <a:avLst/>
              <a:gdLst>
                <a:gd name="T0" fmla="*/ 7 w 31"/>
                <a:gd name="T1" fmla="*/ 22 h 63"/>
                <a:gd name="T2" fmla="*/ 0 w 31"/>
                <a:gd name="T3" fmla="*/ 22 h 63"/>
                <a:gd name="T4" fmla="*/ 0 w 31"/>
                <a:gd name="T5" fmla="*/ 14 h 63"/>
                <a:gd name="T6" fmla="*/ 8 w 31"/>
                <a:gd name="T7" fmla="*/ 14 h 63"/>
                <a:gd name="T8" fmla="*/ 8 w 31"/>
                <a:gd name="T9" fmla="*/ 0 h 63"/>
                <a:gd name="T10" fmla="*/ 17 w 31"/>
                <a:gd name="T11" fmla="*/ 0 h 63"/>
                <a:gd name="T12" fmla="*/ 17 w 31"/>
                <a:gd name="T13" fmla="*/ 14 h 63"/>
                <a:gd name="T14" fmla="*/ 30 w 31"/>
                <a:gd name="T15" fmla="*/ 14 h 63"/>
                <a:gd name="T16" fmla="*/ 30 w 31"/>
                <a:gd name="T17" fmla="*/ 22 h 63"/>
                <a:gd name="T18" fmla="*/ 17 w 31"/>
                <a:gd name="T19" fmla="*/ 22 h 63"/>
                <a:gd name="T20" fmla="*/ 17 w 31"/>
                <a:gd name="T21" fmla="*/ 50 h 63"/>
                <a:gd name="T22" fmla="*/ 22 w 31"/>
                <a:gd name="T23" fmla="*/ 55 h 63"/>
                <a:gd name="T24" fmla="*/ 28 w 31"/>
                <a:gd name="T25" fmla="*/ 53 h 63"/>
                <a:gd name="T26" fmla="*/ 31 w 31"/>
                <a:gd name="T27" fmla="*/ 60 h 63"/>
                <a:gd name="T28" fmla="*/ 19 w 31"/>
                <a:gd name="T29" fmla="*/ 63 h 63"/>
                <a:gd name="T30" fmla="*/ 7 w 31"/>
                <a:gd name="T31" fmla="*/ 51 h 63"/>
                <a:gd name="T32" fmla="*/ 7 w 31"/>
                <a:gd name="T33"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63">
                  <a:moveTo>
                    <a:pt x="7" y="22"/>
                  </a:moveTo>
                  <a:cubicBezTo>
                    <a:pt x="0" y="22"/>
                    <a:pt x="0" y="22"/>
                    <a:pt x="0" y="22"/>
                  </a:cubicBezTo>
                  <a:cubicBezTo>
                    <a:pt x="0" y="14"/>
                    <a:pt x="0" y="14"/>
                    <a:pt x="0" y="14"/>
                  </a:cubicBezTo>
                  <a:cubicBezTo>
                    <a:pt x="8" y="14"/>
                    <a:pt x="8" y="14"/>
                    <a:pt x="8" y="14"/>
                  </a:cubicBezTo>
                  <a:cubicBezTo>
                    <a:pt x="8" y="0"/>
                    <a:pt x="8" y="0"/>
                    <a:pt x="8" y="0"/>
                  </a:cubicBezTo>
                  <a:cubicBezTo>
                    <a:pt x="17" y="0"/>
                    <a:pt x="17" y="0"/>
                    <a:pt x="17" y="0"/>
                  </a:cubicBezTo>
                  <a:cubicBezTo>
                    <a:pt x="17" y="14"/>
                    <a:pt x="17" y="14"/>
                    <a:pt x="17" y="14"/>
                  </a:cubicBezTo>
                  <a:cubicBezTo>
                    <a:pt x="30" y="14"/>
                    <a:pt x="30" y="14"/>
                    <a:pt x="30" y="14"/>
                  </a:cubicBezTo>
                  <a:cubicBezTo>
                    <a:pt x="30" y="22"/>
                    <a:pt x="30" y="22"/>
                    <a:pt x="30" y="22"/>
                  </a:cubicBezTo>
                  <a:cubicBezTo>
                    <a:pt x="17" y="22"/>
                    <a:pt x="17" y="22"/>
                    <a:pt x="17" y="22"/>
                  </a:cubicBezTo>
                  <a:cubicBezTo>
                    <a:pt x="17" y="50"/>
                    <a:pt x="17" y="50"/>
                    <a:pt x="17" y="50"/>
                  </a:cubicBezTo>
                  <a:cubicBezTo>
                    <a:pt x="17" y="53"/>
                    <a:pt x="18" y="55"/>
                    <a:pt x="22" y="55"/>
                  </a:cubicBezTo>
                  <a:cubicBezTo>
                    <a:pt x="24" y="55"/>
                    <a:pt x="26" y="54"/>
                    <a:pt x="28" y="53"/>
                  </a:cubicBezTo>
                  <a:cubicBezTo>
                    <a:pt x="31" y="60"/>
                    <a:pt x="31" y="60"/>
                    <a:pt x="31" y="60"/>
                  </a:cubicBezTo>
                  <a:cubicBezTo>
                    <a:pt x="28" y="62"/>
                    <a:pt x="24" y="63"/>
                    <a:pt x="19" y="63"/>
                  </a:cubicBezTo>
                  <a:cubicBezTo>
                    <a:pt x="12" y="63"/>
                    <a:pt x="7" y="59"/>
                    <a:pt x="7" y="51"/>
                  </a:cubicBezTo>
                  <a:lnTo>
                    <a:pt x="7" y="22"/>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5" name="Freeform 12">
              <a:extLst>
                <a:ext uri="{FF2B5EF4-FFF2-40B4-BE49-F238E27FC236}">
                  <a16:creationId xmlns:a16="http://schemas.microsoft.com/office/drawing/2014/main" id="{D06B6BC2-D51B-4FBE-B5ED-B1DCBD82DF03}"/>
                </a:ext>
              </a:extLst>
            </p:cNvPr>
            <p:cNvSpPr>
              <a:spLocks noEditPoints="1"/>
            </p:cNvSpPr>
            <p:nvPr userDrawn="1"/>
          </p:nvSpPr>
          <p:spPr bwMode="auto">
            <a:xfrm>
              <a:off x="-822" y="-1383"/>
              <a:ext cx="22" cy="164"/>
            </a:xfrm>
            <a:custGeom>
              <a:avLst/>
              <a:gdLst>
                <a:gd name="T0" fmla="*/ 0 w 22"/>
                <a:gd name="T1" fmla="*/ 0 h 164"/>
                <a:gd name="T2" fmla="*/ 22 w 22"/>
                <a:gd name="T3" fmla="*/ 0 h 164"/>
                <a:gd name="T4" fmla="*/ 22 w 22"/>
                <a:gd name="T5" fmla="*/ 27 h 164"/>
                <a:gd name="T6" fmla="*/ 0 w 22"/>
                <a:gd name="T7" fmla="*/ 27 h 164"/>
                <a:gd name="T8" fmla="*/ 0 w 22"/>
                <a:gd name="T9" fmla="*/ 0 h 164"/>
                <a:gd name="T10" fmla="*/ 0 w 22"/>
                <a:gd name="T11" fmla="*/ 48 h 164"/>
                <a:gd name="T12" fmla="*/ 22 w 22"/>
                <a:gd name="T13" fmla="*/ 48 h 164"/>
                <a:gd name="T14" fmla="*/ 22 w 22"/>
                <a:gd name="T15" fmla="*/ 164 h 164"/>
                <a:gd name="T16" fmla="*/ 0 w 22"/>
                <a:gd name="T17" fmla="*/ 164 h 164"/>
                <a:gd name="T18" fmla="*/ 0 w 22"/>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64">
                  <a:moveTo>
                    <a:pt x="0" y="0"/>
                  </a:moveTo>
                  <a:lnTo>
                    <a:pt x="22" y="0"/>
                  </a:lnTo>
                  <a:lnTo>
                    <a:pt x="22" y="27"/>
                  </a:lnTo>
                  <a:lnTo>
                    <a:pt x="0" y="27"/>
                  </a:lnTo>
                  <a:lnTo>
                    <a:pt x="0" y="0"/>
                  </a:lnTo>
                  <a:close/>
                  <a:moveTo>
                    <a:pt x="0" y="48"/>
                  </a:moveTo>
                  <a:lnTo>
                    <a:pt x="22" y="48"/>
                  </a:lnTo>
                  <a:lnTo>
                    <a:pt x="22"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6" name="Freeform 13">
              <a:extLst>
                <a:ext uri="{FF2B5EF4-FFF2-40B4-BE49-F238E27FC236}">
                  <a16:creationId xmlns:a16="http://schemas.microsoft.com/office/drawing/2014/main" id="{D76085D6-5CEA-4E5A-8D34-D87DEF0616D9}"/>
                </a:ext>
              </a:extLst>
            </p:cNvPr>
            <p:cNvSpPr>
              <a:spLocks/>
            </p:cNvSpPr>
            <p:nvPr userDrawn="1"/>
          </p:nvSpPr>
          <p:spPr bwMode="auto">
            <a:xfrm>
              <a:off x="-764" y="-1337"/>
              <a:ext cx="96"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8" y="8"/>
                    <a:pt x="22" y="8"/>
                  </a:cubicBezTo>
                  <a:cubicBezTo>
                    <a:pt x="18"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7" name="Freeform 14">
              <a:extLst>
                <a:ext uri="{FF2B5EF4-FFF2-40B4-BE49-F238E27FC236}">
                  <a16:creationId xmlns:a16="http://schemas.microsoft.com/office/drawing/2014/main" id="{3DC2D50B-15B1-4CAB-A1AA-C9146A76D5EB}"/>
                </a:ext>
              </a:extLst>
            </p:cNvPr>
            <p:cNvSpPr>
              <a:spLocks noEditPoints="1"/>
            </p:cNvSpPr>
            <p:nvPr userDrawn="1"/>
          </p:nvSpPr>
          <p:spPr bwMode="auto">
            <a:xfrm>
              <a:off x="-639" y="-1337"/>
              <a:ext cx="97" cy="168"/>
            </a:xfrm>
            <a:custGeom>
              <a:avLst/>
              <a:gdLst>
                <a:gd name="T0" fmla="*/ 20 w 40"/>
                <a:gd name="T1" fmla="*/ 61 h 70"/>
                <a:gd name="T2" fmla="*/ 31 w 40"/>
                <a:gd name="T3" fmla="*/ 53 h 70"/>
                <a:gd name="T4" fmla="*/ 31 w 40"/>
                <a:gd name="T5" fmla="*/ 47 h 70"/>
                <a:gd name="T6" fmla="*/ 18 w 40"/>
                <a:gd name="T7" fmla="*/ 51 h 70"/>
                <a:gd name="T8" fmla="*/ 0 w 40"/>
                <a:gd name="T9" fmla="*/ 25 h 70"/>
                <a:gd name="T10" fmla="*/ 20 w 40"/>
                <a:gd name="T11" fmla="*/ 0 h 70"/>
                <a:gd name="T12" fmla="*/ 40 w 40"/>
                <a:gd name="T13" fmla="*/ 3 h 70"/>
                <a:gd name="T14" fmla="*/ 40 w 40"/>
                <a:gd name="T15" fmla="*/ 54 h 70"/>
                <a:gd name="T16" fmla="*/ 20 w 40"/>
                <a:gd name="T17" fmla="*/ 70 h 70"/>
                <a:gd name="T18" fmla="*/ 5 w 40"/>
                <a:gd name="T19" fmla="*/ 68 h 70"/>
                <a:gd name="T20" fmla="*/ 6 w 40"/>
                <a:gd name="T21" fmla="*/ 60 h 70"/>
                <a:gd name="T22" fmla="*/ 20 w 40"/>
                <a:gd name="T23" fmla="*/ 61 h 70"/>
                <a:gd name="T24" fmla="*/ 31 w 40"/>
                <a:gd name="T25" fmla="*/ 40 h 70"/>
                <a:gd name="T26" fmla="*/ 31 w 40"/>
                <a:gd name="T27" fmla="*/ 9 h 70"/>
                <a:gd name="T28" fmla="*/ 21 w 40"/>
                <a:gd name="T29" fmla="*/ 7 h 70"/>
                <a:gd name="T30" fmla="*/ 10 w 40"/>
                <a:gd name="T31" fmla="*/ 25 h 70"/>
                <a:gd name="T32" fmla="*/ 20 w 40"/>
                <a:gd name="T33" fmla="*/ 42 h 70"/>
                <a:gd name="T34" fmla="*/ 31 w 40"/>
                <a:gd name="T35" fmla="*/ 4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 h="70">
                  <a:moveTo>
                    <a:pt x="20" y="61"/>
                  </a:moveTo>
                  <a:cubicBezTo>
                    <a:pt x="26" y="61"/>
                    <a:pt x="31" y="60"/>
                    <a:pt x="31" y="53"/>
                  </a:cubicBezTo>
                  <a:cubicBezTo>
                    <a:pt x="31" y="47"/>
                    <a:pt x="31" y="47"/>
                    <a:pt x="31" y="47"/>
                  </a:cubicBezTo>
                  <a:cubicBezTo>
                    <a:pt x="27" y="49"/>
                    <a:pt x="23" y="51"/>
                    <a:pt x="18" y="51"/>
                  </a:cubicBezTo>
                  <a:cubicBezTo>
                    <a:pt x="5" y="51"/>
                    <a:pt x="0" y="41"/>
                    <a:pt x="0" y="25"/>
                  </a:cubicBezTo>
                  <a:cubicBezTo>
                    <a:pt x="0" y="7"/>
                    <a:pt x="6" y="0"/>
                    <a:pt x="20" y="0"/>
                  </a:cubicBezTo>
                  <a:cubicBezTo>
                    <a:pt x="26" y="0"/>
                    <a:pt x="35" y="1"/>
                    <a:pt x="40" y="3"/>
                  </a:cubicBezTo>
                  <a:cubicBezTo>
                    <a:pt x="40" y="54"/>
                    <a:pt x="40" y="54"/>
                    <a:pt x="40" y="54"/>
                  </a:cubicBezTo>
                  <a:cubicBezTo>
                    <a:pt x="40" y="66"/>
                    <a:pt x="32" y="70"/>
                    <a:pt x="20" y="70"/>
                  </a:cubicBezTo>
                  <a:cubicBezTo>
                    <a:pt x="15" y="70"/>
                    <a:pt x="10" y="69"/>
                    <a:pt x="5" y="68"/>
                  </a:cubicBezTo>
                  <a:cubicBezTo>
                    <a:pt x="6" y="60"/>
                    <a:pt x="6" y="60"/>
                    <a:pt x="6" y="60"/>
                  </a:cubicBezTo>
                  <a:cubicBezTo>
                    <a:pt x="10" y="61"/>
                    <a:pt x="15" y="61"/>
                    <a:pt x="20" y="61"/>
                  </a:cubicBezTo>
                  <a:moveTo>
                    <a:pt x="31" y="40"/>
                  </a:moveTo>
                  <a:cubicBezTo>
                    <a:pt x="31" y="9"/>
                    <a:pt x="31" y="9"/>
                    <a:pt x="31" y="9"/>
                  </a:cubicBezTo>
                  <a:cubicBezTo>
                    <a:pt x="28" y="8"/>
                    <a:pt x="24" y="7"/>
                    <a:pt x="21" y="7"/>
                  </a:cubicBezTo>
                  <a:cubicBezTo>
                    <a:pt x="12" y="7"/>
                    <a:pt x="10" y="13"/>
                    <a:pt x="10" y="25"/>
                  </a:cubicBezTo>
                  <a:cubicBezTo>
                    <a:pt x="10" y="36"/>
                    <a:pt x="12" y="42"/>
                    <a:pt x="20" y="42"/>
                  </a:cubicBezTo>
                  <a:cubicBezTo>
                    <a:pt x="24" y="42"/>
                    <a:pt x="27" y="41"/>
                    <a:pt x="31" y="4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8" name="Freeform 15">
              <a:extLst>
                <a:ext uri="{FF2B5EF4-FFF2-40B4-BE49-F238E27FC236}">
                  <a16:creationId xmlns:a16="http://schemas.microsoft.com/office/drawing/2014/main" id="{5855BC47-8DE8-4582-8408-AE2779AF28E3}"/>
                </a:ext>
              </a:extLst>
            </p:cNvPr>
            <p:cNvSpPr>
              <a:spLocks noEditPoints="1"/>
            </p:cNvSpPr>
            <p:nvPr userDrawn="1"/>
          </p:nvSpPr>
          <p:spPr bwMode="auto">
            <a:xfrm>
              <a:off x="-446" y="-1383"/>
              <a:ext cx="22" cy="164"/>
            </a:xfrm>
            <a:custGeom>
              <a:avLst/>
              <a:gdLst>
                <a:gd name="T0" fmla="*/ 0 w 22"/>
                <a:gd name="T1" fmla="*/ 0 h 164"/>
                <a:gd name="T2" fmla="*/ 22 w 22"/>
                <a:gd name="T3" fmla="*/ 0 h 164"/>
                <a:gd name="T4" fmla="*/ 22 w 22"/>
                <a:gd name="T5" fmla="*/ 27 h 164"/>
                <a:gd name="T6" fmla="*/ 0 w 22"/>
                <a:gd name="T7" fmla="*/ 27 h 164"/>
                <a:gd name="T8" fmla="*/ 0 w 22"/>
                <a:gd name="T9" fmla="*/ 0 h 164"/>
                <a:gd name="T10" fmla="*/ 0 w 22"/>
                <a:gd name="T11" fmla="*/ 48 h 164"/>
                <a:gd name="T12" fmla="*/ 22 w 22"/>
                <a:gd name="T13" fmla="*/ 48 h 164"/>
                <a:gd name="T14" fmla="*/ 22 w 22"/>
                <a:gd name="T15" fmla="*/ 164 h 164"/>
                <a:gd name="T16" fmla="*/ 0 w 22"/>
                <a:gd name="T17" fmla="*/ 164 h 164"/>
                <a:gd name="T18" fmla="*/ 0 w 22"/>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64">
                  <a:moveTo>
                    <a:pt x="0" y="0"/>
                  </a:moveTo>
                  <a:lnTo>
                    <a:pt x="22" y="0"/>
                  </a:lnTo>
                  <a:lnTo>
                    <a:pt x="22" y="27"/>
                  </a:lnTo>
                  <a:lnTo>
                    <a:pt x="0" y="27"/>
                  </a:lnTo>
                  <a:lnTo>
                    <a:pt x="0" y="0"/>
                  </a:lnTo>
                  <a:close/>
                  <a:moveTo>
                    <a:pt x="0" y="48"/>
                  </a:moveTo>
                  <a:lnTo>
                    <a:pt x="22" y="48"/>
                  </a:lnTo>
                  <a:lnTo>
                    <a:pt x="22"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9" name="Freeform 16">
              <a:extLst>
                <a:ext uri="{FF2B5EF4-FFF2-40B4-BE49-F238E27FC236}">
                  <a16:creationId xmlns:a16="http://schemas.microsoft.com/office/drawing/2014/main" id="{AB10AA27-E556-4BD1-8DFF-F327FEDC1A62}"/>
                </a:ext>
              </a:extLst>
            </p:cNvPr>
            <p:cNvSpPr>
              <a:spLocks/>
            </p:cNvSpPr>
            <p:nvPr userDrawn="1"/>
          </p:nvSpPr>
          <p:spPr bwMode="auto">
            <a:xfrm>
              <a:off x="-388" y="-1337"/>
              <a:ext cx="97"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7" y="8"/>
                    <a:pt x="22" y="8"/>
                  </a:cubicBezTo>
                  <a:cubicBezTo>
                    <a:pt x="18"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0" name="Freeform 17">
              <a:extLst>
                <a:ext uri="{FF2B5EF4-FFF2-40B4-BE49-F238E27FC236}">
                  <a16:creationId xmlns:a16="http://schemas.microsoft.com/office/drawing/2014/main" id="{D1B4C25C-80A5-4C27-9320-967A9E66C531}"/>
                </a:ext>
              </a:extLst>
            </p:cNvPr>
            <p:cNvSpPr>
              <a:spLocks/>
            </p:cNvSpPr>
            <p:nvPr userDrawn="1"/>
          </p:nvSpPr>
          <p:spPr bwMode="auto">
            <a:xfrm>
              <a:off x="-197" y="-1383"/>
              <a:ext cx="97" cy="164"/>
            </a:xfrm>
            <a:custGeom>
              <a:avLst/>
              <a:gdLst>
                <a:gd name="T0" fmla="*/ 0 w 40"/>
                <a:gd name="T1" fmla="*/ 0 h 68"/>
                <a:gd name="T2" fmla="*/ 10 w 40"/>
                <a:gd name="T3" fmla="*/ 0 h 68"/>
                <a:gd name="T4" fmla="*/ 10 w 40"/>
                <a:gd name="T5" fmla="*/ 23 h 68"/>
                <a:gd name="T6" fmla="*/ 24 w 40"/>
                <a:gd name="T7" fmla="*/ 19 h 68"/>
                <a:gd name="T8" fmla="*/ 40 w 40"/>
                <a:gd name="T9" fmla="*/ 35 h 68"/>
                <a:gd name="T10" fmla="*/ 40 w 40"/>
                <a:gd name="T11" fmla="*/ 68 h 68"/>
                <a:gd name="T12" fmla="*/ 30 w 40"/>
                <a:gd name="T13" fmla="*/ 68 h 68"/>
                <a:gd name="T14" fmla="*/ 30 w 40"/>
                <a:gd name="T15" fmla="*/ 36 h 68"/>
                <a:gd name="T16" fmla="*/ 22 w 40"/>
                <a:gd name="T17" fmla="*/ 27 h 68"/>
                <a:gd name="T18" fmla="*/ 10 w 40"/>
                <a:gd name="T19" fmla="*/ 30 h 68"/>
                <a:gd name="T20" fmla="*/ 10 w 40"/>
                <a:gd name="T21" fmla="*/ 68 h 68"/>
                <a:gd name="T22" fmla="*/ 0 w 40"/>
                <a:gd name="T23" fmla="*/ 68 h 68"/>
                <a:gd name="T24" fmla="*/ 0 w 40"/>
                <a:gd name="T25"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68">
                  <a:moveTo>
                    <a:pt x="0" y="0"/>
                  </a:moveTo>
                  <a:cubicBezTo>
                    <a:pt x="10" y="0"/>
                    <a:pt x="10" y="0"/>
                    <a:pt x="10" y="0"/>
                  </a:cubicBezTo>
                  <a:cubicBezTo>
                    <a:pt x="10" y="23"/>
                    <a:pt x="10" y="23"/>
                    <a:pt x="10" y="23"/>
                  </a:cubicBezTo>
                  <a:cubicBezTo>
                    <a:pt x="13" y="21"/>
                    <a:pt x="18" y="19"/>
                    <a:pt x="24" y="19"/>
                  </a:cubicBezTo>
                  <a:cubicBezTo>
                    <a:pt x="34" y="19"/>
                    <a:pt x="40" y="24"/>
                    <a:pt x="40" y="35"/>
                  </a:cubicBezTo>
                  <a:cubicBezTo>
                    <a:pt x="40" y="68"/>
                    <a:pt x="40" y="68"/>
                    <a:pt x="40" y="68"/>
                  </a:cubicBezTo>
                  <a:cubicBezTo>
                    <a:pt x="30" y="68"/>
                    <a:pt x="30" y="68"/>
                    <a:pt x="30" y="68"/>
                  </a:cubicBezTo>
                  <a:cubicBezTo>
                    <a:pt x="30" y="36"/>
                    <a:pt x="30" y="36"/>
                    <a:pt x="30" y="36"/>
                  </a:cubicBezTo>
                  <a:cubicBezTo>
                    <a:pt x="30" y="30"/>
                    <a:pt x="28" y="27"/>
                    <a:pt x="22" y="27"/>
                  </a:cubicBezTo>
                  <a:cubicBezTo>
                    <a:pt x="18" y="27"/>
                    <a:pt x="13" y="29"/>
                    <a:pt x="10" y="30"/>
                  </a:cubicBezTo>
                  <a:cubicBezTo>
                    <a:pt x="10" y="68"/>
                    <a:pt x="10" y="68"/>
                    <a:pt x="10" y="68"/>
                  </a:cubicBezTo>
                  <a:cubicBezTo>
                    <a:pt x="0" y="68"/>
                    <a:pt x="0" y="68"/>
                    <a:pt x="0" y="68"/>
                  </a:cubicBezTo>
                  <a:lnTo>
                    <a:pt x="0" y="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1" name="Freeform 18">
              <a:extLst>
                <a:ext uri="{FF2B5EF4-FFF2-40B4-BE49-F238E27FC236}">
                  <a16:creationId xmlns:a16="http://schemas.microsoft.com/office/drawing/2014/main" id="{8896C2EC-C2A7-41BB-9D35-A8A87BF1FACF}"/>
                </a:ext>
              </a:extLst>
            </p:cNvPr>
            <p:cNvSpPr>
              <a:spLocks noEditPoints="1"/>
            </p:cNvSpPr>
            <p:nvPr userDrawn="1"/>
          </p:nvSpPr>
          <p:spPr bwMode="auto">
            <a:xfrm>
              <a:off x="-74" y="-1337"/>
              <a:ext cx="106" cy="123"/>
            </a:xfrm>
            <a:custGeom>
              <a:avLst/>
              <a:gdLst>
                <a:gd name="T0" fmla="*/ 22 w 44"/>
                <a:gd name="T1" fmla="*/ 0 h 51"/>
                <a:gd name="T2" fmla="*/ 44 w 44"/>
                <a:gd name="T3" fmla="*/ 25 h 51"/>
                <a:gd name="T4" fmla="*/ 22 w 44"/>
                <a:gd name="T5" fmla="*/ 51 h 51"/>
                <a:gd name="T6" fmla="*/ 0 w 44"/>
                <a:gd name="T7" fmla="*/ 25 h 51"/>
                <a:gd name="T8" fmla="*/ 22 w 44"/>
                <a:gd name="T9" fmla="*/ 0 h 51"/>
                <a:gd name="T10" fmla="*/ 35 w 44"/>
                <a:gd name="T11" fmla="*/ 25 h 51"/>
                <a:gd name="T12" fmla="*/ 22 w 44"/>
                <a:gd name="T13" fmla="*/ 8 h 51"/>
                <a:gd name="T14" fmla="*/ 10 w 44"/>
                <a:gd name="T15" fmla="*/ 25 h 51"/>
                <a:gd name="T16" fmla="*/ 22 w 44"/>
                <a:gd name="T17" fmla="*/ 42 h 51"/>
                <a:gd name="T18" fmla="*/ 35 w 44"/>
                <a:gd name="T19"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51">
                  <a:moveTo>
                    <a:pt x="22" y="0"/>
                  </a:moveTo>
                  <a:cubicBezTo>
                    <a:pt x="38" y="0"/>
                    <a:pt x="44" y="10"/>
                    <a:pt x="44" y="25"/>
                  </a:cubicBezTo>
                  <a:cubicBezTo>
                    <a:pt x="44" y="40"/>
                    <a:pt x="38" y="51"/>
                    <a:pt x="22" y="51"/>
                  </a:cubicBezTo>
                  <a:cubicBezTo>
                    <a:pt x="6" y="51"/>
                    <a:pt x="0" y="40"/>
                    <a:pt x="0" y="25"/>
                  </a:cubicBezTo>
                  <a:cubicBezTo>
                    <a:pt x="0" y="10"/>
                    <a:pt x="6" y="0"/>
                    <a:pt x="22" y="0"/>
                  </a:cubicBezTo>
                  <a:moveTo>
                    <a:pt x="35" y="25"/>
                  </a:moveTo>
                  <a:cubicBezTo>
                    <a:pt x="35" y="15"/>
                    <a:pt x="32" y="8"/>
                    <a:pt x="22" y="8"/>
                  </a:cubicBezTo>
                  <a:cubicBezTo>
                    <a:pt x="12" y="8"/>
                    <a:pt x="10" y="15"/>
                    <a:pt x="10" y="25"/>
                  </a:cubicBezTo>
                  <a:cubicBezTo>
                    <a:pt x="10" y="35"/>
                    <a:pt x="12" y="42"/>
                    <a:pt x="22" y="42"/>
                  </a:cubicBezTo>
                  <a:cubicBezTo>
                    <a:pt x="32" y="42"/>
                    <a:pt x="35" y="35"/>
                    <a:pt x="35" y="25"/>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2" name="Freeform 19">
              <a:extLst>
                <a:ext uri="{FF2B5EF4-FFF2-40B4-BE49-F238E27FC236}">
                  <a16:creationId xmlns:a16="http://schemas.microsoft.com/office/drawing/2014/main" id="{9CF3CE02-4085-478C-AC4C-03790325F15C}"/>
                </a:ext>
              </a:extLst>
            </p:cNvPr>
            <p:cNvSpPr>
              <a:spLocks/>
            </p:cNvSpPr>
            <p:nvPr userDrawn="1"/>
          </p:nvSpPr>
          <p:spPr bwMode="auto">
            <a:xfrm>
              <a:off x="61" y="-1337"/>
              <a:ext cx="160" cy="118"/>
            </a:xfrm>
            <a:custGeom>
              <a:avLst/>
              <a:gdLst>
                <a:gd name="T0" fmla="*/ 0 w 66"/>
                <a:gd name="T1" fmla="*/ 1 h 49"/>
                <a:gd name="T2" fmla="*/ 7 w 66"/>
                <a:gd name="T3" fmla="*/ 1 h 49"/>
                <a:gd name="T4" fmla="*/ 8 w 66"/>
                <a:gd name="T5" fmla="*/ 5 h 49"/>
                <a:gd name="T6" fmla="*/ 22 w 66"/>
                <a:gd name="T7" fmla="*/ 0 h 49"/>
                <a:gd name="T8" fmla="*/ 35 w 66"/>
                <a:gd name="T9" fmla="*/ 6 h 49"/>
                <a:gd name="T10" fmla="*/ 51 w 66"/>
                <a:gd name="T11" fmla="*/ 0 h 49"/>
                <a:gd name="T12" fmla="*/ 66 w 66"/>
                <a:gd name="T13" fmla="*/ 16 h 49"/>
                <a:gd name="T14" fmla="*/ 66 w 66"/>
                <a:gd name="T15" fmla="*/ 49 h 49"/>
                <a:gd name="T16" fmla="*/ 57 w 66"/>
                <a:gd name="T17" fmla="*/ 49 h 49"/>
                <a:gd name="T18" fmla="*/ 57 w 66"/>
                <a:gd name="T19" fmla="*/ 17 h 49"/>
                <a:gd name="T20" fmla="*/ 49 w 66"/>
                <a:gd name="T21" fmla="*/ 8 h 49"/>
                <a:gd name="T22" fmla="*/ 38 w 66"/>
                <a:gd name="T23" fmla="*/ 11 h 49"/>
                <a:gd name="T24" fmla="*/ 38 w 66"/>
                <a:gd name="T25" fmla="*/ 16 h 49"/>
                <a:gd name="T26" fmla="*/ 38 w 66"/>
                <a:gd name="T27" fmla="*/ 49 h 49"/>
                <a:gd name="T28" fmla="*/ 28 w 66"/>
                <a:gd name="T29" fmla="*/ 49 h 49"/>
                <a:gd name="T30" fmla="*/ 28 w 66"/>
                <a:gd name="T31" fmla="*/ 17 h 49"/>
                <a:gd name="T32" fmla="*/ 20 w 66"/>
                <a:gd name="T33" fmla="*/ 8 h 49"/>
                <a:gd name="T34" fmla="*/ 10 w 66"/>
                <a:gd name="T35" fmla="*/ 11 h 49"/>
                <a:gd name="T36" fmla="*/ 10 w 66"/>
                <a:gd name="T37" fmla="*/ 49 h 49"/>
                <a:gd name="T38" fmla="*/ 0 w 66"/>
                <a:gd name="T39" fmla="*/ 49 h 49"/>
                <a:gd name="T40" fmla="*/ 0 w 66"/>
                <a:gd name="T41"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6" h="49">
                  <a:moveTo>
                    <a:pt x="0" y="1"/>
                  </a:moveTo>
                  <a:cubicBezTo>
                    <a:pt x="7" y="1"/>
                    <a:pt x="7" y="1"/>
                    <a:pt x="7" y="1"/>
                  </a:cubicBezTo>
                  <a:cubicBezTo>
                    <a:pt x="8" y="5"/>
                    <a:pt x="8" y="5"/>
                    <a:pt x="8" y="5"/>
                  </a:cubicBezTo>
                  <a:cubicBezTo>
                    <a:pt x="11" y="2"/>
                    <a:pt x="16" y="0"/>
                    <a:pt x="22" y="0"/>
                  </a:cubicBezTo>
                  <a:cubicBezTo>
                    <a:pt x="28" y="0"/>
                    <a:pt x="33" y="2"/>
                    <a:pt x="35" y="6"/>
                  </a:cubicBezTo>
                  <a:cubicBezTo>
                    <a:pt x="40" y="2"/>
                    <a:pt x="45" y="0"/>
                    <a:pt x="51" y="0"/>
                  </a:cubicBezTo>
                  <a:cubicBezTo>
                    <a:pt x="60" y="0"/>
                    <a:pt x="66" y="5"/>
                    <a:pt x="66" y="16"/>
                  </a:cubicBezTo>
                  <a:cubicBezTo>
                    <a:pt x="66" y="49"/>
                    <a:pt x="66" y="49"/>
                    <a:pt x="66" y="49"/>
                  </a:cubicBezTo>
                  <a:cubicBezTo>
                    <a:pt x="57" y="49"/>
                    <a:pt x="57" y="49"/>
                    <a:pt x="57" y="49"/>
                  </a:cubicBezTo>
                  <a:cubicBezTo>
                    <a:pt x="57" y="17"/>
                    <a:pt x="57" y="17"/>
                    <a:pt x="57" y="17"/>
                  </a:cubicBezTo>
                  <a:cubicBezTo>
                    <a:pt x="57" y="11"/>
                    <a:pt x="54" y="8"/>
                    <a:pt x="49" y="8"/>
                  </a:cubicBezTo>
                  <a:cubicBezTo>
                    <a:pt x="45" y="8"/>
                    <a:pt x="41" y="9"/>
                    <a:pt x="38" y="11"/>
                  </a:cubicBezTo>
                  <a:cubicBezTo>
                    <a:pt x="38" y="13"/>
                    <a:pt x="38" y="15"/>
                    <a:pt x="38" y="16"/>
                  </a:cubicBezTo>
                  <a:cubicBezTo>
                    <a:pt x="38" y="49"/>
                    <a:pt x="38" y="49"/>
                    <a:pt x="38" y="49"/>
                  </a:cubicBezTo>
                  <a:cubicBezTo>
                    <a:pt x="28" y="49"/>
                    <a:pt x="28" y="49"/>
                    <a:pt x="28" y="49"/>
                  </a:cubicBezTo>
                  <a:cubicBezTo>
                    <a:pt x="28" y="17"/>
                    <a:pt x="28" y="17"/>
                    <a:pt x="28" y="17"/>
                  </a:cubicBezTo>
                  <a:cubicBezTo>
                    <a:pt x="28" y="11"/>
                    <a:pt x="26" y="8"/>
                    <a:pt x="20" y="8"/>
                  </a:cubicBezTo>
                  <a:cubicBezTo>
                    <a:pt x="17" y="8"/>
                    <a:pt x="13" y="9"/>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3" name="Freeform 20">
              <a:extLst>
                <a:ext uri="{FF2B5EF4-FFF2-40B4-BE49-F238E27FC236}">
                  <a16:creationId xmlns:a16="http://schemas.microsoft.com/office/drawing/2014/main" id="{8C5CC392-9BBC-49E8-8A4B-ED51BA253D54}"/>
                </a:ext>
              </a:extLst>
            </p:cNvPr>
            <p:cNvSpPr>
              <a:spLocks noEditPoints="1"/>
            </p:cNvSpPr>
            <p:nvPr userDrawn="1"/>
          </p:nvSpPr>
          <p:spPr bwMode="auto">
            <a:xfrm>
              <a:off x="247"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1 w 40"/>
                <a:gd name="T21" fmla="*/ 21 h 51"/>
                <a:gd name="T22" fmla="*/ 21 w 40"/>
                <a:gd name="T23" fmla="*/ 8 h 51"/>
                <a:gd name="T24" fmla="*/ 10 w 40"/>
                <a:gd name="T25" fmla="*/ 21 h 51"/>
                <a:gd name="T26" fmla="*/ 31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4" y="0"/>
                    <a:pt x="40" y="8"/>
                    <a:pt x="40" y="22"/>
                  </a:cubicBezTo>
                  <a:cubicBezTo>
                    <a:pt x="40" y="24"/>
                    <a:pt x="40" y="26"/>
                    <a:pt x="39" y="28"/>
                  </a:cubicBezTo>
                  <a:cubicBezTo>
                    <a:pt x="10" y="28"/>
                    <a:pt x="10" y="28"/>
                    <a:pt x="10" y="28"/>
                  </a:cubicBezTo>
                  <a:cubicBezTo>
                    <a:pt x="11" y="37"/>
                    <a:pt x="15" y="42"/>
                    <a:pt x="23" y="42"/>
                  </a:cubicBezTo>
                  <a:cubicBezTo>
                    <a:pt x="29" y="42"/>
                    <a:pt x="33" y="40"/>
                    <a:pt x="37" y="39"/>
                  </a:cubicBezTo>
                  <a:cubicBezTo>
                    <a:pt x="40" y="46"/>
                    <a:pt x="40" y="46"/>
                    <a:pt x="40" y="46"/>
                  </a:cubicBezTo>
                  <a:cubicBezTo>
                    <a:pt x="36" y="48"/>
                    <a:pt x="29" y="51"/>
                    <a:pt x="22" y="51"/>
                  </a:cubicBezTo>
                  <a:cubicBezTo>
                    <a:pt x="9" y="51"/>
                    <a:pt x="0" y="42"/>
                    <a:pt x="0" y="25"/>
                  </a:cubicBezTo>
                  <a:cubicBezTo>
                    <a:pt x="0" y="10"/>
                    <a:pt x="7" y="0"/>
                    <a:pt x="21" y="0"/>
                  </a:cubicBezTo>
                  <a:moveTo>
                    <a:pt x="31" y="21"/>
                  </a:moveTo>
                  <a:cubicBezTo>
                    <a:pt x="30" y="14"/>
                    <a:pt x="28" y="8"/>
                    <a:pt x="21" y="8"/>
                  </a:cubicBezTo>
                  <a:cubicBezTo>
                    <a:pt x="14" y="8"/>
                    <a:pt x="11" y="13"/>
                    <a:pt x="10" y="21"/>
                  </a:cubicBezTo>
                  <a:lnTo>
                    <a:pt x="31"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4" name="Freeform 21">
              <a:extLst>
                <a:ext uri="{FF2B5EF4-FFF2-40B4-BE49-F238E27FC236}">
                  <a16:creationId xmlns:a16="http://schemas.microsoft.com/office/drawing/2014/main" id="{70847458-E411-484B-B4FA-2449BA209901}"/>
                </a:ext>
              </a:extLst>
            </p:cNvPr>
            <p:cNvSpPr>
              <a:spLocks/>
            </p:cNvSpPr>
            <p:nvPr userDrawn="1"/>
          </p:nvSpPr>
          <p:spPr bwMode="auto">
            <a:xfrm>
              <a:off x="361" y="-1337"/>
              <a:ext cx="89" cy="123"/>
            </a:xfrm>
            <a:custGeom>
              <a:avLst/>
              <a:gdLst>
                <a:gd name="T0" fmla="*/ 2 w 37"/>
                <a:gd name="T1" fmla="*/ 40 h 51"/>
                <a:gd name="T2" fmla="*/ 17 w 37"/>
                <a:gd name="T3" fmla="*/ 42 h 51"/>
                <a:gd name="T4" fmla="*/ 27 w 37"/>
                <a:gd name="T5" fmla="*/ 36 h 51"/>
                <a:gd name="T6" fmla="*/ 16 w 37"/>
                <a:gd name="T7" fmla="*/ 28 h 51"/>
                <a:gd name="T8" fmla="*/ 1 w 37"/>
                <a:gd name="T9" fmla="*/ 14 h 51"/>
                <a:gd name="T10" fmla="*/ 20 w 37"/>
                <a:gd name="T11" fmla="*/ 0 h 51"/>
                <a:gd name="T12" fmla="*/ 34 w 37"/>
                <a:gd name="T13" fmla="*/ 1 h 51"/>
                <a:gd name="T14" fmla="*/ 33 w 37"/>
                <a:gd name="T15" fmla="*/ 9 h 51"/>
                <a:gd name="T16" fmla="*/ 21 w 37"/>
                <a:gd name="T17" fmla="*/ 8 h 51"/>
                <a:gd name="T18" fmla="*/ 11 w 37"/>
                <a:gd name="T19" fmla="*/ 13 h 51"/>
                <a:gd name="T20" fmla="*/ 24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7" y="42"/>
                  </a:cubicBezTo>
                  <a:cubicBezTo>
                    <a:pt x="23" y="42"/>
                    <a:pt x="27" y="41"/>
                    <a:pt x="27" y="36"/>
                  </a:cubicBezTo>
                  <a:cubicBezTo>
                    <a:pt x="27" y="32"/>
                    <a:pt x="24" y="31"/>
                    <a:pt x="16" y="28"/>
                  </a:cubicBezTo>
                  <a:cubicBezTo>
                    <a:pt x="8" y="26"/>
                    <a:pt x="1" y="23"/>
                    <a:pt x="1" y="14"/>
                  </a:cubicBezTo>
                  <a:cubicBezTo>
                    <a:pt x="1" y="5"/>
                    <a:pt x="9" y="0"/>
                    <a:pt x="20" y="0"/>
                  </a:cubicBezTo>
                  <a:cubicBezTo>
                    <a:pt x="24" y="0"/>
                    <a:pt x="30" y="0"/>
                    <a:pt x="34" y="1"/>
                  </a:cubicBezTo>
                  <a:cubicBezTo>
                    <a:pt x="33" y="9"/>
                    <a:pt x="33" y="9"/>
                    <a:pt x="33" y="9"/>
                  </a:cubicBezTo>
                  <a:cubicBezTo>
                    <a:pt x="30" y="9"/>
                    <a:pt x="24" y="8"/>
                    <a:pt x="21" y="8"/>
                  </a:cubicBezTo>
                  <a:cubicBezTo>
                    <a:pt x="14" y="8"/>
                    <a:pt x="11" y="10"/>
                    <a:pt x="11" y="13"/>
                  </a:cubicBezTo>
                  <a:cubicBezTo>
                    <a:pt x="11" y="18"/>
                    <a:pt x="17" y="19"/>
                    <a:pt x="24"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5" name="Freeform 22">
              <a:extLst>
                <a:ext uri="{FF2B5EF4-FFF2-40B4-BE49-F238E27FC236}">
                  <a16:creationId xmlns:a16="http://schemas.microsoft.com/office/drawing/2014/main" id="{351009B9-5AE1-4694-B2D4-4566A9C58D98}"/>
                </a:ext>
              </a:extLst>
            </p:cNvPr>
            <p:cNvSpPr>
              <a:spLocks/>
            </p:cNvSpPr>
            <p:nvPr userDrawn="1"/>
          </p:nvSpPr>
          <p:spPr bwMode="auto">
            <a:xfrm>
              <a:off x="525" y="-1337"/>
              <a:ext cx="89" cy="123"/>
            </a:xfrm>
            <a:custGeom>
              <a:avLst/>
              <a:gdLst>
                <a:gd name="T0" fmla="*/ 2 w 37"/>
                <a:gd name="T1" fmla="*/ 40 h 51"/>
                <a:gd name="T2" fmla="*/ 17 w 37"/>
                <a:gd name="T3" fmla="*/ 42 h 51"/>
                <a:gd name="T4" fmla="*/ 27 w 37"/>
                <a:gd name="T5" fmla="*/ 36 h 51"/>
                <a:gd name="T6" fmla="*/ 16 w 37"/>
                <a:gd name="T7" fmla="*/ 28 h 51"/>
                <a:gd name="T8" fmla="*/ 1 w 37"/>
                <a:gd name="T9" fmla="*/ 14 h 51"/>
                <a:gd name="T10" fmla="*/ 20 w 37"/>
                <a:gd name="T11" fmla="*/ 0 h 51"/>
                <a:gd name="T12" fmla="*/ 35 w 37"/>
                <a:gd name="T13" fmla="*/ 1 h 51"/>
                <a:gd name="T14" fmla="*/ 33 w 37"/>
                <a:gd name="T15" fmla="*/ 9 h 51"/>
                <a:gd name="T16" fmla="*/ 21 w 37"/>
                <a:gd name="T17" fmla="*/ 8 h 51"/>
                <a:gd name="T18" fmla="*/ 11 w 37"/>
                <a:gd name="T19" fmla="*/ 13 h 51"/>
                <a:gd name="T20" fmla="*/ 24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7" y="42"/>
                  </a:cubicBezTo>
                  <a:cubicBezTo>
                    <a:pt x="23" y="42"/>
                    <a:pt x="27" y="41"/>
                    <a:pt x="27" y="36"/>
                  </a:cubicBezTo>
                  <a:cubicBezTo>
                    <a:pt x="27" y="32"/>
                    <a:pt x="25" y="31"/>
                    <a:pt x="16" y="28"/>
                  </a:cubicBezTo>
                  <a:cubicBezTo>
                    <a:pt x="9" y="26"/>
                    <a:pt x="1" y="23"/>
                    <a:pt x="1" y="14"/>
                  </a:cubicBezTo>
                  <a:cubicBezTo>
                    <a:pt x="1" y="5"/>
                    <a:pt x="9" y="0"/>
                    <a:pt x="20" y="0"/>
                  </a:cubicBezTo>
                  <a:cubicBezTo>
                    <a:pt x="25" y="0"/>
                    <a:pt x="31" y="0"/>
                    <a:pt x="35" y="1"/>
                  </a:cubicBezTo>
                  <a:cubicBezTo>
                    <a:pt x="33" y="9"/>
                    <a:pt x="33" y="9"/>
                    <a:pt x="33" y="9"/>
                  </a:cubicBezTo>
                  <a:cubicBezTo>
                    <a:pt x="30" y="9"/>
                    <a:pt x="24" y="8"/>
                    <a:pt x="21" y="8"/>
                  </a:cubicBezTo>
                  <a:cubicBezTo>
                    <a:pt x="14" y="8"/>
                    <a:pt x="11" y="10"/>
                    <a:pt x="11" y="13"/>
                  </a:cubicBezTo>
                  <a:cubicBezTo>
                    <a:pt x="11" y="18"/>
                    <a:pt x="17" y="19"/>
                    <a:pt x="24"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6" name="Freeform 23">
              <a:extLst>
                <a:ext uri="{FF2B5EF4-FFF2-40B4-BE49-F238E27FC236}">
                  <a16:creationId xmlns:a16="http://schemas.microsoft.com/office/drawing/2014/main" id="{41554C1E-0A79-4A72-84EA-2EB56DA0DA45}"/>
                </a:ext>
              </a:extLst>
            </p:cNvPr>
            <p:cNvSpPr>
              <a:spLocks noEditPoints="1"/>
            </p:cNvSpPr>
            <p:nvPr userDrawn="1"/>
          </p:nvSpPr>
          <p:spPr bwMode="auto">
            <a:xfrm>
              <a:off x="641" y="-1383"/>
              <a:ext cx="21" cy="164"/>
            </a:xfrm>
            <a:custGeom>
              <a:avLst/>
              <a:gdLst>
                <a:gd name="T0" fmla="*/ 0 w 21"/>
                <a:gd name="T1" fmla="*/ 0 h 164"/>
                <a:gd name="T2" fmla="*/ 21 w 21"/>
                <a:gd name="T3" fmla="*/ 0 h 164"/>
                <a:gd name="T4" fmla="*/ 21 w 21"/>
                <a:gd name="T5" fmla="*/ 27 h 164"/>
                <a:gd name="T6" fmla="*/ 0 w 21"/>
                <a:gd name="T7" fmla="*/ 27 h 164"/>
                <a:gd name="T8" fmla="*/ 0 w 21"/>
                <a:gd name="T9" fmla="*/ 0 h 164"/>
                <a:gd name="T10" fmla="*/ 0 w 21"/>
                <a:gd name="T11" fmla="*/ 48 h 164"/>
                <a:gd name="T12" fmla="*/ 21 w 21"/>
                <a:gd name="T13" fmla="*/ 48 h 164"/>
                <a:gd name="T14" fmla="*/ 21 w 21"/>
                <a:gd name="T15" fmla="*/ 164 h 164"/>
                <a:gd name="T16" fmla="*/ 0 w 21"/>
                <a:gd name="T17" fmla="*/ 164 h 164"/>
                <a:gd name="T18" fmla="*/ 0 w 21"/>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164">
                  <a:moveTo>
                    <a:pt x="0" y="0"/>
                  </a:moveTo>
                  <a:lnTo>
                    <a:pt x="21" y="0"/>
                  </a:lnTo>
                  <a:lnTo>
                    <a:pt x="21" y="27"/>
                  </a:lnTo>
                  <a:lnTo>
                    <a:pt x="0" y="27"/>
                  </a:lnTo>
                  <a:lnTo>
                    <a:pt x="0" y="0"/>
                  </a:lnTo>
                  <a:close/>
                  <a:moveTo>
                    <a:pt x="0" y="48"/>
                  </a:moveTo>
                  <a:lnTo>
                    <a:pt x="21" y="48"/>
                  </a:lnTo>
                  <a:lnTo>
                    <a:pt x="21"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7" name="Freeform 24">
              <a:extLst>
                <a:ext uri="{FF2B5EF4-FFF2-40B4-BE49-F238E27FC236}">
                  <a16:creationId xmlns:a16="http://schemas.microsoft.com/office/drawing/2014/main" id="{B0578913-1185-418E-9085-DD78083AD357}"/>
                </a:ext>
              </a:extLst>
            </p:cNvPr>
            <p:cNvSpPr>
              <a:spLocks/>
            </p:cNvSpPr>
            <p:nvPr userDrawn="1"/>
          </p:nvSpPr>
          <p:spPr bwMode="auto">
            <a:xfrm>
              <a:off x="699" y="-1337"/>
              <a:ext cx="96"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7" y="8"/>
                    <a:pt x="22" y="8"/>
                  </a:cubicBezTo>
                  <a:cubicBezTo>
                    <a:pt x="17"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8" name="Freeform 25">
              <a:extLst>
                <a:ext uri="{FF2B5EF4-FFF2-40B4-BE49-F238E27FC236}">
                  <a16:creationId xmlns:a16="http://schemas.microsoft.com/office/drawing/2014/main" id="{7A132186-8255-4962-8135-56B37E11E9B7}"/>
                </a:ext>
              </a:extLst>
            </p:cNvPr>
            <p:cNvSpPr>
              <a:spLocks/>
            </p:cNvSpPr>
            <p:nvPr userDrawn="1"/>
          </p:nvSpPr>
          <p:spPr bwMode="auto">
            <a:xfrm>
              <a:off x="822" y="-1337"/>
              <a:ext cx="92" cy="123"/>
            </a:xfrm>
            <a:custGeom>
              <a:avLst/>
              <a:gdLst>
                <a:gd name="T0" fmla="*/ 23 w 38"/>
                <a:gd name="T1" fmla="*/ 0 h 51"/>
                <a:gd name="T2" fmla="*/ 36 w 38"/>
                <a:gd name="T3" fmla="*/ 1 h 51"/>
                <a:gd name="T4" fmla="*/ 35 w 38"/>
                <a:gd name="T5" fmla="*/ 9 h 51"/>
                <a:gd name="T6" fmla="*/ 24 w 38"/>
                <a:gd name="T7" fmla="*/ 8 h 51"/>
                <a:gd name="T8" fmla="*/ 10 w 38"/>
                <a:gd name="T9" fmla="*/ 25 h 51"/>
                <a:gd name="T10" fmla="*/ 22 w 38"/>
                <a:gd name="T11" fmla="*/ 42 h 51"/>
                <a:gd name="T12" fmla="*/ 36 w 38"/>
                <a:gd name="T13" fmla="*/ 39 h 51"/>
                <a:gd name="T14" fmla="*/ 38 w 38"/>
                <a:gd name="T15" fmla="*/ 47 h 51"/>
                <a:gd name="T16" fmla="*/ 21 w 38"/>
                <a:gd name="T17" fmla="*/ 51 h 51"/>
                <a:gd name="T18" fmla="*/ 0 w 38"/>
                <a:gd name="T19" fmla="*/ 25 h 51"/>
                <a:gd name="T20" fmla="*/ 23 w 38"/>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51">
                  <a:moveTo>
                    <a:pt x="23" y="0"/>
                  </a:moveTo>
                  <a:cubicBezTo>
                    <a:pt x="27" y="0"/>
                    <a:pt x="32" y="0"/>
                    <a:pt x="36" y="1"/>
                  </a:cubicBezTo>
                  <a:cubicBezTo>
                    <a:pt x="35" y="9"/>
                    <a:pt x="35" y="9"/>
                    <a:pt x="35" y="9"/>
                  </a:cubicBezTo>
                  <a:cubicBezTo>
                    <a:pt x="32" y="8"/>
                    <a:pt x="27" y="8"/>
                    <a:pt x="24" y="8"/>
                  </a:cubicBezTo>
                  <a:cubicBezTo>
                    <a:pt x="13" y="8"/>
                    <a:pt x="10" y="13"/>
                    <a:pt x="10" y="25"/>
                  </a:cubicBezTo>
                  <a:cubicBezTo>
                    <a:pt x="10" y="34"/>
                    <a:pt x="12" y="42"/>
                    <a:pt x="22" y="42"/>
                  </a:cubicBezTo>
                  <a:cubicBezTo>
                    <a:pt x="27" y="42"/>
                    <a:pt x="32" y="41"/>
                    <a:pt x="36" y="39"/>
                  </a:cubicBezTo>
                  <a:cubicBezTo>
                    <a:pt x="38" y="47"/>
                    <a:pt x="38" y="47"/>
                    <a:pt x="38" y="47"/>
                  </a:cubicBezTo>
                  <a:cubicBezTo>
                    <a:pt x="34" y="49"/>
                    <a:pt x="27" y="51"/>
                    <a:pt x="21" y="51"/>
                  </a:cubicBezTo>
                  <a:cubicBezTo>
                    <a:pt x="7" y="51"/>
                    <a:pt x="0" y="41"/>
                    <a:pt x="0" y="25"/>
                  </a:cubicBezTo>
                  <a:cubicBezTo>
                    <a:pt x="0" y="9"/>
                    <a:pt x="6" y="0"/>
                    <a:pt x="23" y="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9" name="Freeform 26">
              <a:extLst>
                <a:ext uri="{FF2B5EF4-FFF2-40B4-BE49-F238E27FC236}">
                  <a16:creationId xmlns:a16="http://schemas.microsoft.com/office/drawing/2014/main" id="{BEEF5774-5B89-4617-A21A-93722DC56452}"/>
                </a:ext>
              </a:extLst>
            </p:cNvPr>
            <p:cNvSpPr>
              <a:spLocks noEditPoints="1"/>
            </p:cNvSpPr>
            <p:nvPr userDrawn="1"/>
          </p:nvSpPr>
          <p:spPr bwMode="auto">
            <a:xfrm>
              <a:off x="928"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1 w 40"/>
                <a:gd name="T21" fmla="*/ 21 h 51"/>
                <a:gd name="T22" fmla="*/ 21 w 40"/>
                <a:gd name="T23" fmla="*/ 8 h 51"/>
                <a:gd name="T24" fmla="*/ 10 w 40"/>
                <a:gd name="T25" fmla="*/ 21 h 51"/>
                <a:gd name="T26" fmla="*/ 31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4" y="0"/>
                    <a:pt x="40" y="8"/>
                    <a:pt x="40" y="22"/>
                  </a:cubicBezTo>
                  <a:cubicBezTo>
                    <a:pt x="40" y="24"/>
                    <a:pt x="40" y="26"/>
                    <a:pt x="39" y="28"/>
                  </a:cubicBezTo>
                  <a:cubicBezTo>
                    <a:pt x="10" y="28"/>
                    <a:pt x="10" y="28"/>
                    <a:pt x="10" y="28"/>
                  </a:cubicBezTo>
                  <a:cubicBezTo>
                    <a:pt x="11" y="37"/>
                    <a:pt x="15" y="42"/>
                    <a:pt x="23" y="42"/>
                  </a:cubicBezTo>
                  <a:cubicBezTo>
                    <a:pt x="29" y="42"/>
                    <a:pt x="33" y="40"/>
                    <a:pt x="37" y="39"/>
                  </a:cubicBezTo>
                  <a:cubicBezTo>
                    <a:pt x="40" y="46"/>
                    <a:pt x="40" y="46"/>
                    <a:pt x="40" y="46"/>
                  </a:cubicBezTo>
                  <a:cubicBezTo>
                    <a:pt x="36" y="48"/>
                    <a:pt x="29" y="51"/>
                    <a:pt x="22" y="51"/>
                  </a:cubicBezTo>
                  <a:cubicBezTo>
                    <a:pt x="9" y="51"/>
                    <a:pt x="0" y="42"/>
                    <a:pt x="0" y="25"/>
                  </a:cubicBezTo>
                  <a:cubicBezTo>
                    <a:pt x="0" y="10"/>
                    <a:pt x="7" y="0"/>
                    <a:pt x="21" y="0"/>
                  </a:cubicBezTo>
                  <a:moveTo>
                    <a:pt x="31" y="21"/>
                  </a:moveTo>
                  <a:cubicBezTo>
                    <a:pt x="30" y="14"/>
                    <a:pt x="28" y="8"/>
                    <a:pt x="21" y="8"/>
                  </a:cubicBezTo>
                  <a:cubicBezTo>
                    <a:pt x="14" y="8"/>
                    <a:pt x="11" y="13"/>
                    <a:pt x="10" y="21"/>
                  </a:cubicBezTo>
                  <a:lnTo>
                    <a:pt x="31"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0" name="Freeform 27">
              <a:extLst>
                <a:ext uri="{FF2B5EF4-FFF2-40B4-BE49-F238E27FC236}">
                  <a16:creationId xmlns:a16="http://schemas.microsoft.com/office/drawing/2014/main" id="{41B13E74-0C71-4236-8E3A-AF6184610435}"/>
                </a:ext>
              </a:extLst>
            </p:cNvPr>
            <p:cNvSpPr>
              <a:spLocks/>
            </p:cNvSpPr>
            <p:nvPr userDrawn="1"/>
          </p:nvSpPr>
          <p:spPr bwMode="auto">
            <a:xfrm>
              <a:off x="1099" y="-1383"/>
              <a:ext cx="68" cy="164"/>
            </a:xfrm>
            <a:custGeom>
              <a:avLst/>
              <a:gdLst>
                <a:gd name="T0" fmla="*/ 44 w 68"/>
                <a:gd name="T1" fmla="*/ 27 h 164"/>
                <a:gd name="T2" fmla="*/ 8 w 68"/>
                <a:gd name="T3" fmla="*/ 39 h 164"/>
                <a:gd name="T4" fmla="*/ 0 w 68"/>
                <a:gd name="T5" fmla="*/ 22 h 164"/>
                <a:gd name="T6" fmla="*/ 44 w 68"/>
                <a:gd name="T7" fmla="*/ 0 h 164"/>
                <a:gd name="T8" fmla="*/ 68 w 68"/>
                <a:gd name="T9" fmla="*/ 0 h 164"/>
                <a:gd name="T10" fmla="*/ 68 w 68"/>
                <a:gd name="T11" fmla="*/ 164 h 164"/>
                <a:gd name="T12" fmla="*/ 44 w 68"/>
                <a:gd name="T13" fmla="*/ 164 h 164"/>
                <a:gd name="T14" fmla="*/ 44 w 68"/>
                <a:gd name="T15" fmla="*/ 27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164">
                  <a:moveTo>
                    <a:pt x="44" y="27"/>
                  </a:moveTo>
                  <a:lnTo>
                    <a:pt x="8" y="39"/>
                  </a:lnTo>
                  <a:lnTo>
                    <a:pt x="0" y="22"/>
                  </a:lnTo>
                  <a:lnTo>
                    <a:pt x="44" y="0"/>
                  </a:lnTo>
                  <a:lnTo>
                    <a:pt x="68" y="0"/>
                  </a:lnTo>
                  <a:lnTo>
                    <a:pt x="68" y="164"/>
                  </a:lnTo>
                  <a:lnTo>
                    <a:pt x="44" y="164"/>
                  </a:lnTo>
                  <a:lnTo>
                    <a:pt x="44" y="27"/>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1" name="Freeform 28">
              <a:extLst>
                <a:ext uri="{FF2B5EF4-FFF2-40B4-BE49-F238E27FC236}">
                  <a16:creationId xmlns:a16="http://schemas.microsoft.com/office/drawing/2014/main" id="{3917CFFC-282F-465E-AEBA-7CECF5C79EA5}"/>
                </a:ext>
              </a:extLst>
            </p:cNvPr>
            <p:cNvSpPr>
              <a:spLocks noEditPoints="1"/>
            </p:cNvSpPr>
            <p:nvPr userDrawn="1"/>
          </p:nvSpPr>
          <p:spPr bwMode="auto">
            <a:xfrm>
              <a:off x="1203" y="-1385"/>
              <a:ext cx="116" cy="171"/>
            </a:xfrm>
            <a:custGeom>
              <a:avLst/>
              <a:gdLst>
                <a:gd name="T0" fmla="*/ 6 w 48"/>
                <a:gd name="T1" fmla="*/ 60 h 71"/>
                <a:gd name="T2" fmla="*/ 20 w 48"/>
                <a:gd name="T3" fmla="*/ 62 h 71"/>
                <a:gd name="T4" fmla="*/ 37 w 48"/>
                <a:gd name="T5" fmla="*/ 40 h 71"/>
                <a:gd name="T6" fmla="*/ 21 w 48"/>
                <a:gd name="T7" fmla="*/ 43 h 71"/>
                <a:gd name="T8" fmla="*/ 0 w 48"/>
                <a:gd name="T9" fmla="*/ 23 h 71"/>
                <a:gd name="T10" fmla="*/ 24 w 48"/>
                <a:gd name="T11" fmla="*/ 0 h 71"/>
                <a:gd name="T12" fmla="*/ 48 w 48"/>
                <a:gd name="T13" fmla="*/ 34 h 71"/>
                <a:gd name="T14" fmla="*/ 21 w 48"/>
                <a:gd name="T15" fmla="*/ 71 h 71"/>
                <a:gd name="T16" fmla="*/ 5 w 48"/>
                <a:gd name="T17" fmla="*/ 68 h 71"/>
                <a:gd name="T18" fmla="*/ 6 w 48"/>
                <a:gd name="T19" fmla="*/ 60 h 71"/>
                <a:gd name="T20" fmla="*/ 37 w 48"/>
                <a:gd name="T21" fmla="*/ 32 h 71"/>
                <a:gd name="T22" fmla="*/ 23 w 48"/>
                <a:gd name="T23" fmla="*/ 9 h 71"/>
                <a:gd name="T24" fmla="*/ 11 w 48"/>
                <a:gd name="T25" fmla="*/ 22 h 71"/>
                <a:gd name="T26" fmla="*/ 24 w 48"/>
                <a:gd name="T27" fmla="*/ 35 h 71"/>
                <a:gd name="T28" fmla="*/ 37 w 48"/>
                <a:gd name="T29"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71">
                  <a:moveTo>
                    <a:pt x="6" y="60"/>
                  </a:moveTo>
                  <a:cubicBezTo>
                    <a:pt x="10" y="61"/>
                    <a:pt x="15" y="62"/>
                    <a:pt x="20" y="62"/>
                  </a:cubicBezTo>
                  <a:cubicBezTo>
                    <a:pt x="33" y="62"/>
                    <a:pt x="37" y="54"/>
                    <a:pt x="37" y="40"/>
                  </a:cubicBezTo>
                  <a:cubicBezTo>
                    <a:pt x="32" y="42"/>
                    <a:pt x="26" y="43"/>
                    <a:pt x="21" y="43"/>
                  </a:cubicBezTo>
                  <a:cubicBezTo>
                    <a:pt x="8" y="43"/>
                    <a:pt x="0" y="36"/>
                    <a:pt x="0" y="23"/>
                  </a:cubicBezTo>
                  <a:cubicBezTo>
                    <a:pt x="0" y="9"/>
                    <a:pt x="8" y="0"/>
                    <a:pt x="24" y="0"/>
                  </a:cubicBezTo>
                  <a:cubicBezTo>
                    <a:pt x="42" y="0"/>
                    <a:pt x="48" y="12"/>
                    <a:pt x="48" y="34"/>
                  </a:cubicBezTo>
                  <a:cubicBezTo>
                    <a:pt x="48" y="55"/>
                    <a:pt x="43" y="71"/>
                    <a:pt x="21" y="71"/>
                  </a:cubicBezTo>
                  <a:cubicBezTo>
                    <a:pt x="16" y="71"/>
                    <a:pt x="9" y="70"/>
                    <a:pt x="5" y="68"/>
                  </a:cubicBezTo>
                  <a:lnTo>
                    <a:pt x="6" y="60"/>
                  </a:lnTo>
                  <a:close/>
                  <a:moveTo>
                    <a:pt x="37" y="32"/>
                  </a:moveTo>
                  <a:cubicBezTo>
                    <a:pt x="37" y="18"/>
                    <a:pt x="34" y="9"/>
                    <a:pt x="23" y="9"/>
                  </a:cubicBezTo>
                  <a:cubicBezTo>
                    <a:pt x="15" y="9"/>
                    <a:pt x="11" y="14"/>
                    <a:pt x="11" y="22"/>
                  </a:cubicBezTo>
                  <a:cubicBezTo>
                    <a:pt x="11" y="30"/>
                    <a:pt x="14" y="35"/>
                    <a:pt x="24" y="35"/>
                  </a:cubicBezTo>
                  <a:cubicBezTo>
                    <a:pt x="28" y="35"/>
                    <a:pt x="32" y="34"/>
                    <a:pt x="37" y="32"/>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2" name="Freeform 29">
              <a:extLst>
                <a:ext uri="{FF2B5EF4-FFF2-40B4-BE49-F238E27FC236}">
                  <a16:creationId xmlns:a16="http://schemas.microsoft.com/office/drawing/2014/main" id="{65B04632-CA6F-4348-93D7-FCE377281775}"/>
                </a:ext>
              </a:extLst>
            </p:cNvPr>
            <p:cNvSpPr>
              <a:spLocks/>
            </p:cNvSpPr>
            <p:nvPr userDrawn="1"/>
          </p:nvSpPr>
          <p:spPr bwMode="auto">
            <a:xfrm>
              <a:off x="1338" y="-1383"/>
              <a:ext cx="66" cy="164"/>
            </a:xfrm>
            <a:custGeom>
              <a:avLst/>
              <a:gdLst>
                <a:gd name="T0" fmla="*/ 41 w 66"/>
                <a:gd name="T1" fmla="*/ 27 h 164"/>
                <a:gd name="T2" fmla="*/ 8 w 66"/>
                <a:gd name="T3" fmla="*/ 39 h 164"/>
                <a:gd name="T4" fmla="*/ 0 w 66"/>
                <a:gd name="T5" fmla="*/ 22 h 164"/>
                <a:gd name="T6" fmla="*/ 44 w 66"/>
                <a:gd name="T7" fmla="*/ 0 h 164"/>
                <a:gd name="T8" fmla="*/ 66 w 66"/>
                <a:gd name="T9" fmla="*/ 0 h 164"/>
                <a:gd name="T10" fmla="*/ 66 w 66"/>
                <a:gd name="T11" fmla="*/ 164 h 164"/>
                <a:gd name="T12" fmla="*/ 41 w 66"/>
                <a:gd name="T13" fmla="*/ 164 h 164"/>
                <a:gd name="T14" fmla="*/ 41 w 66"/>
                <a:gd name="T15" fmla="*/ 27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164">
                  <a:moveTo>
                    <a:pt x="41" y="27"/>
                  </a:moveTo>
                  <a:lnTo>
                    <a:pt x="8" y="39"/>
                  </a:lnTo>
                  <a:lnTo>
                    <a:pt x="0" y="22"/>
                  </a:lnTo>
                  <a:lnTo>
                    <a:pt x="44" y="0"/>
                  </a:lnTo>
                  <a:lnTo>
                    <a:pt x="66" y="0"/>
                  </a:lnTo>
                  <a:lnTo>
                    <a:pt x="66" y="164"/>
                  </a:lnTo>
                  <a:lnTo>
                    <a:pt x="41" y="164"/>
                  </a:lnTo>
                  <a:lnTo>
                    <a:pt x="41" y="27"/>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3" name="Freeform 30">
              <a:extLst>
                <a:ext uri="{FF2B5EF4-FFF2-40B4-BE49-F238E27FC236}">
                  <a16:creationId xmlns:a16="http://schemas.microsoft.com/office/drawing/2014/main" id="{0DA9B0AD-F2F5-4E1E-AF97-0ACBDD0B9855}"/>
                </a:ext>
              </a:extLst>
            </p:cNvPr>
            <p:cNvSpPr>
              <a:spLocks/>
            </p:cNvSpPr>
            <p:nvPr userDrawn="1"/>
          </p:nvSpPr>
          <p:spPr bwMode="auto">
            <a:xfrm>
              <a:off x="1442" y="-1385"/>
              <a:ext cx="106" cy="166"/>
            </a:xfrm>
            <a:custGeom>
              <a:avLst/>
              <a:gdLst>
                <a:gd name="T0" fmla="*/ 1 w 44"/>
                <a:gd name="T1" fmla="*/ 62 h 69"/>
                <a:gd name="T2" fmla="*/ 33 w 44"/>
                <a:gd name="T3" fmla="*/ 21 h 69"/>
                <a:gd name="T4" fmla="*/ 20 w 44"/>
                <a:gd name="T5" fmla="*/ 9 h 69"/>
                <a:gd name="T6" fmla="*/ 3 w 44"/>
                <a:gd name="T7" fmla="*/ 13 h 69"/>
                <a:gd name="T8" fmla="*/ 0 w 44"/>
                <a:gd name="T9" fmla="*/ 5 h 69"/>
                <a:gd name="T10" fmla="*/ 20 w 44"/>
                <a:gd name="T11" fmla="*/ 0 h 69"/>
                <a:gd name="T12" fmla="*/ 43 w 44"/>
                <a:gd name="T13" fmla="*/ 20 h 69"/>
                <a:gd name="T14" fmla="*/ 14 w 44"/>
                <a:gd name="T15" fmla="*/ 60 h 69"/>
                <a:gd name="T16" fmla="*/ 44 w 44"/>
                <a:gd name="T17" fmla="*/ 60 h 69"/>
                <a:gd name="T18" fmla="*/ 44 w 44"/>
                <a:gd name="T19" fmla="*/ 69 h 69"/>
                <a:gd name="T20" fmla="*/ 1 w 44"/>
                <a:gd name="T21" fmla="*/ 69 h 69"/>
                <a:gd name="T22" fmla="*/ 1 w 44"/>
                <a:gd name="T23" fmla="*/ 6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 h="69">
                  <a:moveTo>
                    <a:pt x="1" y="62"/>
                  </a:moveTo>
                  <a:cubicBezTo>
                    <a:pt x="20" y="45"/>
                    <a:pt x="33" y="32"/>
                    <a:pt x="33" y="21"/>
                  </a:cubicBezTo>
                  <a:cubicBezTo>
                    <a:pt x="33" y="13"/>
                    <a:pt x="28" y="9"/>
                    <a:pt x="20" y="9"/>
                  </a:cubicBezTo>
                  <a:cubicBezTo>
                    <a:pt x="14" y="9"/>
                    <a:pt x="7" y="11"/>
                    <a:pt x="3" y="13"/>
                  </a:cubicBezTo>
                  <a:cubicBezTo>
                    <a:pt x="0" y="5"/>
                    <a:pt x="0" y="5"/>
                    <a:pt x="0" y="5"/>
                  </a:cubicBezTo>
                  <a:cubicBezTo>
                    <a:pt x="5" y="2"/>
                    <a:pt x="13" y="0"/>
                    <a:pt x="20" y="0"/>
                  </a:cubicBezTo>
                  <a:cubicBezTo>
                    <a:pt x="33" y="0"/>
                    <a:pt x="43" y="7"/>
                    <a:pt x="43" y="20"/>
                  </a:cubicBezTo>
                  <a:cubicBezTo>
                    <a:pt x="43" y="35"/>
                    <a:pt x="30" y="47"/>
                    <a:pt x="14" y="60"/>
                  </a:cubicBezTo>
                  <a:cubicBezTo>
                    <a:pt x="44" y="60"/>
                    <a:pt x="44" y="60"/>
                    <a:pt x="44" y="60"/>
                  </a:cubicBezTo>
                  <a:cubicBezTo>
                    <a:pt x="44" y="69"/>
                    <a:pt x="44" y="69"/>
                    <a:pt x="44" y="69"/>
                  </a:cubicBezTo>
                  <a:cubicBezTo>
                    <a:pt x="1" y="69"/>
                    <a:pt x="1" y="69"/>
                    <a:pt x="1" y="69"/>
                  </a:cubicBezTo>
                  <a:lnTo>
                    <a:pt x="1" y="62"/>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4" name="Freeform 31">
              <a:extLst>
                <a:ext uri="{FF2B5EF4-FFF2-40B4-BE49-F238E27FC236}">
                  <a16:creationId xmlns:a16="http://schemas.microsoft.com/office/drawing/2014/main" id="{8E97C255-9362-43F4-BBA0-6CD15BB968AE}"/>
                </a:ext>
              </a:extLst>
            </p:cNvPr>
            <p:cNvSpPr>
              <a:spLocks/>
            </p:cNvSpPr>
            <p:nvPr userDrawn="1"/>
          </p:nvSpPr>
          <p:spPr bwMode="auto">
            <a:xfrm>
              <a:off x="-1708" y="-1380"/>
              <a:ext cx="123" cy="161"/>
            </a:xfrm>
            <a:custGeom>
              <a:avLst/>
              <a:gdLst>
                <a:gd name="T0" fmla="*/ 0 w 123"/>
                <a:gd name="T1" fmla="*/ 72 h 161"/>
                <a:gd name="T2" fmla="*/ 123 w 123"/>
                <a:gd name="T3" fmla="*/ 0 h 161"/>
                <a:gd name="T4" fmla="*/ 123 w 123"/>
                <a:gd name="T5" fmla="*/ 161 h 161"/>
                <a:gd name="T6" fmla="*/ 0 w 123"/>
                <a:gd name="T7" fmla="*/ 161 h 161"/>
                <a:gd name="T8" fmla="*/ 0 w 123"/>
                <a:gd name="T9" fmla="*/ 72 h 161"/>
              </a:gdLst>
              <a:ahLst/>
              <a:cxnLst>
                <a:cxn ang="0">
                  <a:pos x="T0" y="T1"/>
                </a:cxn>
                <a:cxn ang="0">
                  <a:pos x="T2" y="T3"/>
                </a:cxn>
                <a:cxn ang="0">
                  <a:pos x="T4" y="T5"/>
                </a:cxn>
                <a:cxn ang="0">
                  <a:pos x="T6" y="T7"/>
                </a:cxn>
                <a:cxn ang="0">
                  <a:pos x="T8" y="T9"/>
                </a:cxn>
              </a:cxnLst>
              <a:rect l="0" t="0" r="r" b="b"/>
              <a:pathLst>
                <a:path w="123" h="161">
                  <a:moveTo>
                    <a:pt x="0" y="72"/>
                  </a:moveTo>
                  <a:lnTo>
                    <a:pt x="123" y="0"/>
                  </a:lnTo>
                  <a:lnTo>
                    <a:pt x="123" y="161"/>
                  </a:lnTo>
                  <a:lnTo>
                    <a:pt x="0" y="161"/>
                  </a:lnTo>
                  <a:lnTo>
                    <a:pt x="0" y="72"/>
                  </a:lnTo>
                  <a:close/>
                </a:path>
              </a:pathLst>
            </a:custGeom>
            <a:solidFill>
              <a:srgbClr val="2735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cxnSp>
        <p:nvCxnSpPr>
          <p:cNvPr id="94" name="Straight Connector 93">
            <a:extLst>
              <a:ext uri="{FF2B5EF4-FFF2-40B4-BE49-F238E27FC236}">
                <a16:creationId xmlns:a16="http://schemas.microsoft.com/office/drawing/2014/main" id="{78F59616-C32C-4CAF-9EB2-CE4D58AB5FC5}"/>
              </a:ext>
            </a:extLst>
          </p:cNvPr>
          <p:cNvCxnSpPr>
            <a:cxnSpLocks/>
          </p:cNvCxnSpPr>
          <p:nvPr userDrawn="1"/>
        </p:nvCxnSpPr>
        <p:spPr>
          <a:xfrm>
            <a:off x="358775" y="6416404"/>
            <a:ext cx="842645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44" name="Picture Placeholder 43">
            <a:extLst>
              <a:ext uri="{FF2B5EF4-FFF2-40B4-BE49-F238E27FC236}">
                <a16:creationId xmlns:a16="http://schemas.microsoft.com/office/drawing/2014/main" id="{8FC2DAFE-01E6-4E96-8A74-D839C9FE36DE}"/>
              </a:ext>
            </a:extLst>
          </p:cNvPr>
          <p:cNvSpPr>
            <a:spLocks noGrp="1"/>
          </p:cNvSpPr>
          <p:nvPr>
            <p:ph type="pic" sz="quarter" idx="11"/>
          </p:nvPr>
        </p:nvSpPr>
        <p:spPr>
          <a:xfrm>
            <a:off x="5064192" y="404813"/>
            <a:ext cx="1763790" cy="2619122"/>
          </a:xfrm>
          <a:custGeom>
            <a:avLst/>
            <a:gdLst>
              <a:gd name="connsiteX0" fmla="*/ 0 w 1763790"/>
              <a:gd name="connsiteY0" fmla="*/ 0 h 2619122"/>
              <a:gd name="connsiteX1" fmla="*/ 1763790 w 1763790"/>
              <a:gd name="connsiteY1" fmla="*/ 0 h 2619122"/>
              <a:gd name="connsiteX2" fmla="*/ 1763790 w 1763790"/>
              <a:gd name="connsiteY2" fmla="*/ 1446090 h 2619122"/>
              <a:gd name="connsiteX3" fmla="*/ 0 w 1763790"/>
              <a:gd name="connsiteY3" fmla="*/ 2619122 h 2619122"/>
            </a:gdLst>
            <a:ahLst/>
            <a:cxnLst>
              <a:cxn ang="0">
                <a:pos x="connsiteX0" y="connsiteY0"/>
              </a:cxn>
              <a:cxn ang="0">
                <a:pos x="connsiteX1" y="connsiteY1"/>
              </a:cxn>
              <a:cxn ang="0">
                <a:pos x="connsiteX2" y="connsiteY2"/>
              </a:cxn>
              <a:cxn ang="0">
                <a:pos x="connsiteX3" y="connsiteY3"/>
              </a:cxn>
            </a:cxnLst>
            <a:rect l="l" t="t" r="r" b="b"/>
            <a:pathLst>
              <a:path w="1763790" h="2619122">
                <a:moveTo>
                  <a:pt x="0" y="0"/>
                </a:moveTo>
                <a:lnTo>
                  <a:pt x="1763790" y="0"/>
                </a:lnTo>
                <a:lnTo>
                  <a:pt x="1763790" y="1446090"/>
                </a:lnTo>
                <a:lnTo>
                  <a:pt x="0" y="2619122"/>
                </a:lnTo>
                <a:close/>
              </a:path>
            </a:pathLst>
          </a:custGeom>
        </p:spPr>
        <p:txBody>
          <a:bodyPr wrap="square">
            <a:noAutofit/>
          </a:bodyPr>
          <a:lstStyle>
            <a:lvl1pPr>
              <a:defRPr sz="1100"/>
            </a:lvl1pPr>
          </a:lstStyle>
          <a:p>
            <a:endParaRPr lang="en-GB" dirty="0"/>
          </a:p>
        </p:txBody>
      </p:sp>
      <p:sp>
        <p:nvSpPr>
          <p:cNvPr id="45" name="Picture Placeholder 44">
            <a:extLst>
              <a:ext uri="{FF2B5EF4-FFF2-40B4-BE49-F238E27FC236}">
                <a16:creationId xmlns:a16="http://schemas.microsoft.com/office/drawing/2014/main" id="{80F58609-D4E1-4D30-A987-463F020D7A27}"/>
              </a:ext>
            </a:extLst>
          </p:cNvPr>
          <p:cNvSpPr>
            <a:spLocks noGrp="1"/>
          </p:cNvSpPr>
          <p:nvPr>
            <p:ph type="pic" sz="quarter" idx="12"/>
          </p:nvPr>
        </p:nvSpPr>
        <p:spPr>
          <a:xfrm>
            <a:off x="7012940" y="404813"/>
            <a:ext cx="1763790" cy="2619122"/>
          </a:xfrm>
          <a:custGeom>
            <a:avLst/>
            <a:gdLst>
              <a:gd name="connsiteX0" fmla="*/ 0 w 1763790"/>
              <a:gd name="connsiteY0" fmla="*/ 0 h 2619122"/>
              <a:gd name="connsiteX1" fmla="*/ 1763790 w 1763790"/>
              <a:gd name="connsiteY1" fmla="*/ 0 h 2619122"/>
              <a:gd name="connsiteX2" fmla="*/ 1763790 w 1763790"/>
              <a:gd name="connsiteY2" fmla="*/ 1446090 h 2619122"/>
              <a:gd name="connsiteX3" fmla="*/ 0 w 1763790"/>
              <a:gd name="connsiteY3" fmla="*/ 2619122 h 2619122"/>
            </a:gdLst>
            <a:ahLst/>
            <a:cxnLst>
              <a:cxn ang="0">
                <a:pos x="connsiteX0" y="connsiteY0"/>
              </a:cxn>
              <a:cxn ang="0">
                <a:pos x="connsiteX1" y="connsiteY1"/>
              </a:cxn>
              <a:cxn ang="0">
                <a:pos x="connsiteX2" y="connsiteY2"/>
              </a:cxn>
              <a:cxn ang="0">
                <a:pos x="connsiteX3" y="connsiteY3"/>
              </a:cxn>
            </a:cxnLst>
            <a:rect l="l" t="t" r="r" b="b"/>
            <a:pathLst>
              <a:path w="1763790" h="2619122">
                <a:moveTo>
                  <a:pt x="0" y="0"/>
                </a:moveTo>
                <a:lnTo>
                  <a:pt x="1763790" y="0"/>
                </a:lnTo>
                <a:lnTo>
                  <a:pt x="1763790" y="1446090"/>
                </a:lnTo>
                <a:lnTo>
                  <a:pt x="0" y="2619122"/>
                </a:lnTo>
                <a:close/>
              </a:path>
            </a:pathLst>
          </a:custGeom>
        </p:spPr>
        <p:txBody>
          <a:bodyPr wrap="square">
            <a:noAutofit/>
          </a:bodyPr>
          <a:lstStyle>
            <a:lvl1pPr>
              <a:defRPr sz="1100"/>
            </a:lvl1pPr>
          </a:lstStyle>
          <a:p>
            <a:endParaRPr lang="en-GB" dirty="0"/>
          </a:p>
        </p:txBody>
      </p:sp>
      <p:sp>
        <p:nvSpPr>
          <p:cNvPr id="77" name="Picture Placeholder 76">
            <a:extLst>
              <a:ext uri="{FF2B5EF4-FFF2-40B4-BE49-F238E27FC236}">
                <a16:creationId xmlns:a16="http://schemas.microsoft.com/office/drawing/2014/main" id="{542B6375-0524-4345-96C0-9881233C43DB}"/>
              </a:ext>
            </a:extLst>
          </p:cNvPr>
          <p:cNvSpPr>
            <a:spLocks noGrp="1"/>
          </p:cNvSpPr>
          <p:nvPr>
            <p:ph type="pic" sz="quarter" idx="14"/>
          </p:nvPr>
        </p:nvSpPr>
        <p:spPr>
          <a:xfrm>
            <a:off x="7008225" y="2022171"/>
            <a:ext cx="1763790" cy="2619122"/>
          </a:xfrm>
          <a:custGeom>
            <a:avLst/>
            <a:gdLst>
              <a:gd name="connsiteX0" fmla="*/ 1763790 w 1763790"/>
              <a:gd name="connsiteY0" fmla="*/ 0 h 2619122"/>
              <a:gd name="connsiteX1" fmla="*/ 1763790 w 1763790"/>
              <a:gd name="connsiteY1" fmla="*/ 2619122 h 2619122"/>
              <a:gd name="connsiteX2" fmla="*/ 0 w 1763790"/>
              <a:gd name="connsiteY2" fmla="*/ 2619122 h 2619122"/>
              <a:gd name="connsiteX3" fmla="*/ 0 w 1763790"/>
              <a:gd name="connsiteY3" fmla="*/ 1173032 h 2619122"/>
            </a:gdLst>
            <a:ahLst/>
            <a:cxnLst>
              <a:cxn ang="0">
                <a:pos x="connsiteX0" y="connsiteY0"/>
              </a:cxn>
              <a:cxn ang="0">
                <a:pos x="connsiteX1" y="connsiteY1"/>
              </a:cxn>
              <a:cxn ang="0">
                <a:pos x="connsiteX2" y="connsiteY2"/>
              </a:cxn>
              <a:cxn ang="0">
                <a:pos x="connsiteX3" y="connsiteY3"/>
              </a:cxn>
            </a:cxnLst>
            <a:rect l="l" t="t" r="r" b="b"/>
            <a:pathLst>
              <a:path w="1763790" h="2619122">
                <a:moveTo>
                  <a:pt x="1763790" y="0"/>
                </a:moveTo>
                <a:lnTo>
                  <a:pt x="1763790" y="2619122"/>
                </a:lnTo>
                <a:lnTo>
                  <a:pt x="0" y="2619122"/>
                </a:lnTo>
                <a:lnTo>
                  <a:pt x="0" y="1173032"/>
                </a:lnTo>
                <a:close/>
              </a:path>
            </a:pathLst>
          </a:custGeom>
        </p:spPr>
        <p:txBody>
          <a:bodyPr wrap="square" anchor="b" anchorCtr="0">
            <a:noAutofit/>
          </a:bodyPr>
          <a:lstStyle>
            <a:lvl1pPr algn="r">
              <a:defRPr sz="1050"/>
            </a:lvl1pPr>
          </a:lstStyle>
          <a:p>
            <a:endParaRPr lang="en-GB" dirty="0"/>
          </a:p>
        </p:txBody>
      </p:sp>
    </p:spTree>
    <p:extLst>
      <p:ext uri="{BB962C8B-B14F-4D97-AF65-F5344CB8AC3E}">
        <p14:creationId xmlns:p14="http://schemas.microsoft.com/office/powerpoint/2010/main" val="26947089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55">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ivider">
    <p:bg>
      <p:bgPr>
        <a:solidFill>
          <a:schemeClr val="tx1"/>
        </a:solidFill>
        <a:effectLst/>
      </p:bgPr>
    </p:bg>
    <p:spTree>
      <p:nvGrpSpPr>
        <p:cNvPr id="1" name=""/>
        <p:cNvGrpSpPr/>
        <p:nvPr/>
      </p:nvGrpSpPr>
      <p:grpSpPr>
        <a:xfrm>
          <a:off x="0" y="0"/>
          <a:ext cx="0" cy="0"/>
          <a:chOff x="0" y="0"/>
          <a:chExt cx="0" cy="0"/>
        </a:xfrm>
      </p:grpSpPr>
      <p:cxnSp>
        <p:nvCxnSpPr>
          <p:cNvPr id="85" name="Straight Connector 84">
            <a:extLst>
              <a:ext uri="{FF2B5EF4-FFF2-40B4-BE49-F238E27FC236}">
                <a16:creationId xmlns:a16="http://schemas.microsoft.com/office/drawing/2014/main" id="{4B9AABEE-8AB9-4C85-AF14-454B1CA8D9DB}"/>
              </a:ext>
            </a:extLst>
          </p:cNvPr>
          <p:cNvCxnSpPr>
            <a:cxnSpLocks/>
          </p:cNvCxnSpPr>
          <p:nvPr userDrawn="1"/>
        </p:nvCxnSpPr>
        <p:spPr>
          <a:xfrm>
            <a:off x="358775" y="263284"/>
            <a:ext cx="842645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46" name="Group 4">
            <a:extLst>
              <a:ext uri="{FF2B5EF4-FFF2-40B4-BE49-F238E27FC236}">
                <a16:creationId xmlns:a16="http://schemas.microsoft.com/office/drawing/2014/main" id="{959CA7EE-F568-467D-9E2F-F4174E4C6673}"/>
              </a:ext>
            </a:extLst>
          </p:cNvPr>
          <p:cNvGrpSpPr>
            <a:grpSpLocks noChangeAspect="1"/>
          </p:cNvGrpSpPr>
          <p:nvPr userDrawn="1"/>
        </p:nvGrpSpPr>
        <p:grpSpPr bwMode="auto">
          <a:xfrm>
            <a:off x="6232276" y="5680861"/>
            <a:ext cx="2524348" cy="507937"/>
            <a:chOff x="-3357" y="-1385"/>
            <a:chExt cx="5760" cy="1159"/>
          </a:xfrm>
        </p:grpSpPr>
        <p:sp>
          <p:nvSpPr>
            <p:cNvPr id="48" name="Freeform 5">
              <a:extLst>
                <a:ext uri="{FF2B5EF4-FFF2-40B4-BE49-F238E27FC236}">
                  <a16:creationId xmlns:a16="http://schemas.microsoft.com/office/drawing/2014/main" id="{E6224FA3-5CFD-40D4-9709-ABECFC7BBBB7}"/>
                </a:ext>
              </a:extLst>
            </p:cNvPr>
            <p:cNvSpPr>
              <a:spLocks noEditPoints="1"/>
            </p:cNvSpPr>
            <p:nvPr userDrawn="1"/>
          </p:nvSpPr>
          <p:spPr bwMode="auto">
            <a:xfrm>
              <a:off x="-3357" y="-1378"/>
              <a:ext cx="5760" cy="1152"/>
            </a:xfrm>
            <a:custGeom>
              <a:avLst/>
              <a:gdLst>
                <a:gd name="T0" fmla="*/ 158 w 2386"/>
                <a:gd name="T1" fmla="*/ 360 h 479"/>
                <a:gd name="T2" fmla="*/ 103 w 2386"/>
                <a:gd name="T3" fmla="*/ 116 h 479"/>
                <a:gd name="T4" fmla="*/ 106 w 2386"/>
                <a:gd name="T5" fmla="*/ 479 h 479"/>
                <a:gd name="T6" fmla="*/ 101 w 2386"/>
                <a:gd name="T7" fmla="*/ 435 h 479"/>
                <a:gd name="T8" fmla="*/ 108 w 2386"/>
                <a:gd name="T9" fmla="*/ 157 h 479"/>
                <a:gd name="T10" fmla="*/ 158 w 2386"/>
                <a:gd name="T11" fmla="*/ 324 h 479"/>
                <a:gd name="T12" fmla="*/ 311 w 2386"/>
                <a:gd name="T13" fmla="*/ 152 h 479"/>
                <a:gd name="T14" fmla="*/ 410 w 2386"/>
                <a:gd name="T15" fmla="*/ 117 h 479"/>
                <a:gd name="T16" fmla="*/ 317 w 2386"/>
                <a:gd name="T17" fmla="*/ 180 h 479"/>
                <a:gd name="T18" fmla="*/ 267 w 2386"/>
                <a:gd name="T19" fmla="*/ 121 h 479"/>
                <a:gd name="T20" fmla="*/ 574 w 2386"/>
                <a:gd name="T21" fmla="*/ 202 h 479"/>
                <a:gd name="T22" fmla="*/ 440 w 2386"/>
                <a:gd name="T23" fmla="*/ 127 h 479"/>
                <a:gd name="T24" fmla="*/ 624 w 2386"/>
                <a:gd name="T25" fmla="*/ 374 h 479"/>
                <a:gd name="T26" fmla="*/ 505 w 2386"/>
                <a:gd name="T27" fmla="*/ 379 h 479"/>
                <a:gd name="T28" fmla="*/ 517 w 2386"/>
                <a:gd name="T29" fmla="*/ 339 h 479"/>
                <a:gd name="T30" fmla="*/ 527 w 2386"/>
                <a:gd name="T31" fmla="*/ 259 h 479"/>
                <a:gd name="T32" fmla="*/ 683 w 2386"/>
                <a:gd name="T33" fmla="*/ 374 h 479"/>
                <a:gd name="T34" fmla="*/ 683 w 2386"/>
                <a:gd name="T35" fmla="*/ 121 h 479"/>
                <a:gd name="T36" fmla="*/ 832 w 2386"/>
                <a:gd name="T37" fmla="*/ 121 h 479"/>
                <a:gd name="T38" fmla="*/ 1000 w 2386"/>
                <a:gd name="T39" fmla="*/ 199 h 479"/>
                <a:gd name="T40" fmla="*/ 950 w 2386"/>
                <a:gd name="T41" fmla="*/ 207 h 479"/>
                <a:gd name="T42" fmla="*/ 845 w 2386"/>
                <a:gd name="T43" fmla="*/ 374 h 479"/>
                <a:gd name="T44" fmla="*/ 1149 w 2386"/>
                <a:gd name="T45" fmla="*/ 435 h 479"/>
                <a:gd name="T46" fmla="*/ 1142 w 2386"/>
                <a:gd name="T47" fmla="*/ 379 h 479"/>
                <a:gd name="T48" fmla="*/ 1255 w 2386"/>
                <a:gd name="T49" fmla="*/ 133 h 479"/>
                <a:gd name="T50" fmla="*/ 1073 w 2386"/>
                <a:gd name="T51" fmla="*/ 470 h 479"/>
                <a:gd name="T52" fmla="*/ 1205 w 2386"/>
                <a:gd name="T53" fmla="*/ 324 h 479"/>
                <a:gd name="T54" fmla="*/ 1098 w 2386"/>
                <a:gd name="T55" fmla="*/ 249 h 479"/>
                <a:gd name="T56" fmla="*/ 1403 w 2386"/>
                <a:gd name="T57" fmla="*/ 116 h 479"/>
                <a:gd name="T58" fmla="*/ 1349 w 2386"/>
                <a:gd name="T59" fmla="*/ 266 h 479"/>
                <a:gd name="T60" fmla="*/ 1502 w 2386"/>
                <a:gd name="T61" fmla="*/ 356 h 479"/>
                <a:gd name="T62" fmla="*/ 1403 w 2386"/>
                <a:gd name="T63" fmla="*/ 116 h 479"/>
                <a:gd name="T64" fmla="*/ 1349 w 2386"/>
                <a:gd name="T65" fmla="*/ 226 h 479"/>
                <a:gd name="T66" fmla="*/ 1584 w 2386"/>
                <a:gd name="T67" fmla="*/ 121 h 479"/>
                <a:gd name="T68" fmla="*/ 1663 w 2386"/>
                <a:gd name="T69" fmla="*/ 116 h 479"/>
                <a:gd name="T70" fmla="*/ 1653 w 2386"/>
                <a:gd name="T71" fmla="*/ 161 h 479"/>
                <a:gd name="T72" fmla="*/ 1547 w 2386"/>
                <a:gd name="T73" fmla="*/ 374 h 479"/>
                <a:gd name="T74" fmla="*/ 1835 w 2386"/>
                <a:gd name="T75" fmla="*/ 473 h 479"/>
                <a:gd name="T76" fmla="*/ 1877 w 2386"/>
                <a:gd name="T77" fmla="*/ 142 h 479"/>
                <a:gd name="T78" fmla="*/ 1944 w 2386"/>
                <a:gd name="T79" fmla="*/ 379 h 479"/>
                <a:gd name="T80" fmla="*/ 1934 w 2386"/>
                <a:gd name="T81" fmla="*/ 338 h 479"/>
                <a:gd name="T82" fmla="*/ 1885 w 2386"/>
                <a:gd name="T83" fmla="*/ 173 h 479"/>
                <a:gd name="T84" fmla="*/ 2093 w 2386"/>
                <a:gd name="T85" fmla="*/ 0 h 479"/>
                <a:gd name="T86" fmla="*/ 2093 w 2386"/>
                <a:gd name="T87" fmla="*/ 374 h 479"/>
                <a:gd name="T88" fmla="*/ 2374 w 2386"/>
                <a:gd name="T89" fmla="*/ 123 h 479"/>
                <a:gd name="T90" fmla="*/ 2239 w 2386"/>
                <a:gd name="T91" fmla="*/ 248 h 479"/>
                <a:gd name="T92" fmla="*/ 2386 w 2386"/>
                <a:gd name="T93" fmla="*/ 360 h 479"/>
                <a:gd name="T94" fmla="*/ 2306 w 2386"/>
                <a:gd name="T95" fmla="*/ 116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6" h="479">
                  <a:moveTo>
                    <a:pt x="101" y="435"/>
                  </a:moveTo>
                  <a:cubicBezTo>
                    <a:pt x="132" y="435"/>
                    <a:pt x="158" y="429"/>
                    <a:pt x="158" y="391"/>
                  </a:cubicBezTo>
                  <a:cubicBezTo>
                    <a:pt x="158" y="360"/>
                    <a:pt x="158" y="360"/>
                    <a:pt x="158" y="360"/>
                  </a:cubicBezTo>
                  <a:cubicBezTo>
                    <a:pt x="138" y="373"/>
                    <a:pt x="118" y="379"/>
                    <a:pt x="95" y="379"/>
                  </a:cubicBezTo>
                  <a:cubicBezTo>
                    <a:pt x="26" y="379"/>
                    <a:pt x="0" y="333"/>
                    <a:pt x="0" y="247"/>
                  </a:cubicBezTo>
                  <a:cubicBezTo>
                    <a:pt x="0" y="155"/>
                    <a:pt x="31" y="116"/>
                    <a:pt x="103" y="116"/>
                  </a:cubicBezTo>
                  <a:cubicBezTo>
                    <a:pt x="136" y="116"/>
                    <a:pt x="180" y="124"/>
                    <a:pt x="207" y="133"/>
                  </a:cubicBezTo>
                  <a:cubicBezTo>
                    <a:pt x="207" y="397"/>
                    <a:pt x="207" y="397"/>
                    <a:pt x="207" y="397"/>
                  </a:cubicBezTo>
                  <a:cubicBezTo>
                    <a:pt x="207" y="458"/>
                    <a:pt x="166" y="479"/>
                    <a:pt x="106" y="479"/>
                  </a:cubicBezTo>
                  <a:cubicBezTo>
                    <a:pt x="79" y="479"/>
                    <a:pt x="49" y="475"/>
                    <a:pt x="25" y="470"/>
                  </a:cubicBezTo>
                  <a:cubicBezTo>
                    <a:pt x="32" y="428"/>
                    <a:pt x="32" y="428"/>
                    <a:pt x="32" y="428"/>
                  </a:cubicBezTo>
                  <a:cubicBezTo>
                    <a:pt x="52" y="431"/>
                    <a:pt x="77" y="435"/>
                    <a:pt x="101" y="435"/>
                  </a:cubicBezTo>
                  <a:moveTo>
                    <a:pt x="158" y="324"/>
                  </a:moveTo>
                  <a:cubicBezTo>
                    <a:pt x="158" y="162"/>
                    <a:pt x="158" y="162"/>
                    <a:pt x="158" y="162"/>
                  </a:cubicBezTo>
                  <a:cubicBezTo>
                    <a:pt x="143" y="160"/>
                    <a:pt x="122" y="157"/>
                    <a:pt x="108" y="157"/>
                  </a:cubicBezTo>
                  <a:cubicBezTo>
                    <a:pt x="62" y="157"/>
                    <a:pt x="50" y="184"/>
                    <a:pt x="50" y="249"/>
                  </a:cubicBezTo>
                  <a:cubicBezTo>
                    <a:pt x="50" y="306"/>
                    <a:pt x="61" y="336"/>
                    <a:pt x="106" y="336"/>
                  </a:cubicBezTo>
                  <a:cubicBezTo>
                    <a:pt x="121" y="336"/>
                    <a:pt x="141" y="332"/>
                    <a:pt x="158" y="324"/>
                  </a:cubicBezTo>
                  <a:moveTo>
                    <a:pt x="267" y="121"/>
                  </a:moveTo>
                  <a:cubicBezTo>
                    <a:pt x="304" y="121"/>
                    <a:pt x="304" y="121"/>
                    <a:pt x="304" y="121"/>
                  </a:cubicBezTo>
                  <a:cubicBezTo>
                    <a:pt x="311" y="152"/>
                    <a:pt x="311" y="152"/>
                    <a:pt x="311" y="152"/>
                  </a:cubicBezTo>
                  <a:cubicBezTo>
                    <a:pt x="313" y="152"/>
                    <a:pt x="313" y="152"/>
                    <a:pt x="313" y="152"/>
                  </a:cubicBezTo>
                  <a:cubicBezTo>
                    <a:pt x="330" y="126"/>
                    <a:pt x="353" y="116"/>
                    <a:pt x="384" y="116"/>
                  </a:cubicBezTo>
                  <a:cubicBezTo>
                    <a:pt x="391" y="116"/>
                    <a:pt x="400" y="116"/>
                    <a:pt x="410" y="117"/>
                  </a:cubicBezTo>
                  <a:cubicBezTo>
                    <a:pt x="407" y="164"/>
                    <a:pt x="407" y="164"/>
                    <a:pt x="407" y="164"/>
                  </a:cubicBezTo>
                  <a:cubicBezTo>
                    <a:pt x="395" y="162"/>
                    <a:pt x="383" y="161"/>
                    <a:pt x="374" y="161"/>
                  </a:cubicBezTo>
                  <a:cubicBezTo>
                    <a:pt x="351" y="161"/>
                    <a:pt x="332" y="167"/>
                    <a:pt x="317" y="180"/>
                  </a:cubicBezTo>
                  <a:cubicBezTo>
                    <a:pt x="317" y="374"/>
                    <a:pt x="317" y="374"/>
                    <a:pt x="317" y="374"/>
                  </a:cubicBezTo>
                  <a:cubicBezTo>
                    <a:pt x="267" y="374"/>
                    <a:pt x="267" y="374"/>
                    <a:pt x="267" y="374"/>
                  </a:cubicBezTo>
                  <a:lnTo>
                    <a:pt x="267" y="121"/>
                  </a:lnTo>
                  <a:close/>
                  <a:moveTo>
                    <a:pt x="519" y="222"/>
                  </a:moveTo>
                  <a:cubicBezTo>
                    <a:pt x="531" y="222"/>
                    <a:pt x="556" y="223"/>
                    <a:pt x="574" y="224"/>
                  </a:cubicBezTo>
                  <a:cubicBezTo>
                    <a:pt x="574" y="202"/>
                    <a:pt x="574" y="202"/>
                    <a:pt x="574" y="202"/>
                  </a:cubicBezTo>
                  <a:cubicBezTo>
                    <a:pt x="574" y="168"/>
                    <a:pt x="556" y="160"/>
                    <a:pt x="521" y="160"/>
                  </a:cubicBezTo>
                  <a:cubicBezTo>
                    <a:pt x="492" y="160"/>
                    <a:pt x="463" y="166"/>
                    <a:pt x="447" y="169"/>
                  </a:cubicBezTo>
                  <a:cubicBezTo>
                    <a:pt x="440" y="127"/>
                    <a:pt x="440" y="127"/>
                    <a:pt x="440" y="127"/>
                  </a:cubicBezTo>
                  <a:cubicBezTo>
                    <a:pt x="462" y="121"/>
                    <a:pt x="495" y="116"/>
                    <a:pt x="525" y="116"/>
                  </a:cubicBezTo>
                  <a:cubicBezTo>
                    <a:pt x="580" y="116"/>
                    <a:pt x="624" y="134"/>
                    <a:pt x="624" y="196"/>
                  </a:cubicBezTo>
                  <a:cubicBezTo>
                    <a:pt x="624" y="374"/>
                    <a:pt x="624" y="374"/>
                    <a:pt x="624" y="374"/>
                  </a:cubicBezTo>
                  <a:cubicBezTo>
                    <a:pt x="587" y="374"/>
                    <a:pt x="587" y="374"/>
                    <a:pt x="587" y="374"/>
                  </a:cubicBezTo>
                  <a:cubicBezTo>
                    <a:pt x="582" y="353"/>
                    <a:pt x="582" y="353"/>
                    <a:pt x="582" y="353"/>
                  </a:cubicBezTo>
                  <a:cubicBezTo>
                    <a:pt x="562" y="369"/>
                    <a:pt x="534" y="379"/>
                    <a:pt x="505" y="379"/>
                  </a:cubicBezTo>
                  <a:cubicBezTo>
                    <a:pt x="457" y="379"/>
                    <a:pt x="422" y="350"/>
                    <a:pt x="422" y="300"/>
                  </a:cubicBezTo>
                  <a:cubicBezTo>
                    <a:pt x="422" y="248"/>
                    <a:pt x="461" y="222"/>
                    <a:pt x="519" y="222"/>
                  </a:cubicBezTo>
                  <a:moveTo>
                    <a:pt x="517" y="339"/>
                  </a:moveTo>
                  <a:cubicBezTo>
                    <a:pt x="537" y="339"/>
                    <a:pt x="559" y="332"/>
                    <a:pt x="574" y="321"/>
                  </a:cubicBezTo>
                  <a:cubicBezTo>
                    <a:pt x="574" y="260"/>
                    <a:pt x="574" y="260"/>
                    <a:pt x="574" y="260"/>
                  </a:cubicBezTo>
                  <a:cubicBezTo>
                    <a:pt x="566" y="259"/>
                    <a:pt x="535" y="259"/>
                    <a:pt x="527" y="259"/>
                  </a:cubicBezTo>
                  <a:cubicBezTo>
                    <a:pt x="497" y="259"/>
                    <a:pt x="473" y="267"/>
                    <a:pt x="473" y="298"/>
                  </a:cubicBezTo>
                  <a:cubicBezTo>
                    <a:pt x="473" y="324"/>
                    <a:pt x="489" y="339"/>
                    <a:pt x="517" y="339"/>
                  </a:cubicBezTo>
                  <a:moveTo>
                    <a:pt x="683" y="374"/>
                  </a:moveTo>
                  <a:cubicBezTo>
                    <a:pt x="733" y="374"/>
                    <a:pt x="733" y="374"/>
                    <a:pt x="733" y="374"/>
                  </a:cubicBezTo>
                  <a:cubicBezTo>
                    <a:pt x="733" y="121"/>
                    <a:pt x="733" y="121"/>
                    <a:pt x="733" y="121"/>
                  </a:cubicBezTo>
                  <a:cubicBezTo>
                    <a:pt x="683" y="121"/>
                    <a:pt x="683" y="121"/>
                    <a:pt x="683" y="121"/>
                  </a:cubicBezTo>
                  <a:lnTo>
                    <a:pt x="683" y="374"/>
                  </a:lnTo>
                  <a:close/>
                  <a:moveTo>
                    <a:pt x="795" y="121"/>
                  </a:moveTo>
                  <a:cubicBezTo>
                    <a:pt x="832" y="121"/>
                    <a:pt x="832" y="121"/>
                    <a:pt x="832" y="121"/>
                  </a:cubicBezTo>
                  <a:cubicBezTo>
                    <a:pt x="836" y="144"/>
                    <a:pt x="836" y="144"/>
                    <a:pt x="836" y="144"/>
                  </a:cubicBezTo>
                  <a:cubicBezTo>
                    <a:pt x="858" y="128"/>
                    <a:pt x="886" y="116"/>
                    <a:pt x="919" y="116"/>
                  </a:cubicBezTo>
                  <a:cubicBezTo>
                    <a:pt x="971" y="116"/>
                    <a:pt x="1000" y="146"/>
                    <a:pt x="1000" y="199"/>
                  </a:cubicBezTo>
                  <a:cubicBezTo>
                    <a:pt x="1000" y="374"/>
                    <a:pt x="1000" y="374"/>
                    <a:pt x="1000" y="374"/>
                  </a:cubicBezTo>
                  <a:cubicBezTo>
                    <a:pt x="950" y="374"/>
                    <a:pt x="950" y="374"/>
                    <a:pt x="950" y="374"/>
                  </a:cubicBezTo>
                  <a:cubicBezTo>
                    <a:pt x="950" y="207"/>
                    <a:pt x="950" y="207"/>
                    <a:pt x="950" y="207"/>
                  </a:cubicBezTo>
                  <a:cubicBezTo>
                    <a:pt x="950" y="174"/>
                    <a:pt x="936" y="160"/>
                    <a:pt x="906" y="160"/>
                  </a:cubicBezTo>
                  <a:cubicBezTo>
                    <a:pt x="884" y="160"/>
                    <a:pt x="862" y="168"/>
                    <a:pt x="845" y="177"/>
                  </a:cubicBezTo>
                  <a:cubicBezTo>
                    <a:pt x="845" y="374"/>
                    <a:pt x="845" y="374"/>
                    <a:pt x="845" y="374"/>
                  </a:cubicBezTo>
                  <a:cubicBezTo>
                    <a:pt x="795" y="374"/>
                    <a:pt x="795" y="374"/>
                    <a:pt x="795" y="374"/>
                  </a:cubicBezTo>
                  <a:lnTo>
                    <a:pt x="795" y="121"/>
                  </a:lnTo>
                  <a:close/>
                  <a:moveTo>
                    <a:pt x="1149" y="435"/>
                  </a:moveTo>
                  <a:cubicBezTo>
                    <a:pt x="1180" y="435"/>
                    <a:pt x="1205" y="429"/>
                    <a:pt x="1205" y="391"/>
                  </a:cubicBezTo>
                  <a:cubicBezTo>
                    <a:pt x="1205" y="360"/>
                    <a:pt x="1205" y="360"/>
                    <a:pt x="1205" y="360"/>
                  </a:cubicBezTo>
                  <a:cubicBezTo>
                    <a:pt x="1186" y="373"/>
                    <a:pt x="1166" y="379"/>
                    <a:pt x="1142" y="379"/>
                  </a:cubicBezTo>
                  <a:cubicBezTo>
                    <a:pt x="1074" y="379"/>
                    <a:pt x="1047" y="333"/>
                    <a:pt x="1047" y="247"/>
                  </a:cubicBezTo>
                  <a:cubicBezTo>
                    <a:pt x="1047" y="155"/>
                    <a:pt x="1078" y="116"/>
                    <a:pt x="1151" y="116"/>
                  </a:cubicBezTo>
                  <a:cubicBezTo>
                    <a:pt x="1184" y="116"/>
                    <a:pt x="1228" y="124"/>
                    <a:pt x="1255" y="133"/>
                  </a:cubicBezTo>
                  <a:cubicBezTo>
                    <a:pt x="1255" y="397"/>
                    <a:pt x="1255" y="397"/>
                    <a:pt x="1255" y="397"/>
                  </a:cubicBezTo>
                  <a:cubicBezTo>
                    <a:pt x="1255" y="458"/>
                    <a:pt x="1213" y="479"/>
                    <a:pt x="1153" y="479"/>
                  </a:cubicBezTo>
                  <a:cubicBezTo>
                    <a:pt x="1127" y="479"/>
                    <a:pt x="1096" y="475"/>
                    <a:pt x="1073" y="470"/>
                  </a:cubicBezTo>
                  <a:cubicBezTo>
                    <a:pt x="1080" y="428"/>
                    <a:pt x="1080" y="428"/>
                    <a:pt x="1080" y="428"/>
                  </a:cubicBezTo>
                  <a:cubicBezTo>
                    <a:pt x="1100" y="431"/>
                    <a:pt x="1124" y="435"/>
                    <a:pt x="1149" y="435"/>
                  </a:cubicBezTo>
                  <a:moveTo>
                    <a:pt x="1205" y="324"/>
                  </a:moveTo>
                  <a:cubicBezTo>
                    <a:pt x="1205" y="162"/>
                    <a:pt x="1205" y="162"/>
                    <a:pt x="1205" y="162"/>
                  </a:cubicBezTo>
                  <a:cubicBezTo>
                    <a:pt x="1191" y="160"/>
                    <a:pt x="1170" y="157"/>
                    <a:pt x="1156" y="157"/>
                  </a:cubicBezTo>
                  <a:cubicBezTo>
                    <a:pt x="1110" y="157"/>
                    <a:pt x="1098" y="184"/>
                    <a:pt x="1098" y="249"/>
                  </a:cubicBezTo>
                  <a:cubicBezTo>
                    <a:pt x="1098" y="306"/>
                    <a:pt x="1109" y="336"/>
                    <a:pt x="1153" y="336"/>
                  </a:cubicBezTo>
                  <a:cubicBezTo>
                    <a:pt x="1169" y="336"/>
                    <a:pt x="1189" y="332"/>
                    <a:pt x="1205" y="324"/>
                  </a:cubicBezTo>
                  <a:moveTo>
                    <a:pt x="1403" y="116"/>
                  </a:moveTo>
                  <a:cubicBezTo>
                    <a:pt x="1469" y="116"/>
                    <a:pt x="1502" y="162"/>
                    <a:pt x="1502" y="232"/>
                  </a:cubicBezTo>
                  <a:cubicBezTo>
                    <a:pt x="1502" y="241"/>
                    <a:pt x="1502" y="255"/>
                    <a:pt x="1499" y="266"/>
                  </a:cubicBezTo>
                  <a:cubicBezTo>
                    <a:pt x="1349" y="266"/>
                    <a:pt x="1349" y="266"/>
                    <a:pt x="1349" y="266"/>
                  </a:cubicBezTo>
                  <a:cubicBezTo>
                    <a:pt x="1353" y="310"/>
                    <a:pt x="1373" y="336"/>
                    <a:pt x="1417" y="336"/>
                  </a:cubicBezTo>
                  <a:cubicBezTo>
                    <a:pt x="1443" y="336"/>
                    <a:pt x="1467" y="326"/>
                    <a:pt x="1487" y="318"/>
                  </a:cubicBezTo>
                  <a:cubicBezTo>
                    <a:pt x="1502" y="356"/>
                    <a:pt x="1502" y="356"/>
                    <a:pt x="1502" y="356"/>
                  </a:cubicBezTo>
                  <a:cubicBezTo>
                    <a:pt x="1480" y="368"/>
                    <a:pt x="1447" y="379"/>
                    <a:pt x="1411" y="379"/>
                  </a:cubicBezTo>
                  <a:cubicBezTo>
                    <a:pt x="1342" y="379"/>
                    <a:pt x="1298" y="337"/>
                    <a:pt x="1298" y="248"/>
                  </a:cubicBezTo>
                  <a:cubicBezTo>
                    <a:pt x="1298" y="171"/>
                    <a:pt x="1331" y="116"/>
                    <a:pt x="1403" y="116"/>
                  </a:cubicBezTo>
                  <a:moveTo>
                    <a:pt x="1453" y="226"/>
                  </a:moveTo>
                  <a:cubicBezTo>
                    <a:pt x="1453" y="191"/>
                    <a:pt x="1441" y="160"/>
                    <a:pt x="1403" y="160"/>
                  </a:cubicBezTo>
                  <a:cubicBezTo>
                    <a:pt x="1367" y="160"/>
                    <a:pt x="1351" y="187"/>
                    <a:pt x="1349" y="226"/>
                  </a:cubicBezTo>
                  <a:lnTo>
                    <a:pt x="1453" y="226"/>
                  </a:lnTo>
                  <a:close/>
                  <a:moveTo>
                    <a:pt x="1547" y="121"/>
                  </a:moveTo>
                  <a:cubicBezTo>
                    <a:pt x="1584" y="121"/>
                    <a:pt x="1584" y="121"/>
                    <a:pt x="1584" y="121"/>
                  </a:cubicBezTo>
                  <a:cubicBezTo>
                    <a:pt x="1591" y="152"/>
                    <a:pt x="1591" y="152"/>
                    <a:pt x="1591" y="152"/>
                  </a:cubicBezTo>
                  <a:cubicBezTo>
                    <a:pt x="1592" y="152"/>
                    <a:pt x="1592" y="152"/>
                    <a:pt x="1592" y="152"/>
                  </a:cubicBezTo>
                  <a:cubicBezTo>
                    <a:pt x="1610" y="126"/>
                    <a:pt x="1633" y="116"/>
                    <a:pt x="1663" y="116"/>
                  </a:cubicBezTo>
                  <a:cubicBezTo>
                    <a:pt x="1671" y="116"/>
                    <a:pt x="1680" y="116"/>
                    <a:pt x="1689" y="117"/>
                  </a:cubicBezTo>
                  <a:cubicBezTo>
                    <a:pt x="1686" y="164"/>
                    <a:pt x="1686" y="164"/>
                    <a:pt x="1686" y="164"/>
                  </a:cubicBezTo>
                  <a:cubicBezTo>
                    <a:pt x="1674" y="162"/>
                    <a:pt x="1663" y="161"/>
                    <a:pt x="1653" y="161"/>
                  </a:cubicBezTo>
                  <a:cubicBezTo>
                    <a:pt x="1630" y="161"/>
                    <a:pt x="1612" y="167"/>
                    <a:pt x="1597" y="180"/>
                  </a:cubicBezTo>
                  <a:cubicBezTo>
                    <a:pt x="1597" y="374"/>
                    <a:pt x="1597" y="374"/>
                    <a:pt x="1597" y="374"/>
                  </a:cubicBezTo>
                  <a:cubicBezTo>
                    <a:pt x="1547" y="374"/>
                    <a:pt x="1547" y="374"/>
                    <a:pt x="1547" y="374"/>
                  </a:cubicBezTo>
                  <a:lnTo>
                    <a:pt x="1547" y="121"/>
                  </a:lnTo>
                  <a:close/>
                  <a:moveTo>
                    <a:pt x="1885" y="473"/>
                  </a:moveTo>
                  <a:cubicBezTo>
                    <a:pt x="1835" y="473"/>
                    <a:pt x="1835" y="473"/>
                    <a:pt x="1835" y="473"/>
                  </a:cubicBezTo>
                  <a:cubicBezTo>
                    <a:pt x="1835" y="121"/>
                    <a:pt x="1835" y="121"/>
                    <a:pt x="1835" y="121"/>
                  </a:cubicBezTo>
                  <a:cubicBezTo>
                    <a:pt x="1872" y="121"/>
                    <a:pt x="1872" y="121"/>
                    <a:pt x="1872" y="121"/>
                  </a:cubicBezTo>
                  <a:cubicBezTo>
                    <a:pt x="1877" y="142"/>
                    <a:pt x="1877" y="142"/>
                    <a:pt x="1877" y="142"/>
                  </a:cubicBezTo>
                  <a:cubicBezTo>
                    <a:pt x="1895" y="127"/>
                    <a:pt x="1918" y="116"/>
                    <a:pt x="1950" y="116"/>
                  </a:cubicBezTo>
                  <a:cubicBezTo>
                    <a:pt x="2016" y="116"/>
                    <a:pt x="2043" y="164"/>
                    <a:pt x="2043" y="249"/>
                  </a:cubicBezTo>
                  <a:cubicBezTo>
                    <a:pt x="2043" y="340"/>
                    <a:pt x="2012" y="379"/>
                    <a:pt x="1944" y="379"/>
                  </a:cubicBezTo>
                  <a:cubicBezTo>
                    <a:pt x="1926" y="379"/>
                    <a:pt x="1905" y="377"/>
                    <a:pt x="1885" y="372"/>
                  </a:cubicBezTo>
                  <a:lnTo>
                    <a:pt x="1885" y="473"/>
                  </a:lnTo>
                  <a:close/>
                  <a:moveTo>
                    <a:pt x="1934" y="338"/>
                  </a:moveTo>
                  <a:cubicBezTo>
                    <a:pt x="1982" y="338"/>
                    <a:pt x="1993" y="311"/>
                    <a:pt x="1993" y="248"/>
                  </a:cubicBezTo>
                  <a:cubicBezTo>
                    <a:pt x="1993" y="190"/>
                    <a:pt x="1982" y="160"/>
                    <a:pt x="1938" y="160"/>
                  </a:cubicBezTo>
                  <a:cubicBezTo>
                    <a:pt x="1920" y="160"/>
                    <a:pt x="1901" y="165"/>
                    <a:pt x="1885" y="173"/>
                  </a:cubicBezTo>
                  <a:cubicBezTo>
                    <a:pt x="1885" y="333"/>
                    <a:pt x="1885" y="333"/>
                    <a:pt x="1885" y="333"/>
                  </a:cubicBezTo>
                  <a:cubicBezTo>
                    <a:pt x="1901" y="337"/>
                    <a:pt x="1923" y="338"/>
                    <a:pt x="1934" y="338"/>
                  </a:cubicBezTo>
                  <a:moveTo>
                    <a:pt x="2093" y="0"/>
                  </a:moveTo>
                  <a:cubicBezTo>
                    <a:pt x="2142" y="28"/>
                    <a:pt x="2142" y="28"/>
                    <a:pt x="2142" y="28"/>
                  </a:cubicBezTo>
                  <a:cubicBezTo>
                    <a:pt x="2142" y="374"/>
                    <a:pt x="2142" y="374"/>
                    <a:pt x="2142" y="374"/>
                  </a:cubicBezTo>
                  <a:cubicBezTo>
                    <a:pt x="2093" y="374"/>
                    <a:pt x="2093" y="374"/>
                    <a:pt x="2093" y="374"/>
                  </a:cubicBezTo>
                  <a:lnTo>
                    <a:pt x="2093" y="0"/>
                  </a:lnTo>
                  <a:close/>
                  <a:moveTo>
                    <a:pt x="2306" y="116"/>
                  </a:moveTo>
                  <a:cubicBezTo>
                    <a:pt x="2326" y="116"/>
                    <a:pt x="2354" y="119"/>
                    <a:pt x="2374" y="123"/>
                  </a:cubicBezTo>
                  <a:cubicBezTo>
                    <a:pt x="2369" y="165"/>
                    <a:pt x="2369" y="165"/>
                    <a:pt x="2369" y="165"/>
                  </a:cubicBezTo>
                  <a:cubicBezTo>
                    <a:pt x="2352" y="162"/>
                    <a:pt x="2328" y="159"/>
                    <a:pt x="2310" y="159"/>
                  </a:cubicBezTo>
                  <a:cubicBezTo>
                    <a:pt x="2257" y="159"/>
                    <a:pt x="2239" y="185"/>
                    <a:pt x="2239" y="248"/>
                  </a:cubicBezTo>
                  <a:cubicBezTo>
                    <a:pt x="2239" y="295"/>
                    <a:pt x="2250" y="335"/>
                    <a:pt x="2304" y="335"/>
                  </a:cubicBezTo>
                  <a:cubicBezTo>
                    <a:pt x="2326" y="335"/>
                    <a:pt x="2351" y="329"/>
                    <a:pt x="2372" y="320"/>
                  </a:cubicBezTo>
                  <a:cubicBezTo>
                    <a:pt x="2386" y="360"/>
                    <a:pt x="2386" y="360"/>
                    <a:pt x="2386" y="360"/>
                  </a:cubicBezTo>
                  <a:cubicBezTo>
                    <a:pt x="2362" y="371"/>
                    <a:pt x="2328" y="379"/>
                    <a:pt x="2296" y="379"/>
                  </a:cubicBezTo>
                  <a:cubicBezTo>
                    <a:pt x="2222" y="379"/>
                    <a:pt x="2189" y="332"/>
                    <a:pt x="2189" y="249"/>
                  </a:cubicBezTo>
                  <a:cubicBezTo>
                    <a:pt x="2189" y="167"/>
                    <a:pt x="2219" y="116"/>
                    <a:pt x="2306" y="116"/>
                  </a:cubicBezTo>
                </a:path>
              </a:pathLst>
            </a:custGeom>
            <a:solidFill>
              <a:srgbClr val="2735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9" name="Rectangle 6">
              <a:extLst>
                <a:ext uri="{FF2B5EF4-FFF2-40B4-BE49-F238E27FC236}">
                  <a16:creationId xmlns:a16="http://schemas.microsoft.com/office/drawing/2014/main" id="{4DCAD83F-127D-40C3-B602-D80F42C4F090}"/>
                </a:ext>
              </a:extLst>
            </p:cNvPr>
            <p:cNvSpPr>
              <a:spLocks noChangeArrowheads="1"/>
            </p:cNvSpPr>
            <p:nvPr userDrawn="1"/>
          </p:nvSpPr>
          <p:spPr bwMode="auto">
            <a:xfrm>
              <a:off x="-1433" y="-1383"/>
              <a:ext cx="24" cy="164"/>
            </a:xfrm>
            <a:prstGeom prst="rect">
              <a:avLst/>
            </a:prstGeom>
            <a:solidFill>
              <a:srgbClr val="0292A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0" name="Freeform 7">
              <a:extLst>
                <a:ext uri="{FF2B5EF4-FFF2-40B4-BE49-F238E27FC236}">
                  <a16:creationId xmlns:a16="http://schemas.microsoft.com/office/drawing/2014/main" id="{A6A93FF1-DA46-419E-82B7-713630F77DB8}"/>
                </a:ext>
              </a:extLst>
            </p:cNvPr>
            <p:cNvSpPr>
              <a:spLocks/>
            </p:cNvSpPr>
            <p:nvPr userDrawn="1"/>
          </p:nvSpPr>
          <p:spPr bwMode="auto">
            <a:xfrm>
              <a:off x="-1370" y="-1337"/>
              <a:ext cx="94" cy="118"/>
            </a:xfrm>
            <a:custGeom>
              <a:avLst/>
              <a:gdLst>
                <a:gd name="T0" fmla="*/ 0 w 39"/>
                <a:gd name="T1" fmla="*/ 1 h 49"/>
                <a:gd name="T2" fmla="*/ 7 w 39"/>
                <a:gd name="T3" fmla="*/ 1 h 49"/>
                <a:gd name="T4" fmla="*/ 8 w 39"/>
                <a:gd name="T5" fmla="*/ 5 h 49"/>
                <a:gd name="T6" fmla="*/ 24 w 39"/>
                <a:gd name="T7" fmla="*/ 0 h 49"/>
                <a:gd name="T8" fmla="*/ 39 w 39"/>
                <a:gd name="T9" fmla="*/ 16 h 49"/>
                <a:gd name="T10" fmla="*/ 39 w 39"/>
                <a:gd name="T11" fmla="*/ 49 h 49"/>
                <a:gd name="T12" fmla="*/ 30 w 39"/>
                <a:gd name="T13" fmla="*/ 49 h 49"/>
                <a:gd name="T14" fmla="*/ 30 w 39"/>
                <a:gd name="T15" fmla="*/ 17 h 49"/>
                <a:gd name="T16" fmla="*/ 21 w 39"/>
                <a:gd name="T17" fmla="*/ 8 h 49"/>
                <a:gd name="T18" fmla="*/ 9 w 39"/>
                <a:gd name="T19" fmla="*/ 11 h 49"/>
                <a:gd name="T20" fmla="*/ 9 w 39"/>
                <a:gd name="T21" fmla="*/ 49 h 49"/>
                <a:gd name="T22" fmla="*/ 0 w 39"/>
                <a:gd name="T23" fmla="*/ 49 h 49"/>
                <a:gd name="T24" fmla="*/ 0 w 39"/>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49">
                  <a:moveTo>
                    <a:pt x="0" y="1"/>
                  </a:moveTo>
                  <a:cubicBezTo>
                    <a:pt x="7" y="1"/>
                    <a:pt x="7" y="1"/>
                    <a:pt x="7" y="1"/>
                  </a:cubicBezTo>
                  <a:cubicBezTo>
                    <a:pt x="8" y="5"/>
                    <a:pt x="8" y="5"/>
                    <a:pt x="8" y="5"/>
                  </a:cubicBezTo>
                  <a:cubicBezTo>
                    <a:pt x="12" y="2"/>
                    <a:pt x="17" y="0"/>
                    <a:pt x="24" y="0"/>
                  </a:cubicBezTo>
                  <a:cubicBezTo>
                    <a:pt x="34" y="0"/>
                    <a:pt x="39" y="5"/>
                    <a:pt x="39" y="16"/>
                  </a:cubicBezTo>
                  <a:cubicBezTo>
                    <a:pt x="39" y="49"/>
                    <a:pt x="39" y="49"/>
                    <a:pt x="39" y="49"/>
                  </a:cubicBezTo>
                  <a:cubicBezTo>
                    <a:pt x="30" y="49"/>
                    <a:pt x="30" y="49"/>
                    <a:pt x="30" y="49"/>
                  </a:cubicBezTo>
                  <a:cubicBezTo>
                    <a:pt x="30" y="17"/>
                    <a:pt x="30" y="17"/>
                    <a:pt x="30" y="17"/>
                  </a:cubicBezTo>
                  <a:cubicBezTo>
                    <a:pt x="30" y="11"/>
                    <a:pt x="27" y="8"/>
                    <a:pt x="21" y="8"/>
                  </a:cubicBezTo>
                  <a:cubicBezTo>
                    <a:pt x="17" y="8"/>
                    <a:pt x="13" y="10"/>
                    <a:pt x="9" y="11"/>
                  </a:cubicBezTo>
                  <a:cubicBezTo>
                    <a:pt x="9" y="49"/>
                    <a:pt x="9" y="49"/>
                    <a:pt x="9"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1" name="Freeform 8">
              <a:extLst>
                <a:ext uri="{FF2B5EF4-FFF2-40B4-BE49-F238E27FC236}">
                  <a16:creationId xmlns:a16="http://schemas.microsoft.com/office/drawing/2014/main" id="{7189F352-D69E-4819-9B0A-EB17E3358C6E}"/>
                </a:ext>
              </a:extLst>
            </p:cNvPr>
            <p:cNvSpPr>
              <a:spLocks/>
            </p:cNvSpPr>
            <p:nvPr userDrawn="1"/>
          </p:nvSpPr>
          <p:spPr bwMode="auto">
            <a:xfrm>
              <a:off x="-1254" y="-1335"/>
              <a:ext cx="106" cy="116"/>
            </a:xfrm>
            <a:custGeom>
              <a:avLst/>
              <a:gdLst>
                <a:gd name="T0" fmla="*/ 0 w 44"/>
                <a:gd name="T1" fmla="*/ 0 h 48"/>
                <a:gd name="T2" fmla="*/ 10 w 44"/>
                <a:gd name="T3" fmla="*/ 0 h 48"/>
                <a:gd name="T4" fmla="*/ 22 w 44"/>
                <a:gd name="T5" fmla="*/ 41 h 48"/>
                <a:gd name="T6" fmla="*/ 23 w 44"/>
                <a:gd name="T7" fmla="*/ 41 h 48"/>
                <a:gd name="T8" fmla="*/ 34 w 44"/>
                <a:gd name="T9" fmla="*/ 0 h 48"/>
                <a:gd name="T10" fmla="*/ 44 w 44"/>
                <a:gd name="T11" fmla="*/ 0 h 48"/>
                <a:gd name="T12" fmla="*/ 29 w 44"/>
                <a:gd name="T13" fmla="*/ 48 h 48"/>
                <a:gd name="T14" fmla="*/ 15 w 44"/>
                <a:gd name="T15" fmla="*/ 48 h 48"/>
                <a:gd name="T16" fmla="*/ 0 w 44"/>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48">
                  <a:moveTo>
                    <a:pt x="0" y="0"/>
                  </a:moveTo>
                  <a:cubicBezTo>
                    <a:pt x="10" y="0"/>
                    <a:pt x="10" y="0"/>
                    <a:pt x="10" y="0"/>
                  </a:cubicBezTo>
                  <a:cubicBezTo>
                    <a:pt x="13" y="14"/>
                    <a:pt x="17" y="29"/>
                    <a:pt x="22" y="41"/>
                  </a:cubicBezTo>
                  <a:cubicBezTo>
                    <a:pt x="23" y="41"/>
                    <a:pt x="23" y="41"/>
                    <a:pt x="23" y="41"/>
                  </a:cubicBezTo>
                  <a:cubicBezTo>
                    <a:pt x="27" y="29"/>
                    <a:pt x="31" y="14"/>
                    <a:pt x="34" y="0"/>
                  </a:cubicBezTo>
                  <a:cubicBezTo>
                    <a:pt x="44" y="0"/>
                    <a:pt x="44" y="0"/>
                    <a:pt x="44" y="0"/>
                  </a:cubicBezTo>
                  <a:cubicBezTo>
                    <a:pt x="40" y="16"/>
                    <a:pt x="35" y="33"/>
                    <a:pt x="29" y="48"/>
                  </a:cubicBezTo>
                  <a:cubicBezTo>
                    <a:pt x="15" y="48"/>
                    <a:pt x="15" y="48"/>
                    <a:pt x="15" y="48"/>
                  </a:cubicBezTo>
                  <a:cubicBezTo>
                    <a:pt x="9" y="33"/>
                    <a:pt x="4" y="16"/>
                    <a:pt x="0" y="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2" name="Freeform 9">
              <a:extLst>
                <a:ext uri="{FF2B5EF4-FFF2-40B4-BE49-F238E27FC236}">
                  <a16:creationId xmlns:a16="http://schemas.microsoft.com/office/drawing/2014/main" id="{20054A5B-B573-4098-B778-F53C18EF78DE}"/>
                </a:ext>
              </a:extLst>
            </p:cNvPr>
            <p:cNvSpPr>
              <a:spLocks noEditPoints="1"/>
            </p:cNvSpPr>
            <p:nvPr userDrawn="1"/>
          </p:nvSpPr>
          <p:spPr bwMode="auto">
            <a:xfrm>
              <a:off x="-1136"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0 w 40"/>
                <a:gd name="T21" fmla="*/ 21 h 51"/>
                <a:gd name="T22" fmla="*/ 21 w 40"/>
                <a:gd name="T23" fmla="*/ 8 h 51"/>
                <a:gd name="T24" fmla="*/ 10 w 40"/>
                <a:gd name="T25" fmla="*/ 21 h 51"/>
                <a:gd name="T26" fmla="*/ 30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3" y="0"/>
                    <a:pt x="40" y="8"/>
                    <a:pt x="40" y="22"/>
                  </a:cubicBezTo>
                  <a:cubicBezTo>
                    <a:pt x="40" y="24"/>
                    <a:pt x="40" y="26"/>
                    <a:pt x="39" y="28"/>
                  </a:cubicBezTo>
                  <a:cubicBezTo>
                    <a:pt x="10" y="28"/>
                    <a:pt x="10" y="28"/>
                    <a:pt x="10" y="28"/>
                  </a:cubicBezTo>
                  <a:cubicBezTo>
                    <a:pt x="11" y="37"/>
                    <a:pt x="15" y="42"/>
                    <a:pt x="23" y="42"/>
                  </a:cubicBezTo>
                  <a:cubicBezTo>
                    <a:pt x="28" y="42"/>
                    <a:pt x="33" y="40"/>
                    <a:pt x="37" y="39"/>
                  </a:cubicBezTo>
                  <a:cubicBezTo>
                    <a:pt x="40" y="46"/>
                    <a:pt x="40" y="46"/>
                    <a:pt x="40" y="46"/>
                  </a:cubicBezTo>
                  <a:cubicBezTo>
                    <a:pt x="35" y="48"/>
                    <a:pt x="29" y="51"/>
                    <a:pt x="22" y="51"/>
                  </a:cubicBezTo>
                  <a:cubicBezTo>
                    <a:pt x="9" y="51"/>
                    <a:pt x="0" y="42"/>
                    <a:pt x="0" y="25"/>
                  </a:cubicBezTo>
                  <a:cubicBezTo>
                    <a:pt x="0" y="10"/>
                    <a:pt x="7" y="0"/>
                    <a:pt x="21" y="0"/>
                  </a:cubicBezTo>
                  <a:moveTo>
                    <a:pt x="30" y="21"/>
                  </a:moveTo>
                  <a:cubicBezTo>
                    <a:pt x="30" y="14"/>
                    <a:pt x="28" y="8"/>
                    <a:pt x="21" y="8"/>
                  </a:cubicBezTo>
                  <a:cubicBezTo>
                    <a:pt x="14" y="8"/>
                    <a:pt x="10" y="13"/>
                    <a:pt x="10" y="21"/>
                  </a:cubicBezTo>
                  <a:lnTo>
                    <a:pt x="30"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3" name="Freeform 10">
              <a:extLst>
                <a:ext uri="{FF2B5EF4-FFF2-40B4-BE49-F238E27FC236}">
                  <a16:creationId xmlns:a16="http://schemas.microsoft.com/office/drawing/2014/main" id="{78808505-2888-44D4-B4C5-74725A248953}"/>
                </a:ext>
              </a:extLst>
            </p:cNvPr>
            <p:cNvSpPr>
              <a:spLocks/>
            </p:cNvSpPr>
            <p:nvPr userDrawn="1"/>
          </p:nvSpPr>
          <p:spPr bwMode="auto">
            <a:xfrm>
              <a:off x="-1023" y="-1337"/>
              <a:ext cx="90" cy="123"/>
            </a:xfrm>
            <a:custGeom>
              <a:avLst/>
              <a:gdLst>
                <a:gd name="T0" fmla="*/ 2 w 37"/>
                <a:gd name="T1" fmla="*/ 40 h 51"/>
                <a:gd name="T2" fmla="*/ 16 w 37"/>
                <a:gd name="T3" fmla="*/ 42 h 51"/>
                <a:gd name="T4" fmla="*/ 27 w 37"/>
                <a:gd name="T5" fmla="*/ 36 h 51"/>
                <a:gd name="T6" fmla="*/ 16 w 37"/>
                <a:gd name="T7" fmla="*/ 28 h 51"/>
                <a:gd name="T8" fmla="*/ 1 w 37"/>
                <a:gd name="T9" fmla="*/ 14 h 51"/>
                <a:gd name="T10" fmla="*/ 20 w 37"/>
                <a:gd name="T11" fmla="*/ 0 h 51"/>
                <a:gd name="T12" fmla="*/ 34 w 37"/>
                <a:gd name="T13" fmla="*/ 1 h 51"/>
                <a:gd name="T14" fmla="*/ 33 w 37"/>
                <a:gd name="T15" fmla="*/ 9 h 51"/>
                <a:gd name="T16" fmla="*/ 20 w 37"/>
                <a:gd name="T17" fmla="*/ 8 h 51"/>
                <a:gd name="T18" fmla="*/ 11 w 37"/>
                <a:gd name="T19" fmla="*/ 13 h 51"/>
                <a:gd name="T20" fmla="*/ 23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6" y="42"/>
                  </a:cubicBezTo>
                  <a:cubicBezTo>
                    <a:pt x="23" y="42"/>
                    <a:pt x="27" y="41"/>
                    <a:pt x="27" y="36"/>
                  </a:cubicBezTo>
                  <a:cubicBezTo>
                    <a:pt x="27" y="32"/>
                    <a:pt x="24" y="31"/>
                    <a:pt x="16" y="28"/>
                  </a:cubicBezTo>
                  <a:cubicBezTo>
                    <a:pt x="8" y="26"/>
                    <a:pt x="1" y="23"/>
                    <a:pt x="1" y="14"/>
                  </a:cubicBezTo>
                  <a:cubicBezTo>
                    <a:pt x="1" y="5"/>
                    <a:pt x="9" y="0"/>
                    <a:pt x="20" y="0"/>
                  </a:cubicBezTo>
                  <a:cubicBezTo>
                    <a:pt x="24" y="0"/>
                    <a:pt x="30" y="0"/>
                    <a:pt x="34" y="1"/>
                  </a:cubicBezTo>
                  <a:cubicBezTo>
                    <a:pt x="33" y="9"/>
                    <a:pt x="33" y="9"/>
                    <a:pt x="33" y="9"/>
                  </a:cubicBezTo>
                  <a:cubicBezTo>
                    <a:pt x="29" y="9"/>
                    <a:pt x="24" y="8"/>
                    <a:pt x="20" y="8"/>
                  </a:cubicBezTo>
                  <a:cubicBezTo>
                    <a:pt x="14" y="8"/>
                    <a:pt x="11" y="10"/>
                    <a:pt x="11" y="13"/>
                  </a:cubicBezTo>
                  <a:cubicBezTo>
                    <a:pt x="11" y="18"/>
                    <a:pt x="16" y="19"/>
                    <a:pt x="23"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4" name="Freeform 11">
              <a:extLst>
                <a:ext uri="{FF2B5EF4-FFF2-40B4-BE49-F238E27FC236}">
                  <a16:creationId xmlns:a16="http://schemas.microsoft.com/office/drawing/2014/main" id="{427426D6-5091-4743-942A-F26DC57B2E2E}"/>
                </a:ext>
              </a:extLst>
            </p:cNvPr>
            <p:cNvSpPr>
              <a:spLocks/>
            </p:cNvSpPr>
            <p:nvPr userDrawn="1"/>
          </p:nvSpPr>
          <p:spPr bwMode="auto">
            <a:xfrm>
              <a:off x="-921" y="-1368"/>
              <a:ext cx="75" cy="151"/>
            </a:xfrm>
            <a:custGeom>
              <a:avLst/>
              <a:gdLst>
                <a:gd name="T0" fmla="*/ 7 w 31"/>
                <a:gd name="T1" fmla="*/ 22 h 63"/>
                <a:gd name="T2" fmla="*/ 0 w 31"/>
                <a:gd name="T3" fmla="*/ 22 h 63"/>
                <a:gd name="T4" fmla="*/ 0 w 31"/>
                <a:gd name="T5" fmla="*/ 14 h 63"/>
                <a:gd name="T6" fmla="*/ 8 w 31"/>
                <a:gd name="T7" fmla="*/ 14 h 63"/>
                <a:gd name="T8" fmla="*/ 8 w 31"/>
                <a:gd name="T9" fmla="*/ 0 h 63"/>
                <a:gd name="T10" fmla="*/ 17 w 31"/>
                <a:gd name="T11" fmla="*/ 0 h 63"/>
                <a:gd name="T12" fmla="*/ 17 w 31"/>
                <a:gd name="T13" fmla="*/ 14 h 63"/>
                <a:gd name="T14" fmla="*/ 30 w 31"/>
                <a:gd name="T15" fmla="*/ 14 h 63"/>
                <a:gd name="T16" fmla="*/ 30 w 31"/>
                <a:gd name="T17" fmla="*/ 22 h 63"/>
                <a:gd name="T18" fmla="*/ 17 w 31"/>
                <a:gd name="T19" fmla="*/ 22 h 63"/>
                <a:gd name="T20" fmla="*/ 17 w 31"/>
                <a:gd name="T21" fmla="*/ 50 h 63"/>
                <a:gd name="T22" fmla="*/ 22 w 31"/>
                <a:gd name="T23" fmla="*/ 55 h 63"/>
                <a:gd name="T24" fmla="*/ 28 w 31"/>
                <a:gd name="T25" fmla="*/ 53 h 63"/>
                <a:gd name="T26" fmla="*/ 31 w 31"/>
                <a:gd name="T27" fmla="*/ 60 h 63"/>
                <a:gd name="T28" fmla="*/ 19 w 31"/>
                <a:gd name="T29" fmla="*/ 63 h 63"/>
                <a:gd name="T30" fmla="*/ 7 w 31"/>
                <a:gd name="T31" fmla="*/ 51 h 63"/>
                <a:gd name="T32" fmla="*/ 7 w 31"/>
                <a:gd name="T33"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63">
                  <a:moveTo>
                    <a:pt x="7" y="22"/>
                  </a:moveTo>
                  <a:cubicBezTo>
                    <a:pt x="0" y="22"/>
                    <a:pt x="0" y="22"/>
                    <a:pt x="0" y="22"/>
                  </a:cubicBezTo>
                  <a:cubicBezTo>
                    <a:pt x="0" y="14"/>
                    <a:pt x="0" y="14"/>
                    <a:pt x="0" y="14"/>
                  </a:cubicBezTo>
                  <a:cubicBezTo>
                    <a:pt x="8" y="14"/>
                    <a:pt x="8" y="14"/>
                    <a:pt x="8" y="14"/>
                  </a:cubicBezTo>
                  <a:cubicBezTo>
                    <a:pt x="8" y="0"/>
                    <a:pt x="8" y="0"/>
                    <a:pt x="8" y="0"/>
                  </a:cubicBezTo>
                  <a:cubicBezTo>
                    <a:pt x="17" y="0"/>
                    <a:pt x="17" y="0"/>
                    <a:pt x="17" y="0"/>
                  </a:cubicBezTo>
                  <a:cubicBezTo>
                    <a:pt x="17" y="14"/>
                    <a:pt x="17" y="14"/>
                    <a:pt x="17" y="14"/>
                  </a:cubicBezTo>
                  <a:cubicBezTo>
                    <a:pt x="30" y="14"/>
                    <a:pt x="30" y="14"/>
                    <a:pt x="30" y="14"/>
                  </a:cubicBezTo>
                  <a:cubicBezTo>
                    <a:pt x="30" y="22"/>
                    <a:pt x="30" y="22"/>
                    <a:pt x="30" y="22"/>
                  </a:cubicBezTo>
                  <a:cubicBezTo>
                    <a:pt x="17" y="22"/>
                    <a:pt x="17" y="22"/>
                    <a:pt x="17" y="22"/>
                  </a:cubicBezTo>
                  <a:cubicBezTo>
                    <a:pt x="17" y="50"/>
                    <a:pt x="17" y="50"/>
                    <a:pt x="17" y="50"/>
                  </a:cubicBezTo>
                  <a:cubicBezTo>
                    <a:pt x="17" y="53"/>
                    <a:pt x="18" y="55"/>
                    <a:pt x="22" y="55"/>
                  </a:cubicBezTo>
                  <a:cubicBezTo>
                    <a:pt x="24" y="55"/>
                    <a:pt x="26" y="54"/>
                    <a:pt x="28" y="53"/>
                  </a:cubicBezTo>
                  <a:cubicBezTo>
                    <a:pt x="31" y="60"/>
                    <a:pt x="31" y="60"/>
                    <a:pt x="31" y="60"/>
                  </a:cubicBezTo>
                  <a:cubicBezTo>
                    <a:pt x="28" y="62"/>
                    <a:pt x="24" y="63"/>
                    <a:pt x="19" y="63"/>
                  </a:cubicBezTo>
                  <a:cubicBezTo>
                    <a:pt x="12" y="63"/>
                    <a:pt x="7" y="59"/>
                    <a:pt x="7" y="51"/>
                  </a:cubicBezTo>
                  <a:lnTo>
                    <a:pt x="7" y="22"/>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5" name="Freeform 12">
              <a:extLst>
                <a:ext uri="{FF2B5EF4-FFF2-40B4-BE49-F238E27FC236}">
                  <a16:creationId xmlns:a16="http://schemas.microsoft.com/office/drawing/2014/main" id="{D06B6BC2-D51B-4FBE-B5ED-B1DCBD82DF03}"/>
                </a:ext>
              </a:extLst>
            </p:cNvPr>
            <p:cNvSpPr>
              <a:spLocks noEditPoints="1"/>
            </p:cNvSpPr>
            <p:nvPr userDrawn="1"/>
          </p:nvSpPr>
          <p:spPr bwMode="auto">
            <a:xfrm>
              <a:off x="-822" y="-1383"/>
              <a:ext cx="22" cy="164"/>
            </a:xfrm>
            <a:custGeom>
              <a:avLst/>
              <a:gdLst>
                <a:gd name="T0" fmla="*/ 0 w 22"/>
                <a:gd name="T1" fmla="*/ 0 h 164"/>
                <a:gd name="T2" fmla="*/ 22 w 22"/>
                <a:gd name="T3" fmla="*/ 0 h 164"/>
                <a:gd name="T4" fmla="*/ 22 w 22"/>
                <a:gd name="T5" fmla="*/ 27 h 164"/>
                <a:gd name="T6" fmla="*/ 0 w 22"/>
                <a:gd name="T7" fmla="*/ 27 h 164"/>
                <a:gd name="T8" fmla="*/ 0 w 22"/>
                <a:gd name="T9" fmla="*/ 0 h 164"/>
                <a:gd name="T10" fmla="*/ 0 w 22"/>
                <a:gd name="T11" fmla="*/ 48 h 164"/>
                <a:gd name="T12" fmla="*/ 22 w 22"/>
                <a:gd name="T13" fmla="*/ 48 h 164"/>
                <a:gd name="T14" fmla="*/ 22 w 22"/>
                <a:gd name="T15" fmla="*/ 164 h 164"/>
                <a:gd name="T16" fmla="*/ 0 w 22"/>
                <a:gd name="T17" fmla="*/ 164 h 164"/>
                <a:gd name="T18" fmla="*/ 0 w 22"/>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64">
                  <a:moveTo>
                    <a:pt x="0" y="0"/>
                  </a:moveTo>
                  <a:lnTo>
                    <a:pt x="22" y="0"/>
                  </a:lnTo>
                  <a:lnTo>
                    <a:pt x="22" y="27"/>
                  </a:lnTo>
                  <a:lnTo>
                    <a:pt x="0" y="27"/>
                  </a:lnTo>
                  <a:lnTo>
                    <a:pt x="0" y="0"/>
                  </a:lnTo>
                  <a:close/>
                  <a:moveTo>
                    <a:pt x="0" y="48"/>
                  </a:moveTo>
                  <a:lnTo>
                    <a:pt x="22" y="48"/>
                  </a:lnTo>
                  <a:lnTo>
                    <a:pt x="22"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6" name="Freeform 13">
              <a:extLst>
                <a:ext uri="{FF2B5EF4-FFF2-40B4-BE49-F238E27FC236}">
                  <a16:creationId xmlns:a16="http://schemas.microsoft.com/office/drawing/2014/main" id="{D76085D6-5CEA-4E5A-8D34-D87DEF0616D9}"/>
                </a:ext>
              </a:extLst>
            </p:cNvPr>
            <p:cNvSpPr>
              <a:spLocks/>
            </p:cNvSpPr>
            <p:nvPr userDrawn="1"/>
          </p:nvSpPr>
          <p:spPr bwMode="auto">
            <a:xfrm>
              <a:off x="-764" y="-1337"/>
              <a:ext cx="96"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8" y="8"/>
                    <a:pt x="22" y="8"/>
                  </a:cubicBezTo>
                  <a:cubicBezTo>
                    <a:pt x="18"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7" name="Freeform 14">
              <a:extLst>
                <a:ext uri="{FF2B5EF4-FFF2-40B4-BE49-F238E27FC236}">
                  <a16:creationId xmlns:a16="http://schemas.microsoft.com/office/drawing/2014/main" id="{3DC2D50B-15B1-4CAB-A1AA-C9146A76D5EB}"/>
                </a:ext>
              </a:extLst>
            </p:cNvPr>
            <p:cNvSpPr>
              <a:spLocks noEditPoints="1"/>
            </p:cNvSpPr>
            <p:nvPr userDrawn="1"/>
          </p:nvSpPr>
          <p:spPr bwMode="auto">
            <a:xfrm>
              <a:off x="-639" y="-1337"/>
              <a:ext cx="97" cy="168"/>
            </a:xfrm>
            <a:custGeom>
              <a:avLst/>
              <a:gdLst>
                <a:gd name="T0" fmla="*/ 20 w 40"/>
                <a:gd name="T1" fmla="*/ 61 h 70"/>
                <a:gd name="T2" fmla="*/ 31 w 40"/>
                <a:gd name="T3" fmla="*/ 53 h 70"/>
                <a:gd name="T4" fmla="*/ 31 w 40"/>
                <a:gd name="T5" fmla="*/ 47 h 70"/>
                <a:gd name="T6" fmla="*/ 18 w 40"/>
                <a:gd name="T7" fmla="*/ 51 h 70"/>
                <a:gd name="T8" fmla="*/ 0 w 40"/>
                <a:gd name="T9" fmla="*/ 25 h 70"/>
                <a:gd name="T10" fmla="*/ 20 w 40"/>
                <a:gd name="T11" fmla="*/ 0 h 70"/>
                <a:gd name="T12" fmla="*/ 40 w 40"/>
                <a:gd name="T13" fmla="*/ 3 h 70"/>
                <a:gd name="T14" fmla="*/ 40 w 40"/>
                <a:gd name="T15" fmla="*/ 54 h 70"/>
                <a:gd name="T16" fmla="*/ 20 w 40"/>
                <a:gd name="T17" fmla="*/ 70 h 70"/>
                <a:gd name="T18" fmla="*/ 5 w 40"/>
                <a:gd name="T19" fmla="*/ 68 h 70"/>
                <a:gd name="T20" fmla="*/ 6 w 40"/>
                <a:gd name="T21" fmla="*/ 60 h 70"/>
                <a:gd name="T22" fmla="*/ 20 w 40"/>
                <a:gd name="T23" fmla="*/ 61 h 70"/>
                <a:gd name="T24" fmla="*/ 31 w 40"/>
                <a:gd name="T25" fmla="*/ 40 h 70"/>
                <a:gd name="T26" fmla="*/ 31 w 40"/>
                <a:gd name="T27" fmla="*/ 9 h 70"/>
                <a:gd name="T28" fmla="*/ 21 w 40"/>
                <a:gd name="T29" fmla="*/ 7 h 70"/>
                <a:gd name="T30" fmla="*/ 10 w 40"/>
                <a:gd name="T31" fmla="*/ 25 h 70"/>
                <a:gd name="T32" fmla="*/ 20 w 40"/>
                <a:gd name="T33" fmla="*/ 42 h 70"/>
                <a:gd name="T34" fmla="*/ 31 w 40"/>
                <a:gd name="T35" fmla="*/ 4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 h="70">
                  <a:moveTo>
                    <a:pt x="20" y="61"/>
                  </a:moveTo>
                  <a:cubicBezTo>
                    <a:pt x="26" y="61"/>
                    <a:pt x="31" y="60"/>
                    <a:pt x="31" y="53"/>
                  </a:cubicBezTo>
                  <a:cubicBezTo>
                    <a:pt x="31" y="47"/>
                    <a:pt x="31" y="47"/>
                    <a:pt x="31" y="47"/>
                  </a:cubicBezTo>
                  <a:cubicBezTo>
                    <a:pt x="27" y="49"/>
                    <a:pt x="23" y="51"/>
                    <a:pt x="18" y="51"/>
                  </a:cubicBezTo>
                  <a:cubicBezTo>
                    <a:pt x="5" y="51"/>
                    <a:pt x="0" y="41"/>
                    <a:pt x="0" y="25"/>
                  </a:cubicBezTo>
                  <a:cubicBezTo>
                    <a:pt x="0" y="7"/>
                    <a:pt x="6" y="0"/>
                    <a:pt x="20" y="0"/>
                  </a:cubicBezTo>
                  <a:cubicBezTo>
                    <a:pt x="26" y="0"/>
                    <a:pt x="35" y="1"/>
                    <a:pt x="40" y="3"/>
                  </a:cubicBezTo>
                  <a:cubicBezTo>
                    <a:pt x="40" y="54"/>
                    <a:pt x="40" y="54"/>
                    <a:pt x="40" y="54"/>
                  </a:cubicBezTo>
                  <a:cubicBezTo>
                    <a:pt x="40" y="66"/>
                    <a:pt x="32" y="70"/>
                    <a:pt x="20" y="70"/>
                  </a:cubicBezTo>
                  <a:cubicBezTo>
                    <a:pt x="15" y="70"/>
                    <a:pt x="10" y="69"/>
                    <a:pt x="5" y="68"/>
                  </a:cubicBezTo>
                  <a:cubicBezTo>
                    <a:pt x="6" y="60"/>
                    <a:pt x="6" y="60"/>
                    <a:pt x="6" y="60"/>
                  </a:cubicBezTo>
                  <a:cubicBezTo>
                    <a:pt x="10" y="61"/>
                    <a:pt x="15" y="61"/>
                    <a:pt x="20" y="61"/>
                  </a:cubicBezTo>
                  <a:moveTo>
                    <a:pt x="31" y="40"/>
                  </a:moveTo>
                  <a:cubicBezTo>
                    <a:pt x="31" y="9"/>
                    <a:pt x="31" y="9"/>
                    <a:pt x="31" y="9"/>
                  </a:cubicBezTo>
                  <a:cubicBezTo>
                    <a:pt x="28" y="8"/>
                    <a:pt x="24" y="7"/>
                    <a:pt x="21" y="7"/>
                  </a:cubicBezTo>
                  <a:cubicBezTo>
                    <a:pt x="12" y="7"/>
                    <a:pt x="10" y="13"/>
                    <a:pt x="10" y="25"/>
                  </a:cubicBezTo>
                  <a:cubicBezTo>
                    <a:pt x="10" y="36"/>
                    <a:pt x="12" y="42"/>
                    <a:pt x="20" y="42"/>
                  </a:cubicBezTo>
                  <a:cubicBezTo>
                    <a:pt x="24" y="42"/>
                    <a:pt x="27" y="41"/>
                    <a:pt x="31" y="4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8" name="Freeform 15">
              <a:extLst>
                <a:ext uri="{FF2B5EF4-FFF2-40B4-BE49-F238E27FC236}">
                  <a16:creationId xmlns:a16="http://schemas.microsoft.com/office/drawing/2014/main" id="{5855BC47-8DE8-4582-8408-AE2779AF28E3}"/>
                </a:ext>
              </a:extLst>
            </p:cNvPr>
            <p:cNvSpPr>
              <a:spLocks noEditPoints="1"/>
            </p:cNvSpPr>
            <p:nvPr userDrawn="1"/>
          </p:nvSpPr>
          <p:spPr bwMode="auto">
            <a:xfrm>
              <a:off x="-446" y="-1383"/>
              <a:ext cx="22" cy="164"/>
            </a:xfrm>
            <a:custGeom>
              <a:avLst/>
              <a:gdLst>
                <a:gd name="T0" fmla="*/ 0 w 22"/>
                <a:gd name="T1" fmla="*/ 0 h 164"/>
                <a:gd name="T2" fmla="*/ 22 w 22"/>
                <a:gd name="T3" fmla="*/ 0 h 164"/>
                <a:gd name="T4" fmla="*/ 22 w 22"/>
                <a:gd name="T5" fmla="*/ 27 h 164"/>
                <a:gd name="T6" fmla="*/ 0 w 22"/>
                <a:gd name="T7" fmla="*/ 27 h 164"/>
                <a:gd name="T8" fmla="*/ 0 w 22"/>
                <a:gd name="T9" fmla="*/ 0 h 164"/>
                <a:gd name="T10" fmla="*/ 0 w 22"/>
                <a:gd name="T11" fmla="*/ 48 h 164"/>
                <a:gd name="T12" fmla="*/ 22 w 22"/>
                <a:gd name="T13" fmla="*/ 48 h 164"/>
                <a:gd name="T14" fmla="*/ 22 w 22"/>
                <a:gd name="T15" fmla="*/ 164 h 164"/>
                <a:gd name="T16" fmla="*/ 0 w 22"/>
                <a:gd name="T17" fmla="*/ 164 h 164"/>
                <a:gd name="T18" fmla="*/ 0 w 22"/>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64">
                  <a:moveTo>
                    <a:pt x="0" y="0"/>
                  </a:moveTo>
                  <a:lnTo>
                    <a:pt x="22" y="0"/>
                  </a:lnTo>
                  <a:lnTo>
                    <a:pt x="22" y="27"/>
                  </a:lnTo>
                  <a:lnTo>
                    <a:pt x="0" y="27"/>
                  </a:lnTo>
                  <a:lnTo>
                    <a:pt x="0" y="0"/>
                  </a:lnTo>
                  <a:close/>
                  <a:moveTo>
                    <a:pt x="0" y="48"/>
                  </a:moveTo>
                  <a:lnTo>
                    <a:pt x="22" y="48"/>
                  </a:lnTo>
                  <a:lnTo>
                    <a:pt x="22"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9" name="Freeform 16">
              <a:extLst>
                <a:ext uri="{FF2B5EF4-FFF2-40B4-BE49-F238E27FC236}">
                  <a16:creationId xmlns:a16="http://schemas.microsoft.com/office/drawing/2014/main" id="{AB10AA27-E556-4BD1-8DFF-F327FEDC1A62}"/>
                </a:ext>
              </a:extLst>
            </p:cNvPr>
            <p:cNvSpPr>
              <a:spLocks/>
            </p:cNvSpPr>
            <p:nvPr userDrawn="1"/>
          </p:nvSpPr>
          <p:spPr bwMode="auto">
            <a:xfrm>
              <a:off x="-388" y="-1337"/>
              <a:ext cx="97"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7" y="8"/>
                    <a:pt x="22" y="8"/>
                  </a:cubicBezTo>
                  <a:cubicBezTo>
                    <a:pt x="18"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0" name="Freeform 17">
              <a:extLst>
                <a:ext uri="{FF2B5EF4-FFF2-40B4-BE49-F238E27FC236}">
                  <a16:creationId xmlns:a16="http://schemas.microsoft.com/office/drawing/2014/main" id="{D1B4C25C-80A5-4C27-9320-967A9E66C531}"/>
                </a:ext>
              </a:extLst>
            </p:cNvPr>
            <p:cNvSpPr>
              <a:spLocks/>
            </p:cNvSpPr>
            <p:nvPr userDrawn="1"/>
          </p:nvSpPr>
          <p:spPr bwMode="auto">
            <a:xfrm>
              <a:off x="-197" y="-1383"/>
              <a:ext cx="97" cy="164"/>
            </a:xfrm>
            <a:custGeom>
              <a:avLst/>
              <a:gdLst>
                <a:gd name="T0" fmla="*/ 0 w 40"/>
                <a:gd name="T1" fmla="*/ 0 h 68"/>
                <a:gd name="T2" fmla="*/ 10 w 40"/>
                <a:gd name="T3" fmla="*/ 0 h 68"/>
                <a:gd name="T4" fmla="*/ 10 w 40"/>
                <a:gd name="T5" fmla="*/ 23 h 68"/>
                <a:gd name="T6" fmla="*/ 24 w 40"/>
                <a:gd name="T7" fmla="*/ 19 h 68"/>
                <a:gd name="T8" fmla="*/ 40 w 40"/>
                <a:gd name="T9" fmla="*/ 35 h 68"/>
                <a:gd name="T10" fmla="*/ 40 w 40"/>
                <a:gd name="T11" fmla="*/ 68 h 68"/>
                <a:gd name="T12" fmla="*/ 30 w 40"/>
                <a:gd name="T13" fmla="*/ 68 h 68"/>
                <a:gd name="T14" fmla="*/ 30 w 40"/>
                <a:gd name="T15" fmla="*/ 36 h 68"/>
                <a:gd name="T16" fmla="*/ 22 w 40"/>
                <a:gd name="T17" fmla="*/ 27 h 68"/>
                <a:gd name="T18" fmla="*/ 10 w 40"/>
                <a:gd name="T19" fmla="*/ 30 h 68"/>
                <a:gd name="T20" fmla="*/ 10 w 40"/>
                <a:gd name="T21" fmla="*/ 68 h 68"/>
                <a:gd name="T22" fmla="*/ 0 w 40"/>
                <a:gd name="T23" fmla="*/ 68 h 68"/>
                <a:gd name="T24" fmla="*/ 0 w 40"/>
                <a:gd name="T25"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68">
                  <a:moveTo>
                    <a:pt x="0" y="0"/>
                  </a:moveTo>
                  <a:cubicBezTo>
                    <a:pt x="10" y="0"/>
                    <a:pt x="10" y="0"/>
                    <a:pt x="10" y="0"/>
                  </a:cubicBezTo>
                  <a:cubicBezTo>
                    <a:pt x="10" y="23"/>
                    <a:pt x="10" y="23"/>
                    <a:pt x="10" y="23"/>
                  </a:cubicBezTo>
                  <a:cubicBezTo>
                    <a:pt x="13" y="21"/>
                    <a:pt x="18" y="19"/>
                    <a:pt x="24" y="19"/>
                  </a:cubicBezTo>
                  <a:cubicBezTo>
                    <a:pt x="34" y="19"/>
                    <a:pt x="40" y="24"/>
                    <a:pt x="40" y="35"/>
                  </a:cubicBezTo>
                  <a:cubicBezTo>
                    <a:pt x="40" y="68"/>
                    <a:pt x="40" y="68"/>
                    <a:pt x="40" y="68"/>
                  </a:cubicBezTo>
                  <a:cubicBezTo>
                    <a:pt x="30" y="68"/>
                    <a:pt x="30" y="68"/>
                    <a:pt x="30" y="68"/>
                  </a:cubicBezTo>
                  <a:cubicBezTo>
                    <a:pt x="30" y="36"/>
                    <a:pt x="30" y="36"/>
                    <a:pt x="30" y="36"/>
                  </a:cubicBezTo>
                  <a:cubicBezTo>
                    <a:pt x="30" y="30"/>
                    <a:pt x="28" y="27"/>
                    <a:pt x="22" y="27"/>
                  </a:cubicBezTo>
                  <a:cubicBezTo>
                    <a:pt x="18" y="27"/>
                    <a:pt x="13" y="29"/>
                    <a:pt x="10" y="30"/>
                  </a:cubicBezTo>
                  <a:cubicBezTo>
                    <a:pt x="10" y="68"/>
                    <a:pt x="10" y="68"/>
                    <a:pt x="10" y="68"/>
                  </a:cubicBezTo>
                  <a:cubicBezTo>
                    <a:pt x="0" y="68"/>
                    <a:pt x="0" y="68"/>
                    <a:pt x="0" y="68"/>
                  </a:cubicBezTo>
                  <a:lnTo>
                    <a:pt x="0" y="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1" name="Freeform 18">
              <a:extLst>
                <a:ext uri="{FF2B5EF4-FFF2-40B4-BE49-F238E27FC236}">
                  <a16:creationId xmlns:a16="http://schemas.microsoft.com/office/drawing/2014/main" id="{8896C2EC-C2A7-41BB-9D35-A8A87BF1FACF}"/>
                </a:ext>
              </a:extLst>
            </p:cNvPr>
            <p:cNvSpPr>
              <a:spLocks noEditPoints="1"/>
            </p:cNvSpPr>
            <p:nvPr userDrawn="1"/>
          </p:nvSpPr>
          <p:spPr bwMode="auto">
            <a:xfrm>
              <a:off x="-74" y="-1337"/>
              <a:ext cx="106" cy="123"/>
            </a:xfrm>
            <a:custGeom>
              <a:avLst/>
              <a:gdLst>
                <a:gd name="T0" fmla="*/ 22 w 44"/>
                <a:gd name="T1" fmla="*/ 0 h 51"/>
                <a:gd name="T2" fmla="*/ 44 w 44"/>
                <a:gd name="T3" fmla="*/ 25 h 51"/>
                <a:gd name="T4" fmla="*/ 22 w 44"/>
                <a:gd name="T5" fmla="*/ 51 h 51"/>
                <a:gd name="T6" fmla="*/ 0 w 44"/>
                <a:gd name="T7" fmla="*/ 25 h 51"/>
                <a:gd name="T8" fmla="*/ 22 w 44"/>
                <a:gd name="T9" fmla="*/ 0 h 51"/>
                <a:gd name="T10" fmla="*/ 35 w 44"/>
                <a:gd name="T11" fmla="*/ 25 h 51"/>
                <a:gd name="T12" fmla="*/ 22 w 44"/>
                <a:gd name="T13" fmla="*/ 8 h 51"/>
                <a:gd name="T14" fmla="*/ 10 w 44"/>
                <a:gd name="T15" fmla="*/ 25 h 51"/>
                <a:gd name="T16" fmla="*/ 22 w 44"/>
                <a:gd name="T17" fmla="*/ 42 h 51"/>
                <a:gd name="T18" fmla="*/ 35 w 44"/>
                <a:gd name="T19"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51">
                  <a:moveTo>
                    <a:pt x="22" y="0"/>
                  </a:moveTo>
                  <a:cubicBezTo>
                    <a:pt x="38" y="0"/>
                    <a:pt x="44" y="10"/>
                    <a:pt x="44" y="25"/>
                  </a:cubicBezTo>
                  <a:cubicBezTo>
                    <a:pt x="44" y="40"/>
                    <a:pt x="38" y="51"/>
                    <a:pt x="22" y="51"/>
                  </a:cubicBezTo>
                  <a:cubicBezTo>
                    <a:pt x="6" y="51"/>
                    <a:pt x="0" y="40"/>
                    <a:pt x="0" y="25"/>
                  </a:cubicBezTo>
                  <a:cubicBezTo>
                    <a:pt x="0" y="10"/>
                    <a:pt x="6" y="0"/>
                    <a:pt x="22" y="0"/>
                  </a:cubicBezTo>
                  <a:moveTo>
                    <a:pt x="35" y="25"/>
                  </a:moveTo>
                  <a:cubicBezTo>
                    <a:pt x="35" y="15"/>
                    <a:pt x="32" y="8"/>
                    <a:pt x="22" y="8"/>
                  </a:cubicBezTo>
                  <a:cubicBezTo>
                    <a:pt x="12" y="8"/>
                    <a:pt x="10" y="15"/>
                    <a:pt x="10" y="25"/>
                  </a:cubicBezTo>
                  <a:cubicBezTo>
                    <a:pt x="10" y="35"/>
                    <a:pt x="12" y="42"/>
                    <a:pt x="22" y="42"/>
                  </a:cubicBezTo>
                  <a:cubicBezTo>
                    <a:pt x="32" y="42"/>
                    <a:pt x="35" y="35"/>
                    <a:pt x="35" y="25"/>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2" name="Freeform 19">
              <a:extLst>
                <a:ext uri="{FF2B5EF4-FFF2-40B4-BE49-F238E27FC236}">
                  <a16:creationId xmlns:a16="http://schemas.microsoft.com/office/drawing/2014/main" id="{9CF3CE02-4085-478C-AC4C-03790325F15C}"/>
                </a:ext>
              </a:extLst>
            </p:cNvPr>
            <p:cNvSpPr>
              <a:spLocks/>
            </p:cNvSpPr>
            <p:nvPr userDrawn="1"/>
          </p:nvSpPr>
          <p:spPr bwMode="auto">
            <a:xfrm>
              <a:off x="61" y="-1337"/>
              <a:ext cx="160" cy="118"/>
            </a:xfrm>
            <a:custGeom>
              <a:avLst/>
              <a:gdLst>
                <a:gd name="T0" fmla="*/ 0 w 66"/>
                <a:gd name="T1" fmla="*/ 1 h 49"/>
                <a:gd name="T2" fmla="*/ 7 w 66"/>
                <a:gd name="T3" fmla="*/ 1 h 49"/>
                <a:gd name="T4" fmla="*/ 8 w 66"/>
                <a:gd name="T5" fmla="*/ 5 h 49"/>
                <a:gd name="T6" fmla="*/ 22 w 66"/>
                <a:gd name="T7" fmla="*/ 0 h 49"/>
                <a:gd name="T8" fmla="*/ 35 w 66"/>
                <a:gd name="T9" fmla="*/ 6 h 49"/>
                <a:gd name="T10" fmla="*/ 51 w 66"/>
                <a:gd name="T11" fmla="*/ 0 h 49"/>
                <a:gd name="T12" fmla="*/ 66 w 66"/>
                <a:gd name="T13" fmla="*/ 16 h 49"/>
                <a:gd name="T14" fmla="*/ 66 w 66"/>
                <a:gd name="T15" fmla="*/ 49 h 49"/>
                <a:gd name="T16" fmla="*/ 57 w 66"/>
                <a:gd name="T17" fmla="*/ 49 h 49"/>
                <a:gd name="T18" fmla="*/ 57 w 66"/>
                <a:gd name="T19" fmla="*/ 17 h 49"/>
                <a:gd name="T20" fmla="*/ 49 w 66"/>
                <a:gd name="T21" fmla="*/ 8 h 49"/>
                <a:gd name="T22" fmla="*/ 38 w 66"/>
                <a:gd name="T23" fmla="*/ 11 h 49"/>
                <a:gd name="T24" fmla="*/ 38 w 66"/>
                <a:gd name="T25" fmla="*/ 16 h 49"/>
                <a:gd name="T26" fmla="*/ 38 w 66"/>
                <a:gd name="T27" fmla="*/ 49 h 49"/>
                <a:gd name="T28" fmla="*/ 28 w 66"/>
                <a:gd name="T29" fmla="*/ 49 h 49"/>
                <a:gd name="T30" fmla="*/ 28 w 66"/>
                <a:gd name="T31" fmla="*/ 17 h 49"/>
                <a:gd name="T32" fmla="*/ 20 w 66"/>
                <a:gd name="T33" fmla="*/ 8 h 49"/>
                <a:gd name="T34" fmla="*/ 10 w 66"/>
                <a:gd name="T35" fmla="*/ 11 h 49"/>
                <a:gd name="T36" fmla="*/ 10 w 66"/>
                <a:gd name="T37" fmla="*/ 49 h 49"/>
                <a:gd name="T38" fmla="*/ 0 w 66"/>
                <a:gd name="T39" fmla="*/ 49 h 49"/>
                <a:gd name="T40" fmla="*/ 0 w 66"/>
                <a:gd name="T41"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6" h="49">
                  <a:moveTo>
                    <a:pt x="0" y="1"/>
                  </a:moveTo>
                  <a:cubicBezTo>
                    <a:pt x="7" y="1"/>
                    <a:pt x="7" y="1"/>
                    <a:pt x="7" y="1"/>
                  </a:cubicBezTo>
                  <a:cubicBezTo>
                    <a:pt x="8" y="5"/>
                    <a:pt x="8" y="5"/>
                    <a:pt x="8" y="5"/>
                  </a:cubicBezTo>
                  <a:cubicBezTo>
                    <a:pt x="11" y="2"/>
                    <a:pt x="16" y="0"/>
                    <a:pt x="22" y="0"/>
                  </a:cubicBezTo>
                  <a:cubicBezTo>
                    <a:pt x="28" y="0"/>
                    <a:pt x="33" y="2"/>
                    <a:pt x="35" y="6"/>
                  </a:cubicBezTo>
                  <a:cubicBezTo>
                    <a:pt x="40" y="2"/>
                    <a:pt x="45" y="0"/>
                    <a:pt x="51" y="0"/>
                  </a:cubicBezTo>
                  <a:cubicBezTo>
                    <a:pt x="60" y="0"/>
                    <a:pt x="66" y="5"/>
                    <a:pt x="66" y="16"/>
                  </a:cubicBezTo>
                  <a:cubicBezTo>
                    <a:pt x="66" y="49"/>
                    <a:pt x="66" y="49"/>
                    <a:pt x="66" y="49"/>
                  </a:cubicBezTo>
                  <a:cubicBezTo>
                    <a:pt x="57" y="49"/>
                    <a:pt x="57" y="49"/>
                    <a:pt x="57" y="49"/>
                  </a:cubicBezTo>
                  <a:cubicBezTo>
                    <a:pt x="57" y="17"/>
                    <a:pt x="57" y="17"/>
                    <a:pt x="57" y="17"/>
                  </a:cubicBezTo>
                  <a:cubicBezTo>
                    <a:pt x="57" y="11"/>
                    <a:pt x="54" y="8"/>
                    <a:pt x="49" y="8"/>
                  </a:cubicBezTo>
                  <a:cubicBezTo>
                    <a:pt x="45" y="8"/>
                    <a:pt x="41" y="9"/>
                    <a:pt x="38" y="11"/>
                  </a:cubicBezTo>
                  <a:cubicBezTo>
                    <a:pt x="38" y="13"/>
                    <a:pt x="38" y="15"/>
                    <a:pt x="38" y="16"/>
                  </a:cubicBezTo>
                  <a:cubicBezTo>
                    <a:pt x="38" y="49"/>
                    <a:pt x="38" y="49"/>
                    <a:pt x="38" y="49"/>
                  </a:cubicBezTo>
                  <a:cubicBezTo>
                    <a:pt x="28" y="49"/>
                    <a:pt x="28" y="49"/>
                    <a:pt x="28" y="49"/>
                  </a:cubicBezTo>
                  <a:cubicBezTo>
                    <a:pt x="28" y="17"/>
                    <a:pt x="28" y="17"/>
                    <a:pt x="28" y="17"/>
                  </a:cubicBezTo>
                  <a:cubicBezTo>
                    <a:pt x="28" y="11"/>
                    <a:pt x="26" y="8"/>
                    <a:pt x="20" y="8"/>
                  </a:cubicBezTo>
                  <a:cubicBezTo>
                    <a:pt x="17" y="8"/>
                    <a:pt x="13" y="9"/>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3" name="Freeform 20">
              <a:extLst>
                <a:ext uri="{FF2B5EF4-FFF2-40B4-BE49-F238E27FC236}">
                  <a16:creationId xmlns:a16="http://schemas.microsoft.com/office/drawing/2014/main" id="{8C5CC392-9BBC-49E8-8A4B-ED51BA253D54}"/>
                </a:ext>
              </a:extLst>
            </p:cNvPr>
            <p:cNvSpPr>
              <a:spLocks noEditPoints="1"/>
            </p:cNvSpPr>
            <p:nvPr userDrawn="1"/>
          </p:nvSpPr>
          <p:spPr bwMode="auto">
            <a:xfrm>
              <a:off x="247"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1 w 40"/>
                <a:gd name="T21" fmla="*/ 21 h 51"/>
                <a:gd name="T22" fmla="*/ 21 w 40"/>
                <a:gd name="T23" fmla="*/ 8 h 51"/>
                <a:gd name="T24" fmla="*/ 10 w 40"/>
                <a:gd name="T25" fmla="*/ 21 h 51"/>
                <a:gd name="T26" fmla="*/ 31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4" y="0"/>
                    <a:pt x="40" y="8"/>
                    <a:pt x="40" y="22"/>
                  </a:cubicBezTo>
                  <a:cubicBezTo>
                    <a:pt x="40" y="24"/>
                    <a:pt x="40" y="26"/>
                    <a:pt x="39" y="28"/>
                  </a:cubicBezTo>
                  <a:cubicBezTo>
                    <a:pt x="10" y="28"/>
                    <a:pt x="10" y="28"/>
                    <a:pt x="10" y="28"/>
                  </a:cubicBezTo>
                  <a:cubicBezTo>
                    <a:pt x="11" y="37"/>
                    <a:pt x="15" y="42"/>
                    <a:pt x="23" y="42"/>
                  </a:cubicBezTo>
                  <a:cubicBezTo>
                    <a:pt x="29" y="42"/>
                    <a:pt x="33" y="40"/>
                    <a:pt x="37" y="39"/>
                  </a:cubicBezTo>
                  <a:cubicBezTo>
                    <a:pt x="40" y="46"/>
                    <a:pt x="40" y="46"/>
                    <a:pt x="40" y="46"/>
                  </a:cubicBezTo>
                  <a:cubicBezTo>
                    <a:pt x="36" y="48"/>
                    <a:pt x="29" y="51"/>
                    <a:pt x="22" y="51"/>
                  </a:cubicBezTo>
                  <a:cubicBezTo>
                    <a:pt x="9" y="51"/>
                    <a:pt x="0" y="42"/>
                    <a:pt x="0" y="25"/>
                  </a:cubicBezTo>
                  <a:cubicBezTo>
                    <a:pt x="0" y="10"/>
                    <a:pt x="7" y="0"/>
                    <a:pt x="21" y="0"/>
                  </a:cubicBezTo>
                  <a:moveTo>
                    <a:pt x="31" y="21"/>
                  </a:moveTo>
                  <a:cubicBezTo>
                    <a:pt x="30" y="14"/>
                    <a:pt x="28" y="8"/>
                    <a:pt x="21" y="8"/>
                  </a:cubicBezTo>
                  <a:cubicBezTo>
                    <a:pt x="14" y="8"/>
                    <a:pt x="11" y="13"/>
                    <a:pt x="10" y="21"/>
                  </a:cubicBezTo>
                  <a:lnTo>
                    <a:pt x="31"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4" name="Freeform 21">
              <a:extLst>
                <a:ext uri="{FF2B5EF4-FFF2-40B4-BE49-F238E27FC236}">
                  <a16:creationId xmlns:a16="http://schemas.microsoft.com/office/drawing/2014/main" id="{70847458-E411-484B-B4FA-2449BA209901}"/>
                </a:ext>
              </a:extLst>
            </p:cNvPr>
            <p:cNvSpPr>
              <a:spLocks/>
            </p:cNvSpPr>
            <p:nvPr userDrawn="1"/>
          </p:nvSpPr>
          <p:spPr bwMode="auto">
            <a:xfrm>
              <a:off x="361" y="-1337"/>
              <a:ext cx="89" cy="123"/>
            </a:xfrm>
            <a:custGeom>
              <a:avLst/>
              <a:gdLst>
                <a:gd name="T0" fmla="*/ 2 w 37"/>
                <a:gd name="T1" fmla="*/ 40 h 51"/>
                <a:gd name="T2" fmla="*/ 17 w 37"/>
                <a:gd name="T3" fmla="*/ 42 h 51"/>
                <a:gd name="T4" fmla="*/ 27 w 37"/>
                <a:gd name="T5" fmla="*/ 36 h 51"/>
                <a:gd name="T6" fmla="*/ 16 w 37"/>
                <a:gd name="T7" fmla="*/ 28 h 51"/>
                <a:gd name="T8" fmla="*/ 1 w 37"/>
                <a:gd name="T9" fmla="*/ 14 h 51"/>
                <a:gd name="T10" fmla="*/ 20 w 37"/>
                <a:gd name="T11" fmla="*/ 0 h 51"/>
                <a:gd name="T12" fmla="*/ 34 w 37"/>
                <a:gd name="T13" fmla="*/ 1 h 51"/>
                <a:gd name="T14" fmla="*/ 33 w 37"/>
                <a:gd name="T15" fmla="*/ 9 h 51"/>
                <a:gd name="T16" fmla="*/ 21 w 37"/>
                <a:gd name="T17" fmla="*/ 8 h 51"/>
                <a:gd name="T18" fmla="*/ 11 w 37"/>
                <a:gd name="T19" fmla="*/ 13 h 51"/>
                <a:gd name="T20" fmla="*/ 24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7" y="42"/>
                  </a:cubicBezTo>
                  <a:cubicBezTo>
                    <a:pt x="23" y="42"/>
                    <a:pt x="27" y="41"/>
                    <a:pt x="27" y="36"/>
                  </a:cubicBezTo>
                  <a:cubicBezTo>
                    <a:pt x="27" y="32"/>
                    <a:pt x="24" y="31"/>
                    <a:pt x="16" y="28"/>
                  </a:cubicBezTo>
                  <a:cubicBezTo>
                    <a:pt x="8" y="26"/>
                    <a:pt x="1" y="23"/>
                    <a:pt x="1" y="14"/>
                  </a:cubicBezTo>
                  <a:cubicBezTo>
                    <a:pt x="1" y="5"/>
                    <a:pt x="9" y="0"/>
                    <a:pt x="20" y="0"/>
                  </a:cubicBezTo>
                  <a:cubicBezTo>
                    <a:pt x="24" y="0"/>
                    <a:pt x="30" y="0"/>
                    <a:pt x="34" y="1"/>
                  </a:cubicBezTo>
                  <a:cubicBezTo>
                    <a:pt x="33" y="9"/>
                    <a:pt x="33" y="9"/>
                    <a:pt x="33" y="9"/>
                  </a:cubicBezTo>
                  <a:cubicBezTo>
                    <a:pt x="30" y="9"/>
                    <a:pt x="24" y="8"/>
                    <a:pt x="21" y="8"/>
                  </a:cubicBezTo>
                  <a:cubicBezTo>
                    <a:pt x="14" y="8"/>
                    <a:pt x="11" y="10"/>
                    <a:pt x="11" y="13"/>
                  </a:cubicBezTo>
                  <a:cubicBezTo>
                    <a:pt x="11" y="18"/>
                    <a:pt x="17" y="19"/>
                    <a:pt x="24"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5" name="Freeform 22">
              <a:extLst>
                <a:ext uri="{FF2B5EF4-FFF2-40B4-BE49-F238E27FC236}">
                  <a16:creationId xmlns:a16="http://schemas.microsoft.com/office/drawing/2014/main" id="{351009B9-5AE1-4694-B2D4-4566A9C58D98}"/>
                </a:ext>
              </a:extLst>
            </p:cNvPr>
            <p:cNvSpPr>
              <a:spLocks/>
            </p:cNvSpPr>
            <p:nvPr userDrawn="1"/>
          </p:nvSpPr>
          <p:spPr bwMode="auto">
            <a:xfrm>
              <a:off x="525" y="-1337"/>
              <a:ext cx="89" cy="123"/>
            </a:xfrm>
            <a:custGeom>
              <a:avLst/>
              <a:gdLst>
                <a:gd name="T0" fmla="*/ 2 w 37"/>
                <a:gd name="T1" fmla="*/ 40 h 51"/>
                <a:gd name="T2" fmla="*/ 17 w 37"/>
                <a:gd name="T3" fmla="*/ 42 h 51"/>
                <a:gd name="T4" fmla="*/ 27 w 37"/>
                <a:gd name="T5" fmla="*/ 36 h 51"/>
                <a:gd name="T6" fmla="*/ 16 w 37"/>
                <a:gd name="T7" fmla="*/ 28 h 51"/>
                <a:gd name="T8" fmla="*/ 1 w 37"/>
                <a:gd name="T9" fmla="*/ 14 h 51"/>
                <a:gd name="T10" fmla="*/ 20 w 37"/>
                <a:gd name="T11" fmla="*/ 0 h 51"/>
                <a:gd name="T12" fmla="*/ 35 w 37"/>
                <a:gd name="T13" fmla="*/ 1 h 51"/>
                <a:gd name="T14" fmla="*/ 33 w 37"/>
                <a:gd name="T15" fmla="*/ 9 h 51"/>
                <a:gd name="T16" fmla="*/ 21 w 37"/>
                <a:gd name="T17" fmla="*/ 8 h 51"/>
                <a:gd name="T18" fmla="*/ 11 w 37"/>
                <a:gd name="T19" fmla="*/ 13 h 51"/>
                <a:gd name="T20" fmla="*/ 24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7" y="42"/>
                  </a:cubicBezTo>
                  <a:cubicBezTo>
                    <a:pt x="23" y="42"/>
                    <a:pt x="27" y="41"/>
                    <a:pt x="27" y="36"/>
                  </a:cubicBezTo>
                  <a:cubicBezTo>
                    <a:pt x="27" y="32"/>
                    <a:pt x="25" y="31"/>
                    <a:pt x="16" y="28"/>
                  </a:cubicBezTo>
                  <a:cubicBezTo>
                    <a:pt x="9" y="26"/>
                    <a:pt x="1" y="23"/>
                    <a:pt x="1" y="14"/>
                  </a:cubicBezTo>
                  <a:cubicBezTo>
                    <a:pt x="1" y="5"/>
                    <a:pt x="9" y="0"/>
                    <a:pt x="20" y="0"/>
                  </a:cubicBezTo>
                  <a:cubicBezTo>
                    <a:pt x="25" y="0"/>
                    <a:pt x="31" y="0"/>
                    <a:pt x="35" y="1"/>
                  </a:cubicBezTo>
                  <a:cubicBezTo>
                    <a:pt x="33" y="9"/>
                    <a:pt x="33" y="9"/>
                    <a:pt x="33" y="9"/>
                  </a:cubicBezTo>
                  <a:cubicBezTo>
                    <a:pt x="30" y="9"/>
                    <a:pt x="24" y="8"/>
                    <a:pt x="21" y="8"/>
                  </a:cubicBezTo>
                  <a:cubicBezTo>
                    <a:pt x="14" y="8"/>
                    <a:pt x="11" y="10"/>
                    <a:pt x="11" y="13"/>
                  </a:cubicBezTo>
                  <a:cubicBezTo>
                    <a:pt x="11" y="18"/>
                    <a:pt x="17" y="19"/>
                    <a:pt x="24"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6" name="Freeform 23">
              <a:extLst>
                <a:ext uri="{FF2B5EF4-FFF2-40B4-BE49-F238E27FC236}">
                  <a16:creationId xmlns:a16="http://schemas.microsoft.com/office/drawing/2014/main" id="{41554C1E-0A79-4A72-84EA-2EB56DA0DA45}"/>
                </a:ext>
              </a:extLst>
            </p:cNvPr>
            <p:cNvSpPr>
              <a:spLocks noEditPoints="1"/>
            </p:cNvSpPr>
            <p:nvPr userDrawn="1"/>
          </p:nvSpPr>
          <p:spPr bwMode="auto">
            <a:xfrm>
              <a:off x="641" y="-1383"/>
              <a:ext cx="21" cy="164"/>
            </a:xfrm>
            <a:custGeom>
              <a:avLst/>
              <a:gdLst>
                <a:gd name="T0" fmla="*/ 0 w 21"/>
                <a:gd name="T1" fmla="*/ 0 h 164"/>
                <a:gd name="T2" fmla="*/ 21 w 21"/>
                <a:gd name="T3" fmla="*/ 0 h 164"/>
                <a:gd name="T4" fmla="*/ 21 w 21"/>
                <a:gd name="T5" fmla="*/ 27 h 164"/>
                <a:gd name="T6" fmla="*/ 0 w 21"/>
                <a:gd name="T7" fmla="*/ 27 h 164"/>
                <a:gd name="T8" fmla="*/ 0 w 21"/>
                <a:gd name="T9" fmla="*/ 0 h 164"/>
                <a:gd name="T10" fmla="*/ 0 w 21"/>
                <a:gd name="T11" fmla="*/ 48 h 164"/>
                <a:gd name="T12" fmla="*/ 21 w 21"/>
                <a:gd name="T13" fmla="*/ 48 h 164"/>
                <a:gd name="T14" fmla="*/ 21 w 21"/>
                <a:gd name="T15" fmla="*/ 164 h 164"/>
                <a:gd name="T16" fmla="*/ 0 w 21"/>
                <a:gd name="T17" fmla="*/ 164 h 164"/>
                <a:gd name="T18" fmla="*/ 0 w 21"/>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164">
                  <a:moveTo>
                    <a:pt x="0" y="0"/>
                  </a:moveTo>
                  <a:lnTo>
                    <a:pt x="21" y="0"/>
                  </a:lnTo>
                  <a:lnTo>
                    <a:pt x="21" y="27"/>
                  </a:lnTo>
                  <a:lnTo>
                    <a:pt x="0" y="27"/>
                  </a:lnTo>
                  <a:lnTo>
                    <a:pt x="0" y="0"/>
                  </a:lnTo>
                  <a:close/>
                  <a:moveTo>
                    <a:pt x="0" y="48"/>
                  </a:moveTo>
                  <a:lnTo>
                    <a:pt x="21" y="48"/>
                  </a:lnTo>
                  <a:lnTo>
                    <a:pt x="21"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7" name="Freeform 24">
              <a:extLst>
                <a:ext uri="{FF2B5EF4-FFF2-40B4-BE49-F238E27FC236}">
                  <a16:creationId xmlns:a16="http://schemas.microsoft.com/office/drawing/2014/main" id="{B0578913-1185-418E-9085-DD78083AD357}"/>
                </a:ext>
              </a:extLst>
            </p:cNvPr>
            <p:cNvSpPr>
              <a:spLocks/>
            </p:cNvSpPr>
            <p:nvPr userDrawn="1"/>
          </p:nvSpPr>
          <p:spPr bwMode="auto">
            <a:xfrm>
              <a:off x="699" y="-1337"/>
              <a:ext cx="96"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7" y="8"/>
                    <a:pt x="22" y="8"/>
                  </a:cubicBezTo>
                  <a:cubicBezTo>
                    <a:pt x="17"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8" name="Freeform 25">
              <a:extLst>
                <a:ext uri="{FF2B5EF4-FFF2-40B4-BE49-F238E27FC236}">
                  <a16:creationId xmlns:a16="http://schemas.microsoft.com/office/drawing/2014/main" id="{7A132186-8255-4962-8135-56B37E11E9B7}"/>
                </a:ext>
              </a:extLst>
            </p:cNvPr>
            <p:cNvSpPr>
              <a:spLocks/>
            </p:cNvSpPr>
            <p:nvPr userDrawn="1"/>
          </p:nvSpPr>
          <p:spPr bwMode="auto">
            <a:xfrm>
              <a:off x="822" y="-1337"/>
              <a:ext cx="92" cy="123"/>
            </a:xfrm>
            <a:custGeom>
              <a:avLst/>
              <a:gdLst>
                <a:gd name="T0" fmla="*/ 23 w 38"/>
                <a:gd name="T1" fmla="*/ 0 h 51"/>
                <a:gd name="T2" fmla="*/ 36 w 38"/>
                <a:gd name="T3" fmla="*/ 1 h 51"/>
                <a:gd name="T4" fmla="*/ 35 w 38"/>
                <a:gd name="T5" fmla="*/ 9 h 51"/>
                <a:gd name="T6" fmla="*/ 24 w 38"/>
                <a:gd name="T7" fmla="*/ 8 h 51"/>
                <a:gd name="T8" fmla="*/ 10 w 38"/>
                <a:gd name="T9" fmla="*/ 25 h 51"/>
                <a:gd name="T10" fmla="*/ 22 w 38"/>
                <a:gd name="T11" fmla="*/ 42 h 51"/>
                <a:gd name="T12" fmla="*/ 36 w 38"/>
                <a:gd name="T13" fmla="*/ 39 h 51"/>
                <a:gd name="T14" fmla="*/ 38 w 38"/>
                <a:gd name="T15" fmla="*/ 47 h 51"/>
                <a:gd name="T16" fmla="*/ 21 w 38"/>
                <a:gd name="T17" fmla="*/ 51 h 51"/>
                <a:gd name="T18" fmla="*/ 0 w 38"/>
                <a:gd name="T19" fmla="*/ 25 h 51"/>
                <a:gd name="T20" fmla="*/ 23 w 38"/>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51">
                  <a:moveTo>
                    <a:pt x="23" y="0"/>
                  </a:moveTo>
                  <a:cubicBezTo>
                    <a:pt x="27" y="0"/>
                    <a:pt x="32" y="0"/>
                    <a:pt x="36" y="1"/>
                  </a:cubicBezTo>
                  <a:cubicBezTo>
                    <a:pt x="35" y="9"/>
                    <a:pt x="35" y="9"/>
                    <a:pt x="35" y="9"/>
                  </a:cubicBezTo>
                  <a:cubicBezTo>
                    <a:pt x="32" y="8"/>
                    <a:pt x="27" y="8"/>
                    <a:pt x="24" y="8"/>
                  </a:cubicBezTo>
                  <a:cubicBezTo>
                    <a:pt x="13" y="8"/>
                    <a:pt x="10" y="13"/>
                    <a:pt x="10" y="25"/>
                  </a:cubicBezTo>
                  <a:cubicBezTo>
                    <a:pt x="10" y="34"/>
                    <a:pt x="12" y="42"/>
                    <a:pt x="22" y="42"/>
                  </a:cubicBezTo>
                  <a:cubicBezTo>
                    <a:pt x="27" y="42"/>
                    <a:pt x="32" y="41"/>
                    <a:pt x="36" y="39"/>
                  </a:cubicBezTo>
                  <a:cubicBezTo>
                    <a:pt x="38" y="47"/>
                    <a:pt x="38" y="47"/>
                    <a:pt x="38" y="47"/>
                  </a:cubicBezTo>
                  <a:cubicBezTo>
                    <a:pt x="34" y="49"/>
                    <a:pt x="27" y="51"/>
                    <a:pt x="21" y="51"/>
                  </a:cubicBezTo>
                  <a:cubicBezTo>
                    <a:pt x="7" y="51"/>
                    <a:pt x="0" y="41"/>
                    <a:pt x="0" y="25"/>
                  </a:cubicBezTo>
                  <a:cubicBezTo>
                    <a:pt x="0" y="9"/>
                    <a:pt x="6" y="0"/>
                    <a:pt x="23" y="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69" name="Freeform 26">
              <a:extLst>
                <a:ext uri="{FF2B5EF4-FFF2-40B4-BE49-F238E27FC236}">
                  <a16:creationId xmlns:a16="http://schemas.microsoft.com/office/drawing/2014/main" id="{BEEF5774-5B89-4617-A21A-93722DC56452}"/>
                </a:ext>
              </a:extLst>
            </p:cNvPr>
            <p:cNvSpPr>
              <a:spLocks noEditPoints="1"/>
            </p:cNvSpPr>
            <p:nvPr userDrawn="1"/>
          </p:nvSpPr>
          <p:spPr bwMode="auto">
            <a:xfrm>
              <a:off x="928"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1 w 40"/>
                <a:gd name="T21" fmla="*/ 21 h 51"/>
                <a:gd name="T22" fmla="*/ 21 w 40"/>
                <a:gd name="T23" fmla="*/ 8 h 51"/>
                <a:gd name="T24" fmla="*/ 10 w 40"/>
                <a:gd name="T25" fmla="*/ 21 h 51"/>
                <a:gd name="T26" fmla="*/ 31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4" y="0"/>
                    <a:pt x="40" y="8"/>
                    <a:pt x="40" y="22"/>
                  </a:cubicBezTo>
                  <a:cubicBezTo>
                    <a:pt x="40" y="24"/>
                    <a:pt x="40" y="26"/>
                    <a:pt x="39" y="28"/>
                  </a:cubicBezTo>
                  <a:cubicBezTo>
                    <a:pt x="10" y="28"/>
                    <a:pt x="10" y="28"/>
                    <a:pt x="10" y="28"/>
                  </a:cubicBezTo>
                  <a:cubicBezTo>
                    <a:pt x="11" y="37"/>
                    <a:pt x="15" y="42"/>
                    <a:pt x="23" y="42"/>
                  </a:cubicBezTo>
                  <a:cubicBezTo>
                    <a:pt x="29" y="42"/>
                    <a:pt x="33" y="40"/>
                    <a:pt x="37" y="39"/>
                  </a:cubicBezTo>
                  <a:cubicBezTo>
                    <a:pt x="40" y="46"/>
                    <a:pt x="40" y="46"/>
                    <a:pt x="40" y="46"/>
                  </a:cubicBezTo>
                  <a:cubicBezTo>
                    <a:pt x="36" y="48"/>
                    <a:pt x="29" y="51"/>
                    <a:pt x="22" y="51"/>
                  </a:cubicBezTo>
                  <a:cubicBezTo>
                    <a:pt x="9" y="51"/>
                    <a:pt x="0" y="42"/>
                    <a:pt x="0" y="25"/>
                  </a:cubicBezTo>
                  <a:cubicBezTo>
                    <a:pt x="0" y="10"/>
                    <a:pt x="7" y="0"/>
                    <a:pt x="21" y="0"/>
                  </a:cubicBezTo>
                  <a:moveTo>
                    <a:pt x="31" y="21"/>
                  </a:moveTo>
                  <a:cubicBezTo>
                    <a:pt x="30" y="14"/>
                    <a:pt x="28" y="8"/>
                    <a:pt x="21" y="8"/>
                  </a:cubicBezTo>
                  <a:cubicBezTo>
                    <a:pt x="14" y="8"/>
                    <a:pt x="11" y="13"/>
                    <a:pt x="10" y="21"/>
                  </a:cubicBezTo>
                  <a:lnTo>
                    <a:pt x="31"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0" name="Freeform 27">
              <a:extLst>
                <a:ext uri="{FF2B5EF4-FFF2-40B4-BE49-F238E27FC236}">
                  <a16:creationId xmlns:a16="http://schemas.microsoft.com/office/drawing/2014/main" id="{41B13E74-0C71-4236-8E3A-AF6184610435}"/>
                </a:ext>
              </a:extLst>
            </p:cNvPr>
            <p:cNvSpPr>
              <a:spLocks/>
            </p:cNvSpPr>
            <p:nvPr userDrawn="1"/>
          </p:nvSpPr>
          <p:spPr bwMode="auto">
            <a:xfrm>
              <a:off x="1099" y="-1383"/>
              <a:ext cx="68" cy="164"/>
            </a:xfrm>
            <a:custGeom>
              <a:avLst/>
              <a:gdLst>
                <a:gd name="T0" fmla="*/ 44 w 68"/>
                <a:gd name="T1" fmla="*/ 27 h 164"/>
                <a:gd name="T2" fmla="*/ 8 w 68"/>
                <a:gd name="T3" fmla="*/ 39 h 164"/>
                <a:gd name="T4" fmla="*/ 0 w 68"/>
                <a:gd name="T5" fmla="*/ 22 h 164"/>
                <a:gd name="T6" fmla="*/ 44 w 68"/>
                <a:gd name="T7" fmla="*/ 0 h 164"/>
                <a:gd name="T8" fmla="*/ 68 w 68"/>
                <a:gd name="T9" fmla="*/ 0 h 164"/>
                <a:gd name="T10" fmla="*/ 68 w 68"/>
                <a:gd name="T11" fmla="*/ 164 h 164"/>
                <a:gd name="T12" fmla="*/ 44 w 68"/>
                <a:gd name="T13" fmla="*/ 164 h 164"/>
                <a:gd name="T14" fmla="*/ 44 w 68"/>
                <a:gd name="T15" fmla="*/ 27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164">
                  <a:moveTo>
                    <a:pt x="44" y="27"/>
                  </a:moveTo>
                  <a:lnTo>
                    <a:pt x="8" y="39"/>
                  </a:lnTo>
                  <a:lnTo>
                    <a:pt x="0" y="22"/>
                  </a:lnTo>
                  <a:lnTo>
                    <a:pt x="44" y="0"/>
                  </a:lnTo>
                  <a:lnTo>
                    <a:pt x="68" y="0"/>
                  </a:lnTo>
                  <a:lnTo>
                    <a:pt x="68" y="164"/>
                  </a:lnTo>
                  <a:lnTo>
                    <a:pt x="44" y="164"/>
                  </a:lnTo>
                  <a:lnTo>
                    <a:pt x="44" y="27"/>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1" name="Freeform 28">
              <a:extLst>
                <a:ext uri="{FF2B5EF4-FFF2-40B4-BE49-F238E27FC236}">
                  <a16:creationId xmlns:a16="http://schemas.microsoft.com/office/drawing/2014/main" id="{3917CFFC-282F-465E-AEBA-7CECF5C79EA5}"/>
                </a:ext>
              </a:extLst>
            </p:cNvPr>
            <p:cNvSpPr>
              <a:spLocks noEditPoints="1"/>
            </p:cNvSpPr>
            <p:nvPr userDrawn="1"/>
          </p:nvSpPr>
          <p:spPr bwMode="auto">
            <a:xfrm>
              <a:off x="1203" y="-1385"/>
              <a:ext cx="116" cy="171"/>
            </a:xfrm>
            <a:custGeom>
              <a:avLst/>
              <a:gdLst>
                <a:gd name="T0" fmla="*/ 6 w 48"/>
                <a:gd name="T1" fmla="*/ 60 h 71"/>
                <a:gd name="T2" fmla="*/ 20 w 48"/>
                <a:gd name="T3" fmla="*/ 62 h 71"/>
                <a:gd name="T4" fmla="*/ 37 w 48"/>
                <a:gd name="T5" fmla="*/ 40 h 71"/>
                <a:gd name="T6" fmla="*/ 21 w 48"/>
                <a:gd name="T7" fmla="*/ 43 h 71"/>
                <a:gd name="T8" fmla="*/ 0 w 48"/>
                <a:gd name="T9" fmla="*/ 23 h 71"/>
                <a:gd name="T10" fmla="*/ 24 w 48"/>
                <a:gd name="T11" fmla="*/ 0 h 71"/>
                <a:gd name="T12" fmla="*/ 48 w 48"/>
                <a:gd name="T13" fmla="*/ 34 h 71"/>
                <a:gd name="T14" fmla="*/ 21 w 48"/>
                <a:gd name="T15" fmla="*/ 71 h 71"/>
                <a:gd name="T16" fmla="*/ 5 w 48"/>
                <a:gd name="T17" fmla="*/ 68 h 71"/>
                <a:gd name="T18" fmla="*/ 6 w 48"/>
                <a:gd name="T19" fmla="*/ 60 h 71"/>
                <a:gd name="T20" fmla="*/ 37 w 48"/>
                <a:gd name="T21" fmla="*/ 32 h 71"/>
                <a:gd name="T22" fmla="*/ 23 w 48"/>
                <a:gd name="T23" fmla="*/ 9 h 71"/>
                <a:gd name="T24" fmla="*/ 11 w 48"/>
                <a:gd name="T25" fmla="*/ 22 h 71"/>
                <a:gd name="T26" fmla="*/ 24 w 48"/>
                <a:gd name="T27" fmla="*/ 35 h 71"/>
                <a:gd name="T28" fmla="*/ 37 w 48"/>
                <a:gd name="T29"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71">
                  <a:moveTo>
                    <a:pt x="6" y="60"/>
                  </a:moveTo>
                  <a:cubicBezTo>
                    <a:pt x="10" y="61"/>
                    <a:pt x="15" y="62"/>
                    <a:pt x="20" y="62"/>
                  </a:cubicBezTo>
                  <a:cubicBezTo>
                    <a:pt x="33" y="62"/>
                    <a:pt x="37" y="54"/>
                    <a:pt x="37" y="40"/>
                  </a:cubicBezTo>
                  <a:cubicBezTo>
                    <a:pt x="32" y="42"/>
                    <a:pt x="26" y="43"/>
                    <a:pt x="21" y="43"/>
                  </a:cubicBezTo>
                  <a:cubicBezTo>
                    <a:pt x="8" y="43"/>
                    <a:pt x="0" y="36"/>
                    <a:pt x="0" y="23"/>
                  </a:cubicBezTo>
                  <a:cubicBezTo>
                    <a:pt x="0" y="9"/>
                    <a:pt x="8" y="0"/>
                    <a:pt x="24" y="0"/>
                  </a:cubicBezTo>
                  <a:cubicBezTo>
                    <a:pt x="42" y="0"/>
                    <a:pt x="48" y="12"/>
                    <a:pt x="48" y="34"/>
                  </a:cubicBezTo>
                  <a:cubicBezTo>
                    <a:pt x="48" y="55"/>
                    <a:pt x="43" y="71"/>
                    <a:pt x="21" y="71"/>
                  </a:cubicBezTo>
                  <a:cubicBezTo>
                    <a:pt x="16" y="71"/>
                    <a:pt x="9" y="70"/>
                    <a:pt x="5" y="68"/>
                  </a:cubicBezTo>
                  <a:lnTo>
                    <a:pt x="6" y="60"/>
                  </a:lnTo>
                  <a:close/>
                  <a:moveTo>
                    <a:pt x="37" y="32"/>
                  </a:moveTo>
                  <a:cubicBezTo>
                    <a:pt x="37" y="18"/>
                    <a:pt x="34" y="9"/>
                    <a:pt x="23" y="9"/>
                  </a:cubicBezTo>
                  <a:cubicBezTo>
                    <a:pt x="15" y="9"/>
                    <a:pt x="11" y="14"/>
                    <a:pt x="11" y="22"/>
                  </a:cubicBezTo>
                  <a:cubicBezTo>
                    <a:pt x="11" y="30"/>
                    <a:pt x="14" y="35"/>
                    <a:pt x="24" y="35"/>
                  </a:cubicBezTo>
                  <a:cubicBezTo>
                    <a:pt x="28" y="35"/>
                    <a:pt x="32" y="34"/>
                    <a:pt x="37" y="32"/>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2" name="Freeform 29">
              <a:extLst>
                <a:ext uri="{FF2B5EF4-FFF2-40B4-BE49-F238E27FC236}">
                  <a16:creationId xmlns:a16="http://schemas.microsoft.com/office/drawing/2014/main" id="{65B04632-CA6F-4348-93D7-FCE377281775}"/>
                </a:ext>
              </a:extLst>
            </p:cNvPr>
            <p:cNvSpPr>
              <a:spLocks/>
            </p:cNvSpPr>
            <p:nvPr userDrawn="1"/>
          </p:nvSpPr>
          <p:spPr bwMode="auto">
            <a:xfrm>
              <a:off x="1338" y="-1383"/>
              <a:ext cx="66" cy="164"/>
            </a:xfrm>
            <a:custGeom>
              <a:avLst/>
              <a:gdLst>
                <a:gd name="T0" fmla="*/ 41 w 66"/>
                <a:gd name="T1" fmla="*/ 27 h 164"/>
                <a:gd name="T2" fmla="*/ 8 w 66"/>
                <a:gd name="T3" fmla="*/ 39 h 164"/>
                <a:gd name="T4" fmla="*/ 0 w 66"/>
                <a:gd name="T5" fmla="*/ 22 h 164"/>
                <a:gd name="T6" fmla="*/ 44 w 66"/>
                <a:gd name="T7" fmla="*/ 0 h 164"/>
                <a:gd name="T8" fmla="*/ 66 w 66"/>
                <a:gd name="T9" fmla="*/ 0 h 164"/>
                <a:gd name="T10" fmla="*/ 66 w 66"/>
                <a:gd name="T11" fmla="*/ 164 h 164"/>
                <a:gd name="T12" fmla="*/ 41 w 66"/>
                <a:gd name="T13" fmla="*/ 164 h 164"/>
                <a:gd name="T14" fmla="*/ 41 w 66"/>
                <a:gd name="T15" fmla="*/ 27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164">
                  <a:moveTo>
                    <a:pt x="41" y="27"/>
                  </a:moveTo>
                  <a:lnTo>
                    <a:pt x="8" y="39"/>
                  </a:lnTo>
                  <a:lnTo>
                    <a:pt x="0" y="22"/>
                  </a:lnTo>
                  <a:lnTo>
                    <a:pt x="44" y="0"/>
                  </a:lnTo>
                  <a:lnTo>
                    <a:pt x="66" y="0"/>
                  </a:lnTo>
                  <a:lnTo>
                    <a:pt x="66" y="164"/>
                  </a:lnTo>
                  <a:lnTo>
                    <a:pt x="41" y="164"/>
                  </a:lnTo>
                  <a:lnTo>
                    <a:pt x="41" y="27"/>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3" name="Freeform 30">
              <a:extLst>
                <a:ext uri="{FF2B5EF4-FFF2-40B4-BE49-F238E27FC236}">
                  <a16:creationId xmlns:a16="http://schemas.microsoft.com/office/drawing/2014/main" id="{0DA9B0AD-F2F5-4E1E-AF97-0ACBDD0B9855}"/>
                </a:ext>
              </a:extLst>
            </p:cNvPr>
            <p:cNvSpPr>
              <a:spLocks/>
            </p:cNvSpPr>
            <p:nvPr userDrawn="1"/>
          </p:nvSpPr>
          <p:spPr bwMode="auto">
            <a:xfrm>
              <a:off x="1442" y="-1385"/>
              <a:ext cx="106" cy="166"/>
            </a:xfrm>
            <a:custGeom>
              <a:avLst/>
              <a:gdLst>
                <a:gd name="T0" fmla="*/ 1 w 44"/>
                <a:gd name="T1" fmla="*/ 62 h 69"/>
                <a:gd name="T2" fmla="*/ 33 w 44"/>
                <a:gd name="T3" fmla="*/ 21 h 69"/>
                <a:gd name="T4" fmla="*/ 20 w 44"/>
                <a:gd name="T5" fmla="*/ 9 h 69"/>
                <a:gd name="T6" fmla="*/ 3 w 44"/>
                <a:gd name="T7" fmla="*/ 13 h 69"/>
                <a:gd name="T8" fmla="*/ 0 w 44"/>
                <a:gd name="T9" fmla="*/ 5 h 69"/>
                <a:gd name="T10" fmla="*/ 20 w 44"/>
                <a:gd name="T11" fmla="*/ 0 h 69"/>
                <a:gd name="T12" fmla="*/ 43 w 44"/>
                <a:gd name="T13" fmla="*/ 20 h 69"/>
                <a:gd name="T14" fmla="*/ 14 w 44"/>
                <a:gd name="T15" fmla="*/ 60 h 69"/>
                <a:gd name="T16" fmla="*/ 44 w 44"/>
                <a:gd name="T17" fmla="*/ 60 h 69"/>
                <a:gd name="T18" fmla="*/ 44 w 44"/>
                <a:gd name="T19" fmla="*/ 69 h 69"/>
                <a:gd name="T20" fmla="*/ 1 w 44"/>
                <a:gd name="T21" fmla="*/ 69 h 69"/>
                <a:gd name="T22" fmla="*/ 1 w 44"/>
                <a:gd name="T23" fmla="*/ 6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 h="69">
                  <a:moveTo>
                    <a:pt x="1" y="62"/>
                  </a:moveTo>
                  <a:cubicBezTo>
                    <a:pt x="20" y="45"/>
                    <a:pt x="33" y="32"/>
                    <a:pt x="33" y="21"/>
                  </a:cubicBezTo>
                  <a:cubicBezTo>
                    <a:pt x="33" y="13"/>
                    <a:pt x="28" y="9"/>
                    <a:pt x="20" y="9"/>
                  </a:cubicBezTo>
                  <a:cubicBezTo>
                    <a:pt x="14" y="9"/>
                    <a:pt x="7" y="11"/>
                    <a:pt x="3" y="13"/>
                  </a:cubicBezTo>
                  <a:cubicBezTo>
                    <a:pt x="0" y="5"/>
                    <a:pt x="0" y="5"/>
                    <a:pt x="0" y="5"/>
                  </a:cubicBezTo>
                  <a:cubicBezTo>
                    <a:pt x="5" y="2"/>
                    <a:pt x="13" y="0"/>
                    <a:pt x="20" y="0"/>
                  </a:cubicBezTo>
                  <a:cubicBezTo>
                    <a:pt x="33" y="0"/>
                    <a:pt x="43" y="7"/>
                    <a:pt x="43" y="20"/>
                  </a:cubicBezTo>
                  <a:cubicBezTo>
                    <a:pt x="43" y="35"/>
                    <a:pt x="30" y="47"/>
                    <a:pt x="14" y="60"/>
                  </a:cubicBezTo>
                  <a:cubicBezTo>
                    <a:pt x="44" y="60"/>
                    <a:pt x="44" y="60"/>
                    <a:pt x="44" y="60"/>
                  </a:cubicBezTo>
                  <a:cubicBezTo>
                    <a:pt x="44" y="69"/>
                    <a:pt x="44" y="69"/>
                    <a:pt x="44" y="69"/>
                  </a:cubicBezTo>
                  <a:cubicBezTo>
                    <a:pt x="1" y="69"/>
                    <a:pt x="1" y="69"/>
                    <a:pt x="1" y="69"/>
                  </a:cubicBezTo>
                  <a:lnTo>
                    <a:pt x="1" y="62"/>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4" name="Freeform 31">
              <a:extLst>
                <a:ext uri="{FF2B5EF4-FFF2-40B4-BE49-F238E27FC236}">
                  <a16:creationId xmlns:a16="http://schemas.microsoft.com/office/drawing/2014/main" id="{8E97C255-9362-43F4-BBA0-6CD15BB968AE}"/>
                </a:ext>
              </a:extLst>
            </p:cNvPr>
            <p:cNvSpPr>
              <a:spLocks/>
            </p:cNvSpPr>
            <p:nvPr userDrawn="1"/>
          </p:nvSpPr>
          <p:spPr bwMode="auto">
            <a:xfrm>
              <a:off x="-1708" y="-1380"/>
              <a:ext cx="123" cy="161"/>
            </a:xfrm>
            <a:custGeom>
              <a:avLst/>
              <a:gdLst>
                <a:gd name="T0" fmla="*/ 0 w 123"/>
                <a:gd name="T1" fmla="*/ 72 h 161"/>
                <a:gd name="T2" fmla="*/ 123 w 123"/>
                <a:gd name="T3" fmla="*/ 0 h 161"/>
                <a:gd name="T4" fmla="*/ 123 w 123"/>
                <a:gd name="T5" fmla="*/ 161 h 161"/>
                <a:gd name="T6" fmla="*/ 0 w 123"/>
                <a:gd name="T7" fmla="*/ 161 h 161"/>
                <a:gd name="T8" fmla="*/ 0 w 123"/>
                <a:gd name="T9" fmla="*/ 72 h 161"/>
              </a:gdLst>
              <a:ahLst/>
              <a:cxnLst>
                <a:cxn ang="0">
                  <a:pos x="T0" y="T1"/>
                </a:cxn>
                <a:cxn ang="0">
                  <a:pos x="T2" y="T3"/>
                </a:cxn>
                <a:cxn ang="0">
                  <a:pos x="T4" y="T5"/>
                </a:cxn>
                <a:cxn ang="0">
                  <a:pos x="T6" y="T7"/>
                </a:cxn>
                <a:cxn ang="0">
                  <a:pos x="T8" y="T9"/>
                </a:cxn>
              </a:cxnLst>
              <a:rect l="0" t="0" r="r" b="b"/>
              <a:pathLst>
                <a:path w="123" h="161">
                  <a:moveTo>
                    <a:pt x="0" y="72"/>
                  </a:moveTo>
                  <a:lnTo>
                    <a:pt x="123" y="0"/>
                  </a:lnTo>
                  <a:lnTo>
                    <a:pt x="123" y="161"/>
                  </a:lnTo>
                  <a:lnTo>
                    <a:pt x="0" y="161"/>
                  </a:lnTo>
                  <a:lnTo>
                    <a:pt x="0" y="72"/>
                  </a:lnTo>
                  <a:close/>
                </a:path>
              </a:pathLst>
            </a:custGeom>
            <a:solidFill>
              <a:srgbClr val="2735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
        <p:nvSpPr>
          <p:cNvPr id="40" name="Picture Placeholder 39">
            <a:extLst>
              <a:ext uri="{FF2B5EF4-FFF2-40B4-BE49-F238E27FC236}">
                <a16:creationId xmlns:a16="http://schemas.microsoft.com/office/drawing/2014/main" id="{2A269334-41D2-498D-A25B-776F5DC089C4}"/>
              </a:ext>
            </a:extLst>
          </p:cNvPr>
          <p:cNvSpPr>
            <a:spLocks noGrp="1"/>
          </p:cNvSpPr>
          <p:nvPr>
            <p:ph type="pic" sz="quarter" idx="11"/>
          </p:nvPr>
        </p:nvSpPr>
        <p:spPr>
          <a:xfrm>
            <a:off x="6023181" y="402623"/>
            <a:ext cx="2762043" cy="4101468"/>
          </a:xfrm>
          <a:custGeom>
            <a:avLst/>
            <a:gdLst>
              <a:gd name="connsiteX0" fmla="*/ 0 w 1763790"/>
              <a:gd name="connsiteY0" fmla="*/ 0 h 2619122"/>
              <a:gd name="connsiteX1" fmla="*/ 1763790 w 1763790"/>
              <a:gd name="connsiteY1" fmla="*/ 0 h 2619122"/>
              <a:gd name="connsiteX2" fmla="*/ 1763790 w 1763790"/>
              <a:gd name="connsiteY2" fmla="*/ 1446090 h 2619122"/>
              <a:gd name="connsiteX3" fmla="*/ 0 w 1763790"/>
              <a:gd name="connsiteY3" fmla="*/ 2619122 h 2619122"/>
            </a:gdLst>
            <a:ahLst/>
            <a:cxnLst>
              <a:cxn ang="0">
                <a:pos x="connsiteX0" y="connsiteY0"/>
              </a:cxn>
              <a:cxn ang="0">
                <a:pos x="connsiteX1" y="connsiteY1"/>
              </a:cxn>
              <a:cxn ang="0">
                <a:pos x="connsiteX2" y="connsiteY2"/>
              </a:cxn>
              <a:cxn ang="0">
                <a:pos x="connsiteX3" y="connsiteY3"/>
              </a:cxn>
            </a:cxnLst>
            <a:rect l="l" t="t" r="r" b="b"/>
            <a:pathLst>
              <a:path w="1763790" h="2619122">
                <a:moveTo>
                  <a:pt x="0" y="0"/>
                </a:moveTo>
                <a:lnTo>
                  <a:pt x="1763790" y="0"/>
                </a:lnTo>
                <a:lnTo>
                  <a:pt x="1763790" y="1446090"/>
                </a:lnTo>
                <a:lnTo>
                  <a:pt x="0" y="2619122"/>
                </a:lnTo>
                <a:close/>
              </a:path>
            </a:pathLst>
          </a:custGeom>
        </p:spPr>
        <p:txBody>
          <a:bodyPr wrap="square">
            <a:noAutofit/>
          </a:bodyPr>
          <a:lstStyle>
            <a:lvl1pPr>
              <a:defRPr sz="1100"/>
            </a:lvl1pPr>
          </a:lstStyle>
          <a:p>
            <a:endParaRPr lang="en-GB" dirty="0"/>
          </a:p>
        </p:txBody>
      </p:sp>
      <p:sp>
        <p:nvSpPr>
          <p:cNvPr id="42" name="Title 1">
            <a:extLst>
              <a:ext uri="{FF2B5EF4-FFF2-40B4-BE49-F238E27FC236}">
                <a16:creationId xmlns:a16="http://schemas.microsoft.com/office/drawing/2014/main" id="{68AE987A-6895-44B6-8C71-ED622A6A58E0}"/>
              </a:ext>
            </a:extLst>
          </p:cNvPr>
          <p:cNvSpPr>
            <a:spLocks noGrp="1"/>
          </p:cNvSpPr>
          <p:nvPr>
            <p:ph type="ctrTitle" hasCustomPrompt="1"/>
          </p:nvPr>
        </p:nvSpPr>
        <p:spPr>
          <a:xfrm>
            <a:off x="358774" y="294420"/>
            <a:ext cx="5664407" cy="1727751"/>
          </a:xfrm>
        </p:spPr>
        <p:txBody>
          <a:bodyPr lIns="0" tIns="72000" rIns="0" bIns="0" anchor="t" anchorCtr="0"/>
          <a:lstStyle>
            <a:lvl1pPr algn="l">
              <a:lnSpc>
                <a:spcPct val="85000"/>
              </a:lnSpc>
              <a:defRPr sz="4400">
                <a:solidFill>
                  <a:schemeClr val="accent2"/>
                </a:solidFill>
                <a:latin typeface="+mj-lt"/>
              </a:defRPr>
            </a:lvl1pPr>
          </a:lstStyle>
          <a:p>
            <a:r>
              <a:rPr lang="en-US"/>
              <a:t>Presentation </a:t>
            </a:r>
            <a:br>
              <a:rPr lang="en-US"/>
            </a:br>
            <a:r>
              <a:rPr lang="en-US"/>
              <a:t>title</a:t>
            </a:r>
            <a:endParaRPr lang="en-GB"/>
          </a:p>
        </p:txBody>
      </p:sp>
      <p:sp>
        <p:nvSpPr>
          <p:cNvPr id="43" name="Subtitle 2">
            <a:extLst>
              <a:ext uri="{FF2B5EF4-FFF2-40B4-BE49-F238E27FC236}">
                <a16:creationId xmlns:a16="http://schemas.microsoft.com/office/drawing/2014/main" id="{2F285439-C0D5-4092-94AA-030179C1BAA0}"/>
              </a:ext>
            </a:extLst>
          </p:cNvPr>
          <p:cNvSpPr>
            <a:spLocks noGrp="1"/>
          </p:cNvSpPr>
          <p:nvPr>
            <p:ph type="subTitle" idx="1" hasCustomPrompt="1"/>
          </p:nvPr>
        </p:nvSpPr>
        <p:spPr>
          <a:xfrm>
            <a:off x="358776" y="2709539"/>
            <a:ext cx="5664406" cy="505550"/>
          </a:xfrm>
        </p:spPr>
        <p:txBody>
          <a:bodyPr lIns="0" tIns="0" rIns="0" bIns="0">
            <a:noAutofit/>
          </a:bodyPr>
          <a:lstStyle>
            <a:lvl1pPr marL="0" indent="0" algn="l">
              <a:lnSpc>
                <a:spcPct val="85000"/>
              </a:lnSpc>
              <a:spcBef>
                <a:spcPts val="0"/>
              </a:spcBef>
              <a:buNone/>
              <a:defRPr sz="2400">
                <a:solidFill>
                  <a:schemeClr val="accent2"/>
                </a:solidFill>
                <a:latin typeface="+mn-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Speaker name</a:t>
            </a:r>
            <a:br>
              <a:rPr lang="en-US"/>
            </a:br>
            <a:r>
              <a:rPr lang="en-US"/>
              <a:t>Speaker title</a:t>
            </a:r>
            <a:endParaRPr lang="en-GB"/>
          </a:p>
        </p:txBody>
      </p:sp>
      <p:sp>
        <p:nvSpPr>
          <p:cNvPr id="44" name="Text Placeholder 75">
            <a:extLst>
              <a:ext uri="{FF2B5EF4-FFF2-40B4-BE49-F238E27FC236}">
                <a16:creationId xmlns:a16="http://schemas.microsoft.com/office/drawing/2014/main" id="{151B52FE-CFFE-436D-8392-09E08457CC54}"/>
              </a:ext>
            </a:extLst>
          </p:cNvPr>
          <p:cNvSpPr>
            <a:spLocks noGrp="1"/>
          </p:cNvSpPr>
          <p:nvPr>
            <p:ph type="body" sz="quarter" idx="14" hasCustomPrompt="1"/>
          </p:nvPr>
        </p:nvSpPr>
        <p:spPr>
          <a:xfrm>
            <a:off x="358775" y="3442695"/>
            <a:ext cx="5683698" cy="392791"/>
          </a:xfrm>
        </p:spPr>
        <p:txBody>
          <a:bodyPr lIns="0" tIns="0" rIns="0" bIns="0">
            <a:noAutofit/>
          </a:bodyPr>
          <a:lstStyle>
            <a:lvl1pPr algn="l">
              <a:lnSpc>
                <a:spcPct val="85000"/>
              </a:lnSpc>
              <a:spcBef>
                <a:spcPts val="0"/>
              </a:spcBef>
              <a:defRPr sz="2400">
                <a:solidFill>
                  <a:schemeClr val="accent2"/>
                </a:solidFill>
                <a:latin typeface="+mn-lt"/>
              </a:defRPr>
            </a:lvl1pPr>
          </a:lstStyle>
          <a:p>
            <a:pPr lvl="0"/>
            <a:r>
              <a:rPr lang="en-US"/>
              <a:t>Date</a:t>
            </a:r>
            <a:endParaRPr lang="en-GB"/>
          </a:p>
        </p:txBody>
      </p:sp>
      <p:cxnSp>
        <p:nvCxnSpPr>
          <p:cNvPr id="45" name="Straight Connector 44">
            <a:extLst>
              <a:ext uri="{FF2B5EF4-FFF2-40B4-BE49-F238E27FC236}">
                <a16:creationId xmlns:a16="http://schemas.microsoft.com/office/drawing/2014/main" id="{3222CBCB-9322-4755-9B48-3B1961F72F34}"/>
              </a:ext>
            </a:extLst>
          </p:cNvPr>
          <p:cNvCxnSpPr>
            <a:cxnSpLocks/>
          </p:cNvCxnSpPr>
          <p:nvPr userDrawn="1"/>
        </p:nvCxnSpPr>
        <p:spPr>
          <a:xfrm>
            <a:off x="358775" y="6416404"/>
            <a:ext cx="842645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249019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55">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811A68-6F1F-4041-8E8D-C45B52D11440}"/>
              </a:ext>
            </a:extLst>
          </p:cNvPr>
          <p:cNvSpPr>
            <a:spLocks noGrp="1"/>
          </p:cNvSpPr>
          <p:nvPr>
            <p:ph idx="1"/>
          </p:nvPr>
        </p:nvSpPr>
        <p:spPr/>
        <p:txBody>
          <a:bodyPr/>
          <a:lstStyle>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0AA5A09E-AC56-4E11-90B9-92C4C4962138}"/>
              </a:ext>
            </a:extLst>
          </p:cNvPr>
          <p:cNvSpPr>
            <a:spLocks noGrp="1"/>
          </p:cNvSpPr>
          <p:nvPr>
            <p:ph type="ftr" sz="quarter" idx="11"/>
          </p:nvPr>
        </p:nvSpPr>
        <p:spPr/>
        <p:txBody>
          <a:bodyPr/>
          <a:lstStyle/>
          <a:p>
            <a:r>
              <a:rPr lang="en-GB" dirty="0"/>
              <a:t>Grainger Plc  |  www.graingerplc.co.uk    |  Investor Day  |  September 2017</a:t>
            </a:r>
          </a:p>
        </p:txBody>
      </p:sp>
      <p:sp>
        <p:nvSpPr>
          <p:cNvPr id="6" name="Slide Number Placeholder 5">
            <a:extLst>
              <a:ext uri="{FF2B5EF4-FFF2-40B4-BE49-F238E27FC236}">
                <a16:creationId xmlns:a16="http://schemas.microsoft.com/office/drawing/2014/main" id="{5CE5CA96-4FD2-4F87-903D-2272B1D6DEB9}"/>
              </a:ext>
            </a:extLst>
          </p:cNvPr>
          <p:cNvSpPr>
            <a:spLocks noGrp="1"/>
          </p:cNvSpPr>
          <p:nvPr>
            <p:ph type="sldNum" sz="quarter" idx="12"/>
          </p:nvPr>
        </p:nvSpPr>
        <p:spPr/>
        <p:txBody>
          <a:bodyPr/>
          <a:lstStyle/>
          <a:p>
            <a:fld id="{0D32313A-DEBC-4CA4-B008-A02D4ABE2C72}" type="slidenum">
              <a:rPr lang="en-GB" smtClean="0"/>
              <a:t>‹#›</a:t>
            </a:fld>
            <a:endParaRPr lang="en-GB" dirty="0"/>
          </a:p>
        </p:txBody>
      </p:sp>
      <p:sp>
        <p:nvSpPr>
          <p:cNvPr id="7" name="Title 6">
            <a:extLst>
              <a:ext uri="{FF2B5EF4-FFF2-40B4-BE49-F238E27FC236}">
                <a16:creationId xmlns:a16="http://schemas.microsoft.com/office/drawing/2014/main" id="{9331B5C1-E2A5-436F-881A-AB83A6F538AD}"/>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500001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811A68-6F1F-4041-8E8D-C45B52D11440}"/>
              </a:ext>
            </a:extLst>
          </p:cNvPr>
          <p:cNvSpPr>
            <a:spLocks noGrp="1"/>
          </p:cNvSpPr>
          <p:nvPr>
            <p:ph idx="1"/>
          </p:nvPr>
        </p:nvSpPr>
        <p:spPr>
          <a:xfrm>
            <a:off x="358775" y="1338264"/>
            <a:ext cx="3937000" cy="4838699"/>
          </a:xfrm>
        </p:spPr>
        <p:txBody>
          <a:bodyPr/>
          <a:lstStyle>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0AA5A09E-AC56-4E11-90B9-92C4C4962138}"/>
              </a:ext>
            </a:extLst>
          </p:cNvPr>
          <p:cNvSpPr>
            <a:spLocks noGrp="1"/>
          </p:cNvSpPr>
          <p:nvPr>
            <p:ph type="ftr" sz="quarter" idx="11"/>
          </p:nvPr>
        </p:nvSpPr>
        <p:spPr/>
        <p:txBody>
          <a:bodyPr/>
          <a:lstStyle/>
          <a:p>
            <a:r>
              <a:rPr lang="en-GB" dirty="0"/>
              <a:t>Grainger Plc  |  www.graingerplc.co.uk    |  Investor Day  |  September 2017</a:t>
            </a:r>
          </a:p>
        </p:txBody>
      </p:sp>
      <p:sp>
        <p:nvSpPr>
          <p:cNvPr id="6" name="Slide Number Placeholder 5">
            <a:extLst>
              <a:ext uri="{FF2B5EF4-FFF2-40B4-BE49-F238E27FC236}">
                <a16:creationId xmlns:a16="http://schemas.microsoft.com/office/drawing/2014/main" id="{5CE5CA96-4FD2-4F87-903D-2272B1D6DEB9}"/>
              </a:ext>
            </a:extLst>
          </p:cNvPr>
          <p:cNvSpPr>
            <a:spLocks noGrp="1"/>
          </p:cNvSpPr>
          <p:nvPr>
            <p:ph type="sldNum" sz="quarter" idx="12"/>
          </p:nvPr>
        </p:nvSpPr>
        <p:spPr/>
        <p:txBody>
          <a:bodyPr/>
          <a:lstStyle/>
          <a:p>
            <a:fld id="{0D32313A-DEBC-4CA4-B008-A02D4ABE2C72}" type="slidenum">
              <a:rPr lang="en-GB" smtClean="0"/>
              <a:t>‹#›</a:t>
            </a:fld>
            <a:endParaRPr lang="en-GB" dirty="0"/>
          </a:p>
        </p:txBody>
      </p:sp>
      <p:sp>
        <p:nvSpPr>
          <p:cNvPr id="7" name="Title 6">
            <a:extLst>
              <a:ext uri="{FF2B5EF4-FFF2-40B4-BE49-F238E27FC236}">
                <a16:creationId xmlns:a16="http://schemas.microsoft.com/office/drawing/2014/main" id="{9331B5C1-E2A5-436F-881A-AB83A6F538AD}"/>
              </a:ext>
            </a:extLst>
          </p:cNvPr>
          <p:cNvSpPr>
            <a:spLocks noGrp="1"/>
          </p:cNvSpPr>
          <p:nvPr>
            <p:ph type="title"/>
          </p:nvPr>
        </p:nvSpPr>
        <p:spPr/>
        <p:txBody>
          <a:bodyPr/>
          <a:lstStyle/>
          <a:p>
            <a:r>
              <a:rPr lang="en-US"/>
              <a:t>Click to edit Master title style</a:t>
            </a:r>
            <a:endParaRPr lang="en-GB"/>
          </a:p>
        </p:txBody>
      </p:sp>
      <p:sp>
        <p:nvSpPr>
          <p:cNvPr id="8" name="Content Placeholder 2">
            <a:extLst>
              <a:ext uri="{FF2B5EF4-FFF2-40B4-BE49-F238E27FC236}">
                <a16:creationId xmlns:a16="http://schemas.microsoft.com/office/drawing/2014/main" id="{7944671A-3D72-48A8-AFB6-C7FB7AA3EAE9}"/>
              </a:ext>
            </a:extLst>
          </p:cNvPr>
          <p:cNvSpPr>
            <a:spLocks noGrp="1"/>
          </p:cNvSpPr>
          <p:nvPr>
            <p:ph idx="13"/>
          </p:nvPr>
        </p:nvSpPr>
        <p:spPr>
          <a:xfrm>
            <a:off x="4848225" y="1338263"/>
            <a:ext cx="3937000" cy="4838699"/>
          </a:xfrm>
        </p:spPr>
        <p:txBody>
          <a:bodyPr/>
          <a:lstStyle>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683953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811A68-6F1F-4041-8E8D-C45B52D11440}"/>
              </a:ext>
            </a:extLst>
          </p:cNvPr>
          <p:cNvSpPr>
            <a:spLocks noGrp="1"/>
          </p:cNvSpPr>
          <p:nvPr>
            <p:ph idx="1"/>
          </p:nvPr>
        </p:nvSpPr>
        <p:spPr>
          <a:xfrm>
            <a:off x="358775" y="1263932"/>
            <a:ext cx="4227080" cy="4913031"/>
          </a:xfrm>
        </p:spPr>
        <p:txBody>
          <a:bodyPr/>
          <a:lstStyle>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0AA5A09E-AC56-4E11-90B9-92C4C4962138}"/>
              </a:ext>
            </a:extLst>
          </p:cNvPr>
          <p:cNvSpPr>
            <a:spLocks noGrp="1"/>
          </p:cNvSpPr>
          <p:nvPr>
            <p:ph type="ftr" sz="quarter" idx="11"/>
          </p:nvPr>
        </p:nvSpPr>
        <p:spPr/>
        <p:txBody>
          <a:bodyPr/>
          <a:lstStyle/>
          <a:p>
            <a:r>
              <a:rPr lang="en-GB" dirty="0"/>
              <a:t>Grainger Plc  |  www.graingerplc.co.uk    |  Investor Day  |  September 2017</a:t>
            </a:r>
          </a:p>
        </p:txBody>
      </p:sp>
      <p:sp>
        <p:nvSpPr>
          <p:cNvPr id="6" name="Slide Number Placeholder 5">
            <a:extLst>
              <a:ext uri="{FF2B5EF4-FFF2-40B4-BE49-F238E27FC236}">
                <a16:creationId xmlns:a16="http://schemas.microsoft.com/office/drawing/2014/main" id="{5CE5CA96-4FD2-4F87-903D-2272B1D6DEB9}"/>
              </a:ext>
            </a:extLst>
          </p:cNvPr>
          <p:cNvSpPr>
            <a:spLocks noGrp="1"/>
          </p:cNvSpPr>
          <p:nvPr>
            <p:ph type="sldNum" sz="quarter" idx="12"/>
          </p:nvPr>
        </p:nvSpPr>
        <p:spPr/>
        <p:txBody>
          <a:bodyPr/>
          <a:lstStyle/>
          <a:p>
            <a:fld id="{0D32313A-DEBC-4CA4-B008-A02D4ABE2C72}" type="slidenum">
              <a:rPr lang="en-GB" smtClean="0"/>
              <a:t>‹#›</a:t>
            </a:fld>
            <a:endParaRPr lang="en-GB" dirty="0"/>
          </a:p>
        </p:txBody>
      </p:sp>
      <p:sp>
        <p:nvSpPr>
          <p:cNvPr id="7" name="Title 6">
            <a:extLst>
              <a:ext uri="{FF2B5EF4-FFF2-40B4-BE49-F238E27FC236}">
                <a16:creationId xmlns:a16="http://schemas.microsoft.com/office/drawing/2014/main" id="{9331B5C1-E2A5-436F-881A-AB83A6F538AD}"/>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668150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EB89-8FCF-4598-B706-910D281EEB37}"/>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1ECBF60F-F9D5-45E5-B986-89DB0E35D6B5}"/>
              </a:ext>
            </a:extLst>
          </p:cNvPr>
          <p:cNvSpPr>
            <a:spLocks noGrp="1"/>
          </p:cNvSpPr>
          <p:nvPr>
            <p:ph type="ftr" sz="quarter" idx="11"/>
          </p:nvPr>
        </p:nvSpPr>
        <p:spPr/>
        <p:txBody>
          <a:bodyPr/>
          <a:lstStyle/>
          <a:p>
            <a:r>
              <a:rPr lang="en-GB" dirty="0"/>
              <a:t>Grainger Plc  |  www.graingerplc.co.uk    |  Investor Day  |  September 2017</a:t>
            </a:r>
          </a:p>
        </p:txBody>
      </p:sp>
      <p:sp>
        <p:nvSpPr>
          <p:cNvPr id="5" name="Slide Number Placeholder 4">
            <a:extLst>
              <a:ext uri="{FF2B5EF4-FFF2-40B4-BE49-F238E27FC236}">
                <a16:creationId xmlns:a16="http://schemas.microsoft.com/office/drawing/2014/main" id="{CBE5F0A1-A476-462E-BABE-86C8F9839EA9}"/>
              </a:ext>
            </a:extLst>
          </p:cNvPr>
          <p:cNvSpPr>
            <a:spLocks noGrp="1"/>
          </p:cNvSpPr>
          <p:nvPr>
            <p:ph type="sldNum" sz="quarter" idx="12"/>
          </p:nvPr>
        </p:nvSpPr>
        <p:spPr/>
        <p:txBody>
          <a:bodyPr/>
          <a:lstStyle/>
          <a:p>
            <a:fld id="{0D32313A-DEBC-4CA4-B008-A02D4ABE2C72}" type="slidenum">
              <a:rPr lang="en-GB" smtClean="0"/>
              <a:t>‹#›</a:t>
            </a:fld>
            <a:endParaRPr lang="en-GB" dirty="0"/>
          </a:p>
        </p:txBody>
      </p:sp>
      <p:sp>
        <p:nvSpPr>
          <p:cNvPr id="6" name="Text Placeholder 5">
            <a:extLst>
              <a:ext uri="{FF2B5EF4-FFF2-40B4-BE49-F238E27FC236}">
                <a16:creationId xmlns:a16="http://schemas.microsoft.com/office/drawing/2014/main" id="{F0A5E596-5496-4A60-88B2-178283450DD1}"/>
              </a:ext>
            </a:extLst>
          </p:cNvPr>
          <p:cNvSpPr>
            <a:spLocks noGrp="1"/>
          </p:cNvSpPr>
          <p:nvPr>
            <p:ph type="body" sz="quarter" idx="13"/>
          </p:nvPr>
        </p:nvSpPr>
        <p:spPr>
          <a:xfrm>
            <a:off x="358775" y="837646"/>
            <a:ext cx="8426450" cy="455612"/>
          </a:xfrm>
        </p:spPr>
        <p:txBody>
          <a:bodyPr>
            <a:normAutofit/>
          </a:bodyPr>
          <a:lstStyle>
            <a:lvl1pPr>
              <a:spcBef>
                <a:spcPts val="0"/>
              </a:spcBef>
              <a:defRPr sz="2400">
                <a:latin typeface="+mj-lt"/>
              </a:defRPr>
            </a:lvl1pPr>
          </a:lstStyle>
          <a:p>
            <a:pPr lvl="0"/>
            <a:r>
              <a:rPr lang="en-US"/>
              <a:t>Edit Master text styles</a:t>
            </a:r>
            <a:endParaRPr lang="en-GB"/>
          </a:p>
        </p:txBody>
      </p:sp>
    </p:spTree>
    <p:extLst>
      <p:ext uri="{BB962C8B-B14F-4D97-AF65-F5344CB8AC3E}">
        <p14:creationId xmlns:p14="http://schemas.microsoft.com/office/powerpoint/2010/main" val="1335286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EB89-8FCF-4598-B706-910D281EEB37}"/>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1ECBF60F-F9D5-45E5-B986-89DB0E35D6B5}"/>
              </a:ext>
            </a:extLst>
          </p:cNvPr>
          <p:cNvSpPr>
            <a:spLocks noGrp="1"/>
          </p:cNvSpPr>
          <p:nvPr>
            <p:ph type="ftr" sz="quarter" idx="11"/>
          </p:nvPr>
        </p:nvSpPr>
        <p:spPr/>
        <p:txBody>
          <a:bodyPr/>
          <a:lstStyle/>
          <a:p>
            <a:r>
              <a:rPr lang="en-GB" dirty="0"/>
              <a:t>Grainger Plc  |  www.graingerplc.co.uk  |  Investor Day  |  September 2017</a:t>
            </a:r>
          </a:p>
        </p:txBody>
      </p:sp>
      <p:sp>
        <p:nvSpPr>
          <p:cNvPr id="5" name="Slide Number Placeholder 4">
            <a:extLst>
              <a:ext uri="{FF2B5EF4-FFF2-40B4-BE49-F238E27FC236}">
                <a16:creationId xmlns:a16="http://schemas.microsoft.com/office/drawing/2014/main" id="{CBE5F0A1-A476-462E-BABE-86C8F9839EA9}"/>
              </a:ext>
            </a:extLst>
          </p:cNvPr>
          <p:cNvSpPr>
            <a:spLocks noGrp="1"/>
          </p:cNvSpPr>
          <p:nvPr>
            <p:ph type="sldNum" sz="quarter" idx="12"/>
          </p:nvPr>
        </p:nvSpPr>
        <p:spPr/>
        <p:txBody>
          <a:bodyPr/>
          <a:lstStyle/>
          <a:p>
            <a:fld id="{0D32313A-DEBC-4CA4-B008-A02D4ABE2C72}" type="slidenum">
              <a:rPr lang="en-GB" smtClean="0"/>
              <a:t>‹#›</a:t>
            </a:fld>
            <a:endParaRPr lang="en-GB" dirty="0"/>
          </a:p>
        </p:txBody>
      </p:sp>
      <p:sp>
        <p:nvSpPr>
          <p:cNvPr id="6" name="Text Placeholder 5">
            <a:extLst>
              <a:ext uri="{FF2B5EF4-FFF2-40B4-BE49-F238E27FC236}">
                <a16:creationId xmlns:a16="http://schemas.microsoft.com/office/drawing/2014/main" id="{AF8CED2B-0A07-49C4-A4A6-1189DE8609E9}"/>
              </a:ext>
            </a:extLst>
          </p:cNvPr>
          <p:cNvSpPr>
            <a:spLocks noGrp="1"/>
          </p:cNvSpPr>
          <p:nvPr>
            <p:ph type="body" sz="quarter" idx="13"/>
          </p:nvPr>
        </p:nvSpPr>
        <p:spPr>
          <a:xfrm>
            <a:off x="358774" y="1700808"/>
            <a:ext cx="8403917" cy="287883"/>
          </a:xfrm>
        </p:spPr>
        <p:txBody>
          <a:bodyPr anchor="b" anchorCtr="0">
            <a:noAutofit/>
          </a:bodyPr>
          <a:lstStyle>
            <a:lvl1pPr>
              <a:lnSpc>
                <a:spcPct val="100000"/>
              </a:lnSpc>
              <a:spcBef>
                <a:spcPts val="0"/>
              </a:spcBef>
              <a:defRPr sz="1600">
                <a:latin typeface="+mn-lt"/>
              </a:defRPr>
            </a:lvl1pPr>
          </a:lstStyle>
          <a:p>
            <a:pPr lvl="0"/>
            <a:r>
              <a:rPr lang="en-US"/>
              <a:t>Edit Master text styles</a:t>
            </a:r>
            <a:endParaRPr lang="en-GB"/>
          </a:p>
        </p:txBody>
      </p:sp>
      <p:sp>
        <p:nvSpPr>
          <p:cNvPr id="8" name="Chart Placeholder 7">
            <a:extLst>
              <a:ext uri="{FF2B5EF4-FFF2-40B4-BE49-F238E27FC236}">
                <a16:creationId xmlns:a16="http://schemas.microsoft.com/office/drawing/2014/main" id="{BAE8006F-A5D5-47C0-870C-58D1A48F8FAF}"/>
              </a:ext>
            </a:extLst>
          </p:cNvPr>
          <p:cNvSpPr>
            <a:spLocks noGrp="1"/>
          </p:cNvSpPr>
          <p:nvPr>
            <p:ph type="chart" sz="quarter" idx="14"/>
          </p:nvPr>
        </p:nvSpPr>
        <p:spPr>
          <a:xfrm>
            <a:off x="358775" y="2060849"/>
            <a:ext cx="8426450" cy="3888432"/>
          </a:xfrm>
        </p:spPr>
        <p:txBody>
          <a:bodyPr>
            <a:normAutofit/>
          </a:bodyPr>
          <a:lstStyle>
            <a:lvl1pPr>
              <a:defRPr sz="1200"/>
            </a:lvl1pPr>
          </a:lstStyle>
          <a:p>
            <a:endParaRPr lang="en-GB" dirty="0"/>
          </a:p>
        </p:txBody>
      </p:sp>
      <p:cxnSp>
        <p:nvCxnSpPr>
          <p:cNvPr id="10" name="Straight Connector 9">
            <a:extLst>
              <a:ext uri="{FF2B5EF4-FFF2-40B4-BE49-F238E27FC236}">
                <a16:creationId xmlns:a16="http://schemas.microsoft.com/office/drawing/2014/main" id="{34D4EBD7-B80F-4D02-8127-3C84C5F7C937}"/>
              </a:ext>
            </a:extLst>
          </p:cNvPr>
          <p:cNvCxnSpPr/>
          <p:nvPr userDrawn="1"/>
        </p:nvCxnSpPr>
        <p:spPr>
          <a:xfrm>
            <a:off x="358774" y="2060849"/>
            <a:ext cx="8426451"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 Placeholder 5">
            <a:extLst>
              <a:ext uri="{FF2B5EF4-FFF2-40B4-BE49-F238E27FC236}">
                <a16:creationId xmlns:a16="http://schemas.microsoft.com/office/drawing/2014/main" id="{D47BE437-CAC2-4668-96D2-668E678F6724}"/>
              </a:ext>
            </a:extLst>
          </p:cNvPr>
          <p:cNvSpPr>
            <a:spLocks noGrp="1"/>
          </p:cNvSpPr>
          <p:nvPr>
            <p:ph type="body" sz="quarter" idx="15"/>
          </p:nvPr>
        </p:nvSpPr>
        <p:spPr>
          <a:xfrm>
            <a:off x="358773" y="6165304"/>
            <a:ext cx="8403917" cy="215875"/>
          </a:xfrm>
        </p:spPr>
        <p:txBody>
          <a:bodyPr anchor="b" anchorCtr="0">
            <a:noAutofit/>
          </a:bodyPr>
          <a:lstStyle>
            <a:lvl1pPr>
              <a:lnSpc>
                <a:spcPct val="100000"/>
              </a:lnSpc>
              <a:spcBef>
                <a:spcPts val="0"/>
              </a:spcBef>
              <a:defRPr sz="700" spc="0">
                <a:solidFill>
                  <a:schemeClr val="tx1"/>
                </a:solidFill>
                <a:latin typeface="+mn-lt"/>
              </a:defRPr>
            </a:lvl1pPr>
          </a:lstStyle>
          <a:p>
            <a:pPr lvl="0"/>
            <a:r>
              <a:rPr lang="en-US"/>
              <a:t>Edit Master text styles</a:t>
            </a:r>
            <a:endParaRPr lang="en-GB"/>
          </a:p>
        </p:txBody>
      </p:sp>
    </p:spTree>
    <p:extLst>
      <p:ext uri="{BB962C8B-B14F-4D97-AF65-F5344CB8AC3E}">
        <p14:creationId xmlns:p14="http://schemas.microsoft.com/office/powerpoint/2010/main" val="2202406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EB89-8FCF-4598-B706-910D281EEB37}"/>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1ECBF60F-F9D5-45E5-B986-89DB0E35D6B5}"/>
              </a:ext>
            </a:extLst>
          </p:cNvPr>
          <p:cNvSpPr>
            <a:spLocks noGrp="1"/>
          </p:cNvSpPr>
          <p:nvPr>
            <p:ph type="ftr" sz="quarter" idx="11"/>
          </p:nvPr>
        </p:nvSpPr>
        <p:spPr/>
        <p:txBody>
          <a:bodyPr/>
          <a:lstStyle/>
          <a:p>
            <a:r>
              <a:rPr lang="en-GB" dirty="0"/>
              <a:t>Grainger Plc  |  www.graingerplc.co.uk  |  Investor Day  |  September 2017</a:t>
            </a:r>
          </a:p>
        </p:txBody>
      </p:sp>
      <p:sp>
        <p:nvSpPr>
          <p:cNvPr id="5" name="Slide Number Placeholder 4">
            <a:extLst>
              <a:ext uri="{FF2B5EF4-FFF2-40B4-BE49-F238E27FC236}">
                <a16:creationId xmlns:a16="http://schemas.microsoft.com/office/drawing/2014/main" id="{CBE5F0A1-A476-462E-BABE-86C8F9839EA9}"/>
              </a:ext>
            </a:extLst>
          </p:cNvPr>
          <p:cNvSpPr>
            <a:spLocks noGrp="1"/>
          </p:cNvSpPr>
          <p:nvPr>
            <p:ph type="sldNum" sz="quarter" idx="12"/>
          </p:nvPr>
        </p:nvSpPr>
        <p:spPr/>
        <p:txBody>
          <a:bodyPr/>
          <a:lstStyle/>
          <a:p>
            <a:fld id="{0D32313A-DEBC-4CA4-B008-A02D4ABE2C72}" type="slidenum">
              <a:rPr lang="en-GB" smtClean="0"/>
              <a:t>‹#›</a:t>
            </a:fld>
            <a:endParaRPr lang="en-GB" dirty="0"/>
          </a:p>
        </p:txBody>
      </p:sp>
      <p:sp>
        <p:nvSpPr>
          <p:cNvPr id="8" name="Chart Placeholder 7">
            <a:extLst>
              <a:ext uri="{FF2B5EF4-FFF2-40B4-BE49-F238E27FC236}">
                <a16:creationId xmlns:a16="http://schemas.microsoft.com/office/drawing/2014/main" id="{BAE8006F-A5D5-47C0-870C-58D1A48F8FAF}"/>
              </a:ext>
            </a:extLst>
          </p:cNvPr>
          <p:cNvSpPr>
            <a:spLocks noGrp="1"/>
          </p:cNvSpPr>
          <p:nvPr>
            <p:ph type="chart" sz="quarter" idx="14"/>
          </p:nvPr>
        </p:nvSpPr>
        <p:spPr>
          <a:xfrm>
            <a:off x="358775" y="2806861"/>
            <a:ext cx="8426450" cy="3142420"/>
          </a:xfrm>
        </p:spPr>
        <p:txBody>
          <a:bodyPr>
            <a:normAutofit/>
          </a:bodyPr>
          <a:lstStyle>
            <a:lvl1pPr>
              <a:defRPr sz="1200"/>
            </a:lvl1pPr>
          </a:lstStyle>
          <a:p>
            <a:endParaRPr lang="en-GB" dirty="0"/>
          </a:p>
        </p:txBody>
      </p:sp>
      <p:cxnSp>
        <p:nvCxnSpPr>
          <p:cNvPr id="10" name="Straight Connector 9">
            <a:extLst>
              <a:ext uri="{FF2B5EF4-FFF2-40B4-BE49-F238E27FC236}">
                <a16:creationId xmlns:a16="http://schemas.microsoft.com/office/drawing/2014/main" id="{34D4EBD7-B80F-4D02-8127-3C84C5F7C937}"/>
              </a:ext>
            </a:extLst>
          </p:cNvPr>
          <p:cNvCxnSpPr/>
          <p:nvPr userDrawn="1"/>
        </p:nvCxnSpPr>
        <p:spPr>
          <a:xfrm>
            <a:off x="358775" y="2792948"/>
            <a:ext cx="8426451"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 Placeholder 5">
            <a:extLst>
              <a:ext uri="{FF2B5EF4-FFF2-40B4-BE49-F238E27FC236}">
                <a16:creationId xmlns:a16="http://schemas.microsoft.com/office/drawing/2014/main" id="{D47BE437-CAC2-4668-96D2-668E678F6724}"/>
              </a:ext>
            </a:extLst>
          </p:cNvPr>
          <p:cNvSpPr>
            <a:spLocks noGrp="1"/>
          </p:cNvSpPr>
          <p:nvPr>
            <p:ph type="body" sz="quarter" idx="15"/>
          </p:nvPr>
        </p:nvSpPr>
        <p:spPr>
          <a:xfrm>
            <a:off x="358773" y="6165304"/>
            <a:ext cx="8403917" cy="215875"/>
          </a:xfrm>
        </p:spPr>
        <p:txBody>
          <a:bodyPr anchor="b" anchorCtr="0">
            <a:noAutofit/>
          </a:bodyPr>
          <a:lstStyle>
            <a:lvl1pPr>
              <a:lnSpc>
                <a:spcPct val="100000"/>
              </a:lnSpc>
              <a:spcBef>
                <a:spcPts val="0"/>
              </a:spcBef>
              <a:defRPr sz="700" spc="0">
                <a:solidFill>
                  <a:schemeClr val="tx1"/>
                </a:solidFill>
                <a:latin typeface="+mn-lt"/>
              </a:defRPr>
            </a:lvl1pPr>
          </a:lstStyle>
          <a:p>
            <a:pPr lvl="0"/>
            <a:r>
              <a:rPr lang="en-US"/>
              <a:t>Edit Master text styles</a:t>
            </a:r>
            <a:endParaRPr lang="en-GB"/>
          </a:p>
        </p:txBody>
      </p:sp>
      <p:sp>
        <p:nvSpPr>
          <p:cNvPr id="7" name="Text Placeholder 6">
            <a:extLst>
              <a:ext uri="{FF2B5EF4-FFF2-40B4-BE49-F238E27FC236}">
                <a16:creationId xmlns:a16="http://schemas.microsoft.com/office/drawing/2014/main" id="{AC48A659-4CBE-4EBF-9095-8B68694B6AAE}"/>
              </a:ext>
            </a:extLst>
          </p:cNvPr>
          <p:cNvSpPr>
            <a:spLocks noGrp="1"/>
          </p:cNvSpPr>
          <p:nvPr>
            <p:ph type="body" sz="quarter" idx="16"/>
          </p:nvPr>
        </p:nvSpPr>
        <p:spPr>
          <a:xfrm>
            <a:off x="358775" y="1421725"/>
            <a:ext cx="3998913" cy="1289725"/>
          </a:xfrm>
        </p:spPr>
        <p:txBody>
          <a:bodyPr/>
          <a:lstStyle>
            <a:lvl1pPr>
              <a:defRPr sz="16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6">
            <a:extLst>
              <a:ext uri="{FF2B5EF4-FFF2-40B4-BE49-F238E27FC236}">
                <a16:creationId xmlns:a16="http://schemas.microsoft.com/office/drawing/2014/main" id="{CD4DFF48-E5F3-4CD4-8721-F6E497C05D0E}"/>
              </a:ext>
            </a:extLst>
          </p:cNvPr>
          <p:cNvSpPr>
            <a:spLocks noGrp="1"/>
          </p:cNvSpPr>
          <p:nvPr>
            <p:ph type="body" sz="quarter" idx="17"/>
          </p:nvPr>
        </p:nvSpPr>
        <p:spPr>
          <a:xfrm>
            <a:off x="4786312" y="1421725"/>
            <a:ext cx="3998913" cy="1289725"/>
          </a:xfrm>
        </p:spPr>
        <p:txBody>
          <a:bodyPr/>
          <a:lstStyle>
            <a:lvl1pPr>
              <a:defRPr sz="16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699655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EB89-8FCF-4598-B706-910D281EEB37}"/>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1ECBF60F-F9D5-45E5-B986-89DB0E35D6B5}"/>
              </a:ext>
            </a:extLst>
          </p:cNvPr>
          <p:cNvSpPr>
            <a:spLocks noGrp="1"/>
          </p:cNvSpPr>
          <p:nvPr>
            <p:ph type="ftr" sz="quarter" idx="11"/>
          </p:nvPr>
        </p:nvSpPr>
        <p:spPr/>
        <p:txBody>
          <a:bodyPr/>
          <a:lstStyle/>
          <a:p>
            <a:r>
              <a:rPr lang="en-GB" dirty="0"/>
              <a:t>Grainger Plc  |  www.graingerplc.co.uk  |  Investor Day  |  September 2017</a:t>
            </a:r>
          </a:p>
        </p:txBody>
      </p:sp>
      <p:sp>
        <p:nvSpPr>
          <p:cNvPr id="5" name="Slide Number Placeholder 4">
            <a:extLst>
              <a:ext uri="{FF2B5EF4-FFF2-40B4-BE49-F238E27FC236}">
                <a16:creationId xmlns:a16="http://schemas.microsoft.com/office/drawing/2014/main" id="{CBE5F0A1-A476-462E-BABE-86C8F9839EA9}"/>
              </a:ext>
            </a:extLst>
          </p:cNvPr>
          <p:cNvSpPr>
            <a:spLocks noGrp="1"/>
          </p:cNvSpPr>
          <p:nvPr>
            <p:ph type="sldNum" sz="quarter" idx="12"/>
          </p:nvPr>
        </p:nvSpPr>
        <p:spPr/>
        <p:txBody>
          <a:bodyPr/>
          <a:lstStyle/>
          <a:p>
            <a:fld id="{0D32313A-DEBC-4CA4-B008-A02D4ABE2C72}" type="slidenum">
              <a:rPr lang="en-GB" smtClean="0"/>
              <a:t>‹#›</a:t>
            </a:fld>
            <a:endParaRPr lang="en-GB" dirty="0"/>
          </a:p>
        </p:txBody>
      </p:sp>
      <p:sp>
        <p:nvSpPr>
          <p:cNvPr id="8" name="Chart Placeholder 7">
            <a:extLst>
              <a:ext uri="{FF2B5EF4-FFF2-40B4-BE49-F238E27FC236}">
                <a16:creationId xmlns:a16="http://schemas.microsoft.com/office/drawing/2014/main" id="{BAE8006F-A5D5-47C0-870C-58D1A48F8FAF}"/>
              </a:ext>
            </a:extLst>
          </p:cNvPr>
          <p:cNvSpPr>
            <a:spLocks noGrp="1"/>
          </p:cNvSpPr>
          <p:nvPr>
            <p:ph type="chart" sz="quarter" idx="14"/>
          </p:nvPr>
        </p:nvSpPr>
        <p:spPr>
          <a:xfrm>
            <a:off x="4786311" y="2892409"/>
            <a:ext cx="3998913" cy="3056871"/>
          </a:xfrm>
        </p:spPr>
        <p:txBody>
          <a:bodyPr>
            <a:normAutofit/>
          </a:bodyPr>
          <a:lstStyle>
            <a:lvl1pPr>
              <a:defRPr sz="1200"/>
            </a:lvl1pPr>
          </a:lstStyle>
          <a:p>
            <a:endParaRPr lang="en-GB" dirty="0"/>
          </a:p>
        </p:txBody>
      </p:sp>
      <p:cxnSp>
        <p:nvCxnSpPr>
          <p:cNvPr id="10" name="Straight Connector 9">
            <a:extLst>
              <a:ext uri="{FF2B5EF4-FFF2-40B4-BE49-F238E27FC236}">
                <a16:creationId xmlns:a16="http://schemas.microsoft.com/office/drawing/2014/main" id="{34D4EBD7-B80F-4D02-8127-3C84C5F7C937}"/>
              </a:ext>
            </a:extLst>
          </p:cNvPr>
          <p:cNvCxnSpPr/>
          <p:nvPr userDrawn="1"/>
        </p:nvCxnSpPr>
        <p:spPr>
          <a:xfrm>
            <a:off x="358775" y="2792948"/>
            <a:ext cx="8426451"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 Placeholder 5">
            <a:extLst>
              <a:ext uri="{FF2B5EF4-FFF2-40B4-BE49-F238E27FC236}">
                <a16:creationId xmlns:a16="http://schemas.microsoft.com/office/drawing/2014/main" id="{D47BE437-CAC2-4668-96D2-668E678F6724}"/>
              </a:ext>
            </a:extLst>
          </p:cNvPr>
          <p:cNvSpPr>
            <a:spLocks noGrp="1"/>
          </p:cNvSpPr>
          <p:nvPr>
            <p:ph type="body" sz="quarter" idx="15"/>
          </p:nvPr>
        </p:nvSpPr>
        <p:spPr>
          <a:xfrm>
            <a:off x="358773" y="6165304"/>
            <a:ext cx="8403917" cy="215875"/>
          </a:xfrm>
        </p:spPr>
        <p:txBody>
          <a:bodyPr anchor="b" anchorCtr="0">
            <a:noAutofit/>
          </a:bodyPr>
          <a:lstStyle>
            <a:lvl1pPr>
              <a:lnSpc>
                <a:spcPct val="100000"/>
              </a:lnSpc>
              <a:spcBef>
                <a:spcPts val="0"/>
              </a:spcBef>
              <a:defRPr sz="700" spc="0">
                <a:solidFill>
                  <a:schemeClr val="tx1"/>
                </a:solidFill>
                <a:latin typeface="+mn-lt"/>
              </a:defRPr>
            </a:lvl1pPr>
          </a:lstStyle>
          <a:p>
            <a:pPr lvl="0"/>
            <a:r>
              <a:rPr lang="en-US"/>
              <a:t>Edit Master text styles</a:t>
            </a:r>
            <a:endParaRPr lang="en-GB"/>
          </a:p>
        </p:txBody>
      </p:sp>
      <p:sp>
        <p:nvSpPr>
          <p:cNvPr id="7" name="Text Placeholder 6">
            <a:extLst>
              <a:ext uri="{FF2B5EF4-FFF2-40B4-BE49-F238E27FC236}">
                <a16:creationId xmlns:a16="http://schemas.microsoft.com/office/drawing/2014/main" id="{AC48A659-4CBE-4EBF-9095-8B68694B6AAE}"/>
              </a:ext>
            </a:extLst>
          </p:cNvPr>
          <p:cNvSpPr>
            <a:spLocks noGrp="1"/>
          </p:cNvSpPr>
          <p:nvPr>
            <p:ph type="body" sz="quarter" idx="16"/>
          </p:nvPr>
        </p:nvSpPr>
        <p:spPr>
          <a:xfrm>
            <a:off x="358775" y="1421725"/>
            <a:ext cx="3998913" cy="1289725"/>
          </a:xfrm>
        </p:spPr>
        <p:txBody>
          <a:bodyPr/>
          <a:lstStyle>
            <a:lvl1pPr>
              <a:defRPr sz="16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6">
            <a:extLst>
              <a:ext uri="{FF2B5EF4-FFF2-40B4-BE49-F238E27FC236}">
                <a16:creationId xmlns:a16="http://schemas.microsoft.com/office/drawing/2014/main" id="{CD4DFF48-E5F3-4CD4-8721-F6E497C05D0E}"/>
              </a:ext>
            </a:extLst>
          </p:cNvPr>
          <p:cNvSpPr>
            <a:spLocks noGrp="1"/>
          </p:cNvSpPr>
          <p:nvPr>
            <p:ph type="body" sz="quarter" idx="17"/>
          </p:nvPr>
        </p:nvSpPr>
        <p:spPr>
          <a:xfrm>
            <a:off x="4786312" y="1421725"/>
            <a:ext cx="3998913" cy="1289725"/>
          </a:xfrm>
        </p:spPr>
        <p:txBody>
          <a:bodyPr/>
          <a:lstStyle>
            <a:lvl1pPr>
              <a:defRPr sz="16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6">
            <a:extLst>
              <a:ext uri="{FF2B5EF4-FFF2-40B4-BE49-F238E27FC236}">
                <a16:creationId xmlns:a16="http://schemas.microsoft.com/office/drawing/2014/main" id="{794404C6-CF43-499B-B6F1-857528420D81}"/>
              </a:ext>
            </a:extLst>
          </p:cNvPr>
          <p:cNvSpPr>
            <a:spLocks noGrp="1"/>
          </p:cNvSpPr>
          <p:nvPr>
            <p:ph type="body" sz="quarter" idx="18"/>
          </p:nvPr>
        </p:nvSpPr>
        <p:spPr>
          <a:xfrm>
            <a:off x="358775" y="2892410"/>
            <a:ext cx="3998913" cy="1289725"/>
          </a:xfrm>
        </p:spPr>
        <p:txBody>
          <a:bodyPr/>
          <a:lstStyle>
            <a:lvl1pPr>
              <a:defRPr sz="16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120441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EB89-8FCF-4598-B706-910D281EEB37}"/>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1ECBF60F-F9D5-45E5-B986-89DB0E35D6B5}"/>
              </a:ext>
            </a:extLst>
          </p:cNvPr>
          <p:cNvSpPr>
            <a:spLocks noGrp="1"/>
          </p:cNvSpPr>
          <p:nvPr>
            <p:ph type="ftr" sz="quarter" idx="11"/>
          </p:nvPr>
        </p:nvSpPr>
        <p:spPr/>
        <p:txBody>
          <a:bodyPr/>
          <a:lstStyle/>
          <a:p>
            <a:r>
              <a:rPr lang="en-GB" dirty="0"/>
              <a:t>Grainger Plc  |  www.graingerplc.co.uk  |  Investor Day  |  September 2017</a:t>
            </a:r>
          </a:p>
        </p:txBody>
      </p:sp>
      <p:sp>
        <p:nvSpPr>
          <p:cNvPr id="5" name="Slide Number Placeholder 4">
            <a:extLst>
              <a:ext uri="{FF2B5EF4-FFF2-40B4-BE49-F238E27FC236}">
                <a16:creationId xmlns:a16="http://schemas.microsoft.com/office/drawing/2014/main" id="{CBE5F0A1-A476-462E-BABE-86C8F9839EA9}"/>
              </a:ext>
            </a:extLst>
          </p:cNvPr>
          <p:cNvSpPr>
            <a:spLocks noGrp="1"/>
          </p:cNvSpPr>
          <p:nvPr>
            <p:ph type="sldNum" sz="quarter" idx="12"/>
          </p:nvPr>
        </p:nvSpPr>
        <p:spPr/>
        <p:txBody>
          <a:bodyPr/>
          <a:lstStyle/>
          <a:p>
            <a:fld id="{0D32313A-DEBC-4CA4-B008-A02D4ABE2C72}" type="slidenum">
              <a:rPr lang="en-GB" smtClean="0"/>
              <a:t>‹#›</a:t>
            </a:fld>
            <a:endParaRPr lang="en-GB" dirty="0"/>
          </a:p>
        </p:txBody>
      </p:sp>
      <p:sp>
        <p:nvSpPr>
          <p:cNvPr id="6" name="Text Placeholder 5">
            <a:extLst>
              <a:ext uri="{FF2B5EF4-FFF2-40B4-BE49-F238E27FC236}">
                <a16:creationId xmlns:a16="http://schemas.microsoft.com/office/drawing/2014/main" id="{AF8CED2B-0A07-49C4-A4A6-1189DE8609E9}"/>
              </a:ext>
            </a:extLst>
          </p:cNvPr>
          <p:cNvSpPr>
            <a:spLocks noGrp="1"/>
          </p:cNvSpPr>
          <p:nvPr>
            <p:ph type="body" sz="quarter" idx="13"/>
          </p:nvPr>
        </p:nvSpPr>
        <p:spPr>
          <a:xfrm>
            <a:off x="381308" y="1241607"/>
            <a:ext cx="8403917" cy="287883"/>
          </a:xfrm>
        </p:spPr>
        <p:txBody>
          <a:bodyPr anchor="b" anchorCtr="0">
            <a:noAutofit/>
          </a:bodyPr>
          <a:lstStyle>
            <a:lvl1pPr>
              <a:lnSpc>
                <a:spcPct val="100000"/>
              </a:lnSpc>
              <a:spcBef>
                <a:spcPts val="0"/>
              </a:spcBef>
              <a:defRPr sz="1600">
                <a:latin typeface="+mn-lt"/>
              </a:defRPr>
            </a:lvl1pPr>
          </a:lstStyle>
          <a:p>
            <a:pPr lvl="0"/>
            <a:r>
              <a:rPr lang="en-US"/>
              <a:t>Edit Master text styles</a:t>
            </a:r>
            <a:endParaRPr lang="en-GB"/>
          </a:p>
        </p:txBody>
      </p:sp>
      <p:sp>
        <p:nvSpPr>
          <p:cNvPr id="8" name="Chart Placeholder 7">
            <a:extLst>
              <a:ext uri="{FF2B5EF4-FFF2-40B4-BE49-F238E27FC236}">
                <a16:creationId xmlns:a16="http://schemas.microsoft.com/office/drawing/2014/main" id="{BAE8006F-A5D5-47C0-870C-58D1A48F8FAF}"/>
              </a:ext>
            </a:extLst>
          </p:cNvPr>
          <p:cNvSpPr>
            <a:spLocks noGrp="1"/>
          </p:cNvSpPr>
          <p:nvPr>
            <p:ph type="chart" sz="quarter" idx="14"/>
          </p:nvPr>
        </p:nvSpPr>
        <p:spPr>
          <a:xfrm>
            <a:off x="358775" y="1529491"/>
            <a:ext cx="8426450" cy="1228458"/>
          </a:xfrm>
        </p:spPr>
        <p:txBody>
          <a:bodyPr>
            <a:normAutofit/>
          </a:bodyPr>
          <a:lstStyle>
            <a:lvl1pPr>
              <a:defRPr sz="1200"/>
            </a:lvl1pPr>
          </a:lstStyle>
          <a:p>
            <a:endParaRPr lang="en-GB" dirty="0"/>
          </a:p>
        </p:txBody>
      </p:sp>
      <p:cxnSp>
        <p:nvCxnSpPr>
          <p:cNvPr id="10" name="Straight Connector 9">
            <a:extLst>
              <a:ext uri="{FF2B5EF4-FFF2-40B4-BE49-F238E27FC236}">
                <a16:creationId xmlns:a16="http://schemas.microsoft.com/office/drawing/2014/main" id="{34D4EBD7-B80F-4D02-8127-3C84C5F7C937}"/>
              </a:ext>
            </a:extLst>
          </p:cNvPr>
          <p:cNvCxnSpPr/>
          <p:nvPr userDrawn="1"/>
        </p:nvCxnSpPr>
        <p:spPr>
          <a:xfrm>
            <a:off x="358774" y="1529490"/>
            <a:ext cx="8426451"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 Placeholder 5">
            <a:extLst>
              <a:ext uri="{FF2B5EF4-FFF2-40B4-BE49-F238E27FC236}">
                <a16:creationId xmlns:a16="http://schemas.microsoft.com/office/drawing/2014/main" id="{D47BE437-CAC2-4668-96D2-668E678F6724}"/>
              </a:ext>
            </a:extLst>
          </p:cNvPr>
          <p:cNvSpPr>
            <a:spLocks noGrp="1"/>
          </p:cNvSpPr>
          <p:nvPr>
            <p:ph type="body" sz="quarter" idx="15"/>
          </p:nvPr>
        </p:nvSpPr>
        <p:spPr>
          <a:xfrm>
            <a:off x="358773" y="6165304"/>
            <a:ext cx="8403917" cy="215875"/>
          </a:xfrm>
        </p:spPr>
        <p:txBody>
          <a:bodyPr anchor="b" anchorCtr="0">
            <a:noAutofit/>
          </a:bodyPr>
          <a:lstStyle>
            <a:lvl1pPr>
              <a:lnSpc>
                <a:spcPct val="100000"/>
              </a:lnSpc>
              <a:spcBef>
                <a:spcPts val="0"/>
              </a:spcBef>
              <a:defRPr sz="700" spc="0">
                <a:solidFill>
                  <a:schemeClr val="tx1"/>
                </a:solidFill>
                <a:latin typeface="+mn-lt"/>
              </a:defRPr>
            </a:lvl1pPr>
          </a:lstStyle>
          <a:p>
            <a:pPr lvl="0"/>
            <a:r>
              <a:rPr lang="en-US"/>
              <a:t>Edit Master text styles</a:t>
            </a:r>
            <a:endParaRPr lang="en-GB"/>
          </a:p>
        </p:txBody>
      </p:sp>
      <p:sp>
        <p:nvSpPr>
          <p:cNvPr id="9" name="Text Placeholder 5">
            <a:extLst>
              <a:ext uri="{FF2B5EF4-FFF2-40B4-BE49-F238E27FC236}">
                <a16:creationId xmlns:a16="http://schemas.microsoft.com/office/drawing/2014/main" id="{AD2D3C30-645E-46BD-8D05-4B1BCB973D39}"/>
              </a:ext>
            </a:extLst>
          </p:cNvPr>
          <p:cNvSpPr>
            <a:spLocks noGrp="1"/>
          </p:cNvSpPr>
          <p:nvPr>
            <p:ph type="body" sz="quarter" idx="16"/>
          </p:nvPr>
        </p:nvSpPr>
        <p:spPr>
          <a:xfrm>
            <a:off x="381306" y="2893427"/>
            <a:ext cx="8403917" cy="287883"/>
          </a:xfrm>
        </p:spPr>
        <p:txBody>
          <a:bodyPr anchor="b" anchorCtr="0">
            <a:noAutofit/>
          </a:bodyPr>
          <a:lstStyle>
            <a:lvl1pPr>
              <a:lnSpc>
                <a:spcPct val="100000"/>
              </a:lnSpc>
              <a:spcBef>
                <a:spcPts val="0"/>
              </a:spcBef>
              <a:defRPr sz="1600">
                <a:latin typeface="+mn-lt"/>
              </a:defRPr>
            </a:lvl1pPr>
          </a:lstStyle>
          <a:p>
            <a:pPr lvl="0"/>
            <a:r>
              <a:rPr lang="en-US"/>
              <a:t>Edit Master text styles</a:t>
            </a:r>
            <a:endParaRPr lang="en-GB"/>
          </a:p>
        </p:txBody>
      </p:sp>
      <p:sp>
        <p:nvSpPr>
          <p:cNvPr id="12" name="Chart Placeholder 7">
            <a:extLst>
              <a:ext uri="{FF2B5EF4-FFF2-40B4-BE49-F238E27FC236}">
                <a16:creationId xmlns:a16="http://schemas.microsoft.com/office/drawing/2014/main" id="{67BCDA24-B550-4DC4-A59D-C385E5F36C0C}"/>
              </a:ext>
            </a:extLst>
          </p:cNvPr>
          <p:cNvSpPr>
            <a:spLocks noGrp="1"/>
          </p:cNvSpPr>
          <p:nvPr>
            <p:ph type="chart" sz="quarter" idx="17"/>
          </p:nvPr>
        </p:nvSpPr>
        <p:spPr>
          <a:xfrm>
            <a:off x="358773" y="3181310"/>
            <a:ext cx="8426450" cy="2831115"/>
          </a:xfrm>
        </p:spPr>
        <p:txBody>
          <a:bodyPr>
            <a:normAutofit/>
          </a:bodyPr>
          <a:lstStyle>
            <a:lvl1pPr>
              <a:defRPr sz="1200"/>
            </a:lvl1pPr>
          </a:lstStyle>
          <a:p>
            <a:endParaRPr lang="en-GB" dirty="0"/>
          </a:p>
        </p:txBody>
      </p:sp>
      <p:cxnSp>
        <p:nvCxnSpPr>
          <p:cNvPr id="13" name="Straight Connector 12">
            <a:extLst>
              <a:ext uri="{FF2B5EF4-FFF2-40B4-BE49-F238E27FC236}">
                <a16:creationId xmlns:a16="http://schemas.microsoft.com/office/drawing/2014/main" id="{B1CBE463-900B-4A67-8594-4CD7A4A709D6}"/>
              </a:ext>
            </a:extLst>
          </p:cNvPr>
          <p:cNvCxnSpPr/>
          <p:nvPr userDrawn="1"/>
        </p:nvCxnSpPr>
        <p:spPr>
          <a:xfrm>
            <a:off x="358772" y="3181310"/>
            <a:ext cx="8426451"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95327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rap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EB89-8FCF-4598-B706-910D281EEB37}"/>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1ECBF60F-F9D5-45E5-B986-89DB0E35D6B5}"/>
              </a:ext>
            </a:extLst>
          </p:cNvPr>
          <p:cNvSpPr>
            <a:spLocks noGrp="1"/>
          </p:cNvSpPr>
          <p:nvPr>
            <p:ph type="ftr" sz="quarter" idx="11"/>
          </p:nvPr>
        </p:nvSpPr>
        <p:spPr/>
        <p:txBody>
          <a:bodyPr/>
          <a:lstStyle/>
          <a:p>
            <a:r>
              <a:rPr lang="en-GB" dirty="0"/>
              <a:t>Grainger Plc  |  www.graingerplc.co.uk  |  Investor Day  |  September 2017</a:t>
            </a:r>
          </a:p>
        </p:txBody>
      </p:sp>
      <p:sp>
        <p:nvSpPr>
          <p:cNvPr id="5" name="Slide Number Placeholder 4">
            <a:extLst>
              <a:ext uri="{FF2B5EF4-FFF2-40B4-BE49-F238E27FC236}">
                <a16:creationId xmlns:a16="http://schemas.microsoft.com/office/drawing/2014/main" id="{CBE5F0A1-A476-462E-BABE-86C8F9839EA9}"/>
              </a:ext>
            </a:extLst>
          </p:cNvPr>
          <p:cNvSpPr>
            <a:spLocks noGrp="1"/>
          </p:cNvSpPr>
          <p:nvPr>
            <p:ph type="sldNum" sz="quarter" idx="12"/>
          </p:nvPr>
        </p:nvSpPr>
        <p:spPr/>
        <p:txBody>
          <a:bodyPr/>
          <a:lstStyle/>
          <a:p>
            <a:fld id="{0D32313A-DEBC-4CA4-B008-A02D4ABE2C72}" type="slidenum">
              <a:rPr lang="en-GB" smtClean="0"/>
              <a:t>‹#›</a:t>
            </a:fld>
            <a:endParaRPr lang="en-GB" dirty="0"/>
          </a:p>
        </p:txBody>
      </p:sp>
      <p:sp>
        <p:nvSpPr>
          <p:cNvPr id="6" name="Text Placeholder 5">
            <a:extLst>
              <a:ext uri="{FF2B5EF4-FFF2-40B4-BE49-F238E27FC236}">
                <a16:creationId xmlns:a16="http://schemas.microsoft.com/office/drawing/2014/main" id="{AF8CED2B-0A07-49C4-A4A6-1189DE8609E9}"/>
              </a:ext>
            </a:extLst>
          </p:cNvPr>
          <p:cNvSpPr>
            <a:spLocks noGrp="1"/>
          </p:cNvSpPr>
          <p:nvPr>
            <p:ph type="body" sz="quarter" idx="13"/>
          </p:nvPr>
        </p:nvSpPr>
        <p:spPr>
          <a:xfrm>
            <a:off x="370039" y="1278021"/>
            <a:ext cx="8415186" cy="287883"/>
          </a:xfrm>
        </p:spPr>
        <p:txBody>
          <a:bodyPr anchor="b" anchorCtr="0">
            <a:noAutofit/>
          </a:bodyPr>
          <a:lstStyle>
            <a:lvl1pPr>
              <a:lnSpc>
                <a:spcPct val="100000"/>
              </a:lnSpc>
              <a:spcBef>
                <a:spcPts val="0"/>
              </a:spcBef>
              <a:defRPr sz="1600">
                <a:latin typeface="+mn-lt"/>
              </a:defRPr>
            </a:lvl1pPr>
          </a:lstStyle>
          <a:p>
            <a:pPr lvl="0"/>
            <a:r>
              <a:rPr lang="en-US"/>
              <a:t>Edit Master text styles</a:t>
            </a:r>
            <a:endParaRPr lang="en-GB"/>
          </a:p>
        </p:txBody>
      </p:sp>
      <p:sp>
        <p:nvSpPr>
          <p:cNvPr id="8" name="Chart Placeholder 7">
            <a:extLst>
              <a:ext uri="{FF2B5EF4-FFF2-40B4-BE49-F238E27FC236}">
                <a16:creationId xmlns:a16="http://schemas.microsoft.com/office/drawing/2014/main" id="{BAE8006F-A5D5-47C0-870C-58D1A48F8FAF}"/>
              </a:ext>
            </a:extLst>
          </p:cNvPr>
          <p:cNvSpPr>
            <a:spLocks noGrp="1"/>
          </p:cNvSpPr>
          <p:nvPr>
            <p:ph type="chart" sz="quarter" idx="14"/>
          </p:nvPr>
        </p:nvSpPr>
        <p:spPr>
          <a:xfrm>
            <a:off x="370039" y="1565904"/>
            <a:ext cx="8415185" cy="4436690"/>
          </a:xfrm>
        </p:spPr>
        <p:txBody>
          <a:bodyPr>
            <a:normAutofit/>
          </a:bodyPr>
          <a:lstStyle>
            <a:lvl1pPr>
              <a:defRPr sz="1200"/>
            </a:lvl1pPr>
          </a:lstStyle>
          <a:p>
            <a:endParaRPr lang="en-GB" dirty="0"/>
          </a:p>
        </p:txBody>
      </p:sp>
      <p:cxnSp>
        <p:nvCxnSpPr>
          <p:cNvPr id="10" name="Straight Connector 9">
            <a:extLst>
              <a:ext uri="{FF2B5EF4-FFF2-40B4-BE49-F238E27FC236}">
                <a16:creationId xmlns:a16="http://schemas.microsoft.com/office/drawing/2014/main" id="{34D4EBD7-B80F-4D02-8127-3C84C5F7C937}"/>
              </a:ext>
            </a:extLst>
          </p:cNvPr>
          <p:cNvCxnSpPr/>
          <p:nvPr userDrawn="1"/>
        </p:nvCxnSpPr>
        <p:spPr>
          <a:xfrm>
            <a:off x="370040" y="1565904"/>
            <a:ext cx="8426451"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 Placeholder 5">
            <a:extLst>
              <a:ext uri="{FF2B5EF4-FFF2-40B4-BE49-F238E27FC236}">
                <a16:creationId xmlns:a16="http://schemas.microsoft.com/office/drawing/2014/main" id="{D47BE437-CAC2-4668-96D2-668E678F6724}"/>
              </a:ext>
            </a:extLst>
          </p:cNvPr>
          <p:cNvSpPr>
            <a:spLocks noGrp="1"/>
          </p:cNvSpPr>
          <p:nvPr>
            <p:ph type="body" sz="quarter" idx="15"/>
          </p:nvPr>
        </p:nvSpPr>
        <p:spPr>
          <a:xfrm>
            <a:off x="358773" y="6165304"/>
            <a:ext cx="8403917" cy="215875"/>
          </a:xfrm>
        </p:spPr>
        <p:txBody>
          <a:bodyPr anchor="b" anchorCtr="0">
            <a:noAutofit/>
          </a:bodyPr>
          <a:lstStyle>
            <a:lvl1pPr>
              <a:lnSpc>
                <a:spcPct val="100000"/>
              </a:lnSpc>
              <a:spcBef>
                <a:spcPts val="0"/>
              </a:spcBef>
              <a:defRPr sz="800" spc="0">
                <a:solidFill>
                  <a:schemeClr val="tx1"/>
                </a:solidFill>
                <a:latin typeface="+mn-lt"/>
              </a:defRPr>
            </a:lvl1pPr>
          </a:lstStyle>
          <a:p>
            <a:pPr lvl="0"/>
            <a:r>
              <a:rPr lang="en-US"/>
              <a:t>Edit Master text styles</a:t>
            </a:r>
            <a:endParaRPr lang="en-GB"/>
          </a:p>
        </p:txBody>
      </p:sp>
    </p:spTree>
    <p:extLst>
      <p:ext uri="{BB962C8B-B14F-4D97-AF65-F5344CB8AC3E}">
        <p14:creationId xmlns:p14="http://schemas.microsoft.com/office/powerpoint/2010/main" val="2088287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4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EB89-8FCF-4598-B706-910D281EEB37}"/>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1ECBF60F-F9D5-45E5-B986-89DB0E35D6B5}"/>
              </a:ext>
            </a:extLst>
          </p:cNvPr>
          <p:cNvSpPr>
            <a:spLocks noGrp="1"/>
          </p:cNvSpPr>
          <p:nvPr>
            <p:ph type="ftr" sz="quarter" idx="11"/>
          </p:nvPr>
        </p:nvSpPr>
        <p:spPr/>
        <p:txBody>
          <a:bodyPr/>
          <a:lstStyle/>
          <a:p>
            <a:r>
              <a:rPr lang="en-GB" dirty="0"/>
              <a:t>Grainger Plc  |  www.graingerplc.co.uk    |  Investor Day  |  September 2017</a:t>
            </a:r>
          </a:p>
        </p:txBody>
      </p:sp>
      <p:sp>
        <p:nvSpPr>
          <p:cNvPr id="5" name="Slide Number Placeholder 4">
            <a:extLst>
              <a:ext uri="{FF2B5EF4-FFF2-40B4-BE49-F238E27FC236}">
                <a16:creationId xmlns:a16="http://schemas.microsoft.com/office/drawing/2014/main" id="{CBE5F0A1-A476-462E-BABE-86C8F9839EA9}"/>
              </a:ext>
            </a:extLst>
          </p:cNvPr>
          <p:cNvSpPr>
            <a:spLocks noGrp="1"/>
          </p:cNvSpPr>
          <p:nvPr>
            <p:ph type="sldNum" sz="quarter" idx="12"/>
          </p:nvPr>
        </p:nvSpPr>
        <p:spPr/>
        <p:txBody>
          <a:bodyPr/>
          <a:lstStyle/>
          <a:p>
            <a:fld id="{0D32313A-DEBC-4CA4-B008-A02D4ABE2C72}" type="slidenum">
              <a:rPr lang="en-GB" smtClean="0"/>
              <a:t>‹#›</a:t>
            </a:fld>
            <a:endParaRPr lang="en-GB" dirty="0"/>
          </a:p>
        </p:txBody>
      </p:sp>
      <p:sp>
        <p:nvSpPr>
          <p:cNvPr id="6" name="Text Placeholder 5">
            <a:extLst>
              <a:ext uri="{FF2B5EF4-FFF2-40B4-BE49-F238E27FC236}">
                <a16:creationId xmlns:a16="http://schemas.microsoft.com/office/drawing/2014/main" id="{BA44BAD3-8EBE-4BC8-95B6-5BFD20F465B0}"/>
              </a:ext>
            </a:extLst>
          </p:cNvPr>
          <p:cNvSpPr>
            <a:spLocks noGrp="1"/>
          </p:cNvSpPr>
          <p:nvPr>
            <p:ph type="body" sz="quarter" idx="15"/>
          </p:nvPr>
        </p:nvSpPr>
        <p:spPr>
          <a:xfrm>
            <a:off x="358773" y="6165304"/>
            <a:ext cx="8403917" cy="215875"/>
          </a:xfrm>
        </p:spPr>
        <p:txBody>
          <a:bodyPr anchor="b" anchorCtr="0">
            <a:noAutofit/>
          </a:bodyPr>
          <a:lstStyle>
            <a:lvl1pPr>
              <a:lnSpc>
                <a:spcPct val="100000"/>
              </a:lnSpc>
              <a:spcBef>
                <a:spcPts val="0"/>
              </a:spcBef>
              <a:defRPr sz="800" spc="0">
                <a:solidFill>
                  <a:schemeClr val="tx1"/>
                </a:solidFill>
                <a:latin typeface="+mn-lt"/>
              </a:defRPr>
            </a:lvl1pPr>
          </a:lstStyle>
          <a:p>
            <a:pPr lvl="0"/>
            <a:r>
              <a:rPr lang="en-US"/>
              <a:t>Edit Master text styles</a:t>
            </a:r>
          </a:p>
        </p:txBody>
      </p:sp>
    </p:spTree>
    <p:extLst>
      <p:ext uri="{BB962C8B-B14F-4D97-AF65-F5344CB8AC3E}">
        <p14:creationId xmlns:p14="http://schemas.microsoft.com/office/powerpoint/2010/main" val="3915193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8139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FB6B97-B99F-450B-B176-AFD96DBC90FA}"/>
              </a:ext>
            </a:extLst>
          </p:cNvPr>
          <p:cNvSpPr>
            <a:spLocks noGrp="1"/>
          </p:cNvSpPr>
          <p:nvPr>
            <p:ph type="title"/>
          </p:nvPr>
        </p:nvSpPr>
        <p:spPr>
          <a:xfrm>
            <a:off x="358775" y="270088"/>
            <a:ext cx="8426450" cy="581897"/>
          </a:xfrm>
          <a:prstGeom prst="rect">
            <a:avLst/>
          </a:prstGeom>
        </p:spPr>
        <p:txBody>
          <a:bodyPr vert="horz" lIns="0" tIns="45720" rIns="0" bIns="4572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8B3D66A-3D9C-44FC-93E3-53098880F8C6}"/>
              </a:ext>
            </a:extLst>
          </p:cNvPr>
          <p:cNvSpPr>
            <a:spLocks noGrp="1"/>
          </p:cNvSpPr>
          <p:nvPr>
            <p:ph type="body" idx="1"/>
          </p:nvPr>
        </p:nvSpPr>
        <p:spPr>
          <a:xfrm>
            <a:off x="358775" y="1263932"/>
            <a:ext cx="8426450" cy="4913031"/>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6D8206CA-1D0D-4188-AA1D-95E84B37993C}"/>
              </a:ext>
            </a:extLst>
          </p:cNvPr>
          <p:cNvSpPr>
            <a:spLocks noGrp="1"/>
          </p:cNvSpPr>
          <p:nvPr>
            <p:ph type="ftr" sz="quarter" idx="3"/>
          </p:nvPr>
        </p:nvSpPr>
        <p:spPr>
          <a:xfrm>
            <a:off x="1392774" y="6480640"/>
            <a:ext cx="4788177" cy="227300"/>
          </a:xfrm>
          <a:prstGeom prst="rect">
            <a:avLst/>
          </a:prstGeom>
        </p:spPr>
        <p:txBody>
          <a:bodyPr vert="horz" lIns="91440" tIns="45720" rIns="91440" bIns="45720" rtlCol="0" anchor="ctr"/>
          <a:lstStyle>
            <a:lvl1pPr algn="l">
              <a:defRPr sz="600" b="0" spc="-20" baseline="0">
                <a:solidFill>
                  <a:schemeClr val="accent2"/>
                </a:solidFill>
                <a:latin typeface="Montserrat" panose="02000505000000020004" pitchFamily="2" charset="0"/>
              </a:defRPr>
            </a:lvl1pPr>
          </a:lstStyle>
          <a:p>
            <a:r>
              <a:rPr lang="en-GB" dirty="0"/>
              <a:t>Grainger Plc  |  www.graingerplc.co.uk    |  Investor Day  |  September 2017</a:t>
            </a:r>
          </a:p>
        </p:txBody>
      </p:sp>
      <p:sp>
        <p:nvSpPr>
          <p:cNvPr id="6" name="Slide Number Placeholder 5">
            <a:extLst>
              <a:ext uri="{FF2B5EF4-FFF2-40B4-BE49-F238E27FC236}">
                <a16:creationId xmlns:a16="http://schemas.microsoft.com/office/drawing/2014/main" id="{D696DDF2-5191-4301-B8FD-DF1ED40F63CA}"/>
              </a:ext>
            </a:extLst>
          </p:cNvPr>
          <p:cNvSpPr>
            <a:spLocks noGrp="1"/>
          </p:cNvSpPr>
          <p:nvPr>
            <p:ph type="sldNum" sz="quarter" idx="4"/>
          </p:nvPr>
        </p:nvSpPr>
        <p:spPr>
          <a:xfrm>
            <a:off x="8357153" y="6480640"/>
            <a:ext cx="428072" cy="228601"/>
          </a:xfrm>
          <a:prstGeom prst="rect">
            <a:avLst/>
          </a:prstGeom>
        </p:spPr>
        <p:txBody>
          <a:bodyPr vert="horz" lIns="91440" tIns="45720" rIns="91440" bIns="45720" rtlCol="0" anchor="ctr"/>
          <a:lstStyle>
            <a:lvl1pPr algn="ctr">
              <a:defRPr sz="900" b="0">
                <a:solidFill>
                  <a:schemeClr val="accent2">
                    <a:lumMod val="75000"/>
                  </a:schemeClr>
                </a:solidFill>
                <a:latin typeface="Montserrat" panose="02000505000000020004" pitchFamily="2" charset="0"/>
              </a:defRPr>
            </a:lvl1pPr>
          </a:lstStyle>
          <a:p>
            <a:fld id="{0D32313A-DEBC-4CA4-B008-A02D4ABE2C72}" type="slidenum">
              <a:rPr lang="en-GB" smtClean="0"/>
              <a:pPr/>
              <a:t>‹#›</a:t>
            </a:fld>
            <a:endParaRPr lang="en-GB" dirty="0"/>
          </a:p>
        </p:txBody>
      </p:sp>
      <p:cxnSp>
        <p:nvCxnSpPr>
          <p:cNvPr id="39" name="Straight Connector 38">
            <a:extLst>
              <a:ext uri="{FF2B5EF4-FFF2-40B4-BE49-F238E27FC236}">
                <a16:creationId xmlns:a16="http://schemas.microsoft.com/office/drawing/2014/main" id="{1EDBF80C-67C4-4965-BEEB-A9132094185D}"/>
              </a:ext>
            </a:extLst>
          </p:cNvPr>
          <p:cNvCxnSpPr>
            <a:cxnSpLocks/>
          </p:cNvCxnSpPr>
          <p:nvPr userDrawn="1"/>
        </p:nvCxnSpPr>
        <p:spPr>
          <a:xfrm>
            <a:off x="358775" y="6416404"/>
            <a:ext cx="842645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D1E8B2E-7FE5-4D92-A210-410B50ED358E}"/>
              </a:ext>
            </a:extLst>
          </p:cNvPr>
          <p:cNvCxnSpPr/>
          <p:nvPr userDrawn="1"/>
        </p:nvCxnSpPr>
        <p:spPr>
          <a:xfrm>
            <a:off x="1386007" y="6416404"/>
            <a:ext cx="0" cy="355773"/>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E5182084-27BD-4D81-9D95-A3317D7E7619}"/>
              </a:ext>
            </a:extLst>
          </p:cNvPr>
          <p:cNvCxnSpPr>
            <a:cxnSpLocks/>
          </p:cNvCxnSpPr>
          <p:nvPr userDrawn="1"/>
        </p:nvCxnSpPr>
        <p:spPr>
          <a:xfrm>
            <a:off x="8357153" y="6417054"/>
            <a:ext cx="0" cy="355773"/>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73" name="Group 4">
            <a:extLst>
              <a:ext uri="{FF2B5EF4-FFF2-40B4-BE49-F238E27FC236}">
                <a16:creationId xmlns:a16="http://schemas.microsoft.com/office/drawing/2014/main" id="{A2100EA8-F5C5-40FA-BD68-3078CA2E0EB5}"/>
              </a:ext>
            </a:extLst>
          </p:cNvPr>
          <p:cNvGrpSpPr>
            <a:grpSpLocks noChangeAspect="1"/>
          </p:cNvGrpSpPr>
          <p:nvPr userDrawn="1"/>
        </p:nvGrpSpPr>
        <p:grpSpPr bwMode="auto">
          <a:xfrm>
            <a:off x="358775" y="6498127"/>
            <a:ext cx="955828" cy="192327"/>
            <a:chOff x="-3357" y="-1385"/>
            <a:chExt cx="5760" cy="1159"/>
          </a:xfrm>
        </p:grpSpPr>
        <p:sp>
          <p:nvSpPr>
            <p:cNvPr id="74" name="Freeform 5">
              <a:extLst>
                <a:ext uri="{FF2B5EF4-FFF2-40B4-BE49-F238E27FC236}">
                  <a16:creationId xmlns:a16="http://schemas.microsoft.com/office/drawing/2014/main" id="{17FFF818-4814-4B08-95C1-948F6BB90C68}"/>
                </a:ext>
              </a:extLst>
            </p:cNvPr>
            <p:cNvSpPr>
              <a:spLocks noEditPoints="1"/>
            </p:cNvSpPr>
            <p:nvPr userDrawn="1"/>
          </p:nvSpPr>
          <p:spPr bwMode="auto">
            <a:xfrm>
              <a:off x="-3357" y="-1378"/>
              <a:ext cx="5760" cy="1152"/>
            </a:xfrm>
            <a:custGeom>
              <a:avLst/>
              <a:gdLst>
                <a:gd name="T0" fmla="*/ 158 w 2386"/>
                <a:gd name="T1" fmla="*/ 360 h 479"/>
                <a:gd name="T2" fmla="*/ 103 w 2386"/>
                <a:gd name="T3" fmla="*/ 116 h 479"/>
                <a:gd name="T4" fmla="*/ 106 w 2386"/>
                <a:gd name="T5" fmla="*/ 479 h 479"/>
                <a:gd name="T6" fmla="*/ 101 w 2386"/>
                <a:gd name="T7" fmla="*/ 435 h 479"/>
                <a:gd name="T8" fmla="*/ 108 w 2386"/>
                <a:gd name="T9" fmla="*/ 157 h 479"/>
                <a:gd name="T10" fmla="*/ 158 w 2386"/>
                <a:gd name="T11" fmla="*/ 324 h 479"/>
                <a:gd name="T12" fmla="*/ 311 w 2386"/>
                <a:gd name="T13" fmla="*/ 152 h 479"/>
                <a:gd name="T14" fmla="*/ 410 w 2386"/>
                <a:gd name="T15" fmla="*/ 117 h 479"/>
                <a:gd name="T16" fmla="*/ 317 w 2386"/>
                <a:gd name="T17" fmla="*/ 180 h 479"/>
                <a:gd name="T18" fmla="*/ 267 w 2386"/>
                <a:gd name="T19" fmla="*/ 121 h 479"/>
                <a:gd name="T20" fmla="*/ 574 w 2386"/>
                <a:gd name="T21" fmla="*/ 202 h 479"/>
                <a:gd name="T22" fmla="*/ 440 w 2386"/>
                <a:gd name="T23" fmla="*/ 127 h 479"/>
                <a:gd name="T24" fmla="*/ 624 w 2386"/>
                <a:gd name="T25" fmla="*/ 374 h 479"/>
                <a:gd name="T26" fmla="*/ 505 w 2386"/>
                <a:gd name="T27" fmla="*/ 379 h 479"/>
                <a:gd name="T28" fmla="*/ 517 w 2386"/>
                <a:gd name="T29" fmla="*/ 339 h 479"/>
                <a:gd name="T30" fmla="*/ 527 w 2386"/>
                <a:gd name="T31" fmla="*/ 259 h 479"/>
                <a:gd name="T32" fmla="*/ 683 w 2386"/>
                <a:gd name="T33" fmla="*/ 374 h 479"/>
                <a:gd name="T34" fmla="*/ 683 w 2386"/>
                <a:gd name="T35" fmla="*/ 121 h 479"/>
                <a:gd name="T36" fmla="*/ 832 w 2386"/>
                <a:gd name="T37" fmla="*/ 121 h 479"/>
                <a:gd name="T38" fmla="*/ 1000 w 2386"/>
                <a:gd name="T39" fmla="*/ 199 h 479"/>
                <a:gd name="T40" fmla="*/ 950 w 2386"/>
                <a:gd name="T41" fmla="*/ 207 h 479"/>
                <a:gd name="T42" fmla="*/ 845 w 2386"/>
                <a:gd name="T43" fmla="*/ 374 h 479"/>
                <a:gd name="T44" fmla="*/ 1149 w 2386"/>
                <a:gd name="T45" fmla="*/ 435 h 479"/>
                <a:gd name="T46" fmla="*/ 1142 w 2386"/>
                <a:gd name="T47" fmla="*/ 379 h 479"/>
                <a:gd name="T48" fmla="*/ 1255 w 2386"/>
                <a:gd name="T49" fmla="*/ 133 h 479"/>
                <a:gd name="T50" fmla="*/ 1073 w 2386"/>
                <a:gd name="T51" fmla="*/ 470 h 479"/>
                <a:gd name="T52" fmla="*/ 1205 w 2386"/>
                <a:gd name="T53" fmla="*/ 324 h 479"/>
                <a:gd name="T54" fmla="*/ 1098 w 2386"/>
                <a:gd name="T55" fmla="*/ 249 h 479"/>
                <a:gd name="T56" fmla="*/ 1403 w 2386"/>
                <a:gd name="T57" fmla="*/ 116 h 479"/>
                <a:gd name="T58" fmla="*/ 1349 w 2386"/>
                <a:gd name="T59" fmla="*/ 266 h 479"/>
                <a:gd name="T60" fmla="*/ 1502 w 2386"/>
                <a:gd name="T61" fmla="*/ 356 h 479"/>
                <a:gd name="T62" fmla="*/ 1403 w 2386"/>
                <a:gd name="T63" fmla="*/ 116 h 479"/>
                <a:gd name="T64" fmla="*/ 1349 w 2386"/>
                <a:gd name="T65" fmla="*/ 226 h 479"/>
                <a:gd name="T66" fmla="*/ 1584 w 2386"/>
                <a:gd name="T67" fmla="*/ 121 h 479"/>
                <a:gd name="T68" fmla="*/ 1663 w 2386"/>
                <a:gd name="T69" fmla="*/ 116 h 479"/>
                <a:gd name="T70" fmla="*/ 1653 w 2386"/>
                <a:gd name="T71" fmla="*/ 161 h 479"/>
                <a:gd name="T72" fmla="*/ 1547 w 2386"/>
                <a:gd name="T73" fmla="*/ 374 h 479"/>
                <a:gd name="T74" fmla="*/ 1835 w 2386"/>
                <a:gd name="T75" fmla="*/ 473 h 479"/>
                <a:gd name="T76" fmla="*/ 1877 w 2386"/>
                <a:gd name="T77" fmla="*/ 142 h 479"/>
                <a:gd name="T78" fmla="*/ 1944 w 2386"/>
                <a:gd name="T79" fmla="*/ 379 h 479"/>
                <a:gd name="T80" fmla="*/ 1934 w 2386"/>
                <a:gd name="T81" fmla="*/ 338 h 479"/>
                <a:gd name="T82" fmla="*/ 1885 w 2386"/>
                <a:gd name="T83" fmla="*/ 173 h 479"/>
                <a:gd name="T84" fmla="*/ 2093 w 2386"/>
                <a:gd name="T85" fmla="*/ 0 h 479"/>
                <a:gd name="T86" fmla="*/ 2093 w 2386"/>
                <a:gd name="T87" fmla="*/ 374 h 479"/>
                <a:gd name="T88" fmla="*/ 2374 w 2386"/>
                <a:gd name="T89" fmla="*/ 123 h 479"/>
                <a:gd name="T90" fmla="*/ 2239 w 2386"/>
                <a:gd name="T91" fmla="*/ 248 h 479"/>
                <a:gd name="T92" fmla="*/ 2386 w 2386"/>
                <a:gd name="T93" fmla="*/ 360 h 479"/>
                <a:gd name="T94" fmla="*/ 2306 w 2386"/>
                <a:gd name="T95" fmla="*/ 116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6" h="479">
                  <a:moveTo>
                    <a:pt x="101" y="435"/>
                  </a:moveTo>
                  <a:cubicBezTo>
                    <a:pt x="132" y="435"/>
                    <a:pt x="158" y="429"/>
                    <a:pt x="158" y="391"/>
                  </a:cubicBezTo>
                  <a:cubicBezTo>
                    <a:pt x="158" y="360"/>
                    <a:pt x="158" y="360"/>
                    <a:pt x="158" y="360"/>
                  </a:cubicBezTo>
                  <a:cubicBezTo>
                    <a:pt x="138" y="373"/>
                    <a:pt x="118" y="379"/>
                    <a:pt x="95" y="379"/>
                  </a:cubicBezTo>
                  <a:cubicBezTo>
                    <a:pt x="26" y="379"/>
                    <a:pt x="0" y="333"/>
                    <a:pt x="0" y="247"/>
                  </a:cubicBezTo>
                  <a:cubicBezTo>
                    <a:pt x="0" y="155"/>
                    <a:pt x="31" y="116"/>
                    <a:pt x="103" y="116"/>
                  </a:cubicBezTo>
                  <a:cubicBezTo>
                    <a:pt x="136" y="116"/>
                    <a:pt x="180" y="124"/>
                    <a:pt x="207" y="133"/>
                  </a:cubicBezTo>
                  <a:cubicBezTo>
                    <a:pt x="207" y="397"/>
                    <a:pt x="207" y="397"/>
                    <a:pt x="207" y="397"/>
                  </a:cubicBezTo>
                  <a:cubicBezTo>
                    <a:pt x="207" y="458"/>
                    <a:pt x="166" y="479"/>
                    <a:pt x="106" y="479"/>
                  </a:cubicBezTo>
                  <a:cubicBezTo>
                    <a:pt x="79" y="479"/>
                    <a:pt x="49" y="475"/>
                    <a:pt x="25" y="470"/>
                  </a:cubicBezTo>
                  <a:cubicBezTo>
                    <a:pt x="32" y="428"/>
                    <a:pt x="32" y="428"/>
                    <a:pt x="32" y="428"/>
                  </a:cubicBezTo>
                  <a:cubicBezTo>
                    <a:pt x="52" y="431"/>
                    <a:pt x="77" y="435"/>
                    <a:pt x="101" y="435"/>
                  </a:cubicBezTo>
                  <a:moveTo>
                    <a:pt x="158" y="324"/>
                  </a:moveTo>
                  <a:cubicBezTo>
                    <a:pt x="158" y="162"/>
                    <a:pt x="158" y="162"/>
                    <a:pt x="158" y="162"/>
                  </a:cubicBezTo>
                  <a:cubicBezTo>
                    <a:pt x="143" y="160"/>
                    <a:pt x="122" y="157"/>
                    <a:pt x="108" y="157"/>
                  </a:cubicBezTo>
                  <a:cubicBezTo>
                    <a:pt x="62" y="157"/>
                    <a:pt x="50" y="184"/>
                    <a:pt x="50" y="249"/>
                  </a:cubicBezTo>
                  <a:cubicBezTo>
                    <a:pt x="50" y="306"/>
                    <a:pt x="61" y="336"/>
                    <a:pt x="106" y="336"/>
                  </a:cubicBezTo>
                  <a:cubicBezTo>
                    <a:pt x="121" y="336"/>
                    <a:pt x="141" y="332"/>
                    <a:pt x="158" y="324"/>
                  </a:cubicBezTo>
                  <a:moveTo>
                    <a:pt x="267" y="121"/>
                  </a:moveTo>
                  <a:cubicBezTo>
                    <a:pt x="304" y="121"/>
                    <a:pt x="304" y="121"/>
                    <a:pt x="304" y="121"/>
                  </a:cubicBezTo>
                  <a:cubicBezTo>
                    <a:pt x="311" y="152"/>
                    <a:pt x="311" y="152"/>
                    <a:pt x="311" y="152"/>
                  </a:cubicBezTo>
                  <a:cubicBezTo>
                    <a:pt x="313" y="152"/>
                    <a:pt x="313" y="152"/>
                    <a:pt x="313" y="152"/>
                  </a:cubicBezTo>
                  <a:cubicBezTo>
                    <a:pt x="330" y="126"/>
                    <a:pt x="353" y="116"/>
                    <a:pt x="384" y="116"/>
                  </a:cubicBezTo>
                  <a:cubicBezTo>
                    <a:pt x="391" y="116"/>
                    <a:pt x="400" y="116"/>
                    <a:pt x="410" y="117"/>
                  </a:cubicBezTo>
                  <a:cubicBezTo>
                    <a:pt x="407" y="164"/>
                    <a:pt x="407" y="164"/>
                    <a:pt x="407" y="164"/>
                  </a:cubicBezTo>
                  <a:cubicBezTo>
                    <a:pt x="395" y="162"/>
                    <a:pt x="383" y="161"/>
                    <a:pt x="374" y="161"/>
                  </a:cubicBezTo>
                  <a:cubicBezTo>
                    <a:pt x="351" y="161"/>
                    <a:pt x="332" y="167"/>
                    <a:pt x="317" y="180"/>
                  </a:cubicBezTo>
                  <a:cubicBezTo>
                    <a:pt x="317" y="374"/>
                    <a:pt x="317" y="374"/>
                    <a:pt x="317" y="374"/>
                  </a:cubicBezTo>
                  <a:cubicBezTo>
                    <a:pt x="267" y="374"/>
                    <a:pt x="267" y="374"/>
                    <a:pt x="267" y="374"/>
                  </a:cubicBezTo>
                  <a:lnTo>
                    <a:pt x="267" y="121"/>
                  </a:lnTo>
                  <a:close/>
                  <a:moveTo>
                    <a:pt x="519" y="222"/>
                  </a:moveTo>
                  <a:cubicBezTo>
                    <a:pt x="531" y="222"/>
                    <a:pt x="556" y="223"/>
                    <a:pt x="574" y="224"/>
                  </a:cubicBezTo>
                  <a:cubicBezTo>
                    <a:pt x="574" y="202"/>
                    <a:pt x="574" y="202"/>
                    <a:pt x="574" y="202"/>
                  </a:cubicBezTo>
                  <a:cubicBezTo>
                    <a:pt x="574" y="168"/>
                    <a:pt x="556" y="160"/>
                    <a:pt x="521" y="160"/>
                  </a:cubicBezTo>
                  <a:cubicBezTo>
                    <a:pt x="492" y="160"/>
                    <a:pt x="463" y="166"/>
                    <a:pt x="447" y="169"/>
                  </a:cubicBezTo>
                  <a:cubicBezTo>
                    <a:pt x="440" y="127"/>
                    <a:pt x="440" y="127"/>
                    <a:pt x="440" y="127"/>
                  </a:cubicBezTo>
                  <a:cubicBezTo>
                    <a:pt x="462" y="121"/>
                    <a:pt x="495" y="116"/>
                    <a:pt x="525" y="116"/>
                  </a:cubicBezTo>
                  <a:cubicBezTo>
                    <a:pt x="580" y="116"/>
                    <a:pt x="624" y="134"/>
                    <a:pt x="624" y="196"/>
                  </a:cubicBezTo>
                  <a:cubicBezTo>
                    <a:pt x="624" y="374"/>
                    <a:pt x="624" y="374"/>
                    <a:pt x="624" y="374"/>
                  </a:cubicBezTo>
                  <a:cubicBezTo>
                    <a:pt x="587" y="374"/>
                    <a:pt x="587" y="374"/>
                    <a:pt x="587" y="374"/>
                  </a:cubicBezTo>
                  <a:cubicBezTo>
                    <a:pt x="582" y="353"/>
                    <a:pt x="582" y="353"/>
                    <a:pt x="582" y="353"/>
                  </a:cubicBezTo>
                  <a:cubicBezTo>
                    <a:pt x="562" y="369"/>
                    <a:pt x="534" y="379"/>
                    <a:pt x="505" y="379"/>
                  </a:cubicBezTo>
                  <a:cubicBezTo>
                    <a:pt x="457" y="379"/>
                    <a:pt x="422" y="350"/>
                    <a:pt x="422" y="300"/>
                  </a:cubicBezTo>
                  <a:cubicBezTo>
                    <a:pt x="422" y="248"/>
                    <a:pt x="461" y="222"/>
                    <a:pt x="519" y="222"/>
                  </a:cubicBezTo>
                  <a:moveTo>
                    <a:pt x="517" y="339"/>
                  </a:moveTo>
                  <a:cubicBezTo>
                    <a:pt x="537" y="339"/>
                    <a:pt x="559" y="332"/>
                    <a:pt x="574" y="321"/>
                  </a:cubicBezTo>
                  <a:cubicBezTo>
                    <a:pt x="574" y="260"/>
                    <a:pt x="574" y="260"/>
                    <a:pt x="574" y="260"/>
                  </a:cubicBezTo>
                  <a:cubicBezTo>
                    <a:pt x="566" y="259"/>
                    <a:pt x="535" y="259"/>
                    <a:pt x="527" y="259"/>
                  </a:cubicBezTo>
                  <a:cubicBezTo>
                    <a:pt x="497" y="259"/>
                    <a:pt x="473" y="267"/>
                    <a:pt x="473" y="298"/>
                  </a:cubicBezTo>
                  <a:cubicBezTo>
                    <a:pt x="473" y="324"/>
                    <a:pt x="489" y="339"/>
                    <a:pt x="517" y="339"/>
                  </a:cubicBezTo>
                  <a:moveTo>
                    <a:pt x="683" y="374"/>
                  </a:moveTo>
                  <a:cubicBezTo>
                    <a:pt x="733" y="374"/>
                    <a:pt x="733" y="374"/>
                    <a:pt x="733" y="374"/>
                  </a:cubicBezTo>
                  <a:cubicBezTo>
                    <a:pt x="733" y="121"/>
                    <a:pt x="733" y="121"/>
                    <a:pt x="733" y="121"/>
                  </a:cubicBezTo>
                  <a:cubicBezTo>
                    <a:pt x="683" y="121"/>
                    <a:pt x="683" y="121"/>
                    <a:pt x="683" y="121"/>
                  </a:cubicBezTo>
                  <a:lnTo>
                    <a:pt x="683" y="374"/>
                  </a:lnTo>
                  <a:close/>
                  <a:moveTo>
                    <a:pt x="795" y="121"/>
                  </a:moveTo>
                  <a:cubicBezTo>
                    <a:pt x="832" y="121"/>
                    <a:pt x="832" y="121"/>
                    <a:pt x="832" y="121"/>
                  </a:cubicBezTo>
                  <a:cubicBezTo>
                    <a:pt x="836" y="144"/>
                    <a:pt x="836" y="144"/>
                    <a:pt x="836" y="144"/>
                  </a:cubicBezTo>
                  <a:cubicBezTo>
                    <a:pt x="858" y="128"/>
                    <a:pt x="886" y="116"/>
                    <a:pt x="919" y="116"/>
                  </a:cubicBezTo>
                  <a:cubicBezTo>
                    <a:pt x="971" y="116"/>
                    <a:pt x="1000" y="146"/>
                    <a:pt x="1000" y="199"/>
                  </a:cubicBezTo>
                  <a:cubicBezTo>
                    <a:pt x="1000" y="374"/>
                    <a:pt x="1000" y="374"/>
                    <a:pt x="1000" y="374"/>
                  </a:cubicBezTo>
                  <a:cubicBezTo>
                    <a:pt x="950" y="374"/>
                    <a:pt x="950" y="374"/>
                    <a:pt x="950" y="374"/>
                  </a:cubicBezTo>
                  <a:cubicBezTo>
                    <a:pt x="950" y="207"/>
                    <a:pt x="950" y="207"/>
                    <a:pt x="950" y="207"/>
                  </a:cubicBezTo>
                  <a:cubicBezTo>
                    <a:pt x="950" y="174"/>
                    <a:pt x="936" y="160"/>
                    <a:pt x="906" y="160"/>
                  </a:cubicBezTo>
                  <a:cubicBezTo>
                    <a:pt x="884" y="160"/>
                    <a:pt x="862" y="168"/>
                    <a:pt x="845" y="177"/>
                  </a:cubicBezTo>
                  <a:cubicBezTo>
                    <a:pt x="845" y="374"/>
                    <a:pt x="845" y="374"/>
                    <a:pt x="845" y="374"/>
                  </a:cubicBezTo>
                  <a:cubicBezTo>
                    <a:pt x="795" y="374"/>
                    <a:pt x="795" y="374"/>
                    <a:pt x="795" y="374"/>
                  </a:cubicBezTo>
                  <a:lnTo>
                    <a:pt x="795" y="121"/>
                  </a:lnTo>
                  <a:close/>
                  <a:moveTo>
                    <a:pt x="1149" y="435"/>
                  </a:moveTo>
                  <a:cubicBezTo>
                    <a:pt x="1180" y="435"/>
                    <a:pt x="1205" y="429"/>
                    <a:pt x="1205" y="391"/>
                  </a:cubicBezTo>
                  <a:cubicBezTo>
                    <a:pt x="1205" y="360"/>
                    <a:pt x="1205" y="360"/>
                    <a:pt x="1205" y="360"/>
                  </a:cubicBezTo>
                  <a:cubicBezTo>
                    <a:pt x="1186" y="373"/>
                    <a:pt x="1166" y="379"/>
                    <a:pt x="1142" y="379"/>
                  </a:cubicBezTo>
                  <a:cubicBezTo>
                    <a:pt x="1074" y="379"/>
                    <a:pt x="1047" y="333"/>
                    <a:pt x="1047" y="247"/>
                  </a:cubicBezTo>
                  <a:cubicBezTo>
                    <a:pt x="1047" y="155"/>
                    <a:pt x="1078" y="116"/>
                    <a:pt x="1151" y="116"/>
                  </a:cubicBezTo>
                  <a:cubicBezTo>
                    <a:pt x="1184" y="116"/>
                    <a:pt x="1228" y="124"/>
                    <a:pt x="1255" y="133"/>
                  </a:cubicBezTo>
                  <a:cubicBezTo>
                    <a:pt x="1255" y="397"/>
                    <a:pt x="1255" y="397"/>
                    <a:pt x="1255" y="397"/>
                  </a:cubicBezTo>
                  <a:cubicBezTo>
                    <a:pt x="1255" y="458"/>
                    <a:pt x="1213" y="479"/>
                    <a:pt x="1153" y="479"/>
                  </a:cubicBezTo>
                  <a:cubicBezTo>
                    <a:pt x="1127" y="479"/>
                    <a:pt x="1096" y="475"/>
                    <a:pt x="1073" y="470"/>
                  </a:cubicBezTo>
                  <a:cubicBezTo>
                    <a:pt x="1080" y="428"/>
                    <a:pt x="1080" y="428"/>
                    <a:pt x="1080" y="428"/>
                  </a:cubicBezTo>
                  <a:cubicBezTo>
                    <a:pt x="1100" y="431"/>
                    <a:pt x="1124" y="435"/>
                    <a:pt x="1149" y="435"/>
                  </a:cubicBezTo>
                  <a:moveTo>
                    <a:pt x="1205" y="324"/>
                  </a:moveTo>
                  <a:cubicBezTo>
                    <a:pt x="1205" y="162"/>
                    <a:pt x="1205" y="162"/>
                    <a:pt x="1205" y="162"/>
                  </a:cubicBezTo>
                  <a:cubicBezTo>
                    <a:pt x="1191" y="160"/>
                    <a:pt x="1170" y="157"/>
                    <a:pt x="1156" y="157"/>
                  </a:cubicBezTo>
                  <a:cubicBezTo>
                    <a:pt x="1110" y="157"/>
                    <a:pt x="1098" y="184"/>
                    <a:pt x="1098" y="249"/>
                  </a:cubicBezTo>
                  <a:cubicBezTo>
                    <a:pt x="1098" y="306"/>
                    <a:pt x="1109" y="336"/>
                    <a:pt x="1153" y="336"/>
                  </a:cubicBezTo>
                  <a:cubicBezTo>
                    <a:pt x="1169" y="336"/>
                    <a:pt x="1189" y="332"/>
                    <a:pt x="1205" y="324"/>
                  </a:cubicBezTo>
                  <a:moveTo>
                    <a:pt x="1403" y="116"/>
                  </a:moveTo>
                  <a:cubicBezTo>
                    <a:pt x="1469" y="116"/>
                    <a:pt x="1502" y="162"/>
                    <a:pt x="1502" y="232"/>
                  </a:cubicBezTo>
                  <a:cubicBezTo>
                    <a:pt x="1502" y="241"/>
                    <a:pt x="1502" y="255"/>
                    <a:pt x="1499" y="266"/>
                  </a:cubicBezTo>
                  <a:cubicBezTo>
                    <a:pt x="1349" y="266"/>
                    <a:pt x="1349" y="266"/>
                    <a:pt x="1349" y="266"/>
                  </a:cubicBezTo>
                  <a:cubicBezTo>
                    <a:pt x="1353" y="310"/>
                    <a:pt x="1373" y="336"/>
                    <a:pt x="1417" y="336"/>
                  </a:cubicBezTo>
                  <a:cubicBezTo>
                    <a:pt x="1443" y="336"/>
                    <a:pt x="1467" y="326"/>
                    <a:pt x="1487" y="318"/>
                  </a:cubicBezTo>
                  <a:cubicBezTo>
                    <a:pt x="1502" y="356"/>
                    <a:pt x="1502" y="356"/>
                    <a:pt x="1502" y="356"/>
                  </a:cubicBezTo>
                  <a:cubicBezTo>
                    <a:pt x="1480" y="368"/>
                    <a:pt x="1447" y="379"/>
                    <a:pt x="1411" y="379"/>
                  </a:cubicBezTo>
                  <a:cubicBezTo>
                    <a:pt x="1342" y="379"/>
                    <a:pt x="1298" y="337"/>
                    <a:pt x="1298" y="248"/>
                  </a:cubicBezTo>
                  <a:cubicBezTo>
                    <a:pt x="1298" y="171"/>
                    <a:pt x="1331" y="116"/>
                    <a:pt x="1403" y="116"/>
                  </a:cubicBezTo>
                  <a:moveTo>
                    <a:pt x="1453" y="226"/>
                  </a:moveTo>
                  <a:cubicBezTo>
                    <a:pt x="1453" y="191"/>
                    <a:pt x="1441" y="160"/>
                    <a:pt x="1403" y="160"/>
                  </a:cubicBezTo>
                  <a:cubicBezTo>
                    <a:pt x="1367" y="160"/>
                    <a:pt x="1351" y="187"/>
                    <a:pt x="1349" y="226"/>
                  </a:cubicBezTo>
                  <a:lnTo>
                    <a:pt x="1453" y="226"/>
                  </a:lnTo>
                  <a:close/>
                  <a:moveTo>
                    <a:pt x="1547" y="121"/>
                  </a:moveTo>
                  <a:cubicBezTo>
                    <a:pt x="1584" y="121"/>
                    <a:pt x="1584" y="121"/>
                    <a:pt x="1584" y="121"/>
                  </a:cubicBezTo>
                  <a:cubicBezTo>
                    <a:pt x="1591" y="152"/>
                    <a:pt x="1591" y="152"/>
                    <a:pt x="1591" y="152"/>
                  </a:cubicBezTo>
                  <a:cubicBezTo>
                    <a:pt x="1592" y="152"/>
                    <a:pt x="1592" y="152"/>
                    <a:pt x="1592" y="152"/>
                  </a:cubicBezTo>
                  <a:cubicBezTo>
                    <a:pt x="1610" y="126"/>
                    <a:pt x="1633" y="116"/>
                    <a:pt x="1663" y="116"/>
                  </a:cubicBezTo>
                  <a:cubicBezTo>
                    <a:pt x="1671" y="116"/>
                    <a:pt x="1680" y="116"/>
                    <a:pt x="1689" y="117"/>
                  </a:cubicBezTo>
                  <a:cubicBezTo>
                    <a:pt x="1686" y="164"/>
                    <a:pt x="1686" y="164"/>
                    <a:pt x="1686" y="164"/>
                  </a:cubicBezTo>
                  <a:cubicBezTo>
                    <a:pt x="1674" y="162"/>
                    <a:pt x="1663" y="161"/>
                    <a:pt x="1653" y="161"/>
                  </a:cubicBezTo>
                  <a:cubicBezTo>
                    <a:pt x="1630" y="161"/>
                    <a:pt x="1612" y="167"/>
                    <a:pt x="1597" y="180"/>
                  </a:cubicBezTo>
                  <a:cubicBezTo>
                    <a:pt x="1597" y="374"/>
                    <a:pt x="1597" y="374"/>
                    <a:pt x="1597" y="374"/>
                  </a:cubicBezTo>
                  <a:cubicBezTo>
                    <a:pt x="1547" y="374"/>
                    <a:pt x="1547" y="374"/>
                    <a:pt x="1547" y="374"/>
                  </a:cubicBezTo>
                  <a:lnTo>
                    <a:pt x="1547" y="121"/>
                  </a:lnTo>
                  <a:close/>
                  <a:moveTo>
                    <a:pt x="1885" y="473"/>
                  </a:moveTo>
                  <a:cubicBezTo>
                    <a:pt x="1835" y="473"/>
                    <a:pt x="1835" y="473"/>
                    <a:pt x="1835" y="473"/>
                  </a:cubicBezTo>
                  <a:cubicBezTo>
                    <a:pt x="1835" y="121"/>
                    <a:pt x="1835" y="121"/>
                    <a:pt x="1835" y="121"/>
                  </a:cubicBezTo>
                  <a:cubicBezTo>
                    <a:pt x="1872" y="121"/>
                    <a:pt x="1872" y="121"/>
                    <a:pt x="1872" y="121"/>
                  </a:cubicBezTo>
                  <a:cubicBezTo>
                    <a:pt x="1877" y="142"/>
                    <a:pt x="1877" y="142"/>
                    <a:pt x="1877" y="142"/>
                  </a:cubicBezTo>
                  <a:cubicBezTo>
                    <a:pt x="1895" y="127"/>
                    <a:pt x="1918" y="116"/>
                    <a:pt x="1950" y="116"/>
                  </a:cubicBezTo>
                  <a:cubicBezTo>
                    <a:pt x="2016" y="116"/>
                    <a:pt x="2043" y="164"/>
                    <a:pt x="2043" y="249"/>
                  </a:cubicBezTo>
                  <a:cubicBezTo>
                    <a:pt x="2043" y="340"/>
                    <a:pt x="2012" y="379"/>
                    <a:pt x="1944" y="379"/>
                  </a:cubicBezTo>
                  <a:cubicBezTo>
                    <a:pt x="1926" y="379"/>
                    <a:pt x="1905" y="377"/>
                    <a:pt x="1885" y="372"/>
                  </a:cubicBezTo>
                  <a:lnTo>
                    <a:pt x="1885" y="473"/>
                  </a:lnTo>
                  <a:close/>
                  <a:moveTo>
                    <a:pt x="1934" y="338"/>
                  </a:moveTo>
                  <a:cubicBezTo>
                    <a:pt x="1982" y="338"/>
                    <a:pt x="1993" y="311"/>
                    <a:pt x="1993" y="248"/>
                  </a:cubicBezTo>
                  <a:cubicBezTo>
                    <a:pt x="1993" y="190"/>
                    <a:pt x="1982" y="160"/>
                    <a:pt x="1938" y="160"/>
                  </a:cubicBezTo>
                  <a:cubicBezTo>
                    <a:pt x="1920" y="160"/>
                    <a:pt x="1901" y="165"/>
                    <a:pt x="1885" y="173"/>
                  </a:cubicBezTo>
                  <a:cubicBezTo>
                    <a:pt x="1885" y="333"/>
                    <a:pt x="1885" y="333"/>
                    <a:pt x="1885" y="333"/>
                  </a:cubicBezTo>
                  <a:cubicBezTo>
                    <a:pt x="1901" y="337"/>
                    <a:pt x="1923" y="338"/>
                    <a:pt x="1934" y="338"/>
                  </a:cubicBezTo>
                  <a:moveTo>
                    <a:pt x="2093" y="0"/>
                  </a:moveTo>
                  <a:cubicBezTo>
                    <a:pt x="2142" y="28"/>
                    <a:pt x="2142" y="28"/>
                    <a:pt x="2142" y="28"/>
                  </a:cubicBezTo>
                  <a:cubicBezTo>
                    <a:pt x="2142" y="374"/>
                    <a:pt x="2142" y="374"/>
                    <a:pt x="2142" y="374"/>
                  </a:cubicBezTo>
                  <a:cubicBezTo>
                    <a:pt x="2093" y="374"/>
                    <a:pt x="2093" y="374"/>
                    <a:pt x="2093" y="374"/>
                  </a:cubicBezTo>
                  <a:lnTo>
                    <a:pt x="2093" y="0"/>
                  </a:lnTo>
                  <a:close/>
                  <a:moveTo>
                    <a:pt x="2306" y="116"/>
                  </a:moveTo>
                  <a:cubicBezTo>
                    <a:pt x="2326" y="116"/>
                    <a:pt x="2354" y="119"/>
                    <a:pt x="2374" y="123"/>
                  </a:cubicBezTo>
                  <a:cubicBezTo>
                    <a:pt x="2369" y="165"/>
                    <a:pt x="2369" y="165"/>
                    <a:pt x="2369" y="165"/>
                  </a:cubicBezTo>
                  <a:cubicBezTo>
                    <a:pt x="2352" y="162"/>
                    <a:pt x="2328" y="159"/>
                    <a:pt x="2310" y="159"/>
                  </a:cubicBezTo>
                  <a:cubicBezTo>
                    <a:pt x="2257" y="159"/>
                    <a:pt x="2239" y="185"/>
                    <a:pt x="2239" y="248"/>
                  </a:cubicBezTo>
                  <a:cubicBezTo>
                    <a:pt x="2239" y="295"/>
                    <a:pt x="2250" y="335"/>
                    <a:pt x="2304" y="335"/>
                  </a:cubicBezTo>
                  <a:cubicBezTo>
                    <a:pt x="2326" y="335"/>
                    <a:pt x="2351" y="329"/>
                    <a:pt x="2372" y="320"/>
                  </a:cubicBezTo>
                  <a:cubicBezTo>
                    <a:pt x="2386" y="360"/>
                    <a:pt x="2386" y="360"/>
                    <a:pt x="2386" y="360"/>
                  </a:cubicBezTo>
                  <a:cubicBezTo>
                    <a:pt x="2362" y="371"/>
                    <a:pt x="2328" y="379"/>
                    <a:pt x="2296" y="379"/>
                  </a:cubicBezTo>
                  <a:cubicBezTo>
                    <a:pt x="2222" y="379"/>
                    <a:pt x="2189" y="332"/>
                    <a:pt x="2189" y="249"/>
                  </a:cubicBezTo>
                  <a:cubicBezTo>
                    <a:pt x="2189" y="167"/>
                    <a:pt x="2219" y="116"/>
                    <a:pt x="2306" y="116"/>
                  </a:cubicBezTo>
                </a:path>
              </a:pathLst>
            </a:custGeom>
            <a:solidFill>
              <a:srgbClr val="2735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5" name="Rectangle 6">
              <a:extLst>
                <a:ext uri="{FF2B5EF4-FFF2-40B4-BE49-F238E27FC236}">
                  <a16:creationId xmlns:a16="http://schemas.microsoft.com/office/drawing/2014/main" id="{94960442-76DC-4461-8C9D-884AACCE43C6}"/>
                </a:ext>
              </a:extLst>
            </p:cNvPr>
            <p:cNvSpPr>
              <a:spLocks noChangeArrowheads="1"/>
            </p:cNvSpPr>
            <p:nvPr userDrawn="1"/>
          </p:nvSpPr>
          <p:spPr bwMode="auto">
            <a:xfrm>
              <a:off x="-1433" y="-1383"/>
              <a:ext cx="24" cy="164"/>
            </a:xfrm>
            <a:prstGeom prst="rect">
              <a:avLst/>
            </a:prstGeom>
            <a:solidFill>
              <a:srgbClr val="0292A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6" name="Freeform 7">
              <a:extLst>
                <a:ext uri="{FF2B5EF4-FFF2-40B4-BE49-F238E27FC236}">
                  <a16:creationId xmlns:a16="http://schemas.microsoft.com/office/drawing/2014/main" id="{D422FA81-3C2D-4395-8541-97449A2B5820}"/>
                </a:ext>
              </a:extLst>
            </p:cNvPr>
            <p:cNvSpPr>
              <a:spLocks/>
            </p:cNvSpPr>
            <p:nvPr userDrawn="1"/>
          </p:nvSpPr>
          <p:spPr bwMode="auto">
            <a:xfrm>
              <a:off x="-1370" y="-1337"/>
              <a:ext cx="94" cy="118"/>
            </a:xfrm>
            <a:custGeom>
              <a:avLst/>
              <a:gdLst>
                <a:gd name="T0" fmla="*/ 0 w 39"/>
                <a:gd name="T1" fmla="*/ 1 h 49"/>
                <a:gd name="T2" fmla="*/ 7 w 39"/>
                <a:gd name="T3" fmla="*/ 1 h 49"/>
                <a:gd name="T4" fmla="*/ 8 w 39"/>
                <a:gd name="T5" fmla="*/ 5 h 49"/>
                <a:gd name="T6" fmla="*/ 24 w 39"/>
                <a:gd name="T7" fmla="*/ 0 h 49"/>
                <a:gd name="T8" fmla="*/ 39 w 39"/>
                <a:gd name="T9" fmla="*/ 16 h 49"/>
                <a:gd name="T10" fmla="*/ 39 w 39"/>
                <a:gd name="T11" fmla="*/ 49 h 49"/>
                <a:gd name="T12" fmla="*/ 30 w 39"/>
                <a:gd name="T13" fmla="*/ 49 h 49"/>
                <a:gd name="T14" fmla="*/ 30 w 39"/>
                <a:gd name="T15" fmla="*/ 17 h 49"/>
                <a:gd name="T16" fmla="*/ 21 w 39"/>
                <a:gd name="T17" fmla="*/ 8 h 49"/>
                <a:gd name="T18" fmla="*/ 9 w 39"/>
                <a:gd name="T19" fmla="*/ 11 h 49"/>
                <a:gd name="T20" fmla="*/ 9 w 39"/>
                <a:gd name="T21" fmla="*/ 49 h 49"/>
                <a:gd name="T22" fmla="*/ 0 w 39"/>
                <a:gd name="T23" fmla="*/ 49 h 49"/>
                <a:gd name="T24" fmla="*/ 0 w 39"/>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49">
                  <a:moveTo>
                    <a:pt x="0" y="1"/>
                  </a:moveTo>
                  <a:cubicBezTo>
                    <a:pt x="7" y="1"/>
                    <a:pt x="7" y="1"/>
                    <a:pt x="7" y="1"/>
                  </a:cubicBezTo>
                  <a:cubicBezTo>
                    <a:pt x="8" y="5"/>
                    <a:pt x="8" y="5"/>
                    <a:pt x="8" y="5"/>
                  </a:cubicBezTo>
                  <a:cubicBezTo>
                    <a:pt x="12" y="2"/>
                    <a:pt x="17" y="0"/>
                    <a:pt x="24" y="0"/>
                  </a:cubicBezTo>
                  <a:cubicBezTo>
                    <a:pt x="34" y="0"/>
                    <a:pt x="39" y="5"/>
                    <a:pt x="39" y="16"/>
                  </a:cubicBezTo>
                  <a:cubicBezTo>
                    <a:pt x="39" y="49"/>
                    <a:pt x="39" y="49"/>
                    <a:pt x="39" y="49"/>
                  </a:cubicBezTo>
                  <a:cubicBezTo>
                    <a:pt x="30" y="49"/>
                    <a:pt x="30" y="49"/>
                    <a:pt x="30" y="49"/>
                  </a:cubicBezTo>
                  <a:cubicBezTo>
                    <a:pt x="30" y="17"/>
                    <a:pt x="30" y="17"/>
                    <a:pt x="30" y="17"/>
                  </a:cubicBezTo>
                  <a:cubicBezTo>
                    <a:pt x="30" y="11"/>
                    <a:pt x="27" y="8"/>
                    <a:pt x="21" y="8"/>
                  </a:cubicBezTo>
                  <a:cubicBezTo>
                    <a:pt x="17" y="8"/>
                    <a:pt x="13" y="10"/>
                    <a:pt x="9" y="11"/>
                  </a:cubicBezTo>
                  <a:cubicBezTo>
                    <a:pt x="9" y="49"/>
                    <a:pt x="9" y="49"/>
                    <a:pt x="9"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7" name="Freeform 8">
              <a:extLst>
                <a:ext uri="{FF2B5EF4-FFF2-40B4-BE49-F238E27FC236}">
                  <a16:creationId xmlns:a16="http://schemas.microsoft.com/office/drawing/2014/main" id="{0CDA9582-690E-4332-9505-5BC9A7AC1793}"/>
                </a:ext>
              </a:extLst>
            </p:cNvPr>
            <p:cNvSpPr>
              <a:spLocks/>
            </p:cNvSpPr>
            <p:nvPr userDrawn="1"/>
          </p:nvSpPr>
          <p:spPr bwMode="auto">
            <a:xfrm>
              <a:off x="-1254" y="-1335"/>
              <a:ext cx="106" cy="116"/>
            </a:xfrm>
            <a:custGeom>
              <a:avLst/>
              <a:gdLst>
                <a:gd name="T0" fmla="*/ 0 w 44"/>
                <a:gd name="T1" fmla="*/ 0 h 48"/>
                <a:gd name="T2" fmla="*/ 10 w 44"/>
                <a:gd name="T3" fmla="*/ 0 h 48"/>
                <a:gd name="T4" fmla="*/ 22 w 44"/>
                <a:gd name="T5" fmla="*/ 41 h 48"/>
                <a:gd name="T6" fmla="*/ 23 w 44"/>
                <a:gd name="T7" fmla="*/ 41 h 48"/>
                <a:gd name="T8" fmla="*/ 34 w 44"/>
                <a:gd name="T9" fmla="*/ 0 h 48"/>
                <a:gd name="T10" fmla="*/ 44 w 44"/>
                <a:gd name="T11" fmla="*/ 0 h 48"/>
                <a:gd name="T12" fmla="*/ 29 w 44"/>
                <a:gd name="T13" fmla="*/ 48 h 48"/>
                <a:gd name="T14" fmla="*/ 15 w 44"/>
                <a:gd name="T15" fmla="*/ 48 h 48"/>
                <a:gd name="T16" fmla="*/ 0 w 44"/>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48">
                  <a:moveTo>
                    <a:pt x="0" y="0"/>
                  </a:moveTo>
                  <a:cubicBezTo>
                    <a:pt x="10" y="0"/>
                    <a:pt x="10" y="0"/>
                    <a:pt x="10" y="0"/>
                  </a:cubicBezTo>
                  <a:cubicBezTo>
                    <a:pt x="13" y="14"/>
                    <a:pt x="17" y="29"/>
                    <a:pt x="22" y="41"/>
                  </a:cubicBezTo>
                  <a:cubicBezTo>
                    <a:pt x="23" y="41"/>
                    <a:pt x="23" y="41"/>
                    <a:pt x="23" y="41"/>
                  </a:cubicBezTo>
                  <a:cubicBezTo>
                    <a:pt x="27" y="29"/>
                    <a:pt x="31" y="14"/>
                    <a:pt x="34" y="0"/>
                  </a:cubicBezTo>
                  <a:cubicBezTo>
                    <a:pt x="44" y="0"/>
                    <a:pt x="44" y="0"/>
                    <a:pt x="44" y="0"/>
                  </a:cubicBezTo>
                  <a:cubicBezTo>
                    <a:pt x="40" y="16"/>
                    <a:pt x="35" y="33"/>
                    <a:pt x="29" y="48"/>
                  </a:cubicBezTo>
                  <a:cubicBezTo>
                    <a:pt x="15" y="48"/>
                    <a:pt x="15" y="48"/>
                    <a:pt x="15" y="48"/>
                  </a:cubicBezTo>
                  <a:cubicBezTo>
                    <a:pt x="9" y="33"/>
                    <a:pt x="4" y="16"/>
                    <a:pt x="0" y="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8" name="Freeform 9">
              <a:extLst>
                <a:ext uri="{FF2B5EF4-FFF2-40B4-BE49-F238E27FC236}">
                  <a16:creationId xmlns:a16="http://schemas.microsoft.com/office/drawing/2014/main" id="{6C703ED1-CDBF-4523-B85A-11AA61BA0073}"/>
                </a:ext>
              </a:extLst>
            </p:cNvPr>
            <p:cNvSpPr>
              <a:spLocks noEditPoints="1"/>
            </p:cNvSpPr>
            <p:nvPr userDrawn="1"/>
          </p:nvSpPr>
          <p:spPr bwMode="auto">
            <a:xfrm>
              <a:off x="-1136"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0 w 40"/>
                <a:gd name="T21" fmla="*/ 21 h 51"/>
                <a:gd name="T22" fmla="*/ 21 w 40"/>
                <a:gd name="T23" fmla="*/ 8 h 51"/>
                <a:gd name="T24" fmla="*/ 10 w 40"/>
                <a:gd name="T25" fmla="*/ 21 h 51"/>
                <a:gd name="T26" fmla="*/ 30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3" y="0"/>
                    <a:pt x="40" y="8"/>
                    <a:pt x="40" y="22"/>
                  </a:cubicBezTo>
                  <a:cubicBezTo>
                    <a:pt x="40" y="24"/>
                    <a:pt x="40" y="26"/>
                    <a:pt x="39" y="28"/>
                  </a:cubicBezTo>
                  <a:cubicBezTo>
                    <a:pt x="10" y="28"/>
                    <a:pt x="10" y="28"/>
                    <a:pt x="10" y="28"/>
                  </a:cubicBezTo>
                  <a:cubicBezTo>
                    <a:pt x="11" y="37"/>
                    <a:pt x="15" y="42"/>
                    <a:pt x="23" y="42"/>
                  </a:cubicBezTo>
                  <a:cubicBezTo>
                    <a:pt x="28" y="42"/>
                    <a:pt x="33" y="40"/>
                    <a:pt x="37" y="39"/>
                  </a:cubicBezTo>
                  <a:cubicBezTo>
                    <a:pt x="40" y="46"/>
                    <a:pt x="40" y="46"/>
                    <a:pt x="40" y="46"/>
                  </a:cubicBezTo>
                  <a:cubicBezTo>
                    <a:pt x="35" y="48"/>
                    <a:pt x="29" y="51"/>
                    <a:pt x="22" y="51"/>
                  </a:cubicBezTo>
                  <a:cubicBezTo>
                    <a:pt x="9" y="51"/>
                    <a:pt x="0" y="42"/>
                    <a:pt x="0" y="25"/>
                  </a:cubicBezTo>
                  <a:cubicBezTo>
                    <a:pt x="0" y="10"/>
                    <a:pt x="7" y="0"/>
                    <a:pt x="21" y="0"/>
                  </a:cubicBezTo>
                  <a:moveTo>
                    <a:pt x="30" y="21"/>
                  </a:moveTo>
                  <a:cubicBezTo>
                    <a:pt x="30" y="14"/>
                    <a:pt x="28" y="8"/>
                    <a:pt x="21" y="8"/>
                  </a:cubicBezTo>
                  <a:cubicBezTo>
                    <a:pt x="14" y="8"/>
                    <a:pt x="10" y="13"/>
                    <a:pt x="10" y="21"/>
                  </a:cubicBezTo>
                  <a:lnTo>
                    <a:pt x="30"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9" name="Freeform 10">
              <a:extLst>
                <a:ext uri="{FF2B5EF4-FFF2-40B4-BE49-F238E27FC236}">
                  <a16:creationId xmlns:a16="http://schemas.microsoft.com/office/drawing/2014/main" id="{734C17D1-406B-409D-8659-CAEE59EF5EA7}"/>
                </a:ext>
              </a:extLst>
            </p:cNvPr>
            <p:cNvSpPr>
              <a:spLocks/>
            </p:cNvSpPr>
            <p:nvPr userDrawn="1"/>
          </p:nvSpPr>
          <p:spPr bwMode="auto">
            <a:xfrm>
              <a:off x="-1023" y="-1337"/>
              <a:ext cx="90" cy="123"/>
            </a:xfrm>
            <a:custGeom>
              <a:avLst/>
              <a:gdLst>
                <a:gd name="T0" fmla="*/ 2 w 37"/>
                <a:gd name="T1" fmla="*/ 40 h 51"/>
                <a:gd name="T2" fmla="*/ 16 w 37"/>
                <a:gd name="T3" fmla="*/ 42 h 51"/>
                <a:gd name="T4" fmla="*/ 27 w 37"/>
                <a:gd name="T5" fmla="*/ 36 h 51"/>
                <a:gd name="T6" fmla="*/ 16 w 37"/>
                <a:gd name="T7" fmla="*/ 28 h 51"/>
                <a:gd name="T8" fmla="*/ 1 w 37"/>
                <a:gd name="T9" fmla="*/ 14 h 51"/>
                <a:gd name="T10" fmla="*/ 20 w 37"/>
                <a:gd name="T11" fmla="*/ 0 h 51"/>
                <a:gd name="T12" fmla="*/ 34 w 37"/>
                <a:gd name="T13" fmla="*/ 1 h 51"/>
                <a:gd name="T14" fmla="*/ 33 w 37"/>
                <a:gd name="T15" fmla="*/ 9 h 51"/>
                <a:gd name="T16" fmla="*/ 20 w 37"/>
                <a:gd name="T17" fmla="*/ 8 h 51"/>
                <a:gd name="T18" fmla="*/ 11 w 37"/>
                <a:gd name="T19" fmla="*/ 13 h 51"/>
                <a:gd name="T20" fmla="*/ 23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6" y="42"/>
                  </a:cubicBezTo>
                  <a:cubicBezTo>
                    <a:pt x="23" y="42"/>
                    <a:pt x="27" y="41"/>
                    <a:pt x="27" y="36"/>
                  </a:cubicBezTo>
                  <a:cubicBezTo>
                    <a:pt x="27" y="32"/>
                    <a:pt x="24" y="31"/>
                    <a:pt x="16" y="28"/>
                  </a:cubicBezTo>
                  <a:cubicBezTo>
                    <a:pt x="8" y="26"/>
                    <a:pt x="1" y="23"/>
                    <a:pt x="1" y="14"/>
                  </a:cubicBezTo>
                  <a:cubicBezTo>
                    <a:pt x="1" y="5"/>
                    <a:pt x="9" y="0"/>
                    <a:pt x="20" y="0"/>
                  </a:cubicBezTo>
                  <a:cubicBezTo>
                    <a:pt x="24" y="0"/>
                    <a:pt x="30" y="0"/>
                    <a:pt x="34" y="1"/>
                  </a:cubicBezTo>
                  <a:cubicBezTo>
                    <a:pt x="33" y="9"/>
                    <a:pt x="33" y="9"/>
                    <a:pt x="33" y="9"/>
                  </a:cubicBezTo>
                  <a:cubicBezTo>
                    <a:pt x="29" y="9"/>
                    <a:pt x="24" y="8"/>
                    <a:pt x="20" y="8"/>
                  </a:cubicBezTo>
                  <a:cubicBezTo>
                    <a:pt x="14" y="8"/>
                    <a:pt x="11" y="10"/>
                    <a:pt x="11" y="13"/>
                  </a:cubicBezTo>
                  <a:cubicBezTo>
                    <a:pt x="11" y="18"/>
                    <a:pt x="16" y="19"/>
                    <a:pt x="23"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0" name="Freeform 11">
              <a:extLst>
                <a:ext uri="{FF2B5EF4-FFF2-40B4-BE49-F238E27FC236}">
                  <a16:creationId xmlns:a16="http://schemas.microsoft.com/office/drawing/2014/main" id="{E41042FA-42F6-4AB9-B883-466255A89DB4}"/>
                </a:ext>
              </a:extLst>
            </p:cNvPr>
            <p:cNvSpPr>
              <a:spLocks/>
            </p:cNvSpPr>
            <p:nvPr userDrawn="1"/>
          </p:nvSpPr>
          <p:spPr bwMode="auto">
            <a:xfrm>
              <a:off x="-921" y="-1368"/>
              <a:ext cx="75" cy="151"/>
            </a:xfrm>
            <a:custGeom>
              <a:avLst/>
              <a:gdLst>
                <a:gd name="T0" fmla="*/ 7 w 31"/>
                <a:gd name="T1" fmla="*/ 22 h 63"/>
                <a:gd name="T2" fmla="*/ 0 w 31"/>
                <a:gd name="T3" fmla="*/ 22 h 63"/>
                <a:gd name="T4" fmla="*/ 0 w 31"/>
                <a:gd name="T5" fmla="*/ 14 h 63"/>
                <a:gd name="T6" fmla="*/ 8 w 31"/>
                <a:gd name="T7" fmla="*/ 14 h 63"/>
                <a:gd name="T8" fmla="*/ 8 w 31"/>
                <a:gd name="T9" fmla="*/ 0 h 63"/>
                <a:gd name="T10" fmla="*/ 17 w 31"/>
                <a:gd name="T11" fmla="*/ 0 h 63"/>
                <a:gd name="T12" fmla="*/ 17 w 31"/>
                <a:gd name="T13" fmla="*/ 14 h 63"/>
                <a:gd name="T14" fmla="*/ 30 w 31"/>
                <a:gd name="T15" fmla="*/ 14 h 63"/>
                <a:gd name="T16" fmla="*/ 30 w 31"/>
                <a:gd name="T17" fmla="*/ 22 h 63"/>
                <a:gd name="T18" fmla="*/ 17 w 31"/>
                <a:gd name="T19" fmla="*/ 22 h 63"/>
                <a:gd name="T20" fmla="*/ 17 w 31"/>
                <a:gd name="T21" fmla="*/ 50 h 63"/>
                <a:gd name="T22" fmla="*/ 22 w 31"/>
                <a:gd name="T23" fmla="*/ 55 h 63"/>
                <a:gd name="T24" fmla="*/ 28 w 31"/>
                <a:gd name="T25" fmla="*/ 53 h 63"/>
                <a:gd name="T26" fmla="*/ 31 w 31"/>
                <a:gd name="T27" fmla="*/ 60 h 63"/>
                <a:gd name="T28" fmla="*/ 19 w 31"/>
                <a:gd name="T29" fmla="*/ 63 h 63"/>
                <a:gd name="T30" fmla="*/ 7 w 31"/>
                <a:gd name="T31" fmla="*/ 51 h 63"/>
                <a:gd name="T32" fmla="*/ 7 w 31"/>
                <a:gd name="T33"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63">
                  <a:moveTo>
                    <a:pt x="7" y="22"/>
                  </a:moveTo>
                  <a:cubicBezTo>
                    <a:pt x="0" y="22"/>
                    <a:pt x="0" y="22"/>
                    <a:pt x="0" y="22"/>
                  </a:cubicBezTo>
                  <a:cubicBezTo>
                    <a:pt x="0" y="14"/>
                    <a:pt x="0" y="14"/>
                    <a:pt x="0" y="14"/>
                  </a:cubicBezTo>
                  <a:cubicBezTo>
                    <a:pt x="8" y="14"/>
                    <a:pt x="8" y="14"/>
                    <a:pt x="8" y="14"/>
                  </a:cubicBezTo>
                  <a:cubicBezTo>
                    <a:pt x="8" y="0"/>
                    <a:pt x="8" y="0"/>
                    <a:pt x="8" y="0"/>
                  </a:cubicBezTo>
                  <a:cubicBezTo>
                    <a:pt x="17" y="0"/>
                    <a:pt x="17" y="0"/>
                    <a:pt x="17" y="0"/>
                  </a:cubicBezTo>
                  <a:cubicBezTo>
                    <a:pt x="17" y="14"/>
                    <a:pt x="17" y="14"/>
                    <a:pt x="17" y="14"/>
                  </a:cubicBezTo>
                  <a:cubicBezTo>
                    <a:pt x="30" y="14"/>
                    <a:pt x="30" y="14"/>
                    <a:pt x="30" y="14"/>
                  </a:cubicBezTo>
                  <a:cubicBezTo>
                    <a:pt x="30" y="22"/>
                    <a:pt x="30" y="22"/>
                    <a:pt x="30" y="22"/>
                  </a:cubicBezTo>
                  <a:cubicBezTo>
                    <a:pt x="17" y="22"/>
                    <a:pt x="17" y="22"/>
                    <a:pt x="17" y="22"/>
                  </a:cubicBezTo>
                  <a:cubicBezTo>
                    <a:pt x="17" y="50"/>
                    <a:pt x="17" y="50"/>
                    <a:pt x="17" y="50"/>
                  </a:cubicBezTo>
                  <a:cubicBezTo>
                    <a:pt x="17" y="53"/>
                    <a:pt x="18" y="55"/>
                    <a:pt x="22" y="55"/>
                  </a:cubicBezTo>
                  <a:cubicBezTo>
                    <a:pt x="24" y="55"/>
                    <a:pt x="26" y="54"/>
                    <a:pt x="28" y="53"/>
                  </a:cubicBezTo>
                  <a:cubicBezTo>
                    <a:pt x="31" y="60"/>
                    <a:pt x="31" y="60"/>
                    <a:pt x="31" y="60"/>
                  </a:cubicBezTo>
                  <a:cubicBezTo>
                    <a:pt x="28" y="62"/>
                    <a:pt x="24" y="63"/>
                    <a:pt x="19" y="63"/>
                  </a:cubicBezTo>
                  <a:cubicBezTo>
                    <a:pt x="12" y="63"/>
                    <a:pt x="7" y="59"/>
                    <a:pt x="7" y="51"/>
                  </a:cubicBezTo>
                  <a:lnTo>
                    <a:pt x="7" y="22"/>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1" name="Freeform 12">
              <a:extLst>
                <a:ext uri="{FF2B5EF4-FFF2-40B4-BE49-F238E27FC236}">
                  <a16:creationId xmlns:a16="http://schemas.microsoft.com/office/drawing/2014/main" id="{4C3C6621-6FAE-4B47-9631-C76ADF24AF90}"/>
                </a:ext>
              </a:extLst>
            </p:cNvPr>
            <p:cNvSpPr>
              <a:spLocks noEditPoints="1"/>
            </p:cNvSpPr>
            <p:nvPr userDrawn="1"/>
          </p:nvSpPr>
          <p:spPr bwMode="auto">
            <a:xfrm>
              <a:off x="-822" y="-1383"/>
              <a:ext cx="22" cy="164"/>
            </a:xfrm>
            <a:custGeom>
              <a:avLst/>
              <a:gdLst>
                <a:gd name="T0" fmla="*/ 0 w 22"/>
                <a:gd name="T1" fmla="*/ 0 h 164"/>
                <a:gd name="T2" fmla="*/ 22 w 22"/>
                <a:gd name="T3" fmla="*/ 0 h 164"/>
                <a:gd name="T4" fmla="*/ 22 w 22"/>
                <a:gd name="T5" fmla="*/ 27 h 164"/>
                <a:gd name="T6" fmla="*/ 0 w 22"/>
                <a:gd name="T7" fmla="*/ 27 h 164"/>
                <a:gd name="T8" fmla="*/ 0 w 22"/>
                <a:gd name="T9" fmla="*/ 0 h 164"/>
                <a:gd name="T10" fmla="*/ 0 w 22"/>
                <a:gd name="T11" fmla="*/ 48 h 164"/>
                <a:gd name="T12" fmla="*/ 22 w 22"/>
                <a:gd name="T13" fmla="*/ 48 h 164"/>
                <a:gd name="T14" fmla="*/ 22 w 22"/>
                <a:gd name="T15" fmla="*/ 164 h 164"/>
                <a:gd name="T16" fmla="*/ 0 w 22"/>
                <a:gd name="T17" fmla="*/ 164 h 164"/>
                <a:gd name="T18" fmla="*/ 0 w 22"/>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64">
                  <a:moveTo>
                    <a:pt x="0" y="0"/>
                  </a:moveTo>
                  <a:lnTo>
                    <a:pt x="22" y="0"/>
                  </a:lnTo>
                  <a:lnTo>
                    <a:pt x="22" y="27"/>
                  </a:lnTo>
                  <a:lnTo>
                    <a:pt x="0" y="27"/>
                  </a:lnTo>
                  <a:lnTo>
                    <a:pt x="0" y="0"/>
                  </a:lnTo>
                  <a:close/>
                  <a:moveTo>
                    <a:pt x="0" y="48"/>
                  </a:moveTo>
                  <a:lnTo>
                    <a:pt x="22" y="48"/>
                  </a:lnTo>
                  <a:lnTo>
                    <a:pt x="22"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2" name="Freeform 13">
              <a:extLst>
                <a:ext uri="{FF2B5EF4-FFF2-40B4-BE49-F238E27FC236}">
                  <a16:creationId xmlns:a16="http://schemas.microsoft.com/office/drawing/2014/main" id="{A2D39429-0561-4657-94A2-D05AA3F95118}"/>
                </a:ext>
              </a:extLst>
            </p:cNvPr>
            <p:cNvSpPr>
              <a:spLocks/>
            </p:cNvSpPr>
            <p:nvPr userDrawn="1"/>
          </p:nvSpPr>
          <p:spPr bwMode="auto">
            <a:xfrm>
              <a:off x="-764" y="-1337"/>
              <a:ext cx="96"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8" y="8"/>
                    <a:pt x="22" y="8"/>
                  </a:cubicBezTo>
                  <a:cubicBezTo>
                    <a:pt x="18"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3" name="Freeform 14">
              <a:extLst>
                <a:ext uri="{FF2B5EF4-FFF2-40B4-BE49-F238E27FC236}">
                  <a16:creationId xmlns:a16="http://schemas.microsoft.com/office/drawing/2014/main" id="{1328E803-60FC-4104-9AD5-2625AD84DF02}"/>
                </a:ext>
              </a:extLst>
            </p:cNvPr>
            <p:cNvSpPr>
              <a:spLocks noEditPoints="1"/>
            </p:cNvSpPr>
            <p:nvPr userDrawn="1"/>
          </p:nvSpPr>
          <p:spPr bwMode="auto">
            <a:xfrm>
              <a:off x="-639" y="-1337"/>
              <a:ext cx="97" cy="168"/>
            </a:xfrm>
            <a:custGeom>
              <a:avLst/>
              <a:gdLst>
                <a:gd name="T0" fmla="*/ 20 w 40"/>
                <a:gd name="T1" fmla="*/ 61 h 70"/>
                <a:gd name="T2" fmla="*/ 31 w 40"/>
                <a:gd name="T3" fmla="*/ 53 h 70"/>
                <a:gd name="T4" fmla="*/ 31 w 40"/>
                <a:gd name="T5" fmla="*/ 47 h 70"/>
                <a:gd name="T6" fmla="*/ 18 w 40"/>
                <a:gd name="T7" fmla="*/ 51 h 70"/>
                <a:gd name="T8" fmla="*/ 0 w 40"/>
                <a:gd name="T9" fmla="*/ 25 h 70"/>
                <a:gd name="T10" fmla="*/ 20 w 40"/>
                <a:gd name="T11" fmla="*/ 0 h 70"/>
                <a:gd name="T12" fmla="*/ 40 w 40"/>
                <a:gd name="T13" fmla="*/ 3 h 70"/>
                <a:gd name="T14" fmla="*/ 40 w 40"/>
                <a:gd name="T15" fmla="*/ 54 h 70"/>
                <a:gd name="T16" fmla="*/ 20 w 40"/>
                <a:gd name="T17" fmla="*/ 70 h 70"/>
                <a:gd name="T18" fmla="*/ 5 w 40"/>
                <a:gd name="T19" fmla="*/ 68 h 70"/>
                <a:gd name="T20" fmla="*/ 6 w 40"/>
                <a:gd name="T21" fmla="*/ 60 h 70"/>
                <a:gd name="T22" fmla="*/ 20 w 40"/>
                <a:gd name="T23" fmla="*/ 61 h 70"/>
                <a:gd name="T24" fmla="*/ 31 w 40"/>
                <a:gd name="T25" fmla="*/ 40 h 70"/>
                <a:gd name="T26" fmla="*/ 31 w 40"/>
                <a:gd name="T27" fmla="*/ 9 h 70"/>
                <a:gd name="T28" fmla="*/ 21 w 40"/>
                <a:gd name="T29" fmla="*/ 7 h 70"/>
                <a:gd name="T30" fmla="*/ 10 w 40"/>
                <a:gd name="T31" fmla="*/ 25 h 70"/>
                <a:gd name="T32" fmla="*/ 20 w 40"/>
                <a:gd name="T33" fmla="*/ 42 h 70"/>
                <a:gd name="T34" fmla="*/ 31 w 40"/>
                <a:gd name="T35" fmla="*/ 4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 h="70">
                  <a:moveTo>
                    <a:pt x="20" y="61"/>
                  </a:moveTo>
                  <a:cubicBezTo>
                    <a:pt x="26" y="61"/>
                    <a:pt x="31" y="60"/>
                    <a:pt x="31" y="53"/>
                  </a:cubicBezTo>
                  <a:cubicBezTo>
                    <a:pt x="31" y="47"/>
                    <a:pt x="31" y="47"/>
                    <a:pt x="31" y="47"/>
                  </a:cubicBezTo>
                  <a:cubicBezTo>
                    <a:pt x="27" y="49"/>
                    <a:pt x="23" y="51"/>
                    <a:pt x="18" y="51"/>
                  </a:cubicBezTo>
                  <a:cubicBezTo>
                    <a:pt x="5" y="51"/>
                    <a:pt x="0" y="41"/>
                    <a:pt x="0" y="25"/>
                  </a:cubicBezTo>
                  <a:cubicBezTo>
                    <a:pt x="0" y="7"/>
                    <a:pt x="6" y="0"/>
                    <a:pt x="20" y="0"/>
                  </a:cubicBezTo>
                  <a:cubicBezTo>
                    <a:pt x="26" y="0"/>
                    <a:pt x="35" y="1"/>
                    <a:pt x="40" y="3"/>
                  </a:cubicBezTo>
                  <a:cubicBezTo>
                    <a:pt x="40" y="54"/>
                    <a:pt x="40" y="54"/>
                    <a:pt x="40" y="54"/>
                  </a:cubicBezTo>
                  <a:cubicBezTo>
                    <a:pt x="40" y="66"/>
                    <a:pt x="32" y="70"/>
                    <a:pt x="20" y="70"/>
                  </a:cubicBezTo>
                  <a:cubicBezTo>
                    <a:pt x="15" y="70"/>
                    <a:pt x="10" y="69"/>
                    <a:pt x="5" y="68"/>
                  </a:cubicBezTo>
                  <a:cubicBezTo>
                    <a:pt x="6" y="60"/>
                    <a:pt x="6" y="60"/>
                    <a:pt x="6" y="60"/>
                  </a:cubicBezTo>
                  <a:cubicBezTo>
                    <a:pt x="10" y="61"/>
                    <a:pt x="15" y="61"/>
                    <a:pt x="20" y="61"/>
                  </a:cubicBezTo>
                  <a:moveTo>
                    <a:pt x="31" y="40"/>
                  </a:moveTo>
                  <a:cubicBezTo>
                    <a:pt x="31" y="9"/>
                    <a:pt x="31" y="9"/>
                    <a:pt x="31" y="9"/>
                  </a:cubicBezTo>
                  <a:cubicBezTo>
                    <a:pt x="28" y="8"/>
                    <a:pt x="24" y="7"/>
                    <a:pt x="21" y="7"/>
                  </a:cubicBezTo>
                  <a:cubicBezTo>
                    <a:pt x="12" y="7"/>
                    <a:pt x="10" y="13"/>
                    <a:pt x="10" y="25"/>
                  </a:cubicBezTo>
                  <a:cubicBezTo>
                    <a:pt x="10" y="36"/>
                    <a:pt x="12" y="42"/>
                    <a:pt x="20" y="42"/>
                  </a:cubicBezTo>
                  <a:cubicBezTo>
                    <a:pt x="24" y="42"/>
                    <a:pt x="27" y="41"/>
                    <a:pt x="31" y="4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4" name="Freeform 15">
              <a:extLst>
                <a:ext uri="{FF2B5EF4-FFF2-40B4-BE49-F238E27FC236}">
                  <a16:creationId xmlns:a16="http://schemas.microsoft.com/office/drawing/2014/main" id="{707C5A2F-5760-4686-BB1D-9329D03468D2}"/>
                </a:ext>
              </a:extLst>
            </p:cNvPr>
            <p:cNvSpPr>
              <a:spLocks noEditPoints="1"/>
            </p:cNvSpPr>
            <p:nvPr userDrawn="1"/>
          </p:nvSpPr>
          <p:spPr bwMode="auto">
            <a:xfrm>
              <a:off x="-446" y="-1383"/>
              <a:ext cx="22" cy="164"/>
            </a:xfrm>
            <a:custGeom>
              <a:avLst/>
              <a:gdLst>
                <a:gd name="T0" fmla="*/ 0 w 22"/>
                <a:gd name="T1" fmla="*/ 0 h 164"/>
                <a:gd name="T2" fmla="*/ 22 w 22"/>
                <a:gd name="T3" fmla="*/ 0 h 164"/>
                <a:gd name="T4" fmla="*/ 22 w 22"/>
                <a:gd name="T5" fmla="*/ 27 h 164"/>
                <a:gd name="T6" fmla="*/ 0 w 22"/>
                <a:gd name="T7" fmla="*/ 27 h 164"/>
                <a:gd name="T8" fmla="*/ 0 w 22"/>
                <a:gd name="T9" fmla="*/ 0 h 164"/>
                <a:gd name="T10" fmla="*/ 0 w 22"/>
                <a:gd name="T11" fmla="*/ 48 h 164"/>
                <a:gd name="T12" fmla="*/ 22 w 22"/>
                <a:gd name="T13" fmla="*/ 48 h 164"/>
                <a:gd name="T14" fmla="*/ 22 w 22"/>
                <a:gd name="T15" fmla="*/ 164 h 164"/>
                <a:gd name="T16" fmla="*/ 0 w 22"/>
                <a:gd name="T17" fmla="*/ 164 h 164"/>
                <a:gd name="T18" fmla="*/ 0 w 22"/>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64">
                  <a:moveTo>
                    <a:pt x="0" y="0"/>
                  </a:moveTo>
                  <a:lnTo>
                    <a:pt x="22" y="0"/>
                  </a:lnTo>
                  <a:lnTo>
                    <a:pt x="22" y="27"/>
                  </a:lnTo>
                  <a:lnTo>
                    <a:pt x="0" y="27"/>
                  </a:lnTo>
                  <a:lnTo>
                    <a:pt x="0" y="0"/>
                  </a:lnTo>
                  <a:close/>
                  <a:moveTo>
                    <a:pt x="0" y="48"/>
                  </a:moveTo>
                  <a:lnTo>
                    <a:pt x="22" y="48"/>
                  </a:lnTo>
                  <a:lnTo>
                    <a:pt x="22"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5" name="Freeform 16">
              <a:extLst>
                <a:ext uri="{FF2B5EF4-FFF2-40B4-BE49-F238E27FC236}">
                  <a16:creationId xmlns:a16="http://schemas.microsoft.com/office/drawing/2014/main" id="{338B40E2-5FA2-4CFF-8221-0D62F32610FC}"/>
                </a:ext>
              </a:extLst>
            </p:cNvPr>
            <p:cNvSpPr>
              <a:spLocks/>
            </p:cNvSpPr>
            <p:nvPr userDrawn="1"/>
          </p:nvSpPr>
          <p:spPr bwMode="auto">
            <a:xfrm>
              <a:off x="-388" y="-1337"/>
              <a:ext cx="97"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7" y="8"/>
                    <a:pt x="22" y="8"/>
                  </a:cubicBezTo>
                  <a:cubicBezTo>
                    <a:pt x="18"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6" name="Freeform 17">
              <a:extLst>
                <a:ext uri="{FF2B5EF4-FFF2-40B4-BE49-F238E27FC236}">
                  <a16:creationId xmlns:a16="http://schemas.microsoft.com/office/drawing/2014/main" id="{1DC8EF80-1480-4E82-8F7D-0403B92EEACE}"/>
                </a:ext>
              </a:extLst>
            </p:cNvPr>
            <p:cNvSpPr>
              <a:spLocks/>
            </p:cNvSpPr>
            <p:nvPr userDrawn="1"/>
          </p:nvSpPr>
          <p:spPr bwMode="auto">
            <a:xfrm>
              <a:off x="-197" y="-1383"/>
              <a:ext cx="97" cy="164"/>
            </a:xfrm>
            <a:custGeom>
              <a:avLst/>
              <a:gdLst>
                <a:gd name="T0" fmla="*/ 0 w 40"/>
                <a:gd name="T1" fmla="*/ 0 h 68"/>
                <a:gd name="T2" fmla="*/ 10 w 40"/>
                <a:gd name="T3" fmla="*/ 0 h 68"/>
                <a:gd name="T4" fmla="*/ 10 w 40"/>
                <a:gd name="T5" fmla="*/ 23 h 68"/>
                <a:gd name="T6" fmla="*/ 24 w 40"/>
                <a:gd name="T7" fmla="*/ 19 h 68"/>
                <a:gd name="T8" fmla="*/ 40 w 40"/>
                <a:gd name="T9" fmla="*/ 35 h 68"/>
                <a:gd name="T10" fmla="*/ 40 w 40"/>
                <a:gd name="T11" fmla="*/ 68 h 68"/>
                <a:gd name="T12" fmla="*/ 30 w 40"/>
                <a:gd name="T13" fmla="*/ 68 h 68"/>
                <a:gd name="T14" fmla="*/ 30 w 40"/>
                <a:gd name="T15" fmla="*/ 36 h 68"/>
                <a:gd name="T16" fmla="*/ 22 w 40"/>
                <a:gd name="T17" fmla="*/ 27 h 68"/>
                <a:gd name="T18" fmla="*/ 10 w 40"/>
                <a:gd name="T19" fmla="*/ 30 h 68"/>
                <a:gd name="T20" fmla="*/ 10 w 40"/>
                <a:gd name="T21" fmla="*/ 68 h 68"/>
                <a:gd name="T22" fmla="*/ 0 w 40"/>
                <a:gd name="T23" fmla="*/ 68 h 68"/>
                <a:gd name="T24" fmla="*/ 0 w 40"/>
                <a:gd name="T25"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68">
                  <a:moveTo>
                    <a:pt x="0" y="0"/>
                  </a:moveTo>
                  <a:cubicBezTo>
                    <a:pt x="10" y="0"/>
                    <a:pt x="10" y="0"/>
                    <a:pt x="10" y="0"/>
                  </a:cubicBezTo>
                  <a:cubicBezTo>
                    <a:pt x="10" y="23"/>
                    <a:pt x="10" y="23"/>
                    <a:pt x="10" y="23"/>
                  </a:cubicBezTo>
                  <a:cubicBezTo>
                    <a:pt x="13" y="21"/>
                    <a:pt x="18" y="19"/>
                    <a:pt x="24" y="19"/>
                  </a:cubicBezTo>
                  <a:cubicBezTo>
                    <a:pt x="34" y="19"/>
                    <a:pt x="40" y="24"/>
                    <a:pt x="40" y="35"/>
                  </a:cubicBezTo>
                  <a:cubicBezTo>
                    <a:pt x="40" y="68"/>
                    <a:pt x="40" y="68"/>
                    <a:pt x="40" y="68"/>
                  </a:cubicBezTo>
                  <a:cubicBezTo>
                    <a:pt x="30" y="68"/>
                    <a:pt x="30" y="68"/>
                    <a:pt x="30" y="68"/>
                  </a:cubicBezTo>
                  <a:cubicBezTo>
                    <a:pt x="30" y="36"/>
                    <a:pt x="30" y="36"/>
                    <a:pt x="30" y="36"/>
                  </a:cubicBezTo>
                  <a:cubicBezTo>
                    <a:pt x="30" y="30"/>
                    <a:pt x="28" y="27"/>
                    <a:pt x="22" y="27"/>
                  </a:cubicBezTo>
                  <a:cubicBezTo>
                    <a:pt x="18" y="27"/>
                    <a:pt x="13" y="29"/>
                    <a:pt x="10" y="30"/>
                  </a:cubicBezTo>
                  <a:cubicBezTo>
                    <a:pt x="10" y="68"/>
                    <a:pt x="10" y="68"/>
                    <a:pt x="10" y="68"/>
                  </a:cubicBezTo>
                  <a:cubicBezTo>
                    <a:pt x="0" y="68"/>
                    <a:pt x="0" y="68"/>
                    <a:pt x="0" y="68"/>
                  </a:cubicBezTo>
                  <a:lnTo>
                    <a:pt x="0" y="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7" name="Freeform 18">
              <a:extLst>
                <a:ext uri="{FF2B5EF4-FFF2-40B4-BE49-F238E27FC236}">
                  <a16:creationId xmlns:a16="http://schemas.microsoft.com/office/drawing/2014/main" id="{AD3BD5C6-02DE-41BF-ACAC-0C73DE8EC636}"/>
                </a:ext>
              </a:extLst>
            </p:cNvPr>
            <p:cNvSpPr>
              <a:spLocks noEditPoints="1"/>
            </p:cNvSpPr>
            <p:nvPr userDrawn="1"/>
          </p:nvSpPr>
          <p:spPr bwMode="auto">
            <a:xfrm>
              <a:off x="-74" y="-1337"/>
              <a:ext cx="106" cy="123"/>
            </a:xfrm>
            <a:custGeom>
              <a:avLst/>
              <a:gdLst>
                <a:gd name="T0" fmla="*/ 22 w 44"/>
                <a:gd name="T1" fmla="*/ 0 h 51"/>
                <a:gd name="T2" fmla="*/ 44 w 44"/>
                <a:gd name="T3" fmla="*/ 25 h 51"/>
                <a:gd name="T4" fmla="*/ 22 w 44"/>
                <a:gd name="T5" fmla="*/ 51 h 51"/>
                <a:gd name="T6" fmla="*/ 0 w 44"/>
                <a:gd name="T7" fmla="*/ 25 h 51"/>
                <a:gd name="T8" fmla="*/ 22 w 44"/>
                <a:gd name="T9" fmla="*/ 0 h 51"/>
                <a:gd name="T10" fmla="*/ 35 w 44"/>
                <a:gd name="T11" fmla="*/ 25 h 51"/>
                <a:gd name="T12" fmla="*/ 22 w 44"/>
                <a:gd name="T13" fmla="*/ 8 h 51"/>
                <a:gd name="T14" fmla="*/ 10 w 44"/>
                <a:gd name="T15" fmla="*/ 25 h 51"/>
                <a:gd name="T16" fmla="*/ 22 w 44"/>
                <a:gd name="T17" fmla="*/ 42 h 51"/>
                <a:gd name="T18" fmla="*/ 35 w 44"/>
                <a:gd name="T19"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51">
                  <a:moveTo>
                    <a:pt x="22" y="0"/>
                  </a:moveTo>
                  <a:cubicBezTo>
                    <a:pt x="38" y="0"/>
                    <a:pt x="44" y="10"/>
                    <a:pt x="44" y="25"/>
                  </a:cubicBezTo>
                  <a:cubicBezTo>
                    <a:pt x="44" y="40"/>
                    <a:pt x="38" y="51"/>
                    <a:pt x="22" y="51"/>
                  </a:cubicBezTo>
                  <a:cubicBezTo>
                    <a:pt x="6" y="51"/>
                    <a:pt x="0" y="40"/>
                    <a:pt x="0" y="25"/>
                  </a:cubicBezTo>
                  <a:cubicBezTo>
                    <a:pt x="0" y="10"/>
                    <a:pt x="6" y="0"/>
                    <a:pt x="22" y="0"/>
                  </a:cubicBezTo>
                  <a:moveTo>
                    <a:pt x="35" y="25"/>
                  </a:moveTo>
                  <a:cubicBezTo>
                    <a:pt x="35" y="15"/>
                    <a:pt x="32" y="8"/>
                    <a:pt x="22" y="8"/>
                  </a:cubicBezTo>
                  <a:cubicBezTo>
                    <a:pt x="12" y="8"/>
                    <a:pt x="10" y="15"/>
                    <a:pt x="10" y="25"/>
                  </a:cubicBezTo>
                  <a:cubicBezTo>
                    <a:pt x="10" y="35"/>
                    <a:pt x="12" y="42"/>
                    <a:pt x="22" y="42"/>
                  </a:cubicBezTo>
                  <a:cubicBezTo>
                    <a:pt x="32" y="42"/>
                    <a:pt x="35" y="35"/>
                    <a:pt x="35" y="25"/>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8" name="Freeform 19">
              <a:extLst>
                <a:ext uri="{FF2B5EF4-FFF2-40B4-BE49-F238E27FC236}">
                  <a16:creationId xmlns:a16="http://schemas.microsoft.com/office/drawing/2014/main" id="{0703C6E9-34A9-4D28-AC4C-E6A50750761E}"/>
                </a:ext>
              </a:extLst>
            </p:cNvPr>
            <p:cNvSpPr>
              <a:spLocks/>
            </p:cNvSpPr>
            <p:nvPr userDrawn="1"/>
          </p:nvSpPr>
          <p:spPr bwMode="auto">
            <a:xfrm>
              <a:off x="61" y="-1337"/>
              <a:ext cx="160" cy="118"/>
            </a:xfrm>
            <a:custGeom>
              <a:avLst/>
              <a:gdLst>
                <a:gd name="T0" fmla="*/ 0 w 66"/>
                <a:gd name="T1" fmla="*/ 1 h 49"/>
                <a:gd name="T2" fmla="*/ 7 w 66"/>
                <a:gd name="T3" fmla="*/ 1 h 49"/>
                <a:gd name="T4" fmla="*/ 8 w 66"/>
                <a:gd name="T5" fmla="*/ 5 h 49"/>
                <a:gd name="T6" fmla="*/ 22 w 66"/>
                <a:gd name="T7" fmla="*/ 0 h 49"/>
                <a:gd name="T8" fmla="*/ 35 w 66"/>
                <a:gd name="T9" fmla="*/ 6 h 49"/>
                <a:gd name="T10" fmla="*/ 51 w 66"/>
                <a:gd name="T11" fmla="*/ 0 h 49"/>
                <a:gd name="T12" fmla="*/ 66 w 66"/>
                <a:gd name="T13" fmla="*/ 16 h 49"/>
                <a:gd name="T14" fmla="*/ 66 w 66"/>
                <a:gd name="T15" fmla="*/ 49 h 49"/>
                <a:gd name="T16" fmla="*/ 57 w 66"/>
                <a:gd name="T17" fmla="*/ 49 h 49"/>
                <a:gd name="T18" fmla="*/ 57 w 66"/>
                <a:gd name="T19" fmla="*/ 17 h 49"/>
                <a:gd name="T20" fmla="*/ 49 w 66"/>
                <a:gd name="T21" fmla="*/ 8 h 49"/>
                <a:gd name="T22" fmla="*/ 38 w 66"/>
                <a:gd name="T23" fmla="*/ 11 h 49"/>
                <a:gd name="T24" fmla="*/ 38 w 66"/>
                <a:gd name="T25" fmla="*/ 16 h 49"/>
                <a:gd name="T26" fmla="*/ 38 w 66"/>
                <a:gd name="T27" fmla="*/ 49 h 49"/>
                <a:gd name="T28" fmla="*/ 28 w 66"/>
                <a:gd name="T29" fmla="*/ 49 h 49"/>
                <a:gd name="T30" fmla="*/ 28 w 66"/>
                <a:gd name="T31" fmla="*/ 17 h 49"/>
                <a:gd name="T32" fmla="*/ 20 w 66"/>
                <a:gd name="T33" fmla="*/ 8 h 49"/>
                <a:gd name="T34" fmla="*/ 10 w 66"/>
                <a:gd name="T35" fmla="*/ 11 h 49"/>
                <a:gd name="T36" fmla="*/ 10 w 66"/>
                <a:gd name="T37" fmla="*/ 49 h 49"/>
                <a:gd name="T38" fmla="*/ 0 w 66"/>
                <a:gd name="T39" fmla="*/ 49 h 49"/>
                <a:gd name="T40" fmla="*/ 0 w 66"/>
                <a:gd name="T41"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6" h="49">
                  <a:moveTo>
                    <a:pt x="0" y="1"/>
                  </a:moveTo>
                  <a:cubicBezTo>
                    <a:pt x="7" y="1"/>
                    <a:pt x="7" y="1"/>
                    <a:pt x="7" y="1"/>
                  </a:cubicBezTo>
                  <a:cubicBezTo>
                    <a:pt x="8" y="5"/>
                    <a:pt x="8" y="5"/>
                    <a:pt x="8" y="5"/>
                  </a:cubicBezTo>
                  <a:cubicBezTo>
                    <a:pt x="11" y="2"/>
                    <a:pt x="16" y="0"/>
                    <a:pt x="22" y="0"/>
                  </a:cubicBezTo>
                  <a:cubicBezTo>
                    <a:pt x="28" y="0"/>
                    <a:pt x="33" y="2"/>
                    <a:pt x="35" y="6"/>
                  </a:cubicBezTo>
                  <a:cubicBezTo>
                    <a:pt x="40" y="2"/>
                    <a:pt x="45" y="0"/>
                    <a:pt x="51" y="0"/>
                  </a:cubicBezTo>
                  <a:cubicBezTo>
                    <a:pt x="60" y="0"/>
                    <a:pt x="66" y="5"/>
                    <a:pt x="66" y="16"/>
                  </a:cubicBezTo>
                  <a:cubicBezTo>
                    <a:pt x="66" y="49"/>
                    <a:pt x="66" y="49"/>
                    <a:pt x="66" y="49"/>
                  </a:cubicBezTo>
                  <a:cubicBezTo>
                    <a:pt x="57" y="49"/>
                    <a:pt x="57" y="49"/>
                    <a:pt x="57" y="49"/>
                  </a:cubicBezTo>
                  <a:cubicBezTo>
                    <a:pt x="57" y="17"/>
                    <a:pt x="57" y="17"/>
                    <a:pt x="57" y="17"/>
                  </a:cubicBezTo>
                  <a:cubicBezTo>
                    <a:pt x="57" y="11"/>
                    <a:pt x="54" y="8"/>
                    <a:pt x="49" y="8"/>
                  </a:cubicBezTo>
                  <a:cubicBezTo>
                    <a:pt x="45" y="8"/>
                    <a:pt x="41" y="9"/>
                    <a:pt x="38" y="11"/>
                  </a:cubicBezTo>
                  <a:cubicBezTo>
                    <a:pt x="38" y="13"/>
                    <a:pt x="38" y="15"/>
                    <a:pt x="38" y="16"/>
                  </a:cubicBezTo>
                  <a:cubicBezTo>
                    <a:pt x="38" y="49"/>
                    <a:pt x="38" y="49"/>
                    <a:pt x="38" y="49"/>
                  </a:cubicBezTo>
                  <a:cubicBezTo>
                    <a:pt x="28" y="49"/>
                    <a:pt x="28" y="49"/>
                    <a:pt x="28" y="49"/>
                  </a:cubicBezTo>
                  <a:cubicBezTo>
                    <a:pt x="28" y="17"/>
                    <a:pt x="28" y="17"/>
                    <a:pt x="28" y="17"/>
                  </a:cubicBezTo>
                  <a:cubicBezTo>
                    <a:pt x="28" y="11"/>
                    <a:pt x="26" y="8"/>
                    <a:pt x="20" y="8"/>
                  </a:cubicBezTo>
                  <a:cubicBezTo>
                    <a:pt x="17" y="8"/>
                    <a:pt x="13" y="9"/>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9" name="Freeform 20">
              <a:extLst>
                <a:ext uri="{FF2B5EF4-FFF2-40B4-BE49-F238E27FC236}">
                  <a16:creationId xmlns:a16="http://schemas.microsoft.com/office/drawing/2014/main" id="{82DA7624-FA80-426B-BF3F-547BD42E9F84}"/>
                </a:ext>
              </a:extLst>
            </p:cNvPr>
            <p:cNvSpPr>
              <a:spLocks noEditPoints="1"/>
            </p:cNvSpPr>
            <p:nvPr userDrawn="1"/>
          </p:nvSpPr>
          <p:spPr bwMode="auto">
            <a:xfrm>
              <a:off x="247"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1 w 40"/>
                <a:gd name="T21" fmla="*/ 21 h 51"/>
                <a:gd name="T22" fmla="*/ 21 w 40"/>
                <a:gd name="T23" fmla="*/ 8 h 51"/>
                <a:gd name="T24" fmla="*/ 10 w 40"/>
                <a:gd name="T25" fmla="*/ 21 h 51"/>
                <a:gd name="T26" fmla="*/ 31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4" y="0"/>
                    <a:pt x="40" y="8"/>
                    <a:pt x="40" y="22"/>
                  </a:cubicBezTo>
                  <a:cubicBezTo>
                    <a:pt x="40" y="24"/>
                    <a:pt x="40" y="26"/>
                    <a:pt x="39" y="28"/>
                  </a:cubicBezTo>
                  <a:cubicBezTo>
                    <a:pt x="10" y="28"/>
                    <a:pt x="10" y="28"/>
                    <a:pt x="10" y="28"/>
                  </a:cubicBezTo>
                  <a:cubicBezTo>
                    <a:pt x="11" y="37"/>
                    <a:pt x="15" y="42"/>
                    <a:pt x="23" y="42"/>
                  </a:cubicBezTo>
                  <a:cubicBezTo>
                    <a:pt x="29" y="42"/>
                    <a:pt x="33" y="40"/>
                    <a:pt x="37" y="39"/>
                  </a:cubicBezTo>
                  <a:cubicBezTo>
                    <a:pt x="40" y="46"/>
                    <a:pt x="40" y="46"/>
                    <a:pt x="40" y="46"/>
                  </a:cubicBezTo>
                  <a:cubicBezTo>
                    <a:pt x="36" y="48"/>
                    <a:pt x="29" y="51"/>
                    <a:pt x="22" y="51"/>
                  </a:cubicBezTo>
                  <a:cubicBezTo>
                    <a:pt x="9" y="51"/>
                    <a:pt x="0" y="42"/>
                    <a:pt x="0" y="25"/>
                  </a:cubicBezTo>
                  <a:cubicBezTo>
                    <a:pt x="0" y="10"/>
                    <a:pt x="7" y="0"/>
                    <a:pt x="21" y="0"/>
                  </a:cubicBezTo>
                  <a:moveTo>
                    <a:pt x="31" y="21"/>
                  </a:moveTo>
                  <a:cubicBezTo>
                    <a:pt x="30" y="14"/>
                    <a:pt x="28" y="8"/>
                    <a:pt x="21" y="8"/>
                  </a:cubicBezTo>
                  <a:cubicBezTo>
                    <a:pt x="14" y="8"/>
                    <a:pt x="11" y="13"/>
                    <a:pt x="10" y="21"/>
                  </a:cubicBezTo>
                  <a:lnTo>
                    <a:pt x="31"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90" name="Freeform 21">
              <a:extLst>
                <a:ext uri="{FF2B5EF4-FFF2-40B4-BE49-F238E27FC236}">
                  <a16:creationId xmlns:a16="http://schemas.microsoft.com/office/drawing/2014/main" id="{BED504A7-3B63-4352-858D-C7C600677F9E}"/>
                </a:ext>
              </a:extLst>
            </p:cNvPr>
            <p:cNvSpPr>
              <a:spLocks/>
            </p:cNvSpPr>
            <p:nvPr userDrawn="1"/>
          </p:nvSpPr>
          <p:spPr bwMode="auto">
            <a:xfrm>
              <a:off x="361" y="-1337"/>
              <a:ext cx="89" cy="123"/>
            </a:xfrm>
            <a:custGeom>
              <a:avLst/>
              <a:gdLst>
                <a:gd name="T0" fmla="*/ 2 w 37"/>
                <a:gd name="T1" fmla="*/ 40 h 51"/>
                <a:gd name="T2" fmla="*/ 17 w 37"/>
                <a:gd name="T3" fmla="*/ 42 h 51"/>
                <a:gd name="T4" fmla="*/ 27 w 37"/>
                <a:gd name="T5" fmla="*/ 36 h 51"/>
                <a:gd name="T6" fmla="*/ 16 w 37"/>
                <a:gd name="T7" fmla="*/ 28 h 51"/>
                <a:gd name="T8" fmla="*/ 1 w 37"/>
                <a:gd name="T9" fmla="*/ 14 h 51"/>
                <a:gd name="T10" fmla="*/ 20 w 37"/>
                <a:gd name="T11" fmla="*/ 0 h 51"/>
                <a:gd name="T12" fmla="*/ 34 w 37"/>
                <a:gd name="T13" fmla="*/ 1 h 51"/>
                <a:gd name="T14" fmla="*/ 33 w 37"/>
                <a:gd name="T15" fmla="*/ 9 h 51"/>
                <a:gd name="T16" fmla="*/ 21 w 37"/>
                <a:gd name="T17" fmla="*/ 8 h 51"/>
                <a:gd name="T18" fmla="*/ 11 w 37"/>
                <a:gd name="T19" fmla="*/ 13 h 51"/>
                <a:gd name="T20" fmla="*/ 24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7" y="42"/>
                  </a:cubicBezTo>
                  <a:cubicBezTo>
                    <a:pt x="23" y="42"/>
                    <a:pt x="27" y="41"/>
                    <a:pt x="27" y="36"/>
                  </a:cubicBezTo>
                  <a:cubicBezTo>
                    <a:pt x="27" y="32"/>
                    <a:pt x="24" y="31"/>
                    <a:pt x="16" y="28"/>
                  </a:cubicBezTo>
                  <a:cubicBezTo>
                    <a:pt x="8" y="26"/>
                    <a:pt x="1" y="23"/>
                    <a:pt x="1" y="14"/>
                  </a:cubicBezTo>
                  <a:cubicBezTo>
                    <a:pt x="1" y="5"/>
                    <a:pt x="9" y="0"/>
                    <a:pt x="20" y="0"/>
                  </a:cubicBezTo>
                  <a:cubicBezTo>
                    <a:pt x="24" y="0"/>
                    <a:pt x="30" y="0"/>
                    <a:pt x="34" y="1"/>
                  </a:cubicBezTo>
                  <a:cubicBezTo>
                    <a:pt x="33" y="9"/>
                    <a:pt x="33" y="9"/>
                    <a:pt x="33" y="9"/>
                  </a:cubicBezTo>
                  <a:cubicBezTo>
                    <a:pt x="30" y="9"/>
                    <a:pt x="24" y="8"/>
                    <a:pt x="21" y="8"/>
                  </a:cubicBezTo>
                  <a:cubicBezTo>
                    <a:pt x="14" y="8"/>
                    <a:pt x="11" y="10"/>
                    <a:pt x="11" y="13"/>
                  </a:cubicBezTo>
                  <a:cubicBezTo>
                    <a:pt x="11" y="18"/>
                    <a:pt x="17" y="19"/>
                    <a:pt x="24"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91" name="Freeform 22">
              <a:extLst>
                <a:ext uri="{FF2B5EF4-FFF2-40B4-BE49-F238E27FC236}">
                  <a16:creationId xmlns:a16="http://schemas.microsoft.com/office/drawing/2014/main" id="{854B30AB-8873-4C24-A589-FF973BA9DECC}"/>
                </a:ext>
              </a:extLst>
            </p:cNvPr>
            <p:cNvSpPr>
              <a:spLocks/>
            </p:cNvSpPr>
            <p:nvPr userDrawn="1"/>
          </p:nvSpPr>
          <p:spPr bwMode="auto">
            <a:xfrm>
              <a:off x="525" y="-1337"/>
              <a:ext cx="89" cy="123"/>
            </a:xfrm>
            <a:custGeom>
              <a:avLst/>
              <a:gdLst>
                <a:gd name="T0" fmla="*/ 2 w 37"/>
                <a:gd name="T1" fmla="*/ 40 h 51"/>
                <a:gd name="T2" fmla="*/ 17 w 37"/>
                <a:gd name="T3" fmla="*/ 42 h 51"/>
                <a:gd name="T4" fmla="*/ 27 w 37"/>
                <a:gd name="T5" fmla="*/ 36 h 51"/>
                <a:gd name="T6" fmla="*/ 16 w 37"/>
                <a:gd name="T7" fmla="*/ 28 h 51"/>
                <a:gd name="T8" fmla="*/ 1 w 37"/>
                <a:gd name="T9" fmla="*/ 14 h 51"/>
                <a:gd name="T10" fmla="*/ 20 w 37"/>
                <a:gd name="T11" fmla="*/ 0 h 51"/>
                <a:gd name="T12" fmla="*/ 35 w 37"/>
                <a:gd name="T13" fmla="*/ 1 h 51"/>
                <a:gd name="T14" fmla="*/ 33 w 37"/>
                <a:gd name="T15" fmla="*/ 9 h 51"/>
                <a:gd name="T16" fmla="*/ 21 w 37"/>
                <a:gd name="T17" fmla="*/ 8 h 51"/>
                <a:gd name="T18" fmla="*/ 11 w 37"/>
                <a:gd name="T19" fmla="*/ 13 h 51"/>
                <a:gd name="T20" fmla="*/ 24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7" y="42"/>
                  </a:cubicBezTo>
                  <a:cubicBezTo>
                    <a:pt x="23" y="42"/>
                    <a:pt x="27" y="41"/>
                    <a:pt x="27" y="36"/>
                  </a:cubicBezTo>
                  <a:cubicBezTo>
                    <a:pt x="27" y="32"/>
                    <a:pt x="25" y="31"/>
                    <a:pt x="16" y="28"/>
                  </a:cubicBezTo>
                  <a:cubicBezTo>
                    <a:pt x="9" y="26"/>
                    <a:pt x="1" y="23"/>
                    <a:pt x="1" y="14"/>
                  </a:cubicBezTo>
                  <a:cubicBezTo>
                    <a:pt x="1" y="5"/>
                    <a:pt x="9" y="0"/>
                    <a:pt x="20" y="0"/>
                  </a:cubicBezTo>
                  <a:cubicBezTo>
                    <a:pt x="25" y="0"/>
                    <a:pt x="31" y="0"/>
                    <a:pt x="35" y="1"/>
                  </a:cubicBezTo>
                  <a:cubicBezTo>
                    <a:pt x="33" y="9"/>
                    <a:pt x="33" y="9"/>
                    <a:pt x="33" y="9"/>
                  </a:cubicBezTo>
                  <a:cubicBezTo>
                    <a:pt x="30" y="9"/>
                    <a:pt x="24" y="8"/>
                    <a:pt x="21" y="8"/>
                  </a:cubicBezTo>
                  <a:cubicBezTo>
                    <a:pt x="14" y="8"/>
                    <a:pt x="11" y="10"/>
                    <a:pt x="11" y="13"/>
                  </a:cubicBezTo>
                  <a:cubicBezTo>
                    <a:pt x="11" y="18"/>
                    <a:pt x="17" y="19"/>
                    <a:pt x="24"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92" name="Freeform 23">
              <a:extLst>
                <a:ext uri="{FF2B5EF4-FFF2-40B4-BE49-F238E27FC236}">
                  <a16:creationId xmlns:a16="http://schemas.microsoft.com/office/drawing/2014/main" id="{F7B94546-6EDE-4DA0-A1D9-BFE60BDDB619}"/>
                </a:ext>
              </a:extLst>
            </p:cNvPr>
            <p:cNvSpPr>
              <a:spLocks noEditPoints="1"/>
            </p:cNvSpPr>
            <p:nvPr userDrawn="1"/>
          </p:nvSpPr>
          <p:spPr bwMode="auto">
            <a:xfrm>
              <a:off x="641" y="-1383"/>
              <a:ext cx="21" cy="164"/>
            </a:xfrm>
            <a:custGeom>
              <a:avLst/>
              <a:gdLst>
                <a:gd name="T0" fmla="*/ 0 w 21"/>
                <a:gd name="T1" fmla="*/ 0 h 164"/>
                <a:gd name="T2" fmla="*/ 21 w 21"/>
                <a:gd name="T3" fmla="*/ 0 h 164"/>
                <a:gd name="T4" fmla="*/ 21 w 21"/>
                <a:gd name="T5" fmla="*/ 27 h 164"/>
                <a:gd name="T6" fmla="*/ 0 w 21"/>
                <a:gd name="T7" fmla="*/ 27 h 164"/>
                <a:gd name="T8" fmla="*/ 0 w 21"/>
                <a:gd name="T9" fmla="*/ 0 h 164"/>
                <a:gd name="T10" fmla="*/ 0 w 21"/>
                <a:gd name="T11" fmla="*/ 48 h 164"/>
                <a:gd name="T12" fmla="*/ 21 w 21"/>
                <a:gd name="T13" fmla="*/ 48 h 164"/>
                <a:gd name="T14" fmla="*/ 21 w 21"/>
                <a:gd name="T15" fmla="*/ 164 h 164"/>
                <a:gd name="T16" fmla="*/ 0 w 21"/>
                <a:gd name="T17" fmla="*/ 164 h 164"/>
                <a:gd name="T18" fmla="*/ 0 w 21"/>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164">
                  <a:moveTo>
                    <a:pt x="0" y="0"/>
                  </a:moveTo>
                  <a:lnTo>
                    <a:pt x="21" y="0"/>
                  </a:lnTo>
                  <a:lnTo>
                    <a:pt x="21" y="27"/>
                  </a:lnTo>
                  <a:lnTo>
                    <a:pt x="0" y="27"/>
                  </a:lnTo>
                  <a:lnTo>
                    <a:pt x="0" y="0"/>
                  </a:lnTo>
                  <a:close/>
                  <a:moveTo>
                    <a:pt x="0" y="48"/>
                  </a:moveTo>
                  <a:lnTo>
                    <a:pt x="21" y="48"/>
                  </a:lnTo>
                  <a:lnTo>
                    <a:pt x="21"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93" name="Freeform 24">
              <a:extLst>
                <a:ext uri="{FF2B5EF4-FFF2-40B4-BE49-F238E27FC236}">
                  <a16:creationId xmlns:a16="http://schemas.microsoft.com/office/drawing/2014/main" id="{BBFCBF4A-AFE4-4B18-8F55-9E72367FCE58}"/>
                </a:ext>
              </a:extLst>
            </p:cNvPr>
            <p:cNvSpPr>
              <a:spLocks/>
            </p:cNvSpPr>
            <p:nvPr userDrawn="1"/>
          </p:nvSpPr>
          <p:spPr bwMode="auto">
            <a:xfrm>
              <a:off x="699" y="-1337"/>
              <a:ext cx="96"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7" y="8"/>
                    <a:pt x="22" y="8"/>
                  </a:cubicBezTo>
                  <a:cubicBezTo>
                    <a:pt x="17"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94" name="Freeform 25">
              <a:extLst>
                <a:ext uri="{FF2B5EF4-FFF2-40B4-BE49-F238E27FC236}">
                  <a16:creationId xmlns:a16="http://schemas.microsoft.com/office/drawing/2014/main" id="{EA280B51-9333-48C9-93EE-E33B9B56B256}"/>
                </a:ext>
              </a:extLst>
            </p:cNvPr>
            <p:cNvSpPr>
              <a:spLocks/>
            </p:cNvSpPr>
            <p:nvPr userDrawn="1"/>
          </p:nvSpPr>
          <p:spPr bwMode="auto">
            <a:xfrm>
              <a:off x="822" y="-1337"/>
              <a:ext cx="92" cy="123"/>
            </a:xfrm>
            <a:custGeom>
              <a:avLst/>
              <a:gdLst>
                <a:gd name="T0" fmla="*/ 23 w 38"/>
                <a:gd name="T1" fmla="*/ 0 h 51"/>
                <a:gd name="T2" fmla="*/ 36 w 38"/>
                <a:gd name="T3" fmla="*/ 1 h 51"/>
                <a:gd name="T4" fmla="*/ 35 w 38"/>
                <a:gd name="T5" fmla="*/ 9 h 51"/>
                <a:gd name="T6" fmla="*/ 24 w 38"/>
                <a:gd name="T7" fmla="*/ 8 h 51"/>
                <a:gd name="T8" fmla="*/ 10 w 38"/>
                <a:gd name="T9" fmla="*/ 25 h 51"/>
                <a:gd name="T10" fmla="*/ 22 w 38"/>
                <a:gd name="T11" fmla="*/ 42 h 51"/>
                <a:gd name="T12" fmla="*/ 36 w 38"/>
                <a:gd name="T13" fmla="*/ 39 h 51"/>
                <a:gd name="T14" fmla="*/ 38 w 38"/>
                <a:gd name="T15" fmla="*/ 47 h 51"/>
                <a:gd name="T16" fmla="*/ 21 w 38"/>
                <a:gd name="T17" fmla="*/ 51 h 51"/>
                <a:gd name="T18" fmla="*/ 0 w 38"/>
                <a:gd name="T19" fmla="*/ 25 h 51"/>
                <a:gd name="T20" fmla="*/ 23 w 38"/>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51">
                  <a:moveTo>
                    <a:pt x="23" y="0"/>
                  </a:moveTo>
                  <a:cubicBezTo>
                    <a:pt x="27" y="0"/>
                    <a:pt x="32" y="0"/>
                    <a:pt x="36" y="1"/>
                  </a:cubicBezTo>
                  <a:cubicBezTo>
                    <a:pt x="35" y="9"/>
                    <a:pt x="35" y="9"/>
                    <a:pt x="35" y="9"/>
                  </a:cubicBezTo>
                  <a:cubicBezTo>
                    <a:pt x="32" y="8"/>
                    <a:pt x="27" y="8"/>
                    <a:pt x="24" y="8"/>
                  </a:cubicBezTo>
                  <a:cubicBezTo>
                    <a:pt x="13" y="8"/>
                    <a:pt x="10" y="13"/>
                    <a:pt x="10" y="25"/>
                  </a:cubicBezTo>
                  <a:cubicBezTo>
                    <a:pt x="10" y="34"/>
                    <a:pt x="12" y="42"/>
                    <a:pt x="22" y="42"/>
                  </a:cubicBezTo>
                  <a:cubicBezTo>
                    <a:pt x="27" y="42"/>
                    <a:pt x="32" y="41"/>
                    <a:pt x="36" y="39"/>
                  </a:cubicBezTo>
                  <a:cubicBezTo>
                    <a:pt x="38" y="47"/>
                    <a:pt x="38" y="47"/>
                    <a:pt x="38" y="47"/>
                  </a:cubicBezTo>
                  <a:cubicBezTo>
                    <a:pt x="34" y="49"/>
                    <a:pt x="27" y="51"/>
                    <a:pt x="21" y="51"/>
                  </a:cubicBezTo>
                  <a:cubicBezTo>
                    <a:pt x="7" y="51"/>
                    <a:pt x="0" y="41"/>
                    <a:pt x="0" y="25"/>
                  </a:cubicBezTo>
                  <a:cubicBezTo>
                    <a:pt x="0" y="9"/>
                    <a:pt x="6" y="0"/>
                    <a:pt x="23" y="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95" name="Freeform 26">
              <a:extLst>
                <a:ext uri="{FF2B5EF4-FFF2-40B4-BE49-F238E27FC236}">
                  <a16:creationId xmlns:a16="http://schemas.microsoft.com/office/drawing/2014/main" id="{A50CD374-4F8E-439D-9C36-7AE4A3E147C8}"/>
                </a:ext>
              </a:extLst>
            </p:cNvPr>
            <p:cNvSpPr>
              <a:spLocks noEditPoints="1"/>
            </p:cNvSpPr>
            <p:nvPr userDrawn="1"/>
          </p:nvSpPr>
          <p:spPr bwMode="auto">
            <a:xfrm>
              <a:off x="928"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1 w 40"/>
                <a:gd name="T21" fmla="*/ 21 h 51"/>
                <a:gd name="T22" fmla="*/ 21 w 40"/>
                <a:gd name="T23" fmla="*/ 8 h 51"/>
                <a:gd name="T24" fmla="*/ 10 w 40"/>
                <a:gd name="T25" fmla="*/ 21 h 51"/>
                <a:gd name="T26" fmla="*/ 31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4" y="0"/>
                    <a:pt x="40" y="8"/>
                    <a:pt x="40" y="22"/>
                  </a:cubicBezTo>
                  <a:cubicBezTo>
                    <a:pt x="40" y="24"/>
                    <a:pt x="40" y="26"/>
                    <a:pt x="39" y="28"/>
                  </a:cubicBezTo>
                  <a:cubicBezTo>
                    <a:pt x="10" y="28"/>
                    <a:pt x="10" y="28"/>
                    <a:pt x="10" y="28"/>
                  </a:cubicBezTo>
                  <a:cubicBezTo>
                    <a:pt x="11" y="37"/>
                    <a:pt x="15" y="42"/>
                    <a:pt x="23" y="42"/>
                  </a:cubicBezTo>
                  <a:cubicBezTo>
                    <a:pt x="29" y="42"/>
                    <a:pt x="33" y="40"/>
                    <a:pt x="37" y="39"/>
                  </a:cubicBezTo>
                  <a:cubicBezTo>
                    <a:pt x="40" y="46"/>
                    <a:pt x="40" y="46"/>
                    <a:pt x="40" y="46"/>
                  </a:cubicBezTo>
                  <a:cubicBezTo>
                    <a:pt x="36" y="48"/>
                    <a:pt x="29" y="51"/>
                    <a:pt x="22" y="51"/>
                  </a:cubicBezTo>
                  <a:cubicBezTo>
                    <a:pt x="9" y="51"/>
                    <a:pt x="0" y="42"/>
                    <a:pt x="0" y="25"/>
                  </a:cubicBezTo>
                  <a:cubicBezTo>
                    <a:pt x="0" y="10"/>
                    <a:pt x="7" y="0"/>
                    <a:pt x="21" y="0"/>
                  </a:cubicBezTo>
                  <a:moveTo>
                    <a:pt x="31" y="21"/>
                  </a:moveTo>
                  <a:cubicBezTo>
                    <a:pt x="30" y="14"/>
                    <a:pt x="28" y="8"/>
                    <a:pt x="21" y="8"/>
                  </a:cubicBezTo>
                  <a:cubicBezTo>
                    <a:pt x="14" y="8"/>
                    <a:pt x="11" y="13"/>
                    <a:pt x="10" y="21"/>
                  </a:cubicBezTo>
                  <a:lnTo>
                    <a:pt x="31"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96" name="Freeform 27">
              <a:extLst>
                <a:ext uri="{FF2B5EF4-FFF2-40B4-BE49-F238E27FC236}">
                  <a16:creationId xmlns:a16="http://schemas.microsoft.com/office/drawing/2014/main" id="{EB306D3C-A3DA-49E9-BE07-E2EABA13ED17}"/>
                </a:ext>
              </a:extLst>
            </p:cNvPr>
            <p:cNvSpPr>
              <a:spLocks/>
            </p:cNvSpPr>
            <p:nvPr userDrawn="1"/>
          </p:nvSpPr>
          <p:spPr bwMode="auto">
            <a:xfrm>
              <a:off x="1099" y="-1383"/>
              <a:ext cx="68" cy="164"/>
            </a:xfrm>
            <a:custGeom>
              <a:avLst/>
              <a:gdLst>
                <a:gd name="T0" fmla="*/ 44 w 68"/>
                <a:gd name="T1" fmla="*/ 27 h 164"/>
                <a:gd name="T2" fmla="*/ 8 w 68"/>
                <a:gd name="T3" fmla="*/ 39 h 164"/>
                <a:gd name="T4" fmla="*/ 0 w 68"/>
                <a:gd name="T5" fmla="*/ 22 h 164"/>
                <a:gd name="T6" fmla="*/ 44 w 68"/>
                <a:gd name="T7" fmla="*/ 0 h 164"/>
                <a:gd name="T8" fmla="*/ 68 w 68"/>
                <a:gd name="T9" fmla="*/ 0 h 164"/>
                <a:gd name="T10" fmla="*/ 68 w 68"/>
                <a:gd name="T11" fmla="*/ 164 h 164"/>
                <a:gd name="T12" fmla="*/ 44 w 68"/>
                <a:gd name="T13" fmla="*/ 164 h 164"/>
                <a:gd name="T14" fmla="*/ 44 w 68"/>
                <a:gd name="T15" fmla="*/ 27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164">
                  <a:moveTo>
                    <a:pt x="44" y="27"/>
                  </a:moveTo>
                  <a:lnTo>
                    <a:pt x="8" y="39"/>
                  </a:lnTo>
                  <a:lnTo>
                    <a:pt x="0" y="22"/>
                  </a:lnTo>
                  <a:lnTo>
                    <a:pt x="44" y="0"/>
                  </a:lnTo>
                  <a:lnTo>
                    <a:pt x="68" y="0"/>
                  </a:lnTo>
                  <a:lnTo>
                    <a:pt x="68" y="164"/>
                  </a:lnTo>
                  <a:lnTo>
                    <a:pt x="44" y="164"/>
                  </a:lnTo>
                  <a:lnTo>
                    <a:pt x="44" y="27"/>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97" name="Freeform 28">
              <a:extLst>
                <a:ext uri="{FF2B5EF4-FFF2-40B4-BE49-F238E27FC236}">
                  <a16:creationId xmlns:a16="http://schemas.microsoft.com/office/drawing/2014/main" id="{D96D031D-2D03-4DE6-BB4A-30AE16B16817}"/>
                </a:ext>
              </a:extLst>
            </p:cNvPr>
            <p:cNvSpPr>
              <a:spLocks noEditPoints="1"/>
            </p:cNvSpPr>
            <p:nvPr userDrawn="1"/>
          </p:nvSpPr>
          <p:spPr bwMode="auto">
            <a:xfrm>
              <a:off x="1203" y="-1385"/>
              <a:ext cx="116" cy="171"/>
            </a:xfrm>
            <a:custGeom>
              <a:avLst/>
              <a:gdLst>
                <a:gd name="T0" fmla="*/ 6 w 48"/>
                <a:gd name="T1" fmla="*/ 60 h 71"/>
                <a:gd name="T2" fmla="*/ 20 w 48"/>
                <a:gd name="T3" fmla="*/ 62 h 71"/>
                <a:gd name="T4" fmla="*/ 37 w 48"/>
                <a:gd name="T5" fmla="*/ 40 h 71"/>
                <a:gd name="T6" fmla="*/ 21 w 48"/>
                <a:gd name="T7" fmla="*/ 43 h 71"/>
                <a:gd name="T8" fmla="*/ 0 w 48"/>
                <a:gd name="T9" fmla="*/ 23 h 71"/>
                <a:gd name="T10" fmla="*/ 24 w 48"/>
                <a:gd name="T11" fmla="*/ 0 h 71"/>
                <a:gd name="T12" fmla="*/ 48 w 48"/>
                <a:gd name="T13" fmla="*/ 34 h 71"/>
                <a:gd name="T14" fmla="*/ 21 w 48"/>
                <a:gd name="T15" fmla="*/ 71 h 71"/>
                <a:gd name="T16" fmla="*/ 5 w 48"/>
                <a:gd name="T17" fmla="*/ 68 h 71"/>
                <a:gd name="T18" fmla="*/ 6 w 48"/>
                <a:gd name="T19" fmla="*/ 60 h 71"/>
                <a:gd name="T20" fmla="*/ 37 w 48"/>
                <a:gd name="T21" fmla="*/ 32 h 71"/>
                <a:gd name="T22" fmla="*/ 23 w 48"/>
                <a:gd name="T23" fmla="*/ 9 h 71"/>
                <a:gd name="T24" fmla="*/ 11 w 48"/>
                <a:gd name="T25" fmla="*/ 22 h 71"/>
                <a:gd name="T26" fmla="*/ 24 w 48"/>
                <a:gd name="T27" fmla="*/ 35 h 71"/>
                <a:gd name="T28" fmla="*/ 37 w 48"/>
                <a:gd name="T29"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71">
                  <a:moveTo>
                    <a:pt x="6" y="60"/>
                  </a:moveTo>
                  <a:cubicBezTo>
                    <a:pt x="10" y="61"/>
                    <a:pt x="15" y="62"/>
                    <a:pt x="20" y="62"/>
                  </a:cubicBezTo>
                  <a:cubicBezTo>
                    <a:pt x="33" y="62"/>
                    <a:pt x="37" y="54"/>
                    <a:pt x="37" y="40"/>
                  </a:cubicBezTo>
                  <a:cubicBezTo>
                    <a:pt x="32" y="42"/>
                    <a:pt x="26" y="43"/>
                    <a:pt x="21" y="43"/>
                  </a:cubicBezTo>
                  <a:cubicBezTo>
                    <a:pt x="8" y="43"/>
                    <a:pt x="0" y="36"/>
                    <a:pt x="0" y="23"/>
                  </a:cubicBezTo>
                  <a:cubicBezTo>
                    <a:pt x="0" y="9"/>
                    <a:pt x="8" y="0"/>
                    <a:pt x="24" y="0"/>
                  </a:cubicBezTo>
                  <a:cubicBezTo>
                    <a:pt x="42" y="0"/>
                    <a:pt x="48" y="12"/>
                    <a:pt x="48" y="34"/>
                  </a:cubicBezTo>
                  <a:cubicBezTo>
                    <a:pt x="48" y="55"/>
                    <a:pt x="43" y="71"/>
                    <a:pt x="21" y="71"/>
                  </a:cubicBezTo>
                  <a:cubicBezTo>
                    <a:pt x="16" y="71"/>
                    <a:pt x="9" y="70"/>
                    <a:pt x="5" y="68"/>
                  </a:cubicBezTo>
                  <a:lnTo>
                    <a:pt x="6" y="60"/>
                  </a:lnTo>
                  <a:close/>
                  <a:moveTo>
                    <a:pt x="37" y="32"/>
                  </a:moveTo>
                  <a:cubicBezTo>
                    <a:pt x="37" y="18"/>
                    <a:pt x="34" y="9"/>
                    <a:pt x="23" y="9"/>
                  </a:cubicBezTo>
                  <a:cubicBezTo>
                    <a:pt x="15" y="9"/>
                    <a:pt x="11" y="14"/>
                    <a:pt x="11" y="22"/>
                  </a:cubicBezTo>
                  <a:cubicBezTo>
                    <a:pt x="11" y="30"/>
                    <a:pt x="14" y="35"/>
                    <a:pt x="24" y="35"/>
                  </a:cubicBezTo>
                  <a:cubicBezTo>
                    <a:pt x="28" y="35"/>
                    <a:pt x="32" y="34"/>
                    <a:pt x="37" y="32"/>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98" name="Freeform 29">
              <a:extLst>
                <a:ext uri="{FF2B5EF4-FFF2-40B4-BE49-F238E27FC236}">
                  <a16:creationId xmlns:a16="http://schemas.microsoft.com/office/drawing/2014/main" id="{022A2613-8D8F-469D-8F99-3051580758B3}"/>
                </a:ext>
              </a:extLst>
            </p:cNvPr>
            <p:cNvSpPr>
              <a:spLocks/>
            </p:cNvSpPr>
            <p:nvPr userDrawn="1"/>
          </p:nvSpPr>
          <p:spPr bwMode="auto">
            <a:xfrm>
              <a:off x="1338" y="-1383"/>
              <a:ext cx="66" cy="164"/>
            </a:xfrm>
            <a:custGeom>
              <a:avLst/>
              <a:gdLst>
                <a:gd name="T0" fmla="*/ 41 w 66"/>
                <a:gd name="T1" fmla="*/ 27 h 164"/>
                <a:gd name="T2" fmla="*/ 8 w 66"/>
                <a:gd name="T3" fmla="*/ 39 h 164"/>
                <a:gd name="T4" fmla="*/ 0 w 66"/>
                <a:gd name="T5" fmla="*/ 22 h 164"/>
                <a:gd name="T6" fmla="*/ 44 w 66"/>
                <a:gd name="T7" fmla="*/ 0 h 164"/>
                <a:gd name="T8" fmla="*/ 66 w 66"/>
                <a:gd name="T9" fmla="*/ 0 h 164"/>
                <a:gd name="T10" fmla="*/ 66 w 66"/>
                <a:gd name="T11" fmla="*/ 164 h 164"/>
                <a:gd name="T12" fmla="*/ 41 w 66"/>
                <a:gd name="T13" fmla="*/ 164 h 164"/>
                <a:gd name="T14" fmla="*/ 41 w 66"/>
                <a:gd name="T15" fmla="*/ 27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164">
                  <a:moveTo>
                    <a:pt x="41" y="27"/>
                  </a:moveTo>
                  <a:lnTo>
                    <a:pt x="8" y="39"/>
                  </a:lnTo>
                  <a:lnTo>
                    <a:pt x="0" y="22"/>
                  </a:lnTo>
                  <a:lnTo>
                    <a:pt x="44" y="0"/>
                  </a:lnTo>
                  <a:lnTo>
                    <a:pt x="66" y="0"/>
                  </a:lnTo>
                  <a:lnTo>
                    <a:pt x="66" y="164"/>
                  </a:lnTo>
                  <a:lnTo>
                    <a:pt x="41" y="164"/>
                  </a:lnTo>
                  <a:lnTo>
                    <a:pt x="41" y="27"/>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99" name="Freeform 30">
              <a:extLst>
                <a:ext uri="{FF2B5EF4-FFF2-40B4-BE49-F238E27FC236}">
                  <a16:creationId xmlns:a16="http://schemas.microsoft.com/office/drawing/2014/main" id="{032907D0-1C18-4C55-8D1A-5BCBB5567FA9}"/>
                </a:ext>
              </a:extLst>
            </p:cNvPr>
            <p:cNvSpPr>
              <a:spLocks/>
            </p:cNvSpPr>
            <p:nvPr userDrawn="1"/>
          </p:nvSpPr>
          <p:spPr bwMode="auto">
            <a:xfrm>
              <a:off x="1442" y="-1385"/>
              <a:ext cx="106" cy="166"/>
            </a:xfrm>
            <a:custGeom>
              <a:avLst/>
              <a:gdLst>
                <a:gd name="T0" fmla="*/ 1 w 44"/>
                <a:gd name="T1" fmla="*/ 62 h 69"/>
                <a:gd name="T2" fmla="*/ 33 w 44"/>
                <a:gd name="T3" fmla="*/ 21 h 69"/>
                <a:gd name="T4" fmla="*/ 20 w 44"/>
                <a:gd name="T5" fmla="*/ 9 h 69"/>
                <a:gd name="T6" fmla="*/ 3 w 44"/>
                <a:gd name="T7" fmla="*/ 13 h 69"/>
                <a:gd name="T8" fmla="*/ 0 w 44"/>
                <a:gd name="T9" fmla="*/ 5 h 69"/>
                <a:gd name="T10" fmla="*/ 20 w 44"/>
                <a:gd name="T11" fmla="*/ 0 h 69"/>
                <a:gd name="T12" fmla="*/ 43 w 44"/>
                <a:gd name="T13" fmla="*/ 20 h 69"/>
                <a:gd name="T14" fmla="*/ 14 w 44"/>
                <a:gd name="T15" fmla="*/ 60 h 69"/>
                <a:gd name="T16" fmla="*/ 44 w 44"/>
                <a:gd name="T17" fmla="*/ 60 h 69"/>
                <a:gd name="T18" fmla="*/ 44 w 44"/>
                <a:gd name="T19" fmla="*/ 69 h 69"/>
                <a:gd name="T20" fmla="*/ 1 w 44"/>
                <a:gd name="T21" fmla="*/ 69 h 69"/>
                <a:gd name="T22" fmla="*/ 1 w 44"/>
                <a:gd name="T23" fmla="*/ 6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 h="69">
                  <a:moveTo>
                    <a:pt x="1" y="62"/>
                  </a:moveTo>
                  <a:cubicBezTo>
                    <a:pt x="20" y="45"/>
                    <a:pt x="33" y="32"/>
                    <a:pt x="33" y="21"/>
                  </a:cubicBezTo>
                  <a:cubicBezTo>
                    <a:pt x="33" y="13"/>
                    <a:pt x="28" y="9"/>
                    <a:pt x="20" y="9"/>
                  </a:cubicBezTo>
                  <a:cubicBezTo>
                    <a:pt x="14" y="9"/>
                    <a:pt x="7" y="11"/>
                    <a:pt x="3" y="13"/>
                  </a:cubicBezTo>
                  <a:cubicBezTo>
                    <a:pt x="0" y="5"/>
                    <a:pt x="0" y="5"/>
                    <a:pt x="0" y="5"/>
                  </a:cubicBezTo>
                  <a:cubicBezTo>
                    <a:pt x="5" y="2"/>
                    <a:pt x="13" y="0"/>
                    <a:pt x="20" y="0"/>
                  </a:cubicBezTo>
                  <a:cubicBezTo>
                    <a:pt x="33" y="0"/>
                    <a:pt x="43" y="7"/>
                    <a:pt x="43" y="20"/>
                  </a:cubicBezTo>
                  <a:cubicBezTo>
                    <a:pt x="43" y="35"/>
                    <a:pt x="30" y="47"/>
                    <a:pt x="14" y="60"/>
                  </a:cubicBezTo>
                  <a:cubicBezTo>
                    <a:pt x="44" y="60"/>
                    <a:pt x="44" y="60"/>
                    <a:pt x="44" y="60"/>
                  </a:cubicBezTo>
                  <a:cubicBezTo>
                    <a:pt x="44" y="69"/>
                    <a:pt x="44" y="69"/>
                    <a:pt x="44" y="69"/>
                  </a:cubicBezTo>
                  <a:cubicBezTo>
                    <a:pt x="1" y="69"/>
                    <a:pt x="1" y="69"/>
                    <a:pt x="1" y="69"/>
                  </a:cubicBezTo>
                  <a:lnTo>
                    <a:pt x="1" y="62"/>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00" name="Freeform 31">
              <a:extLst>
                <a:ext uri="{FF2B5EF4-FFF2-40B4-BE49-F238E27FC236}">
                  <a16:creationId xmlns:a16="http://schemas.microsoft.com/office/drawing/2014/main" id="{62E3D831-AC3A-4A48-838B-8B8065447885}"/>
                </a:ext>
              </a:extLst>
            </p:cNvPr>
            <p:cNvSpPr>
              <a:spLocks/>
            </p:cNvSpPr>
            <p:nvPr userDrawn="1"/>
          </p:nvSpPr>
          <p:spPr bwMode="auto">
            <a:xfrm>
              <a:off x="-1708" y="-1380"/>
              <a:ext cx="123" cy="161"/>
            </a:xfrm>
            <a:custGeom>
              <a:avLst/>
              <a:gdLst>
                <a:gd name="T0" fmla="*/ 0 w 123"/>
                <a:gd name="T1" fmla="*/ 72 h 161"/>
                <a:gd name="T2" fmla="*/ 123 w 123"/>
                <a:gd name="T3" fmla="*/ 0 h 161"/>
                <a:gd name="T4" fmla="*/ 123 w 123"/>
                <a:gd name="T5" fmla="*/ 161 h 161"/>
                <a:gd name="T6" fmla="*/ 0 w 123"/>
                <a:gd name="T7" fmla="*/ 161 h 161"/>
                <a:gd name="T8" fmla="*/ 0 w 123"/>
                <a:gd name="T9" fmla="*/ 72 h 161"/>
              </a:gdLst>
              <a:ahLst/>
              <a:cxnLst>
                <a:cxn ang="0">
                  <a:pos x="T0" y="T1"/>
                </a:cxn>
                <a:cxn ang="0">
                  <a:pos x="T2" y="T3"/>
                </a:cxn>
                <a:cxn ang="0">
                  <a:pos x="T4" y="T5"/>
                </a:cxn>
                <a:cxn ang="0">
                  <a:pos x="T6" y="T7"/>
                </a:cxn>
                <a:cxn ang="0">
                  <a:pos x="T8" y="T9"/>
                </a:cxn>
              </a:cxnLst>
              <a:rect l="0" t="0" r="r" b="b"/>
              <a:pathLst>
                <a:path w="123" h="161">
                  <a:moveTo>
                    <a:pt x="0" y="72"/>
                  </a:moveTo>
                  <a:lnTo>
                    <a:pt x="123" y="0"/>
                  </a:lnTo>
                  <a:lnTo>
                    <a:pt x="123" y="161"/>
                  </a:lnTo>
                  <a:lnTo>
                    <a:pt x="0" y="161"/>
                  </a:lnTo>
                  <a:lnTo>
                    <a:pt x="0" y="72"/>
                  </a:lnTo>
                  <a:close/>
                </a:path>
              </a:pathLst>
            </a:custGeom>
            <a:solidFill>
              <a:srgbClr val="2735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cxnSp>
        <p:nvCxnSpPr>
          <p:cNvPr id="102" name="Straight Connector 101">
            <a:extLst>
              <a:ext uri="{FF2B5EF4-FFF2-40B4-BE49-F238E27FC236}">
                <a16:creationId xmlns:a16="http://schemas.microsoft.com/office/drawing/2014/main" id="{EA6E68FA-8757-4B5C-AD8E-EC741F3F6612}"/>
              </a:ext>
            </a:extLst>
          </p:cNvPr>
          <p:cNvCxnSpPr>
            <a:cxnSpLocks/>
          </p:cNvCxnSpPr>
          <p:nvPr userDrawn="1"/>
        </p:nvCxnSpPr>
        <p:spPr>
          <a:xfrm>
            <a:off x="358775" y="263284"/>
            <a:ext cx="842645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117" name="Group 116">
            <a:extLst>
              <a:ext uri="{FF2B5EF4-FFF2-40B4-BE49-F238E27FC236}">
                <a16:creationId xmlns:a16="http://schemas.microsoft.com/office/drawing/2014/main" id="{F923B7A1-7534-42C7-891B-C3258B2B4C43}"/>
              </a:ext>
            </a:extLst>
          </p:cNvPr>
          <p:cNvGrpSpPr/>
          <p:nvPr userDrawn="1"/>
        </p:nvGrpSpPr>
        <p:grpSpPr>
          <a:xfrm>
            <a:off x="7012502" y="263284"/>
            <a:ext cx="1772723" cy="588701"/>
            <a:chOff x="7349582" y="5399028"/>
            <a:chExt cx="2180855" cy="897656"/>
          </a:xfrm>
          <a:solidFill>
            <a:schemeClr val="accent2"/>
          </a:solidFill>
        </p:grpSpPr>
        <p:sp>
          <p:nvSpPr>
            <p:cNvPr id="114" name="Freeform 35">
              <a:extLst>
                <a:ext uri="{FF2B5EF4-FFF2-40B4-BE49-F238E27FC236}">
                  <a16:creationId xmlns:a16="http://schemas.microsoft.com/office/drawing/2014/main" id="{B9BF84BE-3294-4ED0-B6DB-40C588EA320A}"/>
                </a:ext>
              </a:extLst>
            </p:cNvPr>
            <p:cNvSpPr>
              <a:spLocks/>
            </p:cNvSpPr>
            <p:nvPr userDrawn="1"/>
          </p:nvSpPr>
          <p:spPr bwMode="auto">
            <a:xfrm>
              <a:off x="7349582" y="5399028"/>
              <a:ext cx="690431" cy="897656"/>
            </a:xfrm>
            <a:custGeom>
              <a:avLst/>
              <a:gdLst>
                <a:gd name="T0" fmla="*/ 723 w 723"/>
                <a:gd name="T1" fmla="*/ 519 h 940"/>
                <a:gd name="T2" fmla="*/ 0 w 723"/>
                <a:gd name="T3" fmla="*/ 940 h 940"/>
                <a:gd name="T4" fmla="*/ 0 w 723"/>
                <a:gd name="T5" fmla="*/ 0 h 940"/>
                <a:gd name="T6" fmla="*/ 723 w 723"/>
                <a:gd name="T7" fmla="*/ 0 h 940"/>
                <a:gd name="T8" fmla="*/ 723 w 723"/>
                <a:gd name="T9" fmla="*/ 519 h 940"/>
                <a:gd name="T10" fmla="*/ 723 w 723"/>
                <a:gd name="T11" fmla="*/ 519 h 940"/>
              </a:gdLst>
              <a:ahLst/>
              <a:cxnLst>
                <a:cxn ang="0">
                  <a:pos x="T0" y="T1"/>
                </a:cxn>
                <a:cxn ang="0">
                  <a:pos x="T2" y="T3"/>
                </a:cxn>
                <a:cxn ang="0">
                  <a:pos x="T4" y="T5"/>
                </a:cxn>
                <a:cxn ang="0">
                  <a:pos x="T6" y="T7"/>
                </a:cxn>
                <a:cxn ang="0">
                  <a:pos x="T8" y="T9"/>
                </a:cxn>
                <a:cxn ang="0">
                  <a:pos x="T10" y="T11"/>
                </a:cxn>
              </a:cxnLst>
              <a:rect l="0" t="0" r="r" b="b"/>
              <a:pathLst>
                <a:path w="723" h="940">
                  <a:moveTo>
                    <a:pt x="723" y="519"/>
                  </a:moveTo>
                  <a:lnTo>
                    <a:pt x="0" y="940"/>
                  </a:lnTo>
                  <a:lnTo>
                    <a:pt x="0" y="0"/>
                  </a:lnTo>
                  <a:lnTo>
                    <a:pt x="723" y="0"/>
                  </a:lnTo>
                  <a:lnTo>
                    <a:pt x="723" y="519"/>
                  </a:lnTo>
                  <a:lnTo>
                    <a:pt x="723" y="519"/>
                  </a:lnTo>
                  <a:close/>
                </a:path>
              </a:pathLst>
            </a:custGeom>
            <a:grpFill/>
            <a:ln>
              <a:noFill/>
            </a:ln>
          </p:spPr>
          <p:txBody>
            <a:bodyPr vert="horz" wrap="square" lIns="36000" tIns="36000" rIns="0" bIns="45720" numCol="1" anchor="t" anchorCtr="0" compatLnSpc="1">
              <a:prstTxWarp prst="textNoShape">
                <a:avLst/>
              </a:prstTxWarp>
            </a:bodyPr>
            <a:lstStyle/>
            <a:p>
              <a:pPr algn="l"/>
              <a:r>
                <a:rPr lang="en-GB" sz="800" spc="-60" baseline="0" dirty="0">
                  <a:solidFill>
                    <a:schemeClr val="bg2"/>
                  </a:solidFill>
                  <a:latin typeface="Montserrat" panose="02000505000000020004" pitchFamily="2" charset="0"/>
                </a:rPr>
                <a:t>Originate</a:t>
              </a:r>
            </a:p>
          </p:txBody>
        </p:sp>
        <p:sp>
          <p:nvSpPr>
            <p:cNvPr id="115" name="Freeform 35">
              <a:extLst>
                <a:ext uri="{FF2B5EF4-FFF2-40B4-BE49-F238E27FC236}">
                  <a16:creationId xmlns:a16="http://schemas.microsoft.com/office/drawing/2014/main" id="{581E069B-A82C-4753-9F20-F6A12033F8F0}"/>
                </a:ext>
              </a:extLst>
            </p:cNvPr>
            <p:cNvSpPr>
              <a:spLocks/>
            </p:cNvSpPr>
            <p:nvPr userDrawn="1"/>
          </p:nvSpPr>
          <p:spPr bwMode="auto">
            <a:xfrm>
              <a:off x="8094794" y="5399028"/>
              <a:ext cx="690431" cy="897656"/>
            </a:xfrm>
            <a:custGeom>
              <a:avLst/>
              <a:gdLst>
                <a:gd name="T0" fmla="*/ 723 w 723"/>
                <a:gd name="T1" fmla="*/ 519 h 940"/>
                <a:gd name="T2" fmla="*/ 0 w 723"/>
                <a:gd name="T3" fmla="*/ 940 h 940"/>
                <a:gd name="T4" fmla="*/ 0 w 723"/>
                <a:gd name="T5" fmla="*/ 0 h 940"/>
                <a:gd name="T6" fmla="*/ 723 w 723"/>
                <a:gd name="T7" fmla="*/ 0 h 940"/>
                <a:gd name="T8" fmla="*/ 723 w 723"/>
                <a:gd name="T9" fmla="*/ 519 h 940"/>
                <a:gd name="T10" fmla="*/ 723 w 723"/>
                <a:gd name="T11" fmla="*/ 519 h 940"/>
              </a:gdLst>
              <a:ahLst/>
              <a:cxnLst>
                <a:cxn ang="0">
                  <a:pos x="T0" y="T1"/>
                </a:cxn>
                <a:cxn ang="0">
                  <a:pos x="T2" y="T3"/>
                </a:cxn>
                <a:cxn ang="0">
                  <a:pos x="T4" y="T5"/>
                </a:cxn>
                <a:cxn ang="0">
                  <a:pos x="T6" y="T7"/>
                </a:cxn>
                <a:cxn ang="0">
                  <a:pos x="T8" y="T9"/>
                </a:cxn>
                <a:cxn ang="0">
                  <a:pos x="T10" y="T11"/>
                </a:cxn>
              </a:cxnLst>
              <a:rect l="0" t="0" r="r" b="b"/>
              <a:pathLst>
                <a:path w="723" h="940">
                  <a:moveTo>
                    <a:pt x="723" y="519"/>
                  </a:moveTo>
                  <a:lnTo>
                    <a:pt x="0" y="940"/>
                  </a:lnTo>
                  <a:lnTo>
                    <a:pt x="0" y="0"/>
                  </a:lnTo>
                  <a:lnTo>
                    <a:pt x="723" y="0"/>
                  </a:lnTo>
                  <a:lnTo>
                    <a:pt x="723" y="519"/>
                  </a:lnTo>
                  <a:lnTo>
                    <a:pt x="723" y="519"/>
                  </a:lnTo>
                  <a:close/>
                </a:path>
              </a:pathLst>
            </a:custGeom>
            <a:grpFill/>
            <a:ln>
              <a:noFill/>
            </a:ln>
          </p:spPr>
          <p:txBody>
            <a:bodyPr vert="horz" wrap="square" lIns="36000" tIns="36000" rIns="0" bIns="45720" numCol="1" anchor="t" anchorCtr="0" compatLnSpc="1">
              <a:prstTxWarp prst="textNoShape">
                <a:avLst/>
              </a:prstTxWarp>
            </a:bodyPr>
            <a:lstStyle/>
            <a:p>
              <a:pPr algn="l"/>
              <a:r>
                <a:rPr lang="en-GB" sz="800" spc="-60" baseline="0" dirty="0">
                  <a:solidFill>
                    <a:schemeClr val="bg2"/>
                  </a:solidFill>
                  <a:latin typeface="Montserrat" panose="02000505000000020004" pitchFamily="2" charset="0"/>
                </a:rPr>
                <a:t>Invest</a:t>
              </a:r>
            </a:p>
          </p:txBody>
        </p:sp>
        <p:sp>
          <p:nvSpPr>
            <p:cNvPr id="116" name="Freeform 35">
              <a:extLst>
                <a:ext uri="{FF2B5EF4-FFF2-40B4-BE49-F238E27FC236}">
                  <a16:creationId xmlns:a16="http://schemas.microsoft.com/office/drawing/2014/main" id="{E2496C0C-B1F4-4029-B0B3-B9CB1035CE74}"/>
                </a:ext>
              </a:extLst>
            </p:cNvPr>
            <p:cNvSpPr>
              <a:spLocks/>
            </p:cNvSpPr>
            <p:nvPr userDrawn="1"/>
          </p:nvSpPr>
          <p:spPr bwMode="auto">
            <a:xfrm>
              <a:off x="8840006" y="5399028"/>
              <a:ext cx="690431" cy="897656"/>
            </a:xfrm>
            <a:custGeom>
              <a:avLst/>
              <a:gdLst>
                <a:gd name="T0" fmla="*/ 723 w 723"/>
                <a:gd name="T1" fmla="*/ 519 h 940"/>
                <a:gd name="T2" fmla="*/ 0 w 723"/>
                <a:gd name="T3" fmla="*/ 940 h 940"/>
                <a:gd name="T4" fmla="*/ 0 w 723"/>
                <a:gd name="T5" fmla="*/ 0 h 940"/>
                <a:gd name="T6" fmla="*/ 723 w 723"/>
                <a:gd name="T7" fmla="*/ 0 h 940"/>
                <a:gd name="T8" fmla="*/ 723 w 723"/>
                <a:gd name="T9" fmla="*/ 519 h 940"/>
                <a:gd name="T10" fmla="*/ 723 w 723"/>
                <a:gd name="T11" fmla="*/ 519 h 940"/>
              </a:gdLst>
              <a:ahLst/>
              <a:cxnLst>
                <a:cxn ang="0">
                  <a:pos x="T0" y="T1"/>
                </a:cxn>
                <a:cxn ang="0">
                  <a:pos x="T2" y="T3"/>
                </a:cxn>
                <a:cxn ang="0">
                  <a:pos x="T4" y="T5"/>
                </a:cxn>
                <a:cxn ang="0">
                  <a:pos x="T6" y="T7"/>
                </a:cxn>
                <a:cxn ang="0">
                  <a:pos x="T8" y="T9"/>
                </a:cxn>
                <a:cxn ang="0">
                  <a:pos x="T10" y="T11"/>
                </a:cxn>
              </a:cxnLst>
              <a:rect l="0" t="0" r="r" b="b"/>
              <a:pathLst>
                <a:path w="723" h="940">
                  <a:moveTo>
                    <a:pt x="723" y="519"/>
                  </a:moveTo>
                  <a:lnTo>
                    <a:pt x="0" y="940"/>
                  </a:lnTo>
                  <a:lnTo>
                    <a:pt x="0" y="0"/>
                  </a:lnTo>
                  <a:lnTo>
                    <a:pt x="723" y="0"/>
                  </a:lnTo>
                  <a:lnTo>
                    <a:pt x="723" y="519"/>
                  </a:lnTo>
                  <a:lnTo>
                    <a:pt x="723" y="519"/>
                  </a:lnTo>
                  <a:close/>
                </a:path>
              </a:pathLst>
            </a:custGeom>
            <a:grpFill/>
            <a:ln>
              <a:noFill/>
            </a:ln>
          </p:spPr>
          <p:txBody>
            <a:bodyPr vert="horz" wrap="square" lIns="36000" tIns="36000" rIns="0" bIns="45720" numCol="1" anchor="t" anchorCtr="0" compatLnSpc="1">
              <a:prstTxWarp prst="textNoShape">
                <a:avLst/>
              </a:prstTxWarp>
            </a:bodyPr>
            <a:lstStyle/>
            <a:p>
              <a:pPr algn="l"/>
              <a:r>
                <a:rPr lang="en-GB" sz="800" spc="-60" baseline="0" dirty="0">
                  <a:solidFill>
                    <a:schemeClr val="bg2"/>
                  </a:solidFill>
                  <a:latin typeface="Montserrat" panose="02000505000000020004" pitchFamily="2" charset="0"/>
                </a:rPr>
                <a:t>Operate</a:t>
              </a:r>
            </a:p>
          </p:txBody>
        </p:sp>
      </p:grpSp>
    </p:spTree>
    <p:extLst>
      <p:ext uri="{BB962C8B-B14F-4D97-AF65-F5344CB8AC3E}">
        <p14:creationId xmlns:p14="http://schemas.microsoft.com/office/powerpoint/2010/main" val="2680362384"/>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5" r:id="rId7"/>
    <p:sldLayoutId id="2147483786" r:id="rId8"/>
    <p:sldLayoutId id="2147483787" r:id="rId9"/>
    <p:sldLayoutId id="2147483788" r:id="rId10"/>
    <p:sldLayoutId id="2147483790" r:id="rId11"/>
    <p:sldLayoutId id="2147483791" r:id="rId12"/>
    <p:sldLayoutId id="2147483792"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lnSpc>
          <a:spcPct val="85000"/>
        </a:lnSpc>
        <a:spcBef>
          <a:spcPct val="0"/>
        </a:spcBef>
        <a:buNone/>
        <a:defRPr sz="3200" kern="1200" spc="-150">
          <a:solidFill>
            <a:schemeClr val="accent2"/>
          </a:solidFill>
          <a:latin typeface="+mn-lt"/>
          <a:ea typeface="+mj-ea"/>
          <a:cs typeface="+mj-cs"/>
        </a:defRPr>
      </a:lvl1pPr>
    </p:titleStyle>
    <p:bodyStyle>
      <a:lvl1pPr marL="0" indent="0" algn="l" defTabSz="685800" rtl="0" eaLnBrk="1" latinLnBrk="0" hangingPunct="1">
        <a:lnSpc>
          <a:spcPct val="90000"/>
        </a:lnSpc>
        <a:spcBef>
          <a:spcPts val="1200"/>
        </a:spcBef>
        <a:buFont typeface="Arial" panose="020B0604020202020204" pitchFamily="34" charset="0"/>
        <a:buNone/>
        <a:defRPr sz="1800" b="0" kern="1200" spc="-80" baseline="0">
          <a:solidFill>
            <a:schemeClr val="accent2"/>
          </a:solidFill>
          <a:latin typeface="Montserrat" panose="02000505000000020004" pitchFamily="2" charset="0"/>
          <a:ea typeface="+mn-ea"/>
          <a:cs typeface="+mn-cs"/>
        </a:defRPr>
      </a:lvl1pPr>
      <a:lvl2pPr marL="177800" indent="-177800" algn="l" defTabSz="685800" rtl="0" eaLnBrk="1" latinLnBrk="0" hangingPunct="1">
        <a:lnSpc>
          <a:spcPct val="90000"/>
        </a:lnSpc>
        <a:spcBef>
          <a:spcPts val="300"/>
        </a:spcBef>
        <a:spcAft>
          <a:spcPts val="300"/>
        </a:spcAft>
        <a:buSzPct val="80000"/>
        <a:buFontTx/>
        <a:buBlip>
          <a:blip r:embed="rId15"/>
        </a:buBlip>
        <a:defRPr sz="1400" kern="1200" spc="-80" baseline="0">
          <a:solidFill>
            <a:schemeClr val="tx1"/>
          </a:solidFill>
          <a:latin typeface="+mn-lt"/>
          <a:ea typeface="+mn-ea"/>
          <a:cs typeface="+mn-cs"/>
        </a:defRPr>
      </a:lvl2pPr>
      <a:lvl3pPr marL="358775" indent="-180975"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200" kern="1200" spc="-80" baseline="0">
          <a:solidFill>
            <a:schemeClr val="tx1"/>
          </a:solidFill>
          <a:latin typeface="+mn-lt"/>
          <a:ea typeface="+mn-ea"/>
          <a:cs typeface="+mn-cs"/>
        </a:defRPr>
      </a:lvl3pPr>
      <a:lvl4pPr marL="536575" indent="-177800"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100" kern="1200" spc="-80" baseline="0">
          <a:solidFill>
            <a:schemeClr val="tx1"/>
          </a:solidFill>
          <a:latin typeface="+mn-lt"/>
          <a:ea typeface="+mn-ea"/>
          <a:cs typeface="+mn-cs"/>
        </a:defRPr>
      </a:lvl4pPr>
      <a:lvl5pPr marL="717550" indent="-180975"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100" kern="1200" spc="-80" baseline="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26">
          <p15:clr>
            <a:srgbClr val="F26B43"/>
          </p15:clr>
        </p15:guide>
        <p15:guide id="2" pos="553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svg"/><Relationship Id="rId18" Type="http://schemas.openxmlformats.org/officeDocument/2006/relationships/image" Target="../media/image22.png"/><Relationship Id="rId26" Type="http://schemas.openxmlformats.org/officeDocument/2006/relationships/image" Target="../media/image30.png"/><Relationship Id="rId3" Type="http://schemas.openxmlformats.org/officeDocument/2006/relationships/image" Target="../media/image7.svg"/><Relationship Id="rId21" Type="http://schemas.openxmlformats.org/officeDocument/2006/relationships/image" Target="../media/image25.png"/><Relationship Id="rId34" Type="http://schemas.openxmlformats.org/officeDocument/2006/relationships/image" Target="../media/image36.png"/><Relationship Id="rId7" Type="http://schemas.openxmlformats.org/officeDocument/2006/relationships/image" Target="../media/image11.svg"/><Relationship Id="rId12" Type="http://schemas.openxmlformats.org/officeDocument/2006/relationships/image" Target="../media/image16.png"/><Relationship Id="rId17" Type="http://schemas.openxmlformats.org/officeDocument/2006/relationships/image" Target="../media/image21.svg"/><Relationship Id="rId25" Type="http://schemas.openxmlformats.org/officeDocument/2006/relationships/image" Target="../media/image29.png"/><Relationship Id="rId33" Type="http://schemas.microsoft.com/office/2007/relationships/hdphoto" Target="../media/hdphoto2.wdp"/><Relationship Id="rId38" Type="http://schemas.openxmlformats.org/officeDocument/2006/relationships/image" Target="../media/image40.png"/><Relationship Id="rId2" Type="http://schemas.openxmlformats.org/officeDocument/2006/relationships/image" Target="../media/image6.png"/><Relationship Id="rId16" Type="http://schemas.openxmlformats.org/officeDocument/2006/relationships/image" Target="../media/image20.png"/><Relationship Id="rId20" Type="http://schemas.openxmlformats.org/officeDocument/2006/relationships/image" Target="../media/image24.jpeg"/><Relationship Id="rId29" Type="http://schemas.openxmlformats.org/officeDocument/2006/relationships/image" Target="../media/image33.png"/><Relationship Id="rId1" Type="http://schemas.openxmlformats.org/officeDocument/2006/relationships/slideLayout" Target="../slideLayouts/slideLayout3.xml"/><Relationship Id="rId6" Type="http://schemas.openxmlformats.org/officeDocument/2006/relationships/image" Target="../media/image10.png"/><Relationship Id="rId11" Type="http://schemas.openxmlformats.org/officeDocument/2006/relationships/image" Target="../media/image15.svg"/><Relationship Id="rId24" Type="http://schemas.openxmlformats.org/officeDocument/2006/relationships/image" Target="../media/image28.jpg"/><Relationship Id="rId32" Type="http://schemas.openxmlformats.org/officeDocument/2006/relationships/image" Target="../media/image35.png"/><Relationship Id="rId37" Type="http://schemas.openxmlformats.org/officeDocument/2006/relationships/image" Target="../media/image39.png"/><Relationship Id="rId5" Type="http://schemas.openxmlformats.org/officeDocument/2006/relationships/image" Target="../media/image9.svg"/><Relationship Id="rId15" Type="http://schemas.openxmlformats.org/officeDocument/2006/relationships/image" Target="../media/image19.svg"/><Relationship Id="rId23" Type="http://schemas.openxmlformats.org/officeDocument/2006/relationships/image" Target="../media/image27.png"/><Relationship Id="rId28" Type="http://schemas.openxmlformats.org/officeDocument/2006/relationships/image" Target="../media/image32.jpg"/><Relationship Id="rId36" Type="http://schemas.openxmlformats.org/officeDocument/2006/relationships/image" Target="../media/image38.png"/><Relationship Id="rId10" Type="http://schemas.openxmlformats.org/officeDocument/2006/relationships/image" Target="../media/image14.png"/><Relationship Id="rId19" Type="http://schemas.openxmlformats.org/officeDocument/2006/relationships/image" Target="../media/image23.jpeg"/><Relationship Id="rId31" Type="http://schemas.microsoft.com/office/2007/relationships/hdphoto" Target="../media/hdphoto1.wdp"/><Relationship Id="rId4" Type="http://schemas.openxmlformats.org/officeDocument/2006/relationships/image" Target="../media/image8.png"/><Relationship Id="rId9" Type="http://schemas.openxmlformats.org/officeDocument/2006/relationships/image" Target="../media/image13.sv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svg"/><Relationship Id="rId30" Type="http://schemas.openxmlformats.org/officeDocument/2006/relationships/image" Target="../media/image34.png"/><Relationship Id="rId35" Type="http://schemas.openxmlformats.org/officeDocument/2006/relationships/image" Target="../media/image37.png"/></Relationships>
</file>

<file path=ppt/slides/_rels/slide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358774" y="294420"/>
            <a:ext cx="4687591" cy="2729515"/>
          </a:xfrm>
        </p:spPr>
        <p:txBody>
          <a:bodyPr/>
          <a:lstStyle/>
          <a:p>
            <a:r>
              <a:rPr lang="en-GB" dirty="0"/>
              <a:t>Connect Programme</a:t>
            </a:r>
          </a:p>
        </p:txBody>
      </p:sp>
      <p:sp>
        <p:nvSpPr>
          <p:cNvPr id="7" name="Text Placeholder 6">
            <a:extLst>
              <a:ext uri="{FF2B5EF4-FFF2-40B4-BE49-F238E27FC236}">
                <a16:creationId xmlns:a16="http://schemas.microsoft.com/office/drawing/2014/main" id="{D5398C75-5C20-4896-B36A-F6B7A9B2F891}"/>
              </a:ext>
            </a:extLst>
          </p:cNvPr>
          <p:cNvSpPr>
            <a:spLocks noGrp="1"/>
          </p:cNvSpPr>
          <p:nvPr>
            <p:ph type="body" sz="quarter" idx="10"/>
          </p:nvPr>
        </p:nvSpPr>
        <p:spPr>
          <a:xfrm>
            <a:off x="358775" y="3442695"/>
            <a:ext cx="4703555" cy="392791"/>
          </a:xfrm>
        </p:spPr>
        <p:txBody>
          <a:bodyPr vert="horz" lIns="0" tIns="0" rIns="0" bIns="0" rtlCol="0" anchor="t">
            <a:noAutofit/>
          </a:bodyPr>
          <a:lstStyle/>
          <a:p>
            <a:pPr>
              <a:lnSpc>
                <a:spcPct val="100000"/>
              </a:lnSpc>
            </a:pPr>
            <a:r>
              <a:rPr lang="en-GB" sz="2000" dirty="0"/>
              <a:t>Programme &amp; architecture review</a:t>
            </a:r>
          </a:p>
          <a:p>
            <a:pPr>
              <a:lnSpc>
                <a:spcPct val="100000"/>
              </a:lnSpc>
            </a:pPr>
            <a:endParaRPr lang="en-GB" sz="2000" dirty="0"/>
          </a:p>
          <a:p>
            <a:pPr>
              <a:lnSpc>
                <a:spcPct val="100000"/>
              </a:lnSpc>
            </a:pPr>
            <a:r>
              <a:rPr lang="en-GB" sz="2000" dirty="0"/>
              <a:t>Open Box</a:t>
            </a:r>
          </a:p>
          <a:p>
            <a:pPr>
              <a:lnSpc>
                <a:spcPct val="100000"/>
              </a:lnSpc>
            </a:pPr>
            <a:endParaRPr lang="en-GB" sz="2000" dirty="0"/>
          </a:p>
          <a:p>
            <a:pPr>
              <a:lnSpc>
                <a:spcPct val="100000"/>
              </a:lnSpc>
            </a:pPr>
            <a:r>
              <a:rPr lang="en-GB" sz="2000" dirty="0"/>
              <a:t>8 Feb 2021</a:t>
            </a:r>
          </a:p>
        </p:txBody>
      </p:sp>
      <p:pic>
        <p:nvPicPr>
          <p:cNvPr id="18" name="Picture Placeholder 17">
            <a:extLst>
              <a:ext uri="{FF2B5EF4-FFF2-40B4-BE49-F238E27FC236}">
                <a16:creationId xmlns:a16="http://schemas.microsoft.com/office/drawing/2014/main" id="{D23A5545-8120-44CB-8A31-8D01613D8805}"/>
              </a:ext>
            </a:extLst>
          </p:cNvPr>
          <p:cNvPicPr>
            <a:picLocks noGrp="1" noChangeAspect="1"/>
          </p:cNvPicPr>
          <p:nvPr>
            <p:ph type="pic" sz="quarter" idx="11"/>
          </p:nvPr>
        </p:nvPicPr>
        <p:blipFill>
          <a:blip r:embed="rId3" cstate="screen">
            <a:extLst>
              <a:ext uri="{28A0092B-C50C-407E-A947-70E740481C1C}">
                <a14:useLocalDpi xmlns:a14="http://schemas.microsoft.com/office/drawing/2010/main"/>
              </a:ext>
            </a:extLst>
          </a:blip>
          <a:srcRect/>
          <a:stretch>
            <a:fillRect/>
          </a:stretch>
        </p:blipFill>
        <p:spPr/>
      </p:pic>
      <p:pic>
        <p:nvPicPr>
          <p:cNvPr id="20" name="Picture Placeholder 19">
            <a:extLst>
              <a:ext uri="{FF2B5EF4-FFF2-40B4-BE49-F238E27FC236}">
                <a16:creationId xmlns:a16="http://schemas.microsoft.com/office/drawing/2014/main" id="{56B439B3-D107-4CCE-B95E-21CE74F29901}"/>
              </a:ext>
            </a:extLst>
          </p:cNvPr>
          <p:cNvPicPr>
            <a:picLocks noGrp="1" noChangeAspect="1"/>
          </p:cNvPicPr>
          <p:nvPr>
            <p:ph type="pic" sz="quarter" idx="12"/>
          </p:nvPr>
        </p:nvPicPr>
        <p:blipFill>
          <a:blip r:embed="rId4" cstate="screen">
            <a:extLst>
              <a:ext uri="{28A0092B-C50C-407E-A947-70E740481C1C}">
                <a14:useLocalDpi xmlns:a14="http://schemas.microsoft.com/office/drawing/2010/main"/>
              </a:ext>
            </a:extLst>
          </a:blip>
          <a:srcRect/>
          <a:stretch>
            <a:fillRect/>
          </a:stretch>
        </p:blipFill>
        <p:spPr/>
      </p:pic>
      <p:pic>
        <p:nvPicPr>
          <p:cNvPr id="22" name="Picture Placeholder 21">
            <a:extLst>
              <a:ext uri="{FF2B5EF4-FFF2-40B4-BE49-F238E27FC236}">
                <a16:creationId xmlns:a16="http://schemas.microsoft.com/office/drawing/2014/main" id="{0F00D62A-47EC-4312-B8A7-61D368326A14}"/>
              </a:ext>
            </a:extLst>
          </p:cNvPr>
          <p:cNvPicPr>
            <a:picLocks noGrp="1" noChangeAspect="1"/>
          </p:cNvPicPr>
          <p:nvPr>
            <p:ph type="pic" sz="quarter" idx="14"/>
          </p:nvPr>
        </p:nvPicPr>
        <p:blipFill>
          <a:blip r:embed="rId5" cstate="screen">
            <a:extLst>
              <a:ext uri="{28A0092B-C50C-407E-A947-70E740481C1C}">
                <a14:useLocalDpi xmlns:a14="http://schemas.microsoft.com/office/drawing/2010/main"/>
              </a:ext>
            </a:extLst>
          </a:blip>
          <a:srcRect/>
          <a:stretch>
            <a:fillRect/>
          </a:stretch>
        </p:blipFill>
        <p:spPr/>
      </p:pic>
      <p:sp>
        <p:nvSpPr>
          <p:cNvPr id="9" name="Footer Placeholder 10">
            <a:extLst>
              <a:ext uri="{FF2B5EF4-FFF2-40B4-BE49-F238E27FC236}">
                <a16:creationId xmlns:a16="http://schemas.microsoft.com/office/drawing/2014/main" id="{C82F26A6-707E-4E5E-8EDA-BCC6D3070167}"/>
              </a:ext>
            </a:extLst>
          </p:cNvPr>
          <p:cNvSpPr>
            <a:spLocks noGrp="1"/>
          </p:cNvSpPr>
          <p:nvPr>
            <p:ph type="ftr" sz="quarter" idx="4294967295"/>
          </p:nvPr>
        </p:nvSpPr>
        <p:spPr>
          <a:xfrm>
            <a:off x="0" y="6480175"/>
            <a:ext cx="4789488" cy="227013"/>
          </a:xfrm>
        </p:spPr>
        <p:txBody>
          <a:bodyPr/>
          <a:lstStyle/>
          <a:p>
            <a:pPr>
              <a:defRPr/>
            </a:pPr>
            <a:r>
              <a:rPr lang="en-GB">
                <a:solidFill>
                  <a:srgbClr val="4D858D"/>
                </a:solidFill>
              </a:rPr>
              <a:t>Grainger Plc  |  www.graingerplc.co.uk    | </a:t>
            </a:r>
          </a:p>
        </p:txBody>
      </p:sp>
      <p:sp>
        <p:nvSpPr>
          <p:cNvPr id="8" name="Slide Number Placeholder 7">
            <a:extLst>
              <a:ext uri="{FF2B5EF4-FFF2-40B4-BE49-F238E27FC236}">
                <a16:creationId xmlns:a16="http://schemas.microsoft.com/office/drawing/2014/main" id="{E2478E1B-4250-4957-923A-BBC1959257AD}"/>
              </a:ext>
            </a:extLst>
          </p:cNvPr>
          <p:cNvSpPr>
            <a:spLocks noGrp="1"/>
          </p:cNvSpPr>
          <p:nvPr>
            <p:ph type="sldNum" sz="quarter" idx="4294967295"/>
          </p:nvPr>
        </p:nvSpPr>
        <p:spPr>
          <a:xfrm>
            <a:off x="8715375" y="6480175"/>
            <a:ext cx="428625" cy="228600"/>
          </a:xfrm>
        </p:spPr>
        <p:txBody>
          <a:bodyPr/>
          <a:lstStyle/>
          <a:p>
            <a:pPr>
              <a:defRPr/>
            </a:pPr>
            <a:fld id="{0D32313A-DEBC-4CA4-B008-A02D4ABE2C72}" type="slidenum">
              <a:rPr lang="en-GB">
                <a:solidFill>
                  <a:srgbClr val="4D858D">
                    <a:lumMod val="75000"/>
                  </a:srgbClr>
                </a:solidFill>
              </a:rPr>
              <a:pPr>
                <a:defRPr/>
              </a:pPr>
              <a:t>1</a:t>
            </a:fld>
            <a:endParaRPr lang="en-GB">
              <a:solidFill>
                <a:srgbClr val="4D858D">
                  <a:lumMod val="75000"/>
                </a:srgbClr>
              </a:solidFill>
            </a:endParaRPr>
          </a:p>
        </p:txBody>
      </p:sp>
      <p:pic>
        <p:nvPicPr>
          <p:cNvPr id="28" name="Picture Placeholder 27">
            <a:extLst>
              <a:ext uri="{FF2B5EF4-FFF2-40B4-BE49-F238E27FC236}">
                <a16:creationId xmlns:a16="http://schemas.microsoft.com/office/drawing/2014/main" id="{CC58A5D1-1D6C-44AE-926F-FE9ED40ECA2E}"/>
              </a:ext>
            </a:extLst>
          </p:cNvPr>
          <p:cNvPicPr>
            <a:picLocks noGrp="1" noChangeAspect="1"/>
          </p:cNvPicPr>
          <p:nvPr>
            <p:ph type="pic" sz="quarter" idx="13"/>
          </p:nvPr>
        </p:nvPicPr>
        <p:blipFill rotWithShape="1">
          <a:blip r:embed="rId6" cstate="screen">
            <a:extLst>
              <a:ext uri="{28A0092B-C50C-407E-A947-70E740481C1C}">
                <a14:useLocalDpi xmlns:a14="http://schemas.microsoft.com/office/drawing/2010/main"/>
              </a:ext>
            </a:extLst>
          </a:blip>
          <a:srcRect t="-803"/>
          <a:stretch/>
        </p:blipFill>
        <p:spPr>
          <a:xfrm>
            <a:off x="5064192" y="2022171"/>
            <a:ext cx="1763790" cy="2619122"/>
          </a:xfrm>
        </p:spPr>
      </p:pic>
    </p:spTree>
    <p:extLst>
      <p:ext uri="{BB962C8B-B14F-4D97-AF65-F5344CB8AC3E}">
        <p14:creationId xmlns:p14="http://schemas.microsoft.com/office/powerpoint/2010/main" val="2724097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D00CAFD-3443-40A6-8B63-F23FAF34FA64}"/>
              </a:ext>
            </a:extLst>
          </p:cNvPr>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0D32313A-DEBC-4CA4-B008-A02D4ABE2C72}" type="slidenum">
              <a:rPr kumimoji="0" lang="en-GB" sz="900" b="0" i="0" u="none" strike="noStrike" kern="1200" cap="none" spc="0" normalizeH="0" baseline="0" noProof="0" smtClean="0">
                <a:ln>
                  <a:noFill/>
                </a:ln>
                <a:solidFill>
                  <a:srgbClr val="4D858D">
                    <a:lumMod val="75000"/>
                  </a:srgbClr>
                </a:solidFill>
                <a:effectLst/>
                <a:uLnTx/>
                <a:uFillTx/>
                <a:latin typeface="Montserrat" panose="02000505000000020004" pitchFamily="2" charset="0"/>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2</a:t>
            </a:fld>
            <a:endParaRPr kumimoji="0" lang="en-GB" sz="900" b="0" i="0" u="none" strike="noStrike" kern="1200" cap="none" spc="0" normalizeH="0" baseline="0" noProof="0" dirty="0">
              <a:ln>
                <a:noFill/>
              </a:ln>
              <a:solidFill>
                <a:srgbClr val="4D858D">
                  <a:lumMod val="75000"/>
                </a:srgbClr>
              </a:solidFill>
              <a:effectLst/>
              <a:uLnTx/>
              <a:uFillTx/>
              <a:latin typeface="Montserrat" panose="02000505000000020004" pitchFamily="2" charset="0"/>
              <a:ea typeface="+mn-ea"/>
              <a:cs typeface="+mn-cs"/>
            </a:endParaRPr>
          </a:p>
        </p:txBody>
      </p:sp>
      <p:sp>
        <p:nvSpPr>
          <p:cNvPr id="4" name="Title 3">
            <a:extLst>
              <a:ext uri="{FF2B5EF4-FFF2-40B4-BE49-F238E27FC236}">
                <a16:creationId xmlns:a16="http://schemas.microsoft.com/office/drawing/2014/main" id="{58437336-97CC-4622-AC51-6165DF9D3380}"/>
              </a:ext>
            </a:extLst>
          </p:cNvPr>
          <p:cNvSpPr>
            <a:spLocks noGrp="1"/>
          </p:cNvSpPr>
          <p:nvPr>
            <p:ph type="title"/>
          </p:nvPr>
        </p:nvSpPr>
        <p:spPr/>
        <p:txBody>
          <a:bodyPr/>
          <a:lstStyle/>
          <a:p>
            <a:r>
              <a:rPr lang="en-GB" dirty="0"/>
              <a:t>Elements of the Connect Platform</a:t>
            </a:r>
          </a:p>
        </p:txBody>
      </p:sp>
      <p:sp>
        <p:nvSpPr>
          <p:cNvPr id="5" name="Content Placeholder 1">
            <a:extLst>
              <a:ext uri="{FF2B5EF4-FFF2-40B4-BE49-F238E27FC236}">
                <a16:creationId xmlns:a16="http://schemas.microsoft.com/office/drawing/2014/main" id="{832CBF09-5816-4B2E-97B7-09C5D4191E61}"/>
              </a:ext>
            </a:extLst>
          </p:cNvPr>
          <p:cNvSpPr>
            <a:spLocks noGrp="1"/>
          </p:cNvSpPr>
          <p:nvPr>
            <p:ph idx="1"/>
          </p:nvPr>
        </p:nvSpPr>
        <p:spPr>
          <a:xfrm>
            <a:off x="358774" y="875787"/>
            <a:ext cx="8426450" cy="1117673"/>
          </a:xfrm>
        </p:spPr>
        <p:txBody>
          <a:bodyPr>
            <a:noAutofit/>
          </a:bodyPr>
          <a:lstStyle/>
          <a:p>
            <a:pPr>
              <a:lnSpc>
                <a:spcPct val="110000"/>
              </a:lnSpc>
            </a:pPr>
            <a:r>
              <a:rPr lang="en-US" sz="1200" spc="0" dirty="0">
                <a:solidFill>
                  <a:srgbClr val="4D858D"/>
                </a:solidFill>
                <a:latin typeface="Montserrat"/>
              </a:rPr>
              <a:t>Connect will be the leading and most comprehensive technology platform in the property sector. Its scope includes best-in-class solutions in 12 different areas:</a:t>
            </a:r>
          </a:p>
        </p:txBody>
      </p:sp>
      <p:sp>
        <p:nvSpPr>
          <p:cNvPr id="16" name="Footer Placeholder 2">
            <a:extLst>
              <a:ext uri="{FF2B5EF4-FFF2-40B4-BE49-F238E27FC236}">
                <a16:creationId xmlns:a16="http://schemas.microsoft.com/office/drawing/2014/main" id="{45F1657C-1BAF-444D-B9E0-325FCA42ED83}"/>
              </a:ext>
            </a:extLst>
          </p:cNvPr>
          <p:cNvSpPr txBox="1">
            <a:spLocks/>
          </p:cNvSpPr>
          <p:nvPr/>
        </p:nvSpPr>
        <p:spPr>
          <a:xfrm>
            <a:off x="1392775" y="6480640"/>
            <a:ext cx="4788177" cy="227300"/>
          </a:xfrm>
          <a:prstGeom prst="rect">
            <a:avLst/>
          </a:prstGeom>
        </p:spPr>
        <p:txBody>
          <a:bodyPr vert="horz" lIns="91440" tIns="45720" rIns="91440" bIns="45720" rtlCol="0" anchor="ctr"/>
          <a:lstStyle>
            <a:defPPr>
              <a:defRPr lang="en-US"/>
            </a:defPPr>
            <a:lvl1pPr marL="0" algn="l" defTabSz="457200" rtl="0" eaLnBrk="1" latinLnBrk="0" hangingPunct="1">
              <a:defRPr sz="600" b="0" kern="1200" spc="-20" baseline="0">
                <a:solidFill>
                  <a:schemeClr val="accent2"/>
                </a:solidFill>
                <a:latin typeface="Montserrat" panose="0200050500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20" normalizeH="0" baseline="0" noProof="0" dirty="0">
                <a:ln>
                  <a:noFill/>
                </a:ln>
                <a:solidFill>
                  <a:srgbClr val="4D858D"/>
                </a:solidFill>
                <a:effectLst/>
                <a:uLnTx/>
                <a:uFillTx/>
                <a:latin typeface="Montserrat" panose="02000505000000020004" pitchFamily="2" charset="0"/>
                <a:ea typeface="+mn-ea"/>
                <a:cs typeface="+mn-cs"/>
              </a:rPr>
              <a:t>Grainger Plc  |  www.graingerplc.co.uk    |   Board Update   |    February 2019</a:t>
            </a:r>
          </a:p>
        </p:txBody>
      </p:sp>
      <p:graphicFrame>
        <p:nvGraphicFramePr>
          <p:cNvPr id="22" name="Table 21">
            <a:extLst>
              <a:ext uri="{FF2B5EF4-FFF2-40B4-BE49-F238E27FC236}">
                <a16:creationId xmlns:a16="http://schemas.microsoft.com/office/drawing/2014/main" id="{FEC783C2-BFAC-4A85-BC42-C1D4B1245D66}"/>
              </a:ext>
            </a:extLst>
          </p:cNvPr>
          <p:cNvGraphicFramePr>
            <a:graphicFrameLocks noGrp="1"/>
          </p:cNvGraphicFramePr>
          <p:nvPr/>
        </p:nvGraphicFramePr>
        <p:xfrm>
          <a:off x="343949" y="1357880"/>
          <a:ext cx="8472882" cy="4988880"/>
        </p:xfrm>
        <a:graphic>
          <a:graphicData uri="http://schemas.openxmlformats.org/drawingml/2006/table">
            <a:tbl>
              <a:tblPr firstRow="1">
                <a:tableStyleId>{5C22544A-7EE6-4342-B048-85BDC9FD1C3A}</a:tableStyleId>
              </a:tblPr>
              <a:tblGrid>
                <a:gridCol w="2335751">
                  <a:extLst>
                    <a:ext uri="{9D8B030D-6E8A-4147-A177-3AD203B41FA5}">
                      <a16:colId xmlns:a16="http://schemas.microsoft.com/office/drawing/2014/main" val="2779722427"/>
                    </a:ext>
                  </a:extLst>
                </a:gridCol>
                <a:gridCol w="1238250">
                  <a:extLst>
                    <a:ext uri="{9D8B030D-6E8A-4147-A177-3AD203B41FA5}">
                      <a16:colId xmlns:a16="http://schemas.microsoft.com/office/drawing/2014/main" val="3006840810"/>
                    </a:ext>
                  </a:extLst>
                </a:gridCol>
                <a:gridCol w="4898881">
                  <a:extLst>
                    <a:ext uri="{9D8B030D-6E8A-4147-A177-3AD203B41FA5}">
                      <a16:colId xmlns:a16="http://schemas.microsoft.com/office/drawing/2014/main" val="3619650766"/>
                    </a:ext>
                  </a:extLst>
                </a:gridCol>
              </a:tblGrid>
              <a:tr h="234875">
                <a:tc>
                  <a:txBody>
                    <a:bodyPr/>
                    <a:lstStyle/>
                    <a:p>
                      <a:r>
                        <a:rPr lang="en-GB" sz="1200" dirty="0">
                          <a:latin typeface="+mj-lt"/>
                        </a:rPr>
                        <a:t>Solution</a:t>
                      </a:r>
                    </a:p>
                  </a:txBody>
                  <a:tcP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4D858D"/>
                    </a:solidFill>
                  </a:tcPr>
                </a:tc>
                <a:tc>
                  <a:txBody>
                    <a:bodyPr/>
                    <a:lstStyle/>
                    <a:p>
                      <a:r>
                        <a:rPr lang="en-GB" sz="1200" dirty="0">
                          <a:latin typeface="+mj-lt"/>
                        </a:rPr>
                        <a:t>Supplier</a:t>
                      </a:r>
                    </a:p>
                  </a:txBody>
                  <a:tcP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4D858D"/>
                    </a:solidFill>
                  </a:tcPr>
                </a:tc>
                <a:tc>
                  <a:txBody>
                    <a:bodyPr/>
                    <a:lstStyle/>
                    <a:p>
                      <a:r>
                        <a:rPr lang="en-GB" sz="1200" dirty="0">
                          <a:latin typeface="+mj-lt"/>
                        </a:rPr>
                        <a:t>Comments</a:t>
                      </a:r>
                    </a:p>
                  </a:txBody>
                  <a:tcP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4D858D"/>
                    </a:solidFill>
                  </a:tcPr>
                </a:tc>
                <a:extLst>
                  <a:ext uri="{0D108BD9-81ED-4DB2-BD59-A6C34878D82A}">
                    <a16:rowId xmlns:a16="http://schemas.microsoft.com/office/drawing/2014/main" val="220999632"/>
                  </a:ext>
                </a:extLst>
              </a:tr>
              <a:tr h="392880">
                <a:tc>
                  <a:txBody>
                    <a:bodyPr/>
                    <a:lstStyle/>
                    <a:p>
                      <a:pPr marL="0" marR="0" lvl="0" indent="0" algn="l" defTabSz="457200" rtl="0" eaLnBrk="1" fontAlgn="auto" latinLnBrk="0" hangingPunct="1">
                        <a:lnSpc>
                          <a:spcPct val="100000"/>
                        </a:lnSpc>
                        <a:spcBef>
                          <a:spcPts val="0"/>
                        </a:spcBef>
                        <a:spcAft>
                          <a:spcPts val="0"/>
                        </a:spcAft>
                        <a:buClr>
                          <a:srgbClr val="4D858D"/>
                        </a:buClr>
                        <a:buSzTx/>
                        <a:buFontTx/>
                        <a:buNone/>
                        <a:tabLst/>
                        <a:defRPr/>
                      </a:pPr>
                      <a:r>
                        <a:rPr kumimoji="0" lang="en-GB" sz="1100" b="0" i="0" u="none" strike="noStrike" kern="1200" cap="none" spc="-60" normalizeH="0" baseline="0" noProof="0" dirty="0">
                          <a:ln>
                            <a:noFill/>
                          </a:ln>
                          <a:solidFill>
                            <a:schemeClr val="accent2"/>
                          </a:solidFill>
                          <a:effectLst/>
                          <a:uLnTx/>
                          <a:uFillTx/>
                          <a:latin typeface="+mj-lt"/>
                          <a:ea typeface="+mn-ea"/>
                          <a:cs typeface="+mn-cs"/>
                        </a:rPr>
                        <a:t>Core ERP and Financial Operations</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endParaRPr lang="en-GB" dirty="0"/>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r>
                        <a:rPr lang="en-GB" sz="1000" dirty="0"/>
                        <a:t>MRI is a comprehensive and flexible platform able to support every aspect of real estate management. Grainger is a pioneer adopting MRI in the UK</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312619172"/>
                  </a:ext>
                </a:extLst>
              </a:tr>
              <a:tr h="392880">
                <a:tc>
                  <a:txBody>
                    <a:bodyPr/>
                    <a:lstStyle/>
                    <a:p>
                      <a:pPr marL="0" marR="0" lvl="0" indent="0" algn="l" defTabSz="457200" rtl="0" eaLnBrk="1" fontAlgn="auto" latinLnBrk="0" hangingPunct="1">
                        <a:lnSpc>
                          <a:spcPct val="100000"/>
                        </a:lnSpc>
                        <a:spcBef>
                          <a:spcPts val="0"/>
                        </a:spcBef>
                        <a:spcAft>
                          <a:spcPts val="0"/>
                        </a:spcAft>
                        <a:buClr>
                          <a:srgbClr val="4D858D"/>
                        </a:buClr>
                        <a:buSzTx/>
                        <a:buFontTx/>
                        <a:buNone/>
                        <a:tabLst/>
                        <a:defRPr/>
                      </a:pPr>
                      <a:r>
                        <a:rPr kumimoji="0" lang="en-GB" sz="1100" b="0" i="0" u="none" strike="noStrike" kern="1200" cap="none" spc="-60" normalizeH="0" baseline="0" noProof="0" dirty="0">
                          <a:ln>
                            <a:noFill/>
                          </a:ln>
                          <a:solidFill>
                            <a:schemeClr val="accent2"/>
                          </a:solidFill>
                          <a:effectLst/>
                          <a:uLnTx/>
                          <a:uFillTx/>
                          <a:latin typeface="+mj-lt"/>
                          <a:ea typeface="+mn-ea"/>
                          <a:cs typeface="+mn-cs"/>
                        </a:rPr>
                        <a:t>Property and Supplier</a:t>
                      </a:r>
                      <a:br>
                        <a:rPr kumimoji="0" lang="en-GB" sz="1100" b="0" i="0" u="none" strike="noStrike" kern="1200" cap="none" spc="-60" normalizeH="0" baseline="0" noProof="0" dirty="0">
                          <a:ln>
                            <a:noFill/>
                          </a:ln>
                          <a:solidFill>
                            <a:schemeClr val="accent2"/>
                          </a:solidFill>
                          <a:effectLst/>
                          <a:uLnTx/>
                          <a:uFillTx/>
                          <a:latin typeface="+mj-lt"/>
                          <a:ea typeface="+mn-ea"/>
                          <a:cs typeface="+mn-cs"/>
                        </a:rPr>
                      </a:br>
                      <a:r>
                        <a:rPr kumimoji="0" lang="en-GB" sz="1100" b="0" i="0" u="none" strike="noStrike" kern="1200" cap="none" spc="-60" normalizeH="0" baseline="0" noProof="0" dirty="0">
                          <a:ln>
                            <a:noFill/>
                          </a:ln>
                          <a:solidFill>
                            <a:schemeClr val="accent2"/>
                          </a:solidFill>
                          <a:effectLst/>
                          <a:uLnTx/>
                          <a:uFillTx/>
                          <a:latin typeface="+mj-lt"/>
                          <a:ea typeface="+mn-ea"/>
                          <a:cs typeface="+mn-cs"/>
                        </a:rPr>
                        <a:t>Management</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endParaRPr lang="en-GB" dirty="0"/>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r>
                        <a:rPr lang="en-GB" sz="1000" dirty="0"/>
                        <a:t>FSI Concept Evolution connects our customers and our suppliers for repairs. It replaces and improves on the </a:t>
                      </a:r>
                      <a:r>
                        <a:rPr lang="en-GB" sz="1000" dirty="0" err="1"/>
                        <a:t>CORAS</a:t>
                      </a:r>
                      <a:r>
                        <a:rPr lang="en-GB" sz="1000" dirty="0"/>
                        <a:t> HSE solution.</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2752388259"/>
                  </a:ext>
                </a:extLst>
              </a:tr>
              <a:tr h="392880">
                <a:tc>
                  <a:txBody>
                    <a:bodyPr/>
                    <a:lstStyle/>
                    <a:p>
                      <a:pPr marL="0" marR="0" lvl="0" indent="0" algn="l" defTabSz="457200" rtl="0" eaLnBrk="1" fontAlgn="auto" latinLnBrk="0" hangingPunct="1">
                        <a:lnSpc>
                          <a:spcPct val="100000"/>
                        </a:lnSpc>
                        <a:spcBef>
                          <a:spcPts val="0"/>
                        </a:spcBef>
                        <a:spcAft>
                          <a:spcPts val="0"/>
                        </a:spcAft>
                        <a:buClr>
                          <a:srgbClr val="4D858D"/>
                        </a:buClr>
                        <a:buSzTx/>
                        <a:buFontTx/>
                        <a:buNone/>
                        <a:tabLst/>
                        <a:defRPr/>
                      </a:pPr>
                      <a:r>
                        <a:rPr kumimoji="0" lang="en-GB" sz="1100" b="0" i="0" u="none" strike="noStrike" kern="1200" cap="none" spc="-60" normalizeH="0" baseline="0" noProof="0" dirty="0">
                          <a:ln>
                            <a:noFill/>
                          </a:ln>
                          <a:solidFill>
                            <a:schemeClr val="accent2"/>
                          </a:solidFill>
                          <a:effectLst/>
                          <a:uLnTx/>
                          <a:uFillTx/>
                          <a:latin typeface="+mj-lt"/>
                          <a:ea typeface="+mn-ea"/>
                          <a:cs typeface="+mn-cs"/>
                        </a:rPr>
                        <a:t>Purchase to Pay</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endParaRPr lang="en-GB" dirty="0"/>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r>
                        <a:rPr lang="en-GB" sz="1000" dirty="0"/>
                        <a:t>ProActis is a step change in how Grainger processes supplier invoices, providing strong controls and minimal human intervention</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86010717"/>
                  </a:ext>
                </a:extLst>
              </a:tr>
              <a:tr h="392880">
                <a:tc>
                  <a:txBody>
                    <a:bodyPr/>
                    <a:lstStyle/>
                    <a:p>
                      <a:pPr marL="0" marR="0" lvl="0" indent="0" algn="l" defTabSz="457200" rtl="0" eaLnBrk="1" fontAlgn="auto" latinLnBrk="0" hangingPunct="1">
                        <a:lnSpc>
                          <a:spcPct val="100000"/>
                        </a:lnSpc>
                        <a:spcBef>
                          <a:spcPts val="0"/>
                        </a:spcBef>
                        <a:spcAft>
                          <a:spcPts val="0"/>
                        </a:spcAft>
                        <a:buClr>
                          <a:srgbClr val="4D858D"/>
                        </a:buClr>
                        <a:buSzTx/>
                        <a:buFontTx/>
                        <a:buNone/>
                        <a:tabLst/>
                        <a:defRPr/>
                      </a:pPr>
                      <a:r>
                        <a:rPr kumimoji="0" lang="en-GB" sz="1100" b="0" i="0" u="none" strike="noStrike" kern="1200" cap="none" spc="-60" normalizeH="0" baseline="0" noProof="0" dirty="0">
                          <a:ln>
                            <a:noFill/>
                          </a:ln>
                          <a:solidFill>
                            <a:schemeClr val="accent2"/>
                          </a:solidFill>
                          <a:effectLst/>
                          <a:uLnTx/>
                          <a:uFillTx/>
                          <a:latin typeface="+mj-lt"/>
                          <a:ea typeface="+mn-ea"/>
                          <a:cs typeface="+mn-cs"/>
                        </a:rPr>
                        <a:t>Customer Relationship / Online Leasing Journey</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EEF5F5"/>
                    </a:solidFill>
                  </a:tcPr>
                </a:tc>
                <a:tc>
                  <a:txBody>
                    <a:bodyPr/>
                    <a:lstStyle/>
                    <a:p>
                      <a:endParaRPr lang="en-GB" dirty="0"/>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EEF5F5"/>
                    </a:solidFill>
                  </a:tcPr>
                </a:tc>
                <a:tc>
                  <a:txBody>
                    <a:bodyPr/>
                    <a:lstStyle/>
                    <a:p>
                      <a:r>
                        <a:rPr lang="en-GB" sz="1000" dirty="0"/>
                        <a:t>Salesforce is the world’s leading customer relationship management solution. It provides a single view of our customers and prospects</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EEF5F5"/>
                    </a:solidFill>
                  </a:tcPr>
                </a:tc>
                <a:extLst>
                  <a:ext uri="{0D108BD9-81ED-4DB2-BD59-A6C34878D82A}">
                    <a16:rowId xmlns:a16="http://schemas.microsoft.com/office/drawing/2014/main" val="3648367981"/>
                  </a:ext>
                </a:extLst>
              </a:tr>
              <a:tr h="3928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60" normalizeH="0" baseline="0" noProof="0" dirty="0">
                          <a:ln>
                            <a:noFill/>
                          </a:ln>
                          <a:solidFill>
                            <a:schemeClr val="accent2"/>
                          </a:solidFill>
                          <a:effectLst/>
                          <a:uLnTx/>
                          <a:uFillTx/>
                          <a:latin typeface="+mj-lt"/>
                          <a:ea typeface="+mn-ea"/>
                          <a:cs typeface="+mn-cs"/>
                        </a:rPr>
                        <a:t>Customer Portal</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endParaRPr lang="en-GB" dirty="0"/>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kern="1200" noProof="0" dirty="0">
                          <a:solidFill>
                            <a:schemeClr val="dk1"/>
                          </a:solidFill>
                          <a:latin typeface="+mn-lt"/>
                          <a:ea typeface="+mn-ea"/>
                          <a:cs typeface="+mn-cs"/>
                        </a:rPr>
                        <a:t>AND Digital is building the digital interfaces through which the customer interacts with Grainger: the leasing portal and the MyGrainger portal</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3498280110"/>
                  </a:ext>
                </a:extLst>
              </a:tr>
              <a:tr h="3928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60" normalizeH="0" baseline="0" noProof="0" dirty="0">
                          <a:ln>
                            <a:noFill/>
                          </a:ln>
                          <a:solidFill>
                            <a:schemeClr val="accent2"/>
                          </a:solidFill>
                          <a:effectLst/>
                          <a:uLnTx/>
                          <a:uFillTx/>
                          <a:latin typeface="+mj-lt"/>
                          <a:ea typeface="+mn-ea"/>
                          <a:cs typeface="+mn-cs"/>
                        </a:rPr>
                        <a:t>Payments</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endParaRPr lang="en-GB" dirty="0"/>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kern="1200" noProof="0" dirty="0" err="1">
                          <a:solidFill>
                            <a:schemeClr val="dk1"/>
                          </a:solidFill>
                          <a:latin typeface="+mn-lt"/>
                          <a:ea typeface="+mn-ea"/>
                          <a:cs typeface="+mn-cs"/>
                        </a:rPr>
                        <a:t>Asperato</a:t>
                      </a:r>
                      <a:r>
                        <a:rPr lang="en-GB" sz="1000" kern="1200" noProof="0" dirty="0">
                          <a:solidFill>
                            <a:schemeClr val="dk1"/>
                          </a:solidFill>
                          <a:latin typeface="+mn-lt"/>
                          <a:ea typeface="+mn-ea"/>
                          <a:cs typeface="+mn-cs"/>
                        </a:rPr>
                        <a:t> is a leading customer payments solution for Direct Debit and Card. It is integrated with Salesforce and PCI compliant.</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266045164"/>
                  </a:ext>
                </a:extLst>
              </a:tr>
              <a:tr h="3928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60" normalizeH="0" baseline="0" noProof="0" dirty="0">
                          <a:ln>
                            <a:noFill/>
                          </a:ln>
                          <a:solidFill>
                            <a:schemeClr val="accent2"/>
                          </a:solidFill>
                          <a:effectLst/>
                          <a:uLnTx/>
                          <a:uFillTx/>
                          <a:latin typeface="+mj-lt"/>
                          <a:ea typeface="+mn-ea"/>
                          <a:cs typeface="+mn-cs"/>
                        </a:rPr>
                        <a:t>Document Management</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endParaRPr lang="en-GB" dirty="0"/>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kern="1200" noProof="0" dirty="0">
                          <a:solidFill>
                            <a:schemeClr val="dk1"/>
                          </a:solidFill>
                          <a:latin typeface="+mn-lt"/>
                          <a:ea typeface="+mn-ea"/>
                          <a:cs typeface="+mn-cs"/>
                        </a:rPr>
                        <a:t>We are upgrading our Document Management solution to better capture and tag documents across the entire Connect platform.</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3026660765"/>
                  </a:ext>
                </a:extLst>
              </a:tr>
              <a:tr h="3928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60" normalizeH="0" baseline="0" noProof="0" dirty="0">
                          <a:ln>
                            <a:noFill/>
                          </a:ln>
                          <a:solidFill>
                            <a:schemeClr val="accent2"/>
                          </a:solidFill>
                          <a:effectLst/>
                          <a:uLnTx/>
                          <a:uFillTx/>
                          <a:latin typeface="+mj-lt"/>
                          <a:ea typeface="+mn-ea"/>
                          <a:cs typeface="+mn-cs"/>
                        </a:rPr>
                        <a:t>Revenue Optimisation</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endParaRPr lang="en-GB" dirty="0"/>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kern="1200" noProof="0" dirty="0">
                          <a:solidFill>
                            <a:schemeClr val="dk1"/>
                          </a:solidFill>
                          <a:latin typeface="+mn-lt"/>
                          <a:ea typeface="+mn-ea"/>
                          <a:cs typeface="+mn-cs"/>
                        </a:rPr>
                        <a:t>Grainger is a pioneer in the UK market adopting YieldStar to optimise rent occupancy rates and pricing, based on real time data.</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3493926654"/>
                  </a:ext>
                </a:extLst>
              </a:tr>
              <a:tr h="3928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60" normalizeH="0" baseline="0" noProof="0" dirty="0">
                          <a:ln>
                            <a:noFill/>
                          </a:ln>
                          <a:solidFill>
                            <a:schemeClr val="accent2"/>
                          </a:solidFill>
                          <a:effectLst/>
                          <a:uLnTx/>
                          <a:uFillTx/>
                          <a:latin typeface="+mj-lt"/>
                          <a:ea typeface="+mn-ea"/>
                          <a:cs typeface="+mn-cs"/>
                        </a:rPr>
                        <a:t>Financial Planning</a:t>
                      </a:r>
                      <a:br>
                        <a:rPr kumimoji="0" lang="en-GB" sz="1100" b="0" i="0" u="none" strike="noStrike" kern="1200" cap="none" spc="-60" normalizeH="0" baseline="0" noProof="0" dirty="0">
                          <a:ln>
                            <a:noFill/>
                          </a:ln>
                          <a:solidFill>
                            <a:schemeClr val="accent2"/>
                          </a:solidFill>
                          <a:effectLst/>
                          <a:uLnTx/>
                          <a:uFillTx/>
                          <a:latin typeface="+mj-lt"/>
                          <a:ea typeface="+mn-ea"/>
                          <a:cs typeface="+mn-cs"/>
                        </a:rPr>
                      </a:br>
                      <a:r>
                        <a:rPr kumimoji="0" lang="en-GB" sz="1100" b="0" i="0" u="none" strike="noStrike" kern="1200" cap="none" spc="-60" normalizeH="0" baseline="0" noProof="0" dirty="0">
                          <a:ln>
                            <a:noFill/>
                          </a:ln>
                          <a:solidFill>
                            <a:schemeClr val="accent2"/>
                          </a:solidFill>
                          <a:effectLst/>
                          <a:uLnTx/>
                          <a:uFillTx/>
                          <a:latin typeface="+mj-lt"/>
                          <a:ea typeface="+mn-ea"/>
                          <a:cs typeface="+mn-cs"/>
                        </a:rPr>
                        <a:t>&amp; Analysis</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endParaRPr lang="en-GB" dirty="0"/>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kern="1200" noProof="0" dirty="0">
                          <a:solidFill>
                            <a:schemeClr val="dk1"/>
                          </a:solidFill>
                          <a:latin typeface="+mn-lt"/>
                          <a:ea typeface="+mn-ea"/>
                          <a:cs typeface="+mn-cs"/>
                        </a:rPr>
                        <a:t>As a unified Platform for Corporate Performance Management, OneStream will generate consolidated reports automatically integrated with Connect</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4226706462"/>
                  </a:ext>
                </a:extLst>
              </a:tr>
              <a:tr h="3928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60" normalizeH="0" baseline="0" noProof="0" dirty="0">
                          <a:ln>
                            <a:noFill/>
                          </a:ln>
                          <a:solidFill>
                            <a:schemeClr val="accent2"/>
                          </a:solidFill>
                          <a:effectLst/>
                          <a:uLnTx/>
                          <a:uFillTx/>
                          <a:latin typeface="+mj-lt"/>
                          <a:ea typeface="+mn-ea"/>
                          <a:cs typeface="+mn-cs"/>
                        </a:rPr>
                        <a:t>Business Intelligence</a:t>
                      </a:r>
                      <a:br>
                        <a:rPr kumimoji="0" lang="en-GB" sz="1100" b="0" i="0" u="none" strike="noStrike" kern="1200" cap="none" spc="-60" normalizeH="0" baseline="0" noProof="0" dirty="0">
                          <a:ln>
                            <a:noFill/>
                          </a:ln>
                          <a:solidFill>
                            <a:schemeClr val="accent2"/>
                          </a:solidFill>
                          <a:effectLst/>
                          <a:uLnTx/>
                          <a:uFillTx/>
                          <a:latin typeface="+mj-lt"/>
                          <a:ea typeface="+mn-ea"/>
                          <a:cs typeface="+mn-cs"/>
                        </a:rPr>
                      </a:br>
                      <a:r>
                        <a:rPr kumimoji="0" lang="en-GB" sz="1100" b="0" i="0" u="none" strike="noStrike" kern="1200" cap="none" spc="-60" normalizeH="0" baseline="0" noProof="0" dirty="0">
                          <a:ln>
                            <a:noFill/>
                          </a:ln>
                          <a:solidFill>
                            <a:schemeClr val="accent2"/>
                          </a:solidFill>
                          <a:effectLst/>
                          <a:uLnTx/>
                          <a:uFillTx/>
                          <a:latin typeface="+mj-lt"/>
                          <a:ea typeface="+mn-ea"/>
                          <a:cs typeface="+mn-cs"/>
                        </a:rPr>
                        <a:t>&amp; Analytics</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endParaRPr lang="en-GB" dirty="0"/>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kern="1200" noProof="0" dirty="0">
                          <a:solidFill>
                            <a:schemeClr val="dk1"/>
                          </a:solidFill>
                          <a:latin typeface="+mn-lt"/>
                          <a:ea typeface="+mn-ea"/>
                          <a:cs typeface="+mn-cs"/>
                        </a:rPr>
                        <a:t>Our new Data Warehouse follows a industry best practice and will set the basis to drive customer insight in the long term </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93767659"/>
                  </a:ext>
                </a:extLst>
              </a:tr>
              <a:tr h="3928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60" normalizeH="0" baseline="0" noProof="0" dirty="0">
                          <a:ln>
                            <a:noFill/>
                          </a:ln>
                          <a:solidFill>
                            <a:schemeClr val="accent2"/>
                          </a:solidFill>
                          <a:effectLst/>
                          <a:uLnTx/>
                          <a:uFillTx/>
                          <a:latin typeface="+mj-lt"/>
                          <a:ea typeface="+mn-ea"/>
                          <a:cs typeface="+mn-cs"/>
                        </a:rPr>
                        <a:t>Transactional Communications</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endParaRPr lang="en-GB" dirty="0"/>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kern="1200" noProof="0" dirty="0">
                          <a:solidFill>
                            <a:schemeClr val="dk1"/>
                          </a:solidFill>
                          <a:latin typeface="+mn-lt"/>
                          <a:ea typeface="+mn-ea"/>
                          <a:cs typeface="+mn-cs"/>
                        </a:rPr>
                        <a:t>Our transactional communications will be managed by best-in-class tools in a way that is consistent to the customer and efficient for Grainger.</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225970606"/>
                  </a:ext>
                </a:extLst>
              </a:tr>
              <a:tr h="3928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60" normalizeH="0" baseline="0" noProof="0" dirty="0">
                          <a:ln>
                            <a:noFill/>
                          </a:ln>
                          <a:solidFill>
                            <a:schemeClr val="accent2"/>
                          </a:solidFill>
                          <a:effectLst/>
                          <a:uLnTx/>
                          <a:uFillTx/>
                          <a:latin typeface="+mj-lt"/>
                          <a:ea typeface="+mn-ea"/>
                          <a:cs typeface="+mn-cs"/>
                        </a:rPr>
                        <a:t>System Integration</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endParaRPr lang="en-GB" dirty="0"/>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kern="1200" noProof="0" dirty="0">
                          <a:solidFill>
                            <a:schemeClr val="dk1"/>
                          </a:solidFill>
                          <a:latin typeface="+mn-lt"/>
                          <a:ea typeface="+mn-ea"/>
                          <a:cs typeface="+mn-cs"/>
                        </a:rPr>
                        <a:t>Our integration layer future-proofs the Connect platform, by allowing the upgrade, removal or addition of technology components</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3177792761"/>
                  </a:ext>
                </a:extLst>
              </a:tr>
            </a:tbl>
          </a:graphicData>
        </a:graphic>
      </p:graphicFrame>
      <p:grpSp>
        <p:nvGrpSpPr>
          <p:cNvPr id="23" name="Group 22">
            <a:extLst>
              <a:ext uri="{FF2B5EF4-FFF2-40B4-BE49-F238E27FC236}">
                <a16:creationId xmlns:a16="http://schemas.microsoft.com/office/drawing/2014/main" id="{BB0166BB-674C-4DFC-A575-87B6D5BB48C3}"/>
              </a:ext>
            </a:extLst>
          </p:cNvPr>
          <p:cNvGrpSpPr/>
          <p:nvPr/>
        </p:nvGrpSpPr>
        <p:grpSpPr>
          <a:xfrm>
            <a:off x="367603" y="2423022"/>
            <a:ext cx="362504" cy="381140"/>
            <a:chOff x="358772" y="3729340"/>
            <a:chExt cx="670921" cy="705411"/>
          </a:xfrm>
        </p:grpSpPr>
        <p:sp>
          <p:nvSpPr>
            <p:cNvPr id="24" name="Freeform 35">
              <a:extLst>
                <a:ext uri="{FF2B5EF4-FFF2-40B4-BE49-F238E27FC236}">
                  <a16:creationId xmlns:a16="http://schemas.microsoft.com/office/drawing/2014/main" id="{96215F5A-A5D1-4F41-8A61-203AEB099DFF}"/>
                </a:ext>
              </a:extLst>
            </p:cNvPr>
            <p:cNvSpPr>
              <a:spLocks/>
            </p:cNvSpPr>
            <p:nvPr/>
          </p:nvSpPr>
          <p:spPr bwMode="auto">
            <a:xfrm>
              <a:off x="358772" y="3729340"/>
              <a:ext cx="670921" cy="705411"/>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dirty="0">
                <a:ln>
                  <a:noFill/>
                </a:ln>
                <a:solidFill>
                  <a:prstClr val="white"/>
                </a:solidFill>
                <a:effectLst/>
                <a:uLnTx/>
                <a:uFillTx/>
                <a:latin typeface="Montserrat" panose="02000505000000020004" pitchFamily="2" charset="0"/>
                <a:ea typeface="+mn-ea"/>
                <a:cs typeface="+mn-cs"/>
              </a:endParaRPr>
            </a:p>
          </p:txBody>
        </p:sp>
        <p:pic>
          <p:nvPicPr>
            <p:cNvPr id="25" name="Graphic 24" descr="Contract">
              <a:extLst>
                <a:ext uri="{FF2B5EF4-FFF2-40B4-BE49-F238E27FC236}">
                  <a16:creationId xmlns:a16="http://schemas.microsoft.com/office/drawing/2014/main" id="{CAEC1E8C-E8FA-4F8D-A8FE-A9EAFC7D666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4177" y="3806117"/>
              <a:ext cx="400110" cy="400110"/>
            </a:xfrm>
            <a:prstGeom prst="rect">
              <a:avLst/>
            </a:prstGeom>
          </p:spPr>
        </p:pic>
      </p:grpSp>
      <p:grpSp>
        <p:nvGrpSpPr>
          <p:cNvPr id="26" name="Group 25">
            <a:extLst>
              <a:ext uri="{FF2B5EF4-FFF2-40B4-BE49-F238E27FC236}">
                <a16:creationId xmlns:a16="http://schemas.microsoft.com/office/drawing/2014/main" id="{F847A1A8-93EF-4DD6-8802-DA3DD50F0A56}"/>
              </a:ext>
            </a:extLst>
          </p:cNvPr>
          <p:cNvGrpSpPr/>
          <p:nvPr/>
        </p:nvGrpSpPr>
        <p:grpSpPr>
          <a:xfrm>
            <a:off x="367603" y="2816026"/>
            <a:ext cx="362504" cy="381140"/>
            <a:chOff x="358772" y="3009752"/>
            <a:chExt cx="670921" cy="705411"/>
          </a:xfrm>
        </p:grpSpPr>
        <p:sp>
          <p:nvSpPr>
            <p:cNvPr id="27" name="Freeform 35">
              <a:extLst>
                <a:ext uri="{FF2B5EF4-FFF2-40B4-BE49-F238E27FC236}">
                  <a16:creationId xmlns:a16="http://schemas.microsoft.com/office/drawing/2014/main" id="{D771C9AC-ED44-4721-86D1-58E3F55A74C3}"/>
                </a:ext>
              </a:extLst>
            </p:cNvPr>
            <p:cNvSpPr>
              <a:spLocks/>
            </p:cNvSpPr>
            <p:nvPr/>
          </p:nvSpPr>
          <p:spPr bwMode="auto">
            <a:xfrm>
              <a:off x="358772" y="3009752"/>
              <a:ext cx="670921" cy="705411"/>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dirty="0">
                <a:ln>
                  <a:noFill/>
                </a:ln>
                <a:solidFill>
                  <a:prstClr val="white"/>
                </a:solidFill>
                <a:effectLst/>
                <a:uLnTx/>
                <a:uFillTx/>
                <a:latin typeface="Montserrat" panose="02000505000000020004" pitchFamily="2" charset="0"/>
                <a:ea typeface="+mn-ea"/>
                <a:cs typeface="+mn-cs"/>
              </a:endParaRPr>
            </a:p>
          </p:txBody>
        </p:sp>
        <p:pic>
          <p:nvPicPr>
            <p:cNvPr id="28" name="Graphic 27" descr="Call center">
              <a:extLst>
                <a:ext uri="{FF2B5EF4-FFF2-40B4-BE49-F238E27FC236}">
                  <a16:creationId xmlns:a16="http://schemas.microsoft.com/office/drawing/2014/main" id="{ADF52DD6-9323-4A03-9E5B-002FA301E70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4177" y="3070019"/>
              <a:ext cx="400110" cy="400110"/>
            </a:xfrm>
            <a:prstGeom prst="rect">
              <a:avLst/>
            </a:prstGeom>
          </p:spPr>
        </p:pic>
      </p:grpSp>
      <p:grpSp>
        <p:nvGrpSpPr>
          <p:cNvPr id="29" name="Group 28">
            <a:extLst>
              <a:ext uri="{FF2B5EF4-FFF2-40B4-BE49-F238E27FC236}">
                <a16:creationId xmlns:a16="http://schemas.microsoft.com/office/drawing/2014/main" id="{2075B95A-65D5-4246-9619-84247A6F69DF}"/>
              </a:ext>
            </a:extLst>
          </p:cNvPr>
          <p:cNvGrpSpPr/>
          <p:nvPr/>
        </p:nvGrpSpPr>
        <p:grpSpPr>
          <a:xfrm>
            <a:off x="367603" y="4388042"/>
            <a:ext cx="362504" cy="381140"/>
            <a:chOff x="358772" y="4452126"/>
            <a:chExt cx="670921" cy="705411"/>
          </a:xfrm>
        </p:grpSpPr>
        <p:sp>
          <p:nvSpPr>
            <p:cNvPr id="30" name="Freeform 35">
              <a:extLst>
                <a:ext uri="{FF2B5EF4-FFF2-40B4-BE49-F238E27FC236}">
                  <a16:creationId xmlns:a16="http://schemas.microsoft.com/office/drawing/2014/main" id="{FD970E0B-F692-4334-85D6-B0ABA57D3173}"/>
                </a:ext>
              </a:extLst>
            </p:cNvPr>
            <p:cNvSpPr>
              <a:spLocks/>
            </p:cNvSpPr>
            <p:nvPr/>
          </p:nvSpPr>
          <p:spPr bwMode="auto">
            <a:xfrm>
              <a:off x="358772" y="4452126"/>
              <a:ext cx="670921" cy="705411"/>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dirty="0">
                <a:ln>
                  <a:noFill/>
                </a:ln>
                <a:solidFill>
                  <a:prstClr val="white"/>
                </a:solidFill>
                <a:effectLst/>
                <a:uLnTx/>
                <a:uFillTx/>
                <a:latin typeface="Montserrat" panose="02000505000000020004" pitchFamily="2" charset="0"/>
                <a:ea typeface="+mn-ea"/>
                <a:cs typeface="+mn-cs"/>
              </a:endParaRPr>
            </a:p>
          </p:txBody>
        </p:sp>
        <p:pic>
          <p:nvPicPr>
            <p:cNvPr id="31" name="Graphic 30" descr="Upward trend">
              <a:extLst>
                <a:ext uri="{FF2B5EF4-FFF2-40B4-BE49-F238E27FC236}">
                  <a16:creationId xmlns:a16="http://schemas.microsoft.com/office/drawing/2014/main" id="{E7502F8A-AF09-4697-ABC6-CA1A5F370D0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94177" y="4537489"/>
              <a:ext cx="400110" cy="400110"/>
            </a:xfrm>
            <a:prstGeom prst="rect">
              <a:avLst/>
            </a:prstGeom>
          </p:spPr>
        </p:pic>
      </p:grpSp>
      <p:grpSp>
        <p:nvGrpSpPr>
          <p:cNvPr id="32" name="Group 31">
            <a:extLst>
              <a:ext uri="{FF2B5EF4-FFF2-40B4-BE49-F238E27FC236}">
                <a16:creationId xmlns:a16="http://schemas.microsoft.com/office/drawing/2014/main" id="{740BAEFA-3D68-43CB-B435-24E7A678A0B8}"/>
              </a:ext>
            </a:extLst>
          </p:cNvPr>
          <p:cNvGrpSpPr/>
          <p:nvPr/>
        </p:nvGrpSpPr>
        <p:grpSpPr>
          <a:xfrm>
            <a:off x="367603" y="3201079"/>
            <a:ext cx="362504" cy="381140"/>
            <a:chOff x="358775" y="5173219"/>
            <a:chExt cx="670921" cy="705411"/>
          </a:xfrm>
        </p:grpSpPr>
        <p:sp>
          <p:nvSpPr>
            <p:cNvPr id="33" name="Freeform 35">
              <a:extLst>
                <a:ext uri="{FF2B5EF4-FFF2-40B4-BE49-F238E27FC236}">
                  <a16:creationId xmlns:a16="http://schemas.microsoft.com/office/drawing/2014/main" id="{9786EB0B-3801-46AA-B795-5C0CDDA80080}"/>
                </a:ext>
              </a:extLst>
            </p:cNvPr>
            <p:cNvSpPr>
              <a:spLocks/>
            </p:cNvSpPr>
            <p:nvPr/>
          </p:nvSpPr>
          <p:spPr bwMode="auto">
            <a:xfrm>
              <a:off x="358775" y="5173219"/>
              <a:ext cx="670921" cy="705411"/>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dirty="0">
                <a:ln>
                  <a:noFill/>
                </a:ln>
                <a:solidFill>
                  <a:prstClr val="white"/>
                </a:solidFill>
                <a:effectLst/>
                <a:uLnTx/>
                <a:uFillTx/>
                <a:latin typeface="Montserrat" panose="02000505000000020004" pitchFamily="2" charset="0"/>
                <a:ea typeface="+mn-ea"/>
                <a:cs typeface="+mn-cs"/>
              </a:endParaRPr>
            </a:p>
          </p:txBody>
        </p:sp>
        <p:pic>
          <p:nvPicPr>
            <p:cNvPr id="34" name="Graphic 33" descr="Computer">
              <a:extLst>
                <a:ext uri="{FF2B5EF4-FFF2-40B4-BE49-F238E27FC236}">
                  <a16:creationId xmlns:a16="http://schemas.microsoft.com/office/drawing/2014/main" id="{A4641DB6-300D-4710-A543-04A705AEB51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94177" y="5223202"/>
              <a:ext cx="400110" cy="400110"/>
            </a:xfrm>
            <a:prstGeom prst="rect">
              <a:avLst/>
            </a:prstGeom>
          </p:spPr>
        </p:pic>
      </p:grpSp>
      <p:grpSp>
        <p:nvGrpSpPr>
          <p:cNvPr id="35" name="Group 34">
            <a:extLst>
              <a:ext uri="{FF2B5EF4-FFF2-40B4-BE49-F238E27FC236}">
                <a16:creationId xmlns:a16="http://schemas.microsoft.com/office/drawing/2014/main" id="{94F2B55F-1401-447C-B724-9D8539FADEB3}"/>
              </a:ext>
            </a:extLst>
          </p:cNvPr>
          <p:cNvGrpSpPr/>
          <p:nvPr/>
        </p:nvGrpSpPr>
        <p:grpSpPr>
          <a:xfrm>
            <a:off x="367603" y="2030018"/>
            <a:ext cx="362504" cy="381140"/>
            <a:chOff x="4647541" y="3009752"/>
            <a:chExt cx="670921" cy="705411"/>
          </a:xfrm>
        </p:grpSpPr>
        <p:sp>
          <p:nvSpPr>
            <p:cNvPr id="36" name="Freeform 35">
              <a:extLst>
                <a:ext uri="{FF2B5EF4-FFF2-40B4-BE49-F238E27FC236}">
                  <a16:creationId xmlns:a16="http://schemas.microsoft.com/office/drawing/2014/main" id="{E1A87779-FFB3-4EF4-9E60-13F462E8077B}"/>
                </a:ext>
              </a:extLst>
            </p:cNvPr>
            <p:cNvSpPr>
              <a:spLocks/>
            </p:cNvSpPr>
            <p:nvPr/>
          </p:nvSpPr>
          <p:spPr bwMode="auto">
            <a:xfrm>
              <a:off x="4647541" y="3009752"/>
              <a:ext cx="670921" cy="705411"/>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dirty="0">
                <a:ln>
                  <a:noFill/>
                </a:ln>
                <a:solidFill>
                  <a:prstClr val="white"/>
                </a:solidFill>
                <a:effectLst/>
                <a:uLnTx/>
                <a:uFillTx/>
                <a:latin typeface="Montserrat" panose="02000505000000020004" pitchFamily="2" charset="0"/>
                <a:ea typeface="+mn-ea"/>
                <a:cs typeface="+mn-cs"/>
              </a:endParaRPr>
            </a:p>
          </p:txBody>
        </p:sp>
        <p:pic>
          <p:nvPicPr>
            <p:cNvPr id="37" name="Graphic 36" descr="Table">
              <a:extLst>
                <a:ext uri="{FF2B5EF4-FFF2-40B4-BE49-F238E27FC236}">
                  <a16:creationId xmlns:a16="http://schemas.microsoft.com/office/drawing/2014/main" id="{8149F4C2-408B-44F5-BE8B-0D6827A811F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782946" y="3072539"/>
              <a:ext cx="400110" cy="400110"/>
            </a:xfrm>
            <a:prstGeom prst="rect">
              <a:avLst/>
            </a:prstGeom>
          </p:spPr>
        </p:pic>
      </p:grpSp>
      <p:grpSp>
        <p:nvGrpSpPr>
          <p:cNvPr id="38" name="Group 37">
            <a:extLst>
              <a:ext uri="{FF2B5EF4-FFF2-40B4-BE49-F238E27FC236}">
                <a16:creationId xmlns:a16="http://schemas.microsoft.com/office/drawing/2014/main" id="{2ACD0516-8FBD-4197-9633-90FBF6116936}"/>
              </a:ext>
            </a:extLst>
          </p:cNvPr>
          <p:cNvGrpSpPr/>
          <p:nvPr/>
        </p:nvGrpSpPr>
        <p:grpSpPr>
          <a:xfrm>
            <a:off x="367603" y="1637014"/>
            <a:ext cx="362504" cy="381140"/>
            <a:chOff x="4647541" y="3729340"/>
            <a:chExt cx="670921" cy="705411"/>
          </a:xfrm>
        </p:grpSpPr>
        <p:sp>
          <p:nvSpPr>
            <p:cNvPr id="39" name="Freeform 35">
              <a:extLst>
                <a:ext uri="{FF2B5EF4-FFF2-40B4-BE49-F238E27FC236}">
                  <a16:creationId xmlns:a16="http://schemas.microsoft.com/office/drawing/2014/main" id="{902DB836-152A-4228-A07E-BC33B3A07DBB}"/>
                </a:ext>
              </a:extLst>
            </p:cNvPr>
            <p:cNvSpPr>
              <a:spLocks/>
            </p:cNvSpPr>
            <p:nvPr/>
          </p:nvSpPr>
          <p:spPr bwMode="auto">
            <a:xfrm>
              <a:off x="4647541" y="3729340"/>
              <a:ext cx="670921" cy="705411"/>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dirty="0">
                <a:ln>
                  <a:noFill/>
                </a:ln>
                <a:solidFill>
                  <a:prstClr val="white"/>
                </a:solidFill>
                <a:effectLst/>
                <a:uLnTx/>
                <a:uFillTx/>
                <a:latin typeface="Montserrat" panose="02000505000000020004" pitchFamily="2" charset="0"/>
                <a:ea typeface="+mn-ea"/>
                <a:cs typeface="+mn-cs"/>
              </a:endParaRPr>
            </a:p>
          </p:txBody>
        </p:sp>
        <p:pic>
          <p:nvPicPr>
            <p:cNvPr id="40" name="Graphic 39" descr="Employee badge">
              <a:extLst>
                <a:ext uri="{FF2B5EF4-FFF2-40B4-BE49-F238E27FC236}">
                  <a16:creationId xmlns:a16="http://schemas.microsoft.com/office/drawing/2014/main" id="{7BB83079-6E22-4E1B-8BED-272CBBAFE48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782946" y="3796597"/>
              <a:ext cx="400110" cy="400110"/>
            </a:xfrm>
            <a:prstGeom prst="rect">
              <a:avLst/>
            </a:prstGeom>
          </p:spPr>
        </p:pic>
      </p:grpSp>
      <p:grpSp>
        <p:nvGrpSpPr>
          <p:cNvPr id="41" name="Group 40">
            <a:extLst>
              <a:ext uri="{FF2B5EF4-FFF2-40B4-BE49-F238E27FC236}">
                <a16:creationId xmlns:a16="http://schemas.microsoft.com/office/drawing/2014/main" id="{C9CF02FA-54A1-469F-8BDC-B4E37ABB661F}"/>
              </a:ext>
            </a:extLst>
          </p:cNvPr>
          <p:cNvGrpSpPr/>
          <p:nvPr/>
        </p:nvGrpSpPr>
        <p:grpSpPr>
          <a:xfrm>
            <a:off x="367603" y="4781046"/>
            <a:ext cx="362504" cy="381140"/>
            <a:chOff x="4647541" y="4452126"/>
            <a:chExt cx="670921" cy="705411"/>
          </a:xfrm>
        </p:grpSpPr>
        <p:sp>
          <p:nvSpPr>
            <p:cNvPr id="42" name="Freeform 35">
              <a:extLst>
                <a:ext uri="{FF2B5EF4-FFF2-40B4-BE49-F238E27FC236}">
                  <a16:creationId xmlns:a16="http://schemas.microsoft.com/office/drawing/2014/main" id="{C88CC5C9-4477-4F23-ADD6-D648008F5A14}"/>
                </a:ext>
              </a:extLst>
            </p:cNvPr>
            <p:cNvSpPr>
              <a:spLocks/>
            </p:cNvSpPr>
            <p:nvPr/>
          </p:nvSpPr>
          <p:spPr bwMode="auto">
            <a:xfrm>
              <a:off x="4647541" y="4452126"/>
              <a:ext cx="670921" cy="705411"/>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dirty="0">
                <a:ln>
                  <a:noFill/>
                </a:ln>
                <a:solidFill>
                  <a:prstClr val="white"/>
                </a:solidFill>
                <a:effectLst/>
                <a:uLnTx/>
                <a:uFillTx/>
                <a:latin typeface="Montserrat" panose="02000505000000020004" pitchFamily="2" charset="0"/>
                <a:ea typeface="+mn-ea"/>
                <a:cs typeface="+mn-cs"/>
              </a:endParaRPr>
            </a:p>
          </p:txBody>
        </p:sp>
        <p:pic>
          <p:nvPicPr>
            <p:cNvPr id="43" name="Graphic 42" descr="Calculator">
              <a:extLst>
                <a:ext uri="{FF2B5EF4-FFF2-40B4-BE49-F238E27FC236}">
                  <a16:creationId xmlns:a16="http://schemas.microsoft.com/office/drawing/2014/main" id="{907762C5-68A2-4D0B-B0BF-C87936DC7D5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782946" y="4530595"/>
              <a:ext cx="400110" cy="400110"/>
            </a:xfrm>
            <a:prstGeom prst="rect">
              <a:avLst/>
            </a:prstGeom>
          </p:spPr>
        </p:pic>
      </p:grpSp>
      <p:grpSp>
        <p:nvGrpSpPr>
          <p:cNvPr id="44" name="Group 43">
            <a:extLst>
              <a:ext uri="{FF2B5EF4-FFF2-40B4-BE49-F238E27FC236}">
                <a16:creationId xmlns:a16="http://schemas.microsoft.com/office/drawing/2014/main" id="{AACCF7BB-A60F-4B0D-B3F6-54DFBAB67945}"/>
              </a:ext>
            </a:extLst>
          </p:cNvPr>
          <p:cNvGrpSpPr/>
          <p:nvPr/>
        </p:nvGrpSpPr>
        <p:grpSpPr>
          <a:xfrm>
            <a:off x="367603" y="5174050"/>
            <a:ext cx="362504" cy="381140"/>
            <a:chOff x="4647544" y="5173219"/>
            <a:chExt cx="670921" cy="705411"/>
          </a:xfrm>
        </p:grpSpPr>
        <p:sp>
          <p:nvSpPr>
            <p:cNvPr id="45" name="Freeform 35">
              <a:extLst>
                <a:ext uri="{FF2B5EF4-FFF2-40B4-BE49-F238E27FC236}">
                  <a16:creationId xmlns:a16="http://schemas.microsoft.com/office/drawing/2014/main" id="{D6501A34-EF15-477A-BA6B-979EA41FB6FA}"/>
                </a:ext>
              </a:extLst>
            </p:cNvPr>
            <p:cNvSpPr>
              <a:spLocks/>
            </p:cNvSpPr>
            <p:nvPr/>
          </p:nvSpPr>
          <p:spPr bwMode="auto">
            <a:xfrm>
              <a:off x="4647544" y="5173219"/>
              <a:ext cx="670921" cy="705411"/>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dirty="0">
                <a:ln>
                  <a:noFill/>
                </a:ln>
                <a:solidFill>
                  <a:prstClr val="white"/>
                </a:solidFill>
                <a:effectLst/>
                <a:uLnTx/>
                <a:uFillTx/>
                <a:latin typeface="Montserrat" panose="02000505000000020004" pitchFamily="2" charset="0"/>
                <a:ea typeface="+mn-ea"/>
                <a:cs typeface="+mn-cs"/>
              </a:endParaRPr>
            </a:p>
          </p:txBody>
        </p:sp>
        <p:pic>
          <p:nvPicPr>
            <p:cNvPr id="46" name="Graphic 45" descr="Research">
              <a:extLst>
                <a:ext uri="{FF2B5EF4-FFF2-40B4-BE49-F238E27FC236}">
                  <a16:creationId xmlns:a16="http://schemas.microsoft.com/office/drawing/2014/main" id="{60DE2EC3-49A7-47BC-9301-469171E2055D}"/>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782946" y="5254653"/>
              <a:ext cx="400110" cy="400110"/>
            </a:xfrm>
            <a:prstGeom prst="rect">
              <a:avLst/>
            </a:prstGeom>
          </p:spPr>
        </p:pic>
      </p:grpSp>
      <p:sp>
        <p:nvSpPr>
          <p:cNvPr id="48" name="Freeform 35">
            <a:extLst>
              <a:ext uri="{FF2B5EF4-FFF2-40B4-BE49-F238E27FC236}">
                <a16:creationId xmlns:a16="http://schemas.microsoft.com/office/drawing/2014/main" id="{1DB467BB-A2E4-4660-81B1-24AF8FDB913A}"/>
              </a:ext>
            </a:extLst>
          </p:cNvPr>
          <p:cNvSpPr>
            <a:spLocks/>
          </p:cNvSpPr>
          <p:nvPr/>
        </p:nvSpPr>
        <p:spPr bwMode="auto">
          <a:xfrm>
            <a:off x="369016" y="5956666"/>
            <a:ext cx="362504" cy="381140"/>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dirty="0">
              <a:ln>
                <a:noFill/>
              </a:ln>
              <a:solidFill>
                <a:prstClr val="white"/>
              </a:solidFill>
              <a:effectLst/>
              <a:uLnTx/>
              <a:uFillTx/>
              <a:latin typeface="Montserrat" panose="02000505000000020004" pitchFamily="2" charset="0"/>
              <a:ea typeface="+mn-ea"/>
              <a:cs typeface="+mn-cs"/>
            </a:endParaRPr>
          </a:p>
        </p:txBody>
      </p:sp>
      <p:pic>
        <p:nvPicPr>
          <p:cNvPr id="50" name="Picture 10" descr="Image result for mri software">
            <a:extLst>
              <a:ext uri="{FF2B5EF4-FFF2-40B4-BE49-F238E27FC236}">
                <a16:creationId xmlns:a16="http://schemas.microsoft.com/office/drawing/2014/main" id="{4A6B7059-85E3-4784-9635-2DB527CAB16C}"/>
              </a:ext>
            </a:extLst>
          </p:cNvPr>
          <p:cNvPicPr>
            <a:picLocks noChangeAspect="1" noChangeArrowheads="1"/>
          </p:cNvPicPr>
          <p:nvPr/>
        </p:nvPicPr>
        <p:blipFill>
          <a:blip r:embed="rId18">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2971207" y="1656432"/>
            <a:ext cx="645608" cy="349704"/>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12" descr="Image result for proactis software">
            <a:extLst>
              <a:ext uri="{FF2B5EF4-FFF2-40B4-BE49-F238E27FC236}">
                <a16:creationId xmlns:a16="http://schemas.microsoft.com/office/drawing/2014/main" id="{140B22A2-653D-4BCA-914F-4519D8C8A3DB}"/>
              </a:ext>
            </a:extLst>
          </p:cNvPr>
          <p:cNvPicPr>
            <a:picLocks noChangeAspect="1" noChangeArrowheads="1"/>
          </p:cNvPicPr>
          <p:nvPr/>
        </p:nvPicPr>
        <p:blipFill>
          <a:blip r:embed="rId1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77220" y="2435762"/>
            <a:ext cx="833583" cy="345103"/>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16" descr="Image result for fsi concept evolution">
            <a:extLst>
              <a:ext uri="{FF2B5EF4-FFF2-40B4-BE49-F238E27FC236}">
                <a16:creationId xmlns:a16="http://schemas.microsoft.com/office/drawing/2014/main" id="{907688C2-3F1C-4780-87D0-FC3786331159}"/>
              </a:ext>
            </a:extLst>
          </p:cNvPr>
          <p:cNvPicPr>
            <a:picLocks noChangeAspect="1" noChangeArrowheads="1"/>
          </p:cNvPicPr>
          <p:nvPr/>
        </p:nvPicPr>
        <p:blipFill>
          <a:blip r:embed="rId20">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933639" y="2037089"/>
            <a:ext cx="720744" cy="383622"/>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 descr="Image result for salesforce logo">
            <a:extLst>
              <a:ext uri="{FF2B5EF4-FFF2-40B4-BE49-F238E27FC236}">
                <a16:creationId xmlns:a16="http://schemas.microsoft.com/office/drawing/2014/main" id="{32D56C1D-B6F0-4165-AB79-60D4FB8F5B16}"/>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971207" y="2772063"/>
            <a:ext cx="645608" cy="451926"/>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 descr="Image result for yieldstar realpage">
            <a:extLst>
              <a:ext uri="{FF2B5EF4-FFF2-40B4-BE49-F238E27FC236}">
                <a16:creationId xmlns:a16="http://schemas.microsoft.com/office/drawing/2014/main" id="{E374DA04-A7BB-4CB2-87E4-9ACAD026641F}"/>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776682" y="4414473"/>
            <a:ext cx="1034658" cy="321042"/>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54">
            <a:extLst>
              <a:ext uri="{FF2B5EF4-FFF2-40B4-BE49-F238E27FC236}">
                <a16:creationId xmlns:a16="http://schemas.microsoft.com/office/drawing/2014/main" id="{675B4FD7-57E7-40FA-B67A-B514B99B66F7}"/>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2866357" y="3239040"/>
            <a:ext cx="855308" cy="325018"/>
          </a:xfrm>
          <a:prstGeom prst="rect">
            <a:avLst/>
          </a:prstGeom>
        </p:spPr>
      </p:pic>
      <p:pic>
        <p:nvPicPr>
          <p:cNvPr id="56" name="Picture 55">
            <a:extLst>
              <a:ext uri="{FF2B5EF4-FFF2-40B4-BE49-F238E27FC236}">
                <a16:creationId xmlns:a16="http://schemas.microsoft.com/office/drawing/2014/main" id="{95F7F16A-91A8-4DF5-8054-996AF0973405}"/>
              </a:ext>
            </a:extLst>
          </p:cNvPr>
          <p:cNvPicPr>
            <a:picLocks noChangeAspect="1"/>
          </p:cNvPicPr>
          <p:nvPr/>
        </p:nvPicPr>
        <p:blipFill>
          <a:blip r:embed="rId2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790419" y="4710811"/>
            <a:ext cx="1007184" cy="527093"/>
          </a:xfrm>
          <a:prstGeom prst="rect">
            <a:avLst/>
          </a:prstGeom>
        </p:spPr>
      </p:pic>
      <p:pic>
        <p:nvPicPr>
          <p:cNvPr id="58" name="Picture 57">
            <a:extLst>
              <a:ext uri="{FF2B5EF4-FFF2-40B4-BE49-F238E27FC236}">
                <a16:creationId xmlns:a16="http://schemas.microsoft.com/office/drawing/2014/main" id="{1ED6B17E-A04E-4F47-9CE5-108D5E796A33}"/>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2866357" y="5956199"/>
            <a:ext cx="855308" cy="371246"/>
          </a:xfrm>
          <a:prstGeom prst="rect">
            <a:avLst/>
          </a:prstGeom>
        </p:spPr>
      </p:pic>
      <p:sp>
        <p:nvSpPr>
          <p:cNvPr id="59" name="Freeform 35">
            <a:extLst>
              <a:ext uri="{FF2B5EF4-FFF2-40B4-BE49-F238E27FC236}">
                <a16:creationId xmlns:a16="http://schemas.microsoft.com/office/drawing/2014/main" id="{C992B428-A215-4CE0-9593-81F1AA5F9BEA}"/>
              </a:ext>
            </a:extLst>
          </p:cNvPr>
          <p:cNvSpPr>
            <a:spLocks/>
          </p:cNvSpPr>
          <p:nvPr/>
        </p:nvSpPr>
        <p:spPr bwMode="auto">
          <a:xfrm>
            <a:off x="367603" y="3995038"/>
            <a:ext cx="362504" cy="381140"/>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dirty="0">
              <a:ln>
                <a:noFill/>
              </a:ln>
              <a:solidFill>
                <a:prstClr val="white"/>
              </a:solidFill>
              <a:effectLst/>
              <a:uLnTx/>
              <a:uFillTx/>
              <a:latin typeface="Montserrat" panose="02000505000000020004" pitchFamily="2" charset="0"/>
              <a:ea typeface="+mn-ea"/>
              <a:cs typeface="+mn-cs"/>
            </a:endParaRPr>
          </a:p>
        </p:txBody>
      </p:sp>
      <p:pic>
        <p:nvPicPr>
          <p:cNvPr id="60" name="Graphic 59">
            <a:extLst>
              <a:ext uri="{FF2B5EF4-FFF2-40B4-BE49-F238E27FC236}">
                <a16:creationId xmlns:a16="http://schemas.microsoft.com/office/drawing/2014/main" id="{7F4B4F16-6875-421E-8D2C-2A7A6A2EFBD6}"/>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2724479" y="3634766"/>
            <a:ext cx="1139064" cy="315610"/>
          </a:xfrm>
          <a:prstGeom prst="rect">
            <a:avLst/>
          </a:prstGeom>
        </p:spPr>
      </p:pic>
      <p:pic>
        <p:nvPicPr>
          <p:cNvPr id="61" name="Picture 60">
            <a:extLst>
              <a:ext uri="{FF2B5EF4-FFF2-40B4-BE49-F238E27FC236}">
                <a16:creationId xmlns:a16="http://schemas.microsoft.com/office/drawing/2014/main" id="{D85158F8-2975-4AAB-AA64-27A44CC94925}"/>
              </a:ext>
            </a:extLst>
          </p:cNvPr>
          <p:cNvPicPr>
            <a:picLocks noChangeAspect="1"/>
          </p:cNvPicPr>
          <p:nvPr/>
        </p:nvPicPr>
        <p:blipFill>
          <a:blip r:embed="rId28">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621473" y="4029035"/>
            <a:ext cx="1345076" cy="330632"/>
          </a:xfrm>
          <a:prstGeom prst="rect">
            <a:avLst/>
          </a:prstGeom>
        </p:spPr>
      </p:pic>
      <p:grpSp>
        <p:nvGrpSpPr>
          <p:cNvPr id="62" name="Group 61">
            <a:extLst>
              <a:ext uri="{FF2B5EF4-FFF2-40B4-BE49-F238E27FC236}">
                <a16:creationId xmlns:a16="http://schemas.microsoft.com/office/drawing/2014/main" id="{F2CA4712-B23D-4098-B962-8FDA7F673A41}"/>
              </a:ext>
            </a:extLst>
          </p:cNvPr>
          <p:cNvGrpSpPr/>
          <p:nvPr/>
        </p:nvGrpSpPr>
        <p:grpSpPr>
          <a:xfrm>
            <a:off x="367603" y="3595332"/>
            <a:ext cx="362504" cy="387842"/>
            <a:chOff x="367603" y="3849771"/>
            <a:chExt cx="362504" cy="387842"/>
          </a:xfrm>
        </p:grpSpPr>
        <p:sp>
          <p:nvSpPr>
            <p:cNvPr id="63" name="Freeform 35">
              <a:extLst>
                <a:ext uri="{FF2B5EF4-FFF2-40B4-BE49-F238E27FC236}">
                  <a16:creationId xmlns:a16="http://schemas.microsoft.com/office/drawing/2014/main" id="{80A82B51-BC4A-4244-A867-90AE52D5E46F}"/>
                </a:ext>
              </a:extLst>
            </p:cNvPr>
            <p:cNvSpPr>
              <a:spLocks/>
            </p:cNvSpPr>
            <p:nvPr/>
          </p:nvSpPr>
          <p:spPr bwMode="auto">
            <a:xfrm>
              <a:off x="367603" y="3856473"/>
              <a:ext cx="362504" cy="381140"/>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dirty="0">
                <a:ln>
                  <a:noFill/>
                </a:ln>
                <a:solidFill>
                  <a:prstClr val="white"/>
                </a:solidFill>
                <a:effectLst/>
                <a:uLnTx/>
                <a:uFillTx/>
                <a:latin typeface="Montserrat" panose="02000505000000020004" pitchFamily="2" charset="0"/>
                <a:ea typeface="+mn-ea"/>
                <a:cs typeface="+mn-cs"/>
              </a:endParaRPr>
            </a:p>
          </p:txBody>
        </p:sp>
        <p:pic>
          <p:nvPicPr>
            <p:cNvPr id="64" name="Picture 63">
              <a:extLst>
                <a:ext uri="{FF2B5EF4-FFF2-40B4-BE49-F238E27FC236}">
                  <a16:creationId xmlns:a16="http://schemas.microsoft.com/office/drawing/2014/main" id="{56AB0E17-41E9-4BF5-8FD2-A3829F5F9A71}"/>
                </a:ext>
              </a:extLst>
            </p:cNvPr>
            <p:cNvPicPr>
              <a:picLocks noChangeAspect="1"/>
            </p:cNvPicPr>
            <p:nvPr/>
          </p:nvPicPr>
          <p:blipFill>
            <a:blip r:embed="rId29">
              <a:biLevel thresh="25000"/>
              <a:extLst>
                <a:ext uri="{28A0092B-C50C-407E-A947-70E740481C1C}">
                  <a14:useLocalDpi xmlns:a14="http://schemas.microsoft.com/office/drawing/2010/main" val="0"/>
                </a:ext>
              </a:extLst>
            </a:blip>
            <a:stretch>
              <a:fillRect/>
            </a:stretch>
          </p:blipFill>
          <p:spPr>
            <a:xfrm>
              <a:off x="399766" y="3849771"/>
              <a:ext cx="298173" cy="298173"/>
            </a:xfrm>
            <a:prstGeom prst="rect">
              <a:avLst/>
            </a:prstGeom>
          </p:spPr>
        </p:pic>
        <p:pic>
          <p:nvPicPr>
            <p:cNvPr id="65" name="Picture 64">
              <a:extLst>
                <a:ext uri="{FF2B5EF4-FFF2-40B4-BE49-F238E27FC236}">
                  <a16:creationId xmlns:a16="http://schemas.microsoft.com/office/drawing/2014/main" id="{342E087C-173C-4431-813E-0D248DF600FB}"/>
                </a:ext>
              </a:extLst>
            </p:cNvPr>
            <p:cNvPicPr>
              <a:picLocks noChangeAspect="1"/>
            </p:cNvPicPr>
            <p:nvPr/>
          </p:nvPicPr>
          <p:blipFill>
            <a:blip r:embed="rId29">
              <a:biLevel thresh="25000"/>
              <a:extLst>
                <a:ext uri="{28A0092B-C50C-407E-A947-70E740481C1C}">
                  <a14:useLocalDpi xmlns:a14="http://schemas.microsoft.com/office/drawing/2010/main" val="0"/>
                </a:ext>
              </a:extLst>
            </a:blip>
            <a:stretch>
              <a:fillRect/>
            </a:stretch>
          </p:blipFill>
          <p:spPr>
            <a:xfrm>
              <a:off x="404101" y="3850396"/>
              <a:ext cx="298173" cy="298173"/>
            </a:xfrm>
            <a:prstGeom prst="rect">
              <a:avLst/>
            </a:prstGeom>
          </p:spPr>
        </p:pic>
      </p:grpSp>
      <p:pic>
        <p:nvPicPr>
          <p:cNvPr id="66" name="Picture 4" descr="Image result for document icon">
            <a:extLst>
              <a:ext uri="{FF2B5EF4-FFF2-40B4-BE49-F238E27FC236}">
                <a16:creationId xmlns:a16="http://schemas.microsoft.com/office/drawing/2014/main" id="{F0E1645A-F961-4C3D-ADFF-2361ADD9710C}"/>
              </a:ext>
            </a:extLst>
          </p:cNvPr>
          <p:cNvPicPr>
            <a:picLocks noChangeAspect="1" noChangeArrowheads="1"/>
          </p:cNvPicPr>
          <p:nvPr/>
        </p:nvPicPr>
        <p:blipFill>
          <a:blip r:embed="rId30">
            <a:clrChange>
              <a:clrFrom>
                <a:srgbClr val="FDFDFD"/>
              </a:clrFrom>
              <a:clrTo>
                <a:srgbClr val="FDFDFD">
                  <a:alpha val="0"/>
                </a:srgbClr>
              </a:clrTo>
            </a:clrChange>
            <a:lum bright="70000" contrast="-70000"/>
            <a:extLst>
              <a:ext uri="{BEBA8EAE-BF5A-486C-A8C5-ECC9F3942E4B}">
                <a14:imgProps xmlns:a14="http://schemas.microsoft.com/office/drawing/2010/main">
                  <a14:imgLayer r:embed="rId31">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454410" y="4057496"/>
            <a:ext cx="183854" cy="177895"/>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66">
            <a:extLst>
              <a:ext uri="{FF2B5EF4-FFF2-40B4-BE49-F238E27FC236}">
                <a16:creationId xmlns:a16="http://schemas.microsoft.com/office/drawing/2014/main" id="{F793C814-22D5-450B-94C4-9E7D1AB73C38}"/>
              </a:ext>
            </a:extLst>
          </p:cNvPr>
          <p:cNvPicPr>
            <a:picLocks noChangeAspect="1"/>
          </p:cNvPicPr>
          <p:nvPr/>
        </p:nvPicPr>
        <p:blipFill>
          <a:blip r:embed="rId32">
            <a:clrChange>
              <a:clrFrom>
                <a:srgbClr val="009BE6"/>
              </a:clrFrom>
              <a:clrTo>
                <a:srgbClr val="009BE6">
                  <a:alpha val="0"/>
                </a:srgbClr>
              </a:clrTo>
            </a:clrChange>
            <a:extLst>
              <a:ext uri="{BEBA8EAE-BF5A-486C-A8C5-ECC9F3942E4B}">
                <a14:imgProps xmlns:a14="http://schemas.microsoft.com/office/drawing/2010/main">
                  <a14:imgLayer r:embed="rId33">
                    <a14:imgEffect>
                      <a14:brightnessContrast bright="20000"/>
                    </a14:imgEffect>
                  </a14:imgLayer>
                </a14:imgProps>
              </a:ext>
              <a:ext uri="{28A0092B-C50C-407E-A947-70E740481C1C}">
                <a14:useLocalDpi xmlns:a14="http://schemas.microsoft.com/office/drawing/2010/main" val="0"/>
              </a:ext>
            </a:extLst>
          </a:blip>
          <a:stretch>
            <a:fillRect/>
          </a:stretch>
        </p:blipFill>
        <p:spPr>
          <a:xfrm>
            <a:off x="417747" y="5976671"/>
            <a:ext cx="257179" cy="257179"/>
          </a:xfrm>
          <a:prstGeom prst="rect">
            <a:avLst/>
          </a:prstGeom>
        </p:spPr>
      </p:pic>
      <p:sp>
        <p:nvSpPr>
          <p:cNvPr id="2" name="TextBox 1">
            <a:extLst>
              <a:ext uri="{FF2B5EF4-FFF2-40B4-BE49-F238E27FC236}">
                <a16:creationId xmlns:a16="http://schemas.microsoft.com/office/drawing/2014/main" id="{60EFD282-B84F-4892-88D1-EF22C7AB0910}"/>
              </a:ext>
            </a:extLst>
          </p:cNvPr>
          <p:cNvSpPr txBox="1"/>
          <p:nvPr/>
        </p:nvSpPr>
        <p:spPr>
          <a:xfrm rot="16200000">
            <a:off x="8293624" y="2118224"/>
            <a:ext cx="1279517" cy="2308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60" normalizeH="0" baseline="0" noProof="0" dirty="0">
                <a:ln>
                  <a:noFill/>
                </a:ln>
                <a:solidFill>
                  <a:srgbClr val="FF6600">
                    <a:lumMod val="60000"/>
                    <a:lumOff val="40000"/>
                  </a:srgbClr>
                </a:solidFill>
                <a:effectLst/>
                <a:uLnTx/>
                <a:uFillTx/>
                <a:latin typeface="Montserrat" panose="00000500000000000000" pitchFamily="2" charset="0"/>
                <a:ea typeface="+mn-ea"/>
                <a:cs typeface="+mn-cs"/>
              </a:rPr>
              <a:t>Original core system</a:t>
            </a:r>
          </a:p>
        </p:txBody>
      </p:sp>
      <p:sp>
        <p:nvSpPr>
          <p:cNvPr id="71" name="Freeform 35">
            <a:extLst>
              <a:ext uri="{FF2B5EF4-FFF2-40B4-BE49-F238E27FC236}">
                <a16:creationId xmlns:a16="http://schemas.microsoft.com/office/drawing/2014/main" id="{C1428055-CB41-445F-9595-CDCF198AE6F7}"/>
              </a:ext>
            </a:extLst>
          </p:cNvPr>
          <p:cNvSpPr>
            <a:spLocks/>
          </p:cNvSpPr>
          <p:nvPr/>
        </p:nvSpPr>
        <p:spPr bwMode="auto">
          <a:xfrm>
            <a:off x="367603" y="5564984"/>
            <a:ext cx="362505" cy="381140"/>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dirty="0">
              <a:ln>
                <a:noFill/>
              </a:ln>
              <a:solidFill>
                <a:prstClr val="white"/>
              </a:solidFill>
              <a:effectLst/>
              <a:uLnTx/>
              <a:uFillTx/>
              <a:latin typeface="Montserrat" panose="02000505000000020004" pitchFamily="2" charset="0"/>
              <a:ea typeface="+mn-ea"/>
              <a:cs typeface="+mn-cs"/>
            </a:endParaRPr>
          </a:p>
        </p:txBody>
      </p:sp>
      <p:pic>
        <p:nvPicPr>
          <p:cNvPr id="12" name="Picture 11" descr="A close up of a sign&#10;&#10;Description automatically generated">
            <a:extLst>
              <a:ext uri="{FF2B5EF4-FFF2-40B4-BE49-F238E27FC236}">
                <a16:creationId xmlns:a16="http://schemas.microsoft.com/office/drawing/2014/main" id="{E9AA0E56-FBAA-45BB-A94D-8FAD0D02B906}"/>
              </a:ext>
            </a:extLst>
          </p:cNvPr>
          <p:cNvPicPr>
            <a:picLocks noChangeAspect="1"/>
          </p:cNvPicPr>
          <p:nvPr/>
        </p:nvPicPr>
        <p:blipFill>
          <a:blip r:embed="rId34">
            <a:extLst>
              <a:ext uri="{28A0092B-C50C-407E-A947-70E740481C1C}">
                <a14:useLocalDpi xmlns:a14="http://schemas.microsoft.com/office/drawing/2010/main" val="0"/>
              </a:ext>
            </a:extLst>
          </a:blip>
          <a:stretch>
            <a:fillRect/>
          </a:stretch>
        </p:blipFill>
        <p:spPr>
          <a:xfrm>
            <a:off x="2627939" y="5697049"/>
            <a:ext cx="773426" cy="246760"/>
          </a:xfrm>
          <a:prstGeom prst="rect">
            <a:avLst/>
          </a:prstGeom>
        </p:spPr>
      </p:pic>
      <p:pic>
        <p:nvPicPr>
          <p:cNvPr id="8" name="Picture 7" descr="A picture containing drawing&#10;&#10;Description automatically generated">
            <a:extLst>
              <a:ext uri="{FF2B5EF4-FFF2-40B4-BE49-F238E27FC236}">
                <a16:creationId xmlns:a16="http://schemas.microsoft.com/office/drawing/2014/main" id="{224DCB1E-5F88-41A3-85E7-37BBAE5FF53B}"/>
              </a:ext>
            </a:extLst>
          </p:cNvPr>
          <p:cNvPicPr>
            <a:picLocks noChangeAspect="1"/>
          </p:cNvPicPr>
          <p:nvPr/>
        </p:nvPicPr>
        <p:blipFill>
          <a:blip r:embed="rId3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089768" y="5381611"/>
            <a:ext cx="953003" cy="595627"/>
          </a:xfrm>
          <a:prstGeom prst="rect">
            <a:avLst/>
          </a:prstGeom>
        </p:spPr>
      </p:pic>
      <p:pic>
        <p:nvPicPr>
          <p:cNvPr id="14" name="Picture 13" descr="A picture containing drawing, shirt&#10;&#10;Description automatically generated">
            <a:extLst>
              <a:ext uri="{FF2B5EF4-FFF2-40B4-BE49-F238E27FC236}">
                <a16:creationId xmlns:a16="http://schemas.microsoft.com/office/drawing/2014/main" id="{E1499991-537E-45C9-9FA1-EDD472434987}"/>
              </a:ext>
            </a:extLst>
          </p:cNvPr>
          <p:cNvPicPr>
            <a:picLocks noChangeAspect="1"/>
          </p:cNvPicPr>
          <p:nvPr/>
        </p:nvPicPr>
        <p:blipFill>
          <a:blip r:embed="rId36">
            <a:clrChange>
              <a:clrFrom>
                <a:srgbClr val="000000"/>
              </a:clrFrom>
              <a:clrTo>
                <a:srgbClr val="000000">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97114" y="5568341"/>
            <a:ext cx="298446" cy="298446"/>
          </a:xfrm>
          <a:prstGeom prst="rect">
            <a:avLst/>
          </a:prstGeom>
        </p:spPr>
      </p:pic>
      <p:pic>
        <p:nvPicPr>
          <p:cNvPr id="73" name="Picture 72">
            <a:extLst>
              <a:ext uri="{FF2B5EF4-FFF2-40B4-BE49-F238E27FC236}">
                <a16:creationId xmlns:a16="http://schemas.microsoft.com/office/drawing/2014/main" id="{290FC82A-2781-4AAF-A777-3AF2AC838868}"/>
              </a:ext>
            </a:extLst>
          </p:cNvPr>
          <p:cNvPicPr>
            <a:picLocks noChangeAspect="1"/>
          </p:cNvPicPr>
          <p:nvPr/>
        </p:nvPicPr>
        <p:blipFill>
          <a:blip r:embed="rId37">
            <a:extLst>
              <a:ext uri="{28A0092B-C50C-407E-A947-70E740481C1C}">
                <a14:useLocalDpi xmlns:a14="http://schemas.microsoft.com/office/drawing/2010/main" val="0"/>
              </a:ext>
            </a:extLst>
          </a:blip>
          <a:stretch>
            <a:fillRect/>
          </a:stretch>
        </p:blipFill>
        <p:spPr>
          <a:xfrm>
            <a:off x="2718139" y="5273367"/>
            <a:ext cx="683226" cy="197495"/>
          </a:xfrm>
          <a:prstGeom prst="rect">
            <a:avLst/>
          </a:prstGeom>
        </p:spPr>
      </p:pic>
      <p:pic>
        <p:nvPicPr>
          <p:cNvPr id="74" name="Picture 73">
            <a:extLst>
              <a:ext uri="{FF2B5EF4-FFF2-40B4-BE49-F238E27FC236}">
                <a16:creationId xmlns:a16="http://schemas.microsoft.com/office/drawing/2014/main" id="{60E2A559-9C3C-4C82-AD5B-A21A5DF090FB}"/>
              </a:ext>
            </a:extLst>
          </p:cNvPr>
          <p:cNvPicPr>
            <a:picLocks noChangeAspect="1"/>
          </p:cNvPicPr>
          <p:nvPr/>
        </p:nvPicPr>
        <p:blipFill rotWithShape="1">
          <a:blip r:embed="rId38">
            <a:clrChange>
              <a:clrFrom>
                <a:srgbClr val="FFFFFF"/>
              </a:clrFrom>
              <a:clrTo>
                <a:srgbClr val="FFFFFF">
                  <a:alpha val="0"/>
                </a:srgbClr>
              </a:clrTo>
            </a:clrChange>
          </a:blip>
          <a:srcRect l="16572" r="20242" b="26084"/>
          <a:stretch/>
        </p:blipFill>
        <p:spPr>
          <a:xfrm>
            <a:off x="3435083" y="5123054"/>
            <a:ext cx="490522" cy="439933"/>
          </a:xfrm>
          <a:prstGeom prst="rect">
            <a:avLst/>
          </a:prstGeom>
        </p:spPr>
      </p:pic>
    </p:spTree>
    <p:extLst>
      <p:ext uri="{BB962C8B-B14F-4D97-AF65-F5344CB8AC3E}">
        <p14:creationId xmlns:p14="http://schemas.microsoft.com/office/powerpoint/2010/main" val="4177494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FE16066-D6DF-4110-A787-3591A92B713F}"/>
              </a:ext>
            </a:extLst>
          </p:cNvPr>
          <p:cNvSpPr>
            <a:spLocks noGrp="1"/>
          </p:cNvSpPr>
          <p:nvPr>
            <p:ph type="ftr" sz="quarter" idx="11"/>
          </p:nvPr>
        </p:nvSpPr>
        <p:spPr/>
        <p:txBody>
          <a:bodyPr/>
          <a:lstStyle/>
          <a:p>
            <a:r>
              <a:rPr lang="en-GB"/>
              <a:t>Grainger Plc  |  www.graingerplc.co.uk    |  Investor Day  |  September 2017</a:t>
            </a:r>
            <a:endParaRPr lang="en-GB" dirty="0"/>
          </a:p>
        </p:txBody>
      </p:sp>
      <p:sp>
        <p:nvSpPr>
          <p:cNvPr id="4" name="Slide Number Placeholder 3">
            <a:extLst>
              <a:ext uri="{FF2B5EF4-FFF2-40B4-BE49-F238E27FC236}">
                <a16:creationId xmlns:a16="http://schemas.microsoft.com/office/drawing/2014/main" id="{2DEA96CD-CA1A-4B29-9F04-40E27D680A5A}"/>
              </a:ext>
            </a:extLst>
          </p:cNvPr>
          <p:cNvSpPr>
            <a:spLocks noGrp="1"/>
          </p:cNvSpPr>
          <p:nvPr>
            <p:ph type="sldNum" sz="quarter" idx="12"/>
          </p:nvPr>
        </p:nvSpPr>
        <p:spPr/>
        <p:txBody>
          <a:bodyPr/>
          <a:lstStyle/>
          <a:p>
            <a:fld id="{0D32313A-DEBC-4CA4-B008-A02D4ABE2C72}" type="slidenum">
              <a:rPr lang="en-GB" smtClean="0"/>
              <a:t>3</a:t>
            </a:fld>
            <a:endParaRPr lang="en-GB" dirty="0"/>
          </a:p>
        </p:txBody>
      </p:sp>
      <p:sp>
        <p:nvSpPr>
          <p:cNvPr id="5" name="Title 4">
            <a:extLst>
              <a:ext uri="{FF2B5EF4-FFF2-40B4-BE49-F238E27FC236}">
                <a16:creationId xmlns:a16="http://schemas.microsoft.com/office/drawing/2014/main" id="{0D91DBC6-9826-467B-BE7A-F29DA68B7BE5}"/>
              </a:ext>
            </a:extLst>
          </p:cNvPr>
          <p:cNvSpPr>
            <a:spLocks noGrp="1"/>
          </p:cNvSpPr>
          <p:nvPr>
            <p:ph type="title"/>
          </p:nvPr>
        </p:nvSpPr>
        <p:spPr/>
        <p:txBody>
          <a:bodyPr/>
          <a:lstStyle/>
          <a:p>
            <a:r>
              <a:rPr lang="en-GB" dirty="0"/>
              <a:t>High-level Platform architecture </a:t>
            </a:r>
          </a:p>
        </p:txBody>
      </p:sp>
      <p:pic>
        <p:nvPicPr>
          <p:cNvPr id="6" name="Picture 5">
            <a:extLst>
              <a:ext uri="{FF2B5EF4-FFF2-40B4-BE49-F238E27FC236}">
                <a16:creationId xmlns:a16="http://schemas.microsoft.com/office/drawing/2014/main" id="{05E40ED2-04BE-4E2A-94F2-C712B2B40241}"/>
              </a:ext>
            </a:extLst>
          </p:cNvPr>
          <p:cNvPicPr>
            <a:picLocks noChangeAspect="1"/>
          </p:cNvPicPr>
          <p:nvPr/>
        </p:nvPicPr>
        <p:blipFill>
          <a:blip r:embed="rId2"/>
          <a:stretch>
            <a:fillRect/>
          </a:stretch>
        </p:blipFill>
        <p:spPr>
          <a:xfrm>
            <a:off x="981986" y="964408"/>
            <a:ext cx="6918956" cy="5403809"/>
          </a:xfrm>
          <a:prstGeom prst="rect">
            <a:avLst/>
          </a:prstGeom>
        </p:spPr>
      </p:pic>
      <p:sp>
        <p:nvSpPr>
          <p:cNvPr id="2" name="Rectangle 1">
            <a:extLst>
              <a:ext uri="{FF2B5EF4-FFF2-40B4-BE49-F238E27FC236}">
                <a16:creationId xmlns:a16="http://schemas.microsoft.com/office/drawing/2014/main" id="{30E0AC9A-564A-42AE-80A2-E8AD5FF1B2BF}"/>
              </a:ext>
            </a:extLst>
          </p:cNvPr>
          <p:cNvSpPr/>
          <p:nvPr/>
        </p:nvSpPr>
        <p:spPr>
          <a:xfrm>
            <a:off x="739471" y="6329237"/>
            <a:ext cx="7422543" cy="6283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67201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BBEEAC9B-45FD-41B9-8CFA-E0E78A10AEFA}"/>
              </a:ext>
            </a:extLst>
          </p:cNvPr>
          <p:cNvGraphicFramePr>
            <a:graphicFrameLocks noGrp="1"/>
          </p:cNvGraphicFramePr>
          <p:nvPr>
            <p:ph idx="1"/>
          </p:nvPr>
        </p:nvGraphicFramePr>
        <p:xfrm>
          <a:off x="358775" y="2779776"/>
          <a:ext cx="8426448" cy="3464684"/>
        </p:xfrm>
        <a:graphic>
          <a:graphicData uri="http://schemas.openxmlformats.org/drawingml/2006/table">
            <a:tbl>
              <a:tblPr/>
              <a:tblGrid>
                <a:gridCol w="1168092">
                  <a:extLst>
                    <a:ext uri="{9D8B030D-6E8A-4147-A177-3AD203B41FA5}">
                      <a16:colId xmlns:a16="http://schemas.microsoft.com/office/drawing/2014/main" val="4260020772"/>
                    </a:ext>
                  </a:extLst>
                </a:gridCol>
                <a:gridCol w="1209726">
                  <a:extLst>
                    <a:ext uri="{9D8B030D-6E8A-4147-A177-3AD203B41FA5}">
                      <a16:colId xmlns:a16="http://schemas.microsoft.com/office/drawing/2014/main" val="2205705042"/>
                    </a:ext>
                  </a:extLst>
                </a:gridCol>
                <a:gridCol w="1209726">
                  <a:extLst>
                    <a:ext uri="{9D8B030D-6E8A-4147-A177-3AD203B41FA5}">
                      <a16:colId xmlns:a16="http://schemas.microsoft.com/office/drawing/2014/main" val="783104242"/>
                    </a:ext>
                  </a:extLst>
                </a:gridCol>
                <a:gridCol w="1209726">
                  <a:extLst>
                    <a:ext uri="{9D8B030D-6E8A-4147-A177-3AD203B41FA5}">
                      <a16:colId xmlns:a16="http://schemas.microsoft.com/office/drawing/2014/main" val="3068789837"/>
                    </a:ext>
                  </a:extLst>
                </a:gridCol>
                <a:gridCol w="1209726">
                  <a:extLst>
                    <a:ext uri="{9D8B030D-6E8A-4147-A177-3AD203B41FA5}">
                      <a16:colId xmlns:a16="http://schemas.microsoft.com/office/drawing/2014/main" val="3900234969"/>
                    </a:ext>
                  </a:extLst>
                </a:gridCol>
                <a:gridCol w="1209726">
                  <a:extLst>
                    <a:ext uri="{9D8B030D-6E8A-4147-A177-3AD203B41FA5}">
                      <a16:colId xmlns:a16="http://schemas.microsoft.com/office/drawing/2014/main" val="890498235"/>
                    </a:ext>
                  </a:extLst>
                </a:gridCol>
                <a:gridCol w="1209726">
                  <a:extLst>
                    <a:ext uri="{9D8B030D-6E8A-4147-A177-3AD203B41FA5}">
                      <a16:colId xmlns:a16="http://schemas.microsoft.com/office/drawing/2014/main" val="3855158168"/>
                    </a:ext>
                  </a:extLst>
                </a:gridCol>
              </a:tblGrid>
              <a:tr h="257943">
                <a:tc>
                  <a:txBody>
                    <a:bodyPr/>
                    <a:lstStyle/>
                    <a:p>
                      <a:pPr algn="l" fontAlgn="b"/>
                      <a:endParaRPr lang="en-GB" sz="1000" b="1" i="0" u="none" strike="noStrike" dirty="0">
                        <a:solidFill>
                          <a:srgbClr val="000000"/>
                        </a:solidFill>
                        <a:effectLst/>
                        <a:latin typeface="Montserrat" panose="00000500000000000000" pitchFamily="50" charset="0"/>
                      </a:endParaRP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a:noFill/>
                    </a:lnB>
                  </a:tcPr>
                </a:tc>
                <a:tc gridSpan="2">
                  <a:txBody>
                    <a:bodyPr/>
                    <a:lstStyle/>
                    <a:p>
                      <a:pPr algn="ctr" fontAlgn="b"/>
                      <a:r>
                        <a:rPr lang="en-GB" sz="1000" b="1" i="0" u="none" strike="noStrike" dirty="0">
                          <a:solidFill>
                            <a:schemeClr val="bg1"/>
                          </a:solidFill>
                          <a:effectLst/>
                          <a:latin typeface="+mj-lt"/>
                        </a:rPr>
                        <a:t>Residential Module (RM)</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56A7A8"/>
                    </a:solidFill>
                  </a:tcPr>
                </a:tc>
                <a:tc hMerge="1">
                  <a:txBody>
                    <a:bodyPr/>
                    <a:lstStyle/>
                    <a:p>
                      <a:endParaRPr lang="en-GB"/>
                    </a:p>
                  </a:txBody>
                  <a:tcPr/>
                </a:tc>
                <a:tc>
                  <a:txBody>
                    <a:bodyPr/>
                    <a:lstStyle/>
                    <a:p>
                      <a:endParaRPr lang="en-GB" sz="1050" dirty="0">
                        <a:solidFill>
                          <a:schemeClr val="bg1"/>
                        </a:solidFill>
                        <a:latin typeface="+mj-lt"/>
                      </a:endParaRP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pattFill prst="wdUpDiag">
                      <a:fgClr>
                        <a:srgbClr val="4D858D"/>
                      </a:fgClr>
                      <a:bgClr>
                        <a:srgbClr val="56A7A8"/>
                      </a:bgClr>
                    </a:pattFill>
                  </a:tcPr>
                </a:tc>
                <a:tc gridSpan="2">
                  <a:txBody>
                    <a:bodyPr/>
                    <a:lstStyle/>
                    <a:p>
                      <a:pPr algn="ctr" fontAlgn="b"/>
                      <a:r>
                        <a:rPr lang="en-GB" sz="1000" b="1" i="0" u="none" strike="noStrike" dirty="0">
                          <a:solidFill>
                            <a:schemeClr val="bg1"/>
                          </a:solidFill>
                          <a:effectLst/>
                          <a:latin typeface="+mj-lt"/>
                        </a:rPr>
                        <a:t>Commercial Module (CM)</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4D858D"/>
                    </a:solidFill>
                  </a:tcPr>
                </a:tc>
                <a:tc hMerge="1">
                  <a:txBody>
                    <a:bodyPr/>
                    <a:lstStyle/>
                    <a:p>
                      <a:pPr algn="ctr" fontAlgn="b"/>
                      <a:endParaRPr lang="en-GB" sz="1000" b="1" i="0" u="none" strike="noStrike" dirty="0">
                        <a:solidFill>
                          <a:schemeClr val="bg1"/>
                        </a:solidFill>
                        <a:effectLst/>
                        <a:latin typeface="Montserrat" panose="00000500000000000000" pitchFamily="50" charset="0"/>
                      </a:endParaRP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4D858D"/>
                    </a:solidFill>
                  </a:tcPr>
                </a:tc>
                <a:tc rowSpan="3">
                  <a:txBody>
                    <a:bodyPr/>
                    <a:lstStyle/>
                    <a:p>
                      <a:pPr algn="ctr" fontAlgn="b"/>
                      <a:r>
                        <a:rPr lang="en-GB" sz="1000" b="1" i="0" u="none" strike="noStrike" dirty="0">
                          <a:solidFill>
                            <a:schemeClr val="bg1"/>
                          </a:solidFill>
                          <a:effectLst/>
                          <a:latin typeface="+mj-lt"/>
                        </a:rPr>
                        <a:t>Total</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tx1"/>
                    </a:solidFill>
                  </a:tcPr>
                </a:tc>
                <a:extLst>
                  <a:ext uri="{0D108BD9-81ED-4DB2-BD59-A6C34878D82A}">
                    <a16:rowId xmlns:a16="http://schemas.microsoft.com/office/drawing/2014/main" val="3838324676"/>
                  </a:ext>
                </a:extLst>
              </a:tr>
              <a:tr h="406504">
                <a:tc>
                  <a:txBody>
                    <a:bodyPr/>
                    <a:lstStyle/>
                    <a:p>
                      <a:pPr algn="r" fontAlgn="b"/>
                      <a:r>
                        <a:rPr lang="en-GB" sz="1000" b="1" i="0" u="none" strike="noStrike" dirty="0">
                          <a:solidFill>
                            <a:srgbClr val="000000"/>
                          </a:solidFill>
                          <a:effectLst/>
                          <a:latin typeface="+mj-lt"/>
                        </a:rPr>
                        <a:t>Tenure</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a:noFill/>
                    </a:lnT>
                    <a:lnB>
                      <a:noFill/>
                    </a:lnB>
                  </a:tcPr>
                </a:tc>
                <a:tc rowSpan="2">
                  <a:txBody>
                    <a:bodyPr/>
                    <a:lstStyle/>
                    <a:p>
                      <a:pPr algn="ctr" fontAlgn="b"/>
                      <a:r>
                        <a:rPr lang="en-GB" sz="1000" b="1" i="0" u="none" strike="noStrike" dirty="0">
                          <a:solidFill>
                            <a:schemeClr val="bg1"/>
                          </a:solidFill>
                          <a:effectLst/>
                          <a:latin typeface="+mj-lt"/>
                        </a:rPr>
                        <a:t>Short tenancies (BTR, AST, Comp-Let, Affordable)</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56A7A8"/>
                    </a:solidFill>
                  </a:tcPr>
                </a:tc>
                <a:tc rowSpan="2">
                  <a:txBody>
                    <a:bodyPr/>
                    <a:lstStyle/>
                    <a:p>
                      <a:pPr algn="ctr" fontAlgn="b"/>
                      <a:r>
                        <a:rPr lang="en-GB" sz="1000" b="1" i="0" u="none" strike="noStrike" dirty="0">
                          <a:solidFill>
                            <a:schemeClr val="bg1"/>
                          </a:solidFill>
                          <a:effectLst/>
                          <a:latin typeface="+mj-lt"/>
                        </a:rPr>
                        <a:t>Garages / Sheds</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56A7A8"/>
                    </a:solidFill>
                  </a:tcPr>
                </a:tc>
                <a:tc rowSpan="2">
                  <a:txBody>
                    <a:bodyPr/>
                    <a:lstStyle/>
                    <a:p>
                      <a:pPr algn="ctr" fontAlgn="b"/>
                      <a:r>
                        <a:rPr lang="en-GB" sz="1000" b="1" i="0" u="none" strike="noStrike" dirty="0">
                          <a:solidFill>
                            <a:schemeClr val="bg1"/>
                          </a:solidFill>
                          <a:effectLst/>
                          <a:latin typeface="+mj-lt"/>
                        </a:rPr>
                        <a:t>Regulated, Assured, Weekly Affordable</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pattFill prst="wdUpDiag">
                      <a:fgClr>
                        <a:srgbClr val="4D858D"/>
                      </a:fgClr>
                      <a:bgClr>
                        <a:srgbClr val="56A7A8"/>
                      </a:bgClr>
                    </a:pattFill>
                  </a:tcPr>
                </a:tc>
                <a:tc rowSpan="2">
                  <a:txBody>
                    <a:bodyPr/>
                    <a:lstStyle/>
                    <a:p>
                      <a:pPr algn="ctr" fontAlgn="b"/>
                      <a:r>
                        <a:rPr lang="en-GB" sz="1000" b="1" i="0" u="none" strike="noStrike" dirty="0">
                          <a:solidFill>
                            <a:schemeClr val="bg1"/>
                          </a:solidFill>
                          <a:effectLst/>
                          <a:latin typeface="+mj-lt"/>
                        </a:rPr>
                        <a:t>Commercial, Leasehold, Ground Rents</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4D858D"/>
                    </a:solidFill>
                  </a:tcPr>
                </a:tc>
                <a:tc rowSpan="2">
                  <a:txBody>
                    <a:bodyPr/>
                    <a:lstStyle/>
                    <a:p>
                      <a:pPr algn="ctr" fontAlgn="b"/>
                      <a:r>
                        <a:rPr lang="en-GB" sz="1000" b="1" i="0" u="none" strike="noStrike" dirty="0">
                          <a:solidFill>
                            <a:schemeClr val="bg1"/>
                          </a:solidFill>
                          <a:effectLst/>
                          <a:latin typeface="+mj-lt"/>
                        </a:rPr>
                        <a:t>Shared Ownership</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4D858D"/>
                    </a:solidFill>
                  </a:tcPr>
                </a:tc>
                <a:tc vMerge="1">
                  <a:txBody>
                    <a:bodyPr/>
                    <a:lstStyle/>
                    <a:p>
                      <a:pPr algn="l" fontAlgn="b"/>
                      <a:endParaRPr lang="en-GB" sz="1000" b="1" i="0" u="none" strike="noStrike" dirty="0">
                        <a:solidFill>
                          <a:schemeClr val="bg1"/>
                        </a:solidFill>
                        <a:effectLst/>
                        <a:latin typeface="Montserrat" panose="00000500000000000000" pitchFamily="50" charset="0"/>
                      </a:endParaRP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tx1"/>
                    </a:solidFill>
                  </a:tcPr>
                </a:tc>
                <a:extLst>
                  <a:ext uri="{0D108BD9-81ED-4DB2-BD59-A6C34878D82A}">
                    <a16:rowId xmlns:a16="http://schemas.microsoft.com/office/drawing/2014/main" val="373487339"/>
                  </a:ext>
                </a:extLst>
              </a:tr>
              <a:tr h="406504">
                <a:tc>
                  <a:txBody>
                    <a:bodyPr/>
                    <a:lstStyle/>
                    <a:p>
                      <a:pPr algn="l" fontAlgn="b"/>
                      <a:r>
                        <a:rPr lang="en-GB" sz="1000" b="1" i="0" u="none" strike="noStrike" dirty="0">
                          <a:solidFill>
                            <a:srgbClr val="000000"/>
                          </a:solidFill>
                          <a:effectLst/>
                          <a:latin typeface="+mj-lt"/>
                        </a:rPr>
                        <a:t>Billing Freq</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a:noFill/>
                    </a:lnT>
                    <a:lnB w="12700" cap="flat" cmpd="sng" algn="ctr">
                      <a:solidFill>
                        <a:srgbClr val="4D858D"/>
                      </a:solidFill>
                      <a:prstDash val="solid"/>
                      <a:round/>
                      <a:headEnd type="none" w="med" len="med"/>
                      <a:tailEnd type="none" w="med" len="med"/>
                    </a:lnB>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530385602"/>
                  </a:ext>
                </a:extLst>
              </a:tr>
              <a:tr h="132029">
                <a:tc>
                  <a:txBody>
                    <a:bodyPr/>
                    <a:lstStyle/>
                    <a:p>
                      <a:pPr algn="l"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noFill/>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noFill/>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noFill/>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noFill/>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noFill/>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noFill/>
                  </a:tcPr>
                </a:tc>
                <a:tc>
                  <a:txBody>
                    <a:bodyPr/>
                    <a:lstStyle/>
                    <a:p>
                      <a:pPr algn="r" fontAlgn="b"/>
                      <a:endParaRPr lang="en-GB" sz="200" b="1"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noFill/>
                  </a:tcPr>
                </a:tc>
                <a:extLst>
                  <a:ext uri="{0D108BD9-81ED-4DB2-BD59-A6C34878D82A}">
                    <a16:rowId xmlns:a16="http://schemas.microsoft.com/office/drawing/2014/main" val="1296081887"/>
                  </a:ext>
                </a:extLst>
              </a:tr>
              <a:tr h="249471">
                <a:tc>
                  <a:txBody>
                    <a:bodyPr/>
                    <a:lstStyle/>
                    <a:p>
                      <a:pPr algn="l" fontAlgn="b"/>
                      <a:r>
                        <a:rPr lang="en-GB" sz="1000" b="0" i="0" u="none" strike="noStrike" dirty="0">
                          <a:solidFill>
                            <a:srgbClr val="000000"/>
                          </a:solidFill>
                          <a:effectLst/>
                          <a:latin typeface="Montserrat" panose="00000500000000000000" pitchFamily="50" charset="0"/>
                        </a:rPr>
                        <a:t>Monthly</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0" u="none" strike="noStrike" dirty="0">
                          <a:solidFill>
                            <a:srgbClr val="000000"/>
                          </a:solidFill>
                          <a:effectLst/>
                          <a:latin typeface="Montserrat" panose="00000500000000000000" pitchFamily="50" charset="0"/>
                        </a:rPr>
                        <a:t>3,590</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0" u="none" strike="noStrike" dirty="0">
                          <a:solidFill>
                            <a:srgbClr val="000000"/>
                          </a:solidFill>
                          <a:effectLst/>
                          <a:latin typeface="Montserrat" panose="00000500000000000000" pitchFamily="50" charset="0"/>
                        </a:rPr>
                        <a:t>587</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0" u="none" strike="noStrike" dirty="0">
                          <a:solidFill>
                            <a:srgbClr val="000000"/>
                          </a:solidFill>
                          <a:effectLst/>
                          <a:latin typeface="Montserrat" panose="00000500000000000000" pitchFamily="50" charset="0"/>
                        </a:rPr>
                        <a:t>1,141</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C000"/>
                    </a:solidFill>
                  </a:tcPr>
                </a:tc>
                <a:tc>
                  <a:txBody>
                    <a:bodyPr/>
                    <a:lstStyle/>
                    <a:p>
                      <a:pPr algn="r" fontAlgn="b"/>
                      <a:r>
                        <a:rPr lang="en-GB" sz="1000" b="0" i="0" u="none" strike="noStrike" dirty="0">
                          <a:solidFill>
                            <a:srgbClr val="000000"/>
                          </a:solidFill>
                          <a:effectLst/>
                          <a:latin typeface="Montserrat" panose="00000500000000000000" pitchFamily="50" charset="0"/>
                        </a:rPr>
                        <a:t>651</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0" u="none" strike="noStrike" dirty="0">
                          <a:solidFill>
                            <a:srgbClr val="000000"/>
                          </a:solidFill>
                          <a:effectLst/>
                          <a:latin typeface="Montserrat" panose="00000500000000000000" pitchFamily="50" charset="0"/>
                        </a:rPr>
                        <a:t>199</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1" i="0" u="none" strike="noStrike" dirty="0">
                          <a:solidFill>
                            <a:srgbClr val="000000"/>
                          </a:solidFill>
                          <a:effectLst/>
                          <a:latin typeface="Montserrat" panose="00000500000000000000" pitchFamily="50" charset="0"/>
                        </a:rPr>
                        <a:t>6,168</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3760136939"/>
                  </a:ext>
                </a:extLst>
              </a:tr>
              <a:tr h="418898">
                <a:tc>
                  <a:txBody>
                    <a:bodyPr/>
                    <a:lstStyle/>
                    <a:p>
                      <a:pPr marL="0" marR="0" lvl="0" indent="0" algn="l" defTabSz="685800" rtl="0" eaLnBrk="1" fontAlgn="b" latinLnBrk="0" hangingPunct="1">
                        <a:lnSpc>
                          <a:spcPct val="100000"/>
                        </a:lnSpc>
                        <a:spcBef>
                          <a:spcPts val="0"/>
                        </a:spcBef>
                        <a:spcAft>
                          <a:spcPts val="0"/>
                        </a:spcAft>
                        <a:buClrTx/>
                        <a:buSzTx/>
                        <a:buFontTx/>
                        <a:buNone/>
                        <a:tabLst/>
                        <a:defRPr/>
                      </a:pPr>
                      <a:r>
                        <a:rPr lang="en-GB" sz="1000" b="0" i="0" u="none" strike="noStrike" dirty="0">
                          <a:solidFill>
                            <a:srgbClr val="000000"/>
                          </a:solidFill>
                          <a:effectLst/>
                          <a:latin typeface="Montserrat" panose="00000500000000000000" pitchFamily="50" charset="0"/>
                        </a:rPr>
                        <a:t>Quarterly, Half Yearly, Yearly</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0" u="none" strike="noStrike" dirty="0">
                          <a:solidFill>
                            <a:srgbClr val="000000"/>
                          </a:solidFill>
                          <a:effectLst/>
                          <a:latin typeface="Montserrat" panose="00000500000000000000" pitchFamily="50" charset="0"/>
                        </a:rPr>
                        <a:t>77</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0" u="none" strike="noStrike" dirty="0">
                          <a:solidFill>
                            <a:srgbClr val="000000"/>
                          </a:solidFill>
                          <a:effectLst/>
                          <a:latin typeface="Montserrat" panose="00000500000000000000" pitchFamily="50" charset="0"/>
                        </a:rPr>
                        <a:t>335</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0" u="none" strike="noStrike" dirty="0">
                          <a:solidFill>
                            <a:srgbClr val="000000"/>
                          </a:solidFill>
                          <a:effectLst/>
                          <a:latin typeface="Montserrat" panose="00000500000000000000" pitchFamily="50" charset="0"/>
                        </a:rPr>
                        <a:t>130</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C000"/>
                    </a:solidFill>
                  </a:tcPr>
                </a:tc>
                <a:tc>
                  <a:txBody>
                    <a:bodyPr/>
                    <a:lstStyle/>
                    <a:p>
                      <a:pPr algn="r" fontAlgn="b"/>
                      <a:r>
                        <a:rPr lang="en-GB" sz="1000" b="0" i="0" u="none" strike="noStrike" dirty="0">
                          <a:solidFill>
                            <a:srgbClr val="000000"/>
                          </a:solidFill>
                          <a:effectLst/>
                          <a:latin typeface="Montserrat" panose="00000500000000000000" pitchFamily="50" charset="0"/>
                        </a:rPr>
                        <a:t>14,447</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0" u="none" strike="noStrike" dirty="0">
                          <a:solidFill>
                            <a:srgbClr val="000000"/>
                          </a:solidFill>
                          <a:effectLst/>
                          <a:latin typeface="Montserrat" panose="00000500000000000000" pitchFamily="50" charset="0"/>
                        </a:rPr>
                        <a:t>398</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1" i="0" u="none" strike="noStrike" dirty="0">
                          <a:solidFill>
                            <a:srgbClr val="000000"/>
                          </a:solidFill>
                          <a:effectLst/>
                          <a:latin typeface="Montserrat" panose="00000500000000000000" pitchFamily="50" charset="0"/>
                        </a:rPr>
                        <a:t>15,387</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910269005"/>
                  </a:ext>
                </a:extLst>
              </a:tr>
              <a:tr h="139121">
                <a:tc>
                  <a:txBody>
                    <a:bodyPr/>
                    <a:lstStyle/>
                    <a:p>
                      <a:pPr algn="l"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endParaRPr lang="en-GB" sz="200" b="1"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708147945"/>
                  </a:ext>
                </a:extLst>
              </a:tr>
              <a:tr h="249471">
                <a:tc>
                  <a:txBody>
                    <a:bodyPr/>
                    <a:lstStyle/>
                    <a:p>
                      <a:pPr algn="l" fontAlgn="b"/>
                      <a:r>
                        <a:rPr lang="en-GB" sz="1000" b="0" i="0" u="none" strike="noStrike" dirty="0">
                          <a:solidFill>
                            <a:srgbClr val="000000"/>
                          </a:solidFill>
                          <a:effectLst/>
                          <a:latin typeface="Montserrat" panose="00000500000000000000" pitchFamily="50" charset="0"/>
                        </a:rPr>
                        <a:t>Weekly</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C000"/>
                    </a:solidFill>
                  </a:tcPr>
                </a:tc>
                <a:tc>
                  <a:txBody>
                    <a:bodyPr/>
                    <a:lstStyle/>
                    <a:p>
                      <a:pPr algn="r" fontAlgn="b"/>
                      <a:r>
                        <a:rPr lang="en-GB" sz="1000" b="0" i="0" u="none" strike="noStrike" dirty="0">
                          <a:solidFill>
                            <a:srgbClr val="000000"/>
                          </a:solidFill>
                          <a:effectLst/>
                          <a:latin typeface="Montserrat" panose="00000500000000000000" pitchFamily="50" charset="0"/>
                        </a:rPr>
                        <a:t>64</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C000"/>
                    </a:solidFill>
                  </a:tcPr>
                </a:tc>
                <a:tc>
                  <a:txBody>
                    <a:bodyPr/>
                    <a:lstStyle/>
                    <a:p>
                      <a:pPr algn="r" fontAlgn="b"/>
                      <a:r>
                        <a:rPr lang="en-GB" sz="1000" b="0" i="0" u="none" strike="noStrike" dirty="0">
                          <a:solidFill>
                            <a:srgbClr val="000000"/>
                          </a:solidFill>
                          <a:effectLst/>
                          <a:latin typeface="Montserrat" panose="00000500000000000000" pitchFamily="50" charset="0"/>
                        </a:rPr>
                        <a:t>5</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C000"/>
                    </a:solidFill>
                  </a:tcPr>
                </a:tc>
                <a:tc>
                  <a:txBody>
                    <a:bodyPr/>
                    <a:lstStyle/>
                    <a:p>
                      <a:pPr algn="r" fontAlgn="b"/>
                      <a:r>
                        <a:rPr lang="en-GB" sz="1000" b="1" i="0" u="none" strike="noStrike" dirty="0">
                          <a:solidFill>
                            <a:schemeClr val="bg1"/>
                          </a:solidFill>
                          <a:effectLst/>
                          <a:latin typeface="Montserrat" panose="00000500000000000000" pitchFamily="50" charset="0"/>
                        </a:rPr>
                        <a:t>1,292</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0000"/>
                    </a:solidFill>
                  </a:tcPr>
                </a:tc>
                <a:tc>
                  <a:txBody>
                    <a:bodyPr/>
                    <a:lstStyle/>
                    <a:p>
                      <a:pPr algn="r" fontAlgn="b"/>
                      <a:r>
                        <a:rPr lang="en-GB" sz="1000" b="0" i="0" u="none" strike="noStrike" dirty="0">
                          <a:solidFill>
                            <a:srgbClr val="000000"/>
                          </a:solidFill>
                          <a:effectLst/>
                          <a:latin typeface="Montserrat" panose="00000500000000000000" pitchFamily="50" charset="0"/>
                        </a:rPr>
                        <a:t>118</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0" u="none" strike="noStrike" dirty="0">
                          <a:solidFill>
                            <a:srgbClr val="000000"/>
                          </a:solidFill>
                          <a:effectLst/>
                          <a:latin typeface="Montserrat" panose="00000500000000000000" pitchFamily="50" charset="0"/>
                        </a:rPr>
                        <a:t>2</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1" i="0" u="none" strike="noStrike" dirty="0">
                          <a:solidFill>
                            <a:srgbClr val="000000"/>
                          </a:solidFill>
                          <a:effectLst/>
                          <a:latin typeface="Montserrat" panose="00000500000000000000" pitchFamily="50" charset="0"/>
                        </a:rPr>
                        <a:t>1,481</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3189339681"/>
                  </a:ext>
                </a:extLst>
              </a:tr>
              <a:tr h="588325">
                <a:tc>
                  <a:txBody>
                    <a:bodyPr/>
                    <a:lstStyle/>
                    <a:p>
                      <a:pPr algn="l" fontAlgn="b"/>
                      <a:r>
                        <a:rPr lang="en-GB" sz="1000" b="0" i="0" u="none" strike="noStrike" dirty="0">
                          <a:solidFill>
                            <a:srgbClr val="000000"/>
                          </a:solidFill>
                          <a:effectLst/>
                          <a:latin typeface="Montserrat" panose="00000500000000000000" pitchFamily="50" charset="0"/>
                        </a:rPr>
                        <a:t>Fortnightly, legal Quarters, Others</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C000"/>
                    </a:solidFill>
                  </a:tcPr>
                </a:tc>
                <a:tc>
                  <a:txBody>
                    <a:bodyPr/>
                    <a:lstStyle/>
                    <a:p>
                      <a:pPr algn="r" fontAlgn="b"/>
                      <a:r>
                        <a:rPr lang="en-GB" sz="1000" b="0" i="0" u="none" strike="noStrike" dirty="0">
                          <a:solidFill>
                            <a:srgbClr val="000000"/>
                          </a:solidFill>
                          <a:effectLst/>
                          <a:latin typeface="Montserrat" panose="00000500000000000000" pitchFamily="50" charset="0"/>
                        </a:rPr>
                        <a:t> 0</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C000"/>
                    </a:solidFill>
                  </a:tcPr>
                </a:tc>
                <a:tc>
                  <a:txBody>
                    <a:bodyPr/>
                    <a:lstStyle/>
                    <a:p>
                      <a:pPr algn="r" fontAlgn="b"/>
                      <a:r>
                        <a:rPr lang="en-GB" sz="1000" b="0" i="0" u="none" strike="noStrike" dirty="0">
                          <a:solidFill>
                            <a:srgbClr val="000000"/>
                          </a:solidFill>
                          <a:effectLst/>
                          <a:latin typeface="Montserrat" panose="00000500000000000000" pitchFamily="50" charset="0"/>
                        </a:rPr>
                        <a:t>75</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C000"/>
                    </a:solidFill>
                  </a:tcPr>
                </a:tc>
                <a:tc>
                  <a:txBody>
                    <a:bodyPr/>
                    <a:lstStyle/>
                    <a:p>
                      <a:pPr algn="r" fontAlgn="b"/>
                      <a:r>
                        <a:rPr lang="en-GB" sz="1000" b="0" i="0" u="none" strike="noStrike" dirty="0">
                          <a:solidFill>
                            <a:srgbClr val="000000"/>
                          </a:solidFill>
                          <a:effectLst/>
                          <a:latin typeface="Montserrat" panose="00000500000000000000" pitchFamily="50" charset="0"/>
                        </a:rPr>
                        <a:t>3</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C000"/>
                    </a:solidFill>
                  </a:tcPr>
                </a:tc>
                <a:tc>
                  <a:txBody>
                    <a:bodyPr/>
                    <a:lstStyle/>
                    <a:p>
                      <a:pPr algn="r" fontAlgn="b"/>
                      <a:r>
                        <a:rPr lang="en-GB" sz="1000" b="0" i="0" u="none" strike="noStrike" dirty="0">
                          <a:solidFill>
                            <a:srgbClr val="000000"/>
                          </a:solidFill>
                          <a:effectLst/>
                          <a:latin typeface="Montserrat" panose="00000500000000000000" pitchFamily="50" charset="0"/>
                        </a:rPr>
                        <a:t>1,471</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0" u="none" strike="noStrike" dirty="0">
                          <a:solidFill>
                            <a:srgbClr val="000000"/>
                          </a:solidFill>
                          <a:effectLst/>
                          <a:latin typeface="Montserrat" panose="00000500000000000000" pitchFamily="50" charset="0"/>
                        </a:rPr>
                        <a:t>0</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1" i="0" u="none" strike="noStrike" dirty="0">
                          <a:solidFill>
                            <a:srgbClr val="000000"/>
                          </a:solidFill>
                          <a:effectLst/>
                          <a:latin typeface="Montserrat" panose="00000500000000000000" pitchFamily="50" charset="0"/>
                        </a:rPr>
                        <a:t>1,540</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2152829403"/>
                  </a:ext>
                </a:extLst>
              </a:tr>
              <a:tr h="117476">
                <a:tc>
                  <a:txBody>
                    <a:bodyPr/>
                    <a:lstStyle/>
                    <a:p>
                      <a:pPr algn="l"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l" fontAlgn="b"/>
                      <a:r>
                        <a:rPr lang="en-GB" sz="200" b="0" i="0" u="none" strike="noStrike" dirty="0">
                          <a:solidFill>
                            <a:srgbClr val="000000"/>
                          </a:solidFill>
                          <a:effectLst/>
                          <a:latin typeface="Montserrat" panose="00000500000000000000" pitchFamily="50" charset="0"/>
                        </a:rPr>
                        <a:t> </a:t>
                      </a: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l" fontAlgn="b"/>
                      <a:r>
                        <a:rPr lang="en-GB" sz="200" b="0" i="0" u="none" strike="noStrike" dirty="0">
                          <a:solidFill>
                            <a:srgbClr val="000000"/>
                          </a:solidFill>
                          <a:effectLst/>
                          <a:latin typeface="Montserrat" panose="00000500000000000000" pitchFamily="50" charset="0"/>
                        </a:rPr>
                        <a:t> </a:t>
                      </a: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endParaRPr lang="en-GB" sz="200" b="0"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endParaRPr lang="en-GB" sz="200" b="1" i="0" u="none" strike="noStrike" dirty="0">
                        <a:solidFill>
                          <a:srgbClr val="000000"/>
                        </a:solidFill>
                        <a:effectLst/>
                        <a:latin typeface="Montserrat" panose="00000500000000000000" pitchFamily="50" charset="0"/>
                      </a:endParaRPr>
                    </a:p>
                  </a:txBody>
                  <a:tcPr marL="72000" marR="72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1826889862"/>
                  </a:ext>
                </a:extLst>
              </a:tr>
              <a:tr h="249471">
                <a:tc rowSpan="2">
                  <a:txBody>
                    <a:bodyPr/>
                    <a:lstStyle/>
                    <a:p>
                      <a:pPr algn="l" fontAlgn="b"/>
                      <a:r>
                        <a:rPr lang="en-GB" sz="1000" b="1" i="0" u="none" strike="noStrike" dirty="0">
                          <a:solidFill>
                            <a:srgbClr val="000000"/>
                          </a:solidFill>
                          <a:effectLst/>
                          <a:latin typeface="Montserrat" panose="00000500000000000000" pitchFamily="50" charset="0"/>
                        </a:rPr>
                        <a:t>Total</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1" i="0" u="none" strike="noStrike" dirty="0">
                          <a:solidFill>
                            <a:srgbClr val="000000"/>
                          </a:solidFill>
                          <a:effectLst/>
                          <a:latin typeface="Montserrat" panose="00000500000000000000" pitchFamily="50" charset="0"/>
                        </a:rPr>
                        <a:t>3,731</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r" fontAlgn="b"/>
                      <a:r>
                        <a:rPr lang="en-GB" sz="1000" b="1" i="0" u="none" strike="noStrike" dirty="0">
                          <a:solidFill>
                            <a:srgbClr val="000000"/>
                          </a:solidFill>
                          <a:effectLst/>
                          <a:latin typeface="Montserrat" panose="00000500000000000000" pitchFamily="50" charset="0"/>
                        </a:rPr>
                        <a:t>1,002</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r" fontAlgn="b"/>
                      <a:r>
                        <a:rPr lang="en-GB" sz="1000" b="1" i="0" u="none" strike="noStrike" dirty="0">
                          <a:solidFill>
                            <a:schemeClr val="bg1"/>
                          </a:solidFill>
                          <a:effectLst/>
                          <a:latin typeface="Montserrat" panose="00000500000000000000" pitchFamily="50" charset="0"/>
                        </a:rPr>
                        <a:t>2,566</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noFill/>
                      <a:prstDash val="solid"/>
                      <a:round/>
                      <a:headEnd type="none" w="med" len="med"/>
                      <a:tailEnd type="none" w="med" len="med"/>
                    </a:lnB>
                    <a:solidFill>
                      <a:srgbClr val="FF0000"/>
                    </a:solidFill>
                  </a:tcPr>
                </a:tc>
                <a:tc>
                  <a:txBody>
                    <a:bodyPr/>
                    <a:lstStyle/>
                    <a:p>
                      <a:pPr algn="r" fontAlgn="b"/>
                      <a:r>
                        <a:rPr lang="en-GB" sz="1000" b="1" i="0" u="none" strike="noStrike" dirty="0">
                          <a:solidFill>
                            <a:srgbClr val="000000"/>
                          </a:solidFill>
                          <a:effectLst/>
                          <a:latin typeface="Montserrat" panose="00000500000000000000" pitchFamily="50" charset="0"/>
                        </a:rPr>
                        <a:t>16,688</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r" fontAlgn="b"/>
                      <a:r>
                        <a:rPr lang="en-GB" sz="1000" b="1" i="0" u="none" strike="noStrike" dirty="0">
                          <a:solidFill>
                            <a:srgbClr val="000000"/>
                          </a:solidFill>
                          <a:effectLst/>
                          <a:latin typeface="Montserrat" panose="00000500000000000000" pitchFamily="50" charset="0"/>
                        </a:rPr>
                        <a:t>599</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r" fontAlgn="b"/>
                      <a:r>
                        <a:rPr lang="en-GB" sz="1000" b="1" i="0" u="none" strike="noStrike" dirty="0">
                          <a:solidFill>
                            <a:srgbClr val="000000"/>
                          </a:solidFill>
                          <a:effectLst/>
                          <a:latin typeface="Montserrat" panose="00000500000000000000" pitchFamily="50" charset="0"/>
                        </a:rPr>
                        <a:t>24,586</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6275672"/>
                  </a:ext>
                </a:extLst>
              </a:tr>
              <a:tr h="249471">
                <a:tc vMerge="1">
                  <a:txBody>
                    <a:bodyPr/>
                    <a:lstStyle/>
                    <a:p>
                      <a:pPr algn="l" fontAlgn="b"/>
                      <a:endParaRPr lang="en-GB" sz="1000" b="0" i="0" u="none" strike="noStrike" dirty="0">
                        <a:solidFill>
                          <a:srgbClr val="000000"/>
                        </a:solidFill>
                        <a:effectLst/>
                        <a:latin typeface="Montserrat" panose="00000500000000000000" pitchFamily="50" charset="0"/>
                      </a:endParaRPr>
                    </a:p>
                  </a:txBody>
                  <a:tcPr marL="72000" marR="72000" marT="36000" marB="36000" anchor="b">
                    <a:lnL>
                      <a:noFill/>
                    </a:lnL>
                    <a:lnR w="12700" cap="flat" cmpd="sng" algn="ctr">
                      <a:solidFill>
                        <a:srgbClr val="4D858D"/>
                      </a:solidFill>
                      <a:prstDash val="solid"/>
                      <a:round/>
                      <a:headEnd type="none" w="med" len="med"/>
                      <a:tailEnd type="none" w="med" len="med"/>
                    </a:lnR>
                    <a:lnT>
                      <a:noFill/>
                    </a:lnT>
                    <a:lnB>
                      <a:noFill/>
                    </a:lnB>
                  </a:tcPr>
                </a:tc>
                <a:tc>
                  <a:txBody>
                    <a:bodyPr/>
                    <a:lstStyle/>
                    <a:p>
                      <a:pPr algn="r" fontAlgn="b"/>
                      <a:r>
                        <a:rPr lang="en-GB" sz="1000" b="0" i="1" u="none" strike="noStrike" dirty="0">
                          <a:solidFill>
                            <a:srgbClr val="000000"/>
                          </a:solidFill>
                          <a:effectLst/>
                          <a:latin typeface="Montserrat" panose="00000500000000000000" pitchFamily="50" charset="0"/>
                        </a:rPr>
                        <a:t>15%</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1" u="none" strike="noStrike" dirty="0">
                          <a:solidFill>
                            <a:srgbClr val="000000"/>
                          </a:solidFill>
                          <a:effectLst/>
                          <a:latin typeface="Montserrat" panose="00000500000000000000" pitchFamily="50" charset="0"/>
                        </a:rPr>
                        <a:t>4%</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1" u="none" strike="noStrike" dirty="0">
                          <a:solidFill>
                            <a:schemeClr val="bg1"/>
                          </a:solidFill>
                          <a:effectLst/>
                          <a:latin typeface="Montserrat" panose="00000500000000000000" pitchFamily="50" charset="0"/>
                        </a:rPr>
                        <a:t>10%</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FF0000"/>
                    </a:solidFill>
                  </a:tcPr>
                </a:tc>
                <a:tc>
                  <a:txBody>
                    <a:bodyPr/>
                    <a:lstStyle/>
                    <a:p>
                      <a:pPr algn="r" fontAlgn="b"/>
                      <a:r>
                        <a:rPr lang="en-GB" sz="1000" b="0" i="1" u="none" strike="noStrike" dirty="0">
                          <a:solidFill>
                            <a:srgbClr val="000000"/>
                          </a:solidFill>
                          <a:effectLst/>
                          <a:latin typeface="Montserrat" panose="00000500000000000000" pitchFamily="50" charset="0"/>
                        </a:rPr>
                        <a:t>68%</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1" u="none" strike="noStrike" dirty="0">
                          <a:solidFill>
                            <a:srgbClr val="000000"/>
                          </a:solidFill>
                          <a:effectLst/>
                          <a:latin typeface="Montserrat" panose="00000500000000000000" pitchFamily="50" charset="0"/>
                        </a:rPr>
                        <a:t>2%</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algn="r" fontAlgn="b"/>
                      <a:r>
                        <a:rPr lang="en-GB" sz="1000" b="0" i="1" u="none" strike="noStrike" dirty="0">
                          <a:solidFill>
                            <a:srgbClr val="000000"/>
                          </a:solidFill>
                          <a:effectLst/>
                          <a:latin typeface="Montserrat" panose="00000500000000000000" pitchFamily="50" charset="0"/>
                        </a:rPr>
                        <a:t>100%</a:t>
                      </a:r>
                    </a:p>
                  </a:txBody>
                  <a:tcPr marL="72000" marR="72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1321332990"/>
                  </a:ext>
                </a:extLst>
              </a:tr>
            </a:tbl>
          </a:graphicData>
        </a:graphic>
      </p:graphicFrame>
      <p:sp>
        <p:nvSpPr>
          <p:cNvPr id="3" name="Footer Placeholder 2">
            <a:extLst>
              <a:ext uri="{FF2B5EF4-FFF2-40B4-BE49-F238E27FC236}">
                <a16:creationId xmlns:a16="http://schemas.microsoft.com/office/drawing/2014/main" id="{464D9BEF-9AC8-440A-81B4-5D16D19DE833}"/>
              </a:ext>
            </a:extLst>
          </p:cNvPr>
          <p:cNvSpPr>
            <a:spLocks noGrp="1"/>
          </p:cNvSpPr>
          <p:nvPr>
            <p:ph type="ftr" sz="quarter" idx="11"/>
          </p:nvPr>
        </p:nvSpPr>
        <p:spPr/>
        <p:txBody>
          <a:bodyPr/>
          <a:lstStyle/>
          <a:p>
            <a:r>
              <a:rPr lang="en-GB" dirty="0"/>
              <a:t>Grainger Plc  |  www.graingerplc.co.uk    |  Investor Day  |  September 2017</a:t>
            </a:r>
          </a:p>
        </p:txBody>
      </p:sp>
      <p:sp>
        <p:nvSpPr>
          <p:cNvPr id="4" name="Slide Number Placeholder 3">
            <a:extLst>
              <a:ext uri="{FF2B5EF4-FFF2-40B4-BE49-F238E27FC236}">
                <a16:creationId xmlns:a16="http://schemas.microsoft.com/office/drawing/2014/main" id="{C894ED77-9FE0-41D7-98AC-5586AC384038}"/>
              </a:ext>
            </a:extLst>
          </p:cNvPr>
          <p:cNvSpPr>
            <a:spLocks noGrp="1"/>
          </p:cNvSpPr>
          <p:nvPr>
            <p:ph type="sldNum" sz="quarter" idx="12"/>
          </p:nvPr>
        </p:nvSpPr>
        <p:spPr/>
        <p:txBody>
          <a:bodyPr/>
          <a:lstStyle/>
          <a:p>
            <a:fld id="{0D32313A-DEBC-4CA4-B008-A02D4ABE2C72}" type="slidenum">
              <a:rPr lang="en-GB" smtClean="0"/>
              <a:t>4</a:t>
            </a:fld>
            <a:endParaRPr lang="en-GB" dirty="0"/>
          </a:p>
        </p:txBody>
      </p:sp>
      <p:sp>
        <p:nvSpPr>
          <p:cNvPr id="5" name="Title 4">
            <a:extLst>
              <a:ext uri="{FF2B5EF4-FFF2-40B4-BE49-F238E27FC236}">
                <a16:creationId xmlns:a16="http://schemas.microsoft.com/office/drawing/2014/main" id="{BEDCA5BA-FE06-49A2-BC71-53A8AA875B39}"/>
              </a:ext>
            </a:extLst>
          </p:cNvPr>
          <p:cNvSpPr>
            <a:spLocks noGrp="1"/>
          </p:cNvSpPr>
          <p:nvPr>
            <p:ph type="title"/>
          </p:nvPr>
        </p:nvSpPr>
        <p:spPr>
          <a:xfrm>
            <a:off x="358775" y="270088"/>
            <a:ext cx="6646324" cy="937275"/>
          </a:xfrm>
        </p:spPr>
        <p:txBody>
          <a:bodyPr/>
          <a:lstStyle/>
          <a:p>
            <a:r>
              <a:rPr lang="en-GB" dirty="0"/>
              <a:t>Regulated Tenancies carry most of non-standard residential billing</a:t>
            </a:r>
          </a:p>
        </p:txBody>
      </p:sp>
      <p:cxnSp>
        <p:nvCxnSpPr>
          <p:cNvPr id="11" name="Straight Connector 10">
            <a:extLst>
              <a:ext uri="{FF2B5EF4-FFF2-40B4-BE49-F238E27FC236}">
                <a16:creationId xmlns:a16="http://schemas.microsoft.com/office/drawing/2014/main" id="{0BEFEFB4-4346-4898-9171-44B2A6DC4427}"/>
              </a:ext>
            </a:extLst>
          </p:cNvPr>
          <p:cNvCxnSpPr>
            <a:cxnSpLocks/>
          </p:cNvCxnSpPr>
          <p:nvPr/>
        </p:nvCxnSpPr>
        <p:spPr>
          <a:xfrm flipH="1" flipV="1">
            <a:off x="358774" y="2779775"/>
            <a:ext cx="1159130" cy="1051562"/>
          </a:xfrm>
          <a:prstGeom prst="line">
            <a:avLst/>
          </a:prstGeom>
          <a:ln w="12700">
            <a:solidFill>
              <a:srgbClr val="4D858D"/>
            </a:solidFill>
          </a:ln>
        </p:spPr>
        <p:style>
          <a:lnRef idx="1">
            <a:schemeClr val="accent1"/>
          </a:lnRef>
          <a:fillRef idx="0">
            <a:schemeClr val="accent1"/>
          </a:fillRef>
          <a:effectRef idx="0">
            <a:schemeClr val="accent1"/>
          </a:effectRef>
          <a:fontRef idx="minor">
            <a:schemeClr val="tx1"/>
          </a:fontRef>
        </p:style>
      </p:cxnSp>
      <p:sp>
        <p:nvSpPr>
          <p:cNvPr id="13" name="Content Placeholder 2">
            <a:extLst>
              <a:ext uri="{FF2B5EF4-FFF2-40B4-BE49-F238E27FC236}">
                <a16:creationId xmlns:a16="http://schemas.microsoft.com/office/drawing/2014/main" id="{FEB65D4A-587D-404C-9BE0-585B8B6AEEC5}"/>
              </a:ext>
            </a:extLst>
          </p:cNvPr>
          <p:cNvSpPr txBox="1">
            <a:spLocks/>
          </p:cNvSpPr>
          <p:nvPr/>
        </p:nvSpPr>
        <p:spPr>
          <a:xfrm>
            <a:off x="358774" y="1263933"/>
            <a:ext cx="8426449" cy="836460"/>
          </a:xfrm>
          <a:prstGeom prst="rect">
            <a:avLst/>
          </a:prstGeom>
          <a:ln>
            <a:noFill/>
          </a:ln>
        </p:spPr>
        <p:txBody>
          <a:bodyPr vert="horz" lIns="84406" tIns="42203" rIns="84406" bIns="42203" rtlCol="0" anchor="t">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796">
              <a:lnSpc>
                <a:spcPct val="100000"/>
              </a:lnSpc>
              <a:spcBef>
                <a:spcPts val="1200"/>
              </a:spcBef>
              <a:buNone/>
            </a:pPr>
            <a:r>
              <a:rPr lang="en-GB" sz="1200" dirty="0">
                <a:solidFill>
                  <a:schemeClr val="accent2"/>
                </a:solidFill>
                <a:latin typeface="Montserrat"/>
                <a:ea typeface="+mn-ea"/>
                <a:cs typeface="+mn-cs"/>
              </a:rPr>
              <a:t>The guiding principle for splitting units across the 2 MRI modules (RM and CM) is based on the functionality in each one of the modules. CM is able to handle service charges, therefore it holds the commercial leases and also all tenures that involve service charges (leaseholds, ground rents, shared ownership). All the ‘short’ residential leases (mainly AST’s and regulated) would be held in RM. </a:t>
            </a:r>
          </a:p>
        </p:txBody>
      </p:sp>
      <p:sp>
        <p:nvSpPr>
          <p:cNvPr id="17" name="Oval 16">
            <a:extLst>
              <a:ext uri="{FF2B5EF4-FFF2-40B4-BE49-F238E27FC236}">
                <a16:creationId xmlns:a16="http://schemas.microsoft.com/office/drawing/2014/main" id="{0159C5BA-1828-447E-B9A5-77373B313021}"/>
              </a:ext>
            </a:extLst>
          </p:cNvPr>
          <p:cNvSpPr/>
          <p:nvPr/>
        </p:nvSpPr>
        <p:spPr>
          <a:xfrm>
            <a:off x="3886200" y="4739260"/>
            <a:ext cx="1304925" cy="35242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6700AB0F-D095-422F-9A4D-717F60088CCA}"/>
              </a:ext>
            </a:extLst>
          </p:cNvPr>
          <p:cNvSpPr/>
          <p:nvPr/>
        </p:nvSpPr>
        <p:spPr>
          <a:xfrm>
            <a:off x="358775" y="2120605"/>
            <a:ext cx="8426444" cy="542602"/>
          </a:xfrm>
          <a:prstGeom prst="rect">
            <a:avLst/>
          </a:prstGeom>
          <a:solidFill>
            <a:srgbClr val="FFFF00"/>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b="1" dirty="0">
                <a:solidFill>
                  <a:schemeClr val="tx1"/>
                </a:solidFill>
                <a:latin typeface="+mj-lt"/>
              </a:rPr>
              <a:t>The population impacted by the MRI deficiency are 1,292 regulated (and some affordable) tenants who are charged weekly. </a:t>
            </a:r>
            <a:r>
              <a:rPr lang="en-GB" sz="1000" dirty="0">
                <a:solidFill>
                  <a:schemeClr val="tx1"/>
                </a:solidFill>
              </a:rPr>
              <a:t>This is not a core customer segment for Grainger and is expected to shrink in the future. However the billing activity and arrears management are intense in this segment – so they should be the focus for a decision to be made in this topic. </a:t>
            </a:r>
          </a:p>
        </p:txBody>
      </p:sp>
      <p:cxnSp>
        <p:nvCxnSpPr>
          <p:cNvPr id="20" name="Straight Arrow Connector 19">
            <a:extLst>
              <a:ext uri="{FF2B5EF4-FFF2-40B4-BE49-F238E27FC236}">
                <a16:creationId xmlns:a16="http://schemas.microsoft.com/office/drawing/2014/main" id="{E2C48216-3E6C-4502-AD63-9783A78B647E}"/>
              </a:ext>
            </a:extLst>
          </p:cNvPr>
          <p:cNvCxnSpPr>
            <a:cxnSpLocks/>
            <a:endCxn id="17" idx="0"/>
          </p:cNvCxnSpPr>
          <p:nvPr/>
        </p:nvCxnSpPr>
        <p:spPr>
          <a:xfrm>
            <a:off x="3602736" y="2663207"/>
            <a:ext cx="935927" cy="207605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2757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92F7EE0-20D5-42AD-9360-505ACE4F47DD}"/>
              </a:ext>
            </a:extLst>
          </p:cNvPr>
          <p:cNvSpPr>
            <a:spLocks noGrp="1"/>
          </p:cNvSpPr>
          <p:nvPr>
            <p:ph type="sldNum" sz="quarter" idx="12"/>
          </p:nvPr>
        </p:nvSpPr>
        <p:spPr/>
        <p:txBody>
          <a:bodyPr/>
          <a:lstStyle/>
          <a:p>
            <a:fld id="{0D32313A-DEBC-4CA4-B008-A02D4ABE2C72}" type="slidenum">
              <a:rPr lang="en-GB" smtClean="0"/>
              <a:t>5</a:t>
            </a:fld>
            <a:endParaRPr lang="en-GB" dirty="0"/>
          </a:p>
        </p:txBody>
      </p:sp>
      <p:sp>
        <p:nvSpPr>
          <p:cNvPr id="4" name="Title 3">
            <a:extLst>
              <a:ext uri="{FF2B5EF4-FFF2-40B4-BE49-F238E27FC236}">
                <a16:creationId xmlns:a16="http://schemas.microsoft.com/office/drawing/2014/main" id="{0599236D-3F85-4772-8B07-ECEBAC45AA03}"/>
              </a:ext>
            </a:extLst>
          </p:cNvPr>
          <p:cNvSpPr>
            <a:spLocks noGrp="1"/>
          </p:cNvSpPr>
          <p:nvPr>
            <p:ph type="title"/>
          </p:nvPr>
        </p:nvSpPr>
        <p:spPr>
          <a:xfrm>
            <a:off x="358775" y="289670"/>
            <a:ext cx="8328478" cy="581897"/>
          </a:xfrm>
        </p:spPr>
        <p:txBody>
          <a:bodyPr/>
          <a:lstStyle/>
          <a:p>
            <a:r>
              <a:rPr lang="en-GB" sz="2800" dirty="0"/>
              <a:t>MRI solution evolution: 2018 to date</a:t>
            </a:r>
            <a:endParaRPr lang="en-GB" sz="3600" dirty="0"/>
          </a:p>
        </p:txBody>
      </p:sp>
      <p:graphicFrame>
        <p:nvGraphicFramePr>
          <p:cNvPr id="5" name="Content Placeholder 5">
            <a:extLst>
              <a:ext uri="{FF2B5EF4-FFF2-40B4-BE49-F238E27FC236}">
                <a16:creationId xmlns:a16="http://schemas.microsoft.com/office/drawing/2014/main" id="{724F352D-F15D-4561-819E-2226663292BF}"/>
              </a:ext>
            </a:extLst>
          </p:cNvPr>
          <p:cNvGraphicFramePr>
            <a:graphicFrameLocks noGrp="1"/>
          </p:cNvGraphicFramePr>
          <p:nvPr>
            <p:ph idx="1"/>
            <p:extLst>
              <p:ext uri="{D42A27DB-BD31-4B8C-83A1-F6EECF244321}">
                <p14:modId xmlns:p14="http://schemas.microsoft.com/office/powerpoint/2010/main" val="408919026"/>
              </p:ext>
            </p:extLst>
          </p:nvPr>
        </p:nvGraphicFramePr>
        <p:xfrm>
          <a:off x="358775" y="1711647"/>
          <a:ext cx="8426451" cy="4500023"/>
        </p:xfrm>
        <a:graphic>
          <a:graphicData uri="http://schemas.openxmlformats.org/drawingml/2006/table">
            <a:tbl>
              <a:tblPr/>
              <a:tblGrid>
                <a:gridCol w="967007">
                  <a:extLst>
                    <a:ext uri="{9D8B030D-6E8A-4147-A177-3AD203B41FA5}">
                      <a16:colId xmlns:a16="http://schemas.microsoft.com/office/drawing/2014/main" val="498262556"/>
                    </a:ext>
                  </a:extLst>
                </a:gridCol>
                <a:gridCol w="2112796">
                  <a:extLst>
                    <a:ext uri="{9D8B030D-6E8A-4147-A177-3AD203B41FA5}">
                      <a16:colId xmlns:a16="http://schemas.microsoft.com/office/drawing/2014/main" val="542008314"/>
                    </a:ext>
                  </a:extLst>
                </a:gridCol>
                <a:gridCol w="891108">
                  <a:extLst>
                    <a:ext uri="{9D8B030D-6E8A-4147-A177-3AD203B41FA5}">
                      <a16:colId xmlns:a16="http://schemas.microsoft.com/office/drawing/2014/main" val="3073264862"/>
                    </a:ext>
                  </a:extLst>
                </a:gridCol>
                <a:gridCol w="891108">
                  <a:extLst>
                    <a:ext uri="{9D8B030D-6E8A-4147-A177-3AD203B41FA5}">
                      <a16:colId xmlns:a16="http://schemas.microsoft.com/office/drawing/2014/main" val="851723888"/>
                    </a:ext>
                  </a:extLst>
                </a:gridCol>
                <a:gridCol w="891108">
                  <a:extLst>
                    <a:ext uri="{9D8B030D-6E8A-4147-A177-3AD203B41FA5}">
                      <a16:colId xmlns:a16="http://schemas.microsoft.com/office/drawing/2014/main" val="1929150155"/>
                    </a:ext>
                  </a:extLst>
                </a:gridCol>
                <a:gridCol w="891108">
                  <a:extLst>
                    <a:ext uri="{9D8B030D-6E8A-4147-A177-3AD203B41FA5}">
                      <a16:colId xmlns:a16="http://schemas.microsoft.com/office/drawing/2014/main" val="3387804120"/>
                    </a:ext>
                  </a:extLst>
                </a:gridCol>
                <a:gridCol w="891108">
                  <a:extLst>
                    <a:ext uri="{9D8B030D-6E8A-4147-A177-3AD203B41FA5}">
                      <a16:colId xmlns:a16="http://schemas.microsoft.com/office/drawing/2014/main" val="1449742211"/>
                    </a:ext>
                  </a:extLst>
                </a:gridCol>
                <a:gridCol w="891108">
                  <a:extLst>
                    <a:ext uri="{9D8B030D-6E8A-4147-A177-3AD203B41FA5}">
                      <a16:colId xmlns:a16="http://schemas.microsoft.com/office/drawing/2014/main" val="883733744"/>
                    </a:ext>
                  </a:extLst>
                </a:gridCol>
              </a:tblGrid>
              <a:tr h="167912">
                <a:tc rowSpan="2" gridSpan="2">
                  <a:txBody>
                    <a:bodyPr/>
                    <a:lstStyle/>
                    <a:p>
                      <a:pPr algn="ctr" fontAlgn="b"/>
                      <a:r>
                        <a:rPr lang="en-GB" sz="600" b="1" i="0" u="none" strike="noStrike" dirty="0">
                          <a:solidFill>
                            <a:srgbClr val="000000"/>
                          </a:solidFill>
                          <a:effectLst/>
                          <a:latin typeface="Montserrat" panose="00000500000000000000" pitchFamily="50" charset="0"/>
                        </a:rPr>
                        <a:t> </a:t>
                      </a:r>
                      <a:r>
                        <a:rPr lang="en-GB" sz="1000" b="1" i="0" u="none" strike="noStrike" dirty="0">
                          <a:solidFill>
                            <a:srgbClr val="000000"/>
                          </a:solidFill>
                          <a:effectLst/>
                          <a:latin typeface="Montserrat" panose="00000500000000000000" pitchFamily="50" charset="0"/>
                        </a:rPr>
                        <a:t> Connect – Core Capabilities</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tc rowSpan="2" hMerge="1">
                  <a:txBody>
                    <a:bodyPr/>
                    <a:lstStyle/>
                    <a:p>
                      <a:pPr algn="ctr" fontAlgn="b"/>
                      <a:endParaRPr lang="en-GB" sz="1000" b="1" i="0" u="none" strike="noStrike">
                        <a:solidFill>
                          <a:srgbClr val="000000"/>
                        </a:solidFill>
                        <a:effectLst/>
                        <a:latin typeface="Montserrat" panose="00000500000000000000" pitchFamily="50" charset="0"/>
                      </a:endParaRPr>
                    </a:p>
                  </a:txBody>
                  <a:tcPr marL="0" marR="0" marT="0" marB="0" anchor="b">
                    <a:lnL>
                      <a:noFill/>
                    </a:lnL>
                    <a:lnR>
                      <a:noFill/>
                    </a:lnR>
                    <a:lnT>
                      <a:noFill/>
                    </a:lnT>
                    <a:lnB w="28575" cap="flat" cmpd="sng" algn="ctr">
                      <a:noFill/>
                      <a:prstDash val="solid"/>
                      <a:round/>
                      <a:headEnd type="none" w="med" len="med"/>
                      <a:tailEnd type="none" w="med" len="med"/>
                    </a:lnB>
                    <a:solidFill>
                      <a:srgbClr val="FFFFFF"/>
                    </a:solidFill>
                  </a:tcPr>
                </a:tc>
                <a:tc gridSpan="6">
                  <a:txBody>
                    <a:bodyPr/>
                    <a:lstStyle/>
                    <a:p>
                      <a:pPr algn="ctr" fontAlgn="b"/>
                      <a:r>
                        <a:rPr lang="en-GB" sz="1000" b="1" i="0" u="none" strike="noStrike" dirty="0">
                          <a:solidFill>
                            <a:srgbClr val="000000"/>
                          </a:solidFill>
                          <a:effectLst/>
                          <a:latin typeface="Montserrat" panose="00000500000000000000" pitchFamily="50" charset="0"/>
                        </a:rPr>
                        <a:t>Core System per capability</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hMerge="1">
                  <a:txBody>
                    <a:bodyPr/>
                    <a:lstStyle/>
                    <a:p>
                      <a:pPr algn="ctr" fontAlgn="b"/>
                      <a:endParaRPr lang="en-GB" sz="1000" b="1" i="0" u="none" strike="noStrike">
                        <a:solidFill>
                          <a:srgbClr val="000000"/>
                        </a:solidFill>
                        <a:effectLst/>
                        <a:latin typeface="Montserrat" panose="00000500000000000000" pitchFamily="50" charset="0"/>
                      </a:endParaRPr>
                    </a:p>
                  </a:txBody>
                  <a:tcPr marL="0" marR="0" marT="0" marB="0" anchor="b">
                    <a:lnL>
                      <a:noFill/>
                    </a:lnL>
                    <a:lnR>
                      <a:noFill/>
                    </a:lnR>
                    <a:lnT>
                      <a:noFill/>
                    </a:lnT>
                    <a:lnB w="28575" cap="flat" cmpd="sng" algn="ctr">
                      <a:noFill/>
                      <a:prstDash val="solid"/>
                      <a:round/>
                      <a:headEnd type="none" w="med" len="med"/>
                      <a:tailEnd type="none" w="med" len="med"/>
                    </a:lnB>
                    <a:solidFill>
                      <a:srgbClr val="FFFFFF"/>
                    </a:solidFill>
                  </a:tcPr>
                </a:tc>
                <a:tc hMerge="1">
                  <a:txBody>
                    <a:bodyPr/>
                    <a:lstStyle/>
                    <a:p>
                      <a:pPr algn="ctr" fontAlgn="b"/>
                      <a:endParaRPr lang="en-GB" sz="1000" b="1" i="0" u="none" strike="noStrike">
                        <a:solidFill>
                          <a:srgbClr val="000000"/>
                        </a:solidFill>
                        <a:effectLst/>
                        <a:latin typeface="Montserrat" panose="00000500000000000000" pitchFamily="50" charset="0"/>
                      </a:endParaRPr>
                    </a:p>
                  </a:txBody>
                  <a:tcPr marL="0" marR="0" marT="0" marB="0" anchor="b">
                    <a:lnL>
                      <a:noFill/>
                    </a:lnL>
                    <a:lnR>
                      <a:noFill/>
                    </a:lnR>
                    <a:lnT>
                      <a:noFill/>
                    </a:lnT>
                    <a:lnB w="28575" cap="flat" cmpd="sng" algn="ctr">
                      <a:noFill/>
                      <a:prstDash val="solid"/>
                      <a:round/>
                      <a:headEnd type="none" w="med" len="med"/>
                      <a:tailEnd type="none" w="med" len="med"/>
                    </a:lnB>
                    <a:solidFill>
                      <a:srgbClr val="FFFFFF"/>
                    </a:solidFill>
                  </a:tcPr>
                </a:tc>
                <a:tc hMerge="1">
                  <a:txBody>
                    <a:bodyPr/>
                    <a:lstStyle/>
                    <a:p>
                      <a:pPr algn="ctr" fontAlgn="b"/>
                      <a:endParaRPr lang="en-GB" sz="1000" b="1" i="0" u="none" strike="noStrike">
                        <a:solidFill>
                          <a:srgbClr val="000000"/>
                        </a:solidFill>
                        <a:effectLst/>
                        <a:latin typeface="Montserrat" panose="00000500000000000000" pitchFamily="50" charset="0"/>
                      </a:endParaRPr>
                    </a:p>
                  </a:txBody>
                  <a:tcPr marL="0" marR="0" marT="0" marB="0" anchor="b">
                    <a:lnL>
                      <a:noFill/>
                    </a:lnL>
                    <a:lnR>
                      <a:noFill/>
                    </a:lnR>
                    <a:lnT>
                      <a:noFill/>
                    </a:lnT>
                    <a:lnB w="28575" cap="flat" cmpd="sng" algn="ctr">
                      <a:noFill/>
                      <a:prstDash val="solid"/>
                      <a:round/>
                      <a:headEnd type="none" w="med" len="med"/>
                      <a:tailEnd type="none" w="med" len="med"/>
                    </a:lnB>
                    <a:solidFill>
                      <a:srgbClr val="FFFFFF"/>
                    </a:solidFill>
                  </a:tcPr>
                </a:tc>
                <a:tc hMerge="1">
                  <a:txBody>
                    <a:bodyPr/>
                    <a:lstStyle/>
                    <a:p>
                      <a:pPr algn="ctr" fontAlgn="b"/>
                      <a:endParaRPr lang="en-GB" sz="1000" b="1" i="0" u="none" strike="noStrike">
                        <a:solidFill>
                          <a:srgbClr val="000000"/>
                        </a:solidFill>
                        <a:effectLst/>
                        <a:latin typeface="Montserrat" panose="00000500000000000000" pitchFamily="50" charset="0"/>
                      </a:endParaRPr>
                    </a:p>
                  </a:txBody>
                  <a:tcPr marL="0" marR="0" marT="0" marB="0" anchor="b">
                    <a:lnL>
                      <a:noFill/>
                    </a:lnL>
                    <a:lnR>
                      <a:noFill/>
                    </a:lnR>
                    <a:lnT>
                      <a:noFill/>
                    </a:lnT>
                    <a:lnB w="28575" cap="flat" cmpd="sng" algn="ctr">
                      <a:noFill/>
                      <a:prstDash val="solid"/>
                      <a:round/>
                      <a:headEnd type="none" w="med" len="med"/>
                      <a:tailEnd type="none" w="med" len="med"/>
                    </a:lnB>
                    <a:solidFill>
                      <a:srgbClr val="FFFFFF"/>
                    </a:solidFill>
                  </a:tcPr>
                </a:tc>
                <a:tc hMerge="1">
                  <a:txBody>
                    <a:bodyPr/>
                    <a:lstStyle/>
                    <a:p>
                      <a:pPr algn="ctr" fontAlgn="b"/>
                      <a:endParaRPr lang="en-GB" sz="1000" b="1" i="0" u="none" strike="noStrike">
                        <a:solidFill>
                          <a:srgbClr val="000000"/>
                        </a:solidFill>
                        <a:effectLst/>
                        <a:latin typeface="Montserrat" panose="00000500000000000000" pitchFamily="50" charset="0"/>
                      </a:endParaRPr>
                    </a:p>
                  </a:txBody>
                  <a:tcPr marL="0" marR="0" marT="0" marB="0" anchor="b">
                    <a:lnL>
                      <a:noFill/>
                    </a:lnL>
                    <a:lnR>
                      <a:noFill/>
                    </a:lnR>
                    <a:lnT>
                      <a:noFill/>
                    </a:lnT>
                    <a:lnB w="28575"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3482519942"/>
                  </a:ext>
                </a:extLst>
              </a:tr>
              <a:tr h="167912">
                <a:tc gridSpan="2" vMerge="1">
                  <a:txBody>
                    <a:bodyPr/>
                    <a:lstStyle/>
                    <a:p>
                      <a:pPr algn="ctr" fontAlgn="b"/>
                      <a:r>
                        <a:rPr lang="en-GB" sz="600" b="1" i="0" u="none" strike="noStrike">
                          <a:solidFill>
                            <a:srgbClr val="000000"/>
                          </a:solidFill>
                          <a:effectLst/>
                          <a:latin typeface="Montserrat" panose="00000500000000000000" pitchFamily="50" charset="0"/>
                        </a:rPr>
                        <a:t> </a:t>
                      </a:r>
                      <a:r>
                        <a:rPr lang="en-GB" sz="1000" b="1" i="0" u="none" strike="noStrike">
                          <a:solidFill>
                            <a:srgbClr val="000000"/>
                          </a:solidFill>
                          <a:effectLst/>
                          <a:latin typeface="Montserrat" panose="00000500000000000000" pitchFamily="50" charset="0"/>
                        </a:rPr>
                        <a:t> Connect – Core Capabilities</a:t>
                      </a:r>
                    </a:p>
                  </a:txBody>
                  <a:tcPr marL="0" marR="0" marT="0" marB="0" anchor="b">
                    <a:lnL>
                      <a:noFill/>
                    </a:lnL>
                    <a:lnR>
                      <a:noFill/>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tc hMerge="1" vMerge="1">
                  <a:txBody>
                    <a:bodyPr/>
                    <a:lstStyle/>
                    <a:p>
                      <a:pPr algn="ctr" fontAlgn="b"/>
                      <a:r>
                        <a:rPr lang="en-GB" sz="1000" b="1" i="0" u="none" strike="noStrike">
                          <a:solidFill>
                            <a:srgbClr val="000000"/>
                          </a:solidFill>
                          <a:effectLst/>
                          <a:latin typeface="Montserrat" panose="00000500000000000000" pitchFamily="50" charset="0"/>
                        </a:rPr>
                        <a:t> Connect – Core Capabilities</a:t>
                      </a:r>
                    </a:p>
                  </a:txBody>
                  <a:tcPr marL="0" marR="0" marT="0" marB="0" anchor="b">
                    <a:lnL>
                      <a:noFill/>
                    </a:lnL>
                    <a:lnR>
                      <a:noFill/>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tc>
                  <a:txBody>
                    <a:bodyPr/>
                    <a:lstStyle/>
                    <a:p>
                      <a:pPr algn="ctr" fontAlgn="b"/>
                      <a:r>
                        <a:rPr lang="en-GB" sz="1000" b="1" i="0" u="none" strike="noStrike" dirty="0">
                          <a:solidFill>
                            <a:srgbClr val="000000"/>
                          </a:solidFill>
                          <a:effectLst/>
                          <a:latin typeface="Montserrat" panose="00000500000000000000" pitchFamily="50" charset="0"/>
                        </a:rPr>
                        <a:t>H1 2018</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tc>
                  <a:txBody>
                    <a:bodyPr/>
                    <a:lstStyle/>
                    <a:p>
                      <a:pPr algn="ctr" fontAlgn="b"/>
                      <a:r>
                        <a:rPr lang="en-GB" sz="1000" b="1" i="0" u="none" strike="noStrike" dirty="0">
                          <a:solidFill>
                            <a:srgbClr val="000000"/>
                          </a:solidFill>
                          <a:effectLst/>
                          <a:latin typeface="Montserrat" panose="00000500000000000000" pitchFamily="50" charset="0"/>
                        </a:rPr>
                        <a:t>H2 2018</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tc>
                  <a:txBody>
                    <a:bodyPr/>
                    <a:lstStyle/>
                    <a:p>
                      <a:pPr algn="ctr" fontAlgn="b"/>
                      <a:r>
                        <a:rPr lang="en-GB" sz="1000" b="1" i="0" u="none" strike="noStrike" dirty="0">
                          <a:solidFill>
                            <a:srgbClr val="000000"/>
                          </a:solidFill>
                          <a:effectLst/>
                          <a:latin typeface="Montserrat" panose="00000500000000000000" pitchFamily="50" charset="0"/>
                        </a:rPr>
                        <a:t>H1 2019</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tc>
                  <a:txBody>
                    <a:bodyPr/>
                    <a:lstStyle/>
                    <a:p>
                      <a:pPr algn="ctr" fontAlgn="b"/>
                      <a:r>
                        <a:rPr lang="en-GB" sz="1000" b="1" i="0" u="none" strike="noStrike" dirty="0">
                          <a:solidFill>
                            <a:srgbClr val="000000"/>
                          </a:solidFill>
                          <a:effectLst/>
                          <a:latin typeface="Montserrat" panose="00000500000000000000" pitchFamily="50" charset="0"/>
                        </a:rPr>
                        <a:t>H2 2019</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tc>
                  <a:txBody>
                    <a:bodyPr/>
                    <a:lstStyle/>
                    <a:p>
                      <a:pPr algn="ctr" fontAlgn="b"/>
                      <a:r>
                        <a:rPr lang="en-GB" sz="1000" b="1" i="0" u="none" strike="noStrike" dirty="0">
                          <a:solidFill>
                            <a:srgbClr val="000000"/>
                          </a:solidFill>
                          <a:effectLst/>
                          <a:latin typeface="Montserrat" panose="00000500000000000000" pitchFamily="50" charset="0"/>
                        </a:rPr>
                        <a:t>H1 2020</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tc>
                  <a:txBody>
                    <a:bodyPr/>
                    <a:lstStyle/>
                    <a:p>
                      <a:pPr algn="ctr" fontAlgn="b"/>
                      <a:r>
                        <a:rPr lang="en-GB" sz="1000" b="1" i="0" u="none" strike="noStrike" dirty="0">
                          <a:solidFill>
                            <a:srgbClr val="000000"/>
                          </a:solidFill>
                          <a:effectLst/>
                          <a:latin typeface="Montserrat" panose="00000500000000000000" pitchFamily="50" charset="0"/>
                        </a:rPr>
                        <a:t>H2 2020</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532086988"/>
                  </a:ext>
                </a:extLst>
              </a:tr>
              <a:tr h="134329">
                <a:tc rowSpan="4">
                  <a:txBody>
                    <a:bodyPr/>
                    <a:lstStyle/>
                    <a:p>
                      <a:pPr algn="ctr" fontAlgn="ctr"/>
                      <a:r>
                        <a:rPr lang="en-GB" sz="1000" b="1" i="0" u="none" strike="noStrike" dirty="0">
                          <a:solidFill>
                            <a:srgbClr val="000000"/>
                          </a:solidFill>
                          <a:effectLst/>
                          <a:latin typeface="Montserrat" panose="00000500000000000000" pitchFamily="50" charset="0"/>
                        </a:rPr>
                        <a:t>PG1: Property &amp; Suppliers</a:t>
                      </a:r>
                    </a:p>
                  </a:txBody>
                  <a:tcPr marL="0" marR="0" marT="0" marB="0" anchor="ctr">
                    <a:lnL w="285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800" b="0" i="0" u="none" strike="noStrike" dirty="0">
                          <a:solidFill>
                            <a:srgbClr val="000000"/>
                          </a:solidFill>
                          <a:effectLst/>
                          <a:latin typeface="Montserrat" panose="00000500000000000000" pitchFamily="50" charset="0"/>
                        </a:rPr>
                        <a:t>Compliments &amp; Complaints</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3257448"/>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Facilities Management</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 (RAM)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90977806"/>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Supplier Management</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3665112878"/>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Purchase to Pay</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 (Nexus)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tx1"/>
                          </a:solidFill>
                          <a:effectLst/>
                          <a:latin typeface="Montserrat" panose="00000500000000000000" pitchFamily="50" charset="0"/>
                        </a:rPr>
                        <a:t>Proactis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Proactis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Proactis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Proactis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Proactis</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87090587"/>
                  </a:ext>
                </a:extLst>
              </a:tr>
              <a:tr h="134329">
                <a:tc rowSpan="4">
                  <a:txBody>
                    <a:bodyPr/>
                    <a:lstStyle/>
                    <a:p>
                      <a:pPr algn="ctr" fontAlgn="ctr"/>
                      <a:r>
                        <a:rPr lang="en-GB" sz="1000" b="1" i="0" u="none" strike="noStrike" dirty="0">
                          <a:solidFill>
                            <a:srgbClr val="000000"/>
                          </a:solidFill>
                          <a:effectLst/>
                          <a:latin typeface="Montserrat" panose="00000500000000000000" pitchFamily="50" charset="0"/>
                        </a:rPr>
                        <a:t>PG2: Charges &amp; Payments</a:t>
                      </a:r>
                    </a:p>
                  </a:txBody>
                  <a:tcPr marL="0" marR="0" marT="0" marB="0" anchor="ctr">
                    <a:lnL w="285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800" b="0" i="0" u="none" strike="noStrike" dirty="0">
                          <a:solidFill>
                            <a:srgbClr val="000000"/>
                          </a:solidFill>
                          <a:effectLst/>
                          <a:latin typeface="Montserrat" panose="00000500000000000000" pitchFamily="50" charset="0"/>
                        </a:rPr>
                        <a:t>Accounting: charges &amp; payments</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3298619885"/>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Arrears</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tx1"/>
                          </a:solidFill>
                          <a:effectLst/>
                          <a:latin typeface="Montserrat" panose="00000500000000000000" pitchFamily="50" charset="0"/>
                        </a:rPr>
                        <a:t>MRI (custom)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b"/>
                      <a:r>
                        <a:rPr lang="en-GB" sz="800" b="0" i="0" u="none" strike="noStrike" dirty="0">
                          <a:solidFill>
                            <a:schemeClr val="tx1"/>
                          </a:solidFill>
                          <a:effectLst/>
                          <a:latin typeface="Montserrat" panose="00000500000000000000" pitchFamily="50" charset="0"/>
                        </a:rPr>
                        <a:t>MRI (Custom)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b"/>
                      <a:r>
                        <a:rPr lang="en-GB" sz="800" b="0" i="0" u="none" strike="noStrike" dirty="0">
                          <a:solidFill>
                            <a:schemeClr val="tx1"/>
                          </a:solidFill>
                          <a:effectLst/>
                          <a:latin typeface="Montserrat" panose="00000500000000000000" pitchFamily="50" charset="0"/>
                        </a:rPr>
                        <a:t>MRI (Custom)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b"/>
                      <a:r>
                        <a:rPr lang="en-GB" sz="800" b="0" i="0" u="none" strike="noStrike" dirty="0">
                          <a:solidFill>
                            <a:schemeClr val="tx1"/>
                          </a:solidFill>
                          <a:effectLst/>
                          <a:latin typeface="Montserrat" panose="00000500000000000000" pitchFamily="50" charset="0"/>
                        </a:rPr>
                        <a:t>MRI (Custom)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b"/>
                      <a:r>
                        <a:rPr lang="en-GB" sz="800" b="0" i="0" u="none" strike="noStrike" dirty="0">
                          <a:solidFill>
                            <a:schemeClr val="tx1"/>
                          </a:solidFill>
                          <a:effectLst/>
                          <a:latin typeface="Montserrat" panose="00000500000000000000" pitchFamily="50" charset="0"/>
                        </a:rPr>
                        <a:t>MRI (Custom)</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3642068095"/>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Amenities</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14554457"/>
                  </a:ext>
                </a:extLst>
              </a:tr>
              <a:tr h="134329">
                <a:tc vMerge="1">
                  <a:txBody>
                    <a:bodyPr/>
                    <a:lstStyle/>
                    <a:p>
                      <a:endParaRPr lang="en-GB"/>
                    </a:p>
                  </a:txBody>
                  <a:tcPr>
                    <a:lnT w="12700" cap="flat" cmpd="sng" algn="ctr">
                      <a:solidFill>
                        <a:srgbClr val="000000"/>
                      </a:solidFill>
                      <a:prstDash val="solid"/>
                      <a:round/>
                      <a:headEnd type="none" w="med" len="med"/>
                      <a:tailEnd type="none" w="med" len="med"/>
                    </a:lnT>
                  </a:tcPr>
                </a:tc>
                <a:tc>
                  <a:txBody>
                    <a:bodyPr/>
                    <a:lstStyle/>
                    <a:p>
                      <a:pPr algn="l" fontAlgn="b"/>
                      <a:r>
                        <a:rPr lang="en-GB" sz="800" b="0" i="0" u="none" strike="noStrike" dirty="0">
                          <a:solidFill>
                            <a:srgbClr val="000000"/>
                          </a:solidFill>
                          <a:effectLst/>
                          <a:latin typeface="Montserrat" panose="00000500000000000000" pitchFamily="50" charset="0"/>
                        </a:rPr>
                        <a:t>Collecting Payments</a:t>
                      </a:r>
                    </a:p>
                  </a:txBody>
                  <a:tcPr marL="36000" marR="0" marT="0" marB="0" anchor="b">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tx1"/>
                          </a:solidFill>
                          <a:effectLst/>
                          <a:latin typeface="Montserrat" panose="00000500000000000000" pitchFamily="50" charset="0"/>
                        </a:rPr>
                        <a:t>SP/ ME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SP/ME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SP/ME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15492944"/>
                  </a:ext>
                </a:extLst>
              </a:tr>
              <a:tr h="134329">
                <a:tc rowSpan="6">
                  <a:txBody>
                    <a:bodyPr/>
                    <a:lstStyle/>
                    <a:p>
                      <a:pPr algn="ctr" fontAlgn="ctr"/>
                      <a:r>
                        <a:rPr lang="en-GB" sz="1000" b="1" i="0" u="none" strike="noStrike" dirty="0">
                          <a:solidFill>
                            <a:srgbClr val="000000"/>
                          </a:solidFill>
                          <a:effectLst/>
                          <a:latin typeface="Montserrat" panose="00000500000000000000" pitchFamily="50" charset="0"/>
                        </a:rPr>
                        <a:t>PG3: Leasing, Move-in / Move-Out</a:t>
                      </a:r>
                    </a:p>
                  </a:txBody>
                  <a:tcPr marL="0" marR="0" marT="0" marB="0" anchor="ctr">
                    <a:lnL w="285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800" b="0" i="0" u="none" strike="noStrike" dirty="0">
                          <a:solidFill>
                            <a:srgbClr val="000000"/>
                          </a:solidFill>
                          <a:effectLst/>
                          <a:latin typeface="Montserrat" panose="00000500000000000000" pitchFamily="50" charset="0"/>
                        </a:rPr>
                        <a:t>Lead Management</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tx1"/>
                          </a:solidFill>
                          <a:effectLst/>
                          <a:latin typeface="Montserrat" panose="00000500000000000000" pitchFamily="50" charset="0"/>
                        </a:rPr>
                        <a:t>PEX</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PEX</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PEX</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82014927"/>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Leasing</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tx1"/>
                          </a:solidFill>
                          <a:effectLst/>
                          <a:latin typeface="Montserrat" panose="00000500000000000000" pitchFamily="50" charset="0"/>
                        </a:rPr>
                        <a:t>PEX</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PEX</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PEX</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66942245"/>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L2L Payments</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tx1"/>
                          </a:solidFill>
                          <a:effectLst/>
                          <a:latin typeface="Montserrat" panose="00000500000000000000" pitchFamily="50" charset="0"/>
                        </a:rPr>
                        <a:t>SP/ME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GB" sz="800" b="0" i="0" u="none" strike="noStrike" dirty="0">
                          <a:solidFill>
                            <a:schemeClr val="tx1"/>
                          </a:solidFill>
                          <a:effectLst/>
                          <a:latin typeface="Montserrat" panose="00000500000000000000" pitchFamily="50" charset="0"/>
                        </a:rPr>
                        <a:t>SP/ME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GB" sz="800" b="0" i="0" u="none" strike="noStrike" dirty="0">
                          <a:solidFill>
                            <a:schemeClr val="tx1"/>
                          </a:solidFill>
                          <a:effectLst/>
                          <a:latin typeface="Montserrat" panose="00000500000000000000" pitchFamily="50" charset="0"/>
                        </a:rPr>
                        <a:t>PEX</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44236912"/>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Move in / Move out</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FSI</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0807379"/>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Revenue Management </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tx1"/>
                          </a:solidFill>
                          <a:effectLst/>
                          <a:latin typeface="Montserrat" panose="00000500000000000000" pitchFamily="50" charset="0"/>
                        </a:rPr>
                        <a:t>YieldStar</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GB" sz="800" b="0" i="0" u="none" strike="noStrike" dirty="0">
                          <a:solidFill>
                            <a:schemeClr val="tx1"/>
                          </a:solidFill>
                          <a:effectLst/>
                          <a:latin typeface="Montserrat" panose="00000500000000000000" pitchFamily="50" charset="0"/>
                        </a:rPr>
                        <a:t>YieldStar</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GB" sz="800" b="0" i="0" u="none" strike="noStrike" dirty="0">
                          <a:solidFill>
                            <a:schemeClr val="tx1"/>
                          </a:solidFill>
                          <a:effectLst/>
                          <a:latin typeface="Montserrat" panose="00000500000000000000" pitchFamily="50" charset="0"/>
                        </a:rPr>
                        <a:t>YieldStar</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GB" sz="800" b="0" i="0" u="none" strike="noStrike" dirty="0">
                          <a:solidFill>
                            <a:schemeClr val="tx1"/>
                          </a:solidFill>
                          <a:effectLst/>
                          <a:latin typeface="Montserrat" panose="00000500000000000000" pitchFamily="50" charset="0"/>
                        </a:rPr>
                        <a:t>YieldStar</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GB" sz="800" b="0" i="0" u="none" strike="noStrike" dirty="0">
                          <a:solidFill>
                            <a:schemeClr val="tx1"/>
                          </a:solidFill>
                          <a:effectLst/>
                          <a:latin typeface="Montserrat" panose="00000500000000000000" pitchFamily="50" charset="0"/>
                        </a:rPr>
                        <a:t>tbd</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GB" sz="800" b="0" i="0" u="none" strike="noStrike" dirty="0">
                          <a:solidFill>
                            <a:schemeClr val="tx1"/>
                          </a:solidFill>
                          <a:effectLst/>
                          <a:latin typeface="Montserrat" panose="00000500000000000000" pitchFamily="50" charset="0"/>
                        </a:rPr>
                        <a:t>tbd</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79451713"/>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Renewals</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3956858"/>
                  </a:ext>
                </a:extLst>
              </a:tr>
              <a:tr h="134329">
                <a:tc rowSpan="4">
                  <a:txBody>
                    <a:bodyPr/>
                    <a:lstStyle/>
                    <a:p>
                      <a:pPr algn="ctr" fontAlgn="ctr"/>
                      <a:r>
                        <a:rPr lang="en-GB" sz="1000" b="1" i="0" u="none" strike="noStrike" dirty="0">
                          <a:solidFill>
                            <a:srgbClr val="000000"/>
                          </a:solidFill>
                          <a:effectLst/>
                          <a:latin typeface="Montserrat" panose="00000500000000000000" pitchFamily="50" charset="0"/>
                        </a:rPr>
                        <a:t>PG4: Onboarding &amp; Sales</a:t>
                      </a:r>
                    </a:p>
                  </a:txBody>
                  <a:tcPr marL="0" marR="0" marT="0" marB="0" anchor="ctr">
                    <a:lnL w="285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800" b="0" i="0" u="none" strike="noStrike" dirty="0">
                          <a:solidFill>
                            <a:srgbClr val="000000"/>
                          </a:solidFill>
                          <a:effectLst/>
                          <a:latin typeface="Montserrat" panose="00000500000000000000" pitchFamily="50" charset="0"/>
                        </a:rPr>
                        <a:t>Onboarding</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MRI (template)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MRI (template)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MRI (template)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MRI (template)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MRI (template)</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4138231380"/>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Job Costing</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tx1"/>
                          </a:solidFill>
                          <a:effectLst/>
                          <a:latin typeface="Montserrat" panose="00000500000000000000" pitchFamily="50" charset="0"/>
                        </a:rPr>
                        <a:t>(Not available) </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(Not available) </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(Not Available)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2451660380"/>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Property Sales / Valuation</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tx1"/>
                          </a:solidFill>
                          <a:effectLst/>
                          <a:latin typeface="Montserrat" panose="00000500000000000000" pitchFamily="50" charset="0"/>
                        </a:rPr>
                        <a:t>(Not available)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MRI (Custom)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MRI (Custom)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MRI (Custom)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MRI (Custom)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MRI (Custom)</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073770081"/>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Property Sales accounting</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2663949598"/>
                  </a:ext>
                </a:extLst>
              </a:tr>
              <a:tr h="134329">
                <a:tc rowSpan="8">
                  <a:txBody>
                    <a:bodyPr/>
                    <a:lstStyle/>
                    <a:p>
                      <a:pPr algn="ctr" fontAlgn="ctr"/>
                      <a:r>
                        <a:rPr lang="en-GB" sz="1000" b="1" i="0" u="none" strike="noStrike" dirty="0">
                          <a:solidFill>
                            <a:srgbClr val="000000"/>
                          </a:solidFill>
                          <a:effectLst/>
                          <a:latin typeface="Montserrat" panose="00000500000000000000" pitchFamily="50" charset="0"/>
                        </a:rPr>
                        <a:t>PG5: Finance</a:t>
                      </a:r>
                    </a:p>
                  </a:txBody>
                  <a:tcPr marL="0" marR="0" marT="0" marB="0" anchor="ctr">
                    <a:lnL w="285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800" b="0" i="0" u="none" strike="noStrike" dirty="0">
                          <a:solidFill>
                            <a:srgbClr val="000000"/>
                          </a:solidFill>
                          <a:effectLst/>
                          <a:latin typeface="Montserrat" panose="00000500000000000000" pitchFamily="50" charset="0"/>
                        </a:rPr>
                        <a:t>Service Charge</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755353153"/>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Accounting</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1271470493"/>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Cash Management</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4231360667"/>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Insurance</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3671258776"/>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Staff Expenses</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tx1"/>
                          </a:solidFill>
                          <a:effectLst/>
                          <a:latin typeface="Montserrat" panose="00000500000000000000" pitchFamily="50" charset="0"/>
                        </a:rPr>
                        <a:t>Proactis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Proactis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Proactis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Proactis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Proactis</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81010817"/>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FP&amp;A</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tx1"/>
                          </a:solidFill>
                          <a:effectLst/>
                          <a:latin typeface="Montserrat" panose="00000500000000000000" pitchFamily="50" charset="0"/>
                        </a:rPr>
                        <a:t>(Not available)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(Not available)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(Not available)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OneStream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OneStream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OneStream</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06898736"/>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Rent Review</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MRI (Custom)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MRI (Custom)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MRI (Custom)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MRI (Custom)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MRI (Custom)</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813575132"/>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Tax</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3358578195"/>
                  </a:ext>
                </a:extLst>
              </a:tr>
              <a:tr h="134329">
                <a:tc rowSpan="5">
                  <a:txBody>
                    <a:bodyPr/>
                    <a:lstStyle/>
                    <a:p>
                      <a:pPr algn="ctr" fontAlgn="ctr"/>
                      <a:r>
                        <a:rPr lang="en-GB" sz="1000" b="1" i="0" u="none" strike="noStrike" dirty="0">
                          <a:solidFill>
                            <a:srgbClr val="000000"/>
                          </a:solidFill>
                          <a:effectLst/>
                          <a:latin typeface="Montserrat" panose="00000500000000000000" pitchFamily="50" charset="0"/>
                        </a:rPr>
                        <a:t>Shared &amp; Enabling functionality</a:t>
                      </a:r>
                    </a:p>
                  </a:txBody>
                  <a:tcPr marL="0" marR="0" marT="0" marB="0" anchor="ctr">
                    <a:lnL w="285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tc>
                  <a:txBody>
                    <a:bodyPr/>
                    <a:lstStyle/>
                    <a:p>
                      <a:pPr algn="l" fontAlgn="b"/>
                      <a:r>
                        <a:rPr lang="en-GB" sz="800" b="0" i="0" u="none" strike="noStrike" dirty="0">
                          <a:solidFill>
                            <a:srgbClr val="000000"/>
                          </a:solidFill>
                          <a:effectLst/>
                          <a:latin typeface="Montserrat" panose="00000500000000000000" pitchFamily="50" charset="0"/>
                        </a:rPr>
                        <a:t>Master Data</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634247589"/>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Single View of Customer</a:t>
                      </a:r>
                    </a:p>
                  </a:txBody>
                  <a:tcPr marL="3600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Salesforce</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26354409"/>
                  </a:ext>
                </a:extLst>
              </a:tr>
              <a:tr h="13432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Reporting (finance)</a:t>
                      </a:r>
                    </a:p>
                  </a:txBody>
                  <a:tcPr marL="36000" marR="0" marT="0" marB="0" anchor="b">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tx1"/>
                          </a:solidFill>
                          <a:effectLst/>
                          <a:latin typeface="Montserrat" panose="00000500000000000000" pitchFamily="50" charset="0"/>
                        </a:rPr>
                        <a:t>Board</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Board</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Board</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OneStream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OneStream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OneStream</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55247705"/>
                  </a:ext>
                </a:extLst>
              </a:tr>
              <a:tr h="134329">
                <a:tc vMerge="1">
                  <a:txBody>
                    <a:bodyPr/>
                    <a:lstStyle/>
                    <a:p>
                      <a:endParaRPr lang="en-GB"/>
                    </a:p>
                  </a:txBody>
                  <a:tcPr>
                    <a:lnT w="28575" cap="flat" cmpd="sng" algn="ctr">
                      <a:solidFill>
                        <a:schemeClr val="tx1"/>
                      </a:solidFill>
                      <a:prstDash val="solid"/>
                      <a:round/>
                      <a:headEnd type="none" w="med" len="med"/>
                      <a:tailEnd type="none" w="med" len="med"/>
                    </a:lnT>
                  </a:tcPr>
                </a:tc>
                <a:tc>
                  <a:txBody>
                    <a:bodyPr/>
                    <a:lstStyle/>
                    <a:p>
                      <a:pPr algn="l" fontAlgn="b"/>
                      <a:r>
                        <a:rPr lang="en-GB" sz="800" b="0" i="0" u="none" strike="noStrike" dirty="0">
                          <a:solidFill>
                            <a:srgbClr val="000000"/>
                          </a:solidFill>
                          <a:effectLst/>
                          <a:latin typeface="Montserrat" panose="00000500000000000000" pitchFamily="50" charset="0"/>
                        </a:rPr>
                        <a:t>Reporting (general)</a:t>
                      </a:r>
                    </a:p>
                  </a:txBody>
                  <a:tcPr marL="36000" marR="0" marT="0" marB="0" anchor="b">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bg1"/>
                          </a:solidFill>
                          <a:effectLst/>
                          <a:latin typeface="Montserrat" panose="00000500000000000000" pitchFamily="50" charset="0"/>
                        </a:rPr>
                        <a:t>MRI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b"/>
                      <a:r>
                        <a:rPr lang="en-GB" sz="800" b="0" i="0" u="none" strike="noStrike" dirty="0">
                          <a:solidFill>
                            <a:schemeClr val="tx1"/>
                          </a:solidFill>
                          <a:effectLst/>
                          <a:latin typeface="Montserrat" panose="00000500000000000000" pitchFamily="50" charset="0"/>
                        </a:rPr>
                        <a:t>Power BI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Power BI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Power BI</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25748701"/>
                  </a:ext>
                </a:extLst>
              </a:tr>
              <a:tr h="134329">
                <a:tc vMerge="1">
                  <a:txBody>
                    <a:bodyPr/>
                    <a:lstStyle/>
                    <a:p>
                      <a:endParaRPr lang="en-GB"/>
                    </a:p>
                  </a:txBody>
                  <a:tcPr>
                    <a:lnT w="28575" cap="flat" cmpd="sng" algn="ctr">
                      <a:solidFill>
                        <a:schemeClr val="tx1"/>
                      </a:solidFill>
                      <a:prstDash val="solid"/>
                      <a:round/>
                      <a:headEnd type="none" w="med" len="med"/>
                      <a:tailEnd type="none" w="med" len="med"/>
                    </a:lnT>
                  </a:tcPr>
                </a:tc>
                <a:tc>
                  <a:txBody>
                    <a:bodyPr/>
                    <a:lstStyle/>
                    <a:p>
                      <a:pPr marL="0" marR="0" lvl="0" indent="0" algn="l" defTabSz="685796" rtl="0" eaLnBrk="1" fontAlgn="b" latinLnBrk="0" hangingPunct="1">
                        <a:lnSpc>
                          <a:spcPct val="100000"/>
                        </a:lnSpc>
                        <a:spcBef>
                          <a:spcPts val="0"/>
                        </a:spcBef>
                        <a:spcAft>
                          <a:spcPts val="0"/>
                        </a:spcAft>
                        <a:buClrTx/>
                        <a:buSzTx/>
                        <a:buFontTx/>
                        <a:buNone/>
                        <a:tabLst/>
                        <a:defRPr/>
                      </a:pPr>
                      <a:r>
                        <a:rPr lang="en-GB" sz="800" b="0" i="0" u="none" strike="noStrike" dirty="0">
                          <a:solidFill>
                            <a:srgbClr val="000000"/>
                          </a:solidFill>
                          <a:effectLst/>
                          <a:latin typeface="Montserrat" panose="00000500000000000000" pitchFamily="50" charset="0"/>
                        </a:rPr>
                        <a:t>Document Storage</a:t>
                      </a:r>
                    </a:p>
                  </a:txBody>
                  <a:tcPr marL="36000" marR="0" marT="0" marB="0" anchor="b">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tc>
                  <a:txBody>
                    <a:bodyPr/>
                    <a:lstStyle/>
                    <a:p>
                      <a:pPr algn="ctr" fontAlgn="b"/>
                      <a:r>
                        <a:rPr lang="en-GB" sz="800" b="0" i="0" u="none" strike="noStrike" dirty="0">
                          <a:solidFill>
                            <a:schemeClr val="tx1"/>
                          </a:solidFill>
                          <a:effectLst/>
                          <a:latin typeface="Montserrat" panose="00000500000000000000" pitchFamily="50" charset="0"/>
                        </a:rPr>
                        <a:t>Docushare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Docushare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Docushare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DMS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DMS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fontAlgn="b"/>
                      <a:r>
                        <a:rPr lang="en-GB" sz="800" b="0" i="0" u="none" strike="noStrike" dirty="0">
                          <a:solidFill>
                            <a:schemeClr val="tx1"/>
                          </a:solidFill>
                          <a:effectLst/>
                          <a:latin typeface="Montserrat" panose="00000500000000000000" pitchFamily="50" charset="0"/>
                        </a:rPr>
                        <a:t>DMS</a:t>
                      </a:r>
                    </a:p>
                  </a:txBody>
                  <a:tcPr marL="0" marR="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9459183"/>
                  </a:ext>
                </a:extLst>
              </a:tr>
            </a:tbl>
          </a:graphicData>
        </a:graphic>
      </p:graphicFrame>
      <p:sp>
        <p:nvSpPr>
          <p:cNvPr id="6" name="Content Placeholder 5">
            <a:extLst>
              <a:ext uri="{FF2B5EF4-FFF2-40B4-BE49-F238E27FC236}">
                <a16:creationId xmlns:a16="http://schemas.microsoft.com/office/drawing/2014/main" id="{AAF742B7-F3CD-4D27-8F5F-691D80C6E4AC}"/>
              </a:ext>
            </a:extLst>
          </p:cNvPr>
          <p:cNvSpPr txBox="1">
            <a:spLocks/>
          </p:cNvSpPr>
          <p:nvPr/>
        </p:nvSpPr>
        <p:spPr>
          <a:xfrm>
            <a:off x="358775" y="882379"/>
            <a:ext cx="8426450" cy="829268"/>
          </a:xfrm>
          <a:prstGeom prst="rect">
            <a:avLst/>
          </a:prstGeom>
          <a:noFill/>
        </p:spPr>
        <p:txBody>
          <a:bodyPr wrap="square" rtlCol="0" anchor="t">
            <a:noAutofit/>
          </a:bodyPr>
          <a:lstStyle>
            <a:defPPr>
              <a:defRPr lang="en-US"/>
            </a:defPPr>
            <a:lvl1pPr>
              <a:lnSpc>
                <a:spcPct val="110000"/>
              </a:lnSpc>
              <a:defRPr sz="1100">
                <a:solidFill>
                  <a:srgbClr val="4D858D"/>
                </a:solidFill>
                <a:latin typeface="Montserrat" panose="00000500000000000000" pitchFamily="50"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t>MRI was the original core ERP solution, however given the adoption of best of breed applications namely FSI, Proactis and Salesforce, this is no longer the case. MRI hosts the master data of the platform and supports supplier management, but beyond that most of the MRI capability resides in finance or has been specifically built.</a:t>
            </a:r>
          </a:p>
        </p:txBody>
      </p:sp>
      <p:sp>
        <p:nvSpPr>
          <p:cNvPr id="7" name="Rectangle 6">
            <a:extLst>
              <a:ext uri="{FF2B5EF4-FFF2-40B4-BE49-F238E27FC236}">
                <a16:creationId xmlns:a16="http://schemas.microsoft.com/office/drawing/2014/main" id="{E692AD83-5397-41A3-8DED-3C0D10C41E69}"/>
              </a:ext>
            </a:extLst>
          </p:cNvPr>
          <p:cNvSpPr/>
          <p:nvPr/>
        </p:nvSpPr>
        <p:spPr>
          <a:xfrm>
            <a:off x="2752058" y="6462851"/>
            <a:ext cx="144000" cy="144000"/>
          </a:xfrm>
          <a:prstGeom prst="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i="1" dirty="0"/>
          </a:p>
        </p:txBody>
      </p:sp>
      <p:sp>
        <p:nvSpPr>
          <p:cNvPr id="8" name="Rectangle 7">
            <a:extLst>
              <a:ext uri="{FF2B5EF4-FFF2-40B4-BE49-F238E27FC236}">
                <a16:creationId xmlns:a16="http://schemas.microsoft.com/office/drawing/2014/main" id="{50BCF94E-C1C0-4C05-9545-FC0D5F4E8198}"/>
              </a:ext>
            </a:extLst>
          </p:cNvPr>
          <p:cNvSpPr/>
          <p:nvPr/>
        </p:nvSpPr>
        <p:spPr>
          <a:xfrm>
            <a:off x="2752058" y="6637243"/>
            <a:ext cx="1440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i="1" dirty="0"/>
          </a:p>
        </p:txBody>
      </p:sp>
      <p:sp>
        <p:nvSpPr>
          <p:cNvPr id="9" name="TextBox 8">
            <a:extLst>
              <a:ext uri="{FF2B5EF4-FFF2-40B4-BE49-F238E27FC236}">
                <a16:creationId xmlns:a16="http://schemas.microsoft.com/office/drawing/2014/main" id="{2F350E85-A69C-4510-989B-612A656E4746}"/>
              </a:ext>
            </a:extLst>
          </p:cNvPr>
          <p:cNvSpPr txBox="1"/>
          <p:nvPr/>
        </p:nvSpPr>
        <p:spPr>
          <a:xfrm>
            <a:off x="2845244" y="6427129"/>
            <a:ext cx="1881286" cy="215444"/>
          </a:xfrm>
          <a:prstGeom prst="rect">
            <a:avLst/>
          </a:prstGeom>
          <a:noFill/>
        </p:spPr>
        <p:txBody>
          <a:bodyPr wrap="square" rtlCol="0">
            <a:spAutoFit/>
          </a:bodyPr>
          <a:lstStyle/>
          <a:p>
            <a:pPr algn="l"/>
            <a:r>
              <a:rPr lang="en-GB" sz="800" i="1" dirty="0"/>
              <a:t>Finance capability – Core MRI</a:t>
            </a:r>
          </a:p>
        </p:txBody>
      </p:sp>
      <p:sp>
        <p:nvSpPr>
          <p:cNvPr id="10" name="TextBox 9">
            <a:extLst>
              <a:ext uri="{FF2B5EF4-FFF2-40B4-BE49-F238E27FC236}">
                <a16:creationId xmlns:a16="http://schemas.microsoft.com/office/drawing/2014/main" id="{1DF08F16-4A99-44A5-A417-ECB742AF1842}"/>
              </a:ext>
            </a:extLst>
          </p:cNvPr>
          <p:cNvSpPr txBox="1"/>
          <p:nvPr/>
        </p:nvSpPr>
        <p:spPr>
          <a:xfrm>
            <a:off x="2845244" y="6601521"/>
            <a:ext cx="1881286" cy="215444"/>
          </a:xfrm>
          <a:prstGeom prst="rect">
            <a:avLst/>
          </a:prstGeom>
          <a:noFill/>
        </p:spPr>
        <p:txBody>
          <a:bodyPr wrap="square" rtlCol="0">
            <a:spAutoFit/>
          </a:bodyPr>
          <a:lstStyle/>
          <a:p>
            <a:pPr algn="l"/>
            <a:r>
              <a:rPr lang="en-GB" sz="800" i="1" dirty="0"/>
              <a:t>Finance capability – Customised</a:t>
            </a:r>
          </a:p>
        </p:txBody>
      </p:sp>
      <p:sp>
        <p:nvSpPr>
          <p:cNvPr id="11" name="Rectangle 10">
            <a:extLst>
              <a:ext uri="{FF2B5EF4-FFF2-40B4-BE49-F238E27FC236}">
                <a16:creationId xmlns:a16="http://schemas.microsoft.com/office/drawing/2014/main" id="{FB51517C-C6B9-4B1E-8176-113DF631D1B6}"/>
              </a:ext>
            </a:extLst>
          </p:cNvPr>
          <p:cNvSpPr/>
          <p:nvPr/>
        </p:nvSpPr>
        <p:spPr>
          <a:xfrm>
            <a:off x="4764444" y="6462851"/>
            <a:ext cx="144000" cy="144000"/>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i="1" dirty="0"/>
          </a:p>
        </p:txBody>
      </p:sp>
      <p:sp>
        <p:nvSpPr>
          <p:cNvPr id="12" name="Rectangle 11">
            <a:extLst>
              <a:ext uri="{FF2B5EF4-FFF2-40B4-BE49-F238E27FC236}">
                <a16:creationId xmlns:a16="http://schemas.microsoft.com/office/drawing/2014/main" id="{CCEDDC3E-5A48-4798-9461-45AC37B59920}"/>
              </a:ext>
            </a:extLst>
          </p:cNvPr>
          <p:cNvSpPr/>
          <p:nvPr/>
        </p:nvSpPr>
        <p:spPr>
          <a:xfrm>
            <a:off x="4764444" y="6637243"/>
            <a:ext cx="144000" cy="144000"/>
          </a:xfrm>
          <a:prstGeom prst="rect">
            <a:avLst/>
          </a:prstGeom>
          <a:solidFill>
            <a:schemeClr val="accent3">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i="1" dirty="0"/>
          </a:p>
        </p:txBody>
      </p:sp>
      <p:sp>
        <p:nvSpPr>
          <p:cNvPr id="13" name="TextBox 12">
            <a:extLst>
              <a:ext uri="{FF2B5EF4-FFF2-40B4-BE49-F238E27FC236}">
                <a16:creationId xmlns:a16="http://schemas.microsoft.com/office/drawing/2014/main" id="{93E49810-2E36-4892-BFF2-294288C2AD16}"/>
              </a:ext>
            </a:extLst>
          </p:cNvPr>
          <p:cNvSpPr txBox="1"/>
          <p:nvPr/>
        </p:nvSpPr>
        <p:spPr>
          <a:xfrm>
            <a:off x="4857629" y="6427129"/>
            <a:ext cx="2139013" cy="215444"/>
          </a:xfrm>
          <a:prstGeom prst="rect">
            <a:avLst/>
          </a:prstGeom>
          <a:noFill/>
        </p:spPr>
        <p:txBody>
          <a:bodyPr wrap="square" rtlCol="0">
            <a:spAutoFit/>
          </a:bodyPr>
          <a:lstStyle/>
          <a:p>
            <a:pPr algn="l"/>
            <a:r>
              <a:rPr lang="en-GB" sz="800" i="1" dirty="0"/>
              <a:t>Non-finance capability – Core MRI</a:t>
            </a:r>
          </a:p>
        </p:txBody>
      </p:sp>
      <p:sp>
        <p:nvSpPr>
          <p:cNvPr id="14" name="TextBox 13">
            <a:extLst>
              <a:ext uri="{FF2B5EF4-FFF2-40B4-BE49-F238E27FC236}">
                <a16:creationId xmlns:a16="http://schemas.microsoft.com/office/drawing/2014/main" id="{B103E0CF-14FC-42B6-8C6C-B2BA491AC0BA}"/>
              </a:ext>
            </a:extLst>
          </p:cNvPr>
          <p:cNvSpPr txBox="1"/>
          <p:nvPr/>
        </p:nvSpPr>
        <p:spPr>
          <a:xfrm>
            <a:off x="4857630" y="6601521"/>
            <a:ext cx="2139012" cy="215444"/>
          </a:xfrm>
          <a:prstGeom prst="rect">
            <a:avLst/>
          </a:prstGeom>
          <a:noFill/>
        </p:spPr>
        <p:txBody>
          <a:bodyPr wrap="square" rtlCol="0">
            <a:spAutoFit/>
          </a:bodyPr>
          <a:lstStyle/>
          <a:p>
            <a:pPr algn="l"/>
            <a:r>
              <a:rPr lang="en-GB" sz="800" i="1" dirty="0"/>
              <a:t>Non-finance capability – Customised</a:t>
            </a:r>
          </a:p>
        </p:txBody>
      </p:sp>
      <p:sp>
        <p:nvSpPr>
          <p:cNvPr id="15" name="TextBox 14">
            <a:extLst>
              <a:ext uri="{FF2B5EF4-FFF2-40B4-BE49-F238E27FC236}">
                <a16:creationId xmlns:a16="http://schemas.microsoft.com/office/drawing/2014/main" id="{A07037A1-B6CF-4CDE-8B41-D716E6C7FB36}"/>
              </a:ext>
            </a:extLst>
          </p:cNvPr>
          <p:cNvSpPr txBox="1"/>
          <p:nvPr/>
        </p:nvSpPr>
        <p:spPr>
          <a:xfrm>
            <a:off x="1424707" y="6427129"/>
            <a:ext cx="1881286" cy="215444"/>
          </a:xfrm>
          <a:prstGeom prst="rect">
            <a:avLst/>
          </a:prstGeom>
          <a:noFill/>
        </p:spPr>
        <p:txBody>
          <a:bodyPr wrap="square" rtlCol="0">
            <a:spAutoFit/>
          </a:bodyPr>
          <a:lstStyle/>
          <a:p>
            <a:pPr algn="l"/>
            <a:r>
              <a:rPr lang="en-GB" sz="800" b="1" i="1" dirty="0"/>
              <a:t>Key / MRI capabilities</a:t>
            </a:r>
          </a:p>
        </p:txBody>
      </p:sp>
      <p:sp>
        <p:nvSpPr>
          <p:cNvPr id="2" name="Arrow: Down 1">
            <a:extLst>
              <a:ext uri="{FF2B5EF4-FFF2-40B4-BE49-F238E27FC236}">
                <a16:creationId xmlns:a16="http://schemas.microsoft.com/office/drawing/2014/main" id="{4336366C-B97E-4A51-8DAF-93F7368D33B7}"/>
              </a:ext>
            </a:extLst>
          </p:cNvPr>
          <p:cNvSpPr/>
          <p:nvPr/>
        </p:nvSpPr>
        <p:spPr>
          <a:xfrm rot="16200000">
            <a:off x="6047193" y="-51028"/>
            <a:ext cx="188785" cy="3367771"/>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Rectangle 15">
            <a:extLst>
              <a:ext uri="{FF2B5EF4-FFF2-40B4-BE49-F238E27FC236}">
                <a16:creationId xmlns:a16="http://schemas.microsoft.com/office/drawing/2014/main" id="{F8CB56C1-D131-44C1-9A95-E7DCD269F3BB}"/>
              </a:ext>
            </a:extLst>
          </p:cNvPr>
          <p:cNvSpPr/>
          <p:nvPr/>
        </p:nvSpPr>
        <p:spPr>
          <a:xfrm>
            <a:off x="7886700" y="1567542"/>
            <a:ext cx="967468" cy="470742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Rectangle 16">
            <a:extLst>
              <a:ext uri="{FF2B5EF4-FFF2-40B4-BE49-F238E27FC236}">
                <a16:creationId xmlns:a16="http://schemas.microsoft.com/office/drawing/2014/main" id="{9C6CBF87-22BF-4952-B441-F952769093AD}"/>
              </a:ext>
            </a:extLst>
          </p:cNvPr>
          <p:cNvSpPr/>
          <p:nvPr/>
        </p:nvSpPr>
        <p:spPr>
          <a:xfrm>
            <a:off x="3397704" y="1567543"/>
            <a:ext cx="967468" cy="468401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Rectangle 17">
            <a:extLst>
              <a:ext uri="{FF2B5EF4-FFF2-40B4-BE49-F238E27FC236}">
                <a16:creationId xmlns:a16="http://schemas.microsoft.com/office/drawing/2014/main" id="{AC84305D-5015-46E9-8916-6AA180D21E6C}"/>
              </a:ext>
            </a:extLst>
          </p:cNvPr>
          <p:cNvSpPr/>
          <p:nvPr/>
        </p:nvSpPr>
        <p:spPr>
          <a:xfrm>
            <a:off x="4396468" y="1881868"/>
            <a:ext cx="3490232" cy="4393097"/>
          </a:xfrm>
          <a:prstGeom prst="rect">
            <a:avLst/>
          </a:prstGeom>
          <a:solidFill>
            <a:srgbClr val="BFBFBF">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8748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E56BAED-899B-48F3-A5DF-CE76782987F6}"/>
              </a:ext>
            </a:extLst>
          </p:cNvPr>
          <p:cNvSpPr>
            <a:spLocks noGrp="1"/>
          </p:cNvSpPr>
          <p:nvPr>
            <p:ph type="sldNum" sz="quarter" idx="12"/>
          </p:nvPr>
        </p:nvSpPr>
        <p:spPr/>
        <p:txBody>
          <a:bodyPr/>
          <a:lstStyle/>
          <a:p>
            <a:fld id="{0D32313A-DEBC-4CA4-B008-A02D4ABE2C72}" type="slidenum">
              <a:rPr lang="en-GB" smtClean="0"/>
              <a:t>6</a:t>
            </a:fld>
            <a:endParaRPr lang="en-GB" dirty="0"/>
          </a:p>
        </p:txBody>
      </p:sp>
      <p:sp>
        <p:nvSpPr>
          <p:cNvPr id="4" name="Title 3">
            <a:extLst>
              <a:ext uri="{FF2B5EF4-FFF2-40B4-BE49-F238E27FC236}">
                <a16:creationId xmlns:a16="http://schemas.microsoft.com/office/drawing/2014/main" id="{AB1BD24B-E658-4EE4-ACA4-DB9D92917A9F}"/>
              </a:ext>
            </a:extLst>
          </p:cNvPr>
          <p:cNvSpPr>
            <a:spLocks noGrp="1"/>
          </p:cNvSpPr>
          <p:nvPr>
            <p:ph type="title"/>
          </p:nvPr>
        </p:nvSpPr>
        <p:spPr>
          <a:xfrm>
            <a:off x="326350" y="302516"/>
            <a:ext cx="8426450" cy="581897"/>
          </a:xfrm>
        </p:spPr>
        <p:txBody>
          <a:bodyPr/>
          <a:lstStyle/>
          <a:p>
            <a:r>
              <a:rPr lang="en-GB" sz="2800" dirty="0"/>
              <a:t>Capability gaps post Phase 1 go-live</a:t>
            </a:r>
          </a:p>
        </p:txBody>
      </p:sp>
      <p:sp>
        <p:nvSpPr>
          <p:cNvPr id="18" name="Content Placeholder 5">
            <a:extLst>
              <a:ext uri="{FF2B5EF4-FFF2-40B4-BE49-F238E27FC236}">
                <a16:creationId xmlns:a16="http://schemas.microsoft.com/office/drawing/2014/main" id="{522D2E04-7A6B-4290-990B-54F0D374A545}"/>
              </a:ext>
            </a:extLst>
          </p:cNvPr>
          <p:cNvSpPr txBox="1">
            <a:spLocks/>
          </p:cNvSpPr>
          <p:nvPr/>
        </p:nvSpPr>
        <p:spPr>
          <a:xfrm>
            <a:off x="369858" y="1090210"/>
            <a:ext cx="8454485" cy="709633"/>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0" tIns="45720" rIns="0" bIns="45720" rtlCol="0" anchor="ctr">
            <a:noAutofit/>
          </a:bodyPr>
          <a:lstStyle>
            <a:lvl1pPr marL="0" indent="0" algn="l" defTabSz="685796" rtl="0" eaLnBrk="1" latinLnBrk="0" hangingPunct="1">
              <a:lnSpc>
                <a:spcPct val="90000"/>
              </a:lnSpc>
              <a:spcBef>
                <a:spcPts val="1200"/>
              </a:spcBef>
              <a:buFont typeface="Arial" panose="020B0604020202020204" pitchFamily="34" charset="0"/>
              <a:buNone/>
              <a:defRPr sz="1800" b="0" kern="1200" spc="-80" baseline="0">
                <a:solidFill>
                  <a:schemeClr val="lt1"/>
                </a:solidFill>
                <a:latin typeface="+mn-lt"/>
                <a:ea typeface="+mn-ea"/>
                <a:cs typeface="+mn-cs"/>
              </a:defRPr>
            </a:lvl1pPr>
            <a:lvl2pPr marL="177799" indent="-177799" algn="l" defTabSz="685796" rtl="0" eaLnBrk="1" latinLnBrk="0" hangingPunct="1">
              <a:lnSpc>
                <a:spcPct val="90000"/>
              </a:lnSpc>
              <a:spcBef>
                <a:spcPts val="300"/>
              </a:spcBef>
              <a:spcAft>
                <a:spcPts val="300"/>
              </a:spcAft>
              <a:buSzPct val="80000"/>
              <a:buFontTx/>
              <a:buBlip>
                <a:blip r:embed="rId2"/>
              </a:buBlip>
              <a:defRPr sz="1600" kern="1200" spc="-80" baseline="0">
                <a:solidFill>
                  <a:schemeClr val="lt1"/>
                </a:solidFill>
                <a:latin typeface="+mn-lt"/>
                <a:ea typeface="+mn-ea"/>
                <a:cs typeface="+mn-cs"/>
              </a:defRPr>
            </a:lvl2pPr>
            <a:lvl3pPr marL="358773" indent="-180974" algn="l" defTabSz="685796"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400" kern="1200" spc="-80" baseline="0">
                <a:solidFill>
                  <a:schemeClr val="lt1"/>
                </a:solidFill>
                <a:latin typeface="+mn-lt"/>
                <a:ea typeface="+mn-ea"/>
                <a:cs typeface="+mn-cs"/>
              </a:defRPr>
            </a:lvl3pPr>
            <a:lvl4pPr marL="536572" indent="-177799" algn="l" defTabSz="685796"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200" kern="1200" spc="-80" baseline="0">
                <a:solidFill>
                  <a:schemeClr val="lt1"/>
                </a:solidFill>
                <a:latin typeface="+mn-lt"/>
                <a:ea typeface="+mn-ea"/>
                <a:cs typeface="+mn-cs"/>
              </a:defRPr>
            </a:lvl4pPr>
            <a:lvl5pPr marL="717546" indent="-180974" algn="l" defTabSz="685796"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200" kern="1200" spc="-80" baseline="0">
                <a:solidFill>
                  <a:schemeClr val="lt1"/>
                </a:solidFill>
                <a:latin typeface="+mn-lt"/>
                <a:ea typeface="+mn-ea"/>
                <a:cs typeface="+mn-cs"/>
              </a:defRPr>
            </a:lvl5pPr>
            <a:lvl6pPr marL="1885939" indent="-171449" algn="l" defTabSz="685796" rtl="0" eaLnBrk="1" latinLnBrk="0" hangingPunct="1">
              <a:lnSpc>
                <a:spcPct val="90000"/>
              </a:lnSpc>
              <a:spcBef>
                <a:spcPts val="375"/>
              </a:spcBef>
              <a:buFont typeface="Arial" panose="020B0604020202020204" pitchFamily="34" charset="0"/>
              <a:buChar char="•"/>
              <a:defRPr sz="1350" kern="1200">
                <a:solidFill>
                  <a:schemeClr val="lt1"/>
                </a:solidFill>
                <a:latin typeface="+mn-lt"/>
                <a:ea typeface="+mn-ea"/>
                <a:cs typeface="+mn-cs"/>
              </a:defRPr>
            </a:lvl6pPr>
            <a:lvl7pPr marL="2228837" indent="-171449" algn="l" defTabSz="685796" rtl="0" eaLnBrk="1" latinLnBrk="0" hangingPunct="1">
              <a:lnSpc>
                <a:spcPct val="90000"/>
              </a:lnSpc>
              <a:spcBef>
                <a:spcPts val="375"/>
              </a:spcBef>
              <a:buFont typeface="Arial" panose="020B0604020202020204" pitchFamily="34" charset="0"/>
              <a:buChar char="•"/>
              <a:defRPr sz="1350" kern="1200">
                <a:solidFill>
                  <a:schemeClr val="lt1"/>
                </a:solidFill>
                <a:latin typeface="+mn-lt"/>
                <a:ea typeface="+mn-ea"/>
                <a:cs typeface="+mn-cs"/>
              </a:defRPr>
            </a:lvl7pPr>
            <a:lvl8pPr marL="2571735" indent="-171449" algn="l" defTabSz="685796" rtl="0" eaLnBrk="1" latinLnBrk="0" hangingPunct="1">
              <a:lnSpc>
                <a:spcPct val="90000"/>
              </a:lnSpc>
              <a:spcBef>
                <a:spcPts val="375"/>
              </a:spcBef>
              <a:buFont typeface="Arial" panose="020B0604020202020204" pitchFamily="34" charset="0"/>
              <a:buChar char="•"/>
              <a:defRPr sz="1350" kern="1200">
                <a:solidFill>
                  <a:schemeClr val="lt1"/>
                </a:solidFill>
                <a:latin typeface="+mn-lt"/>
                <a:ea typeface="+mn-ea"/>
                <a:cs typeface="+mn-cs"/>
              </a:defRPr>
            </a:lvl8pPr>
            <a:lvl9pPr marL="2914633" indent="-171449" algn="l" defTabSz="685796" rtl="0" eaLnBrk="1" latinLnBrk="0" hangingPunct="1">
              <a:lnSpc>
                <a:spcPct val="90000"/>
              </a:lnSpc>
              <a:spcBef>
                <a:spcPts val="375"/>
              </a:spcBef>
              <a:buFont typeface="Arial" panose="020B0604020202020204" pitchFamily="34" charset="0"/>
              <a:buChar char="•"/>
              <a:defRPr sz="1350" kern="1200">
                <a:solidFill>
                  <a:schemeClr val="lt1"/>
                </a:solidFill>
                <a:latin typeface="+mn-lt"/>
                <a:ea typeface="+mn-ea"/>
                <a:cs typeface="+mn-cs"/>
              </a:defRPr>
            </a:lvl9pPr>
          </a:lstStyle>
          <a:p>
            <a:pPr>
              <a:lnSpc>
                <a:spcPct val="100000"/>
              </a:lnSpc>
              <a:spcBef>
                <a:spcPts val="0"/>
              </a:spcBef>
            </a:pPr>
            <a:r>
              <a:rPr lang="en-GB" sz="1100" spc="0" dirty="0">
                <a:solidFill>
                  <a:schemeClr val="accent2"/>
                </a:solidFill>
                <a:latin typeface="Montserrat" panose="02000505000000020004" pitchFamily="2" charset="0"/>
              </a:rPr>
              <a:t>In this review we are asking MRI to look beyond fixing defects for go-live, and evaluate the overall solution in the context of Connect. We have made compromises in scope and design through the history of Connect, and our ‘phase 1’ Connect solution going live with MRI will not meet the expectations of the Grainger users. We must be sure that the solution will be acceptable in the medium and long terms from the points of view of functionality, usability and user experience. </a:t>
            </a:r>
          </a:p>
        </p:txBody>
      </p:sp>
      <p:graphicFrame>
        <p:nvGraphicFramePr>
          <p:cNvPr id="22" name="Content Placeholder 5">
            <a:extLst>
              <a:ext uri="{FF2B5EF4-FFF2-40B4-BE49-F238E27FC236}">
                <a16:creationId xmlns:a16="http://schemas.microsoft.com/office/drawing/2014/main" id="{B71D17B1-A257-4DE6-ABEB-728138C27FB5}"/>
              </a:ext>
            </a:extLst>
          </p:cNvPr>
          <p:cNvGraphicFramePr>
            <a:graphicFrameLocks noGrp="1"/>
          </p:cNvGraphicFramePr>
          <p:nvPr>
            <p:ph idx="1"/>
          </p:nvPr>
        </p:nvGraphicFramePr>
        <p:xfrm>
          <a:off x="347693" y="1815054"/>
          <a:ext cx="6640850" cy="4514534"/>
        </p:xfrm>
        <a:graphic>
          <a:graphicData uri="http://schemas.openxmlformats.org/drawingml/2006/table">
            <a:tbl>
              <a:tblPr/>
              <a:tblGrid>
                <a:gridCol w="1134745">
                  <a:extLst>
                    <a:ext uri="{9D8B030D-6E8A-4147-A177-3AD203B41FA5}">
                      <a16:colId xmlns:a16="http://schemas.microsoft.com/office/drawing/2014/main" val="498262556"/>
                    </a:ext>
                  </a:extLst>
                </a:gridCol>
                <a:gridCol w="1897468">
                  <a:extLst>
                    <a:ext uri="{9D8B030D-6E8A-4147-A177-3AD203B41FA5}">
                      <a16:colId xmlns:a16="http://schemas.microsoft.com/office/drawing/2014/main" val="542008314"/>
                    </a:ext>
                  </a:extLst>
                </a:gridCol>
                <a:gridCol w="37439">
                  <a:extLst>
                    <a:ext uri="{9D8B030D-6E8A-4147-A177-3AD203B41FA5}">
                      <a16:colId xmlns:a16="http://schemas.microsoft.com/office/drawing/2014/main" val="3439366660"/>
                    </a:ext>
                  </a:extLst>
                </a:gridCol>
                <a:gridCol w="1785599">
                  <a:extLst>
                    <a:ext uri="{9D8B030D-6E8A-4147-A177-3AD203B41FA5}">
                      <a16:colId xmlns:a16="http://schemas.microsoft.com/office/drawing/2014/main" val="1501188400"/>
                    </a:ext>
                  </a:extLst>
                </a:gridCol>
                <a:gridCol w="1785599">
                  <a:extLst>
                    <a:ext uri="{9D8B030D-6E8A-4147-A177-3AD203B41FA5}">
                      <a16:colId xmlns:a16="http://schemas.microsoft.com/office/drawing/2014/main" val="3157515313"/>
                    </a:ext>
                  </a:extLst>
                </a:gridCol>
              </a:tblGrid>
              <a:tr h="0">
                <a:tc gridSpan="5">
                  <a:txBody>
                    <a:bodyPr/>
                    <a:lstStyle/>
                    <a:p>
                      <a:pPr algn="ctr" fontAlgn="b"/>
                      <a:r>
                        <a:rPr lang="en-GB" sz="600" b="1" i="0" u="none" strike="noStrike" dirty="0">
                          <a:solidFill>
                            <a:srgbClr val="000000"/>
                          </a:solidFill>
                          <a:effectLst/>
                          <a:latin typeface="Montserrat" panose="00000500000000000000" pitchFamily="50" charset="0"/>
                        </a:rPr>
                        <a:t> </a:t>
                      </a:r>
                    </a:p>
                    <a:p>
                      <a:pPr algn="ctr" fontAlgn="b"/>
                      <a:r>
                        <a:rPr lang="en-GB" sz="600" b="1" i="0" u="none" strike="noStrike" dirty="0">
                          <a:solidFill>
                            <a:srgbClr val="000000"/>
                          </a:solidFill>
                          <a:effectLst/>
                          <a:latin typeface="Montserrat" panose="00000500000000000000" pitchFamily="50" charset="0"/>
                        </a:rPr>
                        <a:t> </a:t>
                      </a:r>
                      <a:r>
                        <a:rPr lang="en-GB" sz="1200" b="1" i="0" u="none" strike="noStrike" dirty="0">
                          <a:solidFill>
                            <a:srgbClr val="000000"/>
                          </a:solidFill>
                          <a:effectLst/>
                          <a:latin typeface="Montserrat" panose="00000500000000000000" pitchFamily="50" charset="0"/>
                        </a:rPr>
                        <a:t>Connect Phase 1 gaps: effort required to address workarounds post go-live</a:t>
                      </a:r>
                    </a:p>
                  </a:txBody>
                  <a:tcPr marL="0" marR="0" marT="0" marB="0" anchor="ctr">
                    <a:lnL>
                      <a:noFill/>
                    </a:lnL>
                    <a:lnR>
                      <a:noFill/>
                    </a:lnR>
                    <a:lnT>
                      <a:noFill/>
                    </a:lnT>
                    <a:lnB w="12700" cap="flat" cmpd="sng" algn="ctr">
                      <a:noFill/>
                      <a:prstDash val="solid"/>
                      <a:round/>
                      <a:headEnd type="none" w="med" len="med"/>
                      <a:tailEnd type="none" w="med" len="med"/>
                    </a:lnB>
                    <a:noFill/>
                  </a:tcPr>
                </a:tc>
                <a:tc hMerge="1">
                  <a:txBody>
                    <a:bodyPr/>
                    <a:lstStyle/>
                    <a:p>
                      <a:pPr algn="ctr" fontAlgn="b"/>
                      <a:r>
                        <a:rPr lang="en-GB" sz="600" b="1" i="0" u="none" strike="noStrike">
                          <a:solidFill>
                            <a:srgbClr val="000000"/>
                          </a:solidFill>
                          <a:effectLst/>
                          <a:latin typeface="Montserrat" panose="00000500000000000000" pitchFamily="50" charset="0"/>
                        </a:rPr>
                        <a:t> </a:t>
                      </a:r>
                    </a:p>
                    <a:p>
                      <a:pPr algn="ctr" fontAlgn="b"/>
                      <a:r>
                        <a:rPr lang="en-GB" sz="1000" b="1" i="0" u="none" strike="noStrike">
                          <a:solidFill>
                            <a:srgbClr val="000000"/>
                          </a:solidFill>
                          <a:effectLst/>
                          <a:latin typeface="Montserrat" panose="00000500000000000000" pitchFamily="50" charset="0"/>
                        </a:rPr>
                        <a:t>Connect ‘Phase 1’ capability: Readiness to go live</a:t>
                      </a:r>
                    </a:p>
                    <a:p>
                      <a:pPr algn="ctr" fontAlgn="b"/>
                      <a:r>
                        <a:rPr lang="en-GB" sz="1000" b="1" i="0" u="none" strike="noStrike">
                          <a:solidFill>
                            <a:srgbClr val="000000"/>
                          </a:solidFill>
                          <a:effectLst/>
                          <a:latin typeface="Montserrat" panose="00000500000000000000" pitchFamily="50" charset="0"/>
                        </a:rPr>
                        <a:t>(vs outstanding defects)</a:t>
                      </a:r>
                    </a:p>
                  </a:txBody>
                  <a:tcPr marL="0" marR="0" marT="0" marB="0" anchor="b">
                    <a:lnL>
                      <a:noFill/>
                    </a:lnL>
                    <a:lnR>
                      <a:noFill/>
                    </a:lnR>
                    <a:lnT>
                      <a:noFill/>
                    </a:lnT>
                    <a:lnB w="19050" cap="flat" cmpd="sng" algn="ctr">
                      <a:solidFill>
                        <a:schemeClr val="tx1"/>
                      </a:solidFill>
                      <a:prstDash val="solid"/>
                      <a:round/>
                      <a:headEnd type="none" w="med" len="med"/>
                      <a:tailEnd type="none" w="med" len="med"/>
                    </a:lnB>
                    <a:solidFill>
                      <a:srgbClr val="FFFFFF"/>
                    </a:solidFill>
                  </a:tcPr>
                </a:tc>
                <a:tc hMerge="1">
                  <a:txBody>
                    <a:bodyPr/>
                    <a:lstStyle/>
                    <a:p>
                      <a:pPr algn="ctr" fontAlgn="b"/>
                      <a:r>
                        <a:rPr lang="en-GB" sz="600" b="1" i="0" u="none" strike="noStrike">
                          <a:solidFill>
                            <a:srgbClr val="000000"/>
                          </a:solidFill>
                          <a:effectLst/>
                          <a:latin typeface="Montserrat" panose="00000500000000000000" pitchFamily="50" charset="0"/>
                        </a:rPr>
                        <a:t> </a:t>
                      </a:r>
                    </a:p>
                  </a:txBody>
                  <a:tcPr marL="0" marR="0" marT="0" marB="0" anchor="b">
                    <a:lnL>
                      <a:noFill/>
                    </a:lnL>
                    <a:lnR>
                      <a:noFill/>
                    </a:lnR>
                    <a:lnT>
                      <a:noFill/>
                    </a:lnT>
                    <a:lnB>
                      <a:noFill/>
                    </a:lnB>
                    <a:solidFill>
                      <a:srgbClr val="FFFFFF"/>
                    </a:solidFill>
                  </a:tcPr>
                </a:tc>
                <a:tc hMerge="1">
                  <a:txBody>
                    <a:bodyPr/>
                    <a:lstStyle/>
                    <a:p>
                      <a:pPr algn="ctr" fontAlgn="b"/>
                      <a:r>
                        <a:rPr lang="en-GB" sz="1000" b="1" i="0" u="none" strike="noStrike">
                          <a:solidFill>
                            <a:srgbClr val="000000"/>
                          </a:solidFill>
                          <a:effectLst/>
                          <a:latin typeface="Montserrat" panose="00000500000000000000" pitchFamily="50" charset="0"/>
                        </a:rPr>
                        <a:t>initial / day 1 capability</a:t>
                      </a:r>
                    </a:p>
                  </a:txBody>
                  <a:tcPr marL="0" marR="0" marT="0" marB="0" anchor="b">
                    <a:lnL>
                      <a:noFill/>
                    </a:lnL>
                    <a:lnR>
                      <a:noFill/>
                    </a:lnR>
                    <a:lnT>
                      <a:noFill/>
                    </a:lnT>
                    <a:lnB w="19050" cap="flat" cmpd="sng" algn="ctr">
                      <a:solidFill>
                        <a:schemeClr val="tx1"/>
                      </a:solidFill>
                      <a:prstDash val="solid"/>
                      <a:round/>
                      <a:headEnd type="none" w="med" len="med"/>
                      <a:tailEnd type="none" w="med" len="med"/>
                    </a:lnB>
                    <a:solidFill>
                      <a:srgbClr val="FFFFFF"/>
                    </a:solidFill>
                  </a:tcPr>
                </a:tc>
                <a:tc hMerge="1">
                  <a:txBody>
                    <a:bodyPr/>
                    <a:lstStyle/>
                    <a:p>
                      <a:pPr algn="ctr" fontAlgn="b"/>
                      <a:endParaRPr lang="en-GB" sz="1200" b="1" i="0" u="none" strike="noStrike" dirty="0">
                        <a:solidFill>
                          <a:srgbClr val="000000"/>
                        </a:solidFill>
                        <a:effectLst/>
                        <a:latin typeface="Montserrat" panose="00000500000000000000" pitchFamily="50" charset="0"/>
                      </a:endParaRPr>
                    </a:p>
                  </a:txBody>
                  <a:tcPr marL="0" marR="0" marT="0" marB="0" anchor="ctr">
                    <a:lnL>
                      <a:noFill/>
                    </a:lnL>
                    <a:lnR>
                      <a:noFill/>
                    </a:lnR>
                    <a:lnT>
                      <a:noFill/>
                    </a:lnT>
                    <a:lnB w="190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532086988"/>
                  </a:ext>
                </a:extLst>
              </a:tr>
              <a:tr h="0">
                <a:tc>
                  <a:txBody>
                    <a:bodyPr/>
                    <a:lstStyle/>
                    <a:p>
                      <a:pPr algn="ctr" fontAlgn="ctr"/>
                      <a:endParaRPr lang="en-GB" sz="1000" b="1" i="0" u="none" strike="noStrike" dirty="0">
                        <a:solidFill>
                          <a:srgbClr val="000000"/>
                        </a:solidFill>
                        <a:effectLst/>
                        <a:latin typeface="Montserrat" panose="00000500000000000000" pitchFamily="50"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fontAlgn="b"/>
                      <a:endParaRPr lang="en-GB" sz="800" b="0" i="0" u="none" strike="noStrike" dirty="0">
                        <a:solidFill>
                          <a:srgbClr val="000000"/>
                        </a:solidFill>
                        <a:effectLst/>
                        <a:latin typeface="Montserrat" panose="00000500000000000000" pitchFamily="50" charset="0"/>
                      </a:endParaRPr>
                    </a:p>
                  </a:txBody>
                  <a:tcPr marL="3600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fontAlgn="b"/>
                      <a:endParaRPr lang="en-GB" sz="600" b="0" i="0" u="none" strike="noStrike" dirty="0">
                        <a:solidFill>
                          <a:srgbClr val="000000"/>
                        </a:solidFill>
                        <a:effectLst/>
                        <a:latin typeface="Montserrat" panose="00000500000000000000" pitchFamily="50" charset="0"/>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noFill/>
                  </a:tcPr>
                </a:tc>
                <a:tc>
                  <a:txBody>
                    <a:bodyPr/>
                    <a:lstStyle/>
                    <a:p>
                      <a:pPr algn="ctr" fontAlgn="b"/>
                      <a:r>
                        <a:rPr lang="en-GB" sz="900" b="0" i="1" u="none" strike="noStrike" dirty="0">
                          <a:solidFill>
                            <a:srgbClr val="000000"/>
                          </a:solidFill>
                          <a:effectLst/>
                          <a:latin typeface="Montserrat" panose="00000500000000000000" pitchFamily="50" charset="0"/>
                        </a:rPr>
                        <a:t>Capability gap? (R, A, G)</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b"/>
                      <a:r>
                        <a:rPr lang="en-GB" sz="900" b="0" i="1" u="none" strike="noStrike" dirty="0">
                          <a:solidFill>
                            <a:srgbClr val="000000"/>
                          </a:solidFill>
                          <a:effectLst/>
                          <a:latin typeface="Montserrat" panose="00000500000000000000" pitchFamily="50" charset="0"/>
                        </a:rPr>
                        <a:t>Caused by/ related to MRI?</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9901259"/>
                  </a:ext>
                </a:extLst>
              </a:tr>
              <a:tr h="127000">
                <a:tc rowSpan="4">
                  <a:txBody>
                    <a:bodyPr/>
                    <a:lstStyle/>
                    <a:p>
                      <a:pPr algn="ctr" fontAlgn="ctr"/>
                      <a:r>
                        <a:rPr lang="en-GB" sz="1000" b="1" i="0" u="none" strike="noStrike" dirty="0">
                          <a:solidFill>
                            <a:srgbClr val="000000"/>
                          </a:solidFill>
                          <a:effectLst/>
                          <a:latin typeface="Montserrat" panose="00000500000000000000" pitchFamily="50" charset="0"/>
                        </a:rPr>
                        <a:t>PG1: Property &amp; Suppliers</a:t>
                      </a:r>
                    </a:p>
                  </a:txBody>
                  <a:tcPr marL="0" marR="0" marT="0" marB="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800" b="0" i="0" u="none" strike="noStrike" dirty="0">
                          <a:solidFill>
                            <a:srgbClr val="000000"/>
                          </a:solidFill>
                          <a:effectLst/>
                          <a:latin typeface="Montserrat" panose="00000500000000000000" pitchFamily="50" charset="0"/>
                        </a:rPr>
                        <a:t>Compliments &amp; Complaints</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a:noFill/>
                    </a:lnB>
                    <a:solidFill>
                      <a:srgbClr val="FFFFFF"/>
                    </a:solidFill>
                  </a:tcPr>
                </a:tc>
                <a:tc>
                  <a:txBody>
                    <a:bodyPr/>
                    <a:lstStyle/>
                    <a:p>
                      <a:pPr algn="ctr" fontAlgn="b"/>
                      <a:r>
                        <a:rPr lang="en-GB" sz="6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783257448"/>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Facilities Management</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6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90977806"/>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Supplier Management</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6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665112878"/>
                  </a:ext>
                </a:extLst>
              </a:tr>
              <a:tr h="13096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Purchase to Pay</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marL="0" marR="0" lvl="0" indent="0" algn="ctr" defTabSz="685796" rtl="0" eaLnBrk="1" fontAlgn="b" latinLnBrk="0" hangingPunct="1">
                        <a:lnSpc>
                          <a:spcPct val="100000"/>
                        </a:lnSpc>
                        <a:spcBef>
                          <a:spcPts val="0"/>
                        </a:spcBef>
                        <a:spcAft>
                          <a:spcPts val="0"/>
                        </a:spcAft>
                        <a:buClrTx/>
                        <a:buSzTx/>
                        <a:buFontTx/>
                        <a:buNone/>
                        <a:tabLst/>
                        <a:defRPr/>
                      </a:pPr>
                      <a:endParaRPr lang="en-GB" sz="800" b="0" i="0" u="none" strike="noStrike" dirty="0">
                        <a:solidFill>
                          <a:srgbClr val="000000"/>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lvl="0" indent="0" algn="ctr" defTabSz="685796" rtl="0" eaLnBrk="1" fontAlgn="b" latinLnBrk="0" hangingPunct="1">
                        <a:lnSpc>
                          <a:spcPct val="100000"/>
                        </a:lnSpc>
                        <a:spcBef>
                          <a:spcPts val="0"/>
                        </a:spcBef>
                        <a:spcAft>
                          <a:spcPts val="0"/>
                        </a:spcAft>
                        <a:buClrTx/>
                        <a:buSzTx/>
                        <a:buFontTx/>
                        <a:buNone/>
                        <a:tabLst/>
                        <a:defRPr/>
                      </a:pPr>
                      <a:r>
                        <a:rPr lang="en-GB" sz="800" b="0" i="0" u="none" strike="noStrike" dirty="0">
                          <a:solidFill>
                            <a:schemeClr val="tx1"/>
                          </a:solidFill>
                          <a:effectLst/>
                          <a:latin typeface="Montserrat" panose="00000500000000000000" pitchFamily="50" charset="0"/>
                        </a:rPr>
                        <a:t>Direct (MRI Performance)</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387090587"/>
                  </a:ext>
                </a:extLst>
              </a:tr>
              <a:tr h="127000">
                <a:tc rowSpan="4">
                  <a:txBody>
                    <a:bodyPr/>
                    <a:lstStyle/>
                    <a:p>
                      <a:pPr algn="ctr" fontAlgn="ctr"/>
                      <a:r>
                        <a:rPr lang="en-GB" sz="1000" b="1" i="0" u="none" strike="noStrike" dirty="0">
                          <a:solidFill>
                            <a:srgbClr val="000000"/>
                          </a:solidFill>
                          <a:effectLst/>
                          <a:latin typeface="Montserrat" panose="00000500000000000000" pitchFamily="50" charset="0"/>
                        </a:rPr>
                        <a:t>PG2: Charges &amp; Payments</a:t>
                      </a:r>
                    </a:p>
                  </a:txBody>
                  <a:tcPr marL="0" marR="0" marT="0" marB="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800" b="0" i="0" u="none" strike="noStrike" dirty="0">
                          <a:solidFill>
                            <a:srgbClr val="000000"/>
                          </a:solidFill>
                          <a:effectLst/>
                          <a:latin typeface="Montserrat" panose="00000500000000000000" pitchFamily="50" charset="0"/>
                        </a:rPr>
                        <a:t>Accounting: charges &amp; payments</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6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b"/>
                      <a:r>
                        <a:rPr lang="en-GB" sz="800" b="0" i="0" u="none" strike="noStrike" dirty="0">
                          <a:solidFill>
                            <a:schemeClr val="tx1"/>
                          </a:solidFill>
                          <a:effectLst/>
                          <a:latin typeface="Montserrat" panose="00000500000000000000" pitchFamily="50" charset="0"/>
                        </a:rPr>
                        <a:t>Indirect (MRI Complexity)</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298619885"/>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Arrears</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6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642068095"/>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Amenities</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 Amenities booking via portal</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0066"/>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814554457"/>
                  </a:ext>
                </a:extLst>
              </a:tr>
              <a:tr h="13096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Charges &amp; Payments</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6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615492944"/>
                  </a:ext>
                </a:extLst>
              </a:tr>
              <a:tr h="127000">
                <a:tc rowSpan="5">
                  <a:txBody>
                    <a:bodyPr/>
                    <a:lstStyle/>
                    <a:p>
                      <a:pPr algn="ctr" fontAlgn="ctr"/>
                      <a:r>
                        <a:rPr lang="en-GB" sz="1000" b="1" i="0" u="none" strike="noStrike" dirty="0">
                          <a:solidFill>
                            <a:srgbClr val="000000"/>
                          </a:solidFill>
                          <a:effectLst/>
                          <a:latin typeface="Montserrat" panose="00000500000000000000" pitchFamily="50" charset="0"/>
                        </a:rPr>
                        <a:t>PG3: Leasing, Move-in / Move-Out</a:t>
                      </a:r>
                    </a:p>
                  </a:txBody>
                  <a:tcPr marL="0" marR="0" marT="0" marB="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800" b="0" i="0" u="none" strike="noStrike" dirty="0">
                          <a:solidFill>
                            <a:srgbClr val="000000"/>
                          </a:solidFill>
                          <a:effectLst/>
                          <a:latin typeface="Montserrat" panose="00000500000000000000" pitchFamily="50" charset="0"/>
                        </a:rPr>
                        <a:t>Lead Management</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6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282014927"/>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Leasing &amp; Renewals</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800" b="0" i="0" u="none" strike="noStrike" dirty="0">
                          <a:solidFill>
                            <a:schemeClr val="bg1"/>
                          </a:solidFill>
                          <a:effectLst/>
                          <a:latin typeface="Montserrat" panose="00000500000000000000" pitchFamily="50" charset="0"/>
                        </a:rPr>
                        <a:t> ’Option 4’ integrations</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0066"/>
                    </a:solidFill>
                  </a:tcPr>
                </a:tc>
                <a:tc>
                  <a:txBody>
                    <a:bodyPr/>
                    <a:lstStyle/>
                    <a:p>
                      <a:pPr algn="ctr" fontAlgn="b"/>
                      <a:r>
                        <a:rPr lang="en-GB" sz="800" b="0" i="0" u="none" strike="noStrike" dirty="0">
                          <a:solidFill>
                            <a:schemeClr val="tx1"/>
                          </a:solidFill>
                          <a:effectLst/>
                          <a:latin typeface="Montserrat" panose="00000500000000000000" pitchFamily="50" charset="0"/>
                        </a:rPr>
                        <a:t>Indirect (Integration support)</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066942245"/>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L2L Payments &amp; Accounting</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endParaRPr lang="en-GB" sz="800" b="0" i="0" u="none" strike="noStrike" dirty="0">
                        <a:solidFill>
                          <a:srgbClr val="EEF5F5"/>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744236912"/>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Move in / Move out</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800" b="0" i="0" u="none" strike="noStrike" dirty="0">
                          <a:solidFill>
                            <a:srgbClr val="EEF5F5"/>
                          </a:solidFill>
                          <a:effectLst/>
                          <a:latin typeface="Montserrat" panose="00000500000000000000" pitchFamily="50" charset="0"/>
                        </a:rPr>
                        <a:t>Move-in / Move-out integrations</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0066"/>
                    </a:solidFill>
                  </a:tcPr>
                </a:tc>
                <a:tc>
                  <a:txBody>
                    <a:bodyPr/>
                    <a:lstStyle/>
                    <a:p>
                      <a:pPr algn="ctr" fontAlgn="b"/>
                      <a:r>
                        <a:rPr lang="en-GB" sz="800" b="0" i="0" u="none" strike="noStrike" dirty="0">
                          <a:solidFill>
                            <a:schemeClr val="tx1"/>
                          </a:solidFill>
                          <a:effectLst/>
                          <a:latin typeface="Montserrat" panose="00000500000000000000" pitchFamily="50" charset="0"/>
                        </a:rPr>
                        <a:t>Indirect (MRI Complexity)</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950807379"/>
                  </a:ext>
                </a:extLst>
              </a:tr>
              <a:tr h="130969">
                <a:tc vMerge="1">
                  <a:txBody>
                    <a:bodyPr/>
                    <a:lstStyle/>
                    <a:p>
                      <a:endParaRPr lang="en-GB"/>
                    </a:p>
                  </a:txBody>
                  <a:tcPr>
                    <a:lnT w="12700" cap="flat" cmpd="sng" algn="ctr">
                      <a:solidFill>
                        <a:srgbClr val="000000"/>
                      </a:solidFill>
                      <a:prstDash val="solid"/>
                      <a:round/>
                      <a:headEnd type="none" w="med" len="med"/>
                      <a:tailEnd type="none" w="med" len="med"/>
                    </a:lnT>
                  </a:tcPr>
                </a:tc>
                <a:tc>
                  <a:txBody>
                    <a:bodyPr/>
                    <a:lstStyle/>
                    <a:p>
                      <a:pPr algn="l" fontAlgn="b"/>
                      <a:r>
                        <a:rPr lang="en-GB" sz="800" b="0" i="0" u="none" strike="noStrike" dirty="0">
                          <a:solidFill>
                            <a:srgbClr val="000000"/>
                          </a:solidFill>
                          <a:effectLst/>
                          <a:latin typeface="Montserrat" panose="00000500000000000000" pitchFamily="50" charset="0"/>
                        </a:rPr>
                        <a:t>Revenue Management</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6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03956858"/>
                  </a:ext>
                </a:extLst>
              </a:tr>
              <a:tr h="127000">
                <a:tc rowSpan="4">
                  <a:txBody>
                    <a:bodyPr/>
                    <a:lstStyle/>
                    <a:p>
                      <a:pPr algn="ctr" fontAlgn="ctr"/>
                      <a:r>
                        <a:rPr lang="en-GB" sz="1000" b="1" i="0" u="none" strike="noStrike" dirty="0">
                          <a:solidFill>
                            <a:srgbClr val="000000"/>
                          </a:solidFill>
                          <a:effectLst/>
                          <a:latin typeface="Montserrat" panose="00000500000000000000" pitchFamily="50" charset="0"/>
                        </a:rPr>
                        <a:t>PG4: Onboarding &amp; Sales</a:t>
                      </a:r>
                    </a:p>
                  </a:txBody>
                  <a:tcPr marL="0" marR="0" marT="0" marB="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800" b="0" i="0" u="none" strike="noStrike" dirty="0">
                          <a:solidFill>
                            <a:srgbClr val="000000"/>
                          </a:solidFill>
                          <a:effectLst/>
                          <a:latin typeface="Montserrat" panose="00000500000000000000" pitchFamily="50" charset="0"/>
                        </a:rPr>
                        <a:t>Onboarding</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6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b"/>
                      <a:r>
                        <a:rPr lang="en-GB" sz="800" b="0" i="0" u="none" strike="noStrike" dirty="0">
                          <a:solidFill>
                            <a:schemeClr val="tx1"/>
                          </a:solidFill>
                          <a:effectLst/>
                          <a:latin typeface="Montserrat" panose="00000500000000000000" pitchFamily="50" charset="0"/>
                        </a:rPr>
                        <a:t>Direct (MRI Complexity)</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38231380"/>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Job Costing</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6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451660380"/>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Property Sales / Valuation</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6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073770081"/>
                  </a:ext>
                </a:extLst>
              </a:tr>
              <a:tr h="13096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Property Sales accounting</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6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663949598"/>
                  </a:ext>
                </a:extLst>
              </a:tr>
              <a:tr h="127000">
                <a:tc rowSpan="8">
                  <a:txBody>
                    <a:bodyPr/>
                    <a:lstStyle/>
                    <a:p>
                      <a:pPr algn="ctr" fontAlgn="ctr"/>
                      <a:r>
                        <a:rPr lang="en-GB" sz="1000" b="1" i="0" u="none" strike="noStrike" dirty="0">
                          <a:solidFill>
                            <a:srgbClr val="000000"/>
                          </a:solidFill>
                          <a:effectLst/>
                          <a:latin typeface="Montserrat" panose="00000500000000000000" pitchFamily="50" charset="0"/>
                        </a:rPr>
                        <a:t>PG5: Finance</a:t>
                      </a:r>
                    </a:p>
                  </a:txBody>
                  <a:tcPr marL="0" marR="0" marT="0" marB="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800" b="0" i="0" u="none" strike="noStrike" dirty="0">
                          <a:solidFill>
                            <a:srgbClr val="000000"/>
                          </a:solidFill>
                          <a:effectLst/>
                          <a:latin typeface="Montserrat" panose="00000500000000000000" pitchFamily="50" charset="0"/>
                        </a:rPr>
                        <a:t>Service Charge</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800" b="0" i="0" u="none" strike="noStrike" dirty="0">
                          <a:solidFill>
                            <a:schemeClr val="bg1">
                              <a:lumMod val="95000"/>
                            </a:schemeClr>
                          </a:solidFill>
                          <a:effectLst/>
                          <a:latin typeface="Montserrat" panose="00000500000000000000" pitchFamily="50" charset="0"/>
                        </a:rPr>
                        <a:t> MRI Service Charge functionality</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0066"/>
                    </a:solidFill>
                  </a:tcPr>
                </a:tc>
                <a:tc>
                  <a:txBody>
                    <a:bodyPr/>
                    <a:lstStyle/>
                    <a:p>
                      <a:pPr algn="ctr" fontAlgn="b"/>
                      <a:r>
                        <a:rPr lang="en-GB" sz="800" b="0" i="0" u="none" strike="noStrike" dirty="0">
                          <a:solidFill>
                            <a:schemeClr val="tx1"/>
                          </a:solidFill>
                          <a:effectLst/>
                          <a:latin typeface="Montserrat" panose="00000500000000000000" pitchFamily="50" charset="0"/>
                        </a:rPr>
                        <a:t>Direct (MRI Complexity)</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55353153"/>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Accounting</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800" b="0" i="0" u="none" strike="noStrike" dirty="0">
                          <a:solidFill>
                            <a:schemeClr val="bg1">
                              <a:lumMod val="95000"/>
                            </a:schemeClr>
                          </a:solidFill>
                          <a:effectLst/>
                          <a:latin typeface="Montserrat" panose="00000500000000000000" pitchFamily="50" charset="0"/>
                        </a:rPr>
                        <a:t>Post GL journals / prepaid revenue</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0066"/>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dirty="0">
                          <a:solidFill>
                            <a:schemeClr val="tx1"/>
                          </a:solidFill>
                          <a:effectLst/>
                          <a:latin typeface="Montserrat" panose="00000500000000000000" pitchFamily="50" charset="0"/>
                        </a:rPr>
                        <a:t>Direct (MRI Functionality)</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271470493"/>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Cash Management</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800" b="0" i="0" u="none" strike="noStrike" dirty="0">
                          <a:solidFill>
                            <a:schemeClr val="bg1">
                              <a:lumMod val="95000"/>
                            </a:schemeClr>
                          </a:solidFill>
                          <a:effectLst/>
                          <a:latin typeface="Montserrat" panose="00000500000000000000" pitchFamily="50" charset="0"/>
                        </a:rPr>
                        <a:t> Bank recs / Bank mapping tables</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0066"/>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dirty="0">
                          <a:solidFill>
                            <a:schemeClr val="tx1"/>
                          </a:solidFill>
                          <a:effectLst/>
                          <a:latin typeface="Montserrat" panose="00000500000000000000" pitchFamily="50" charset="0"/>
                        </a:rPr>
                        <a:t>Direct (MRI Functionality)</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31360667"/>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Insurance</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endParaRPr lang="en-GB" sz="600" b="0" i="0" u="none" strike="noStrike" dirty="0">
                        <a:solidFill>
                          <a:srgbClr val="000000"/>
                        </a:solidFill>
                        <a:effectLst/>
                        <a:latin typeface="Montserrat" panose="00000500000000000000" pitchFamily="50" charset="0"/>
                      </a:endParaRP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baseline="0" dirty="0">
                          <a:solidFill>
                            <a:schemeClr val="bg1">
                              <a:lumMod val="95000"/>
                            </a:schemeClr>
                          </a:solidFill>
                          <a:effectLst/>
                          <a:latin typeface="Montserrat" panose="00000500000000000000" pitchFamily="50" charset="0"/>
                        </a:rPr>
                        <a:t> MRI Improvements</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0066"/>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dirty="0">
                          <a:solidFill>
                            <a:schemeClr val="tx1"/>
                          </a:solidFill>
                          <a:effectLst/>
                          <a:latin typeface="Montserrat" panose="00000500000000000000" pitchFamily="50" charset="0"/>
                        </a:rPr>
                        <a:t>Direct (MRI Functionality)</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193814619"/>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Staff Expenses</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6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671258776"/>
                  </a:ext>
                </a:extLst>
              </a:tr>
              <a:tr h="127000">
                <a:tc vMerge="1">
                  <a:txBody>
                    <a:bodyPr/>
                    <a:lstStyle/>
                    <a:p>
                      <a:endParaRPr lang="en-GB"/>
                    </a:p>
                  </a:txBody>
                  <a:tcPr>
                    <a:lnT w="12700" cap="flat" cmpd="sng" algn="ctr">
                      <a:solidFill>
                        <a:srgbClr val="000000"/>
                      </a:solidFill>
                      <a:prstDash val="solid"/>
                      <a:round/>
                      <a:headEnd type="none" w="med" len="med"/>
                      <a:tailEnd type="none" w="med" len="med"/>
                    </a:lnT>
                  </a:tcPr>
                </a:tc>
                <a:tc>
                  <a:txBody>
                    <a:bodyPr/>
                    <a:lstStyle/>
                    <a:p>
                      <a:pPr algn="l" fontAlgn="b"/>
                      <a:r>
                        <a:rPr lang="en-GB" sz="800" b="0" i="0" u="none" strike="noStrike" dirty="0">
                          <a:solidFill>
                            <a:srgbClr val="000000"/>
                          </a:solidFill>
                          <a:effectLst/>
                          <a:latin typeface="Montserrat" panose="00000500000000000000" pitchFamily="50" charset="0"/>
                        </a:rPr>
                        <a:t>FP&amp;A</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endParaRPr lang="en-GB" sz="800" b="0" i="0" u="none" strike="noStrike" dirty="0">
                        <a:solidFill>
                          <a:srgbClr val="EEF5F5"/>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506898736"/>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Rent Review</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6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813575132"/>
                  </a:ext>
                </a:extLst>
              </a:tr>
              <a:tr h="130969">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Tax</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6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dirty="0">
                          <a:solidFill>
                            <a:schemeClr val="tx1"/>
                          </a:solidFill>
                          <a:effectLst/>
                          <a:latin typeface="Montserrat" panose="00000500000000000000" pitchFamily="50" charset="0"/>
                        </a:rPr>
                        <a:t>Direct (MRI Functionality)</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358578195"/>
                  </a:ext>
                </a:extLst>
              </a:tr>
              <a:tr h="127000">
                <a:tc rowSpan="7">
                  <a:txBody>
                    <a:bodyPr/>
                    <a:lstStyle/>
                    <a:p>
                      <a:pPr algn="ctr" fontAlgn="ctr"/>
                      <a:r>
                        <a:rPr lang="en-GB" sz="1000" b="1" i="0" u="none" strike="noStrike" dirty="0">
                          <a:solidFill>
                            <a:srgbClr val="000000"/>
                          </a:solidFill>
                          <a:effectLst/>
                          <a:latin typeface="Montserrat" panose="00000500000000000000" pitchFamily="50" charset="0"/>
                        </a:rPr>
                        <a:t>Shared &amp; Enabling functionality</a:t>
                      </a:r>
                    </a:p>
                  </a:txBody>
                  <a:tcPr marL="0" marR="0" marT="0" marB="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FF"/>
                    </a:solidFill>
                  </a:tcPr>
                </a:tc>
                <a:tc>
                  <a:txBody>
                    <a:bodyPr/>
                    <a:lstStyle/>
                    <a:p>
                      <a:pPr algn="l" fontAlgn="b"/>
                      <a:r>
                        <a:rPr lang="en-GB" sz="800" b="0" i="0" u="none" strike="noStrike" dirty="0">
                          <a:solidFill>
                            <a:srgbClr val="000000"/>
                          </a:solidFill>
                          <a:effectLst/>
                          <a:latin typeface="Montserrat" panose="00000500000000000000" pitchFamily="50" charset="0"/>
                        </a:rPr>
                        <a:t>Master Data</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dirty="0">
                          <a:solidFill>
                            <a:srgbClr val="EEF5F5"/>
                          </a:solidFill>
                          <a:effectLst/>
                          <a:latin typeface="Montserrat" panose="00000500000000000000" pitchFamily="50" charset="0"/>
                        </a:rPr>
                        <a:t>Maintenance of tables </a:t>
                      </a:r>
                      <a:r>
                        <a:rPr lang="en-GB" sz="8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0066"/>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dirty="0">
                          <a:solidFill>
                            <a:schemeClr val="tx1"/>
                          </a:solidFill>
                          <a:effectLst/>
                          <a:latin typeface="Montserrat" panose="00000500000000000000" pitchFamily="50" charset="0"/>
                        </a:rPr>
                        <a:t>Direct (MRI Complexity)</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634247589"/>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Customer portals</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endParaRPr lang="en-GB" sz="600" b="0" i="0" u="none" strike="noStrike" dirty="0">
                        <a:solidFill>
                          <a:srgbClr val="000000"/>
                        </a:solidFill>
                        <a:effectLst/>
                        <a:latin typeface="Montserrat" panose="00000500000000000000" pitchFamily="50" charset="0"/>
                      </a:endParaRP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dirty="0">
                          <a:solidFill>
                            <a:schemeClr val="bg1">
                              <a:lumMod val="95000"/>
                            </a:schemeClr>
                          </a:solidFill>
                          <a:effectLst/>
                          <a:latin typeface="Montserrat" panose="00000500000000000000" pitchFamily="50" charset="0"/>
                        </a:rPr>
                        <a:t> MyGrainger customer Portal</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0066"/>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248314101"/>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Single View of Customer</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endParaRPr lang="en-GB" sz="800" b="0" i="0" u="none" strike="noStrike" dirty="0">
                        <a:solidFill>
                          <a:schemeClr val="bg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926354409"/>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Reporting (finance)</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endParaRPr lang="en-GB" sz="800" b="0" i="0" u="none" strike="noStrike" dirty="0">
                        <a:solidFill>
                          <a:srgbClr val="EEF5F5"/>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32009946"/>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Reporting</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algn="ctr" fontAlgn="b"/>
                      <a:r>
                        <a:rPr lang="en-GB" sz="6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225748701"/>
                  </a:ext>
                </a:extLst>
              </a:tr>
              <a:tr h="127000">
                <a:tc vMerge="1">
                  <a:txBody>
                    <a:bodyPr/>
                    <a:lstStyle/>
                    <a:p>
                      <a:endParaRPr lang="en-GB"/>
                    </a:p>
                  </a:txBody>
                  <a:tcPr/>
                </a:tc>
                <a:tc>
                  <a:txBody>
                    <a:bodyPr/>
                    <a:lstStyle/>
                    <a:p>
                      <a:pPr algn="l" fontAlgn="b"/>
                      <a:r>
                        <a:rPr lang="en-GB" sz="800" b="0" i="0" u="none" strike="noStrike" dirty="0">
                          <a:solidFill>
                            <a:srgbClr val="000000"/>
                          </a:solidFill>
                          <a:effectLst/>
                          <a:latin typeface="Montserrat" panose="00000500000000000000" pitchFamily="50" charset="0"/>
                        </a:rPr>
                        <a:t>Audit &amp; Compliance</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solidFill>
                      <a:srgbClr val="FFFFFF"/>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kern="1200" dirty="0">
                          <a:solidFill>
                            <a:schemeClr val="bg1">
                              <a:lumMod val="95000"/>
                            </a:schemeClr>
                          </a:solidFill>
                          <a:effectLst/>
                          <a:latin typeface="Montserrat" panose="00000500000000000000" pitchFamily="50" charset="0"/>
                          <a:ea typeface="+mn-ea"/>
                          <a:cs typeface="+mn-cs"/>
                        </a:rPr>
                        <a:t>MRI Audit module</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0066"/>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kern="1200" dirty="0">
                          <a:solidFill>
                            <a:schemeClr val="tx1"/>
                          </a:solidFill>
                          <a:effectLst/>
                          <a:latin typeface="Montserrat" panose="00000500000000000000" pitchFamily="50" charset="0"/>
                          <a:ea typeface="+mn-ea"/>
                          <a:cs typeface="+mn-cs"/>
                        </a:rPr>
                        <a:t>Direct (MRI Functionality)</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11877276"/>
                  </a:ext>
                </a:extLst>
              </a:tr>
              <a:tr h="130969">
                <a:tc vMerge="1">
                  <a:txBody>
                    <a:bodyPr/>
                    <a:lstStyle/>
                    <a:p>
                      <a:endParaRPr lang="en-GB"/>
                    </a:p>
                  </a:txBody>
                  <a:tcPr/>
                </a:tc>
                <a:tc>
                  <a:txBody>
                    <a:bodyPr/>
                    <a:lstStyle/>
                    <a:p>
                      <a:pPr marL="0" marR="0" lvl="0" indent="0" algn="l" defTabSz="685800" rtl="0" eaLnBrk="1" fontAlgn="b" latinLnBrk="0" hangingPunct="1">
                        <a:lnSpc>
                          <a:spcPct val="100000"/>
                        </a:lnSpc>
                        <a:spcBef>
                          <a:spcPts val="0"/>
                        </a:spcBef>
                        <a:spcAft>
                          <a:spcPts val="0"/>
                        </a:spcAft>
                        <a:buClrTx/>
                        <a:buSzTx/>
                        <a:buFontTx/>
                        <a:buNone/>
                        <a:tabLst/>
                        <a:defRPr/>
                      </a:pPr>
                      <a:r>
                        <a:rPr lang="en-GB" sz="800" b="0" i="0" u="none" strike="noStrike" dirty="0">
                          <a:solidFill>
                            <a:srgbClr val="000000"/>
                          </a:solidFill>
                          <a:effectLst/>
                          <a:latin typeface="Montserrat" panose="00000500000000000000" pitchFamily="50" charset="0"/>
                        </a:rPr>
                        <a:t>Document Storage</a:t>
                      </a:r>
                    </a:p>
                  </a:txBody>
                  <a:tcPr marL="36000" marR="0" marT="0" marB="0" anchor="b">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FF"/>
                    </a:solidFill>
                  </a:tcPr>
                </a:tc>
                <a:tc>
                  <a:txBody>
                    <a:bodyPr/>
                    <a:lstStyle/>
                    <a:p>
                      <a:pPr algn="l" fontAlgn="b"/>
                      <a:r>
                        <a:rPr lang="en-GB" sz="600" b="0" i="0" u="none" strike="noStrike" dirty="0">
                          <a:solidFill>
                            <a:srgbClr val="000000"/>
                          </a:solidFill>
                          <a:effectLst/>
                          <a:latin typeface="Montserrat" panose="00000500000000000000" pitchFamily="50" charset="0"/>
                        </a:rPr>
                        <a:t> </a:t>
                      </a:r>
                    </a:p>
                  </a:txBody>
                  <a:tcPr marL="0" marR="0" marT="0" marB="0"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w="19050" cap="flat" cmpd="sng" algn="ctr">
                      <a:noFill/>
                      <a:prstDash val="solid"/>
                      <a:round/>
                      <a:headEnd type="none" w="med" len="med"/>
                      <a:tailEnd type="none" w="med" len="med"/>
                    </a:lnB>
                    <a:solidFill>
                      <a:srgbClr val="FFFFFF"/>
                    </a:solidFill>
                  </a:tcPr>
                </a:tc>
                <a:tc>
                  <a:txBody>
                    <a:bodyPr/>
                    <a:lstStyle/>
                    <a:p>
                      <a:pPr algn="ctr" fontAlgn="b"/>
                      <a:r>
                        <a:rPr lang="en-GB" sz="600" b="0" i="0" u="none" strike="noStrike" dirty="0">
                          <a:solidFill>
                            <a:srgbClr val="000000"/>
                          </a:solidFill>
                          <a:effectLst/>
                          <a:latin typeface="Montserrat" panose="00000500000000000000" pitchFamily="50" charset="0"/>
                        </a:rPr>
                        <a:t> </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0B050"/>
                    </a:solidFill>
                  </a:tcPr>
                </a:tc>
                <a:tc>
                  <a:txBody>
                    <a:bodyPr/>
                    <a:lstStyle/>
                    <a:p>
                      <a:pPr algn="ctr" fontAlgn="b"/>
                      <a:endParaRPr lang="en-GB" sz="800" b="0" i="0" u="none" strike="noStrike" dirty="0">
                        <a:solidFill>
                          <a:schemeClr val="tx1"/>
                        </a:solidFill>
                        <a:effectLst/>
                        <a:latin typeface="Montserrat" panose="00000500000000000000" pitchFamily="50" charset="0"/>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559459183"/>
                  </a:ext>
                </a:extLst>
              </a:tr>
            </a:tbl>
          </a:graphicData>
        </a:graphic>
      </p:graphicFrame>
      <p:sp>
        <p:nvSpPr>
          <p:cNvPr id="8" name="Speech Bubble: Rectangle with Corners Rounded 7">
            <a:extLst>
              <a:ext uri="{FF2B5EF4-FFF2-40B4-BE49-F238E27FC236}">
                <a16:creationId xmlns:a16="http://schemas.microsoft.com/office/drawing/2014/main" id="{951A2385-CFEA-4325-AE9D-3FB3FD63549F}"/>
              </a:ext>
            </a:extLst>
          </p:cNvPr>
          <p:cNvSpPr/>
          <p:nvPr/>
        </p:nvSpPr>
        <p:spPr>
          <a:xfrm>
            <a:off x="6988543" y="4117785"/>
            <a:ext cx="1764257" cy="1773511"/>
          </a:xfrm>
          <a:prstGeom prst="wedgeRoundRectCallout">
            <a:avLst>
              <a:gd name="adj1" fmla="val -56887"/>
              <a:gd name="adj2" fmla="val -21627"/>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GB" sz="1000" dirty="0">
                <a:solidFill>
                  <a:schemeClr val="tx1"/>
                </a:solidFill>
              </a:rPr>
              <a:t>During UAT the finance team raised a number of usability issues that add to the list of manual workarounds. They include intercompany transactions, posting &amp; approving GL journals. We have provided the full list to MRI</a:t>
            </a:r>
          </a:p>
        </p:txBody>
      </p:sp>
      <p:sp>
        <p:nvSpPr>
          <p:cNvPr id="19" name="Speech Bubble: Rectangle with Corners Rounded 18">
            <a:extLst>
              <a:ext uri="{FF2B5EF4-FFF2-40B4-BE49-F238E27FC236}">
                <a16:creationId xmlns:a16="http://schemas.microsoft.com/office/drawing/2014/main" id="{B2E82495-1CBC-426B-992A-B6F79DB0A503}"/>
              </a:ext>
            </a:extLst>
          </p:cNvPr>
          <p:cNvSpPr/>
          <p:nvPr/>
        </p:nvSpPr>
        <p:spPr>
          <a:xfrm>
            <a:off x="6988543" y="2322577"/>
            <a:ext cx="1764258" cy="1694854"/>
          </a:xfrm>
          <a:prstGeom prst="wedgeRoundRectCallout">
            <a:avLst>
              <a:gd name="adj1" fmla="val -55488"/>
              <a:gd name="adj2" fmla="val 23277"/>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GB" sz="1000" dirty="0">
                <a:solidFill>
                  <a:schemeClr val="tx1"/>
                </a:solidFill>
              </a:rPr>
              <a:t>Most of the major functionality gaps post ‘phase 1’ relate to MRI, with few exceptions like the Customer Portal, ‘Option 4’ integrations at the end of the Leasing Journey, and the move-in / move-out integrations.</a:t>
            </a:r>
          </a:p>
        </p:txBody>
      </p:sp>
      <p:sp>
        <p:nvSpPr>
          <p:cNvPr id="9" name="TextBox 8">
            <a:extLst>
              <a:ext uri="{FF2B5EF4-FFF2-40B4-BE49-F238E27FC236}">
                <a16:creationId xmlns:a16="http://schemas.microsoft.com/office/drawing/2014/main" id="{EF9C184A-978F-4367-B581-8D625927EBB7}"/>
              </a:ext>
            </a:extLst>
          </p:cNvPr>
          <p:cNvSpPr txBox="1"/>
          <p:nvPr/>
        </p:nvSpPr>
        <p:spPr>
          <a:xfrm flipH="1">
            <a:off x="6988543" y="5980176"/>
            <a:ext cx="1764257" cy="400110"/>
          </a:xfrm>
          <a:prstGeom prst="rect">
            <a:avLst/>
          </a:prstGeom>
          <a:noFill/>
        </p:spPr>
        <p:txBody>
          <a:bodyPr wrap="square" rtlCol="0">
            <a:spAutoFit/>
          </a:bodyPr>
          <a:lstStyle/>
          <a:p>
            <a:pPr algn="l"/>
            <a:r>
              <a:rPr lang="en-GB" sz="1000" i="1" dirty="0">
                <a:solidFill>
                  <a:srgbClr val="FF0000"/>
                </a:solidFill>
                <a:latin typeface="Montserrat" panose="00000500000000000000" pitchFamily="50" charset="0"/>
              </a:rPr>
              <a:t>Updates slide #9 in the February Board Pack</a:t>
            </a:r>
          </a:p>
        </p:txBody>
      </p:sp>
    </p:spTree>
    <p:extLst>
      <p:ext uri="{BB962C8B-B14F-4D97-AF65-F5344CB8AC3E}">
        <p14:creationId xmlns:p14="http://schemas.microsoft.com/office/powerpoint/2010/main" val="1658219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3CDAFB6-E6B5-4A40-AF01-0EB22B2F422C}"/>
              </a:ext>
            </a:extLst>
          </p:cNvPr>
          <p:cNvSpPr>
            <a:spLocks noGrp="1"/>
          </p:cNvSpPr>
          <p:nvPr>
            <p:ph type="ftr" sz="quarter" idx="11"/>
          </p:nvPr>
        </p:nvSpPr>
        <p:spPr/>
        <p:txBody>
          <a:bodyPr/>
          <a:lstStyle/>
          <a:p>
            <a:r>
              <a:rPr lang="en-GB"/>
              <a:t>Grainger Plc  |  www.graingerplc.co.uk    |  Investor Day  |  September 2017</a:t>
            </a:r>
            <a:endParaRPr lang="en-GB" dirty="0"/>
          </a:p>
        </p:txBody>
      </p:sp>
      <p:sp>
        <p:nvSpPr>
          <p:cNvPr id="4" name="Slide Number Placeholder 3">
            <a:extLst>
              <a:ext uri="{FF2B5EF4-FFF2-40B4-BE49-F238E27FC236}">
                <a16:creationId xmlns:a16="http://schemas.microsoft.com/office/drawing/2014/main" id="{FBF36EC1-C8D5-47D8-9585-7C57A5A74A73}"/>
              </a:ext>
            </a:extLst>
          </p:cNvPr>
          <p:cNvSpPr>
            <a:spLocks noGrp="1"/>
          </p:cNvSpPr>
          <p:nvPr>
            <p:ph type="sldNum" sz="quarter" idx="12"/>
          </p:nvPr>
        </p:nvSpPr>
        <p:spPr/>
        <p:txBody>
          <a:bodyPr/>
          <a:lstStyle/>
          <a:p>
            <a:fld id="{0D32313A-DEBC-4CA4-B008-A02D4ABE2C72}" type="slidenum">
              <a:rPr lang="en-GB" smtClean="0"/>
              <a:t>7</a:t>
            </a:fld>
            <a:endParaRPr lang="en-GB" dirty="0"/>
          </a:p>
        </p:txBody>
      </p:sp>
      <p:sp>
        <p:nvSpPr>
          <p:cNvPr id="5" name="Title 4">
            <a:extLst>
              <a:ext uri="{FF2B5EF4-FFF2-40B4-BE49-F238E27FC236}">
                <a16:creationId xmlns:a16="http://schemas.microsoft.com/office/drawing/2014/main" id="{8E57C84B-199D-4B20-A7E3-CD34EFF7AECF}"/>
              </a:ext>
            </a:extLst>
          </p:cNvPr>
          <p:cNvSpPr>
            <a:spLocks noGrp="1"/>
          </p:cNvSpPr>
          <p:nvPr>
            <p:ph type="title"/>
          </p:nvPr>
        </p:nvSpPr>
        <p:spPr/>
        <p:txBody>
          <a:bodyPr/>
          <a:lstStyle/>
          <a:p>
            <a:endParaRPr lang="en-GB" dirty="0"/>
          </a:p>
        </p:txBody>
      </p:sp>
      <p:sp>
        <p:nvSpPr>
          <p:cNvPr id="6" name="Content Placeholder 1">
            <a:extLst>
              <a:ext uri="{FF2B5EF4-FFF2-40B4-BE49-F238E27FC236}">
                <a16:creationId xmlns:a16="http://schemas.microsoft.com/office/drawing/2014/main" id="{443DEDDA-7416-4BDE-BEFC-05F8A0EFF6A0}"/>
              </a:ext>
            </a:extLst>
          </p:cNvPr>
          <p:cNvSpPr txBox="1">
            <a:spLocks/>
          </p:cNvSpPr>
          <p:nvPr/>
        </p:nvSpPr>
        <p:spPr>
          <a:xfrm>
            <a:off x="4572000" y="1263932"/>
            <a:ext cx="4213225" cy="4913031"/>
          </a:xfrm>
          <a:prstGeom prst="rect">
            <a:avLst/>
          </a:prstGeom>
        </p:spPr>
        <p:txBody>
          <a:bodyPr vert="horz" lIns="0" tIns="45720" rIns="0" bIns="45720" rtlCol="0">
            <a:normAutofit/>
          </a:bodyPr>
          <a:lstStyle>
            <a:lvl1pPr marL="0" indent="0" algn="l" defTabSz="685800" rtl="0" eaLnBrk="1" latinLnBrk="0" hangingPunct="1">
              <a:lnSpc>
                <a:spcPct val="90000"/>
              </a:lnSpc>
              <a:spcBef>
                <a:spcPts val="1200"/>
              </a:spcBef>
              <a:buFont typeface="Arial" panose="020B0604020202020204" pitchFamily="34" charset="0"/>
              <a:buNone/>
              <a:defRPr sz="1800" b="0" kern="1200" spc="-80" baseline="0">
                <a:solidFill>
                  <a:schemeClr val="accent2"/>
                </a:solidFill>
                <a:latin typeface="Montserrat" panose="02000505000000020004" pitchFamily="2" charset="0"/>
                <a:ea typeface="+mn-ea"/>
                <a:cs typeface="+mn-cs"/>
              </a:defRPr>
            </a:lvl1pPr>
            <a:lvl2pPr marL="177800" indent="-177800" algn="l" defTabSz="685800" rtl="0" eaLnBrk="1" latinLnBrk="0" hangingPunct="1">
              <a:lnSpc>
                <a:spcPct val="90000"/>
              </a:lnSpc>
              <a:spcBef>
                <a:spcPts val="300"/>
              </a:spcBef>
              <a:spcAft>
                <a:spcPts val="300"/>
              </a:spcAft>
              <a:buSzPct val="80000"/>
              <a:buFontTx/>
              <a:buBlip>
                <a:blip r:embed="rId2"/>
              </a:buBlip>
              <a:defRPr sz="1600" kern="1200" spc="-80" baseline="0">
                <a:solidFill>
                  <a:schemeClr val="tx1"/>
                </a:solidFill>
                <a:latin typeface="+mn-lt"/>
                <a:ea typeface="+mn-ea"/>
                <a:cs typeface="+mn-cs"/>
              </a:defRPr>
            </a:lvl2pPr>
            <a:lvl3pPr marL="358775" indent="-180975"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400" kern="1200" spc="-80" baseline="0">
                <a:solidFill>
                  <a:schemeClr val="tx1"/>
                </a:solidFill>
                <a:latin typeface="+mn-lt"/>
                <a:ea typeface="+mn-ea"/>
                <a:cs typeface="+mn-cs"/>
              </a:defRPr>
            </a:lvl3pPr>
            <a:lvl4pPr marL="536575" indent="-177800"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200" kern="1200" spc="-80" baseline="0">
                <a:solidFill>
                  <a:schemeClr val="tx1"/>
                </a:solidFill>
                <a:latin typeface="+mn-lt"/>
                <a:ea typeface="+mn-ea"/>
                <a:cs typeface="+mn-cs"/>
              </a:defRPr>
            </a:lvl4pPr>
            <a:lvl5pPr marL="717550" indent="-180975"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200" kern="1200" spc="-80" baseline="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n-GB"/>
          </a:p>
        </p:txBody>
      </p:sp>
      <p:sp>
        <p:nvSpPr>
          <p:cNvPr id="7" name="Content Placeholder 1">
            <a:extLst>
              <a:ext uri="{FF2B5EF4-FFF2-40B4-BE49-F238E27FC236}">
                <a16:creationId xmlns:a16="http://schemas.microsoft.com/office/drawing/2014/main" id="{8430C315-8A15-46A8-B19A-D2CA297D0164}"/>
              </a:ext>
            </a:extLst>
          </p:cNvPr>
          <p:cNvSpPr txBox="1">
            <a:spLocks/>
          </p:cNvSpPr>
          <p:nvPr/>
        </p:nvSpPr>
        <p:spPr>
          <a:xfrm>
            <a:off x="4759038" y="1263932"/>
            <a:ext cx="4026189" cy="4913031"/>
          </a:xfrm>
          <a:prstGeom prst="rect">
            <a:avLst/>
          </a:prstGeom>
        </p:spPr>
        <p:txBody>
          <a:bodyPr vert="horz" lIns="0" tIns="45720" rIns="0" bIns="45720" rtlCol="0">
            <a:normAutofit/>
          </a:bodyPr>
          <a:lstStyle>
            <a:lvl1pPr marL="0" indent="0" algn="l" defTabSz="685800" rtl="0" eaLnBrk="1" latinLnBrk="0" hangingPunct="1">
              <a:lnSpc>
                <a:spcPct val="90000"/>
              </a:lnSpc>
              <a:spcBef>
                <a:spcPts val="1200"/>
              </a:spcBef>
              <a:buFont typeface="Arial" panose="020B0604020202020204" pitchFamily="34" charset="0"/>
              <a:buNone/>
              <a:defRPr sz="1800" b="0" kern="1200" spc="-80" baseline="0">
                <a:solidFill>
                  <a:schemeClr val="accent2"/>
                </a:solidFill>
                <a:latin typeface="Montserrat" panose="02000505000000020004" pitchFamily="2" charset="0"/>
                <a:ea typeface="+mn-ea"/>
                <a:cs typeface="+mn-cs"/>
              </a:defRPr>
            </a:lvl1pPr>
            <a:lvl2pPr marL="177800" indent="-177800" algn="l" defTabSz="685800" rtl="0" eaLnBrk="1" latinLnBrk="0" hangingPunct="1">
              <a:lnSpc>
                <a:spcPct val="90000"/>
              </a:lnSpc>
              <a:spcBef>
                <a:spcPts val="300"/>
              </a:spcBef>
              <a:spcAft>
                <a:spcPts val="300"/>
              </a:spcAft>
              <a:buSzPct val="80000"/>
              <a:buFontTx/>
              <a:buBlip>
                <a:blip r:embed="rId2"/>
              </a:buBlip>
              <a:defRPr sz="1600" kern="1200" spc="-80" baseline="0">
                <a:solidFill>
                  <a:schemeClr val="tx1"/>
                </a:solidFill>
                <a:latin typeface="+mn-lt"/>
                <a:ea typeface="+mn-ea"/>
                <a:cs typeface="+mn-cs"/>
              </a:defRPr>
            </a:lvl2pPr>
            <a:lvl3pPr marL="358775" indent="-180975"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400" kern="1200" spc="-80" baseline="0">
                <a:solidFill>
                  <a:schemeClr val="tx1"/>
                </a:solidFill>
                <a:latin typeface="+mn-lt"/>
                <a:ea typeface="+mn-ea"/>
                <a:cs typeface="+mn-cs"/>
              </a:defRPr>
            </a:lvl3pPr>
            <a:lvl4pPr marL="536575" indent="-177800"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200" kern="1200" spc="-80" baseline="0">
                <a:solidFill>
                  <a:schemeClr val="tx1"/>
                </a:solidFill>
                <a:latin typeface="+mn-lt"/>
                <a:ea typeface="+mn-ea"/>
                <a:cs typeface="+mn-cs"/>
              </a:defRPr>
            </a:lvl4pPr>
            <a:lvl5pPr marL="717550" indent="-180975"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200" kern="1200" spc="-80" baseline="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n-GB" dirty="0"/>
          </a:p>
        </p:txBody>
      </p:sp>
      <p:graphicFrame>
        <p:nvGraphicFramePr>
          <p:cNvPr id="8" name="Table 8">
            <a:extLst>
              <a:ext uri="{FF2B5EF4-FFF2-40B4-BE49-F238E27FC236}">
                <a16:creationId xmlns:a16="http://schemas.microsoft.com/office/drawing/2014/main" id="{AA42CB5E-F5DC-40B3-86FE-B2914BEFF618}"/>
              </a:ext>
            </a:extLst>
          </p:cNvPr>
          <p:cNvGraphicFramePr>
            <a:graphicFrameLocks noGrp="1"/>
          </p:cNvGraphicFramePr>
          <p:nvPr>
            <p:extLst>
              <p:ext uri="{D42A27DB-BD31-4B8C-83A1-F6EECF244321}">
                <p14:modId xmlns:p14="http://schemas.microsoft.com/office/powerpoint/2010/main" val="2170615857"/>
              </p:ext>
            </p:extLst>
          </p:nvPr>
        </p:nvGraphicFramePr>
        <p:xfrm>
          <a:off x="358772" y="1431636"/>
          <a:ext cx="8426449" cy="3639820"/>
        </p:xfrm>
        <a:graphic>
          <a:graphicData uri="http://schemas.openxmlformats.org/drawingml/2006/table">
            <a:tbl>
              <a:tblPr firstRow="1" bandRow="1">
                <a:tableStyleId>{5C22544A-7EE6-4342-B048-85BDC9FD1C3A}</a:tableStyleId>
              </a:tblPr>
              <a:tblGrid>
                <a:gridCol w="2865254">
                  <a:extLst>
                    <a:ext uri="{9D8B030D-6E8A-4147-A177-3AD203B41FA5}">
                      <a16:colId xmlns:a16="http://schemas.microsoft.com/office/drawing/2014/main" val="989922782"/>
                    </a:ext>
                  </a:extLst>
                </a:gridCol>
                <a:gridCol w="1095597">
                  <a:extLst>
                    <a:ext uri="{9D8B030D-6E8A-4147-A177-3AD203B41FA5}">
                      <a16:colId xmlns:a16="http://schemas.microsoft.com/office/drawing/2014/main" val="3723706232"/>
                    </a:ext>
                  </a:extLst>
                </a:gridCol>
                <a:gridCol w="1248148">
                  <a:extLst>
                    <a:ext uri="{9D8B030D-6E8A-4147-A177-3AD203B41FA5}">
                      <a16:colId xmlns:a16="http://schemas.microsoft.com/office/drawing/2014/main" val="2089347418"/>
                    </a:ext>
                  </a:extLst>
                </a:gridCol>
                <a:gridCol w="3217450">
                  <a:extLst>
                    <a:ext uri="{9D8B030D-6E8A-4147-A177-3AD203B41FA5}">
                      <a16:colId xmlns:a16="http://schemas.microsoft.com/office/drawing/2014/main" val="2914746228"/>
                    </a:ext>
                  </a:extLst>
                </a:gridCol>
              </a:tblGrid>
              <a:tr h="370840">
                <a:tc>
                  <a:txBody>
                    <a:bodyPr/>
                    <a:lstStyle/>
                    <a:p>
                      <a:r>
                        <a:rPr lang="en-GB" dirty="0"/>
                        <a:t>Objective – L&amp;P</a:t>
                      </a:r>
                    </a:p>
                  </a:txBody>
                  <a:tcPr/>
                </a:tc>
                <a:tc>
                  <a:txBody>
                    <a:bodyPr/>
                    <a:lstStyle/>
                    <a:p>
                      <a:r>
                        <a:rPr lang="en-GB" dirty="0"/>
                        <a:t>Date</a:t>
                      </a:r>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3084427304"/>
                  </a:ext>
                </a:extLst>
              </a:tr>
              <a:tr h="370840">
                <a:tc>
                  <a:txBody>
                    <a:bodyPr/>
                    <a:lstStyle/>
                    <a:p>
                      <a:r>
                        <a:rPr lang="en-GB" sz="1050" dirty="0"/>
                        <a:t>We have the Catalogue of data definitions relevant to L&amp;P (AB) </a:t>
                      </a:r>
                    </a:p>
                  </a:txBody>
                  <a:tcPr/>
                </a:tc>
                <a:tc>
                  <a:txBody>
                    <a:bodyPr/>
                    <a:lstStyle/>
                    <a:p>
                      <a:endParaRPr lang="en-GB" dirty="0"/>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186044854"/>
                  </a:ext>
                </a:extLst>
              </a:tr>
              <a:tr h="370840">
                <a:tc>
                  <a:txBody>
                    <a:bodyPr/>
                    <a:lstStyle/>
                    <a:p>
                      <a:r>
                        <a:rPr lang="en-GB" sz="1050" dirty="0"/>
                        <a:t>Identified and agreed with business the people in critical roles of process owners, data owners etc for all relevant data in the catalogue of definitions</a:t>
                      </a:r>
                    </a:p>
                  </a:txBody>
                  <a:tcPr/>
                </a:tc>
                <a:tc>
                  <a:txBody>
                    <a:bodyPr/>
                    <a:lstStyle/>
                    <a:p>
                      <a:endParaRPr lang="en-GB" dirty="0"/>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800482939"/>
                  </a:ext>
                </a:extLst>
              </a:tr>
              <a:tr h="370840">
                <a:tc>
                  <a:txBody>
                    <a:bodyPr/>
                    <a:lstStyle/>
                    <a:p>
                      <a:r>
                        <a:rPr lang="en-GB" sz="1050" dirty="0"/>
                        <a:t>We have agreed a set of DQ KPIs with the business</a:t>
                      </a:r>
                    </a:p>
                  </a:txBody>
                  <a:tcPr/>
                </a:tc>
                <a:tc>
                  <a:txBody>
                    <a:bodyPr/>
                    <a:lstStyle/>
                    <a:p>
                      <a:endParaRPr lang="en-GB" dirty="0"/>
                    </a:p>
                  </a:txBody>
                  <a:tcPr/>
                </a:tc>
                <a:tc>
                  <a:txBody>
                    <a:bodyPr/>
                    <a:lstStyle/>
                    <a:p>
                      <a:endParaRPr lang="en-GB"/>
                    </a:p>
                  </a:txBody>
                  <a:tcPr/>
                </a:tc>
                <a:tc>
                  <a:txBody>
                    <a:bodyPr/>
                    <a:lstStyle/>
                    <a:p>
                      <a:endParaRPr lang="en-GB" dirty="0"/>
                    </a:p>
                  </a:txBody>
                  <a:tcPr/>
                </a:tc>
                <a:extLst>
                  <a:ext uri="{0D108BD9-81ED-4DB2-BD59-A6C34878D82A}">
                    <a16:rowId xmlns:a16="http://schemas.microsoft.com/office/drawing/2014/main" val="4050311763"/>
                  </a:ext>
                </a:extLst>
              </a:tr>
              <a:tr h="370840">
                <a:tc>
                  <a:txBody>
                    <a:bodyPr/>
                    <a:lstStyle/>
                    <a:p>
                      <a:r>
                        <a:rPr lang="en-GB" sz="1050" dirty="0"/>
                        <a:t>We have prepared all the training materials necessary to provide the training</a:t>
                      </a:r>
                    </a:p>
                  </a:txBody>
                  <a:tcPr/>
                </a:tc>
                <a:tc>
                  <a:txBody>
                    <a:bodyPr/>
                    <a:lstStyle/>
                    <a:p>
                      <a:r>
                        <a:rPr lang="en-GB" dirty="0"/>
                        <a:t>19/Feb</a:t>
                      </a:r>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4250538341"/>
                  </a:ext>
                </a:extLst>
              </a:tr>
              <a:tr h="370840">
                <a:tc>
                  <a:txBody>
                    <a:bodyPr/>
                    <a:lstStyle/>
                    <a:p>
                      <a:r>
                        <a:rPr lang="en-GB" sz="1050" dirty="0"/>
                        <a:t>We have updated our Data Quality (DQ) Dashboard so it can capture  Salesforce data issues (and alert process owners / data champions of issues)</a:t>
                      </a:r>
                    </a:p>
                  </a:txBody>
                  <a:tcPr/>
                </a:tc>
                <a:tc>
                  <a:txBody>
                    <a:bodyPr/>
                    <a:lstStyle/>
                    <a:p>
                      <a:r>
                        <a:rPr lang="en-GB" dirty="0"/>
                        <a:t>8/Mar</a:t>
                      </a:r>
                    </a:p>
                  </a:txBody>
                  <a:tcPr/>
                </a:tc>
                <a:tc>
                  <a:txBody>
                    <a:bodyPr/>
                    <a:lstStyle/>
                    <a:p>
                      <a:endParaRPr lang="en-GB"/>
                    </a:p>
                  </a:txBody>
                  <a:tcPr/>
                </a:tc>
                <a:tc>
                  <a:txBody>
                    <a:bodyPr/>
                    <a:lstStyle/>
                    <a:p>
                      <a:endParaRPr lang="en-GB" dirty="0"/>
                    </a:p>
                  </a:txBody>
                  <a:tcPr/>
                </a:tc>
                <a:extLst>
                  <a:ext uri="{0D108BD9-81ED-4DB2-BD59-A6C34878D82A}">
                    <a16:rowId xmlns:a16="http://schemas.microsoft.com/office/drawing/2014/main" val="4201526760"/>
                  </a:ext>
                </a:extLst>
              </a:tr>
              <a:tr h="370840">
                <a:tc>
                  <a:txBody>
                    <a:bodyPr/>
                    <a:lstStyle/>
                    <a:p>
                      <a:r>
                        <a:rPr lang="en-GB" sz="1050" dirty="0"/>
                        <a:t>We have engaged and trained all of the required people on their respective roles</a:t>
                      </a:r>
                    </a:p>
                  </a:txBody>
                  <a:tcPr/>
                </a:tc>
                <a:tc>
                  <a:txBody>
                    <a:bodyPr/>
                    <a:lstStyle/>
                    <a:p>
                      <a:r>
                        <a:rPr lang="en-GB" dirty="0"/>
                        <a:t>8/Mar</a:t>
                      </a:r>
                    </a:p>
                  </a:txBody>
                  <a:tcPr/>
                </a:tc>
                <a:tc>
                  <a:txBody>
                    <a:bodyPr/>
                    <a:lstStyle/>
                    <a:p>
                      <a:endParaRPr lang="en-GB"/>
                    </a:p>
                  </a:txBody>
                  <a:tcPr/>
                </a:tc>
                <a:tc>
                  <a:txBody>
                    <a:bodyPr/>
                    <a:lstStyle/>
                    <a:p>
                      <a:endParaRPr lang="en-GB" dirty="0"/>
                    </a:p>
                  </a:txBody>
                  <a:tcPr/>
                </a:tc>
                <a:extLst>
                  <a:ext uri="{0D108BD9-81ED-4DB2-BD59-A6C34878D82A}">
                    <a16:rowId xmlns:a16="http://schemas.microsoft.com/office/drawing/2014/main" val="486393860"/>
                  </a:ext>
                </a:extLst>
              </a:tr>
            </a:tbl>
          </a:graphicData>
        </a:graphic>
      </p:graphicFrame>
    </p:spTree>
    <p:extLst>
      <p:ext uri="{BB962C8B-B14F-4D97-AF65-F5344CB8AC3E}">
        <p14:creationId xmlns:p14="http://schemas.microsoft.com/office/powerpoint/2010/main" val="3229949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4_Office Theme">
  <a:themeElements>
    <a:clrScheme name="Grainger 2017">
      <a:dk1>
        <a:srgbClr val="4A4A49"/>
      </a:dk1>
      <a:lt1>
        <a:sysClr val="window" lastClr="FFFFFF"/>
      </a:lt1>
      <a:dk2>
        <a:srgbClr val="8EC4C5"/>
      </a:dk2>
      <a:lt2>
        <a:srgbClr val="FFFFFF"/>
      </a:lt2>
      <a:accent1>
        <a:srgbClr val="8EC4C5"/>
      </a:accent1>
      <a:accent2>
        <a:srgbClr val="4D858D"/>
      </a:accent2>
      <a:accent3>
        <a:srgbClr val="FF6600"/>
      </a:accent3>
      <a:accent4>
        <a:srgbClr val="4A4A49"/>
      </a:accent4>
      <a:accent5>
        <a:srgbClr val="898987"/>
      </a:accent5>
      <a:accent6>
        <a:srgbClr val="DADADA"/>
      </a:accent6>
      <a:hlink>
        <a:srgbClr val="4D858D"/>
      </a:hlink>
      <a:folHlink>
        <a:srgbClr val="4A4A49"/>
      </a:folHlink>
    </a:clrScheme>
    <a:fontScheme name="Grainger">
      <a:majorFont>
        <a:latin typeface="Montserrat SemiBold"/>
        <a:ea typeface=""/>
        <a:cs typeface=""/>
      </a:majorFont>
      <a:minorFont>
        <a:latin typeface="Montserra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spc="-6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Client Project Document" ma:contentTypeID="0x010100B16301FA1C2D5E4DB9305F31D037531D02070300B4E123A7400DE24C83BA9D1BFCD12C10" ma:contentTypeVersion="3" ma:contentTypeDescription="A document associated with a project for a client." ma:contentTypeScope="" ma:versionID="9d6581bc5c99e8ea3938d4fa8ba888f5">
  <xsd:schema xmlns:xsd="http://www.w3.org/2001/XMLSchema" xmlns:xs="http://www.w3.org/2001/XMLSchema" xmlns:p="http://schemas.microsoft.com/office/2006/metadata/properties" xmlns:ns2="1ffbd5dc-7a64-4097-8396-87f6c90b212f" targetNamespace="http://schemas.microsoft.com/office/2006/metadata/properties" ma:root="true" ma:fieldsID="a0c1b2c62e26289b034b466cfffa7cd3" ns2:_="">
    <xsd:import namespace="1ffbd5dc-7a64-4097-8396-87f6c90b212f"/>
    <xsd:element name="properties">
      <xsd:complexType>
        <xsd:sequence>
          <xsd:element name="documentManagement">
            <xsd:complexType>
              <xsd:all>
                <xsd:element ref="ns2:TaxCatchAll" minOccurs="0"/>
                <xsd:element ref="ns2:TaxCatchAllLabel" minOccurs="0"/>
                <xsd:element ref="ns2:nae5750f31d8428b9a1182bd8e59d390" minOccurs="0"/>
                <xsd:element ref="ns2:ica44df5449d49f98766f83f0bd254a7" minOccurs="0"/>
                <xsd:element ref="ns2:f0dc22cb723843c1bfbb2e8bcc9db6e4" minOccurs="0"/>
                <xsd:element ref="ns2:k6ebf865df8440b3a55c1aa81c9bae7c"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fbd5dc-7a64-4097-8396-87f6c90b212f" elementFormDefault="qualified">
    <xsd:import namespace="http://schemas.microsoft.com/office/2006/documentManagement/types"/>
    <xsd:import namespace="http://schemas.microsoft.com/office/infopath/2007/PartnerControls"/>
    <xsd:element name="TaxCatchAll" ma:index="8" nillable="true" ma:displayName="Taxonomy Catch All Column" ma:hidden="true" ma:list="{45250ea2-cfef-416b-9e22-46de40794d29}" ma:internalName="TaxCatchAll" ma:showField="CatchAllData" ma:web="025eec05-af72-44fb-9d53-267083c6e741">
      <xsd:complexType>
        <xsd:complexContent>
          <xsd:extension base="dms:MultiChoiceLookup">
            <xsd:sequence>
              <xsd:element name="Value" type="dms:Lookup" maxOccurs="unbounded" minOccurs="0" nillable="true"/>
            </xsd:sequence>
          </xsd:extension>
        </xsd:complexContent>
      </xsd:complexType>
    </xsd:element>
    <xsd:element name="TaxCatchAllLabel" ma:index="9" nillable="true" ma:displayName="Taxonomy Catch All Column1" ma:hidden="true" ma:list="{45250ea2-cfef-416b-9e22-46de40794d29}" ma:internalName="TaxCatchAllLabel" ma:readOnly="true" ma:showField="CatchAllDataLabel" ma:web="025eec05-af72-44fb-9d53-267083c6e741">
      <xsd:complexType>
        <xsd:complexContent>
          <xsd:extension base="dms:MultiChoiceLookup">
            <xsd:sequence>
              <xsd:element name="Value" type="dms:Lookup" maxOccurs="unbounded" minOccurs="0" nillable="true"/>
            </xsd:sequence>
          </xsd:extension>
        </xsd:complexContent>
      </xsd:complexType>
    </xsd:element>
    <xsd:element name="nae5750f31d8428b9a1182bd8e59d390" ma:index="10" ma:taxonomy="true" ma:internalName="nae5750f31d8428b9a1182bd8e59d390" ma:taxonomyFieldName="Division" ma:displayName="Division" ma:readOnly="false" ma:default="1;#Custom Software|cecfb662-fc63-4c9e-b6e4-2e3797fe6f4f" ma:fieldId="{7ae5750f-31d8-428b-9a11-82bd8e59d390}" ma:sspId="5676dd91-060c-4b71-810a-dbdca5582071" ma:termSetId="32b39d25-b397-4982-8e8d-74d5df186044" ma:anchorId="00000000-0000-0000-0000-000000000000" ma:open="false" ma:isKeyword="false">
      <xsd:complexType>
        <xsd:sequence>
          <xsd:element ref="pc:Terms" minOccurs="0" maxOccurs="1"/>
        </xsd:sequence>
      </xsd:complexType>
    </xsd:element>
    <xsd:element name="ica44df5449d49f98766f83f0bd254a7" ma:index="12" ma:taxonomy="true" ma:internalName="ica44df5449d49f98766f83f0bd254a7" ma:taxonomyFieldName="Client" ma:displayName="Client" ma:default="6;#Grainger PLC|a74f1cb5-e995-4f9e-8521-6d52e2c6bf08" ma:fieldId="{2ca44df5-449d-49f9-8766-f83f0bd254a7}" ma:sspId="5676dd91-060c-4b71-810a-dbdca5582071" ma:termSetId="26f19758-7225-4257-8796-285d454d16a6" ma:anchorId="00000000-0000-0000-0000-000000000000" ma:open="false" ma:isKeyword="false">
      <xsd:complexType>
        <xsd:sequence>
          <xsd:element ref="pc:Terms" minOccurs="0" maxOccurs="1"/>
        </xsd:sequence>
      </xsd:complexType>
    </xsd:element>
    <xsd:element name="f0dc22cb723843c1bfbb2e8bcc9db6e4" ma:index="14" nillable="true" ma:taxonomy="true" ma:internalName="f0dc22cb723843c1bfbb2e8bcc9db6e4" ma:taxonomyFieldName="Client_x0020_Project" ma:displayName="Client Application" ma:default="" ma:fieldId="{f0dc22cb-7238-43c1-bfbb-2e8bcc9db6e4}" ma:sspId="5676dd91-060c-4b71-810a-dbdca5582071" ma:termSetId="503923a6-a4d2-4c0f-8ec0-fee4966b50a0" ma:anchorId="00000000-0000-0000-0000-000000000000" ma:open="false" ma:isKeyword="false">
      <xsd:complexType>
        <xsd:sequence>
          <xsd:element ref="pc:Terms" minOccurs="0" maxOccurs="1"/>
        </xsd:sequence>
      </xsd:complexType>
    </xsd:element>
    <xsd:element name="k6ebf865df8440b3a55c1aa81c9bae7c" ma:index="16" nillable="true" ma:taxonomy="true" ma:internalName="k6ebf865df8440b3a55c1aa81c9bae7c" ma:taxonomyFieldName="Project_x0020_Document_x0020_Type" ma:displayName="Project Document Type" ma:default="4;#Generic Project Document|258c2ed6-b93b-4ffe-8901-a23f2dc98ec9" ma:fieldId="{46ebf865-df84-40b3-a55c-1aa81c9bae7c}" ma:sspId="5676dd91-060c-4b71-810a-dbdca5582071" ma:termSetId="79e5d870-6e8b-4a88-8554-c2a1e06e1585" ma:anchorId="00000000-0000-0000-0000-000000000000" ma:open="fals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nae5750f31d8428b9a1182bd8e59d390 xmlns="1ffbd5dc-7a64-4097-8396-87f6c90b212f">
      <Terms xmlns="http://schemas.microsoft.com/office/infopath/2007/PartnerControls">
        <TermInfo xmlns="http://schemas.microsoft.com/office/infopath/2007/PartnerControls">
          <TermName xmlns="http://schemas.microsoft.com/office/infopath/2007/PartnerControls">Enterprise Solutions</TermName>
          <TermId xmlns="http://schemas.microsoft.com/office/infopath/2007/PartnerControls">08c57b01-67e8-4a4f-abc6-ffb3392ace7f</TermId>
        </TermInfo>
      </Terms>
    </nae5750f31d8428b9a1182bd8e59d390>
    <k6ebf865df8440b3a55c1aa81c9bae7c xmlns="1ffbd5dc-7a64-4097-8396-87f6c90b212f">
      <Terms xmlns="http://schemas.microsoft.com/office/infopath/2007/PartnerControls">
        <TermInfo xmlns="http://schemas.microsoft.com/office/infopath/2007/PartnerControls">
          <TermName xmlns="http://schemas.microsoft.com/office/infopath/2007/PartnerControls">Generic Project Document</TermName>
          <TermId xmlns="http://schemas.microsoft.com/office/infopath/2007/PartnerControls">258c2ed6-b93b-4ffe-8901-a23f2dc98ec9</TermId>
        </TermInfo>
      </Terms>
    </k6ebf865df8440b3a55c1aa81c9bae7c>
    <TaxCatchAll xmlns="1ffbd5dc-7a64-4097-8396-87f6c90b212f">
      <Value>6</Value>
      <Value>5</Value>
      <Value>4</Value>
    </TaxCatchAll>
    <f0dc22cb723843c1bfbb2e8bcc9db6e4 xmlns="1ffbd5dc-7a64-4097-8396-87f6c90b212f">
      <Terms xmlns="http://schemas.microsoft.com/office/infopath/2007/PartnerControls"/>
    </f0dc22cb723843c1bfbb2e8bcc9db6e4>
    <ica44df5449d49f98766f83f0bd254a7 xmlns="1ffbd5dc-7a64-4097-8396-87f6c90b212f">
      <Terms xmlns="http://schemas.microsoft.com/office/infopath/2007/PartnerControls">
        <TermInfo xmlns="http://schemas.microsoft.com/office/infopath/2007/PartnerControls">
          <TermName xmlns="http://schemas.microsoft.com/office/infopath/2007/PartnerControls">Grainger PLC</TermName>
          <TermId xmlns="http://schemas.microsoft.com/office/infopath/2007/PartnerControls">a74f1cb5-e995-4f9e-8521-6d52e2c6bf08</TermId>
        </TermInfo>
      </Terms>
    </ica44df5449d49f98766f83f0bd254a7>
  </documentManagement>
</p:properties>
</file>

<file path=customXml/item4.xml><?xml version="1.0" encoding="utf-8"?>
<?mso-contentType ?>
<SharedContentType xmlns="Microsoft.SharePoint.Taxonomy.ContentTypeSync" SourceId="5676dd91-060c-4b71-810a-dbdca5582071" ContentTypeId="0x010100B16301FA1C2D5E4DB9305F31D037531D020703" PreviousValue="false"/>
</file>

<file path=customXml/itemProps1.xml><?xml version="1.0" encoding="utf-8"?>
<ds:datastoreItem xmlns:ds="http://schemas.openxmlformats.org/officeDocument/2006/customXml" ds:itemID="{7277C445-3061-4598-88BB-4456717CFC22}"/>
</file>

<file path=customXml/itemProps2.xml><?xml version="1.0" encoding="utf-8"?>
<ds:datastoreItem xmlns:ds="http://schemas.openxmlformats.org/officeDocument/2006/customXml" ds:itemID="{3D48B250-3DE6-40B8-AAA0-736E97445E1A}">
  <ds:schemaRefs>
    <ds:schemaRef ds:uri="http://schemas.microsoft.com/sharepoint/v3/contenttype/forms"/>
  </ds:schemaRefs>
</ds:datastoreItem>
</file>

<file path=customXml/itemProps3.xml><?xml version="1.0" encoding="utf-8"?>
<ds:datastoreItem xmlns:ds="http://schemas.openxmlformats.org/officeDocument/2006/customXml" ds:itemID="{E862EC75-63FF-479A-8761-8B3F9465EE33}">
  <ds:schemaRefs>
    <ds:schemaRef ds:uri="http://schemas.microsoft.com/office/2006/documentManagement/types"/>
    <ds:schemaRef ds:uri="27e65327-d6c0-4f26-aff6-417da5767d74"/>
    <ds:schemaRef ds:uri="http://purl.org/dc/elements/1.1/"/>
    <ds:schemaRef ds:uri="http://schemas.microsoft.com/office/2006/metadata/properties"/>
    <ds:schemaRef ds:uri="http://purl.org/dc/terms/"/>
    <ds:schemaRef ds:uri="http://schemas.openxmlformats.org/package/2006/metadata/core-properties"/>
    <ds:schemaRef ds:uri="http://schemas.microsoft.com/office/infopath/2007/PartnerControls"/>
    <ds:schemaRef ds:uri="852d0734-5ac0-43ed-afd8-22c6b3fad396"/>
    <ds:schemaRef ds:uri="http://www.w3.org/XML/1998/namespace"/>
    <ds:schemaRef ds:uri="http://purl.org/dc/dcmitype/"/>
  </ds:schemaRefs>
</ds:datastoreItem>
</file>

<file path=customXml/itemProps4.xml><?xml version="1.0" encoding="utf-8"?>
<ds:datastoreItem xmlns:ds="http://schemas.openxmlformats.org/officeDocument/2006/customXml" ds:itemID="{2B5F3E33-78FB-42C4-840C-610B23669F46}"/>
</file>

<file path=docProps/app.xml><?xml version="1.0" encoding="utf-8"?>
<Properties xmlns="http://schemas.openxmlformats.org/officeDocument/2006/extended-properties" xmlns:vt="http://schemas.openxmlformats.org/officeDocument/2006/docPropsVTypes">
  <Template/>
  <TotalTime>51200</TotalTime>
  <Words>1783</Words>
  <Application>Microsoft Office PowerPoint</Application>
  <PresentationFormat>On-screen Show (4:3)</PresentationFormat>
  <Paragraphs>471</Paragraphs>
  <Slides>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Montserrat</vt:lpstr>
      <vt:lpstr>Montserrat Light</vt:lpstr>
      <vt:lpstr>Montserrat SemiBold</vt:lpstr>
      <vt:lpstr>4_Office Theme</vt:lpstr>
      <vt:lpstr>Connect Programme</vt:lpstr>
      <vt:lpstr>Elements of the Connect Platform</vt:lpstr>
      <vt:lpstr>High-level Platform architecture </vt:lpstr>
      <vt:lpstr>Regulated Tenancies carry most of non-standard residential billing</vt:lpstr>
      <vt:lpstr>MRI solution evolution: 2018 to date</vt:lpstr>
      <vt:lpstr>Capability gaps post Phase 1 go-live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Leading the way in a growing market</dc:title>
  <dc:creator>Kurt Mueller</dc:creator>
  <cp:lastModifiedBy>Joao Cardoso</cp:lastModifiedBy>
  <cp:revision>361</cp:revision>
  <cp:lastPrinted>2019-06-17T12:32:07Z</cp:lastPrinted>
  <dcterms:created xsi:type="dcterms:W3CDTF">2017-09-25T18:57:01Z</dcterms:created>
  <dcterms:modified xsi:type="dcterms:W3CDTF">2021-02-10T09:03:36Z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0x010100B16301FA1C2D5E4DB9305F31D037531D02070300B4E123A7400DE24C83BA9D1BFCD12C10</vt:lpwstr>
  </property>
  <property fmtid="{D5CDD505-2E9C-101B-9397-08002B2CF9AE}" pid="3" name="AuthorIds_UIVersion_512">
    <vt:lpwstr>420</vt:lpwstr>
  </property>
  <property fmtid="{D5CDD505-2E9C-101B-9397-08002B2CF9AE}" pid="4" name="AuthorIds_UIVersion_1024">
    <vt:lpwstr>420</vt:lpwstr>
  </property>
  <property fmtid="{D5CDD505-2E9C-101B-9397-08002B2CF9AE}" pid="5" name="AuthorIds_UIVersion_1536">
    <vt:lpwstr>420</vt:lpwstr>
  </property>
  <property fmtid="{D5CDD505-2E9C-101B-9397-08002B2CF9AE}" pid="6" name="Project Document Type">
    <vt:lpwstr>4;#Generic Project Document|258c2ed6-b93b-4ffe-8901-a23f2dc98ec9</vt:lpwstr>
  </property>
  <property fmtid="{D5CDD505-2E9C-101B-9397-08002B2CF9AE}" pid="7" name="Order">
    <vt:r8>755300</vt:r8>
  </property>
  <property fmtid="{D5CDD505-2E9C-101B-9397-08002B2CF9AE}" pid="8" name="Division">
    <vt:lpwstr>5;#Enterprise Solutions|08c57b01-67e8-4a4f-abc6-ffb3392ace7f</vt:lpwstr>
  </property>
  <property fmtid="{D5CDD505-2E9C-101B-9397-08002B2CF9AE}" pid="9" name="xd_Signature">
    <vt:bool>false</vt:bool>
  </property>
  <property fmtid="{D5CDD505-2E9C-101B-9397-08002B2CF9AE}" pid="10" name="SharedWithUsers">
    <vt:lpwstr>67;#Sara Allen;#71;#Sharon Coull</vt:lpwstr>
  </property>
  <property fmtid="{D5CDD505-2E9C-101B-9397-08002B2CF9AE}" pid="11" name="xd_ProgID">
    <vt:lpwstr/>
  </property>
  <property fmtid="{D5CDD505-2E9C-101B-9397-08002B2CF9AE}" pid="12" name="_SourceUrl">
    <vt:lpwstr/>
  </property>
  <property fmtid="{D5CDD505-2E9C-101B-9397-08002B2CF9AE}" pid="13" name="_SharedFileIndex">
    <vt:lpwstr/>
  </property>
  <property fmtid="{D5CDD505-2E9C-101B-9397-08002B2CF9AE}" pid="14" name="ComplianceAssetId">
    <vt:lpwstr/>
  </property>
  <property fmtid="{D5CDD505-2E9C-101B-9397-08002B2CF9AE}" pid="15" name="TemplateUrl">
    <vt:lpwstr/>
  </property>
  <property fmtid="{D5CDD505-2E9C-101B-9397-08002B2CF9AE}" pid="16" name="Client">
    <vt:lpwstr>6;#Grainger PLC|a74f1cb5-e995-4f9e-8521-6d52e2c6bf08</vt:lpwstr>
  </property>
  <property fmtid="{D5CDD505-2E9C-101B-9397-08002B2CF9AE}" pid="17" name="Client Project">
    <vt:lpwstr/>
  </property>
  <property fmtid="{D5CDD505-2E9C-101B-9397-08002B2CF9AE}" pid="18" name="MediaServiceImageTags">
    <vt:lpwstr/>
  </property>
  <property fmtid="{D5CDD505-2E9C-101B-9397-08002B2CF9AE}" pid="19" name="lcf76f155ced4ddcb4097134ff3c332f">
    <vt:lpwstr/>
  </property>
</Properties>
</file>